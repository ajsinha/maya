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822960"/>
            <a:ext cx="10637215"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E8B8C0"/>
                </a:solidFill>
                <a:latin typeface="Calibri"/>
              </a:rPr>
              <a:t>CAPABILITIES  ·  THE PRODUCT, AND ONE MODEL ALL THE WAY THROUGH</a:t>
            </a:r>
          </a:p>
        </p:txBody>
      </p:sp>
      <p:sp>
        <p:nvSpPr>
          <p:cNvPr id="7" name="TextBox 6"/>
          <p:cNvSpPr txBox="1"/>
          <p:nvPr/>
        </p:nvSpPr>
        <p:spPr>
          <a:xfrm>
            <a:off x="1051560" y="1280160"/>
            <a:ext cx="9573493" cy="1600200"/>
          </a:xfrm>
          <a:prstGeom prst="rect">
            <a:avLst/>
          </a:prstGeom>
          <a:noFill/>
        </p:spPr>
        <p:txBody>
          <a:bodyPr wrap="square" lIns="0" rIns="0" tIns="0" bIns="0" anchor="t">
            <a:spAutoFit/>
          </a:bodyPr>
          <a:lstStyle/>
          <a:p>
            <a:pPr algn="l">
              <a:lnSpc>
                <a:spcPct val="110000"/>
              </a:lnSpc>
              <a:spcBef>
                <a:spcPts val="0"/>
              </a:spcBef>
              <a:spcAft>
                <a:spcPts val="0"/>
              </a:spcAft>
            </a:pPr>
            <a:r>
              <a:rPr sz="3800" b="0" i="0">
                <a:solidFill>
                  <a:srgbClr val="FFFFFF"/>
                </a:solidFill>
                <a:latin typeface="Georgia"/>
              </a:rPr>
              <a:t>What MAYA does,</a:t>
            </a:r>
          </a:p>
          <a:p>
            <a:pPr>
              <a:lnSpc>
                <a:spcPct val="110000"/>
              </a:lnSpc>
              <a:spcBef>
                <a:spcPts val="0"/>
              </a:spcBef>
              <a:spcAft>
                <a:spcPts val="0"/>
              </a:spcAft>
            </a:pPr>
            <a:r>
              <a:rPr sz="3800" b="0" i="0">
                <a:solidFill>
                  <a:srgbClr val="FFFFFF"/>
                </a:solidFill>
                <a:latin typeface="Georgia"/>
              </a:rPr>
              <a:t>and what it refuses to do</a:t>
            </a:r>
          </a:p>
        </p:txBody>
      </p:sp>
      <p:sp>
        <p:nvSpPr>
          <p:cNvPr id="8" name="Rectangle 7"/>
          <p:cNvSpPr/>
          <p:nvPr/>
        </p:nvSpPr>
        <p:spPr>
          <a:xfrm>
            <a:off x="1051560" y="297180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54680"/>
            <a:ext cx="9041632" cy="640080"/>
          </a:xfrm>
          <a:prstGeom prst="rect">
            <a:avLst/>
          </a:prstGeom>
          <a:noFill/>
        </p:spPr>
        <p:txBody>
          <a:bodyPr wrap="square" lIns="0" rIns="0" tIns="0" bIns="0" anchor="t">
            <a:spAutoFit/>
          </a:bodyPr>
          <a:lstStyle/>
          <a:p>
            <a:pPr algn="l">
              <a:lnSpc>
                <a:spcPct val="120000"/>
              </a:lnSpc>
              <a:spcBef>
                <a:spcPts val="0"/>
              </a:spcBef>
              <a:spcAft>
                <a:spcPts val="0"/>
              </a:spcAft>
            </a:pPr>
            <a:r>
              <a:rPr sz="1500" b="0" i="1">
                <a:solidFill>
                  <a:srgbClr val="F6E6E9"/>
                </a:solidFill>
                <a:latin typeface="Calibri"/>
              </a:rPr>
              <a:t>MAYA — Model &amp; AI Lifecycle Assurance.  Evidence, not assertion.</a:t>
            </a:r>
          </a:p>
        </p:txBody>
      </p:sp>
      <p:sp>
        <p:nvSpPr>
          <p:cNvPr id="10" name="TextBox 9"/>
          <p:cNvSpPr txBox="1"/>
          <p:nvPr/>
        </p:nvSpPr>
        <p:spPr>
          <a:xfrm>
            <a:off x="1051560" y="4343400"/>
            <a:ext cx="5318607" cy="109728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C1C1E"/>
                </a:solidFill>
                <a:latin typeface="Georgia"/>
              </a:rPr>
              <a:t>Ashutosh Sinha</a:t>
            </a:r>
          </a:p>
          <a:p>
            <a:pPr>
              <a:lnSpc>
                <a:spcPct val="120000"/>
              </a:lnSpc>
              <a:spcBef>
                <a:spcPts val="0"/>
              </a:spcBef>
              <a:spcAft>
                <a:spcPts val="100"/>
              </a:spcAft>
            </a:pPr>
            <a:r>
              <a:rPr sz="1200" b="0" i="0">
                <a:solidFill>
                  <a:srgbClr val="A51C30"/>
                </a:solidFill>
                <a:latin typeface="Calibri"/>
              </a:rPr>
              <a:t>September 2026</a:t>
            </a:r>
          </a:p>
          <a:p>
            <a:pPr>
              <a:lnSpc>
                <a:spcPct val="120000"/>
              </a:lnSpc>
              <a:spcBef>
                <a:spcPts val="0"/>
              </a:spcBef>
              <a:spcAft>
                <a:spcPts val="0"/>
              </a:spcAft>
            </a:pPr>
            <a:r>
              <a:rPr sz="1100" b="0" i="0">
                <a:solidFill>
                  <a:srgbClr val="4A4F57"/>
                </a:solidFill>
                <a:latin typeface="Calibri"/>
              </a:rPr>
              <a:t>MAYA 0.3.0 · specification revision 2.3</a:t>
            </a:r>
          </a:p>
        </p:txBody>
      </p:sp>
      <p:sp>
        <p:nvSpPr>
          <p:cNvPr id="11" name="TextBox 10"/>
          <p:cNvSpPr txBox="1"/>
          <p:nvPr/>
        </p:nvSpPr>
        <p:spPr>
          <a:xfrm>
            <a:off x="6734080" y="4297680"/>
            <a:ext cx="4680374" cy="2011680"/>
          </a:xfrm>
          <a:prstGeom prst="rect">
            <a:avLst/>
          </a:prstGeom>
          <a:noFill/>
        </p:spPr>
        <p:txBody>
          <a:bodyPr wrap="square" lIns="0" rIns="0" tIns="0" bIns="0" anchor="t">
            <a:spAutoFit/>
          </a:bodyPr>
          <a:lstStyle/>
          <a:p>
            <a:pPr algn="l">
              <a:lnSpc>
                <a:spcPct val="120000"/>
              </a:lnSpc>
              <a:spcBef>
                <a:spcPts val="0"/>
              </a:spcBef>
              <a:spcAft>
                <a:spcPts val="600"/>
              </a:spcAft>
            </a:pPr>
            <a:r>
              <a:rPr sz="950" b="1" i="0">
                <a:solidFill>
                  <a:srgbClr val="A51C30"/>
                </a:solidFill>
                <a:latin typeface="Calibri"/>
              </a:rPr>
              <a:t>IN THIS DECK</a:t>
            </a:r>
          </a:p>
          <a:p>
            <a:pPr>
              <a:lnSpc>
                <a:spcPct val="120000"/>
              </a:lnSpc>
              <a:spcBef>
                <a:spcPts val="0"/>
              </a:spcBef>
              <a:spcAft>
                <a:spcPts val="300"/>
              </a:spcAft>
            </a:pPr>
            <a:r>
              <a:rPr sz="1200" b="1">
                <a:solidFill>
                  <a:srgbClr val="A51C30"/>
                </a:solidFill>
                <a:latin typeface="Calibri"/>
              </a:rPr>
              <a:t>1   </a:t>
            </a:r>
            <a:r>
              <a:rPr sz="1200" b="0">
                <a:solidFill>
                  <a:srgbClr val="4A4F57"/>
                </a:solidFill>
                <a:latin typeface="Calibri"/>
              </a:rPr>
              <a:t>The product: where the work happens</a:t>
            </a:r>
          </a:p>
          <a:p>
            <a:pPr>
              <a:lnSpc>
                <a:spcPct val="120000"/>
              </a:lnSpc>
              <a:spcBef>
                <a:spcPts val="0"/>
              </a:spcBef>
              <a:spcAft>
                <a:spcPts val="300"/>
              </a:spcAft>
            </a:pPr>
            <a:r>
              <a:rPr sz="1200" b="1">
                <a:solidFill>
                  <a:srgbClr val="A51C30"/>
                </a:solidFill>
                <a:latin typeface="Calibri"/>
              </a:rPr>
              <a:t>2   </a:t>
            </a:r>
            <a:r>
              <a:rPr sz="1200" b="0">
                <a:solidFill>
                  <a:srgbClr val="4A4F57"/>
                </a:solidFill>
                <a:latin typeface="Calibri"/>
              </a:rPr>
              <a:t>Data you can stand behind</a:t>
            </a:r>
          </a:p>
          <a:p>
            <a:pPr>
              <a:lnSpc>
                <a:spcPct val="120000"/>
              </a:lnSpc>
              <a:spcBef>
                <a:spcPts val="0"/>
              </a:spcBef>
              <a:spcAft>
                <a:spcPts val="300"/>
              </a:spcAft>
            </a:pPr>
            <a:r>
              <a:rPr sz="1200" b="1">
                <a:solidFill>
                  <a:srgbClr val="A51C30"/>
                </a:solidFill>
                <a:latin typeface="Calibri"/>
              </a:rPr>
              <a:t>3   </a:t>
            </a:r>
            <a:r>
              <a:rPr sz="1200" b="0">
                <a:solidFill>
                  <a:srgbClr val="4A4F57"/>
                </a:solidFill>
                <a:latin typeface="Calibri"/>
              </a:rPr>
              <a:t>Models you can check</a:t>
            </a:r>
          </a:p>
          <a:p>
            <a:pPr>
              <a:lnSpc>
                <a:spcPct val="120000"/>
              </a:lnSpc>
              <a:spcBef>
                <a:spcPts val="0"/>
              </a:spcBef>
              <a:spcAft>
                <a:spcPts val="300"/>
              </a:spcAft>
            </a:pPr>
            <a:r>
              <a:rPr sz="1200" b="1">
                <a:solidFill>
                  <a:srgbClr val="A51C30"/>
                </a:solidFill>
                <a:latin typeface="Calibri"/>
              </a:rPr>
              <a:t>4   </a:t>
            </a:r>
            <a:r>
              <a:rPr sz="1200" b="0">
                <a:solidFill>
                  <a:srgbClr val="4A4F57"/>
                </a:solidFill>
                <a:latin typeface="Calibri"/>
              </a:rPr>
              <a:t>Governance that holds</a:t>
            </a:r>
          </a:p>
          <a:p>
            <a:pPr>
              <a:lnSpc>
                <a:spcPct val="120000"/>
              </a:lnSpc>
              <a:spcBef>
                <a:spcPts val="0"/>
              </a:spcBef>
              <a:spcAft>
                <a:spcPts val="300"/>
              </a:spcAft>
            </a:pPr>
            <a:r>
              <a:rPr sz="1200" b="1">
                <a:solidFill>
                  <a:srgbClr val="A51C30"/>
                </a:solidFill>
                <a:latin typeface="Calibri"/>
              </a:rPr>
              <a:t>5   </a:t>
            </a:r>
            <a:r>
              <a:rPr sz="1200" b="0">
                <a:solidFill>
                  <a:srgbClr val="4A4F57"/>
                </a:solidFill>
                <a:latin typeface="Calibri"/>
              </a:rPr>
              <a:t>One model end to end: IFRS 9 expected credit loss</a:t>
            </a:r>
          </a:p>
          <a:p>
            <a:pPr>
              <a:lnSpc>
                <a:spcPct val="120000"/>
              </a:lnSpc>
              <a:spcBef>
                <a:spcPts val="0"/>
              </a:spcBef>
              <a:spcAft>
                <a:spcPts val="300"/>
              </a:spcAft>
            </a:pPr>
            <a:r>
              <a:rPr sz="1200" b="1">
                <a:solidFill>
                  <a:srgbClr val="A51C30"/>
                </a:solidFill>
                <a:latin typeface="Calibri"/>
              </a:rPr>
              <a:t>6   </a:t>
            </a:r>
            <a:r>
              <a:rPr sz="1200" b="0">
                <a:solidFill>
                  <a:srgbClr val="4A4F57"/>
                </a:solidFill>
                <a:latin typeface="Calibri"/>
              </a:rPr>
              <a:t>What MAYA does not do</a:t>
            </a:r>
          </a:p>
        </p:txBody>
      </p:sp>
      <p:sp>
        <p:nvSpPr>
          <p:cNvPr id="12" name="Rectangle 11"/>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MAYA · Capabilities</a:t>
            </a:r>
          </a:p>
        </p:txBody>
      </p:sp>
      <p:sp>
        <p:nvSpPr>
          <p:cNvPr id="14" name="TextBox 13"/>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1</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The product</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governance platform lives or dies on whether people would rather use it than a notebook, so the interface is a deliverable rather than a skin over an API.</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Where the work happens</a:t>
            </a:r>
          </a:p>
          <a:p>
            <a:pPr>
              <a:lnSpc>
                <a:spcPct val="115000"/>
              </a:lnSpc>
              <a:spcBef>
                <a:spcPts val="0"/>
              </a:spcBef>
              <a:spcAft>
                <a:spcPts val="600"/>
              </a:spcAft>
            </a:pPr>
            <a:r>
              <a:rPr sz="1200" b="0" i="0">
                <a:solidFill>
                  <a:srgbClr val="F6E6E9"/>
                </a:solidFill>
                <a:latin typeface="Calibri"/>
              </a:rPr>
              <a:t>Four surfaces, one contract</a:t>
            </a:r>
          </a:p>
          <a:p>
            <a:pPr>
              <a:lnSpc>
                <a:spcPct val="115000"/>
              </a:lnSpc>
              <a:spcBef>
                <a:spcPts val="0"/>
              </a:spcBef>
              <a:spcAft>
                <a:spcPts val="600"/>
              </a:spcAft>
            </a:pPr>
            <a:r>
              <a:rPr sz="1200" b="0" i="0">
                <a:solidFill>
                  <a:srgbClr val="F6E6E9"/>
                </a:solidFill>
                <a:latin typeface="Calibri"/>
              </a:rPr>
              <a:t>The first five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THE WORK HAPPENS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Six places, and the same objects visible from each</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The product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maya/web/routes/: workbench.py, catalog.py, models.py, warrants.py, home.py, admin.py, lineage.py, workflow.py, workspaces.py. Every page is rendered in tests/test_web.py::test_every_page_renders, and the journeys through them in tests/test_web_journeys.py.</a:t>
            </a:r>
          </a:p>
        </p:txBody>
      </p:sp>
      <p:sp>
        <p:nvSpPr>
          <p:cNvPr id="12" name="Rectangle 11"/>
          <p:cNvSpPr/>
          <p:nvPr/>
        </p:nvSpPr>
        <p:spPr>
          <a:xfrm>
            <a:off x="777240"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Workbench</a:t>
            </a:r>
          </a:p>
        </p:txBody>
      </p:sp>
      <p:sp>
        <p:nvSpPr>
          <p:cNvPr id="15" name="TextBox 14"/>
          <p:cNvSpPr txBox="1"/>
          <p:nvPr/>
        </p:nvSpPr>
        <p:spPr>
          <a:xfrm>
            <a:off x="960120"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Author and rehearse</a:t>
            </a:r>
          </a:p>
        </p:txBody>
      </p:sp>
      <p:sp>
        <p:nvSpPr>
          <p:cNvPr id="16" name="TextBox 15"/>
          <p:cNvSpPr txBox="1"/>
          <p:nvPr/>
        </p:nvSpPr>
        <p:spPr>
          <a:xfrm>
            <a:off x="960120"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Define a feature, upload or pull its data, preview a resolution before it is pinned, build a feature set, open a workspace to try a change safely.</a:t>
            </a:r>
          </a:p>
        </p:txBody>
      </p:sp>
      <p:sp>
        <p:nvSpPr>
          <p:cNvPr id="17" name="Rectangle 16"/>
          <p:cNvSpPr/>
          <p:nvPr/>
        </p:nvSpPr>
        <p:spPr>
          <a:xfrm>
            <a:off x="4377842"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Catalog</a:t>
            </a:r>
          </a:p>
        </p:txBody>
      </p:sp>
      <p:sp>
        <p:nvSpPr>
          <p:cNvPr id="20" name="TextBox 19"/>
          <p:cNvSpPr txBox="1"/>
          <p:nvPr/>
        </p:nvSpPr>
        <p:spPr>
          <a:xfrm>
            <a:off x="4560722"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Find and compare</a:t>
            </a:r>
          </a:p>
        </p:txBody>
      </p:sp>
      <p:sp>
        <p:nvSpPr>
          <p:cNvPr id="21" name="TextBox 20"/>
          <p:cNvSpPr txBox="1"/>
          <p:nvPr/>
        </p:nvSpPr>
        <p:spPr>
          <a:xfrm>
            <a:off x="4560722"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Features and feature sets with their versions, pins, lineage and quality history; compare two versions; download a pin as tabular or wide.</a:t>
            </a:r>
          </a:p>
        </p:txBody>
      </p:sp>
      <p:sp>
        <p:nvSpPr>
          <p:cNvPr id="22" name="Rectangle 21"/>
          <p:cNvSpPr/>
          <p:nvPr/>
        </p:nvSpPr>
        <p:spPr>
          <a:xfrm>
            <a:off x="7978444"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Models</a:t>
            </a:r>
          </a:p>
        </p:txBody>
      </p:sp>
      <p:sp>
        <p:nvSpPr>
          <p:cNvPr id="25" name="TextBox 24"/>
          <p:cNvSpPr txBox="1"/>
          <p:nvPr/>
        </p:nvSpPr>
        <p:spPr>
          <a:xfrm>
            <a:off x="8161324"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Register and review</a:t>
            </a:r>
          </a:p>
        </p:txBody>
      </p:sp>
      <p:sp>
        <p:nvSpPr>
          <p:cNvPr id="26" name="TextBox 25"/>
          <p:cNvSpPr txBox="1"/>
          <p:nvPr/>
        </p:nvSpPr>
        <p:spPr>
          <a:xfrm>
            <a:off x="8161324"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The kernel wizard, the formula, the code artifact and its ladder report, the specification document, the semantic diff between two versions.</a:t>
            </a:r>
          </a:p>
        </p:txBody>
      </p:sp>
      <p:sp>
        <p:nvSpPr>
          <p:cNvPr id="27" name="Rectangle 26"/>
          <p:cNvSpPr/>
          <p:nvPr/>
        </p:nvSpPr>
        <p:spPr>
          <a:xfrm>
            <a:off x="777240"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Warrants</a:t>
            </a:r>
          </a:p>
        </p:txBody>
      </p:sp>
      <p:sp>
        <p:nvSpPr>
          <p:cNvPr id="30" name="TextBox 29"/>
          <p:cNvSpPr txBox="1"/>
          <p:nvPr/>
        </p:nvSpPr>
        <p:spPr>
          <a:xfrm>
            <a:off x="960120"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Licence and verify</a:t>
            </a:r>
          </a:p>
        </p:txBody>
      </p:sp>
      <p:sp>
        <p:nvSpPr>
          <p:cNvPr id="31" name="TextBox 30"/>
          <p:cNvSpPr txBox="1"/>
          <p:nvPr/>
        </p:nvSpPr>
        <p:spPr>
          <a:xfrm>
            <a:off x="960120"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Draw a training warrant, fetch the data, upload parameters, seal an execution warrant, export a bundle — and verify a bundle somebody hands you.</a:t>
            </a:r>
          </a:p>
        </p:txBody>
      </p:sp>
      <p:sp>
        <p:nvSpPr>
          <p:cNvPr id="32" name="Rectangle 31"/>
          <p:cNvSpPr/>
          <p:nvPr/>
        </p:nvSpPr>
        <p:spPr>
          <a:xfrm>
            <a:off x="4377842"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77842"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0722"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Inbox</a:t>
            </a:r>
          </a:p>
        </p:txBody>
      </p:sp>
      <p:sp>
        <p:nvSpPr>
          <p:cNvPr id="35" name="TextBox 34"/>
          <p:cNvSpPr txBox="1"/>
          <p:nvPr/>
        </p:nvSpPr>
        <p:spPr>
          <a:xfrm>
            <a:off x="4560722"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Decide</a:t>
            </a:r>
          </a:p>
        </p:txBody>
      </p:sp>
      <p:sp>
        <p:nvSpPr>
          <p:cNvPr id="36" name="TextBox 35"/>
          <p:cNvSpPr txBox="1"/>
          <p:nvPr/>
        </p:nvSpPr>
        <p:spPr>
          <a:xfrm>
            <a:off x="4560722"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review queue, scoped to what you may actually see, with what is overdue, what is blocked and by which named check.</a:t>
            </a:r>
          </a:p>
        </p:txBody>
      </p:sp>
      <p:sp>
        <p:nvSpPr>
          <p:cNvPr id="37" name="Rectangle 36"/>
          <p:cNvSpPr/>
          <p:nvPr/>
        </p:nvSpPr>
        <p:spPr>
          <a:xfrm>
            <a:off x="7978444"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78444"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61324"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Admin</a:t>
            </a:r>
          </a:p>
        </p:txBody>
      </p:sp>
      <p:sp>
        <p:nvSpPr>
          <p:cNvPr id="40" name="TextBox 39"/>
          <p:cNvSpPr txBox="1"/>
          <p:nvPr/>
        </p:nvSpPr>
        <p:spPr>
          <a:xfrm>
            <a:off x="8161324"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Operate</a:t>
            </a:r>
          </a:p>
        </p:txBody>
      </p:sp>
      <p:sp>
        <p:nvSpPr>
          <p:cNvPr id="41" name="TextBox 40"/>
          <p:cNvSpPr txBox="1"/>
          <p:nvPr/>
        </p:nvSpPr>
        <p:spPr>
          <a:xfrm>
            <a:off x="8161324"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Namespaces and grants, users and sign-on, sources, jobs, events and webhooks, storage, retention, custody anchors, and a health page that names every resolved seam.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FOUR SURFACES, ONE CONTRACT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Whatever you drive it with, it is the same platform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The product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README, “The interface”; tools/ci/table_contract.py, tools/ci/sdk_parity.py, tools/ci/contrast.py; tests/test_browser.py::test_a_server_paged_table_pages_searches_and_sorts; docs/BENCHMARKS.md for the search figure.</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surfaces</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web UI is an SDK client</a:t>
            </a:r>
          </a:p>
          <a:p>
            <a:pPr lvl="1">
              <a:lnSpc>
                <a:spcPct val="120000"/>
              </a:lnSpc>
              <a:spcBef>
                <a:spcPts val="0"/>
              </a:spcBef>
              <a:spcAft>
                <a:spcPts val="0"/>
              </a:spcAft>
            </a:pPr>
            <a:r>
              <a:rPr sz="1350" b="0">
                <a:solidFill>
                  <a:srgbClr val="4A4F57"/>
                </a:solidFill>
                <a:latin typeface="Calibri"/>
              </a:rPr>
              <a:t>It has no private path to the services; a gate fails the build if anything under the web tier imports past the SDK.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REST API</a:t>
            </a:r>
          </a:p>
          <a:p>
            <a:pPr lvl="1">
              <a:lnSpc>
                <a:spcPct val="120000"/>
              </a:lnSpc>
              <a:spcBef>
                <a:spcPts val="0"/>
              </a:spcBef>
              <a:spcAft>
                <a:spcPts val="0"/>
              </a:spcAft>
            </a:pPr>
            <a:r>
              <a:rPr sz="1350" b="0">
                <a:solidFill>
                  <a:srgbClr val="4A4F57"/>
                </a:solidFill>
                <a:latin typeface="Calibri"/>
              </a:rPr>
              <a:t>215 endpoints, each with an SDK method and each method with an endpoint, checked both ways by a gate.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Python SDK</a:t>
            </a:r>
          </a:p>
          <a:p>
            <a:pPr lvl="1">
              <a:lnSpc>
                <a:spcPct val="120000"/>
              </a:lnSpc>
              <a:spcBef>
                <a:spcPts val="0"/>
              </a:spcBef>
              <a:spcAft>
                <a:spcPts val="0"/>
              </a:spcAft>
            </a:pPr>
            <a:r>
              <a:rPr sz="1350" b="0">
                <a:solidFill>
                  <a:srgbClr val="4A4F57"/>
                </a:solidFill>
                <a:latin typeface="Calibri"/>
              </a:rPr>
              <a:t>Synchronous and asynchronous, with record and replay for tests, and an offline mode that serves a bundle and refuses everything the bundle does not hold.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command line</a:t>
            </a:r>
          </a:p>
          <a:p>
            <a:pPr lvl="1">
              <a:lnSpc>
                <a:spcPct val="120000"/>
              </a:lnSpc>
              <a:spcBef>
                <a:spcPts val="0"/>
              </a:spcBef>
              <a:spcAft>
                <a:spcPts val="0"/>
              </a:spcAft>
            </a:pPr>
            <a:r>
              <a:rPr sz="1350" b="0">
                <a:solidFill>
                  <a:srgbClr val="4A4F57"/>
                </a:solidFill>
                <a:latin typeface="Calibri"/>
              </a:rPr>
              <a:t>The whole spine, including bundle export and offline verification.</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every screen owes you</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Every table pages, searches and sorts</a:t>
            </a:r>
          </a:p>
          <a:p>
            <a:pPr lvl="1">
              <a:lnSpc>
                <a:spcPct val="120000"/>
              </a:lnSpc>
              <a:spcBef>
                <a:spcPts val="0"/>
              </a:spcBef>
              <a:spcAft>
                <a:spcPts val="0"/>
              </a:spcAft>
            </a:pPr>
            <a:r>
              <a:rPr sz="1250" b="0">
                <a:solidFill>
                  <a:srgbClr val="4A4F57"/>
                </a:solidFill>
                <a:latin typeface="Calibri"/>
              </a:rPr>
              <a:t>Rows per page remembered per table per user, sort applied to the whole result set rather than the visible page, export honouring the active filter. A crawler gate refuses any table not drawn by the one macro.</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Large tables page from the server</a:t>
            </a:r>
          </a:p>
          <a:p>
            <a:pPr lvl="1">
              <a:lnSpc>
                <a:spcPct val="120000"/>
              </a:lnSpc>
              <a:spcBef>
                <a:spcPts val="0"/>
              </a:spcBef>
              <a:spcAft>
                <a:spcPts val="0"/>
              </a:spcAft>
            </a:pPr>
            <a:r>
              <a:rPr sz="1250" b="0">
                <a:solidFill>
                  <a:srgbClr val="4A4F57"/>
                </a:solidFill>
                <a:latin typeface="Calibri"/>
              </a:rPr>
              <a:t>Signed cursors, the same controls, and an exact total counted in the database under row-level authorization.</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Search is MAYA's own index</a:t>
            </a:r>
          </a:p>
          <a:p>
            <a:pPr lvl="1">
              <a:lnSpc>
                <a:spcPct val="120000"/>
              </a:lnSpc>
              <a:spcBef>
                <a:spcPts val="0"/>
              </a:spcBef>
              <a:spcAft>
                <a:spcPts val="0"/>
              </a:spcAft>
            </a:pPr>
            <a:r>
              <a:rPr sz="1250" b="0">
                <a:solidFill>
                  <a:srgbClr val="4A4F57"/>
                </a:solidFill>
                <a:latin typeface="Calibri"/>
              </a:rPr>
              <a:t>Ranked, prefix-matched, every term required, filtered by read permission, kept current inside the writing transaction. p95 0.16 s over 100,000 objects.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Status is never colour alone</a:t>
            </a:r>
          </a:p>
          <a:p>
            <a:pPr lvl="1">
              <a:lnSpc>
                <a:spcPct val="120000"/>
              </a:lnSpc>
              <a:spcBef>
                <a:spcPts val="0"/>
              </a:spcBef>
              <a:spcAft>
                <a:spcPts val="0"/>
              </a:spcAft>
            </a:pPr>
            <a:r>
              <a:rPr sz="1250" b="0">
                <a:solidFill>
                  <a:srgbClr val="4A4F57"/>
                </a:solidFill>
                <a:latin typeface="Calibri"/>
              </a:rPr>
              <a:t>Every pill carries a glyph and a word, and the palette is recomputed by a gate against contrast floors.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FIRST FIVE MINUTES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Ceremony scales with consequence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The product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tests/test_features.py::test_scratch_quick_feature_has_zero_ceremony and tests/test_cli.py::test_quick_upload_and_restatement; specification §28.1. SC-9 — a new designer publishing a first model inside an hour — has not been timed with a real person, and the README says so.</a:t>
            </a:r>
          </a:p>
        </p:txBody>
      </p:sp>
      <p:sp>
        <p:nvSpPr>
          <p:cNvPr id="12" name="TextBox 11"/>
          <p:cNvSpPr txBox="1"/>
          <p:nvPr/>
        </p:nvSpPr>
        <p:spPr>
          <a:xfrm>
            <a:off x="777240" y="1386967"/>
            <a:ext cx="10637215" cy="4090289"/>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A scratch namespace with no ceremony</a:t>
            </a:r>
          </a:p>
          <a:p>
            <a:pPr lvl="1">
              <a:lnSpc>
                <a:spcPct val="120000"/>
              </a:lnSpc>
              <a:spcBef>
                <a:spcPts val="0"/>
              </a:spcBef>
              <a:spcAft>
                <a:spcPts val="0"/>
              </a:spcAft>
            </a:pPr>
            <a:r>
              <a:rPr sz="1550" b="0">
                <a:solidFill>
                  <a:srgbClr val="4A4F57"/>
                </a:solidFill>
                <a:latin typeface="Calibri"/>
              </a:rPr>
              <a:t>One command turns a CSV into a typed, resolvable, versioned feature: the platform loses to a notebook the moment it is more trouble than one.</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Then the same object, governed</a:t>
            </a:r>
          </a:p>
          <a:p>
            <a:pPr lvl="1">
              <a:lnSpc>
                <a:spcPct val="120000"/>
              </a:lnSpc>
              <a:spcBef>
                <a:spcPts val="0"/>
              </a:spcBef>
              <a:spcAft>
                <a:spcPts val="0"/>
              </a:spcAft>
            </a:pPr>
            <a:r>
              <a:rPr sz="1550" b="0">
                <a:solidFill>
                  <a:srgbClr val="4A4F57"/>
                </a:solidFill>
                <a:latin typeface="Calibri"/>
              </a:rPr>
              <a:t>Moving it into a team namespace is what adds the review, the approvals and the audit — not a different kind of object, and not a migration.</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Preview before you commit</a:t>
            </a:r>
          </a:p>
          <a:p>
            <a:pPr lvl="1">
              <a:lnSpc>
                <a:spcPct val="120000"/>
              </a:lnSpc>
              <a:spcBef>
                <a:spcPts val="0"/>
              </a:spcBef>
              <a:spcAft>
                <a:spcPts val="0"/>
              </a:spcAft>
            </a:pPr>
            <a:r>
              <a:rPr sz="1550" b="0">
                <a:solidFill>
                  <a:srgbClr val="4A4F57"/>
                </a:solidFill>
                <a:latin typeface="Calibri"/>
              </a:rPr>
              <a:t>A resolution can be previewed, a feature set planned, a change rehearsed in a workspace, and a formula translated by the kernel wizard, all without writing anything.</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Refusals name themselves</a:t>
            </a:r>
          </a:p>
          <a:p>
            <a:pPr lvl="1">
              <a:lnSpc>
                <a:spcPct val="120000"/>
              </a:lnSpc>
              <a:spcBef>
                <a:spcPts val="0"/>
              </a:spcBef>
              <a:spcAft>
                <a:spcPts val="0"/>
              </a:spcAft>
            </a:pPr>
            <a:r>
              <a:rPr sz="1550" b="0">
                <a:solidFill>
                  <a:srgbClr val="4A4F57"/>
                </a:solidFill>
                <a:latin typeface="Calibri"/>
              </a:rPr>
              <a:t>An unsupported source, an unreadable formula, an unaggregated index, a covenant with nothing to watch: each is refused with the reason and the position, never approximated.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2</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200" b="0" i="0">
                <a:solidFill>
                  <a:srgbClr val="FFFFFF"/>
                </a:solidFill>
                <a:latin typeface="Georgia"/>
              </a:rPr>
              <a:t>Data you can stand behind</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feature is a governed bitemporal dataset. A pin is the same bytes forever. Between them sits an algebra, so a derived dataset is an ordinary dataset.</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Two clocks, and as-of reads</a:t>
            </a:r>
          </a:p>
          <a:p>
            <a:pPr>
              <a:lnSpc>
                <a:spcPct val="115000"/>
              </a:lnSpc>
              <a:spcBef>
                <a:spcPts val="0"/>
              </a:spcBef>
              <a:spcAft>
                <a:spcPts val="600"/>
              </a:spcAft>
            </a:pPr>
            <a:r>
              <a:rPr sz="1200" b="0" i="0">
                <a:solidFill>
                  <a:srgbClr val="F6E6E9"/>
                </a:solidFill>
                <a:latin typeface="Calibri"/>
              </a:rPr>
              <a:t>Pins, hashes and shared fragments</a:t>
            </a:r>
          </a:p>
          <a:p>
            <a:pPr>
              <a:lnSpc>
                <a:spcPct val="115000"/>
              </a:lnSpc>
              <a:spcBef>
                <a:spcPts val="0"/>
              </a:spcBef>
              <a:spcAft>
                <a:spcPts val="600"/>
              </a:spcAft>
            </a:pPr>
            <a:r>
              <a:rPr sz="1200" b="0" i="0">
                <a:solidFill>
                  <a:srgbClr val="F6E6E9"/>
                </a:solidFill>
                <a:latin typeface="Calibri"/>
              </a:rPr>
              <a:t>The feature algebra</a:t>
            </a:r>
          </a:p>
          <a:p>
            <a:pPr>
              <a:lnSpc>
                <a:spcPct val="115000"/>
              </a:lnSpc>
              <a:spcBef>
                <a:spcPts val="0"/>
              </a:spcBef>
              <a:spcAft>
                <a:spcPts val="600"/>
              </a:spcAft>
            </a:pPr>
            <a:r>
              <a:rPr sz="1200" b="0" i="0">
                <a:solidFill>
                  <a:srgbClr val="F6E6E9"/>
                </a:solidFill>
                <a:latin typeface="Calibri"/>
              </a:rPr>
              <a:t>Feature sets and cascade pinning</a:t>
            </a:r>
          </a:p>
          <a:p>
            <a:pPr>
              <a:lnSpc>
                <a:spcPct val="115000"/>
              </a:lnSpc>
              <a:spcBef>
                <a:spcPts val="0"/>
              </a:spcBef>
              <a:spcAft>
                <a:spcPts val="600"/>
              </a:spcAft>
            </a:pPr>
            <a:r>
              <a:rPr sz="1200" b="0" i="0">
                <a:solidFill>
                  <a:srgbClr val="F6E6E9"/>
                </a:solidFill>
                <a:latin typeface="Calibri"/>
              </a:rPr>
              <a:t>Grant conditions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BITEMPORALITY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Two clocks, so “what did we know then” stays answerable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Data you can stand behind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7</a:t>
            </a:r>
          </a:p>
        </p:txBody>
      </p:sp>
      <p:sp>
        <p:nvSpPr>
          <p:cNvPr id="10" name="Rectangle 9"/>
          <p:cNvSpPr/>
          <p:nvPr/>
        </p:nvSpPr>
        <p:spPr>
          <a:xfrm>
            <a:off x="777240" y="5440680"/>
            <a:ext cx="41148" cy="80467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40680"/>
            <a:ext cx="10362895" cy="822960"/>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maya/resolution/resolver.py and maya/services/feature_data.py; tests/test_features.py::test_sc11_point_in_time_after_restatement, tests/test_properties.py::test_a_restatement_never_overwrites. Point-in-time correctness exists elsewhere as a join semantic; the certificate is the part nobody else issues.</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How a row is stored</a:t>
            </a:r>
          </a:p>
        </p:txBody>
      </p:sp>
      <p:sp>
        <p:nvSpPr>
          <p:cNvPr id="15" name="TextBox 14"/>
          <p:cNvSpPr txBox="1"/>
          <p:nvPr/>
        </p:nvSpPr>
        <p:spPr>
          <a:xfrm>
            <a:off x="777240" y="1899031"/>
            <a:ext cx="5135727" cy="33770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Event time</a:t>
            </a:r>
          </a:p>
          <a:p>
            <a:pPr lvl="1">
              <a:lnSpc>
                <a:spcPct val="120000"/>
              </a:lnSpc>
              <a:spcBef>
                <a:spcPts val="0"/>
              </a:spcBef>
              <a:spcAft>
                <a:spcPts val="0"/>
              </a:spcAft>
            </a:pPr>
            <a:r>
              <a:rPr sz="1350" b="0">
                <a:solidFill>
                  <a:srgbClr val="4A4F57"/>
                </a:solidFill>
                <a:latin typeface="Calibri"/>
              </a:rPr>
              <a:t>The date a value is about — the first column of the feature's index.</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Knowledge time</a:t>
            </a:r>
          </a:p>
          <a:p>
            <a:pPr lvl="1">
              <a:lnSpc>
                <a:spcPct val="120000"/>
              </a:lnSpc>
              <a:spcBef>
                <a:spcPts val="0"/>
              </a:spcBef>
              <a:spcAft>
                <a:spcPts val="0"/>
              </a:spcAft>
            </a:pPr>
            <a:r>
              <a:rPr sz="1350" b="0">
                <a:solidFill>
                  <a:srgbClr val="4A4F57"/>
                </a:solidFill>
                <a:latin typeface="Calibri"/>
              </a:rPr>
              <a:t>The instant MAYA could first have known it, stamped on every ingested row.</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restatement is an append</a:t>
            </a:r>
          </a:p>
          <a:p>
            <a:pPr lvl="1">
              <a:lnSpc>
                <a:spcPct val="120000"/>
              </a:lnSpc>
              <a:spcBef>
                <a:spcPts val="0"/>
              </a:spcBef>
              <a:spcAft>
                <a:spcPts val="0"/>
              </a:spcAft>
            </a:pPr>
            <a:r>
              <a:rPr sz="1350" b="0">
                <a:solidFill>
                  <a:srgbClr val="4A4F57"/>
                </a:solidFill>
                <a:latin typeface="Calibri"/>
              </a:rPr>
              <a:t>A vendor correction never overwrites: the ingest log is append-only, so the old answer is still there.</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you can then ask</a:t>
            </a:r>
          </a:p>
        </p:txBody>
      </p:sp>
      <p:sp>
        <p:nvSpPr>
          <p:cNvPr id="19" name="TextBox 18"/>
          <p:cNvSpPr txBox="1"/>
          <p:nvPr/>
        </p:nvSpPr>
        <p:spPr>
          <a:xfrm>
            <a:off x="6278727" y="1899031"/>
            <a:ext cx="5135727" cy="33770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Read the world as of a date</a:t>
            </a:r>
          </a:p>
          <a:p>
            <a:pPr lvl="1">
              <a:lnSpc>
                <a:spcPct val="120000"/>
              </a:lnSpc>
              <a:spcBef>
                <a:spcPts val="0"/>
              </a:spcBef>
              <a:spcAft>
                <a:spcPts val="0"/>
              </a:spcAft>
            </a:pPr>
            <a:r>
              <a:rPr sz="1350" b="0">
                <a:solidFill>
                  <a:srgbClr val="4A4F57"/>
                </a:solidFill>
                <a:latin typeface="Calibri"/>
              </a:rPr>
              <a:t>The knowledge-time cut runs first, then the latest knowledge per key, then the grid, then the fill rules — on every read path, including a feature set's.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Prove a training set has no look-ahead</a:t>
            </a:r>
          </a:p>
          <a:p>
            <a:pPr lvl="1">
              <a:lnSpc>
                <a:spcPct val="120000"/>
              </a:lnSpc>
              <a:spcBef>
                <a:spcPts val="0"/>
              </a:spcBef>
              <a:spcAft>
                <a:spcPts val="0"/>
              </a:spcAft>
            </a:pPr>
            <a:r>
              <a:rPr sz="1350" b="0">
                <a:solidFill>
                  <a:srgbClr val="4A4F57"/>
                </a:solidFill>
                <a:latin typeface="Calibri"/>
              </a:rPr>
              <a:t>Every row's knowledge time at or before its event date plus the declared lag, issued as a signed certificate with the warrant.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See what was filled</a:t>
            </a:r>
          </a:p>
          <a:p>
            <a:pPr lvl="1">
              <a:lnSpc>
                <a:spcPct val="120000"/>
              </a:lnSpc>
              <a:spcBef>
                <a:spcPts val="0"/>
              </a:spcBef>
              <a:spcAft>
                <a:spcPts val="0"/>
              </a:spcAft>
            </a:pPr>
            <a:r>
              <a:rPr sz="1350" b="0">
                <a:solidFill>
                  <a:srgbClr val="4A4F57"/>
                </a:solidFill>
                <a:latin typeface="Calibri"/>
              </a:rPr>
              <a:t>Every resolution emits a fill report: rows filled per rule and the longest run, stored with the pin.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PINS</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A pin is a manifest of shared fragments, sealed by a hash</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Data you can stand behind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8</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maya/core/canonical.py (the definition of the hash), maya/core/chunker.py; tests/test_features.py::test_sc1_repin_is_byte_identical_and_changed_data_is_not and ::test_sc12_unchanged_month_costs_under_five_percent; docs/BENCHMARKS.md.</a:t>
            </a:r>
          </a:p>
        </p:txBody>
      </p:sp>
      <p:sp>
        <p:nvSpPr>
          <p:cNvPr id="12" name="Rectangle 11"/>
          <p:cNvSpPr/>
          <p:nvPr/>
        </p:nvSpPr>
        <p:spPr>
          <a:xfrm>
            <a:off x="777240"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sealing means</a:t>
            </a:r>
          </a:p>
        </p:txBody>
      </p:sp>
      <p:sp>
        <p:nvSpPr>
          <p:cNvPr id="15" name="TextBox 14"/>
          <p:cNvSpPr txBox="1"/>
          <p:nvPr/>
        </p:nvSpPr>
        <p:spPr>
          <a:xfrm>
            <a:off x="777240" y="1882965"/>
            <a:ext cx="5135727" cy="359429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hash is over values, not file bytes</a:t>
            </a:r>
          </a:p>
          <a:p>
            <a:pPr lvl="1">
              <a:lnSpc>
                <a:spcPct val="120000"/>
              </a:lnSpc>
              <a:spcBef>
                <a:spcPts val="0"/>
              </a:spcBef>
              <a:spcAft>
                <a:spcPts val="0"/>
              </a:spcAft>
            </a:pPr>
            <a:r>
              <a:rPr sz="1350" b="0">
                <a:solidFill>
                  <a:srgbClr val="4A4F57"/>
                </a:solidFill>
                <a:latin typeface="Calibri"/>
              </a:rPr>
              <a:t>Column order is ignored, any changed value is noticed, and two pins of the same data agree across engine versions and machines.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Re-pinning the same data is free and identical</a:t>
            </a:r>
          </a:p>
          <a:p>
            <a:pPr lvl="1">
              <a:lnSpc>
                <a:spcPct val="120000"/>
              </a:lnSpc>
              <a:spcBef>
                <a:spcPts val="0"/>
              </a:spcBef>
              <a:spcAft>
                <a:spcPts val="0"/>
              </a:spcAft>
            </a:pPr>
            <a:r>
              <a:rPr sz="1350" b="0">
                <a:solidFill>
                  <a:srgbClr val="4A4F57"/>
                </a:solidFill>
                <a:latin typeface="Calibri"/>
              </a:rPr>
              <a:t>Byte-identical content hash, and nothing new written.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Fragment boundaries follow the content</a:t>
            </a:r>
          </a:p>
          <a:p>
            <a:pPr lvl="1">
              <a:lnSpc>
                <a:spcPct val="120000"/>
              </a:lnSpc>
              <a:spcBef>
                <a:spcPts val="0"/>
              </a:spcBef>
              <a:spcAft>
                <a:spcPts val="0"/>
              </a:spcAft>
            </a:pPr>
            <a:r>
              <a:rPr sz="1350" b="0">
                <a:solidFill>
                  <a:srgbClr val="4A4F57"/>
                </a:solidFill>
                <a:latin typeface="Calibri"/>
              </a:rPr>
              <a:t>One inserted row leaves every earlier fragment untouched, so an unchanged month costs under 5% of a full pin.</a:t>
            </a:r>
          </a:p>
        </p:txBody>
      </p:sp>
      <p:sp>
        <p:nvSpPr>
          <p:cNvPr id="16" name="Rectangle 15"/>
          <p:cNvSpPr/>
          <p:nvPr/>
        </p:nvSpPr>
        <p:spPr>
          <a:xfrm>
            <a:off x="6278727"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it buys</a:t>
            </a:r>
          </a:p>
        </p:txBody>
      </p:sp>
      <p:sp>
        <p:nvSpPr>
          <p:cNvPr id="19" name="TextBox 18"/>
          <p:cNvSpPr txBox="1"/>
          <p:nvPr/>
        </p:nvSpPr>
        <p:spPr>
          <a:xfrm>
            <a:off x="6278727" y="1882965"/>
            <a:ext cx="5135727" cy="359429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 pin can be handed to an auditor</a:t>
            </a:r>
          </a:p>
          <a:p>
            <a:pPr lvl="1">
              <a:lnSpc>
                <a:spcPct val="120000"/>
              </a:lnSpc>
              <a:spcBef>
                <a:spcPts val="0"/>
              </a:spcBef>
              <a:spcAft>
                <a:spcPts val="0"/>
              </a:spcAft>
            </a:pPr>
            <a:r>
              <a:rPr sz="1350" b="0">
                <a:solidFill>
                  <a:srgbClr val="4A4F57"/>
                </a:solidFill>
                <a:latin typeface="Calibri"/>
              </a:rPr>
              <a:t>Immutable, content-addressed, and verifiable without trusting the system that produced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Storage that does not multiply</a:t>
            </a:r>
          </a:p>
          <a:p>
            <a:pPr lvl="1">
              <a:lnSpc>
                <a:spcPct val="120000"/>
              </a:lnSpc>
              <a:spcBef>
                <a:spcPts val="0"/>
              </a:spcBef>
              <a:spcAft>
                <a:spcPts val="0"/>
              </a:spcAft>
            </a:pPr>
            <a:r>
              <a:rPr sz="1350" b="0">
                <a:solidFill>
                  <a:srgbClr val="4A4F57"/>
                </a:solidFill>
                <a:latin typeface="Calibri"/>
              </a:rPr>
              <a:t>Month-end pins of a slow-moving feature share almost everything.</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Speed that was measured</a:t>
            </a:r>
          </a:p>
          <a:p>
            <a:pPr lvl="1">
              <a:lnSpc>
                <a:spcPct val="120000"/>
              </a:lnSpc>
              <a:spcBef>
                <a:spcPts val="0"/>
              </a:spcBef>
              <a:spcAft>
                <a:spcPts val="0"/>
              </a:spcAft>
            </a:pPr>
            <a:r>
              <a:rPr sz="1350" b="0">
                <a:solidFill>
                  <a:srgbClr val="4A4F57"/>
                </a:solidFill>
                <a:latin typeface="Calibri"/>
              </a:rPr>
              <a:t>Pin write 59.7 MB/s on one worker against a 50 MB/s target; resolution of a 50-attribute, ten-year, 500-symbol feature set at 0.98 s warm.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FEATURE ALGEBRA</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C1C1E"/>
                </a:solidFill>
                <a:latin typeface="Georgia"/>
              </a:rPr>
              <a:t>Fifteen operators, each yielding a definition rather than a result</a:t>
            </a:r>
          </a:p>
        </p:txBody>
      </p:sp>
      <p:sp>
        <p:nvSpPr>
          <p:cNvPr id="6" name="Rectangle 5"/>
          <p:cNvSpPr/>
          <p:nvPr/>
        </p:nvSpPr>
        <p:spPr>
          <a:xfrm>
            <a:off x="777240" y="1178623"/>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Data you can stand behind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9</a:t>
            </a:r>
          </a:p>
        </p:txBody>
      </p:sp>
      <p:sp>
        <p:nvSpPr>
          <p:cNvPr id="10" name="TextBox 9"/>
          <p:cNvSpPr txBox="1"/>
          <p:nvPr/>
        </p:nvSpPr>
        <p:spPr>
          <a:xfrm>
            <a:off x="777240" y="1306639"/>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derived feature is an ordinary feature: named, versioned, pinnable, permissioned and visible in lineage. Inheritance stores a diff, not a copy, so a fix to a parent reaches every child.</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maya/resolution/algebra.py. Typed at definition time with no data read; each operator declares whether it is additive, behavioral or breaking; non-causality propagates; a canonical derivation hash lets MAYA refuse an algebraically identical near-copy rather than accept a second truth.</a:t>
            </a:r>
          </a:p>
        </p:txBody>
      </p:sp>
      <p:graphicFrame>
        <p:nvGraphicFramePr>
          <p:cNvPr id="13" name="Table 12"/>
          <p:cNvGraphicFramePr>
            <a:graphicFrameLocks noGrp="1"/>
          </p:cNvGraphicFramePr>
          <p:nvPr/>
        </p:nvGraphicFramePr>
        <p:xfrm>
          <a:off x="777240" y="1960181"/>
          <a:ext cx="10637214" cy="3220656"/>
        </p:xfrm>
        <a:graphic>
          <a:graphicData uri="http://schemas.openxmlformats.org/drawingml/2006/table">
            <a:tbl>
              <a:tblPr firstRow="1">
                <a:tableStyleId>{5C22544A-7EE6-4342-B048-85BDC9FD1C3A}</a:tableStyleId>
              </a:tblPr>
              <a:tblGrid>
                <a:gridCol w="1467202"/>
                <a:gridCol w="3851405"/>
                <a:gridCol w="1467202"/>
                <a:gridCol w="3851405"/>
              </a:tblGrid>
              <a:tr h="318579">
                <a:tc>
                  <a:txBody>
                    <a:bodyPr wrap="square"/>
                    <a:lstStyle/>
                    <a:p>
                      <a:r>
                        <a:rPr sz="1300" b="1">
                          <a:solidFill>
                            <a:srgbClr val="FFFFFF"/>
                          </a:solidFill>
                          <a:latin typeface="Calibri"/>
                        </a:rPr>
                        <a:t>Operator</a:t>
                      </a:r>
                    </a:p>
                  </a:txBody>
                  <a:tcPr marL="82296" marR="64008" marT="32004" marB="32004" anchor="ctr">
                    <a:solidFill>
                      <a:srgbClr val="A51C30"/>
                    </a:solidFill>
                  </a:tcPr>
                </a:tc>
                <a:tc>
                  <a:txBody>
                    <a:bodyPr wrap="square"/>
                    <a:lstStyle/>
                    <a:p>
                      <a:r>
                        <a:rPr sz="1300" b="1">
                          <a:solidFill>
                            <a:srgbClr val="FFFFFF"/>
                          </a:solidFill>
                          <a:latin typeface="Calibri"/>
                        </a:rPr>
                        <a:t>Produces</a:t>
                      </a:r>
                    </a:p>
                  </a:txBody>
                  <a:tcPr marL="82296" marR="64008" marT="32004" marB="32004" anchor="ctr">
                    <a:solidFill>
                      <a:srgbClr val="A51C30"/>
                    </a:solidFill>
                  </a:tcPr>
                </a:tc>
                <a:tc>
                  <a:txBody>
                    <a:bodyPr wrap="square"/>
                    <a:lstStyle/>
                    <a:p>
                      <a:r>
                        <a:rPr sz="1300" b="1">
                          <a:solidFill>
                            <a:srgbClr val="FFFFFF"/>
                          </a:solidFill>
                          <a:latin typeface="Calibri"/>
                        </a:rPr>
                        <a:t>Operator</a:t>
                      </a:r>
                    </a:p>
                  </a:txBody>
                  <a:tcPr marL="82296" marR="64008" marT="32004" marB="32004" anchor="ctr">
                    <a:solidFill>
                      <a:srgbClr val="A51C30"/>
                    </a:solidFill>
                  </a:tcPr>
                </a:tc>
                <a:tc>
                  <a:txBody>
                    <a:bodyPr wrap="square"/>
                    <a:lstStyle/>
                    <a:p>
                      <a:r>
                        <a:rPr sz="1300" b="1">
                          <a:solidFill>
                            <a:srgbClr val="FFFFFF"/>
                          </a:solidFill>
                          <a:latin typeface="Calibri"/>
                        </a:rPr>
                        <a:t>Produces</a:t>
                      </a:r>
                    </a:p>
                  </a:txBody>
                  <a:tcPr marL="82296" marR="64008" marT="32004" marB="32004" anchor="ctr">
                    <a:solidFill>
                      <a:srgbClr val="A51C30"/>
                    </a:solidFill>
                  </a:tcPr>
                </a:tc>
              </a:tr>
              <a:tr h="334645">
                <a:tc>
                  <a:txBody>
                    <a:bodyPr wrap="square"/>
                    <a:lstStyle/>
                    <a:p>
                      <a:r>
                        <a:rPr sz="1400" b="1">
                          <a:solidFill>
                            <a:srgbClr val="761422"/>
                          </a:solidFill>
                          <a:latin typeface="Calibri"/>
                        </a:rPr>
                        <a:t>project</a:t>
                      </a:r>
                    </a:p>
                  </a:txBody>
                  <a:tcPr marL="82296" marR="64008" marT="32004" marB="32004" anchor="ctr">
                    <a:solidFill>
                      <a:srgbClr val="FFFFFF"/>
                    </a:solidFill>
                  </a:tcPr>
                </a:tc>
                <a:tc>
                  <a:txBody>
                    <a:bodyPr wrap="square"/>
                    <a:lstStyle/>
                    <a:p>
                      <a:r>
                        <a:rPr sz="1400" b="0">
                          <a:solidFill>
                            <a:srgbClr val="1C1C1E"/>
                          </a:solidFill>
                          <a:latin typeface="Calibri"/>
                        </a:rPr>
                        <a:t>A subset of attributes</a:t>
                      </a:r>
                    </a:p>
                  </a:txBody>
                  <a:tcPr marL="82296" marR="64008" marT="32004" marB="32004" anchor="ctr">
                    <a:solidFill>
                      <a:srgbClr val="FFFFFF"/>
                    </a:solidFill>
                  </a:tcPr>
                </a:tc>
                <a:tc>
                  <a:txBody>
                    <a:bodyPr wrap="square"/>
                    <a:lstStyle/>
                    <a:p>
                      <a:r>
                        <a:rPr sz="1400" b="0">
                          <a:solidFill>
                            <a:srgbClr val="1C1C1E"/>
                          </a:solidFill>
                          <a:latin typeface="Calibri"/>
                        </a:rPr>
                        <a:t>aggregate</a:t>
                      </a:r>
                    </a:p>
                  </a:txBody>
                  <a:tcPr marL="82296" marR="64008" marT="32004" marB="32004" anchor="ctr">
                    <a:solidFill>
                      <a:srgbClr val="FFFFFF"/>
                    </a:solidFill>
                  </a:tcPr>
                </a:tc>
                <a:tc>
                  <a:txBody>
                    <a:bodyPr wrap="square"/>
                    <a:lstStyle/>
                    <a:p>
                      <a:r>
                        <a:rPr sz="1400" b="0">
                          <a:solidFill>
                            <a:srgbClr val="1C1C1E"/>
                          </a:solidFill>
                          <a:latin typeface="Calibri"/>
                        </a:rPr>
                        <a:t>A coarser index</a:t>
                      </a:r>
                    </a:p>
                  </a:txBody>
                  <a:tcPr marL="82296" marR="64008" marT="32004" marB="32004" anchor="ctr">
                    <a:solidFill>
                      <a:srgbClr val="FFFFFF"/>
                    </a:solidFill>
                  </a:tcPr>
                </a:tc>
              </a:tr>
              <a:tr h="334645">
                <a:tc>
                  <a:txBody>
                    <a:bodyPr wrap="square"/>
                    <a:lstStyle/>
                    <a:p>
                      <a:r>
                        <a:rPr sz="1400" b="1">
                          <a:solidFill>
                            <a:srgbClr val="761422"/>
                          </a:solidFill>
                          <a:latin typeface="Calibri"/>
                        </a:rPr>
                        <a:t>rename</a:t>
                      </a:r>
                    </a:p>
                  </a:txBody>
                  <a:tcPr marL="82296" marR="64008" marT="32004" marB="32004" anchor="ctr">
                    <a:solidFill>
                      <a:srgbClr val="F6F3EF"/>
                    </a:solidFill>
                  </a:tcPr>
                </a:tc>
                <a:tc>
                  <a:txBody>
                    <a:bodyPr wrap="square"/>
                    <a:lstStyle/>
                    <a:p>
                      <a:r>
                        <a:rPr sz="1400" b="0">
                          <a:solidFill>
                            <a:srgbClr val="1C1C1E"/>
                          </a:solidFill>
                          <a:latin typeface="Calibri"/>
                        </a:rPr>
                        <a:t>The same data, renamed</a:t>
                      </a:r>
                    </a:p>
                  </a:txBody>
                  <a:tcPr marL="82296" marR="64008" marT="32004" marB="32004" anchor="ctr">
                    <a:solidFill>
                      <a:srgbClr val="F6F3EF"/>
                    </a:solidFill>
                  </a:tcPr>
                </a:tc>
                <a:tc>
                  <a:txBody>
                    <a:bodyPr wrap="square"/>
                    <a:lstStyle/>
                    <a:p>
                      <a:r>
                        <a:rPr sz="1400" b="0">
                          <a:solidFill>
                            <a:srgbClr val="1C1C1E"/>
                          </a:solidFill>
                          <a:latin typeface="Calibri"/>
                        </a:rPr>
                        <a:t>lag</a:t>
                      </a:r>
                    </a:p>
                  </a:txBody>
                  <a:tcPr marL="82296" marR="64008" marT="32004" marB="32004" anchor="ctr">
                    <a:solidFill>
                      <a:srgbClr val="F6F3EF"/>
                    </a:solidFill>
                  </a:tcPr>
                </a:tc>
                <a:tc>
                  <a:txBody>
                    <a:bodyPr wrap="square"/>
                    <a:lstStyle/>
                    <a:p>
                      <a:r>
                        <a:rPr sz="1400" b="0">
                          <a:solidFill>
                            <a:srgbClr val="1C1C1E"/>
                          </a:solidFill>
                          <a:latin typeface="Calibri"/>
                        </a:rPr>
                        <a:t>Values shifted by n periods</a:t>
                      </a:r>
                    </a:p>
                  </a:txBody>
                  <a:tcPr marL="82296" marR="64008" marT="32004" marB="32004" anchor="ctr">
                    <a:solidFill>
                      <a:srgbClr val="F6F3EF"/>
                    </a:solidFill>
                  </a:tcPr>
                </a:tc>
              </a:tr>
              <a:tr h="334645">
                <a:tc>
                  <a:txBody>
                    <a:bodyPr wrap="square"/>
                    <a:lstStyle/>
                    <a:p>
                      <a:r>
                        <a:rPr sz="1400" b="1">
                          <a:solidFill>
                            <a:srgbClr val="761422"/>
                          </a:solidFill>
                          <a:latin typeface="Calibri"/>
                        </a:rPr>
                        <a:t>transform</a:t>
                      </a:r>
                    </a:p>
                  </a:txBody>
                  <a:tcPr marL="82296" marR="64008" marT="32004" marB="32004" anchor="ctr">
                    <a:solidFill>
                      <a:srgbClr val="FFFFFF"/>
                    </a:solidFill>
                  </a:tcPr>
                </a:tc>
                <a:tc>
                  <a:txBody>
                    <a:bodyPr wrap="square"/>
                    <a:lstStyle/>
                    <a:p>
                      <a:r>
                        <a:rPr sz="1400" b="0">
                          <a:solidFill>
                            <a:srgbClr val="1C1C1E"/>
                          </a:solidFill>
                          <a:latin typeface="Calibri"/>
                        </a:rPr>
                        <a:t>A derived feature by pipeline</a:t>
                      </a:r>
                    </a:p>
                  </a:txBody>
                  <a:tcPr marL="82296" marR="64008" marT="32004" marB="32004" anchor="ctr">
                    <a:solidFill>
                      <a:srgbClr val="FFFFFF"/>
                    </a:solidFill>
                  </a:tcPr>
                </a:tc>
                <a:tc>
                  <a:txBody>
                    <a:bodyPr wrap="square"/>
                    <a:lstStyle/>
                    <a:p>
                      <a:r>
                        <a:rPr sz="1400" b="0">
                          <a:solidFill>
                            <a:srgbClr val="1C1C1E"/>
                          </a:solidFill>
                          <a:latin typeface="Calibri"/>
                        </a:rPr>
                        <a:t>resample</a:t>
                      </a:r>
                    </a:p>
                  </a:txBody>
                  <a:tcPr marL="82296" marR="64008" marT="32004" marB="32004" anchor="ctr">
                    <a:solidFill>
                      <a:srgbClr val="FFFFFF"/>
                    </a:solidFill>
                  </a:tcPr>
                </a:tc>
                <a:tc>
                  <a:txBody>
                    <a:bodyPr wrap="square"/>
                    <a:lstStyle/>
                    <a:p>
                      <a:r>
                        <a:rPr sz="1400" b="0">
                          <a:solidFill>
                            <a:srgbClr val="1C1C1E"/>
                          </a:solidFill>
                          <a:latin typeface="Calibri"/>
                        </a:rPr>
                        <a:t>A new frequency</a:t>
                      </a:r>
                    </a:p>
                  </a:txBody>
                  <a:tcPr marL="82296" marR="64008" marT="32004" marB="32004" anchor="ctr">
                    <a:solidFill>
                      <a:srgbClr val="FFFFFF"/>
                    </a:solidFill>
                  </a:tcPr>
                </a:tc>
              </a:tr>
              <a:tr h="334645">
                <a:tc>
                  <a:txBody>
                    <a:bodyPr wrap="square"/>
                    <a:lstStyle/>
                    <a:p>
                      <a:r>
                        <a:rPr sz="1400" b="1">
                          <a:solidFill>
                            <a:srgbClr val="761422"/>
                          </a:solidFill>
                          <a:latin typeface="Calibri"/>
                        </a:rPr>
                        <a:t>union</a:t>
                      </a:r>
                    </a:p>
                  </a:txBody>
                  <a:tcPr marL="82296" marR="64008" marT="32004" marB="32004" anchor="ctr">
                    <a:solidFill>
                      <a:srgbClr val="F6F3EF"/>
                    </a:solidFill>
                  </a:tcPr>
                </a:tc>
                <a:tc>
                  <a:txBody>
                    <a:bodyPr wrap="square"/>
                    <a:lstStyle/>
                    <a:p>
                      <a:r>
                        <a:rPr sz="1400" b="0">
                          <a:solidFill>
                            <a:srgbClr val="1C1C1E"/>
                          </a:solidFill>
                          <a:latin typeface="Calibri"/>
                        </a:rPr>
                        <a:t>Rows of both, collisions by policy</a:t>
                      </a:r>
                    </a:p>
                  </a:txBody>
                  <a:tcPr marL="82296" marR="64008" marT="32004" marB="32004" anchor="ctr">
                    <a:solidFill>
                      <a:srgbClr val="F6F3EF"/>
                    </a:solidFill>
                  </a:tcPr>
                </a:tc>
                <a:tc>
                  <a:txBody>
                    <a:bodyPr wrap="square"/>
                    <a:lstStyle/>
                    <a:p>
                      <a:r>
                        <a:rPr sz="1400" b="0">
                          <a:solidFill>
                            <a:srgbClr val="1C1C1E"/>
                          </a:solidFill>
                          <a:latin typeface="Calibri"/>
                        </a:rPr>
                        <a:t>case</a:t>
                      </a:r>
                    </a:p>
                  </a:txBody>
                  <a:tcPr marL="82296" marR="64008" marT="32004" marB="32004" anchor="ctr">
                    <a:solidFill>
                      <a:srgbClr val="F6F3EF"/>
                    </a:solidFill>
                  </a:tcPr>
                </a:tc>
                <a:tc>
                  <a:txBody>
                    <a:bodyPr wrap="square"/>
                    <a:lstStyle/>
                    <a:p>
                      <a:r>
                        <a:rPr sz="1400" b="0">
                          <a:solidFill>
                            <a:srgbClr val="1C1C1E"/>
                          </a:solidFill>
                          <a:latin typeface="Calibri"/>
                        </a:rPr>
                        <a:t>Row-wise choice between inputs</a:t>
                      </a:r>
                    </a:p>
                  </a:txBody>
                  <a:tcPr marL="82296" marR="64008" marT="32004" marB="32004" anchor="ctr">
                    <a:solidFill>
                      <a:srgbClr val="F6F3EF"/>
                    </a:solidFill>
                  </a:tcPr>
                </a:tc>
              </a:tr>
              <a:tr h="334645">
                <a:tc>
                  <a:txBody>
                    <a:bodyPr wrap="square"/>
                    <a:lstStyle/>
                    <a:p>
                      <a:r>
                        <a:rPr sz="1400" b="1">
                          <a:solidFill>
                            <a:srgbClr val="761422"/>
                          </a:solidFill>
                          <a:latin typeface="Calibri"/>
                        </a:rPr>
                        <a:t>intersect</a:t>
                      </a:r>
                    </a:p>
                  </a:txBody>
                  <a:tcPr marL="82296" marR="64008" marT="32004" marB="32004" anchor="ctr">
                    <a:solidFill>
                      <a:srgbClr val="FFFFFF"/>
                    </a:solidFill>
                  </a:tcPr>
                </a:tc>
                <a:tc>
                  <a:txBody>
                    <a:bodyPr wrap="square"/>
                    <a:lstStyle/>
                    <a:p>
                      <a:r>
                        <a:rPr sz="1400" b="0">
                          <a:solidFill>
                            <a:srgbClr val="1C1C1E"/>
                          </a:solidFill>
                          <a:latin typeface="Calibri"/>
                        </a:rPr>
                        <a:t>Rows whose index is in both</a:t>
                      </a:r>
                    </a:p>
                  </a:txBody>
                  <a:tcPr marL="82296" marR="64008" marT="32004" marB="32004" anchor="ctr">
                    <a:solidFill>
                      <a:srgbClr val="FFFFFF"/>
                    </a:solidFill>
                  </a:tcPr>
                </a:tc>
                <a:tc>
                  <a:txBody>
                    <a:bodyPr wrap="square"/>
                    <a:lstStyle/>
                    <a:p>
                      <a:r>
                        <a:rPr sz="1400" b="0">
                          <a:solidFill>
                            <a:srgbClr val="1C1C1E"/>
                          </a:solidFill>
                          <a:latin typeface="Calibri"/>
                        </a:rPr>
                        <a:t>pivot</a:t>
                      </a:r>
                    </a:p>
                  </a:txBody>
                  <a:tcPr marL="82296" marR="64008" marT="32004" marB="32004" anchor="ctr">
                    <a:solidFill>
                      <a:srgbClr val="FFFFFF"/>
                    </a:solidFill>
                  </a:tcPr>
                </a:tc>
                <a:tc>
                  <a:txBody>
                    <a:bodyPr wrap="square"/>
                    <a:lstStyle/>
                    <a:p>
                      <a:r>
                        <a:rPr sz="1400" b="0">
                          <a:solidFill>
                            <a:srgbClr val="1C1C1E"/>
                          </a:solidFill>
                          <a:latin typeface="Calibri"/>
                        </a:rPr>
                        <a:t>Long to wide</a:t>
                      </a:r>
                    </a:p>
                  </a:txBody>
                  <a:tcPr marL="82296" marR="64008" marT="32004" marB="32004" anchor="ctr">
                    <a:solidFill>
                      <a:srgbClr val="FFFFFF"/>
                    </a:solidFill>
                  </a:tcPr>
                </a:tc>
              </a:tr>
              <a:tr h="559562">
                <a:tc>
                  <a:txBody>
                    <a:bodyPr wrap="square"/>
                    <a:lstStyle/>
                    <a:p>
                      <a:r>
                        <a:rPr sz="1400" b="1">
                          <a:solidFill>
                            <a:srgbClr val="761422"/>
                          </a:solidFill>
                          <a:latin typeface="Calibri"/>
                        </a:rPr>
                        <a:t>difference</a:t>
                      </a:r>
                    </a:p>
                  </a:txBody>
                  <a:tcPr marL="82296" marR="64008" marT="32004" marB="32004" anchor="ctr">
                    <a:solidFill>
                      <a:srgbClr val="F6F3EF"/>
                    </a:solidFill>
                  </a:tcPr>
                </a:tc>
                <a:tc>
                  <a:txBody>
                    <a:bodyPr wrap="square"/>
                    <a:lstStyle/>
                    <a:p>
                      <a:r>
                        <a:rPr sz="1400" b="0">
                          <a:solidFill>
                            <a:srgbClr val="1C1C1E"/>
                          </a:solidFill>
                          <a:latin typeface="Calibri"/>
                        </a:rPr>
                        <a:t>Rows of the first absent from the second</a:t>
                      </a:r>
                    </a:p>
                  </a:txBody>
                  <a:tcPr marL="82296" marR="64008" marT="32004" marB="32004" anchor="ctr">
                    <a:solidFill>
                      <a:srgbClr val="F6F3EF"/>
                    </a:solidFill>
                  </a:tcPr>
                </a:tc>
                <a:tc>
                  <a:txBody>
                    <a:bodyPr wrap="square"/>
                    <a:lstStyle/>
                    <a:p>
                      <a:r>
                        <a:rPr sz="1400" b="0">
                          <a:solidFill>
                            <a:srgbClr val="1C1C1E"/>
                          </a:solidFill>
                          <a:latin typeface="Calibri"/>
                        </a:rPr>
                        <a:t>unpivot</a:t>
                      </a:r>
                    </a:p>
                  </a:txBody>
                  <a:tcPr marL="82296" marR="64008" marT="32004" marB="32004" anchor="ctr">
                    <a:solidFill>
                      <a:srgbClr val="F6F3EF"/>
                    </a:solidFill>
                  </a:tcPr>
                </a:tc>
                <a:tc>
                  <a:txBody>
                    <a:bodyPr wrap="square"/>
                    <a:lstStyle/>
                    <a:p>
                      <a:r>
                        <a:rPr sz="1400" b="0">
                          <a:solidFill>
                            <a:srgbClr val="1C1C1E"/>
                          </a:solidFill>
                          <a:latin typeface="Calibri"/>
                        </a:rPr>
                        <a:t>Wide to long</a:t>
                      </a:r>
                    </a:p>
                  </a:txBody>
                  <a:tcPr marL="82296" marR="64008" marT="32004" marB="32004" anchor="ctr">
                    <a:solidFill>
                      <a:srgbClr val="F6F3EF"/>
                    </a:solidFill>
                  </a:tcPr>
                </a:tc>
              </a:tr>
              <a:tr h="334645">
                <a:tc>
                  <a:txBody>
                    <a:bodyPr wrap="square"/>
                    <a:lstStyle/>
                    <a:p>
                      <a:r>
                        <a:rPr sz="1400" b="1">
                          <a:solidFill>
                            <a:srgbClr val="761422"/>
                          </a:solidFill>
                          <a:latin typeface="Calibri"/>
                        </a:rPr>
                        <a:t>compose</a:t>
                      </a:r>
                    </a:p>
                  </a:txBody>
                  <a:tcPr marL="82296" marR="64008" marT="32004" marB="32004" anchor="ctr">
                    <a:solidFill>
                      <a:srgbClr val="FFFFFF"/>
                    </a:solidFill>
                  </a:tcPr>
                </a:tc>
                <a:tc>
                  <a:txBody>
                    <a:bodyPr wrap="square"/>
                    <a:lstStyle/>
                    <a:p>
                      <a:r>
                        <a:rPr sz="1400" b="0">
                          <a:solidFill>
                            <a:srgbClr val="1C1C1E"/>
                          </a:solidFill>
                          <a:latin typeface="Calibri"/>
                        </a:rPr>
                        <a:t>Attributes of both, aligned</a:t>
                      </a:r>
                    </a:p>
                  </a:txBody>
                  <a:tcPr marL="82296" marR="64008" marT="32004" marB="32004" anchor="ctr">
                    <a:solidFill>
                      <a:srgbClr val="FFFFFF"/>
                    </a:solidFill>
                  </a:tcPr>
                </a:tc>
                <a:tc>
                  <a:txBody>
                    <a:bodyPr wrap="square"/>
                    <a:lstStyle/>
                    <a:p>
                      <a:r>
                        <a:rPr sz="1400" b="0">
                          <a:solidFill>
                            <a:srgbClr val="1C1C1E"/>
                          </a:solidFill>
                          <a:latin typeface="Calibri"/>
                        </a:rPr>
                        <a:t>sample</a:t>
                      </a:r>
                    </a:p>
                  </a:txBody>
                  <a:tcPr marL="82296" marR="64008" marT="32004" marB="32004" anchor="ctr">
                    <a:solidFill>
                      <a:srgbClr val="FFFFFF"/>
                    </a:solidFill>
                  </a:tcPr>
                </a:tc>
                <a:tc>
                  <a:txBody>
                    <a:bodyPr wrap="square"/>
                    <a:lstStyle/>
                    <a:p>
                      <a:r>
                        <a:rPr sz="1400" b="0">
                          <a:solidFill>
                            <a:srgbClr val="1C1C1E"/>
                          </a:solidFill>
                          <a:latin typeface="Calibri"/>
                        </a:rPr>
                        <a:t>A deterministic seeded subset</a:t>
                      </a:r>
                    </a:p>
                  </a:txBody>
                  <a:tcPr marL="82296" marR="64008" marT="32004" marB="32004" anchor="ctr">
                    <a:solidFill>
                      <a:srgbClr val="FFFFFF"/>
                    </a:solidFill>
                  </a:tcPr>
                </a:tc>
              </a:tr>
              <a:tr h="334645">
                <a:tc>
                  <a:txBody>
                    <a:bodyPr wrap="square"/>
                    <a:lstStyle/>
                    <a:p>
                      <a:r>
                        <a:rPr sz="1400" b="1">
                          <a:solidFill>
                            <a:srgbClr val="761422"/>
                          </a:solidFill>
                          <a:latin typeface="Calibri"/>
                        </a:rPr>
                        <a:t>coalesce</a:t>
                      </a:r>
                    </a:p>
                  </a:txBody>
                  <a:tcPr marL="82296" marR="64008" marT="32004" marB="32004" anchor="ctr">
                    <a:solidFill>
                      <a:srgbClr val="F6F3EF"/>
                    </a:solidFill>
                  </a:tcPr>
                </a:tc>
                <a:tc>
                  <a:txBody>
                    <a:bodyPr wrap="square"/>
                    <a:lstStyle/>
                    <a:p>
                      <a:r>
                        <a:rPr sz="1400" b="0">
                          <a:solidFill>
                            <a:srgbClr val="1C1C1E"/>
                          </a:solidFill>
                          <a:latin typeface="Calibri"/>
                        </a:rPr>
                        <a:t>First non-null across ordered inputs</a:t>
                      </a:r>
                    </a:p>
                  </a:txBody>
                  <a:tcPr marL="82296" marR="64008" marT="32004" marB="32004" anchor="ctr">
                    <a:solidFill>
                      <a:srgbClr val="F6F3EF"/>
                    </a:solidFill>
                  </a:tcPr>
                </a:tc>
                <a:tc>
                  <a:txBody>
                    <a:bodyPr wrap="square"/>
                    <a:lstStyle/>
                    <a:p>
                      <a:r>
                        <a:rPr sz="1400" b="0">
                          <a:solidFill>
                            <a:srgbClr val="1C1C1E"/>
                          </a:solidFill>
                          <a:latin typeface="Calibri"/>
                        </a:rPr>
                        <a:t/>
                      </a:r>
                    </a:p>
                  </a:txBody>
                  <a:tcPr marL="82296" marR="64008" marT="32004" marB="32004" anchor="ctr">
                    <a:solidFill>
                      <a:srgbClr val="F6F3EF"/>
                    </a:solidFill>
                  </a:tcPr>
                </a:tc>
                <a:tc>
                  <a:txBody>
                    <a:bodyPr wrap="square"/>
                    <a:lstStyle/>
                    <a:p>
                      <a:r>
                        <a:rPr sz="1400" b="0">
                          <a:solidFill>
                            <a:srgbClr val="1C1C1E"/>
                          </a:solidFill>
                          <a:latin typeface="Calibri"/>
                        </a:rPr>
                        <a:t/>
                      </a:r>
                    </a:p>
                  </a:txBody>
                  <a:tcPr marL="82296" marR="64008" marT="32004" marB="32004" anchor="ctr">
                    <a:solidFill>
                      <a:srgbClr val="F6F3E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FEATURE SETS</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A view over features, and pinned as a whole or not at all</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Data you can stand behind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10</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maya/resolution/featureset.py and maya/services/featuresets.py; tests/test_materialization.py, tests/test_warrants.py::test_cascade_rolls_back_entirely_on_a_member_failure. Feature-set operators beyond extend are not built; the specification audit lists it.</a:t>
            </a:r>
          </a:p>
        </p:txBody>
      </p:sp>
      <p:sp>
        <p:nvSpPr>
          <p:cNvPr id="12" name="Rectangle 11"/>
          <p:cNvSpPr/>
          <p:nvPr/>
        </p:nvSpPr>
        <p:spPr>
          <a:xfrm>
            <a:off x="777240"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Building one</a:t>
            </a:r>
          </a:p>
        </p:txBody>
      </p:sp>
      <p:sp>
        <p:nvSpPr>
          <p:cNvPr id="15" name="TextBox 14"/>
          <p:cNvSpPr txBox="1"/>
          <p:nvPr/>
        </p:nvSpPr>
        <p:spPr>
          <a:xfrm>
            <a:off x="777240" y="1882965"/>
            <a:ext cx="5135727" cy="359429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Attributes mapped from members</a:t>
            </a:r>
          </a:p>
          <a:p>
            <a:pPr lvl="1">
              <a:lnSpc>
                <a:spcPct val="120000"/>
              </a:lnSpc>
              <a:spcBef>
                <a:spcPts val="0"/>
              </a:spcBef>
              <a:spcAft>
                <a:spcPts val="0"/>
              </a:spcAft>
            </a:pPr>
            <a:r>
              <a:rPr sz="1350" b="0">
                <a:solidFill>
                  <a:srgbClr val="4A4F57"/>
                </a:solidFill>
                <a:latin typeface="Calibri"/>
              </a:rPr>
              <a:t>Each names its member, the source attribute, an optional cast and its overrides; alignment is inner, outer, left, or as-of with a tolerance.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Six layers of precedence, shown per attribute</a:t>
            </a:r>
          </a:p>
          <a:p>
            <a:pPr lvl="1">
              <a:lnSpc>
                <a:spcPct val="120000"/>
              </a:lnSpc>
              <a:spcBef>
                <a:spcPts val="0"/>
              </a:spcBef>
              <a:spcAft>
                <a:spcPts val="0"/>
              </a:spcAft>
            </a:pPr>
            <a:r>
              <a:rPr sz="1350" b="0">
                <a:solidFill>
                  <a:srgbClr val="4A4F57"/>
                </a:solidFill>
                <a:latin typeface="Calibri"/>
              </a:rPr>
              <a:t>The attribute's override, a member group, the set's policy, an inherited policy, the member's own, then the system default of leaving it null.</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Refused rather than guessed</a:t>
            </a:r>
          </a:p>
          <a:p>
            <a:pPr lvl="1">
              <a:lnSpc>
                <a:spcPct val="120000"/>
              </a:lnSpc>
              <a:spcBef>
                <a:spcPts val="0"/>
              </a:spcBef>
              <a:spcAft>
                <a:spcPts val="0"/>
              </a:spcAft>
            </a:pPr>
            <a:r>
              <a:rPr sz="1350" b="0">
                <a:solidFill>
                  <a:srgbClr val="4A4F57"/>
                </a:solidFill>
                <a:latin typeface="Calibri"/>
              </a:rPr>
              <a:t>A member index with columns the set lacks is refused unless an aggregation is declared for them.</a:t>
            </a:r>
          </a:p>
        </p:txBody>
      </p:sp>
      <p:sp>
        <p:nvSpPr>
          <p:cNvPr id="16" name="Rectangle 15"/>
          <p:cNvSpPr/>
          <p:nvPr/>
        </p:nvSpPr>
        <p:spPr>
          <a:xfrm>
            <a:off x="6278727"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Pinning one</a:t>
            </a:r>
          </a:p>
        </p:txBody>
      </p:sp>
      <p:sp>
        <p:nvSpPr>
          <p:cNvPr id="19" name="TextBox 18"/>
          <p:cNvSpPr txBox="1"/>
          <p:nvPr/>
        </p:nvSpPr>
        <p:spPr>
          <a:xfrm>
            <a:off x="6278727" y="1882965"/>
            <a:ext cx="5135727" cy="359429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Cascade, or nothing</a:t>
            </a:r>
          </a:p>
          <a:p>
            <a:pPr lvl="1">
              <a:lnSpc>
                <a:spcPct val="120000"/>
              </a:lnSpc>
              <a:spcBef>
                <a:spcPts val="0"/>
              </a:spcBef>
              <a:spcAft>
                <a:spcPts val="0"/>
              </a:spcAft>
            </a:pPr>
            <a:r>
              <a:rPr sz="1350" b="0">
                <a:solidFill>
                  <a:srgbClr val="4A4F57"/>
                </a:solidFill>
                <a:latin typeface="Calibri"/>
              </a:rPr>
              <a:t>A set refuses to pin while any member is unpinned; cascade pins them all under one name and date in one job, and a single quality failure rolls the whole thing back.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Three materialization policies, one hash</a:t>
            </a:r>
          </a:p>
          <a:p>
            <a:pPr lvl="1">
              <a:lnSpc>
                <a:spcPct val="120000"/>
              </a:lnSpc>
              <a:spcBef>
                <a:spcPts val="0"/>
              </a:spcBef>
              <a:spcAft>
                <a:spcPts val="0"/>
              </a:spcAft>
            </a:pPr>
            <a:r>
              <a:rPr sz="1350" b="0">
                <a:solidFill>
                  <a:srgbClr val="4A4F57"/>
                </a:solidFill>
                <a:latin typeface="Calibri"/>
              </a:rPr>
              <a:t>always writes the frame; on_demand and never seal by the hash of the output and replay it from the member pins, and a replay that does not reproduce the hash fails the read.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Withheld, never dropped</a:t>
            </a:r>
          </a:p>
          <a:p>
            <a:pPr lvl="1">
              <a:lnSpc>
                <a:spcPct val="120000"/>
              </a:lnSpc>
              <a:spcBef>
                <a:spcPts val="0"/>
              </a:spcBef>
              <a:spcAft>
                <a:spcPts val="0"/>
              </a:spcAft>
            </a:pPr>
            <a:r>
              <a:rPr sz="1350" b="0">
                <a:solidFill>
                  <a:srgbClr val="4A4F57"/>
                </a:solidFill>
                <a:latin typeface="Calibri"/>
              </a:rPr>
              <a:t>An attribute you may not read comes back named and null, so the shape of the answer does not depend on who asked.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GRANT CONDITIONS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Narrowing a grant without forking the data</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Data you can stand behind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11</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maya/security/conditions.py; tests/test_conditions.py. Conditions only ever narrow a grant. Nothing in the UI, the API, the SDK or the CLI reaches data without passing the one authorization function first.</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Three conditions</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row_filter</a:t>
            </a:r>
          </a:p>
          <a:p>
            <a:pPr lvl="1">
              <a:lnSpc>
                <a:spcPct val="120000"/>
              </a:lnSpc>
              <a:spcBef>
                <a:spcPts val="0"/>
              </a:spcBef>
              <a:spcAft>
                <a:spcPts val="0"/>
              </a:spcAft>
            </a:pPr>
            <a:r>
              <a:rPr sz="1350" b="0">
                <a:solidFill>
                  <a:srgbClr val="4A4F57"/>
                </a:solidFill>
                <a:latin typeface="Calibri"/>
              </a:rPr>
              <a:t>An expression over the row with the asking principal substituted, so one grant serves a whole desk.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column_mask</a:t>
            </a:r>
          </a:p>
          <a:p>
            <a:pPr lvl="1">
              <a:lnSpc>
                <a:spcPct val="120000"/>
              </a:lnSpc>
              <a:spcBef>
                <a:spcPts val="0"/>
              </a:spcBef>
              <a:spcAft>
                <a:spcPts val="0"/>
              </a:spcAft>
            </a:pPr>
            <a:r>
              <a:rPr sz="1350" b="0">
                <a:solidFill>
                  <a:srgbClr val="4A4F57"/>
                </a:solidFill>
                <a:latin typeface="Calibri"/>
              </a:rPr>
              <a:t>null, or hash — the digest of the value's text, so a join still works and the value never leaves.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time_bound</a:t>
            </a:r>
          </a:p>
          <a:p>
            <a:pPr lvl="1">
              <a:lnSpc>
                <a:spcPct val="120000"/>
              </a:lnSpc>
              <a:spcBef>
                <a:spcPts val="0"/>
              </a:spcBef>
              <a:spcAft>
                <a:spcPts val="0"/>
              </a:spcAft>
            </a:pPr>
            <a:r>
              <a:rPr sz="1350" b="0">
                <a:solidFill>
                  <a:srgbClr val="4A4F57"/>
                </a:solidFill>
                <a:latin typeface="Calibri"/>
              </a:rPr>
              <a:t>A cutoff date; a row with a later event date is dropped before the caller sees it.</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And when several apply</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Row filters</a:t>
            </a:r>
          </a:p>
          <a:p>
            <a:pPr lvl="1">
              <a:lnSpc>
                <a:spcPct val="120000"/>
              </a:lnSpc>
              <a:spcBef>
                <a:spcPts val="0"/>
              </a:spcBef>
              <a:spcAft>
                <a:spcPts val="0"/>
              </a:spcAft>
            </a:pPr>
            <a:r>
              <a:rPr sz="1350" b="0">
                <a:solidFill>
                  <a:srgbClr val="4A4F57"/>
                </a:solidFill>
                <a:latin typeface="Calibri"/>
              </a:rPr>
              <a:t>Combined with AND: the narrowest wins.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Column masks</a:t>
            </a:r>
          </a:p>
          <a:p>
            <a:pPr lvl="1">
              <a:lnSpc>
                <a:spcPct val="120000"/>
              </a:lnSpc>
              <a:spcBef>
                <a:spcPts val="0"/>
              </a:spcBef>
              <a:spcAft>
                <a:spcPts val="0"/>
              </a:spcAft>
            </a:pPr>
            <a:r>
              <a:rPr sz="1350" b="0">
                <a:solidFill>
                  <a:srgbClr val="4A4F57"/>
                </a:solidFill>
                <a:latin typeface="Calibri"/>
              </a:rPr>
              <a:t>Unioned, and null beats hash on a conflict.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Time bounds</a:t>
            </a:r>
          </a:p>
          <a:p>
            <a:pPr lvl="1">
              <a:lnSpc>
                <a:spcPct val="120000"/>
              </a:lnSpc>
              <a:spcBef>
                <a:spcPts val="0"/>
              </a:spcBef>
              <a:spcAft>
                <a:spcPts val="0"/>
              </a:spcAft>
            </a:pPr>
            <a:r>
              <a:rPr sz="1350" b="0">
                <a:solidFill>
                  <a:srgbClr val="4A4F57"/>
                </a:solidFill>
                <a:latin typeface="Calibri"/>
              </a:rPr>
              <a:t>The earliest cutoff wins.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On every path</a:t>
            </a:r>
          </a:p>
          <a:p>
            <a:pPr lvl="1">
              <a:lnSpc>
                <a:spcPct val="120000"/>
              </a:lnSpc>
              <a:spcBef>
                <a:spcPts val="0"/>
              </a:spcBef>
              <a:spcAft>
                <a:spcPts val="0"/>
              </a:spcAft>
            </a:pPr>
            <a:r>
              <a:rPr sz="1350" b="0">
                <a:solidFill>
                  <a:srgbClr val="4A4F57"/>
                </a:solidFill>
                <a:latin typeface="Calibri"/>
              </a:rPr>
              <a:t>Member-level and set-level conditions are applied inside feature-set resolution, on live and pinned data alike, so no read escapes a mask.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3</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000" b="0" i="0">
                <a:solidFill>
                  <a:srgbClr val="FFFFFF"/>
                </a:solidFill>
                <a:latin typeface="Georgia"/>
              </a:rPr>
              <a:t>Models you can check</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model is mathematics, code, parameters and a document, versioned against one another — so a reviewer can ask whether the code is the mathematics and get an answer in numbers.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The compute-kernel wizard</a:t>
            </a:r>
          </a:p>
          <a:p>
            <a:pPr>
              <a:lnSpc>
                <a:spcPct val="115000"/>
              </a:lnSpc>
              <a:spcBef>
                <a:spcPts val="0"/>
              </a:spcBef>
              <a:spcAft>
                <a:spcPts val="600"/>
              </a:spcAft>
            </a:pPr>
            <a:r>
              <a:rPr sz="1200" b="0" i="0">
                <a:solidFill>
                  <a:srgbClr val="F6E6E9"/>
                </a:solidFill>
                <a:latin typeface="Calibri"/>
              </a:rPr>
              <a:t>Mathematics as data</a:t>
            </a:r>
          </a:p>
          <a:p>
            <a:pPr>
              <a:lnSpc>
                <a:spcPct val="115000"/>
              </a:lnSpc>
              <a:spcBef>
                <a:spcPts val="0"/>
              </a:spcBef>
              <a:spcAft>
                <a:spcPts val="600"/>
              </a:spcAft>
            </a:pPr>
            <a:r>
              <a:rPr sz="1200" b="0" i="0">
                <a:solidFill>
                  <a:srgbClr val="F6E6E9"/>
                </a:solidFill>
                <a:latin typeface="Calibri"/>
              </a:rPr>
              <a:t>Code, on a six-rung ladder</a:t>
            </a:r>
          </a:p>
          <a:p>
            <a:pPr>
              <a:lnSpc>
                <a:spcPct val="115000"/>
              </a:lnSpc>
              <a:spcBef>
                <a:spcPts val="0"/>
              </a:spcBef>
              <a:spcAft>
                <a:spcPts val="600"/>
              </a:spcAft>
            </a:pPr>
            <a:r>
              <a:rPr sz="1200" b="0" i="0">
                <a:solidFill>
                  <a:srgbClr val="F6E6E9"/>
                </a:solidFill>
                <a:latin typeface="Calibri"/>
              </a:rPr>
              <a:t>Conformance, and declared black boxes</a:t>
            </a:r>
          </a:p>
          <a:p>
            <a:pPr>
              <a:lnSpc>
                <a:spcPct val="115000"/>
              </a:lnSpc>
              <a:spcBef>
                <a:spcPts val="0"/>
              </a:spcBef>
              <a:spcAft>
                <a:spcPts val="600"/>
              </a:spcAft>
            </a:pPr>
            <a:r>
              <a:rPr sz="1200" b="0" i="0">
                <a:solidFill>
                  <a:srgbClr val="F6E6E9"/>
                </a:solidFill>
                <a:latin typeface="Calibri"/>
              </a:rPr>
              <a:t>Composite models</a:t>
            </a:r>
          </a:p>
          <a:p>
            <a:pPr>
              <a:lnSpc>
                <a:spcPct val="115000"/>
              </a:lnSpc>
              <a:spcBef>
                <a:spcPts val="0"/>
              </a:spcBef>
              <a:spcAft>
                <a:spcPts val="600"/>
              </a:spcAft>
            </a:pPr>
            <a:r>
              <a:rPr sz="1200" b="0" i="0">
                <a:solidFill>
                  <a:srgbClr val="F6E6E9"/>
                </a:solidFill>
                <a:latin typeface="Calibri"/>
              </a:rPr>
              <a:t>Documents, spreadsheets and vendor models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COMPUTE-KERNEL WIZARD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Write the mathematics; read back what MAYA made of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13</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Web page /models/kernel; API POST /formula/kernel; SDK client.models.kernel. maya/formula/parse.py and codegen.py; one parser reads both LaTeX and Python-ish text, including LaTeX's implicit multiplication.</a:t>
            </a:r>
          </a:p>
        </p:txBody>
      </p:sp>
      <p:sp>
        <p:nvSpPr>
          <p:cNvPr id="12" name="Rectangle 11"/>
          <p:cNvSpPr/>
          <p:nvPr/>
        </p:nvSpPr>
        <p:spPr>
          <a:xfrm>
            <a:off x="777240"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Write</a:t>
            </a:r>
          </a:p>
        </p:txBody>
      </p:sp>
      <p:sp>
        <p:nvSpPr>
          <p:cNvPr id="15" name="TextBox 14"/>
          <p:cNvSpPr txBox="1"/>
          <p:nvPr/>
        </p:nvSpPr>
        <p:spPr>
          <a:xfrm>
            <a:off x="960120"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As LaTeX or plain text, and say which symbols are parameters</a:t>
            </a:r>
          </a:p>
        </p:txBody>
      </p:sp>
      <p:sp>
        <p:nvSpPr>
          <p:cNvPr id="16" name="Rectangle 15"/>
          <p:cNvSpPr/>
          <p:nvPr/>
        </p:nvSpPr>
        <p:spPr>
          <a:xfrm>
            <a:off x="3500551"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0551"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83431"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Translate</a:t>
            </a:r>
          </a:p>
        </p:txBody>
      </p:sp>
      <p:sp>
        <p:nvSpPr>
          <p:cNvPr id="19" name="TextBox 18"/>
          <p:cNvSpPr txBox="1"/>
          <p:nvPr/>
        </p:nvSpPr>
        <p:spPr>
          <a:xfrm>
            <a:off x="3683431"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MAYA parses it into a typed tree, or refuses and names the position</a:t>
            </a:r>
          </a:p>
        </p:txBody>
      </p:sp>
      <p:cxnSp>
        <p:nvCxnSpPr>
          <p:cNvPr id="20" name="Connector 19"/>
          <p:cNvCxnSpPr/>
          <p:nvPr/>
        </p:nvCxnSpPr>
        <p:spPr>
          <a:xfrm>
            <a:off x="3271951"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23863"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3863"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6743"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Read back</a:t>
            </a:r>
          </a:p>
        </p:txBody>
      </p:sp>
      <p:sp>
        <p:nvSpPr>
          <p:cNvPr id="24" name="TextBox 23"/>
          <p:cNvSpPr txBox="1"/>
          <p:nvPr/>
        </p:nvSpPr>
        <p:spPr>
          <a:xfrm>
            <a:off x="6406743"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tree, the LaTeX it renders as, each input with its role, the intermediates in order</a:t>
            </a:r>
          </a:p>
        </p:txBody>
      </p:sp>
      <p:cxnSp>
        <p:nvCxnSpPr>
          <p:cNvPr id="25" name="Connector 24"/>
          <p:cNvCxnSpPr/>
          <p:nvPr/>
        </p:nvCxnSpPr>
        <p:spPr>
          <a:xfrm>
            <a:off x="5995263"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947175"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7175"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0055"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Take the function</a:t>
            </a:r>
          </a:p>
        </p:txBody>
      </p:sp>
      <p:sp>
        <p:nvSpPr>
          <p:cNvPr id="29" name="TextBox 28"/>
          <p:cNvSpPr txBox="1"/>
          <p:nvPr/>
        </p:nvSpPr>
        <p:spPr>
          <a:xfrm>
            <a:off x="9130055"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One portable function, or the full reference module</a:t>
            </a:r>
          </a:p>
        </p:txBody>
      </p:sp>
      <p:cxnSp>
        <p:nvCxnSpPr>
          <p:cNvPr id="30" name="Connector 29"/>
          <p:cNvCxnSpPr/>
          <p:nvPr/>
        </p:nvCxnSpPr>
        <p:spPr>
          <a:xfrm>
            <a:off x="8718575"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3426079"/>
            <a:ext cx="10637215" cy="2252344"/>
          </a:xfrm>
          <a:prstGeom prst="rect">
            <a:avLst/>
          </a:prstGeom>
          <a:noFill/>
        </p:spPr>
        <p:txBody>
          <a:bodyPr wrap="square" lIns="0" rIns="0" tIns="0" bIns="0" anchor="t">
            <a:spAutoFit/>
          </a:bodyPr>
          <a:lstStyle/>
          <a:p>
            <a:pPr algn="l">
              <a:lnSpc>
                <a:spcPct val="120000"/>
              </a:lnSpc>
              <a:spcBef>
                <a:spcPts val="0"/>
              </a:spcBef>
              <a:spcAft>
                <a:spcPts val="0"/>
              </a:spcAft>
            </a:pPr>
            <a:r>
              <a:rPr sz="1350" b="1">
                <a:solidFill>
                  <a:srgbClr val="A51C30"/>
                </a:solidFill>
                <a:latin typeface="Calibri"/>
              </a:rPr>
              <a:t>▪  </a:t>
            </a:r>
            <a:r>
              <a:rPr sz="1350" b="0">
                <a:solidFill>
                  <a:srgbClr val="1C1C1E"/>
                </a:solidFill>
                <a:latin typeface="Calibri"/>
              </a:rPr>
              <a:t>It reads nothing and writes nothing. Whoever wrote the mathematics sees what MAYA made of it before a model version exists to attach it to — the alternative is finding out at registration, which is later and more expensive.</a:t>
            </a:r>
          </a:p>
          <a:p>
            <a:pPr>
              <a:lnSpc>
                <a:spcPct val="120000"/>
              </a:lnSpc>
              <a:spcBef>
                <a:spcPts val="600"/>
              </a:spcBef>
              <a:spcAft>
                <a:spcPts val="0"/>
              </a:spcAft>
            </a:pPr>
            <a:r>
              <a:rPr sz="1350" b="1">
                <a:solidFill>
                  <a:srgbClr val="A51C30"/>
                </a:solidFill>
                <a:latin typeface="Calibri"/>
              </a:rPr>
              <a:t>▪  </a:t>
            </a:r>
            <a:r>
              <a:rPr sz="1350" b="0">
                <a:solidFill>
                  <a:srgbClr val="1C1C1E"/>
                </a:solidFill>
                <a:latin typeface="Calibri"/>
              </a:rPr>
              <a:t>The emitted kernel is one self-contained function taking the inputs and the parameters and returning one value per row. Imports and helpers sit inside the function body, and it needs numpy alone unless the formula uses a normal distribution.</a:t>
            </a:r>
          </a:p>
          <a:p>
            <a:pPr>
              <a:lnSpc>
                <a:spcPct val="120000"/>
              </a:lnSpc>
              <a:spcBef>
                <a:spcPts val="600"/>
              </a:spcBef>
              <a:spcAft>
                <a:spcPts val="0"/>
              </a:spcAft>
            </a:pPr>
            <a:r>
              <a:rPr sz="1350" b="1">
                <a:solidFill>
                  <a:srgbClr val="A51C30"/>
                </a:solidFill>
                <a:latin typeface="Calibri"/>
              </a:rPr>
              <a:t>▪  </a:t>
            </a:r>
            <a:r>
              <a:rPr sz="1350" b="0">
                <a:solidFill>
                  <a:srgbClr val="1C1C1E"/>
                </a:solidFill>
                <a:latin typeface="Calibri"/>
              </a:rPr>
              <a:t>The same parser and generator serve registration, so the wizard shows what a registered version would hold rather than a mock-up of it. Black–Scholes, a logistic probability of default and a Nelson–Siegel curve ship as worked examples on the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MATHEMATICS AS DATA</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A typed expression tree, and the four things it makes possible</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14</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 ir.py, latex.py, diff.py, evaluate.py, codegen.py, specdoc.py; tests/test_formula.py::test_diff_detects_compounding_change and ::test_hash_ignores_latex_but_not_math. A model version is minted when the IR hash, the artifact hash or the input contract changes.</a:t>
            </a:r>
          </a:p>
        </p:txBody>
      </p:sp>
      <p:sp>
        <p:nvSpPr>
          <p:cNvPr id="12" name="Rectangle 11"/>
          <p:cNvSpPr/>
          <p:nvPr/>
        </p:nvSpPr>
        <p:spPr>
          <a:xfrm>
            <a:off x="777240"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is stored</a:t>
            </a:r>
          </a:p>
        </p:txBody>
      </p:sp>
      <p:sp>
        <p:nvSpPr>
          <p:cNvPr id="15" name="TextBox 14"/>
          <p:cNvSpPr txBox="1"/>
          <p:nvPr/>
        </p:nvSpPr>
        <p:spPr>
          <a:xfrm>
            <a:off x="777240" y="1850834"/>
            <a:ext cx="5135727" cy="3626421"/>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Four node kinds</a:t>
            </a:r>
          </a:p>
          <a:p>
            <a:pPr lvl="1">
              <a:lnSpc>
                <a:spcPct val="120000"/>
              </a:lnSpc>
              <a:spcBef>
                <a:spcPts val="0"/>
              </a:spcBef>
              <a:spcAft>
                <a:spcPts val="0"/>
              </a:spcAft>
            </a:pPr>
            <a:r>
              <a:rPr sz="1300" b="0">
                <a:solidFill>
                  <a:srgbClr val="4A4F57"/>
                </a:solidFill>
                <a:latin typeface="Calibri"/>
              </a:rPr>
              <a:t>An operator with arguments, a reference, a constant, a parameter — over twenty-three typed operators.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Three roles for every input</a:t>
            </a:r>
          </a:p>
          <a:p>
            <a:pPr lvl="1">
              <a:lnSpc>
                <a:spcPct val="120000"/>
              </a:lnSpc>
              <a:spcBef>
                <a:spcPts val="0"/>
              </a:spcBef>
              <a:spcAft>
                <a:spcPts val="0"/>
              </a:spcAft>
            </a:pPr>
            <a:r>
              <a:rPr sz="1300" b="0">
                <a:solidFill>
                  <a:srgbClr val="4A4F57"/>
                </a:solidFill>
                <a:latin typeface="Calibri"/>
              </a:rPr>
              <a:t>Feature, parameter or constant. The parameters are exactly what training fills, so the contract is derived rather than declared twice.</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Joint constraints, with reasons</a:t>
            </a:r>
          </a:p>
          <a:p>
            <a:pPr lvl="1">
              <a:lnSpc>
                <a:spcPct val="120000"/>
              </a:lnSpc>
              <a:spcBef>
                <a:spcPts val="0"/>
              </a:spcBef>
              <a:spcAft>
                <a:spcPts val="0"/>
              </a:spcAft>
            </a:pPr>
            <a:r>
              <a:rPr sz="1300" b="0">
                <a:solidFill>
                  <a:srgbClr val="4A4F57"/>
                </a:solidFill>
                <a:latin typeface="Calibri"/>
              </a:rPr>
              <a:t>A constraint such as a volatility model's stationarity condition carries the reason it exists, and a violation is reported as the terms, their values and the total.</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Or an honest hole</a:t>
            </a:r>
          </a:p>
          <a:p>
            <a:pPr lvl="1">
              <a:lnSpc>
                <a:spcPct val="120000"/>
              </a:lnSpc>
              <a:spcBef>
                <a:spcPts val="0"/>
              </a:spcBef>
              <a:spcAft>
                <a:spcPts val="0"/>
              </a:spcAft>
            </a:pPr>
            <a:r>
              <a:rPr sz="1300" b="0">
                <a:solidFill>
                  <a:srgbClr val="4A4F57"/>
                </a:solidFill>
                <a:latin typeface="Calibri"/>
              </a:rPr>
              <a:t>A declared black box must state what it estimates and its architecture, or it is refused.</a:t>
            </a:r>
          </a:p>
        </p:txBody>
      </p:sp>
      <p:sp>
        <p:nvSpPr>
          <p:cNvPr id="16" name="Rectangle 15"/>
          <p:cNvSpPr/>
          <p:nvPr/>
        </p:nvSpPr>
        <p:spPr>
          <a:xfrm>
            <a:off x="6278727"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MAYA does with it</a:t>
            </a:r>
          </a:p>
        </p:txBody>
      </p:sp>
      <p:sp>
        <p:nvSpPr>
          <p:cNvPr id="19" name="TextBox 18"/>
          <p:cNvSpPr txBox="1"/>
          <p:nvPr/>
        </p:nvSpPr>
        <p:spPr>
          <a:xfrm>
            <a:off x="6278727" y="1850834"/>
            <a:ext cx="5135727" cy="362642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Type-checks the inputs</a:t>
            </a:r>
          </a:p>
          <a:p>
            <a:pPr lvl="1">
              <a:lnSpc>
                <a:spcPct val="120000"/>
              </a:lnSpc>
              <a:spcBef>
                <a:spcPts val="0"/>
              </a:spcBef>
              <a:spcAft>
                <a:spcPts val="0"/>
              </a:spcAft>
            </a:pPr>
            <a:r>
              <a:rPr sz="1350" b="0">
                <a:solidFill>
                  <a:srgbClr val="4A4F57"/>
                </a:solidFill>
                <a:latin typeface="Calibri"/>
              </a:rPr>
              <a:t>Against the bound feature set, listing every miss at once.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Renders the document</a:t>
            </a:r>
          </a:p>
          <a:p>
            <a:pPr lvl="1">
              <a:lnSpc>
                <a:spcPct val="120000"/>
              </a:lnSpc>
              <a:spcBef>
                <a:spcPts val="0"/>
              </a:spcBef>
              <a:spcAft>
                <a:spcPts val="0"/>
              </a:spcAft>
            </a:pPr>
            <a:r>
              <a:rPr sz="1350" b="0">
                <a:solidFill>
                  <a:srgbClr val="4A4F57"/>
                </a:solidFill>
                <a:latin typeface="Calibri"/>
              </a:rPr>
              <a:t>The specification's formula blocks are pulled from the tree, so the document cannot drift from the implementation.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Diffs two versions mathematically</a:t>
            </a:r>
          </a:p>
          <a:p>
            <a:pPr lvl="1">
              <a:lnSpc>
                <a:spcPct val="120000"/>
              </a:lnSpc>
              <a:spcBef>
                <a:spcPts val="0"/>
              </a:spcBef>
              <a:spcAft>
                <a:spcPts val="0"/>
              </a:spcAft>
            </a:pPr>
            <a:r>
              <a:rPr sz="1350" b="0">
                <a:solidFill>
                  <a:srgbClr val="4A4F57"/>
                </a:solidFill>
                <a:latin typeface="Calibri"/>
              </a:rPr>
              <a:t>“The discount factor changed from continuous to simple compounding”, not a text diff.</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Emits reference code</a:t>
            </a:r>
          </a:p>
          <a:p>
            <a:pPr lvl="1">
              <a:lnSpc>
                <a:spcPct val="120000"/>
              </a:lnSpc>
              <a:spcBef>
                <a:spcPts val="0"/>
              </a:spcBef>
              <a:spcAft>
                <a:spcPts val="0"/>
              </a:spcAft>
            </a:pPr>
            <a:r>
              <a:rPr sz="1350" b="0">
                <a:solidFill>
                  <a:srgbClr val="4A4F57"/>
                </a:solidFill>
                <a:latin typeface="Calibri"/>
              </a:rPr>
              <a:t>Tested equal to MAYA's own evaluator, and the hash ignores LaTeX spelling while noticing mathematics.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CODE ARTIFACTS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Six rungs, one refusal each, and a sandbox tier that is declared</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15</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maya/formula/artifact.py, maya/security/sandbox.py. The ladder stops at the first failure and records the rest as not run, so a report never implies a check it did not perform; rungs 1–5 decide the verdict. The tier is strong on Linux only when a probe child fails to escape, and it is stamped on every artifact validated under it.</a:t>
            </a:r>
          </a:p>
        </p:txBody>
      </p:sp>
      <p:graphicFrame>
        <p:nvGraphicFramePr>
          <p:cNvPr id="12" name="Table 11"/>
          <p:cNvGraphicFramePr>
            <a:graphicFrameLocks noGrp="1"/>
          </p:cNvGraphicFramePr>
          <p:nvPr/>
        </p:nvGraphicFramePr>
        <p:xfrm>
          <a:off x="777240" y="1322705"/>
          <a:ext cx="10637214" cy="2776283"/>
        </p:xfrm>
        <a:graphic>
          <a:graphicData uri="http://schemas.openxmlformats.org/drawingml/2006/table">
            <a:tbl>
              <a:tblPr firstRow="1">
                <a:tableStyleId>{5C22544A-7EE6-4342-B048-85BDC9FD1C3A}</a:tableStyleId>
              </a:tblPr>
              <a:tblGrid>
                <a:gridCol w="1742302"/>
                <a:gridCol w="8894912"/>
              </a:tblGrid>
              <a:tr h="318579">
                <a:tc>
                  <a:txBody>
                    <a:bodyPr wrap="square"/>
                    <a:lstStyle/>
                    <a:p>
                      <a:r>
                        <a:rPr sz="1300" b="1">
                          <a:solidFill>
                            <a:srgbClr val="FFFFFF"/>
                          </a:solidFill>
                          <a:latin typeface="Calibri"/>
                        </a:rPr>
                        <a:t>Rung</a:t>
                      </a:r>
                    </a:p>
                  </a:txBody>
                  <a:tcPr marL="82296" marR="64008" marT="32004" marB="32004" anchor="ctr">
                    <a:solidFill>
                      <a:srgbClr val="A51C30"/>
                    </a:solidFill>
                  </a:tcPr>
                </a:tc>
                <a:tc>
                  <a:txBody>
                    <a:bodyPr wrap="square"/>
                    <a:lstStyle/>
                    <a:p>
                      <a:r>
                        <a:rPr sz="1300" b="1">
                          <a:solidFill>
                            <a:srgbClr val="FFFFFF"/>
                          </a:solidFill>
                          <a:latin typeface="Calibri"/>
                        </a:rPr>
                        <a:t>What it checks</a:t>
                      </a:r>
                    </a:p>
                  </a:txBody>
                  <a:tcPr marL="82296" marR="64008" marT="32004" marB="32004" anchor="ctr">
                    <a:solidFill>
                      <a:srgbClr val="A51C30"/>
                    </a:solidFill>
                  </a:tcPr>
                </a:tc>
              </a:tr>
              <a:tr h="334645">
                <a:tc>
                  <a:txBody>
                    <a:bodyPr wrap="square"/>
                    <a:lstStyle/>
                    <a:p>
                      <a:r>
                        <a:rPr sz="1400" b="1">
                          <a:solidFill>
                            <a:srgbClr val="761422"/>
                          </a:solidFill>
                          <a:latin typeface="Calibri"/>
                        </a:rPr>
                        <a:t>1  parse</a:t>
                      </a:r>
                    </a:p>
                  </a:txBody>
                  <a:tcPr marL="82296" marR="64008" marT="32004" marB="32004" anchor="ctr">
                    <a:solidFill>
                      <a:srgbClr val="FFFFFF"/>
                    </a:solidFill>
                  </a:tcPr>
                </a:tc>
                <a:tc>
                  <a:txBody>
                    <a:bodyPr wrap="square"/>
                    <a:lstStyle/>
                    <a:p>
                      <a:r>
                        <a:rPr sz="1400" b="0">
                          <a:solidFill>
                            <a:srgbClr val="1C1C1E"/>
                          </a:solidFill>
                          <a:latin typeface="Calibri"/>
                        </a:rPr>
                        <a:t>The source parses; a linter runs where it is installed, and whether it ran is recorded</a:t>
                      </a:r>
                    </a:p>
                  </a:txBody>
                  <a:tcPr marL="82296" marR="64008" marT="32004" marB="32004" anchor="ctr">
                    <a:solidFill>
                      <a:srgbClr val="FFFFFF"/>
                    </a:solidFill>
                  </a:tcPr>
                </a:tc>
              </a:tr>
              <a:tr h="334645">
                <a:tc>
                  <a:txBody>
                    <a:bodyPr wrap="square"/>
                    <a:lstStyle/>
                    <a:p>
                      <a:r>
                        <a:rPr sz="1400" b="1">
                          <a:solidFill>
                            <a:srgbClr val="761422"/>
                          </a:solidFill>
                          <a:latin typeface="Calibri"/>
                        </a:rPr>
                        <a:t>2  entry point</a:t>
                      </a:r>
                    </a:p>
                  </a:txBody>
                  <a:tcPr marL="82296" marR="64008" marT="32004" marB="32004" anchor="ctr">
                    <a:solidFill>
                      <a:srgbClr val="F6F3EF"/>
                    </a:solidFill>
                  </a:tcPr>
                </a:tc>
                <a:tc>
                  <a:txBody>
                    <a:bodyPr wrap="square"/>
                    <a:lstStyle/>
                    <a:p>
                      <a:r>
                        <a:rPr sz="1400" b="0">
                          <a:solidFill>
                            <a:srgbClr val="1C1C1E"/>
                          </a:solidFill>
                          <a:latin typeface="Calibri"/>
                        </a:rPr>
                        <a:t>The declared class implements the interface MAYA will call</a:t>
                      </a:r>
                    </a:p>
                  </a:txBody>
                  <a:tcPr marL="82296" marR="64008" marT="32004" marB="32004" anchor="ctr">
                    <a:solidFill>
                      <a:srgbClr val="F6F3EF"/>
                    </a:solidFill>
                  </a:tcPr>
                </a:tc>
              </a:tr>
              <a:tr h="559562">
                <a:tc>
                  <a:txBody>
                    <a:bodyPr wrap="square"/>
                    <a:lstStyle/>
                    <a:p>
                      <a:r>
                        <a:rPr sz="1400" b="1">
                          <a:solidFill>
                            <a:srgbClr val="761422"/>
                          </a:solidFill>
                          <a:latin typeface="Calibri"/>
                        </a:rPr>
                        <a:t>3  import allowlist</a:t>
                      </a:r>
                    </a:p>
                  </a:txBody>
                  <a:tcPr marL="82296" marR="64008" marT="32004" marB="32004" anchor="ctr">
                    <a:solidFill>
                      <a:srgbClr val="FFFFFF"/>
                    </a:solidFill>
                  </a:tcPr>
                </a:tc>
                <a:tc>
                  <a:txBody>
                    <a:bodyPr wrap="square"/>
                    <a:lstStyle/>
                    <a:p>
                      <a:r>
                        <a:rPr sz="1400" b="0">
                          <a:solidFill>
                            <a:srgbClr val="1C1C1E"/>
                          </a:solidFill>
                          <a:latin typeface="Calibri"/>
                        </a:rPr>
                        <a:t>Numeric and data libraries only — numpy, pandas, polars, pyarrow, scipy, scikit-learn, statsmodels and the standard numeric modules</a:t>
                      </a:r>
                    </a:p>
                  </a:txBody>
                  <a:tcPr marL="82296" marR="64008" marT="32004" marB="32004" anchor="ctr">
                    <a:solidFill>
                      <a:srgbClr val="FFFFFF"/>
                    </a:solidFill>
                  </a:tcPr>
                </a:tc>
              </a:tr>
              <a:tr h="559562">
                <a:tc>
                  <a:txBody>
                    <a:bodyPr wrap="square"/>
                    <a:lstStyle/>
                    <a:p>
                      <a:r>
                        <a:rPr sz="1400" b="1">
                          <a:solidFill>
                            <a:srgbClr val="761422"/>
                          </a:solidFill>
                          <a:latin typeface="Calibri"/>
                        </a:rPr>
                        <a:t>4  static ban</a:t>
                      </a:r>
                    </a:p>
                  </a:txBody>
                  <a:tcPr marL="82296" marR="64008" marT="32004" marB="32004" anchor="ctr">
                    <a:solidFill>
                      <a:srgbClr val="F6F3EF"/>
                    </a:solidFill>
                  </a:tcPr>
                </a:tc>
                <a:tc>
                  <a:txBody>
                    <a:bodyPr wrap="square"/>
                    <a:lstStyle/>
                    <a:p>
                      <a:r>
                        <a:rPr sz="1400" b="0">
                          <a:solidFill>
                            <a:srgbClr val="1C1C1E"/>
                          </a:solidFill>
                          <a:latin typeface="Calibri"/>
                        </a:rPr>
                        <a:t>No file, process, network or dynamic-code use: no open, eval, exec, dynamic import, dunder attribute access, os, subprocess, socket, pickle, threading</a:t>
                      </a:r>
                    </a:p>
                  </a:txBody>
                  <a:tcPr marL="82296" marR="64008" marT="32004" marB="32004" anchor="ctr">
                    <a:solidFill>
                      <a:srgbClr val="F6F3EF"/>
                    </a:solidFill>
                  </a:tcPr>
                </a:tc>
              </a:tr>
              <a:tr h="334645">
                <a:tc>
                  <a:txBody>
                    <a:bodyPr wrap="square"/>
                    <a:lstStyle/>
                    <a:p>
                      <a:r>
                        <a:rPr sz="1400" b="1">
                          <a:solidFill>
                            <a:srgbClr val="761422"/>
                          </a:solidFill>
                          <a:latin typeface="Calibri"/>
                        </a:rPr>
                        <a:t>5  smoke run</a:t>
                      </a:r>
                    </a:p>
                  </a:txBody>
                  <a:tcPr marL="82296" marR="64008" marT="32004" marB="32004" anchor="ctr">
                    <a:solidFill>
                      <a:srgbClr val="FFFFFF"/>
                    </a:solidFill>
                  </a:tcPr>
                </a:tc>
                <a:tc>
                  <a:txBody>
                    <a:bodyPr wrap="square"/>
                    <a:lstStyle/>
                    <a:p>
                      <a:r>
                        <a:rPr sz="1400" b="0">
                          <a:solidFill>
                            <a:srgbClr val="1C1C1E"/>
                          </a:solidFill>
                          <a:latin typeface="Calibri"/>
                        </a:rPr>
                        <a:t>One run in the sandbox against a sample, under CPU, memory and wall-clock caps</a:t>
                      </a:r>
                    </a:p>
                  </a:txBody>
                  <a:tcPr marL="82296" marR="64008" marT="32004" marB="32004" anchor="ctr">
                    <a:solidFill>
                      <a:srgbClr val="FFFFFF"/>
                    </a:solidFill>
                  </a:tcPr>
                </a:tc>
              </a:tr>
              <a:tr h="334645">
                <a:tc>
                  <a:txBody>
                    <a:bodyPr wrap="square"/>
                    <a:lstStyle/>
                    <a:p>
                      <a:r>
                        <a:rPr sz="1400" b="1">
                          <a:solidFill>
                            <a:srgbClr val="761422"/>
                          </a:solidFill>
                          <a:latin typeface="Calibri"/>
                        </a:rPr>
                        <a:t>6  determinism</a:t>
                      </a:r>
                    </a:p>
                  </a:txBody>
                  <a:tcPr marL="82296" marR="64008" marT="32004" marB="32004" anchor="ctr">
                    <a:solidFill>
                      <a:srgbClr val="F6F3EF"/>
                    </a:solidFill>
                  </a:tcPr>
                </a:tc>
                <a:tc>
                  <a:txBody>
                    <a:bodyPr wrap="square"/>
                    <a:lstStyle/>
                    <a:p>
                      <a:r>
                        <a:rPr sz="1400" b="0">
                          <a:solidFill>
                            <a:srgbClr val="1C1C1E"/>
                          </a:solidFill>
                          <a:latin typeface="Calibri"/>
                        </a:rPr>
                        <a:t>The same run twice with the same seed, outputs compared; a mismatch is a recorded warning</a:t>
                      </a:r>
                    </a:p>
                  </a:txBody>
                  <a:tcPr marL="82296" marR="64008" marT="32004" marB="32004" anchor="ctr">
                    <a:solidFill>
                      <a:srgbClr val="F6F3E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IS THE CODE THE MATHEMATICS?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Conformance testing, and what a black box forfeits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16</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maya/formula/conformance.py and maya/services/models.py; ADR-007. Study 07 in case_studies/ is a card-fraud network carried through on exactly these terms, and study 05 has a conformance test that passes on a narrow domain and fails on the whole option chain.</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Differential testing</a:t>
            </a:r>
          </a:p>
        </p:txBody>
      </p:sp>
      <p:sp>
        <p:nvSpPr>
          <p:cNvPr id="15" name="TextBox 14"/>
          <p:cNvSpPr txBox="1"/>
          <p:nvPr/>
        </p:nvSpPr>
        <p:spPr>
          <a:xfrm>
            <a:off x="777240"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The comparison</a:t>
            </a:r>
          </a:p>
          <a:p>
            <a:pPr lvl="1">
              <a:lnSpc>
                <a:spcPct val="120000"/>
              </a:lnSpc>
              <a:spcBef>
                <a:spcPts val="0"/>
              </a:spcBef>
              <a:spcAft>
                <a:spcPts val="0"/>
              </a:spcAft>
            </a:pPr>
            <a:r>
              <a:rPr sz="1250" b="0">
                <a:solidFill>
                  <a:srgbClr val="4A4F57"/>
                </a:solidFill>
                <a:latin typeface="Calibri"/>
              </a:rPr>
              <a:t>The uploaded code is run against MAYA's own evaluation of the documented mathematics on sampled inputs, to a relative tolerance of 1e-9.</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Counterexamples, not a verdict</a:t>
            </a:r>
          </a:p>
          <a:p>
            <a:pPr lvl="1">
              <a:lnSpc>
                <a:spcPct val="120000"/>
              </a:lnSpc>
              <a:spcBef>
                <a:spcPts val="0"/>
              </a:spcBef>
              <a:spcAft>
                <a:spcPts val="0"/>
              </a:spcAft>
            </a:pPr>
            <a:r>
              <a:rPr sz="1250" b="0">
                <a:solidFill>
                  <a:srgbClr val="4A4F57"/>
                </a:solidFill>
                <a:latin typeface="Calibri"/>
              </a:rPr>
              <a:t>Up to ten disagreeing rows with the expected and the actual value, so the argument is about numbers.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Tied to the artifact</a:t>
            </a:r>
          </a:p>
          <a:p>
            <a:pPr lvl="1">
              <a:lnSpc>
                <a:spcPct val="120000"/>
              </a:lnSpc>
              <a:spcBef>
                <a:spcPts val="0"/>
              </a:spcBef>
              <a:spcAft>
                <a:spcPts val="0"/>
              </a:spcAft>
            </a:pPr>
            <a:r>
              <a:rPr sz="1250" b="0">
                <a:solidFill>
                  <a:srgbClr val="4A4F57"/>
                </a:solidFill>
                <a:latin typeface="Calibri"/>
              </a:rPr>
              <a:t>A version with code cannot advance until conformance has run against that exact artifact and agreed everywhere sampled.</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Honest about itself</a:t>
            </a:r>
          </a:p>
          <a:p>
            <a:pPr lvl="1">
              <a:lnSpc>
                <a:spcPct val="120000"/>
              </a:lnSpc>
              <a:spcBef>
                <a:spcPts val="0"/>
              </a:spcBef>
              <a:spcAft>
                <a:spcPts val="0"/>
              </a:spcAft>
            </a:pPr>
            <a:r>
              <a:rPr sz="1250" b="0">
                <a:solidFill>
                  <a:srgbClr val="4A4F57"/>
                </a:solidFill>
                <a:latin typeface="Calibri"/>
              </a:rPr>
              <a:t>The report says sampled agreement is not proof, and that MAYA cannot know whether a feature set is representative.</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Declared black boxes</a:t>
            </a:r>
          </a:p>
        </p:txBody>
      </p:sp>
      <p:sp>
        <p:nvSpPr>
          <p:cNvPr id="19" name="TextBox 18"/>
          <p:cNvSpPr txBox="1"/>
          <p:nvPr/>
        </p:nvSpPr>
        <p:spPr>
          <a:xfrm>
            <a:off x="6278727"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Registered, not excluded</a:t>
            </a:r>
          </a:p>
          <a:p>
            <a:pPr lvl="1">
              <a:lnSpc>
                <a:spcPct val="120000"/>
              </a:lnSpc>
              <a:spcBef>
                <a:spcPts val="0"/>
              </a:spcBef>
              <a:spcAft>
                <a:spcPts val="0"/>
              </a:spcAft>
            </a:pPr>
            <a:r>
              <a:rPr sz="1250" b="0">
                <a:solidFill>
                  <a:srgbClr val="4A4F57"/>
                </a:solidFill>
                <a:latin typeface="Calibri"/>
              </a:rPr>
              <a:t>With the estimate and the architecture declared, the input contract enforced, and warrants that behave exactly as they do for anything else.</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Conformance is skipped and says so</a:t>
            </a:r>
          </a:p>
          <a:p>
            <a:pPr lvl="1">
              <a:lnSpc>
                <a:spcPct val="120000"/>
              </a:lnSpc>
              <a:spcBef>
                <a:spcPts val="0"/>
              </a:spcBef>
              <a:spcAft>
                <a:spcPts val="0"/>
              </a:spcAft>
            </a:pPr>
            <a:r>
              <a:rPr sz="1250" b="0">
                <a:solidFill>
                  <a:srgbClr val="4A4F57"/>
                </a:solidFill>
                <a:latin typeface="Calibri"/>
              </a:rPr>
              <a:t>There is no documented closed form to test against, and the report states that rather than passing quietly.</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Blind scoring is refused by name</a:t>
            </a:r>
          </a:p>
          <a:p>
            <a:pPr lvl="1">
              <a:lnSpc>
                <a:spcPct val="120000"/>
              </a:lnSpc>
              <a:spcBef>
                <a:spcPts val="0"/>
              </a:spcBef>
              <a:spcAft>
                <a:spcPts val="0"/>
              </a:spcAft>
            </a:pPr>
            <a:r>
              <a:rPr sz="1250" b="0">
                <a:solidFill>
                  <a:srgbClr val="4A4F57"/>
                </a:solidFill>
                <a:latin typeface="Calibri"/>
              </a:rPr>
              <a:t>“A declared black box cannot be scored by MAYA.” Scoring evaluates the mathematics in process; it never runs the uploaded artifact.</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Covenants become the control</a:t>
            </a:r>
          </a:p>
          <a:p>
            <a:pPr lvl="1">
              <a:lnSpc>
                <a:spcPct val="120000"/>
              </a:lnSpc>
              <a:spcBef>
                <a:spcPts val="0"/>
              </a:spcBef>
              <a:spcAft>
                <a:spcPts val="0"/>
              </a:spcAft>
            </a:pPr>
            <a:r>
              <a:rPr sz="1250" b="0">
                <a:solidFill>
                  <a:srgbClr val="4A4F57"/>
                </a:solidFill>
                <a:latin typeface="Calibri"/>
              </a:rPr>
              <a:t>For an opaque model they are the only one available, which is where the review effort belongs.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COMPOSITE MODELS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graph of models, governed as one model</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17</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maya/formula/composite.py; tests/test_formula.py::test_composite_union_maturity_seeds_and_eval. Study 04 in case_studies/ is a router with two members and a seal that refuses while half the composite is unfitted; study 06, which follows, is an ensemble with three members and parameters of its own.</a:t>
            </a:r>
          </a:p>
        </p:txBody>
      </p:sp>
      <p:graphicFrame>
        <p:nvGraphicFramePr>
          <p:cNvPr id="12" name="Table 11"/>
          <p:cNvGraphicFramePr>
            <a:graphicFrameLocks noGrp="1"/>
          </p:cNvGraphicFramePr>
          <p:nvPr/>
        </p:nvGraphicFramePr>
        <p:xfrm>
          <a:off x="777240" y="1386967"/>
          <a:ext cx="10637214" cy="3451034"/>
        </p:xfrm>
        <a:graphic>
          <a:graphicData uri="http://schemas.openxmlformats.org/drawingml/2006/table">
            <a:tbl>
              <a:tblPr firstRow="1">
                <a:tableStyleId>{5C22544A-7EE6-4342-B048-85BDC9FD1C3A}</a:tableStyleId>
              </a:tblPr>
              <a:tblGrid>
                <a:gridCol w="1925702"/>
                <a:gridCol w="8711512"/>
              </a:tblGrid>
              <a:tr h="318579">
                <a:tc>
                  <a:txBody>
                    <a:bodyPr wrap="square"/>
                    <a:lstStyle/>
                    <a:p>
                      <a:r>
                        <a:rPr sz="1300" b="1">
                          <a:solidFill>
                            <a:srgbClr val="FFFFFF"/>
                          </a:solidFill>
                          <a:latin typeface="Calibri"/>
                        </a:rPr>
                        <a:t>Rule</a:t>
                      </a:r>
                    </a:p>
                  </a:txBody>
                  <a:tcPr marL="82296" marR="64008" marT="32004" marB="32004" anchor="ctr">
                    <a:solidFill>
                      <a:srgbClr val="A51C30"/>
                    </a:solidFill>
                  </a:tcPr>
                </a:tc>
                <a:tc>
                  <a:txBody>
                    <a:bodyPr wrap="square"/>
                    <a:lstStyle/>
                    <a:p>
                      <a:r>
                        <a:rPr sz="1300" b="1">
                          <a:solidFill>
                            <a:srgbClr val="FFFFFF"/>
                          </a:solidFill>
                          <a:latin typeface="Calibri"/>
                        </a:rPr>
                        <a:t>How it behaves</a:t>
                      </a:r>
                    </a:p>
                  </a:txBody>
                  <a:tcPr marL="82296" marR="64008" marT="32004" marB="32004" anchor="ctr">
                    <a:solidFill>
                      <a:srgbClr val="A51C30"/>
                    </a:solidFill>
                  </a:tcPr>
                </a:tc>
              </a:tr>
              <a:tr h="559562">
                <a:tc>
                  <a:txBody>
                    <a:bodyPr wrap="square"/>
                    <a:lstStyle/>
                    <a:p>
                      <a:r>
                        <a:rPr sz="1400" b="1">
                          <a:solidFill>
                            <a:srgbClr val="761422"/>
                          </a:solidFill>
                          <a:latin typeface="Calibri"/>
                        </a:rPr>
                        <a:t>Five kinds</a:t>
                      </a:r>
                    </a:p>
                  </a:txBody>
                  <a:tcPr marL="82296" marR="64008" marT="32004" marB="32004" anchor="ctr">
                    <a:solidFill>
                      <a:srgbClr val="FFFFFF"/>
                    </a:solidFill>
                  </a:tcPr>
                </a:tc>
                <a:tc>
                  <a:txBody>
                    <a:bodyPr wrap="square"/>
                    <a:lstStyle/>
                    <a:p>
                      <a:r>
                        <a:rPr sz="1400" b="0">
                          <a:solidFill>
                            <a:srgbClr val="1C1C1E"/>
                          </a:solidFill>
                          <a:latin typeface="Calibri"/>
                        </a:rPr>
                        <a:t>ensemble, pipeline, router, residual, hierarchical; trained sequentially, in parallel or jointly</a:t>
                      </a:r>
                    </a:p>
                  </a:txBody>
                  <a:tcPr marL="82296" marR="64008" marT="32004" marB="32004" anchor="ctr">
                    <a:solidFill>
                      <a:srgbClr val="FFFFFF"/>
                    </a:solidFill>
                  </a:tcPr>
                </a:tc>
              </a:tr>
              <a:tr h="559562">
                <a:tc>
                  <a:txBody>
                    <a:bodyPr wrap="square"/>
                    <a:lstStyle/>
                    <a:p>
                      <a:r>
                        <a:rPr sz="1400" b="1">
                          <a:solidFill>
                            <a:srgbClr val="761422"/>
                          </a:solidFill>
                          <a:latin typeface="Calibri"/>
                        </a:rPr>
                        <a:t>One contract</a:t>
                      </a:r>
                    </a:p>
                  </a:txBody>
                  <a:tcPr marL="82296" marR="64008" marT="32004" marB="32004" anchor="ctr">
                    <a:solidFill>
                      <a:srgbClr val="F6F3EF"/>
                    </a:solidFill>
                  </a:tcPr>
                </a:tc>
                <a:tc>
                  <a:txBody>
                    <a:bodyPr wrap="square"/>
                    <a:lstStyle/>
                    <a:p>
                      <a:r>
                        <a:rPr sz="1400" b="0">
                          <a:solidFill>
                            <a:srgbClr val="1C1C1E"/>
                          </a:solidFill>
                          <a:latin typeface="Calibri"/>
                        </a:rPr>
                        <a:t>The union of the members' contracts and the combiner's own inputs; two members wanting one name at different types is refused, naming the attribute</a:t>
                      </a:r>
                    </a:p>
                  </a:txBody>
                  <a:tcPr marL="82296" marR="64008" marT="32004" marB="32004" anchor="ctr">
                    <a:solidFill>
                      <a:srgbClr val="F6F3EF"/>
                    </a:solidFill>
                  </a:tcPr>
                </a:tc>
              </a:tr>
              <a:tr h="559562">
                <a:tc>
                  <a:txBody>
                    <a:bodyPr wrap="square"/>
                    <a:lstStyle/>
                    <a:p>
                      <a:r>
                        <a:rPr sz="1400" b="1">
                          <a:solidFill>
                            <a:srgbClr val="761422"/>
                          </a:solidFill>
                          <a:latin typeface="Calibri"/>
                        </a:rPr>
                        <a:t>One parameter set</a:t>
                      </a:r>
                    </a:p>
                  </a:txBody>
                  <a:tcPr marL="82296" marR="64008" marT="32004" marB="32004" anchor="ctr">
                    <a:solidFill>
                      <a:srgbClr val="FFFFFF"/>
                    </a:solidFill>
                  </a:tcPr>
                </a:tc>
                <a:tc>
                  <a:txBody>
                    <a:bodyPr wrap="square"/>
                    <a:lstStyle/>
                    <a:p>
                      <a:r>
                        <a:rPr sz="1400" b="0">
                          <a:solidFill>
                            <a:srgbClr val="1C1C1E"/>
                          </a:solidFill>
                          <a:latin typeface="Calibri"/>
                        </a:rPr>
                        <a:t>Namespaced by member alias, with the combiner's own parameters bare; a member may borrow an approved set, frozen</a:t>
                      </a:r>
                    </a:p>
                  </a:txBody>
                  <a:tcPr marL="82296" marR="64008" marT="32004" marB="32004" anchor="ctr">
                    <a:solidFill>
                      <a:srgbClr val="FFFFFF"/>
                    </a:solidFill>
                  </a:tcPr>
                </a:tc>
              </a:tr>
              <a:tr h="334645">
                <a:tc>
                  <a:txBody>
                    <a:bodyPr wrap="square"/>
                    <a:lstStyle/>
                    <a:p>
                      <a:r>
                        <a:rPr sz="1400" b="1">
                          <a:solidFill>
                            <a:srgbClr val="761422"/>
                          </a:solidFill>
                          <a:latin typeface="Calibri"/>
                        </a:rPr>
                        <a:t>One warrant</a:t>
                      </a:r>
                    </a:p>
                  </a:txBody>
                  <a:tcPr marL="82296" marR="64008" marT="32004" marB="32004" anchor="ctr">
                    <a:solidFill>
                      <a:srgbClr val="F6F3EF"/>
                    </a:solidFill>
                  </a:tcPr>
                </a:tc>
                <a:tc>
                  <a:txBody>
                    <a:bodyPr wrap="square"/>
                    <a:lstStyle/>
                    <a:p>
                      <a:r>
                        <a:rPr sz="1400" b="0">
                          <a:solidFill>
                            <a:srgbClr val="1C1C1E"/>
                          </a:solidFill>
                          <a:latin typeface="Calibri"/>
                        </a:rPr>
                        <a:t>Over one feature set, however many members there are</a:t>
                      </a:r>
                    </a:p>
                  </a:txBody>
                  <a:tcPr marL="82296" marR="64008" marT="32004" marB="32004" anchor="ctr">
                    <a:solidFill>
                      <a:srgbClr val="F6F3EF"/>
                    </a:solidFill>
                  </a:tcPr>
                </a:tc>
              </a:tr>
              <a:tr h="559562">
                <a:tc>
                  <a:txBody>
                    <a:bodyPr wrap="square"/>
                    <a:lstStyle/>
                    <a:p>
                      <a:r>
                        <a:rPr sz="1400" b="1">
                          <a:solidFill>
                            <a:srgbClr val="761422"/>
                          </a:solidFill>
                          <a:latin typeface="Calibri"/>
                        </a:rPr>
                        <a:t>Maturity capped</a:t>
                      </a:r>
                    </a:p>
                  </a:txBody>
                  <a:tcPr marL="82296" marR="64008" marT="32004" marB="32004" anchor="ctr">
                    <a:solidFill>
                      <a:srgbClr val="FFFFFF"/>
                    </a:solidFill>
                  </a:tcPr>
                </a:tc>
                <a:tc>
                  <a:txBody>
                    <a:bodyPr wrap="square"/>
                    <a:lstStyle/>
                    <a:p>
                      <a:r>
                        <a:rPr sz="1400" b="0">
                          <a:solidFill>
                            <a:srgbClr val="1C1C1E"/>
                          </a:solidFill>
                          <a:latin typeface="Calibri"/>
                        </a:rPr>
                        <a:t>At the least mature member's, and the members blocking a promotion are named rather than left to be inferred</a:t>
                      </a:r>
                    </a:p>
                  </a:txBody>
                  <a:tcPr marL="82296" marR="64008" marT="32004" marB="32004" anchor="ctr">
                    <a:solidFill>
                      <a:srgbClr val="FFFFFF"/>
                    </a:solidFill>
                  </a:tcPr>
                </a:tc>
              </a:tr>
              <a:tr h="559562">
                <a:tc>
                  <a:txBody>
                    <a:bodyPr wrap="square"/>
                    <a:lstStyle/>
                    <a:p>
                      <a:r>
                        <a:rPr sz="1400" b="1">
                          <a:solidFill>
                            <a:srgbClr val="761422"/>
                          </a:solidFill>
                          <a:latin typeface="Calibri"/>
                        </a:rPr>
                        <a:t>Bounded and reproducible</a:t>
                      </a:r>
                    </a:p>
                  </a:txBody>
                  <a:tcPr marL="82296" marR="64008" marT="32004" marB="32004" anchor="ctr">
                    <a:solidFill>
                      <a:srgbClr val="F6F3EF"/>
                    </a:solidFill>
                  </a:tcPr>
                </a:tc>
                <a:tc>
                  <a:txBody>
                    <a:bodyPr wrap="square"/>
                    <a:lstStyle/>
                    <a:p>
                      <a:r>
                        <a:rPr sz="1400" b="0">
                          <a:solidFill>
                            <a:srgbClr val="1C1C1E"/>
                          </a:solidFill>
                          <a:latin typeface="Calibri"/>
                        </a:rPr>
                        <a:t>Members bound pinned or tracking, nesting capped at four, cycles refused, opacity propagating from any black-box member, per-member seeds derived from one seed</a:t>
                      </a:r>
                    </a:p>
                  </a:txBody>
                  <a:tcPr marL="82296" marR="64008" marT="32004" marB="32004" anchor="ctr">
                    <a:solidFill>
                      <a:srgbClr val="F6F3E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DOCUMENTS AND MODELS THAT ALREADY EXIST</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The specification, the spreadsheet and the vendor's black box</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Models you can check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18</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maya/formula/specdoc.py, maya/formula/xlsx.py, maya/services/models.py; tests/test_typeset.py, tests/test_spreadsheet_libreoffice.py, tests/test_vendor_models.py. Spreadsheet import is v1 scope and has not been checked against workbooks saved by Microsoft Excel.</a:t>
            </a:r>
          </a:p>
        </p:txBody>
      </p:sp>
      <p:sp>
        <p:nvSpPr>
          <p:cNvPr id="12" name="Rectangle 11"/>
          <p:cNvSpPr/>
          <p:nvPr/>
        </p:nvSpPr>
        <p:spPr>
          <a:xfrm>
            <a:off x="777240"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specification document</a:t>
            </a:r>
          </a:p>
        </p:txBody>
      </p:sp>
      <p:sp>
        <p:nvSpPr>
          <p:cNvPr id="15" name="TextBox 14"/>
          <p:cNvSpPr txBox="1"/>
          <p:nvPr/>
        </p:nvSpPr>
        <p:spPr>
          <a:xfrm>
            <a:off x="777240" y="1850834"/>
            <a:ext cx="5135727" cy="362642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Nine required sections</a:t>
            </a:r>
          </a:p>
          <a:p>
            <a:pPr lvl="1">
              <a:lnSpc>
                <a:spcPct val="120000"/>
              </a:lnSpc>
              <a:spcBef>
                <a:spcPts val="0"/>
              </a:spcBef>
              <a:spcAft>
                <a:spcPts val="0"/>
              </a:spcAft>
            </a:pPr>
            <a:r>
              <a:rPr sz="1350" b="0">
                <a:solidFill>
                  <a:srgbClr val="4A4F57"/>
                </a:solidFill>
                <a:latin typeface="Calibri"/>
              </a:rPr>
              <a:t>Purpose, scope and limitations, formulation, assumptions, data, calibration, validation evidence, known weaknesses, change log — submission is blocked while one is empty.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Bound to the mathematics</a:t>
            </a:r>
          </a:p>
          <a:p>
            <a:pPr lvl="1">
              <a:lnSpc>
                <a:spcPct val="120000"/>
              </a:lnSpc>
              <a:spcBef>
                <a:spcPts val="0"/>
              </a:spcBef>
              <a:spcAft>
                <a:spcPts val="0"/>
              </a:spcAft>
            </a:pPr>
            <a:r>
              <a:rPr sz="1350" b="0">
                <a:solidFill>
                  <a:srgbClr val="4A4F57"/>
                </a:solidFill>
                <a:latin typeface="Calibri"/>
              </a:rPr>
              <a:t>Formula blocks render from the tree and references pull from the catalog, so the document cannot drift.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real build, or a labelled draft</a:t>
            </a:r>
          </a:p>
          <a:p>
            <a:pPr lvl="1">
              <a:lnSpc>
                <a:spcPct val="120000"/>
              </a:lnSpc>
              <a:spcBef>
                <a:spcPts val="0"/>
              </a:spcBef>
              <a:spcAft>
                <a:spcPts val="0"/>
              </a:spcAft>
            </a:pPr>
            <a:r>
              <a:rPr sz="1350" b="0">
                <a:solidFill>
                  <a:srgbClr val="4A4F57"/>
                </a:solidFill>
                <a:latin typeface="Calibri"/>
              </a:rPr>
              <a:t>With Tectonic it is a true LaTeX build; without it a watermarked draft that cannot be approved outside dev.</a:t>
            </a:r>
          </a:p>
        </p:txBody>
      </p:sp>
      <p:sp>
        <p:nvSpPr>
          <p:cNvPr id="16" name="Rectangle 15"/>
          <p:cNvSpPr/>
          <p:nvPr/>
        </p:nvSpPr>
        <p:spPr>
          <a:xfrm>
            <a:off x="6278727"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Spreadsheets and vendor models</a:t>
            </a:r>
          </a:p>
        </p:txBody>
      </p:sp>
      <p:sp>
        <p:nvSpPr>
          <p:cNvPr id="19" name="TextBox 18"/>
          <p:cNvSpPr txBox="1"/>
          <p:nvPr/>
        </p:nvSpPr>
        <p:spPr>
          <a:xfrm>
            <a:off x="6278727" y="1850834"/>
            <a:ext cx="5135727" cy="362642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 workbook lifted into the mathematics</a:t>
            </a:r>
          </a:p>
          <a:p>
            <a:pPr lvl="1">
              <a:lnSpc>
                <a:spcPct val="120000"/>
              </a:lnSpc>
              <a:spcBef>
                <a:spcPts val="0"/>
              </a:spcBef>
              <a:spcAft>
                <a:spcPts val="0"/>
              </a:spcAft>
            </a:pPr>
            <a:r>
              <a:rPr sz="1350" b="0">
                <a:solidFill>
                  <a:srgbClr val="4A4F57"/>
                </a:solidFill>
                <a:latin typeface="Calibri"/>
              </a:rPr>
              <a:t>Arithmetic, standard functions, named cells and ranges, and lookups over constant tables; everything else refused by cell. Checked against the workbook's own results and against a headless recalculation.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vendor model registered as what it is</a:t>
            </a:r>
          </a:p>
          <a:p>
            <a:pPr lvl="1">
              <a:lnSpc>
                <a:spcPct val="120000"/>
              </a:lnSpc>
              <a:spcBef>
                <a:spcPts val="0"/>
              </a:spcBef>
              <a:spcAft>
                <a:spcPts val="0"/>
              </a:spcAft>
            </a:pPr>
            <a:r>
              <a:rPr sz="1350" b="0">
                <a:solidFill>
                  <a:srgbClr val="4A4F57"/>
                </a:solidFill>
                <a:latin typeface="Calibri"/>
              </a:rPr>
              <a:t>A declared contract, the vendor's version and documentation, the same review and the same warrants — and what cannot be verified marked unverifiable rather than omitted.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Because completeness is the question</a:t>
            </a:r>
          </a:p>
          <a:p>
            <a:pPr lvl="1">
              <a:lnSpc>
                <a:spcPct val="120000"/>
              </a:lnSpc>
              <a:spcBef>
                <a:spcPts val="0"/>
              </a:spcBef>
              <a:spcAft>
                <a:spcPts val="0"/>
              </a:spcAft>
            </a:pPr>
            <a:r>
              <a:rPr sz="1350" b="0">
                <a:solidFill>
                  <a:srgbClr val="4A4F57"/>
                </a:solidFill>
                <a:latin typeface="Calibri"/>
              </a:rPr>
              <a:t>The firm stays accountable for a model it bought, so leaving it out of the inventory is not an option.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4</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800" b="0" i="0">
                <a:solidFill>
                  <a:srgbClr val="FFFFFF"/>
                </a:solidFill>
                <a:latin typeface="Georgia"/>
              </a:rPr>
              <a:t>Governance that holds</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Workflow you operate rather than configure in a file; a change rehearsed before it lands; and a warrant that is a live licence rather than a certificate in a drawer.</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Workflow, and the awkward cases</a:t>
            </a:r>
          </a:p>
          <a:p>
            <a:pPr>
              <a:lnSpc>
                <a:spcPct val="115000"/>
              </a:lnSpc>
              <a:spcBef>
                <a:spcPts val="0"/>
              </a:spcBef>
              <a:spcAft>
                <a:spcPts val="600"/>
              </a:spcAft>
            </a:pPr>
            <a:r>
              <a:rPr sz="1200" b="0" i="0">
                <a:solidFill>
                  <a:srgbClr val="F6E6E9"/>
                </a:solidFill>
                <a:latin typeface="Calibri"/>
              </a:rPr>
              <a:t>Workspaces and shadow replay</a:t>
            </a:r>
          </a:p>
          <a:p>
            <a:pPr>
              <a:lnSpc>
                <a:spcPct val="115000"/>
              </a:lnSpc>
              <a:spcBef>
                <a:spcPts val="0"/>
              </a:spcBef>
              <a:spcAft>
                <a:spcPts val="600"/>
              </a:spcAft>
            </a:pPr>
            <a:r>
              <a:rPr sz="1200" b="0" i="0">
                <a:solidFill>
                  <a:srgbClr val="F6E6E9"/>
                </a:solidFill>
                <a:latin typeface="Calibri"/>
              </a:rPr>
              <a:t>The checksum cycle</a:t>
            </a:r>
          </a:p>
          <a:p>
            <a:pPr>
              <a:lnSpc>
                <a:spcPct val="115000"/>
              </a:lnSpc>
              <a:spcBef>
                <a:spcPts val="0"/>
              </a:spcBef>
              <a:spcAft>
                <a:spcPts val="600"/>
              </a:spcAft>
            </a:pPr>
            <a:r>
              <a:rPr sz="1200" b="0" i="0">
                <a:solidFill>
                  <a:srgbClr val="F6E6E9"/>
                </a:solidFill>
                <a:latin typeface="Calibri"/>
              </a:rPr>
              <a:t>Execution warrants and covenants</a:t>
            </a:r>
          </a:p>
          <a:p>
            <a:pPr>
              <a:lnSpc>
                <a:spcPct val="115000"/>
              </a:lnSpc>
              <a:spcBef>
                <a:spcPts val="0"/>
              </a:spcBef>
              <a:spcAft>
                <a:spcPts val="600"/>
              </a:spcAft>
            </a:pPr>
            <a:r>
              <a:rPr sz="1200" b="0" i="0">
                <a:solidFill>
                  <a:srgbClr val="F6E6E9"/>
                </a:solidFill>
                <a:latin typeface="Calibri"/>
              </a:rPr>
              <a:t>Evidence that leaves the building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WORKFLOW</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Policy is data, and the policy itself is governed</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that holds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20</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maya/workflow/ and maya/security/roles.py; tests/test_workflow_matrix.py, tests/test_delegation.py. The YAML projection round-trips byte-identically for whoever wants policy in a repository, but the database is the authority.</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How a transition is described</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Eight states, six object types</a:t>
            </a:r>
          </a:p>
          <a:p>
            <a:pPr lvl="1">
              <a:lnSpc>
                <a:spcPct val="120000"/>
              </a:lnSpc>
              <a:spcBef>
                <a:spcPts val="0"/>
              </a:spcBef>
              <a:spcAft>
                <a:spcPts val="0"/>
              </a:spcAft>
            </a:pPr>
            <a:r>
              <a:rPr sz="1350" b="0">
                <a:solidFill>
                  <a:srgbClr val="4A4F57"/>
                </a:solidFill>
                <a:latin typeface="Calibri"/>
              </a:rPr>
              <a:t>draft, in_review, changes_requested, approved, published, deprecated, retired, withdrawn — over feature, feature-set and model versions, parameter sets and both warrants.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Checks and approvals by name</a:t>
            </a:r>
          </a:p>
          <a:p>
            <a:pPr lvl="1">
              <a:lnSpc>
                <a:spcPct val="120000"/>
              </a:lnSpc>
              <a:spcBef>
                <a:spcPts val="0"/>
              </a:spcBef>
              <a:spcAft>
                <a:spcPts val="0"/>
              </a:spcAft>
            </a:pPr>
            <a:r>
              <a:rPr sz="1350" b="0">
                <a:solidFill>
                  <a:srgbClr val="4A4F57"/>
                </a:solidFill>
                <a:latin typeface="Calibri"/>
              </a:rPr>
              <a:t>A transition lists the states it leaves, the capability it needs, the named checks to pass, and the approvals required as a role and a count — with a count that may apply only in production.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Refused at edit time</a:t>
            </a:r>
          </a:p>
          <a:p>
            <a:pPr lvl="1">
              <a:lnSpc>
                <a:spcPct val="120000"/>
              </a:lnSpc>
              <a:spcBef>
                <a:spcPts val="0"/>
              </a:spcBef>
              <a:spcAft>
                <a:spcPts val="0"/>
              </a:spcAft>
            </a:pPr>
            <a:r>
              <a:rPr sz="1350" b="0">
                <a:solidFill>
                  <a:srgbClr val="4A4F57"/>
                </a:solidFill>
                <a:latin typeface="Calibri"/>
              </a:rPr>
              <a:t>An unreachable state, an unsatisfiable approval or an unknown condition is rejected when the policy is saved, so nothing fails open when it matters.</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awkward cases</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Segregation of duties</a:t>
            </a:r>
          </a:p>
          <a:p>
            <a:pPr lvl="1">
              <a:lnSpc>
                <a:spcPct val="120000"/>
              </a:lnSpc>
              <a:spcBef>
                <a:spcPts val="0"/>
              </a:spcBef>
              <a:spcAft>
                <a:spcPts val="0"/>
              </a:spcAft>
            </a:pPr>
            <a:r>
              <a:rPr sz="1350" b="0">
                <a:solidFill>
                  <a:srgbClr val="4A4F57"/>
                </a:solidFill>
                <a:latin typeface="Calibri"/>
              </a:rPr>
              <a:t>Three levels, shipped as small-team, standard and regulated presets; under the strictest, nobody who created, submitted or updated an object may approve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Break-glass</a:t>
            </a:r>
          </a:p>
          <a:p>
            <a:pPr lvl="1">
              <a:lnSpc>
                <a:spcPct val="120000"/>
              </a:lnSpc>
              <a:spcBef>
                <a:spcPts val="0"/>
              </a:spcBef>
              <a:spcAft>
                <a:spcPts val="0"/>
              </a:spcAft>
            </a:pPr>
            <a:r>
              <a:rPr sz="1350" b="0">
                <a:solidFill>
                  <a:srgbClr val="4A4F57"/>
                </a:solidFill>
                <a:latin typeface="Calibri"/>
              </a:rPr>
              <a:t>Administrators only, a written reason of real length, marked forced on the record, audited as its own action, and the owner told whether or not they subscribed.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Delegation and escalation</a:t>
            </a:r>
          </a:p>
          <a:p>
            <a:pPr lvl="1">
              <a:lnSpc>
                <a:spcPct val="120000"/>
              </a:lnSpc>
              <a:spcBef>
                <a:spcPts val="0"/>
              </a:spcBef>
              <a:spcAft>
                <a:spcPts val="0"/>
              </a:spcAft>
            </a:pPr>
            <a:r>
              <a:rPr sz="1350" b="0">
                <a:solidFill>
                  <a:srgbClr val="4A4F57"/>
                </a:solidFill>
                <a:latin typeface="Calibri"/>
              </a:rPr>
              <a:t>Only an approver may delegate, never to themselves, within dates; the approval records whose behalf it was on. Five days in review is the shipped service level, swept hourly.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REHEARSING A CHANGE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Price the change before anybody approves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that holds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21</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maya/services/workspaces.py; tests/test_workspaces.py. Study 03 in case_studies/ is this as a worked example: a prepayment change proposed under a live model, and 60% of the book moves.</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Workspaces</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 copy-on-write branch of the catalog</a:t>
            </a:r>
          </a:p>
          <a:p>
            <a:pPr lvl="1">
              <a:lnSpc>
                <a:spcPct val="120000"/>
              </a:lnSpc>
              <a:spcBef>
                <a:spcPts val="0"/>
              </a:spcBef>
              <a:spcAft>
                <a:spcPts val="0"/>
              </a:spcAft>
            </a:pPr>
            <a:r>
              <a:rPr sz="1350" b="0">
                <a:solidFill>
                  <a:srgbClr val="4A4F57"/>
                </a:solidFill>
                <a:latin typeface="Calibri"/>
              </a:rPr>
              <a:t>Staging a change stores a proposed definition and copies nothing else; resolution inside the workspace reads the proposal in place of the version it would replace.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Approval is the merge</a:t>
            </a:r>
          </a:p>
          <a:p>
            <a:pPr lvl="1">
              <a:lnSpc>
                <a:spcPct val="120000"/>
              </a:lnSpc>
              <a:spcBef>
                <a:spcPts val="0"/>
              </a:spcBef>
              <a:spcAft>
                <a:spcPts val="0"/>
              </a:spcAft>
            </a:pPr>
            <a:r>
              <a:rPr sz="1350" b="0">
                <a:solidFill>
                  <a:srgbClr val="4A4F57"/>
                </a:solidFill>
                <a:latin typeface="Calibri"/>
              </a:rPr>
              <a:t>And a base that moved underneath is a conflict, not a surprise.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recorded challenger on the review</a:t>
            </a:r>
          </a:p>
          <a:p>
            <a:pPr lvl="1">
              <a:lnSpc>
                <a:spcPct val="120000"/>
              </a:lnSpc>
              <a:spcBef>
                <a:spcPts val="0"/>
              </a:spcBef>
              <a:spcAft>
                <a:spcPts val="0"/>
              </a:spcAft>
            </a:pPr>
            <a:r>
              <a:rPr sz="1350" b="0">
                <a:solidFill>
                  <a:srgbClr val="4A4F57"/>
                </a:solidFill>
                <a:latin typeface="Calibri"/>
              </a:rPr>
              <a:t>A non-binding memo that never approves, never blocks and never writes to a sealed object; the reviewer records whether they agreed with it.</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Shadow replay</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Every dependent warrant re-scored</a:t>
            </a:r>
          </a:p>
          <a:p>
            <a:pPr lvl="1">
              <a:lnSpc>
                <a:spcPct val="120000"/>
              </a:lnSpc>
              <a:spcBef>
                <a:spcPts val="0"/>
              </a:spcBef>
              <a:spcAft>
                <a:spcPts val="0"/>
              </a:spcAft>
            </a:pPr>
            <a:r>
              <a:rPr sz="1350" b="0">
                <a:solidFill>
                  <a:srgbClr val="4A4F57"/>
                </a:solidFill>
                <a:latin typeface="Calibri"/>
              </a:rPr>
              <a:t>The feature set is resolved as it is and as proposed, and both are scored with the warrant's own model and parameters.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Numbers, not a list of names</a:t>
            </a:r>
          </a:p>
          <a:p>
            <a:pPr lvl="1">
              <a:lnSpc>
                <a:spcPct val="120000"/>
              </a:lnSpc>
              <a:spcBef>
                <a:spcPts val="0"/>
              </a:spcBef>
              <a:spcAft>
                <a:spcPts val="0"/>
              </a:spcAft>
            </a:pPr>
            <a:r>
              <a:rPr sz="1350" b="0">
                <a:solidFill>
                  <a:srgbClr val="4A4F57"/>
                </a:solidFill>
                <a:latin typeface="Calibri"/>
              </a:rPr>
              <a:t>Rows added and removed, coverage, median, p95 and worst absolute shift, and how much of the book moves past materiality.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Bounded, and the bound is stated</a:t>
            </a:r>
          </a:p>
          <a:p>
            <a:pPr lvl="1">
              <a:lnSpc>
                <a:spcPct val="120000"/>
              </a:lnSpc>
              <a:spcBef>
                <a:spcPts val="0"/>
              </a:spcBef>
              <a:spcAft>
                <a:spcPts val="0"/>
              </a:spcAft>
            </a:pPr>
            <a:r>
              <a:rPr sz="1350" b="0">
                <a:solidFill>
                  <a:srgbClr val="4A4F57"/>
                </a:solidFill>
                <a:latin typeface="Calibri"/>
              </a:rPr>
              <a:t>A sample size, a materiality taken from the model, the namespace or the default, and a daily comparison budget — a namespace over budget gets an entry naming the shortfall rather than a quiet “nothing moved”.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TRAINING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checksum cycle that turns paperwork into a control</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that holds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22</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maya/services/warrants.py; ADR-007 states the one runtime exception MAYA concedes — it scores the mathematics, never the uploaded artifact, and refuses outright for a declared black box.</a:t>
            </a:r>
          </a:p>
        </p:txBody>
      </p:sp>
      <p:sp>
        <p:nvSpPr>
          <p:cNvPr id="12" name="Rectangle 11"/>
          <p:cNvSpPr/>
          <p:nvPr/>
        </p:nvSpPr>
        <p:spPr>
          <a:xfrm>
            <a:off x="777240"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Draw</a:t>
            </a:r>
          </a:p>
        </p:txBody>
      </p:sp>
      <p:sp>
        <p:nvSpPr>
          <p:cNvPr id="15" name="TextBox 14"/>
          <p:cNvSpPr txBox="1"/>
          <p:nvPr/>
        </p:nvSpPr>
        <p:spPr>
          <a:xfrm>
            <a:off x="960120"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An approved model against a pinned feature set; the contract is checked and every miss listed</a:t>
            </a:r>
          </a:p>
        </p:txBody>
      </p:sp>
      <p:sp>
        <p:nvSpPr>
          <p:cNvPr id="16" name="Rectangle 15"/>
          <p:cNvSpPr/>
          <p:nvPr/>
        </p:nvSpPr>
        <p:spPr>
          <a:xfrm>
            <a:off x="2955889"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5889"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8769"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Certify</a:t>
            </a:r>
          </a:p>
        </p:txBody>
      </p:sp>
      <p:sp>
        <p:nvSpPr>
          <p:cNvPr id="19" name="TextBox 18"/>
          <p:cNvSpPr txBox="1"/>
          <p:nvPr/>
        </p:nvSpPr>
        <p:spPr>
          <a:xfrm>
            <a:off x="3138769"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signed leakage certificate is issued with the warrant, or refuses it</a:t>
            </a:r>
          </a:p>
        </p:txBody>
      </p:sp>
      <p:cxnSp>
        <p:nvCxnSpPr>
          <p:cNvPr id="20" name="Connector 19"/>
          <p:cNvCxnSpPr/>
          <p:nvPr/>
        </p:nvCxnSpPr>
        <p:spPr>
          <a:xfrm>
            <a:off x="2727289"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134538"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3453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1741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Download</a:t>
            </a:r>
          </a:p>
        </p:txBody>
      </p:sp>
      <p:sp>
        <p:nvSpPr>
          <p:cNvPr id="24" name="TextBox 23"/>
          <p:cNvSpPr txBox="1"/>
          <p:nvPr/>
        </p:nvSpPr>
        <p:spPr>
          <a:xfrm>
            <a:off x="5317418"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Train and validation only; who, when and the content hash recorded</a:t>
            </a:r>
          </a:p>
        </p:txBody>
      </p:sp>
      <p:cxnSp>
        <p:nvCxnSpPr>
          <p:cNvPr id="25" name="Connector 24"/>
          <p:cNvCxnSpPr/>
          <p:nvPr/>
        </p:nvCxnSpPr>
        <p:spPr>
          <a:xfrm>
            <a:off x="4905938"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13188"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318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606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Upload</a:t>
            </a:r>
          </a:p>
        </p:txBody>
      </p:sp>
      <p:sp>
        <p:nvSpPr>
          <p:cNvPr id="29" name="TextBox 28"/>
          <p:cNvSpPr txBox="1"/>
          <p:nvPr/>
        </p:nvSpPr>
        <p:spPr>
          <a:xfrm>
            <a:off x="7496068"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Parameters checked against that hash, their bounds and any joint constraint</a:t>
            </a:r>
          </a:p>
        </p:txBody>
      </p:sp>
      <p:cxnSp>
        <p:nvCxnSpPr>
          <p:cNvPr id="30" name="Connector 29"/>
          <p:cNvCxnSpPr/>
          <p:nvPr/>
        </p:nvCxnSpPr>
        <p:spPr>
          <a:xfrm>
            <a:off x="7084588"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491837"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91837"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74717"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Seal</a:t>
            </a:r>
          </a:p>
        </p:txBody>
      </p:sp>
      <p:sp>
        <p:nvSpPr>
          <p:cNvPr id="34" name="TextBox 33"/>
          <p:cNvSpPr txBox="1"/>
          <p:nvPr/>
        </p:nvSpPr>
        <p:spPr>
          <a:xfrm>
            <a:off x="9674717"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Approval by policy; every referenced object becomes undeletable</a:t>
            </a:r>
          </a:p>
        </p:txBody>
      </p:sp>
      <p:cxnSp>
        <p:nvCxnSpPr>
          <p:cNvPr id="35" name="Connector 34"/>
          <p:cNvCxnSpPr/>
          <p:nvPr/>
        </p:nvCxnSpPr>
        <p:spPr>
          <a:xfrm>
            <a:off x="9263237"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3517519"/>
            <a:ext cx="10637215" cy="2160905"/>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The test partition is escrowed: it is hashed and its row count fixed when the warrant is drawn, and it is not in the download. MAYA scores uploaded parameters against it, returns metrics only, and numbers every attempt on the warrant.</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Parameters fitted on data that matches no checksum MAYA issued are flagged and cannot be approved without an explicit written justification — which is how a judgement, as distinct from a fit, gets recorded honestly rather than disguised as one.</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Proved end to end by tests/test_warrants.py::test_the_checksum_cycle_seal_score_execute_and_bundle.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EXECUTION</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A live licence: it expires, it is revoked, and it suspends itself</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that holds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23</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maya/services/execution.py; tests/test_security_regressions.py::test_each_covenant. A revoked, expired or suspended warrant fails every consuming call closed, naming the covenant that broke or the person to contact.</a:t>
            </a:r>
          </a:p>
        </p:txBody>
      </p:sp>
      <p:graphicFrame>
        <p:nvGraphicFramePr>
          <p:cNvPr id="12" name="Table 11"/>
          <p:cNvGraphicFramePr>
            <a:graphicFrameLocks noGrp="1"/>
          </p:cNvGraphicFramePr>
          <p:nvPr/>
        </p:nvGraphicFramePr>
        <p:xfrm>
          <a:off x="777240" y="1322705"/>
          <a:ext cx="10637214" cy="3226117"/>
        </p:xfrm>
        <a:graphic>
          <a:graphicData uri="http://schemas.openxmlformats.org/drawingml/2006/table">
            <a:tbl>
              <a:tblPr firstRow="1">
                <a:tableStyleId>{5C22544A-7EE6-4342-B048-85BDC9FD1C3A}</a:tableStyleId>
              </a:tblPr>
              <a:tblGrid>
                <a:gridCol w="1834002"/>
                <a:gridCol w="8803212"/>
              </a:tblGrid>
              <a:tr h="318579">
                <a:tc>
                  <a:txBody>
                    <a:bodyPr wrap="square"/>
                    <a:lstStyle/>
                    <a:p>
                      <a:r>
                        <a:rPr sz="1300" b="1">
                          <a:solidFill>
                            <a:srgbClr val="FFFFFF"/>
                          </a:solidFill>
                          <a:latin typeface="Calibri"/>
                        </a:rPr>
                        <a:t>Control</a:t>
                      </a:r>
                    </a:p>
                  </a:txBody>
                  <a:tcPr marL="82296" marR="64008" marT="32004" marB="32004" anchor="ctr">
                    <a:solidFill>
                      <a:srgbClr val="A51C30"/>
                    </a:solidFill>
                  </a:tcPr>
                </a:tc>
                <a:tc>
                  <a:txBody>
                    <a:bodyPr wrap="square"/>
                    <a:lstStyle/>
                    <a:p>
                      <a:r>
                        <a:rPr sz="1300" b="1">
                          <a:solidFill>
                            <a:srgbClr val="FFFFFF"/>
                          </a:solidFill>
                          <a:latin typeface="Calibri"/>
                        </a:rPr>
                        <a:t>Behaviour</a:t>
                      </a:r>
                    </a:p>
                  </a:txBody>
                  <a:tcPr marL="82296" marR="64008" marT="32004" marB="32004" anchor="ctr">
                    <a:solidFill>
                      <a:srgbClr val="A51C30"/>
                    </a:solidFill>
                  </a:tcPr>
                </a:tc>
              </a:tr>
              <a:tr h="334645">
                <a:tc>
                  <a:txBody>
                    <a:bodyPr wrap="square"/>
                    <a:lstStyle/>
                    <a:p>
                      <a:r>
                        <a:rPr sz="1400" b="1">
                          <a:solidFill>
                            <a:srgbClr val="761422"/>
                          </a:solidFill>
                          <a:latin typeface="Calibri"/>
                        </a:rPr>
                        <a:t>Environments</a:t>
                      </a:r>
                    </a:p>
                  </a:txBody>
                  <a:tcPr marL="82296" marR="64008" marT="32004" marB="32004" anchor="ctr">
                    <a:solidFill>
                      <a:srgbClr val="FFFFFF"/>
                    </a:solidFill>
                  </a:tcPr>
                </a:tc>
                <a:tc>
                  <a:txBody>
                    <a:bodyPr wrap="square"/>
                    <a:lstStyle/>
                    <a:p>
                      <a:r>
                        <a:rPr sz="1400" b="0">
                          <a:solidFill>
                            <a:srgbClr val="1C1C1E"/>
                          </a:solidFill>
                          <a:latin typeface="Calibri"/>
                        </a:rPr>
                        <a:t>dev, uat, prod — each permitted explicitly, and an approval may be required only for prod</a:t>
                      </a:r>
                    </a:p>
                  </a:txBody>
                  <a:tcPr marL="82296" marR="64008" marT="32004" marB="32004" anchor="ctr">
                    <a:solidFill>
                      <a:srgbClr val="FFFFFF"/>
                    </a:solidFill>
                  </a:tcPr>
                </a:tc>
              </a:tr>
              <a:tr h="559562">
                <a:tc>
                  <a:txBody>
                    <a:bodyPr wrap="square"/>
                    <a:lstStyle/>
                    <a:p>
                      <a:r>
                        <a:rPr sz="1400" b="1">
                          <a:solidFill>
                            <a:srgbClr val="761422"/>
                          </a:solidFill>
                          <a:latin typeface="Calibri"/>
                        </a:rPr>
                        <a:t>Covenants</a:t>
                      </a:r>
                    </a:p>
                  </a:txBody>
                  <a:tcPr marL="82296" marR="64008" marT="32004" marB="32004" anchor="ctr">
                    <a:solidFill>
                      <a:srgbClr val="F6F3EF"/>
                    </a:solidFill>
                  </a:tcPr>
                </a:tc>
                <a:tc>
                  <a:txBody>
                    <a:bodyPr wrap="square"/>
                    <a:lstStyle/>
                    <a:p>
                      <a:r>
                        <a:rPr sz="1400" b="0">
                          <a:solidFill>
                            <a:srgbClr val="1C1C1E"/>
                          </a:solidFill>
                          <a:latin typeface="Calibri"/>
                        </a:rPr>
                        <a:t>input_null_rate, input_range, input_psi, output_range, max_rows_per_day, staleness_days. A breach suspends the warrant at once, writes a custody event and notifies the owner</a:t>
                      </a:r>
                    </a:p>
                  </a:txBody>
                  <a:tcPr marL="82296" marR="64008" marT="32004" marB="32004" anchor="ctr">
                    <a:solidFill>
                      <a:srgbClr val="F6F3EF"/>
                    </a:solidFill>
                  </a:tcPr>
                </a:tc>
              </a:tr>
              <a:tr h="559562">
                <a:tc>
                  <a:txBody>
                    <a:bodyPr wrap="square"/>
                    <a:lstStyle/>
                    <a:p>
                      <a:r>
                        <a:rPr sz="1400" b="1">
                          <a:solidFill>
                            <a:srgbClr val="761422"/>
                          </a:solidFill>
                          <a:latin typeface="Calibri"/>
                        </a:rPr>
                        <a:t>Population drift</a:t>
                      </a:r>
                    </a:p>
                  </a:txBody>
                  <a:tcPr marL="82296" marR="64008" marT="32004" marB="32004" anchor="ctr">
                    <a:solidFill>
                      <a:srgbClr val="FFFFFF"/>
                    </a:solidFill>
                  </a:tcPr>
                </a:tc>
                <a:tc>
                  <a:txBody>
                    <a:bodyPr wrap="square"/>
                    <a:lstStyle/>
                    <a:p>
                      <a:r>
                        <a:rPr sz="1400" b="0">
                          <a:solidFill>
                            <a:srgbClr val="1C1C1E"/>
                          </a:solidFill>
                          <a:latin typeface="Calibri"/>
                        </a:rPr>
                        <a:t>A population stability index against a baseline fixed when the warrant was drawn, so the baseline cannot move later; the default ceiling is 0.25</a:t>
                      </a:r>
                    </a:p>
                  </a:txBody>
                  <a:tcPr marL="82296" marR="64008" marT="32004" marB="32004" anchor="ctr">
                    <a:solidFill>
                      <a:srgbClr val="FFFFFF"/>
                    </a:solidFill>
                  </a:tcPr>
                </a:tc>
              </a:tr>
              <a:tr h="559562">
                <a:tc>
                  <a:txBody>
                    <a:bodyPr wrap="square"/>
                    <a:lstStyle/>
                    <a:p>
                      <a:r>
                        <a:rPr sz="1400" b="1">
                          <a:solidFill>
                            <a:srgbClr val="761422"/>
                          </a:solidFill>
                          <a:latin typeface="Calibri"/>
                        </a:rPr>
                        <a:t>Limits</a:t>
                      </a:r>
                    </a:p>
                  </a:txBody>
                  <a:tcPr marL="82296" marR="64008" marT="32004" marB="32004" anchor="ctr">
                    <a:solidFill>
                      <a:srgbClr val="F6F3EF"/>
                    </a:solidFill>
                  </a:tcPr>
                </a:tc>
                <a:tc>
                  <a:txBody>
                    <a:bodyPr wrap="square"/>
                    <a:lstStyle/>
                    <a:p>
                      <a:r>
                        <a:rPr sz="1400" b="0">
                          <a:solidFill>
                            <a:srgbClr val="1C1C1E"/>
                          </a:solidFill>
                          <a:latin typeface="Calibri"/>
                        </a:rPr>
                        <a:t>Calls and rows per day, rows per call — these throttle and record overage; they do not suspend</a:t>
                      </a:r>
                    </a:p>
                  </a:txBody>
                  <a:tcPr marL="82296" marR="64008" marT="32004" marB="32004" anchor="ctr">
                    <a:solidFill>
                      <a:srgbClr val="F6F3EF"/>
                    </a:solidFill>
                  </a:tcPr>
                </a:tc>
              </a:tr>
              <a:tr h="559562">
                <a:tc>
                  <a:txBody>
                    <a:bodyPr wrap="square"/>
                    <a:lstStyle/>
                    <a:p>
                      <a:r>
                        <a:rPr sz="1400" b="1">
                          <a:solidFill>
                            <a:srgbClr val="761422"/>
                          </a:solidFill>
                          <a:latin typeface="Calibri"/>
                        </a:rPr>
                        <a:t>Reinstatement</a:t>
                      </a:r>
                    </a:p>
                  </a:txBody>
                  <a:tcPr marL="82296" marR="64008" marT="32004" marB="32004" anchor="ctr">
                    <a:solidFill>
                      <a:srgbClr val="FFFFFF"/>
                    </a:solidFill>
                  </a:tcPr>
                </a:tc>
                <a:tc>
                  <a:txBody>
                    <a:bodyPr wrap="square"/>
                    <a:lstStyle/>
                    <a:p>
                      <a:r>
                        <a:rPr sz="1400" b="0">
                          <a:solidFill>
                            <a:srgbClr val="1C1C1E"/>
                          </a:solidFill>
                          <a:latin typeface="Calibri"/>
                        </a:rPr>
                        <a:t>By the model owner or an administrator, with a written reason. A covenant that names no output on a multi-output model is refused at creation</a:t>
                      </a:r>
                    </a:p>
                  </a:txBody>
                  <a:tcPr marL="82296" marR="64008" marT="32004" marB="32004" anchor="ctr">
                    <a:solidFill>
                      <a:srgbClr val="FFFFFF"/>
                    </a:solidFill>
                  </a:tcPr>
                </a:tc>
              </a:tr>
              <a:tr h="334645">
                <a:tc>
                  <a:txBody>
                    <a:bodyPr wrap="square"/>
                    <a:lstStyle/>
                    <a:p>
                      <a:r>
                        <a:rPr sz="1400" b="1">
                          <a:solidFill>
                            <a:srgbClr val="761422"/>
                          </a:solidFill>
                          <a:latin typeface="Calibri"/>
                        </a:rPr>
                        <a:t>Offline use</a:t>
                      </a:r>
                    </a:p>
                  </a:txBody>
                  <a:tcPr marL="82296" marR="64008" marT="32004" marB="32004" anchor="ctr">
                    <a:solidFill>
                      <a:srgbClr val="F6F3EF"/>
                    </a:solidFill>
                  </a:tcPr>
                </a:tc>
                <a:tc>
                  <a:txBody>
                    <a:bodyPr wrap="square"/>
                    <a:lstStyle/>
                    <a:p>
                      <a:r>
                        <a:rPr sz="1400" b="0">
                          <a:solidFill>
                            <a:srgbClr val="1C1C1E"/>
                          </a:solidFill>
                          <a:latin typeface="Calibri"/>
                        </a:rPr>
                        <a:t>Permitted, and both the copy and the warrant are labelled unattested for good</a:t>
                      </a:r>
                    </a:p>
                  </a:txBody>
                  <a:tcPr marL="82296" marR="64008" marT="32004" marB="32004" anchor="ctr">
                    <a:solidFill>
                      <a:srgbClr val="F6F3E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bundle that proves itself on a machine with no MAYA</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that holds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24</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maya/services/bundle.py, maya/sdk/offline.py; tests/test_sdk_modes.py::test_a_tampered_bundle_is_refused_before_anything_is_read, tests/test_sc2_aged_warrant.py, which reproduces a warrant aged two years in the fixture.</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is in the archive</a:t>
            </a:r>
          </a:p>
        </p:txBody>
      </p:sp>
      <p:sp>
        <p:nvSpPr>
          <p:cNvPr id="15" name="TextBox 14"/>
          <p:cNvSpPr txBox="1"/>
          <p:nvPr/>
        </p:nvSpPr>
        <p:spPr>
          <a:xfrm>
            <a:off x="777240"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The subject and its data</a:t>
            </a:r>
          </a:p>
          <a:p>
            <a:pPr lvl="1">
              <a:lnSpc>
                <a:spcPct val="120000"/>
              </a:lnSpc>
              <a:spcBef>
                <a:spcPts val="0"/>
              </a:spcBef>
              <a:spcAft>
                <a:spcPts val="0"/>
              </a:spcAft>
            </a:pPr>
            <a:r>
              <a:rPr sz="1300" b="0">
                <a:solidFill>
                  <a:srgbClr val="4A4F57"/>
                </a:solidFill>
                <a:latin typeface="Calibri"/>
              </a:rPr>
              <a:t>Warrant, model version and mathematics, the specification source, the code artifact and its report, parameters, the leakage certificate, the training frame, the feature-set pin's manifest and its member pins, the Python version and the resolved backends.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definition of the hash</a:t>
            </a:r>
          </a:p>
          <a:p>
            <a:pPr lvl="1">
              <a:lnSpc>
                <a:spcPct val="120000"/>
              </a:lnSpc>
              <a:spcBef>
                <a:spcPts val="0"/>
              </a:spcBef>
              <a:spcAft>
                <a:spcPts val="0"/>
              </a:spcAft>
            </a:pPr>
            <a:r>
              <a:rPr sz="1300" b="0">
                <a:solidFill>
                  <a:srgbClr val="4A4F57"/>
                </a:solidFill>
                <a:latin typeface="Calibri"/>
              </a:rPr>
              <a:t>MAYA's own canonical encoder ships inside the bundle, because it is the definition rather than a description of one.</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A signed manifest</a:t>
            </a:r>
          </a:p>
          <a:p>
            <a:pPr lvl="1">
              <a:lnSpc>
                <a:spcPct val="120000"/>
              </a:lnSpc>
              <a:spcBef>
                <a:spcPts val="0"/>
              </a:spcBef>
              <a:spcAft>
                <a:spcPts val="0"/>
              </a:spcAft>
            </a:pPr>
            <a:r>
              <a:rPr sz="1300" b="0">
                <a:solidFill>
                  <a:srgbClr val="4A4F57"/>
                </a:solidFill>
                <a:latin typeface="Calibri"/>
              </a:rPr>
              <a:t>Every file's digest, the data's content hash, the expected output hash, and whether re-execution is possible — with the reason when it is not.</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the verifier does</a:t>
            </a:r>
          </a:p>
        </p:txBody>
      </p:sp>
      <p:sp>
        <p:nvSpPr>
          <p:cNvPr id="19" name="TextBox 18"/>
          <p:cNvSpPr txBox="1"/>
          <p:nvPr/>
        </p:nvSpPr>
        <p:spPr>
          <a:xfrm>
            <a:off x="6278727"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Needs Python, pyarrow and numpy</a:t>
            </a:r>
          </a:p>
          <a:p>
            <a:pPr lvl="1">
              <a:lnSpc>
                <a:spcPct val="120000"/>
              </a:lnSpc>
              <a:spcBef>
                <a:spcPts val="0"/>
              </a:spcBef>
              <a:spcAft>
                <a:spcPts val="0"/>
              </a:spcAft>
            </a:pPr>
            <a:r>
              <a:rPr sz="1350" b="0">
                <a:solidFill>
                  <a:srgbClr val="4A4F57"/>
                </a:solidFill>
                <a:latin typeface="Calibri"/>
              </a:rPr>
              <a:t>Nothing from MAYA, and no network.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Bounds the archive first</a:t>
            </a:r>
          </a:p>
          <a:p>
            <a:pPr lvl="1">
              <a:lnSpc>
                <a:spcPct val="120000"/>
              </a:lnSpc>
              <a:spcBef>
                <a:spcPts val="0"/>
              </a:spcBef>
              <a:spcAft>
                <a:spcPts val="0"/>
              </a:spcAft>
            </a:pPr>
            <a:r>
              <a:rPr sz="1350" b="0">
                <a:solidFill>
                  <a:srgbClr val="4A4F57"/>
                </a:solidFill>
                <a:latin typeface="Calibri"/>
              </a:rPr>
              <a:t>Entry count, expanded size, compression ratio and path traversal, before a byte is read.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Recomputes, then re-executes</a:t>
            </a:r>
          </a:p>
          <a:p>
            <a:pPr lvl="1">
              <a:lnSpc>
                <a:spcPct val="120000"/>
              </a:lnSpc>
              <a:spcBef>
                <a:spcPts val="0"/>
              </a:spcBef>
              <a:spcAft>
                <a:spcPts val="0"/>
              </a:spcAft>
            </a:pPr>
            <a:r>
              <a:rPr sz="1350" b="0">
                <a:solidFill>
                  <a:srgbClr val="4A4F57"/>
                </a:solidFill>
                <a:latin typeface="Calibri"/>
              </a:rPr>
              <a:t>Every file digest, the signature, the data's content hash using the shipped encoder, and the model's outputs against the expected hash.</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Refuses on one changed byte</a:t>
            </a:r>
          </a:p>
          <a:p>
            <a:pPr lvl="1">
              <a:lnSpc>
                <a:spcPct val="120000"/>
              </a:lnSpc>
              <a:spcBef>
                <a:spcPts val="0"/>
              </a:spcBef>
              <a:spcAft>
                <a:spcPts val="0"/>
              </a:spcAft>
            </a:pPr>
            <a:r>
              <a:rPr sz="1350" b="0">
                <a:solidFill>
                  <a:srgbClr val="4A4F57"/>
                </a:solidFill>
                <a:latin typeface="Calibri"/>
              </a:rPr>
              <a:t>A tampered bundle is refused before anything is served, not partly 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5</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800" b="0" i="0">
                <a:solidFill>
                  <a:srgbClr val="FFFFFF"/>
                </a:solidFill>
                <a:latin typeface="Georgia"/>
              </a:rPr>
              <a:t>One model, end to end</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IFRS 9 expected credit loss: a composite of three fitted members and two committee judgements, carried from a blank namespace to a suspended execution warrant — including everywhere MAYA said no.</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The problem, and the formula</a:t>
            </a:r>
          </a:p>
          <a:p>
            <a:pPr>
              <a:lnSpc>
                <a:spcPct val="115000"/>
              </a:lnSpc>
              <a:spcBef>
                <a:spcPts val="0"/>
              </a:spcBef>
              <a:spcAft>
                <a:spcPts val="600"/>
              </a:spcAft>
            </a:pPr>
            <a:r>
              <a:rPr sz="1200" b="0" i="0">
                <a:solidFill>
                  <a:srgbClr val="F6E6E9"/>
                </a:solidFill>
                <a:latin typeface="Calibri"/>
              </a:rPr>
              <a:t>Three members and a combiner</a:t>
            </a:r>
          </a:p>
          <a:p>
            <a:pPr>
              <a:lnSpc>
                <a:spcPct val="115000"/>
              </a:lnSpc>
              <a:spcBef>
                <a:spcPts val="0"/>
              </a:spcBef>
              <a:spcAft>
                <a:spcPts val="600"/>
              </a:spcAft>
            </a:pPr>
            <a:r>
              <a:rPr sz="1200" b="0" i="0">
                <a:solidFill>
                  <a:srgbClr val="F6E6E9"/>
                </a:solidFill>
                <a:latin typeface="Calibri"/>
              </a:rPr>
              <a:t>Three refusals, quoted</a:t>
            </a:r>
          </a:p>
          <a:p>
            <a:pPr>
              <a:lnSpc>
                <a:spcPct val="115000"/>
              </a:lnSpc>
              <a:spcBef>
                <a:spcPts val="0"/>
              </a:spcBef>
              <a:spcAft>
                <a:spcPts val="600"/>
              </a:spcAft>
            </a:pPr>
            <a:r>
              <a:rPr sz="1200" b="0" i="0">
                <a:solidFill>
                  <a:srgbClr val="F6E6E9"/>
                </a:solidFill>
                <a:latin typeface="Calibri"/>
              </a:rPr>
              <a:t>A judgement, approved as one</a:t>
            </a:r>
          </a:p>
          <a:p>
            <a:pPr>
              <a:lnSpc>
                <a:spcPct val="115000"/>
              </a:lnSpc>
              <a:spcBef>
                <a:spcPts val="0"/>
              </a:spcBef>
              <a:spcAft>
                <a:spcPts val="600"/>
              </a:spcAft>
            </a:pPr>
            <a:r>
              <a:rPr sz="1200" b="0" i="0">
                <a:solidFill>
                  <a:srgbClr val="F6E6E9"/>
                </a:solidFill>
                <a:latin typeface="Calibri"/>
              </a:rPr>
              <a:t>The score that flatters, and the test that does not</a:t>
            </a:r>
          </a:p>
          <a:p>
            <a:pPr>
              <a:lnSpc>
                <a:spcPct val="115000"/>
              </a:lnSpc>
              <a:spcBef>
                <a:spcPts val="0"/>
              </a:spcBef>
              <a:spcAft>
                <a:spcPts val="600"/>
              </a:spcAft>
            </a:pPr>
            <a:r>
              <a:rPr sz="1200" b="0" i="0">
                <a:solidFill>
                  <a:srgbClr val="F6E6E9"/>
                </a:solidFill>
                <a:latin typeface="Calibri"/>
              </a:rPr>
              <a:t>The finding nobody flattered</a:t>
            </a:r>
          </a:p>
          <a:p>
            <a:pPr>
              <a:lnSpc>
                <a:spcPct val="115000"/>
              </a:lnSpc>
              <a:spcBef>
                <a:spcPts val="0"/>
              </a:spcBef>
              <a:spcAft>
                <a:spcPts val="600"/>
              </a:spcAft>
            </a:pPr>
            <a:r>
              <a:rPr sz="1200" b="0" i="0">
                <a:solidFill>
                  <a:srgbClr val="F6E6E9"/>
                </a:solidFill>
                <a:latin typeface="Calibri"/>
              </a:rPr>
              <a:t>The covenant, and what was left behind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PROBLEM</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C1C1E"/>
                </a:solidFill>
                <a:latin typeface="Georgia"/>
              </a:rPr>
              <a:t>Four terms, three of them models and two of them judgements</a:t>
            </a:r>
          </a:p>
        </p:txBody>
      </p:sp>
      <p:sp>
        <p:nvSpPr>
          <p:cNvPr id="6" name="Rectangle 5"/>
          <p:cNvSpPr/>
          <p:nvPr/>
        </p:nvSpPr>
        <p:spPr>
          <a:xfrm>
            <a:off x="777240" y="1226820"/>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26</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bank carries an allowance for expected credit loss. The allowance is a probability of default, times a loss given default, times an exposure at default — lifted to a lifetime figure when credit risk has increased significantly since origination.</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 Every feed is synthetic, produced by the make_data.py beside it from a seeded recipe stated in that file, and committed so a reader can open exactly what MAYA was given.</a:t>
            </a:r>
          </a:p>
        </p:txBody>
      </p:sp>
      <p:sp>
        <p:nvSpPr>
          <p:cNvPr id="13" name="TextBox 12"/>
          <p:cNvSpPr txBox="1"/>
          <p:nvPr/>
        </p:nvSpPr>
        <p:spPr>
          <a:xfrm>
            <a:off x="777240" y="2252853"/>
            <a:ext cx="10637215" cy="3425570"/>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Calibri"/>
              </a:rPr>
              <a:t>▪  </a:t>
            </a:r>
            <a:r>
              <a:rPr sz="1550" b="1">
                <a:solidFill>
                  <a:srgbClr val="1C1C1E"/>
                </a:solidFill>
                <a:latin typeface="Calibri"/>
              </a:rPr>
              <a:t>The mathematics</a:t>
            </a:r>
          </a:p>
          <a:p>
            <a:pPr lvl="1">
              <a:lnSpc>
                <a:spcPct val="120000"/>
              </a:lnSpc>
              <a:spcBef>
                <a:spcPts val="0"/>
              </a:spcBef>
              <a:spcAft>
                <a:spcPts val="0"/>
              </a:spcAft>
            </a:pPr>
            <a:r>
              <a:rPr sz="1400" b="0">
                <a:solidFill>
                  <a:srgbClr val="4A4F57"/>
                </a:solidFill>
                <a:latin typeface="Calibri"/>
              </a:rPr>
              <a:t>ECL = h · PD₁₂ · LGD · EAD, where h is the lifetime multiple φ when PD₁₂ / PD₀ exceeds the threshold θ, and 1 otherwise.</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Three of the four terms are fitted models</a:t>
            </a:r>
          </a:p>
          <a:p>
            <a:pPr lvl="1">
              <a:lnSpc>
                <a:spcPct val="120000"/>
              </a:lnSpc>
              <a:spcBef>
                <a:spcPts val="0"/>
              </a:spcBef>
              <a:spcAft>
                <a:spcPts val="0"/>
              </a:spcAft>
            </a:pPr>
            <a:r>
              <a:rPr sz="1400" b="0">
                <a:solidFill>
                  <a:srgbClr val="4A4F57"/>
                </a:solidFill>
                <a:latin typeface="Calibri"/>
              </a:rPr>
              <a:t>A probability of default, a loss given default and an exposure at default — each a member with its own mathematics, its own parameters and its own document.</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Two of them are not models at all</a:t>
            </a:r>
          </a:p>
          <a:p>
            <a:pPr lvl="1">
              <a:lnSpc>
                <a:spcPct val="120000"/>
              </a:lnSpc>
              <a:spcBef>
                <a:spcPts val="0"/>
              </a:spcBef>
              <a:spcAft>
                <a:spcPts val="0"/>
              </a:spcAft>
            </a:pPr>
            <a:r>
              <a:rPr sz="1400" b="0">
                <a:solidFill>
                  <a:srgbClr val="4A4F57"/>
                </a:solidFill>
                <a:latin typeface="Calibri"/>
              </a:rPr>
              <a:t>θ and φ are judgements. They are what an impairment committee actually argues about, and there is no data to fit them to.</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The data</a:t>
            </a:r>
          </a:p>
          <a:p>
            <a:pPr lvl="1">
              <a:lnSpc>
                <a:spcPct val="120000"/>
              </a:lnSpc>
              <a:spcBef>
                <a:spcPts val="0"/>
              </a:spcBef>
              <a:spcAft>
                <a:spcPts val="0"/>
              </a:spcAft>
            </a:pPr>
            <a:r>
              <a:rPr sz="1400" b="0">
                <a:solidFill>
                  <a:srgbClr val="4A4F57"/>
                </a:solidFill>
                <a:latin typeface="Calibri"/>
              </a:rPr>
              <a:t>520 accounts over 24 months to June 2025: 12,480 rows of exposures, cut three business days after each month end, and 12,480 rows of outcomes known a year and a day later. Realised default rate 8.41%, mean loss given default 12.8%, total realised loss £18.3m — and 92.4% of rows with no loss at all.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COMPOSITE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Three members, one combiner, one warrant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An ensemble composite, registered as one model with one contract and one parameter set. The conversion factor fitted to 0.349 where the data was generated at 0.55 — a gap the study names as a suspect and does not quietly correct.</a:t>
            </a:r>
          </a:p>
        </p:txBody>
      </p:sp>
      <p:graphicFrame>
        <p:nvGraphicFramePr>
          <p:cNvPr id="12" name="Table 11"/>
          <p:cNvGraphicFramePr>
            <a:graphicFrameLocks noGrp="1"/>
          </p:cNvGraphicFramePr>
          <p:nvPr/>
        </p:nvGraphicFramePr>
        <p:xfrm>
          <a:off x="777240" y="1386967"/>
          <a:ext cx="10637213" cy="3006661"/>
        </p:xfrm>
        <a:graphic>
          <a:graphicData uri="http://schemas.openxmlformats.org/drawingml/2006/table">
            <a:tbl>
              <a:tblPr firstRow="1">
                <a:tableStyleId>{5C22544A-7EE6-4342-B048-85BDC9FD1C3A}</a:tableStyleId>
              </a:tblPr>
              <a:tblGrid>
                <a:gridCol w="1375501"/>
                <a:gridCol w="4218206"/>
                <a:gridCol w="2659303"/>
                <a:gridCol w="2384203"/>
              </a:tblGrid>
              <a:tr h="318579">
                <a:tc>
                  <a:txBody>
                    <a:bodyPr wrap="square"/>
                    <a:lstStyle/>
                    <a:p>
                      <a:r>
                        <a:rPr sz="1300" b="1">
                          <a:solidFill>
                            <a:srgbClr val="FFFFFF"/>
                          </a:solidFill>
                          <a:latin typeface="Calibri"/>
                        </a:rPr>
                        <a:t>Member</a:t>
                      </a:r>
                    </a:p>
                  </a:txBody>
                  <a:tcPr marL="82296" marR="64008" marT="32004" marB="32004" anchor="ctr">
                    <a:solidFill>
                      <a:srgbClr val="A51C30"/>
                    </a:solidFill>
                  </a:tcPr>
                </a:tc>
                <a:tc>
                  <a:txBody>
                    <a:bodyPr wrap="square"/>
                    <a:lstStyle/>
                    <a:p>
                      <a:r>
                        <a:rPr sz="1300" b="1">
                          <a:solidFill>
                            <a:srgbClr val="FFFFFF"/>
                          </a:solidFill>
                          <a:latin typeface="Calibri"/>
                        </a:rPr>
                        <a:t>Mathematics</a:t>
                      </a:r>
                    </a:p>
                  </a:txBody>
                  <a:tcPr marL="82296" marR="64008" marT="32004" marB="32004" anchor="ctr">
                    <a:solidFill>
                      <a:srgbClr val="A51C30"/>
                    </a:solidFill>
                  </a:tcPr>
                </a:tc>
                <a:tc>
                  <a:txBody>
                    <a:bodyPr wrap="square"/>
                    <a:lstStyle/>
                    <a:p>
                      <a:r>
                        <a:rPr sz="1300" b="1">
                          <a:solidFill>
                            <a:srgbClr val="FFFFFF"/>
                          </a:solidFill>
                          <a:latin typeface="Calibri"/>
                        </a:rPr>
                        <a:t>Fitted on</a:t>
                      </a:r>
                    </a:p>
                  </a:txBody>
                  <a:tcPr marL="82296" marR="64008" marT="32004" marB="32004" anchor="ctr">
                    <a:solidFill>
                      <a:srgbClr val="A51C30"/>
                    </a:solidFill>
                  </a:tcPr>
                </a:tc>
                <a:tc>
                  <a:txBody>
                    <a:bodyPr wrap="square"/>
                    <a:lstStyle/>
                    <a:p>
                      <a:r>
                        <a:rPr sz="1300" b="1">
                          <a:solidFill>
                            <a:srgbClr val="FFFFFF"/>
                          </a:solidFill>
                          <a:latin typeface="Calibri"/>
                        </a:rPr>
                        <a:t>Parameters</a:t>
                      </a:r>
                    </a:p>
                  </a:txBody>
                  <a:tcPr marL="82296" marR="64008" marT="32004" marB="32004" anchor="ctr">
                    <a:solidFill>
                      <a:srgbClr val="A51C30"/>
                    </a:solidFill>
                  </a:tcPr>
                </a:tc>
              </a:tr>
              <a:tr h="559562">
                <a:tc>
                  <a:txBody>
                    <a:bodyPr wrap="square"/>
                    <a:lstStyle/>
                    <a:p>
                      <a:r>
                        <a:rPr sz="1400" b="1">
                          <a:solidFill>
                            <a:srgbClr val="761422"/>
                          </a:solidFill>
                          <a:latin typeface="Calibri"/>
                        </a:rPr>
                        <a:t>pd_12m</a:t>
                      </a:r>
                    </a:p>
                  </a:txBody>
                  <a:tcPr marL="82296" marR="64008" marT="32004" marB="32004" anchor="ctr">
                    <a:solidFill>
                      <a:srgbClr val="FFFFFF"/>
                    </a:solidFill>
                  </a:tcPr>
                </a:tc>
                <a:tc>
                  <a:txBody>
                    <a:bodyPr wrap="square"/>
                    <a:lstStyle/>
                    <a:p>
                      <a:r>
                        <a:rPr sz="1400" b="0">
                          <a:solidFill>
                            <a:srgbClr val="1C1C1E"/>
                          </a:solidFill>
                          <a:latin typeface="Calibri"/>
                        </a:rPr>
                        <a:t>A logistic in arrears, utilisation and loan-to-value</a:t>
                      </a:r>
                    </a:p>
                  </a:txBody>
                  <a:tcPr marL="82296" marR="64008" marT="32004" marB="32004" anchor="ctr">
                    <a:solidFill>
                      <a:srgbClr val="FFFFFF"/>
                    </a:solidFill>
                  </a:tcPr>
                </a:tc>
                <a:tc>
                  <a:txBody>
                    <a:bodyPr wrap="square"/>
                    <a:lstStyle/>
                    <a:p>
                      <a:r>
                        <a:rPr sz="1400" b="0">
                          <a:solidFill>
                            <a:srgbClr val="1C1C1E"/>
                          </a:solidFill>
                          <a:latin typeface="Calibri"/>
                        </a:rPr>
                        <a:t>8,761 training rows</a:t>
                      </a:r>
                    </a:p>
                  </a:txBody>
                  <a:tcPr marL="82296" marR="64008" marT="32004" marB="32004" anchor="ctr">
                    <a:solidFill>
                      <a:srgbClr val="FFFFFF"/>
                    </a:solidFill>
                  </a:tcPr>
                </a:tc>
                <a:tc>
                  <a:txBody>
                    <a:bodyPr wrap="square"/>
                    <a:lstStyle/>
                    <a:p>
                      <a:r>
                        <a:rPr sz="1400" b="0">
                          <a:solidFill>
                            <a:srgbClr val="1C1C1E"/>
                          </a:solidFill>
                          <a:latin typeface="Calibri"/>
                        </a:rPr>
                        <a:t>Four weights</a:t>
                      </a:r>
                    </a:p>
                  </a:txBody>
                  <a:tcPr marL="82296" marR="64008" marT="32004" marB="32004" anchor="ctr">
                    <a:solidFill>
                      <a:srgbClr val="FFFFFF"/>
                    </a:solidFill>
                  </a:tcPr>
                </a:tc>
              </a:tr>
              <a:tr h="559562">
                <a:tc>
                  <a:txBody>
                    <a:bodyPr wrap="square"/>
                    <a:lstStyle/>
                    <a:p>
                      <a:r>
                        <a:rPr sz="1400" b="1">
                          <a:solidFill>
                            <a:srgbClr val="761422"/>
                          </a:solidFill>
                          <a:latin typeface="Calibri"/>
                        </a:rPr>
                        <a:t>lgd_secured</a:t>
                      </a:r>
                    </a:p>
                  </a:txBody>
                  <a:tcPr marL="82296" marR="64008" marT="32004" marB="32004" anchor="ctr">
                    <a:solidFill>
                      <a:srgbClr val="F6F3EF"/>
                    </a:solidFill>
                  </a:tcPr>
                </a:tc>
                <a:tc>
                  <a:txBody>
                    <a:bodyPr wrap="square"/>
                    <a:lstStyle/>
                    <a:p>
                      <a:r>
                        <a:rPr sz="1400" b="0">
                          <a:solidFill>
                            <a:srgbClr val="1C1C1E"/>
                          </a:solidFill>
                          <a:latin typeface="Calibri"/>
                        </a:rPr>
                        <a:t>A logistic in collateral coverage, capped at three times the drawn balance</a:t>
                      </a:r>
                    </a:p>
                  </a:txBody>
                  <a:tcPr marL="82296" marR="64008" marT="32004" marB="32004" anchor="ctr">
                    <a:solidFill>
                      <a:srgbClr val="F6F3EF"/>
                    </a:solidFill>
                  </a:tcPr>
                </a:tc>
                <a:tc>
                  <a:txBody>
                    <a:bodyPr wrap="square"/>
                    <a:lstStyle/>
                    <a:p>
                      <a:r>
                        <a:rPr sz="1400" b="0">
                          <a:solidFill>
                            <a:srgbClr val="1C1C1E"/>
                          </a:solidFill>
                          <a:latin typeface="Calibri"/>
                        </a:rPr>
                        <a:t>The 747 rows that actually defaulted</a:t>
                      </a:r>
                    </a:p>
                  </a:txBody>
                  <a:tcPr marL="82296" marR="64008" marT="32004" marB="32004" anchor="ctr">
                    <a:solidFill>
                      <a:srgbClr val="F6F3EF"/>
                    </a:solidFill>
                  </a:tcPr>
                </a:tc>
                <a:tc>
                  <a:txBody>
                    <a:bodyPr wrap="square"/>
                    <a:lstStyle/>
                    <a:p>
                      <a:r>
                        <a:rPr sz="1400" b="0">
                          <a:solidFill>
                            <a:srgbClr val="1C1C1E"/>
                          </a:solidFill>
                          <a:latin typeface="Calibri"/>
                        </a:rPr>
                        <a:t>Two weights</a:t>
                      </a:r>
                    </a:p>
                  </a:txBody>
                  <a:tcPr marL="82296" marR="64008" marT="32004" marB="32004" anchor="ctr">
                    <a:solidFill>
                      <a:srgbClr val="F6F3EF"/>
                    </a:solidFill>
                  </a:tcPr>
                </a:tc>
              </a:tr>
              <a:tr h="784479">
                <a:tc>
                  <a:txBody>
                    <a:bodyPr wrap="square"/>
                    <a:lstStyle/>
                    <a:p>
                      <a:r>
                        <a:rPr sz="1400" b="1">
                          <a:solidFill>
                            <a:srgbClr val="761422"/>
                          </a:solidFill>
                          <a:latin typeface="Calibri"/>
                        </a:rPr>
                        <a:t>ead_ccf</a:t>
                      </a:r>
                    </a:p>
                  </a:txBody>
                  <a:tcPr marL="82296" marR="64008" marT="32004" marB="32004" anchor="ctr">
                    <a:solidFill>
                      <a:srgbClr val="FFFFFF"/>
                    </a:solidFill>
                  </a:tcPr>
                </a:tc>
                <a:tc>
                  <a:txBody>
                    <a:bodyPr wrap="square"/>
                    <a:lstStyle/>
                    <a:p>
                      <a:r>
                        <a:rPr sz="1400" b="0">
                          <a:solidFill>
                            <a:srgbClr val="1C1C1E"/>
                          </a:solidFill>
                          <a:latin typeface="Calibri"/>
                        </a:rPr>
                        <a:t>Drawn balance plus a conversion factor times the undrawn commitment</a:t>
                      </a:r>
                    </a:p>
                  </a:txBody>
                  <a:tcPr marL="82296" marR="64008" marT="32004" marB="32004" anchor="ctr">
                    <a:solidFill>
                      <a:srgbClr val="FFFFFF"/>
                    </a:solidFill>
                  </a:tcPr>
                </a:tc>
                <a:tc>
                  <a:txBody>
                    <a:bodyPr wrap="square"/>
                    <a:lstStyle/>
                    <a:p>
                      <a:r>
                        <a:rPr sz="1400" b="0">
                          <a:solidFill>
                            <a:srgbClr val="1C1C1E"/>
                          </a:solidFill>
                          <a:latin typeface="Calibri"/>
                        </a:rPr>
                        <a:t>The same 747 rows, by least squares through the origin</a:t>
                      </a:r>
                    </a:p>
                  </a:txBody>
                  <a:tcPr marL="82296" marR="64008" marT="32004" marB="32004" anchor="ctr">
                    <a:solidFill>
                      <a:srgbClr val="FFFFFF"/>
                    </a:solidFill>
                  </a:tcPr>
                </a:tc>
                <a:tc>
                  <a:txBody>
                    <a:bodyPr wrap="square"/>
                    <a:lstStyle/>
                    <a:p>
                      <a:r>
                        <a:rPr sz="1400" b="0">
                          <a:solidFill>
                            <a:srgbClr val="1C1C1E"/>
                          </a:solidFill>
                          <a:latin typeface="Calibri"/>
                        </a:rPr>
                        <a:t>One factor</a:t>
                      </a:r>
                    </a:p>
                  </a:txBody>
                  <a:tcPr marL="82296" marR="64008" marT="32004" marB="32004" anchor="ctr">
                    <a:solidFill>
                      <a:srgbClr val="FFFFFF"/>
                    </a:solidFill>
                  </a:tcPr>
                </a:tc>
              </a:tr>
              <a:tr h="784479">
                <a:tc>
                  <a:txBody>
                    <a:bodyPr wrap="square"/>
                    <a:lstStyle/>
                    <a:p>
                      <a:r>
                        <a:rPr sz="1400" b="1">
                          <a:solidFill>
                            <a:srgbClr val="761422"/>
                          </a:solidFill>
                          <a:latin typeface="Calibri"/>
                        </a:rPr>
                        <a:t>combine</a:t>
                      </a:r>
                    </a:p>
                  </a:txBody>
                  <a:tcPr marL="82296" marR="64008" marT="32004" marB="32004" anchor="ctr">
                    <a:solidFill>
                      <a:srgbClr val="F6F3EF"/>
                    </a:solidFill>
                  </a:tcPr>
                </a:tc>
                <a:tc>
                  <a:txBody>
                    <a:bodyPr wrap="square"/>
                    <a:lstStyle/>
                    <a:p>
                      <a:r>
                        <a:rPr sz="1400" b="0">
                          <a:solidFill>
                            <a:srgbClr val="1C1C1E"/>
                          </a:solidFill>
                          <a:latin typeface="Calibri"/>
                        </a:rPr>
                        <a:t>The stage test and the lifetime lift: the product of the three, multiplied by φ when the ratio exceeds θ</a:t>
                      </a:r>
                    </a:p>
                  </a:txBody>
                  <a:tcPr marL="82296" marR="64008" marT="32004" marB="32004" anchor="ctr">
                    <a:solidFill>
                      <a:srgbClr val="F6F3EF"/>
                    </a:solidFill>
                  </a:tcPr>
                </a:tc>
                <a:tc>
                  <a:txBody>
                    <a:bodyPr wrap="square"/>
                    <a:lstStyle/>
                    <a:p>
                      <a:r>
                        <a:rPr sz="1400" b="0">
                          <a:solidFill>
                            <a:srgbClr val="1C1C1E"/>
                          </a:solidFill>
                          <a:latin typeface="Calibri"/>
                        </a:rPr>
                        <a:t>Not fitted — decided</a:t>
                      </a:r>
                    </a:p>
                  </a:txBody>
                  <a:tcPr marL="82296" marR="64008" marT="32004" marB="32004" anchor="ctr">
                    <a:solidFill>
                      <a:srgbClr val="F6F3EF"/>
                    </a:solidFill>
                  </a:tcPr>
                </a:tc>
                <a:tc>
                  <a:txBody>
                    <a:bodyPr wrap="square"/>
                    <a:lstStyle/>
                    <a:p>
                      <a:r>
                        <a:rPr sz="1400" b="0">
                          <a:solidFill>
                            <a:srgbClr val="1C1C1E"/>
                          </a:solidFill>
                          <a:latin typeface="Calibri"/>
                        </a:rPr>
                        <a:t>sicrThreshold, lifetimeFactor</a:t>
                      </a:r>
                    </a:p>
                  </a:txBody>
                  <a:tcPr marL="82296" marR="64008" marT="32004" marB="32004" anchor="ctr">
                    <a:solidFill>
                      <a:srgbClr val="F6F3E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FIRST FINDING</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C1C1E"/>
                </a:solidFill>
                <a:latin typeface="Georgia"/>
              </a:rPr>
              <a:t>A contract that could not see the combiner's own parameters</a:t>
            </a:r>
          </a:p>
        </p:txBody>
      </p:sp>
      <p:sp>
        <p:nvSpPr>
          <p:cNvPr id="6" name="Rectangle 5"/>
          <p:cNvSpPr/>
          <p:nvPr/>
        </p:nvSpPr>
        <p:spPr>
          <a:xfrm>
            <a:off x="777240" y="1226820"/>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28</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case_studies/06-ifrs9-expected-credit-loss/README.md §4 and setup_composite.py; README, “Case studies”. A worked model is a test somebody has to live inside, which is why the defects it finds are the ones a unit test does not.</a:t>
            </a:r>
          </a:p>
        </p:txBody>
      </p:sp>
      <p:sp>
        <p:nvSpPr>
          <p:cNvPr id="12" name="TextBox 11"/>
          <p:cNvSpPr txBox="1"/>
          <p:nvPr/>
        </p:nvSpPr>
        <p:spPr>
          <a:xfrm>
            <a:off x="777240" y="1354836"/>
            <a:ext cx="10637215" cy="4323588"/>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What MAYA did wrong</a:t>
            </a:r>
          </a:p>
          <a:p>
            <a:pPr lvl="1">
              <a:lnSpc>
                <a:spcPct val="120000"/>
              </a:lnSpc>
              <a:spcBef>
                <a:spcPts val="0"/>
              </a:spcBef>
              <a:spcAft>
                <a:spcPts val="0"/>
              </a:spcAft>
            </a:pPr>
            <a:r>
              <a:rPr sz="1550" b="0">
                <a:solidFill>
                  <a:srgbClr val="4A4F57"/>
                </a:solidFill>
                <a:latin typeface="Calibri"/>
              </a:rPr>
              <a:t>The input contract for a composite was the union of its members' contracts. The combiner's own parameters — the threshold and the lifetime multiple — belonged to no member, so they were declared nowhere and a warrant could seal without them.</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What that would have cost</a:t>
            </a:r>
          </a:p>
          <a:p>
            <a:pPr lvl="1">
              <a:lnSpc>
                <a:spcPct val="120000"/>
              </a:lnSpc>
              <a:spcBef>
                <a:spcPts val="0"/>
              </a:spcBef>
              <a:spcAft>
                <a:spcPts val="0"/>
              </a:spcAft>
            </a:pPr>
            <a:r>
              <a:rPr sz="1550" b="0">
                <a:solidFill>
                  <a:srgbClr val="4A4F57"/>
                </a:solidFill>
                <a:latin typeface="Calibri"/>
              </a:rPr>
              <a:t>A sealed warrant for a model whose two most contested numbers were not part of the thing being approved: precisely the failure the platform exists to prevent.</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What was changed</a:t>
            </a:r>
          </a:p>
          <a:p>
            <a:pPr lvl="1">
              <a:lnSpc>
                <a:spcPct val="120000"/>
              </a:lnSpc>
              <a:spcBef>
                <a:spcPts val="0"/>
              </a:spcBef>
              <a:spcAft>
                <a:spcPts val="0"/>
              </a:spcAft>
            </a:pPr>
            <a:r>
              <a:rPr sz="1550" b="0">
                <a:solidFill>
                  <a:srgbClr val="4A4F57"/>
                </a:solidFill>
                <a:latin typeface="Calibri"/>
              </a:rPr>
              <a:t>A composite's contract is now the union of its members' contracts and the combiner's own inputs, and the seal refuses while any of them is unfitted.</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Why it is on this slide</a:t>
            </a:r>
          </a:p>
          <a:p>
            <a:pPr lvl="1">
              <a:lnSpc>
                <a:spcPct val="120000"/>
              </a:lnSpc>
              <a:spcBef>
                <a:spcPts val="0"/>
              </a:spcBef>
              <a:spcAft>
                <a:spcPts val="0"/>
              </a:spcAft>
            </a:pPr>
            <a:r>
              <a:rPr sz="1550" b="0">
                <a:solidFill>
                  <a:srgbClr val="4A4F57"/>
                </a:solidFill>
                <a:latin typeface="Calibri"/>
              </a:rPr>
              <a:t>Writing the studies has been the most productive source of platform defects so far — twelve, each fixed with a test that would fail without the fix, and each named in the study that found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THREE REFUSALS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Where MAYA said no, and why each no was right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29</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case_studies/06-ifrs9-expected-credit-loss/README.md §5, quoting the errors from a recorded run. The third refusal is the important one: the platform does not forbid a judgement, it forbids an unmarked one.</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Sealing with three members fitted and the combiner empty</a:t>
            </a:r>
          </a:p>
          <a:p>
            <a:pPr lvl="1">
              <a:lnSpc>
                <a:spcPct val="120000"/>
              </a:lnSpc>
              <a:spcBef>
                <a:spcPts val="0"/>
              </a:spcBef>
              <a:spcAft>
                <a:spcPts val="0"/>
              </a:spcAft>
            </a:pPr>
            <a:r>
              <a:rPr sz="1550" b="0">
                <a:solidFill>
                  <a:srgbClr val="4A4F57"/>
                </a:solidFill>
                <a:latin typeface="Calibri"/>
              </a:rPr>
              <a:t>“A trainable model's warrant seals only with an approved parameter set; still to fit: the combiner's own parameters.” The threshold and the multiple are inputs to the number, so the warrant does not seal without them.</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Registering half the committee's decision</a:t>
            </a:r>
          </a:p>
          <a:p>
            <a:pPr lvl="1">
              <a:lnSpc>
                <a:spcPct val="120000"/>
              </a:lnSpc>
              <a:spcBef>
                <a:spcPts val="0"/>
              </a:spcBef>
              <a:spcAft>
                <a:spcPts val="0"/>
              </a:spcAft>
            </a:pPr>
            <a:r>
              <a:rPr sz="1550" b="0">
                <a:solidFill>
                  <a:srgbClr val="4A4F57"/>
                </a:solidFill>
                <a:latin typeface="Calibri"/>
              </a:rPr>
              <a:t>“Parameters out of bounds: missing parameter 'lifetimeFactor'.” A parameter set is a set: a partial upload is not a smaller decision, it is an incomplete one.</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Approving a judgement as though it were a fit</a:t>
            </a:r>
          </a:p>
          <a:p>
            <a:pPr lvl="1">
              <a:lnSpc>
                <a:spcPct val="120000"/>
              </a:lnSpc>
              <a:spcBef>
                <a:spcPts val="0"/>
              </a:spcBef>
              <a:spcAft>
                <a:spcPts val="0"/>
              </a:spcAft>
            </a:pPr>
            <a:r>
              <a:rPr sz="1550" b="0">
                <a:solidFill>
                  <a:srgbClr val="4A4F57"/>
                </a:solidFill>
                <a:latin typeface="Calibri"/>
              </a:rPr>
              <a:t>“Blocked by check(s): data_verified_or_justified — unverified_data: the checksum does not match any download MAYA issued; approve only with an explicit justification.” The committee's numbers were not fitted on anything, so no checksum could match — and the approval went through only with a written justification naming the minuted date.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JUDGEMENT</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A committee decision, stored as an approved parameter set</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30</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 (fit_parameters.py, study.py). The workflow primitive is an approval requirement of a role and a count, with the strictness set by the namespace's separation-of-duties preset.</a:t>
            </a:r>
          </a:p>
        </p:txBody>
      </p:sp>
      <p:sp>
        <p:nvSpPr>
          <p:cNvPr id="12" name="Rectangle 11"/>
          <p:cNvSpPr/>
          <p:nvPr/>
        </p:nvSpPr>
        <p:spPr>
          <a:xfrm>
            <a:off x="777240"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was approved</a:t>
            </a:r>
          </a:p>
        </p:txBody>
      </p:sp>
      <p:sp>
        <p:nvSpPr>
          <p:cNvPr id="15" name="TextBox 14"/>
          <p:cNvSpPr txBox="1"/>
          <p:nvPr/>
        </p:nvSpPr>
        <p:spPr>
          <a:xfrm>
            <a:off x="777240" y="1882965"/>
            <a:ext cx="5135727" cy="379545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sicrThreshold 3.0</a:t>
            </a:r>
          </a:p>
          <a:p>
            <a:pPr lvl="1">
              <a:lnSpc>
                <a:spcPct val="120000"/>
              </a:lnSpc>
              <a:spcBef>
                <a:spcPts val="0"/>
              </a:spcBef>
              <a:spcAft>
                <a:spcPts val="0"/>
              </a:spcAft>
            </a:pPr>
            <a:r>
              <a:rPr sz="1350" b="0">
                <a:solidFill>
                  <a:srgbClr val="4A4F57"/>
                </a:solidFill>
                <a:latin typeface="Calibri"/>
              </a:rPr>
              <a:t>A twelve-month probability of default three times its value at origination is the committee's threshold for a significant increase in credit risk.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lifetimeFactor 2.8</a:t>
            </a:r>
          </a:p>
          <a:p>
            <a:pPr lvl="1">
              <a:lnSpc>
                <a:spcPct val="120000"/>
              </a:lnSpc>
              <a:spcBef>
                <a:spcPts val="0"/>
              </a:spcBef>
              <a:spcAft>
                <a:spcPts val="0"/>
              </a:spcAft>
            </a:pPr>
            <a:r>
              <a:rPr sz="1350" b="0">
                <a:solidFill>
                  <a:srgbClr val="4A4F57"/>
                </a:solidFill>
                <a:latin typeface="Calibri"/>
              </a:rPr>
              <a:t>The ratio of lifetime to twelve-month expected loss on this book's average remaining life, from the December 2025 lifetime study.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With the reason attached</a:t>
            </a:r>
          </a:p>
          <a:p>
            <a:pPr lvl="1">
              <a:lnSpc>
                <a:spcPct val="120000"/>
              </a:lnSpc>
              <a:spcBef>
                <a:spcPts val="0"/>
              </a:spcBef>
              <a:spcAft>
                <a:spcPts val="0"/>
              </a:spcAft>
            </a:pPr>
            <a:r>
              <a:rPr sz="1350" b="0">
                <a:solidFill>
                  <a:srgbClr val="4A4F57"/>
                </a:solidFill>
                <a:latin typeface="Calibri"/>
              </a:rPr>
              <a:t>The rationale is part of the parameter set, not an email about it, and the approval carries the justification for its unverified data.</a:t>
            </a:r>
          </a:p>
        </p:txBody>
      </p:sp>
      <p:sp>
        <p:nvSpPr>
          <p:cNvPr id="16" name="Rectangle 15"/>
          <p:cNvSpPr/>
          <p:nvPr/>
        </p:nvSpPr>
        <p:spPr>
          <a:xfrm>
            <a:off x="6278727"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And when it changed</a:t>
            </a:r>
          </a:p>
        </p:txBody>
      </p:sp>
      <p:sp>
        <p:nvSpPr>
          <p:cNvPr id="19" name="TextBox 18"/>
          <p:cNvSpPr txBox="1"/>
          <p:nvPr/>
        </p:nvSpPr>
        <p:spPr>
          <a:xfrm>
            <a:off x="6278727" y="1882965"/>
            <a:ext cx="5135727" cy="379545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 second set, superseding the first</a:t>
            </a:r>
          </a:p>
          <a:p>
            <a:pPr lvl="1">
              <a:lnSpc>
                <a:spcPct val="120000"/>
              </a:lnSpc>
              <a:spcBef>
                <a:spcPts val="0"/>
              </a:spcBef>
              <a:spcAft>
                <a:spcPts val="0"/>
              </a:spcAft>
            </a:pPr>
            <a:r>
              <a:rPr sz="1350" b="0">
                <a:solidFill>
                  <a:srgbClr val="4A4F57"/>
                </a:solidFill>
                <a:latin typeface="Calibri"/>
              </a:rPr>
              <a:t>The evidence two slides on moved the threshold to 12.0. That is a new approved parameter set, and the warrant names which one produced the reported figure.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first is retained, not deleted</a:t>
            </a:r>
          </a:p>
          <a:p>
            <a:pPr lvl="1">
              <a:lnSpc>
                <a:spcPct val="120000"/>
              </a:lnSpc>
              <a:spcBef>
                <a:spcPts val="0"/>
              </a:spcBef>
              <a:spcAft>
                <a:spcPts val="0"/>
              </a:spcAft>
            </a:pPr>
            <a:r>
              <a:rPr sz="1350" b="0">
                <a:solidFill>
                  <a:srgbClr val="4A4F57"/>
                </a:solidFill>
                <a:latin typeface="Calibri"/>
              </a:rPr>
              <a:t>A governance record that deleted the judgement it replaced would be less useful than no record at all.</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MAYA has no “committee” object</a:t>
            </a:r>
          </a:p>
          <a:p>
            <a:pPr lvl="1">
              <a:lnSpc>
                <a:spcPct val="120000"/>
              </a:lnSpc>
              <a:spcBef>
                <a:spcPts val="0"/>
              </a:spcBef>
              <a:spcAft>
                <a:spcPts val="0"/>
              </a:spcAft>
            </a:pPr>
            <a:r>
              <a:rPr sz="1350" b="0">
                <a:solidFill>
                  <a:srgbClr val="4A4F57"/>
                </a:solidFill>
                <a:latin typeface="Calibri"/>
              </a:rPr>
              <a:t>It has approvals by role and count, and a parameter set that carries its reason. The committee is a fact about the firm; the record is a fact about the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SCORE THAT FLATTERS</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Blind scoring says the model is worse than no allowance at all</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31</a:t>
            </a:r>
          </a:p>
        </p:txBody>
      </p:sp>
      <p:sp>
        <p:nvSpPr>
          <p:cNvPr id="10" name="Rectangle 9"/>
          <p:cNvSpPr/>
          <p:nvPr/>
        </p:nvSpPr>
        <p:spPr>
          <a:xfrm>
            <a:off x="777240"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1,860</a:t>
            </a:r>
          </a:p>
        </p:txBody>
      </p:sp>
      <p:sp>
        <p:nvSpPr>
          <p:cNvPr id="13" name="TextBox 12"/>
          <p:cNvSpPr txBox="1"/>
          <p:nvPr/>
        </p:nvSpPr>
        <p:spPr>
          <a:xfrm>
            <a:off x="978408"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rows escrowed: hashed at the warrant, never downloaded</a:t>
            </a:r>
          </a:p>
        </p:txBody>
      </p:sp>
      <p:sp>
        <p:nvSpPr>
          <p:cNvPr id="14" name="Rectangle 13"/>
          <p:cNvSpPr/>
          <p:nvPr/>
        </p:nvSpPr>
        <p:spPr>
          <a:xfrm>
            <a:off x="3486835"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£9,499</a:t>
            </a:r>
          </a:p>
        </p:txBody>
      </p:sp>
      <p:sp>
        <p:nvSpPr>
          <p:cNvPr id="17" name="TextBox 16"/>
          <p:cNvSpPr txBox="1"/>
          <p:nvPr/>
        </p:nvSpPr>
        <p:spPr>
          <a:xfrm>
            <a:off x="3688003"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the model's per-account RMSE, MAE £4,108</a:t>
            </a:r>
          </a:p>
        </p:txBody>
      </p:sp>
      <p:sp>
        <p:nvSpPr>
          <p:cNvPr id="18" name="Rectangle 17"/>
          <p:cNvSpPr/>
          <p:nvPr/>
        </p:nvSpPr>
        <p:spPr>
          <a:xfrm>
            <a:off x="6196431"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£6,879</a:t>
            </a:r>
          </a:p>
        </p:txBody>
      </p:sp>
      <p:sp>
        <p:nvSpPr>
          <p:cNvPr id="21" name="TextBox 20"/>
          <p:cNvSpPr txBox="1"/>
          <p:nvPr/>
        </p:nvSpPr>
        <p:spPr>
          <a:xfrm>
            <a:off x="6397599"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RMSE of predicting no allowance at all</a:t>
            </a:r>
          </a:p>
        </p:txBody>
      </p:sp>
      <p:sp>
        <p:nvSpPr>
          <p:cNvPr id="22" name="Rectangle 21"/>
          <p:cNvSpPr/>
          <p:nvPr/>
        </p:nvSpPr>
        <p:spPr>
          <a:xfrm>
            <a:off x="8906027"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92.4%</a:t>
            </a:r>
          </a:p>
        </p:txBody>
      </p:sp>
      <p:sp>
        <p:nvSpPr>
          <p:cNvPr id="25" name="TextBox 24"/>
          <p:cNvSpPr txBox="1"/>
          <p:nvPr/>
        </p:nvSpPr>
        <p:spPr>
          <a:xfrm>
            <a:off x="9107195"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of accounts realise no loss whatever</a:t>
            </a:r>
          </a:p>
        </p:txBody>
      </p:sp>
      <p:sp>
        <p:nvSpPr>
          <p:cNvPr id="26" name="Rectangle 25"/>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case_studies/06-ifrs9-expected-credit-loss/README.md §6, from a recorded run. The study publishes the unflattering number and then explains why it is the wrong question, rather than choosing a metric that flatters.</a:t>
            </a:r>
          </a:p>
        </p:txBody>
      </p:sp>
      <p:sp>
        <p:nvSpPr>
          <p:cNvPr id="28" name="TextBox 27"/>
          <p:cNvSpPr txBox="1"/>
          <p:nvPr/>
        </p:nvSpPr>
        <p:spPr>
          <a:xfrm>
            <a:off x="777240" y="2692082"/>
            <a:ext cx="10637215" cy="2986341"/>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The model is worse by that measure, and it should be. When nine accounts in ten lose nothing, a per-account error rewards predicting zero, and a model that predicts a small positive allowance everywhere is punished for it.</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A per-account error cannot distinguish a well-levelled allowance from a badly levelled one, which is the only question an impairment allowance is asked.</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This is what blind scoring is for: the developer never received these rows, MAYA scored them and returned metrics only, and each of the three attempts is numbered on the warrant.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TEST THAT DOES NOT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At portfolio level the allowance is 2.67 times the loss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32</a:t>
            </a:r>
          </a:p>
        </p:txBody>
      </p:sp>
      <p:sp>
        <p:nvSpPr>
          <p:cNvPr id="10" name="Rectangle 9"/>
          <p:cNvSpPr/>
          <p:nvPr/>
        </p:nvSpPr>
        <p:spPr>
          <a:xfrm>
            <a:off x="777240"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£42.4m</a:t>
            </a:r>
          </a:p>
        </p:txBody>
      </p:sp>
      <p:sp>
        <p:nvSpPr>
          <p:cNvPr id="13" name="TextBox 12"/>
          <p:cNvSpPr txBox="1"/>
          <p:nvPr/>
        </p:nvSpPr>
        <p:spPr>
          <a:xfrm>
            <a:off x="978408"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allowance the model implies over 10,620 rows</a:t>
            </a:r>
          </a:p>
        </p:txBody>
      </p:sp>
      <p:sp>
        <p:nvSpPr>
          <p:cNvPr id="14" name="Rectangle 13"/>
          <p:cNvSpPr/>
          <p:nvPr/>
        </p:nvSpPr>
        <p:spPr>
          <a:xfrm>
            <a:off x="3486835"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£15.9m</a:t>
            </a:r>
          </a:p>
        </p:txBody>
      </p:sp>
      <p:sp>
        <p:nvSpPr>
          <p:cNvPr id="17" name="TextBox 16"/>
          <p:cNvSpPr txBox="1"/>
          <p:nvPr/>
        </p:nvSpPr>
        <p:spPr>
          <a:xfrm>
            <a:off x="3688003"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loss actually realised on the same accounts</a:t>
            </a:r>
          </a:p>
        </p:txBody>
      </p:sp>
      <p:sp>
        <p:nvSpPr>
          <p:cNvPr id="18" name="Rectangle 17"/>
          <p:cNvSpPr/>
          <p:nvPr/>
        </p:nvSpPr>
        <p:spPr>
          <a:xfrm>
            <a:off x="6196431"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2.67×</a:t>
            </a:r>
          </a:p>
        </p:txBody>
      </p:sp>
      <p:sp>
        <p:nvSpPr>
          <p:cNvPr id="21" name="TextBox 20"/>
          <p:cNvSpPr txBox="1"/>
          <p:nvPr/>
        </p:nvSpPr>
        <p:spPr>
          <a:xfrm>
            <a:off x="6397599"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coverage at the committee's threshold of 3.0</a:t>
            </a:r>
          </a:p>
        </p:txBody>
      </p:sp>
      <p:sp>
        <p:nvSpPr>
          <p:cNvPr id="22" name="Rectangle 21"/>
          <p:cNvSpPr/>
          <p:nvPr/>
        </p:nvSpPr>
        <p:spPr>
          <a:xfrm>
            <a:off x="8906027"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82.8%</a:t>
            </a:r>
          </a:p>
        </p:txBody>
      </p:sp>
      <p:sp>
        <p:nvSpPr>
          <p:cNvPr id="25" name="TextBox 24"/>
          <p:cNvSpPr txBox="1"/>
          <p:nvPr/>
        </p:nvSpPr>
        <p:spPr>
          <a:xfrm>
            <a:off x="9107195"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A4F57"/>
                </a:solidFill>
                <a:latin typeface="Calibri"/>
              </a:rPr>
              <a:t>of accounts in stage 2, carrying 99.5% of the allowance</a:t>
            </a:r>
          </a:p>
        </p:txBody>
      </p:sp>
      <p:sp>
        <p:nvSpPr>
          <p:cNvPr id="26" name="Rectangle 25"/>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case_studies/06-ifrs9-expected-credit-loss/check_portfolio.py, from a recorded run. The threshold was moved to 12.0 — a defensible view of credit risk — and not to 40.0, which minimises the gap: choosing 40.0 would be fitting a judgement to an outcome, and the threshold exists to express a view rather than to calibrate a number.</a:t>
            </a:r>
          </a:p>
        </p:txBody>
      </p:sp>
      <p:graphicFrame>
        <p:nvGraphicFramePr>
          <p:cNvPr id="28" name="Table 27"/>
          <p:cNvGraphicFramePr>
            <a:graphicFrameLocks noGrp="1"/>
          </p:cNvGraphicFramePr>
          <p:nvPr/>
        </p:nvGraphicFramePr>
        <p:xfrm>
          <a:off x="777240" y="2740279"/>
          <a:ext cx="10637213" cy="2722626"/>
        </p:xfrm>
        <a:graphic>
          <a:graphicData uri="http://schemas.openxmlformats.org/drawingml/2006/table">
            <a:tbl>
              <a:tblPr firstRow="1">
                <a:tableStyleId>{5C22544A-7EE6-4342-B048-85BDC9FD1C3A}</a:tableStyleId>
              </a:tblPr>
              <a:tblGrid>
                <a:gridCol w="3759705"/>
                <a:gridCol w="3392904"/>
                <a:gridCol w="3484604"/>
              </a:tblGrid>
              <a:tr h="302514">
                <a:tc>
                  <a:txBody>
                    <a:bodyPr wrap="square"/>
                    <a:lstStyle/>
                    <a:p>
                      <a:r>
                        <a:rPr sz="1200" b="1">
                          <a:solidFill>
                            <a:srgbClr val="FFFFFF"/>
                          </a:solidFill>
                          <a:latin typeface="Calibri"/>
                        </a:rPr>
                        <a:t>Threshold θ</a:t>
                      </a:r>
                    </a:p>
                  </a:txBody>
                  <a:tcPr marL="82296" marR="64008" marT="32004" marB="32004" anchor="ctr">
                    <a:solidFill>
                      <a:srgbClr val="A51C30"/>
                    </a:solidFill>
                  </a:tcPr>
                </a:tc>
                <a:tc>
                  <a:txBody>
                    <a:bodyPr wrap="square"/>
                    <a:lstStyle/>
                    <a:p>
                      <a:r>
                        <a:rPr sz="1200" b="1">
                          <a:solidFill>
                            <a:srgbClr val="FFFFFF"/>
                          </a:solidFill>
                          <a:latin typeface="Calibri"/>
                        </a:rPr>
                        <a:t>Accounts in stage 2</a:t>
                      </a:r>
                    </a:p>
                  </a:txBody>
                  <a:tcPr marL="82296" marR="64008" marT="32004" marB="32004" anchor="ctr">
                    <a:solidFill>
                      <a:srgbClr val="A51C30"/>
                    </a:solidFill>
                  </a:tcPr>
                </a:tc>
                <a:tc>
                  <a:txBody>
                    <a:bodyPr wrap="square"/>
                    <a:lstStyle/>
                    <a:p>
                      <a:r>
                        <a:rPr sz="1200" b="1">
                          <a:solidFill>
                            <a:srgbClr val="FFFFFF"/>
                          </a:solidFill>
                          <a:latin typeface="Calibri"/>
                        </a:rPr>
                        <a:t>Coverage of realised loss</a:t>
                      </a:r>
                    </a:p>
                  </a:txBody>
                  <a:tcPr marL="82296" marR="64008" marT="32004" marB="32004" anchor="ctr">
                    <a:solidFill>
                      <a:srgbClr val="A51C30"/>
                    </a:solidFill>
                  </a:tcPr>
                </a:tc>
              </a:tr>
              <a:tr h="302514">
                <a:tc>
                  <a:txBody>
                    <a:bodyPr wrap="square"/>
                    <a:lstStyle/>
                    <a:p>
                      <a:r>
                        <a:rPr sz="1200" b="1">
                          <a:solidFill>
                            <a:srgbClr val="761422"/>
                          </a:solidFill>
                          <a:latin typeface="Calibri"/>
                        </a:rPr>
                        <a:t>1.5</a:t>
                      </a:r>
                    </a:p>
                  </a:txBody>
                  <a:tcPr marL="82296" marR="64008" marT="32004" marB="32004" anchor="ctr">
                    <a:solidFill>
                      <a:srgbClr val="FFFFFF"/>
                    </a:solidFill>
                  </a:tcPr>
                </a:tc>
                <a:tc>
                  <a:txBody>
                    <a:bodyPr wrap="square"/>
                    <a:lstStyle/>
                    <a:p>
                      <a:r>
                        <a:rPr sz="1200" b="0">
                          <a:solidFill>
                            <a:srgbClr val="1C1C1E"/>
                          </a:solidFill>
                          <a:latin typeface="Calibri"/>
                        </a:rPr>
                        <a:t>98.2%</a:t>
                      </a:r>
                    </a:p>
                  </a:txBody>
                  <a:tcPr marL="82296" marR="64008" marT="32004" marB="32004" anchor="ctr">
                    <a:solidFill>
                      <a:srgbClr val="FFFFFF"/>
                    </a:solidFill>
                  </a:tcPr>
                </a:tc>
                <a:tc>
                  <a:txBody>
                    <a:bodyPr wrap="square"/>
                    <a:lstStyle/>
                    <a:p>
                      <a:r>
                        <a:rPr sz="1200" b="0">
                          <a:solidFill>
                            <a:srgbClr val="1C1C1E"/>
                          </a:solidFill>
                          <a:latin typeface="Calibri"/>
                        </a:rPr>
                        <a:t>2.69×</a:t>
                      </a:r>
                    </a:p>
                  </a:txBody>
                  <a:tcPr marL="82296" marR="64008" marT="32004" marB="32004" anchor="ctr">
                    <a:solidFill>
                      <a:srgbClr val="FFFFFF"/>
                    </a:solidFill>
                  </a:tcPr>
                </a:tc>
              </a:tr>
              <a:tr h="302514">
                <a:tc>
                  <a:txBody>
                    <a:bodyPr wrap="square"/>
                    <a:lstStyle/>
                    <a:p>
                      <a:r>
                        <a:rPr sz="1200" b="1">
                          <a:solidFill>
                            <a:srgbClr val="761422"/>
                          </a:solidFill>
                          <a:latin typeface="Calibri"/>
                        </a:rPr>
                        <a:t>2.0</a:t>
                      </a:r>
                    </a:p>
                  </a:txBody>
                  <a:tcPr marL="82296" marR="64008" marT="32004" marB="32004" anchor="ctr">
                    <a:solidFill>
                      <a:srgbClr val="F6F3EF"/>
                    </a:solidFill>
                  </a:tcPr>
                </a:tc>
                <a:tc>
                  <a:txBody>
                    <a:bodyPr wrap="square"/>
                    <a:lstStyle/>
                    <a:p>
                      <a:r>
                        <a:rPr sz="1200" b="0">
                          <a:solidFill>
                            <a:srgbClr val="1C1C1E"/>
                          </a:solidFill>
                          <a:latin typeface="Calibri"/>
                        </a:rPr>
                        <a:t>95.2%</a:t>
                      </a:r>
                    </a:p>
                  </a:txBody>
                  <a:tcPr marL="82296" marR="64008" marT="32004" marB="32004" anchor="ctr">
                    <a:solidFill>
                      <a:srgbClr val="F6F3EF"/>
                    </a:solidFill>
                  </a:tcPr>
                </a:tc>
                <a:tc>
                  <a:txBody>
                    <a:bodyPr wrap="square"/>
                    <a:lstStyle/>
                    <a:p>
                      <a:r>
                        <a:rPr sz="1200" b="0">
                          <a:solidFill>
                            <a:srgbClr val="1C1C1E"/>
                          </a:solidFill>
                          <a:latin typeface="Calibri"/>
                        </a:rPr>
                        <a:t>2.69×</a:t>
                      </a:r>
                    </a:p>
                  </a:txBody>
                  <a:tcPr marL="82296" marR="64008" marT="32004" marB="32004" anchor="ctr">
                    <a:solidFill>
                      <a:srgbClr val="F6F3EF"/>
                    </a:solidFill>
                  </a:tcPr>
                </a:tc>
              </a:tr>
              <a:tr h="302514">
                <a:tc>
                  <a:txBody>
                    <a:bodyPr wrap="square"/>
                    <a:lstStyle/>
                    <a:p>
                      <a:r>
                        <a:rPr sz="1200" b="1">
                          <a:solidFill>
                            <a:srgbClr val="761422"/>
                          </a:solidFill>
                          <a:latin typeface="Calibri"/>
                        </a:rPr>
                        <a:t>3.0  — the committee's</a:t>
                      </a:r>
                    </a:p>
                  </a:txBody>
                  <a:tcPr marL="82296" marR="64008" marT="32004" marB="32004" anchor="ctr">
                    <a:solidFill>
                      <a:srgbClr val="FFFFFF"/>
                    </a:solidFill>
                  </a:tcPr>
                </a:tc>
                <a:tc>
                  <a:txBody>
                    <a:bodyPr wrap="square"/>
                    <a:lstStyle/>
                    <a:p>
                      <a:r>
                        <a:rPr sz="1200" b="0">
                          <a:solidFill>
                            <a:srgbClr val="1C1C1E"/>
                          </a:solidFill>
                          <a:latin typeface="Calibri"/>
                        </a:rPr>
                        <a:t>82.8%</a:t>
                      </a:r>
                    </a:p>
                  </a:txBody>
                  <a:tcPr marL="82296" marR="64008" marT="32004" marB="32004" anchor="ctr">
                    <a:solidFill>
                      <a:srgbClr val="FFFFFF"/>
                    </a:solidFill>
                  </a:tcPr>
                </a:tc>
                <a:tc>
                  <a:txBody>
                    <a:bodyPr wrap="square"/>
                    <a:lstStyle/>
                    <a:p>
                      <a:r>
                        <a:rPr sz="1200" b="0">
                          <a:solidFill>
                            <a:srgbClr val="1C1C1E"/>
                          </a:solidFill>
                          <a:latin typeface="Calibri"/>
                        </a:rPr>
                        <a:t>2.67×</a:t>
                      </a:r>
                    </a:p>
                  </a:txBody>
                  <a:tcPr marL="82296" marR="64008" marT="32004" marB="32004" anchor="ctr">
                    <a:solidFill>
                      <a:srgbClr val="FFFFFF"/>
                    </a:solidFill>
                  </a:tcPr>
                </a:tc>
              </a:tr>
              <a:tr h="302514">
                <a:tc>
                  <a:txBody>
                    <a:bodyPr wrap="square"/>
                    <a:lstStyle/>
                    <a:p>
                      <a:r>
                        <a:rPr sz="1200" b="1">
                          <a:solidFill>
                            <a:srgbClr val="761422"/>
                          </a:solidFill>
                          <a:latin typeface="Calibri"/>
                        </a:rPr>
                        <a:t>5.0</a:t>
                      </a:r>
                    </a:p>
                  </a:txBody>
                  <a:tcPr marL="82296" marR="64008" marT="32004" marB="32004" anchor="ctr">
                    <a:solidFill>
                      <a:srgbClr val="F6F3EF"/>
                    </a:solidFill>
                  </a:tcPr>
                </a:tc>
                <a:tc>
                  <a:txBody>
                    <a:bodyPr wrap="square"/>
                    <a:lstStyle/>
                    <a:p>
                      <a:r>
                        <a:rPr sz="1200" b="0">
                          <a:solidFill>
                            <a:srgbClr val="1C1C1E"/>
                          </a:solidFill>
                          <a:latin typeface="Calibri"/>
                        </a:rPr>
                        <a:t>57.3%</a:t>
                      </a:r>
                    </a:p>
                  </a:txBody>
                  <a:tcPr marL="82296" marR="64008" marT="32004" marB="32004" anchor="ctr">
                    <a:solidFill>
                      <a:srgbClr val="F6F3EF"/>
                    </a:solidFill>
                  </a:tcPr>
                </a:tc>
                <a:tc>
                  <a:txBody>
                    <a:bodyPr wrap="square"/>
                    <a:lstStyle/>
                    <a:p>
                      <a:r>
                        <a:rPr sz="1200" b="0">
                          <a:solidFill>
                            <a:srgbClr val="1C1C1E"/>
                          </a:solidFill>
                          <a:latin typeface="Calibri"/>
                        </a:rPr>
                        <a:t>2.55×</a:t>
                      </a:r>
                    </a:p>
                  </a:txBody>
                  <a:tcPr marL="82296" marR="64008" marT="32004" marB="32004" anchor="ctr">
                    <a:solidFill>
                      <a:srgbClr val="F6F3EF"/>
                    </a:solidFill>
                  </a:tcPr>
                </a:tc>
              </a:tr>
              <a:tr h="302514">
                <a:tc>
                  <a:txBody>
                    <a:bodyPr wrap="square"/>
                    <a:lstStyle/>
                    <a:p>
                      <a:r>
                        <a:rPr sz="1200" b="1">
                          <a:solidFill>
                            <a:srgbClr val="761422"/>
                          </a:solidFill>
                          <a:latin typeface="Calibri"/>
                        </a:rPr>
                        <a:t>8.0</a:t>
                      </a:r>
                    </a:p>
                  </a:txBody>
                  <a:tcPr marL="82296" marR="64008" marT="32004" marB="32004" anchor="ctr">
                    <a:solidFill>
                      <a:srgbClr val="FFFFFF"/>
                    </a:solidFill>
                  </a:tcPr>
                </a:tc>
                <a:tc>
                  <a:txBody>
                    <a:bodyPr wrap="square"/>
                    <a:lstStyle/>
                    <a:p>
                      <a:r>
                        <a:rPr sz="1200" b="0">
                          <a:solidFill>
                            <a:srgbClr val="1C1C1E"/>
                          </a:solidFill>
                          <a:latin typeface="Calibri"/>
                        </a:rPr>
                        <a:t>37.4%</a:t>
                      </a:r>
                    </a:p>
                  </a:txBody>
                  <a:tcPr marL="82296" marR="64008" marT="32004" marB="32004" anchor="ctr">
                    <a:solidFill>
                      <a:srgbClr val="FFFFFF"/>
                    </a:solidFill>
                  </a:tcPr>
                </a:tc>
                <a:tc>
                  <a:txBody>
                    <a:bodyPr wrap="square"/>
                    <a:lstStyle/>
                    <a:p>
                      <a:r>
                        <a:rPr sz="1200" b="0">
                          <a:solidFill>
                            <a:srgbClr val="1C1C1E"/>
                          </a:solidFill>
                          <a:latin typeface="Calibri"/>
                        </a:rPr>
                        <a:t>2.29×</a:t>
                      </a:r>
                    </a:p>
                  </a:txBody>
                  <a:tcPr marL="82296" marR="64008" marT="32004" marB="32004" anchor="ctr">
                    <a:solidFill>
                      <a:srgbClr val="FFFFFF"/>
                    </a:solidFill>
                  </a:tcPr>
                </a:tc>
              </a:tr>
              <a:tr h="302514">
                <a:tc>
                  <a:txBody>
                    <a:bodyPr wrap="square"/>
                    <a:lstStyle/>
                    <a:p>
                      <a:r>
                        <a:rPr sz="1200" b="1">
                          <a:solidFill>
                            <a:srgbClr val="761422"/>
                          </a:solidFill>
                          <a:latin typeface="Calibri"/>
                        </a:rPr>
                        <a:t>12.0  — where it moved to</a:t>
                      </a:r>
                    </a:p>
                  </a:txBody>
                  <a:tcPr marL="82296" marR="64008" marT="32004" marB="32004" anchor="ctr">
                    <a:solidFill>
                      <a:srgbClr val="F6F3EF"/>
                    </a:solidFill>
                  </a:tcPr>
                </a:tc>
                <a:tc>
                  <a:txBody>
                    <a:bodyPr wrap="square"/>
                    <a:lstStyle/>
                    <a:p>
                      <a:r>
                        <a:rPr sz="1200" b="0">
                          <a:solidFill>
                            <a:srgbClr val="1C1C1E"/>
                          </a:solidFill>
                          <a:latin typeface="Calibri"/>
                        </a:rPr>
                        <a:t>23.3%</a:t>
                      </a:r>
                    </a:p>
                  </a:txBody>
                  <a:tcPr marL="82296" marR="64008" marT="32004" marB="32004" anchor="ctr">
                    <a:solidFill>
                      <a:srgbClr val="F6F3EF"/>
                    </a:solidFill>
                  </a:tcPr>
                </a:tc>
                <a:tc>
                  <a:txBody>
                    <a:bodyPr wrap="square"/>
                    <a:lstStyle/>
                    <a:p>
                      <a:r>
                        <a:rPr sz="1200" b="0">
                          <a:solidFill>
                            <a:srgbClr val="1C1C1E"/>
                          </a:solidFill>
                          <a:latin typeface="Calibri"/>
                        </a:rPr>
                        <a:t>2.00×</a:t>
                      </a:r>
                    </a:p>
                  </a:txBody>
                  <a:tcPr marL="82296" marR="64008" marT="32004" marB="32004" anchor="ctr">
                    <a:solidFill>
                      <a:srgbClr val="F6F3EF"/>
                    </a:solidFill>
                  </a:tcPr>
                </a:tc>
              </a:tr>
              <a:tr h="302514">
                <a:tc>
                  <a:txBody>
                    <a:bodyPr wrap="square"/>
                    <a:lstStyle/>
                    <a:p>
                      <a:r>
                        <a:rPr sz="1200" b="1">
                          <a:solidFill>
                            <a:srgbClr val="761422"/>
                          </a:solidFill>
                          <a:latin typeface="Calibri"/>
                        </a:rPr>
                        <a:t>20.0</a:t>
                      </a:r>
                    </a:p>
                  </a:txBody>
                  <a:tcPr marL="82296" marR="64008" marT="32004" marB="32004" anchor="ctr">
                    <a:solidFill>
                      <a:srgbClr val="FFFFFF"/>
                    </a:solidFill>
                  </a:tcPr>
                </a:tc>
                <a:tc>
                  <a:txBody>
                    <a:bodyPr wrap="square"/>
                    <a:lstStyle/>
                    <a:p>
                      <a:r>
                        <a:rPr sz="1200" b="0">
                          <a:solidFill>
                            <a:srgbClr val="1C1C1E"/>
                          </a:solidFill>
                          <a:latin typeface="Calibri"/>
                        </a:rPr>
                        <a:t>12.1%</a:t>
                      </a:r>
                    </a:p>
                  </a:txBody>
                  <a:tcPr marL="82296" marR="64008" marT="32004" marB="32004" anchor="ctr">
                    <a:solidFill>
                      <a:srgbClr val="FFFFFF"/>
                    </a:solidFill>
                  </a:tcPr>
                </a:tc>
                <a:tc>
                  <a:txBody>
                    <a:bodyPr wrap="square"/>
                    <a:lstStyle/>
                    <a:p>
                      <a:r>
                        <a:rPr sz="1200" b="0">
                          <a:solidFill>
                            <a:srgbClr val="1C1C1E"/>
                          </a:solidFill>
                          <a:latin typeface="Calibri"/>
                        </a:rPr>
                        <a:t>1.63×</a:t>
                      </a:r>
                    </a:p>
                  </a:txBody>
                  <a:tcPr marL="82296" marR="64008" marT="32004" marB="32004" anchor="ctr">
                    <a:solidFill>
                      <a:srgbClr val="FFFFFF"/>
                    </a:solidFill>
                  </a:tcPr>
                </a:tc>
              </a:tr>
              <a:tr h="302514">
                <a:tc>
                  <a:txBody>
                    <a:bodyPr wrap="square"/>
                    <a:lstStyle/>
                    <a:p>
                      <a:r>
                        <a:rPr sz="1200" b="1">
                          <a:solidFill>
                            <a:srgbClr val="761422"/>
                          </a:solidFill>
                          <a:latin typeface="Calibri"/>
                        </a:rPr>
                        <a:t>40.0  — minimises the gap</a:t>
                      </a:r>
                    </a:p>
                  </a:txBody>
                  <a:tcPr marL="82296" marR="64008" marT="32004" marB="32004" anchor="ctr">
                    <a:solidFill>
                      <a:srgbClr val="F6F3EF"/>
                    </a:solidFill>
                  </a:tcPr>
                </a:tc>
                <a:tc>
                  <a:txBody>
                    <a:bodyPr wrap="square"/>
                    <a:lstStyle/>
                    <a:p>
                      <a:r>
                        <a:rPr sz="1200" b="0">
                          <a:solidFill>
                            <a:srgbClr val="1C1C1E"/>
                          </a:solidFill>
                          <a:latin typeface="Calibri"/>
                        </a:rPr>
                        <a:t>4.9%</a:t>
                      </a:r>
                    </a:p>
                  </a:txBody>
                  <a:tcPr marL="82296" marR="64008" marT="32004" marB="32004" anchor="ctr">
                    <a:solidFill>
                      <a:srgbClr val="F6F3EF"/>
                    </a:solidFill>
                  </a:tcPr>
                </a:tc>
                <a:tc>
                  <a:txBody>
                    <a:bodyPr wrap="square"/>
                    <a:lstStyle/>
                    <a:p>
                      <a:r>
                        <a:rPr sz="1200" b="0">
                          <a:solidFill>
                            <a:srgbClr val="1C1C1E"/>
                          </a:solidFill>
                          <a:latin typeface="Calibri"/>
                        </a:rPr>
                        <a:t>1.31×</a:t>
                      </a:r>
                    </a:p>
                  </a:txBody>
                  <a:tcPr marL="82296" marR="64008" marT="32004" marB="32004" anchor="ctr">
                    <a:solidFill>
                      <a:srgbClr val="F6F3E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FINDING NOBODY FLATTERED</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The threshold explains part of the gap, and not the rest of it</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33</a:t>
            </a:r>
          </a:p>
        </p:txBody>
      </p:sp>
      <p:sp>
        <p:nvSpPr>
          <p:cNvPr id="10" name="TextBox 9"/>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Even at a threshold of 40, where only one account in twenty is in stage 2, the allowance is still 31% above the loss realised on the same accounts. The grid shows the over-provision surviving every threshold, so it is not the threshold.</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case_studies/06-ifrs9-expected-credit-loss/README.md §7 and §11. An open finding recorded against an approved model is the shape of an honest governance record; a closed one that was never investigated is the shape of a tidy one.</a:t>
            </a:r>
          </a:p>
        </p:txBody>
      </p:sp>
      <p:sp>
        <p:nvSpPr>
          <p:cNvPr id="13" name="TextBox 12"/>
          <p:cNvSpPr txBox="1"/>
          <p:nvPr/>
        </p:nvSpPr>
        <p:spPr>
          <a:xfrm>
            <a:off x="777240" y="2236787"/>
            <a:ext cx="10637215" cy="3441636"/>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The study wrote the finding down instead of closing it</a:t>
            </a:r>
          </a:p>
          <a:p>
            <a:pPr lvl="1">
              <a:lnSpc>
                <a:spcPct val="120000"/>
              </a:lnSpc>
              <a:spcBef>
                <a:spcPts val="0"/>
              </a:spcBef>
              <a:spcAft>
                <a:spcPts val="0"/>
              </a:spcAft>
            </a:pPr>
            <a:r>
              <a:rPr sz="1300" b="0">
                <a:solidFill>
                  <a:srgbClr val="4A4F57"/>
                </a:solidFill>
                <a:latin typeface="Calibri"/>
              </a:rPr>
              <a:t>“The residual over-provision of 100% is not explained by the threshold — the grid shows it persists at any threshold — and is to be investigated in the members.”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Two suspects, each named in its own document</a:t>
            </a:r>
          </a:p>
          <a:p>
            <a:pPr lvl="1">
              <a:lnSpc>
                <a:spcPct val="120000"/>
              </a:lnSpc>
              <a:spcBef>
                <a:spcPts val="0"/>
              </a:spcBef>
              <a:spcAft>
                <a:spcPts val="0"/>
              </a:spcAft>
            </a:pPr>
            <a:r>
              <a:rPr sz="1300" b="0">
                <a:solidFill>
                  <a:srgbClr val="4A4F57"/>
                </a:solidFill>
                <a:latin typeface="Calibri"/>
              </a:rPr>
              <a:t>The loss-given-default member measures collateral coverage against the balance drawn today rather than against the exposure at default, which overstates coverage on exactly the accounts with the largest undrawn limits. And the conversion factor is one figure for the whole book, fitted at 0.349 where the data was generated at 0.55.</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Neither is fixed in this version</a:t>
            </a:r>
          </a:p>
          <a:p>
            <a:pPr lvl="1">
              <a:lnSpc>
                <a:spcPct val="120000"/>
              </a:lnSpc>
              <a:spcBef>
                <a:spcPts val="0"/>
              </a:spcBef>
              <a:spcAft>
                <a:spcPts val="0"/>
              </a:spcAft>
            </a:pPr>
            <a:r>
              <a:rPr sz="1300" b="0">
                <a:solidFill>
                  <a:srgbClr val="4A4F57"/>
                </a:solidFill>
                <a:latin typeface="Calibri"/>
              </a:rPr>
              <a:t>So the study says the allowance is not to be taken as unbiased, and the model version's known-weaknesses section says the same thing to anyone who opens it later.</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scope it also declined to blur</a:t>
            </a:r>
          </a:p>
          <a:p>
            <a:pPr lvl="1">
              <a:lnSpc>
                <a:spcPct val="120000"/>
              </a:lnSpc>
              <a:spcBef>
                <a:spcPts val="0"/>
              </a:spcBef>
              <a:spcAft>
                <a:spcPts val="0"/>
              </a:spcAft>
            </a:pPr>
            <a:r>
              <a:rPr sz="1300" b="0">
                <a:solidFill>
                  <a:srgbClr val="4A4F57"/>
                </a:solidFill>
                <a:latin typeface="Calibri"/>
              </a:rPr>
              <a:t>Stages 1 and 2 only; no forward-looking macroeconomic overlay; lifetime loss as a flat multiple rather than a term structure; and three factors multiplied as if independent when they are positively correlated in stress — so the allowance understates loss in exactly the conditions where it matters.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 SERVICE, AND AFTERWARDS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The covenant that took it out of service, and what it left behind</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model,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case_studies/06-ifrs9-expected-credit-loss/get_execution_warrant.py and show_estate.py, from a recorded run. None of this is a report MAYA was asked to produce; it is what the platform had already written down.</a:t>
            </a:r>
          </a:p>
        </p:txBody>
      </p:sp>
      <p:sp>
        <p:nvSpPr>
          <p:cNvPr id="12" name="Rectangle 11"/>
          <p:cNvSpPr/>
          <p:nvPr/>
        </p:nvSpPr>
        <p:spPr>
          <a:xfrm>
            <a:off x="777240" y="1322705"/>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22705"/>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395857"/>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Three covenants, and the one that fired</a:t>
            </a:r>
          </a:p>
        </p:txBody>
      </p:sp>
      <p:sp>
        <p:nvSpPr>
          <p:cNvPr id="15" name="TextBox 14"/>
          <p:cNvSpPr txBox="1"/>
          <p:nvPr/>
        </p:nvSpPr>
        <p:spPr>
          <a:xfrm>
            <a:off x="777240" y="1834769"/>
            <a:ext cx="5135727" cy="3843655"/>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What was watched</a:t>
            </a:r>
          </a:p>
          <a:p>
            <a:pPr lvl="1">
              <a:lnSpc>
                <a:spcPct val="120000"/>
              </a:lnSpc>
              <a:spcBef>
                <a:spcPts val="0"/>
              </a:spcBef>
              <a:spcAft>
                <a:spcPts val="0"/>
              </a:spcAft>
            </a:pPr>
            <a:r>
              <a:rPr sz="1300" b="0">
                <a:solidFill>
                  <a:srgbClr val="4A4F57"/>
                </a:solidFill>
                <a:latin typeface="Calibri"/>
              </a:rPr>
              <a:t>An output range on the loss figure, a population stability index on arrears, and a null rate of exactly zero on the origination probability — because the stage test divides by it, so one missing value is not a degraded estimate but an account with no stage at all.</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breach, quoted</a:t>
            </a:r>
          </a:p>
          <a:p>
            <a:pPr lvl="1">
              <a:lnSpc>
                <a:spcPct val="120000"/>
              </a:lnSpc>
              <a:spcBef>
                <a:spcPts val="0"/>
              </a:spcBef>
              <a:spcAft>
                <a:spcPts val="0"/>
              </a:spcAft>
            </a:pPr>
            <a:r>
              <a:rPr sz="1300" b="0">
                <a:solidFill>
                  <a:srgbClr val="4A4F57"/>
                </a:solidFill>
                <a:latin typeface="Calibri"/>
              </a:rPr>
              <a:t>“Warrant suspended: population stability index of 'arrears' 10.979 &gt; 0.25: the inputs this warrant sees are no longer the population it was fitted on.”</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What that does</a:t>
            </a:r>
          </a:p>
          <a:p>
            <a:pPr lvl="1">
              <a:lnSpc>
                <a:spcPct val="120000"/>
              </a:lnSpc>
              <a:spcBef>
                <a:spcPts val="0"/>
              </a:spcBef>
              <a:spcAft>
                <a:spcPts val="0"/>
              </a:spcAft>
            </a:pPr>
            <a:r>
              <a:rPr sz="1300" b="0">
                <a:solidFill>
                  <a:srgbClr val="4A4F57"/>
                </a:solidFill>
                <a:latin typeface="Calibri"/>
              </a:rPr>
              <a:t>The warrant suspends itself, a custody event is written, the owner is notified, and every consuming call fails closed naming the contact. Reinstatement needs a written reason.</a:t>
            </a:r>
          </a:p>
        </p:txBody>
      </p:sp>
      <p:sp>
        <p:nvSpPr>
          <p:cNvPr id="16" name="Rectangle 15"/>
          <p:cNvSpPr/>
          <p:nvPr/>
        </p:nvSpPr>
        <p:spPr>
          <a:xfrm>
            <a:off x="6278727" y="1322705"/>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22705"/>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395857"/>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record, when it was over</a:t>
            </a:r>
          </a:p>
        </p:txBody>
      </p:sp>
      <p:sp>
        <p:nvSpPr>
          <p:cNvPr id="19" name="TextBox 18"/>
          <p:cNvSpPr txBox="1"/>
          <p:nvPr/>
        </p:nvSpPr>
        <p:spPr>
          <a:xfrm>
            <a:off x="6278727" y="1834769"/>
            <a:ext cx="5135727" cy="384365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Five approved parameter sets</a:t>
            </a:r>
          </a:p>
          <a:p>
            <a:pPr lvl="1">
              <a:lnSpc>
                <a:spcPct val="120000"/>
              </a:lnSpc>
              <a:spcBef>
                <a:spcPts val="0"/>
              </a:spcBef>
              <a:spcAft>
                <a:spcPts val="0"/>
              </a:spcAft>
            </a:pPr>
            <a:r>
              <a:rPr sz="1350" b="0">
                <a:solidFill>
                  <a:srgbClr val="4A4F57"/>
                </a:solidFill>
                <a:latin typeface="Calibri"/>
              </a:rPr>
              <a:t>Including the superseded committee decision, kept.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Three holdout scoring attempts</a:t>
            </a:r>
          </a:p>
          <a:p>
            <a:pPr lvl="1">
              <a:lnSpc>
                <a:spcPct val="120000"/>
              </a:lnSpc>
              <a:spcBef>
                <a:spcPts val="0"/>
              </a:spcBef>
              <a:spcAft>
                <a:spcPts val="0"/>
              </a:spcAft>
            </a:pPr>
            <a:r>
              <a:rPr sz="1350" b="0">
                <a:solidFill>
                  <a:srgbClr val="4A4F57"/>
                </a:solidFill>
                <a:latin typeface="Calibri"/>
              </a:rPr>
              <a:t>Each numbered on the warrant.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Sixteen custody events</a:t>
            </a:r>
          </a:p>
          <a:p>
            <a:pPr lvl="1">
              <a:lnSpc>
                <a:spcPct val="120000"/>
              </a:lnSpc>
              <a:spcBef>
                <a:spcPts val="0"/>
              </a:spcBef>
              <a:spcAft>
                <a:spcPts val="0"/>
              </a:spcAft>
            </a:pPr>
            <a:r>
              <a:rPr sz="1350" b="0">
                <a:solidFill>
                  <a:srgbClr val="4A4F57"/>
                </a:solidFill>
                <a:latin typeface="Calibri"/>
              </a:rPr>
              <a:t>On the warrant alone.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Eighty-seven audit entries</a:t>
            </a:r>
          </a:p>
          <a:p>
            <a:pPr lvl="1">
              <a:lnSpc>
                <a:spcPct val="120000"/>
              </a:lnSpc>
              <a:spcBef>
                <a:spcPts val="0"/>
              </a:spcBef>
              <a:spcAft>
                <a:spcPts val="0"/>
              </a:spcAft>
            </a:pPr>
            <a:r>
              <a:rPr sz="1350" b="0">
                <a:solidFill>
                  <a:srgbClr val="4A4F57"/>
                </a:solidFill>
                <a:latin typeface="Calibri"/>
              </a:rPr>
              <a:t>Hash-chained, and verified unbroken.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Seventeen lineage nodes</a:t>
            </a:r>
          </a:p>
          <a:p>
            <a:pPr lvl="1">
              <a:lnSpc>
                <a:spcPct val="120000"/>
              </a:lnSpc>
              <a:spcBef>
                <a:spcPts val="0"/>
              </a:spcBef>
              <a:spcAft>
                <a:spcPts val="0"/>
              </a:spcAft>
            </a:pPr>
            <a:r>
              <a:rPr sz="1350" b="0">
                <a:solidFill>
                  <a:srgbClr val="4A4F57"/>
                </a:solidFill>
                <a:latin typeface="Calibri"/>
              </a:rPr>
              <a:t>From the two source files to the execution warrant.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typeset manifest</a:t>
            </a:r>
          </a:p>
          <a:p>
            <a:pPr lvl="1">
              <a:lnSpc>
                <a:spcPct val="120000"/>
              </a:lnSpc>
              <a:spcBef>
                <a:spcPts val="0"/>
              </a:spcBef>
              <a:spcAft>
                <a:spcPts val="0"/>
              </a:spcAft>
            </a:pPr>
            <a:r>
              <a:rPr sz="1350" b="0">
                <a:solidFill>
                  <a:srgbClr val="4A4F57"/>
                </a:solidFill>
                <a:latin typeface="Calibri"/>
              </a:rPr>
              <a:t>Naming the parameter set behind the reported figure — which is the question somebody asks two years later.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6</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800" b="0" i="0">
                <a:solidFill>
                  <a:srgbClr val="FFFFFF"/>
                </a:solidFill>
                <a:latin typeface="Georgia"/>
              </a:rPr>
              <a:t>What MAYA does not do</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design without stated losses is a sales pitch, so the last two slides are the ones a buyer would otherwise have to find out for themselves.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Non-goals, by decision</a:t>
            </a:r>
          </a:p>
          <a:p>
            <a:pPr>
              <a:lnSpc>
                <a:spcPct val="115000"/>
              </a:lnSpc>
              <a:spcBef>
                <a:spcPts val="0"/>
              </a:spcBef>
              <a:spcAft>
                <a:spcPts val="600"/>
              </a:spcAft>
            </a:pPr>
            <a:r>
              <a:rPr sz="1200" b="0" i="0">
                <a:solidFill>
                  <a:srgbClr val="F6E6E9"/>
                </a:solidFill>
                <a:latin typeface="Calibri"/>
              </a:rPr>
              <a:t>What is measured and what is not</a:t>
            </a:r>
          </a:p>
          <a:p>
            <a:pPr>
              <a:lnSpc>
                <a:spcPct val="115000"/>
              </a:lnSpc>
              <a:spcBef>
                <a:spcPts val="0"/>
              </a:spcBef>
              <a:spcAft>
                <a:spcPts val="600"/>
              </a:spcAft>
            </a:pPr>
            <a:r>
              <a:rPr sz="1200" b="0" i="0">
                <a:solidFill>
                  <a:srgbClr val="F6E6E9"/>
                </a:solidFill>
                <a:latin typeface="Calibri"/>
              </a:rPr>
              <a:t>In one slide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WHAT MAYA DOES NOT DO</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Stated here rather than discovered later</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What MAYA does not do</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36</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README, “Deliberate non-goals”, “Out of scope by decision” and “Not yet”; docs/BENCHMARKS.md; docs/audit/. A design without stated losses is a sales pitch.</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Calibri"/>
              </a:rPr>
              <a:t>▪  </a:t>
            </a:r>
            <a:r>
              <a:rPr sz="1550" b="1">
                <a:solidFill>
                  <a:srgbClr val="1C1C1E"/>
                </a:solidFill>
                <a:latin typeface="Calibri"/>
              </a:rPr>
              <a:t>It does not train models and does not serve predictions</a:t>
            </a:r>
          </a:p>
          <a:p>
            <a:pPr lvl="1">
              <a:lnSpc>
                <a:spcPct val="120000"/>
              </a:lnSpc>
              <a:spcBef>
                <a:spcPts val="0"/>
              </a:spcBef>
              <a:spcAft>
                <a:spcPts val="0"/>
              </a:spcAft>
            </a:pPr>
            <a:r>
              <a:rPr sz="1400" b="0">
                <a:solidFill>
                  <a:srgbClr val="4A4F57"/>
                </a:solidFill>
                <a:latin typeface="Calibri"/>
              </a:rPr>
              <a:t>Training runs on your compute. The single runtime exception is scoring an escrowed holdout, and even that evaluates the mathematics rather than running your code.</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It will be beaten on serving latency, streaming freshness, raw scale and connector breadth</a:t>
            </a:r>
          </a:p>
          <a:p>
            <a:pPr lvl="1">
              <a:lnSpc>
                <a:spcPct val="120000"/>
              </a:lnSpc>
              <a:spcBef>
                <a:spcPts val="0"/>
              </a:spcBef>
              <a:spcAft>
                <a:spcPts val="0"/>
              </a:spcAft>
            </a:pPr>
            <a:r>
              <a:rPr sz="1400" b="0">
                <a:solidFill>
                  <a:srgbClr val="4A4F57"/>
                </a:solidFill>
                <a:latin typeface="Calibri"/>
              </a:rPr>
              <a:t>Where sub-10 ms serving is needed, the answer is MAYA governing the definition and a serving layer consuming a sealed execution warrant — not MAYA growing a serving tier.</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Only Linux is exercised, and there is no dedicated benchmark host</a:t>
            </a:r>
          </a:p>
          <a:p>
            <a:pPr lvl="1">
              <a:lnSpc>
                <a:spcPct val="120000"/>
              </a:lnSpc>
              <a:spcBef>
                <a:spcPts val="0"/>
              </a:spcBef>
              <a:spcAft>
                <a:spcPts val="0"/>
              </a:spcAft>
            </a:pPr>
            <a:r>
              <a:rPr sz="1400" b="0">
                <a:solidFill>
                  <a:srgbClr val="4A4F57"/>
                </a:solidFill>
                <a:latin typeface="Calibri"/>
              </a:rPr>
              <a:t>So the three-platform criterion is not met, and SC-3 — 200 users on one node — is not met reliably: three runs gave p95 0.34 s, 0.22 s and 0.43 s against 0.3 s.</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Parts of the specification are not built</a:t>
            </a:r>
          </a:p>
          <a:p>
            <a:pPr lvl="1">
              <a:lnSpc>
                <a:spcPct val="120000"/>
              </a:lnSpc>
              <a:spcBef>
                <a:spcPts val="0"/>
              </a:spcBef>
              <a:spcAft>
                <a:spcPts val="0"/>
              </a:spcAft>
            </a:pPr>
            <a:r>
              <a:rPr sz="1400" b="0">
                <a:solidFill>
                  <a:srgbClr val="4A4F57"/>
                </a:solidFill>
                <a:latin typeface="Calibri"/>
              </a:rPr>
              <a:t>Feature-set operators beyond extend, subscriptions, enforced quotas, the SDK's object handles and the review screen's semantic diff among them. The specification audit ranks every gap by what it costs a user.</a:t>
            </a:r>
          </a:p>
          <a:p>
            <a:pPr>
              <a:lnSpc>
                <a:spcPct val="120000"/>
              </a:lnSpc>
              <a:spcBef>
                <a:spcPts val="500"/>
              </a:spcBef>
              <a:spcAft>
                <a:spcPts val="100"/>
              </a:spcAft>
            </a:pPr>
            <a:r>
              <a:rPr sz="1550" b="1">
                <a:solidFill>
                  <a:srgbClr val="A51C30"/>
                </a:solidFill>
                <a:latin typeface="Calibri"/>
              </a:rPr>
              <a:t>▪  </a:t>
            </a:r>
            <a:r>
              <a:rPr sz="1550" b="1">
                <a:solidFill>
                  <a:srgbClr val="1C1C1E"/>
                </a:solidFill>
                <a:latin typeface="Calibri"/>
              </a:rPr>
              <a:t>And four risks have no clean fix</a:t>
            </a:r>
          </a:p>
          <a:p>
            <a:pPr lvl="1">
              <a:lnSpc>
                <a:spcPct val="120000"/>
              </a:lnSpc>
              <a:spcBef>
                <a:spcPts val="0"/>
              </a:spcBef>
              <a:spcAft>
                <a:spcPts val="0"/>
              </a:spcAft>
            </a:pPr>
            <a:r>
              <a:rPr sz="1400" b="0">
                <a:solidFill>
                  <a:srgbClr val="4A4F57"/>
                </a:solidFill>
                <a:latin typeface="Calibri"/>
              </a:rPr>
              <a:t>Two-store consistency on pin, Python's concurrency ceiling, execution that happens outside MAYA, and the fact that a catalog nobody seeds is an empty shop. Each is mitigated and none is removed.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 ONE SLIDE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Evidence, not assertion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What MAYA does not do</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docs/MAYA_Requirements_and_Design.md · Measurements: docs/BENCHMARKS.md · Worked models: case_studies/ · Run it: python run_maya_web.py</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0"/>
              </a:spcAft>
            </a:pPr>
            <a:r>
              <a:rPr sz="1700" b="1">
                <a:solidFill>
                  <a:srgbClr val="A51C30"/>
                </a:solidFill>
                <a:latin typeface="Calibri"/>
              </a:rPr>
              <a:t>▪  </a:t>
            </a:r>
            <a:r>
              <a:rPr sz="1700" b="0">
                <a:solidFill>
                  <a:srgbClr val="1C1C1E"/>
                </a:solidFill>
                <a:latin typeface="Calibri"/>
              </a:rPr>
              <a:t>Definitions are code and data is a consequence: a version freezes how, a pin freezes what, and a pin returns the same bytes forever.</a:t>
            </a:r>
          </a:p>
          <a:p>
            <a:pPr>
              <a:lnSpc>
                <a:spcPct val="120000"/>
              </a:lnSpc>
              <a:spcBef>
                <a:spcPts val="600"/>
              </a:spcBef>
              <a:spcAft>
                <a:spcPts val="0"/>
              </a:spcAft>
            </a:pPr>
            <a:r>
              <a:rPr sz="1700" b="1">
                <a:solidFill>
                  <a:srgbClr val="A51C30"/>
                </a:solidFill>
                <a:latin typeface="Calibri"/>
              </a:rPr>
              <a:t>▪  </a:t>
            </a:r>
            <a:r>
              <a:rPr sz="1700" b="0">
                <a:solidFill>
                  <a:srgbClr val="1C1C1E"/>
                </a:solidFill>
                <a:latin typeface="Calibri"/>
              </a:rPr>
              <a:t>Model mathematics is structured data, so the document cannot drift from the code and a reviewer is told what changed mathematically.</a:t>
            </a:r>
          </a:p>
          <a:p>
            <a:pPr>
              <a:lnSpc>
                <a:spcPct val="120000"/>
              </a:lnSpc>
              <a:spcBef>
                <a:spcPts val="600"/>
              </a:spcBef>
              <a:spcAft>
                <a:spcPts val="0"/>
              </a:spcAft>
            </a:pPr>
            <a:r>
              <a:rPr sz="1700" b="1">
                <a:solidFill>
                  <a:srgbClr val="A51C30"/>
                </a:solidFill>
                <a:latin typeface="Calibri"/>
              </a:rPr>
              <a:t>▪  </a:t>
            </a:r>
            <a:r>
              <a:rPr sz="1700" b="0">
                <a:solidFill>
                  <a:srgbClr val="1C1C1E"/>
                </a:solidFill>
                <a:latin typeface="Calibri"/>
              </a:rPr>
              <a:t>A warrant is a live licence: it expires, it is revoked, and it suspends itself the moment its inputs stop resembling what it was fitted on.</a:t>
            </a:r>
          </a:p>
          <a:p>
            <a:pPr>
              <a:lnSpc>
                <a:spcPct val="120000"/>
              </a:lnSpc>
              <a:spcBef>
                <a:spcPts val="600"/>
              </a:spcBef>
              <a:spcAft>
                <a:spcPts val="0"/>
              </a:spcAft>
            </a:pPr>
            <a:r>
              <a:rPr sz="1700" b="1">
                <a:solidFill>
                  <a:srgbClr val="A51C30"/>
                </a:solidFill>
                <a:latin typeface="Calibri"/>
              </a:rPr>
              <a:t>▪  </a:t>
            </a:r>
            <a:r>
              <a:rPr sz="1700" b="0">
                <a:solidFill>
                  <a:srgbClr val="1C1C1E"/>
                </a:solidFill>
                <a:latin typeface="Calibri"/>
              </a:rPr>
              <a:t>A bundle proves itself on a machine that has never heard of MAYA, and refuses on one changed byte.</a:t>
            </a:r>
          </a:p>
          <a:p>
            <a:pPr>
              <a:lnSpc>
                <a:spcPct val="120000"/>
              </a:lnSpc>
              <a:spcBef>
                <a:spcPts val="600"/>
              </a:spcBef>
              <a:spcAft>
                <a:spcPts val="0"/>
              </a:spcAft>
            </a:pPr>
            <a:r>
              <a:rPr sz="1700" b="1">
                <a:solidFill>
                  <a:srgbClr val="A51C30"/>
                </a:solidFill>
                <a:latin typeface="Calibri"/>
              </a:rPr>
              <a:t>▪  </a:t>
            </a:r>
            <a:r>
              <a:rPr sz="1700" b="0">
                <a:solidFill>
                  <a:srgbClr val="1C1C1E"/>
                </a:solidFill>
                <a:latin typeface="Calibri"/>
              </a:rPr>
              <a:t>Nine models have been carried all the way through, and the platform kept the refusals, the superseded judgement and the finding nobody could explain.</a:t>
            </a:r>
          </a:p>
          <a:p>
            <a:pPr>
              <a:lnSpc>
                <a:spcPct val="120000"/>
              </a:lnSpc>
              <a:spcBef>
                <a:spcPts val="600"/>
              </a:spcBef>
              <a:spcAft>
                <a:spcPts val="0"/>
              </a:spcAft>
            </a:pPr>
            <a:r>
              <a:rPr sz="1700" b="1">
                <a:solidFill>
                  <a:srgbClr val="A51C30"/>
                </a:solidFill>
                <a:latin typeface="Calibri"/>
              </a:rPr>
              <a:t>▪  </a:t>
            </a:r>
            <a:r>
              <a:rPr sz="1700" b="0">
                <a:solidFill>
                  <a:srgbClr val="1C1C1E"/>
                </a:solidFill>
                <a:latin typeface="Calibri"/>
              </a:rPr>
              <a:t>What it does not do is written down in the same place as what it does.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 — Capabilities</dc:title>
  <dc:subject>What MAYA does, shown through the product, and one model carried end to end</dc:subject>
  <dc:creator>Ashutosh Sinha</dc:creator>
  <cp:keywords>MAYA; model risk; governance</cp:keywords>
  <dc:description>Copyright (c) 2026 Ashutosh Sinha. All rights reserved.</dc:description>
  <cp:lastModifiedBy>Ashutosh Sinha</cp:lastModifiedBy>
  <cp:revision>1</cp:revision>
  <dcterms:created xsi:type="dcterms:W3CDTF">2026-09-19T12:00:00Z</dcterms:created>
  <dcterms:modified xsi:type="dcterms:W3CDTF">2026-09-19T12:00:00Z</dcterms:modified>
  <cp:category/>
</cp:coreProperties>
</file>