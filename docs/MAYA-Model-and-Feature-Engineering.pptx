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481328"/>
            <a:ext cx="9360749" cy="1828800"/>
          </a:xfrm>
          <a:prstGeom prst="rect">
            <a:avLst/>
          </a:prstGeom>
          <a:noFill/>
        </p:spPr>
        <p:txBody>
          <a:bodyPr wrap="square" lIns="0" rIns="0" tIns="0" bIns="0" anchor="t">
            <a:spAutoFit/>
          </a:bodyPr>
          <a:lstStyle/>
          <a:p>
            <a:pPr algn="l">
              <a:spcBef>
                <a:spcPts val="0"/>
              </a:spcBef>
              <a:spcAft>
                <a:spcPts val="400"/>
              </a:spcAft>
            </a:pPr>
            <a:r>
              <a:rPr sz="4200" b="0" i="0">
                <a:solidFill>
                  <a:srgbClr val="FFFFFF"/>
                </a:solidFill>
                <a:latin typeface="Georgia"/>
              </a:rPr>
              <a:t>Model and Feature Engineering</a:t>
            </a:r>
          </a:p>
        </p:txBody>
      </p:sp>
      <p:sp>
        <p:nvSpPr>
          <p:cNvPr id="9" name="Rectangle 8"/>
          <p:cNvSpPr/>
          <p:nvPr/>
        </p:nvSpPr>
        <p:spPr>
          <a:xfrm>
            <a:off x="1051560" y="299923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36976"/>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400" b="0" i="1">
                <a:solidFill>
                  <a:srgbClr val="F4DFE3"/>
                </a:solidFill>
                <a:latin typeface="Calibri"/>
              </a:rPr>
              <a:t>How a feature is defined, how a featureset is composed, how a warrant carries both to an execution engine — and what has to come back</a:t>
            </a:r>
          </a:p>
        </p:txBody>
      </p:sp>
      <p:sp>
        <p:nvSpPr>
          <p:cNvPr id="11" name="TextBox 10"/>
          <p:cNvSpPr txBox="1"/>
          <p:nvPr/>
        </p:nvSpPr>
        <p:spPr>
          <a:xfrm>
            <a:off x="1051560" y="448056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   ·   the practitioner's deck</a:t>
            </a:r>
          </a:p>
        </p:txBody>
      </p:sp>
      <p:sp>
        <p:nvSpPr>
          <p:cNvPr id="12" name="TextBox 11"/>
          <p:cNvSpPr txBox="1"/>
          <p:nvPr/>
        </p:nvSpPr>
        <p:spPr>
          <a:xfrm>
            <a:off x="6627708" y="4407408"/>
            <a:ext cx="4786746" cy="17373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CHAPTERS</a:t>
            </a:r>
          </a:p>
          <a:p>
            <a:pPr>
              <a:spcBef>
                <a:spcPts val="0"/>
              </a:spcBef>
              <a:spcAft>
                <a:spcPts val="300"/>
              </a:spcAft>
            </a:pPr>
            <a:r>
              <a:rPr sz="1050" b="1" i="0">
                <a:solidFill>
                  <a:srgbClr val="A51C30"/>
                </a:solidFill>
                <a:latin typeface="Calibri"/>
              </a:rPr>
              <a:t>1   </a:t>
            </a:r>
            <a:r>
              <a:rPr sz="1050" b="0" i="0">
                <a:solidFill>
                  <a:srgbClr val="4A4F57"/>
                </a:solidFill>
                <a:latin typeface="Calibri"/>
              </a:rPr>
              <a:t>The shape of the whole thing</a:t>
            </a:r>
          </a:p>
          <a:p>
            <a:pPr>
              <a:spcBef>
                <a:spcPts val="0"/>
              </a:spcBef>
              <a:spcAft>
                <a:spcPts val="300"/>
              </a:spcAft>
            </a:pPr>
            <a:r>
              <a:rPr sz="1050" b="1" i="0">
                <a:solidFill>
                  <a:srgbClr val="A51C30"/>
                </a:solidFill>
                <a:latin typeface="Calibri"/>
              </a:rPr>
              <a:t>2   </a:t>
            </a:r>
            <a:r>
              <a:rPr sz="1050" b="0" i="0">
                <a:solidFill>
                  <a:srgbClr val="4A4F57"/>
                </a:solidFill>
                <a:latin typeface="Calibri"/>
              </a:rPr>
              <a:t>Engineering a feature</a:t>
            </a:r>
          </a:p>
          <a:p>
            <a:pPr>
              <a:spcBef>
                <a:spcPts val="0"/>
              </a:spcBef>
              <a:spcAft>
                <a:spcPts val="300"/>
              </a:spcAft>
            </a:pPr>
            <a:r>
              <a:rPr sz="1050" b="1" i="0">
                <a:solidFill>
                  <a:srgbClr val="A51C30"/>
                </a:solidFill>
                <a:latin typeface="Calibri"/>
              </a:rPr>
              <a:t>3   </a:t>
            </a:r>
            <a:r>
              <a:rPr sz="1050" b="0" i="0">
                <a:solidFill>
                  <a:srgbClr val="4A4F57"/>
                </a:solidFill>
                <a:latin typeface="Calibri"/>
              </a:rPr>
              <a:t>Composing a featureset</a:t>
            </a:r>
          </a:p>
          <a:p>
            <a:pPr>
              <a:spcBef>
                <a:spcPts val="0"/>
              </a:spcBef>
              <a:spcAft>
                <a:spcPts val="300"/>
              </a:spcAft>
            </a:pPr>
            <a:r>
              <a:rPr sz="1050" b="1" i="0">
                <a:solidFill>
                  <a:srgbClr val="A51C30"/>
                </a:solidFill>
                <a:latin typeface="Calibri"/>
              </a:rPr>
              <a:t>4   </a:t>
            </a:r>
            <a:r>
              <a:rPr sz="1050" b="0" i="0">
                <a:solidFill>
                  <a:srgbClr val="4A4F57"/>
                </a:solidFill>
                <a:latin typeface="Calibri"/>
              </a:rPr>
              <a:t>Warrants, and what comes back</a:t>
            </a:r>
          </a:p>
          <a:p>
            <a:pPr>
              <a:spcBef>
                <a:spcPts val="0"/>
              </a:spcBef>
              <a:spcAft>
                <a:spcPts val="300"/>
              </a:spcAft>
            </a:pPr>
            <a:r>
              <a:rPr sz="1050" b="1" i="0">
                <a:solidFill>
                  <a:srgbClr val="A51C30"/>
                </a:solidFill>
                <a:latin typeface="Calibri"/>
              </a:rPr>
              <a:t>5   </a:t>
            </a:r>
            <a:r>
              <a:rPr sz="1050" b="0" i="0">
                <a:solidFill>
                  <a:srgbClr val="4A4F57"/>
                </a:solidFill>
                <a:latin typeface="Calibri"/>
              </a:rPr>
              <a:t>What MAYA refuses, and why</a:t>
            </a:r>
          </a:p>
          <a:p>
            <a:pPr>
              <a:spcBef>
                <a:spcPts val="0"/>
              </a:spcBef>
              <a:spcAft>
                <a:spcPts val="300"/>
              </a:spcAft>
            </a:pPr>
            <a:r>
              <a:rPr sz="1050" b="1" i="0">
                <a:solidFill>
                  <a:srgbClr val="A51C30"/>
                </a:solidFill>
                <a:latin typeface="Calibri"/>
              </a:rPr>
              <a:t>6   </a:t>
            </a:r>
            <a:r>
              <a:rPr sz="1050" b="0" i="0">
                <a:solidFill>
                  <a:srgbClr val="4A4F57"/>
                </a:solidFill>
                <a:latin typeface="Calibri"/>
              </a:rPr>
              <a:t>A worked example, with the numbers</a:t>
            </a:r>
          </a:p>
        </p:txBody>
      </p:sp>
      <p:sp>
        <p:nvSpPr>
          <p:cNvPr id="13" name="Rectangle 12"/>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
            </a:r>
          </a:p>
        </p:txBody>
      </p:sp>
      <p:sp>
        <p:nvSpPr>
          <p:cNvPr id="15" name="TextBox 14"/>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The Shape of the Whole Thing</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Features, featuresets, warrants and parameters — and how they meet.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process end to end</a:t>
            </a:r>
          </a:p>
          <a:p>
            <a:pPr>
              <a:lnSpc>
                <a:spcPct val="115000"/>
              </a:lnSpc>
              <a:spcBef>
                <a:spcPts val="0"/>
              </a:spcBef>
              <a:spcAft>
                <a:spcPts val="700"/>
              </a:spcAft>
            </a:pPr>
            <a:r>
              <a:rPr sz="1150" b="0" i="0">
                <a:solidFill>
                  <a:srgbClr val="F6E6E9"/>
                </a:solidFill>
                <a:latin typeface="Calibri"/>
              </a:rPr>
              <a:t>What each object is for</a:t>
            </a:r>
          </a:p>
          <a:p>
            <a:pPr>
              <a:lnSpc>
                <a:spcPct val="115000"/>
              </a:lnSpc>
              <a:spcBef>
                <a:spcPts val="0"/>
              </a:spcBef>
              <a:spcAft>
                <a:spcPts val="700"/>
              </a:spcAft>
            </a:pPr>
            <a:r>
              <a:rPr sz="1150" b="0" i="0">
                <a:solidFill>
                  <a:srgbClr val="F6E6E9"/>
                </a:solidFill>
                <a:latin typeface="Calibri"/>
              </a:rPr>
              <a:t>Where the pins are</a:t>
            </a:r>
          </a:p>
          <a:p>
            <a:pPr>
              <a:lnSpc>
                <a:spcPct val="115000"/>
              </a:lnSpc>
              <a:spcBef>
                <a:spcPts val="0"/>
              </a:spcBef>
              <a:spcAft>
                <a:spcPts val="700"/>
              </a:spcAft>
            </a:pPr>
            <a:r>
              <a:rPr sz="1150" b="0" i="0">
                <a:solidFill>
                  <a:srgbClr val="F6E6E9"/>
                </a:solidFill>
                <a:latin typeface="Calibri"/>
              </a:rPr>
              <a:t>The two clocks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words, and how they hold together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sp>
        <p:nvSpPr>
          <p:cNvPr id="10" name="Rectangle 9"/>
          <p:cNvSpPr/>
          <p:nvPr/>
        </p:nvSpPr>
        <p:spPr>
          <a:xfrm>
            <a:off x="777240" y="1353312"/>
            <a:ext cx="10637215" cy="115214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5720" cy="115214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77240" y="1481328"/>
            <a:ext cx="10637215" cy="566928"/>
          </a:xfrm>
          <a:prstGeom prst="rect">
            <a:avLst/>
          </a:prstGeom>
          <a:noFill/>
        </p:spPr>
        <p:txBody>
          <a:bodyPr wrap="square" lIns="0" rIns="0" tIns="0" bIns="0" anchor="t">
            <a:spAutoFit/>
          </a:bodyPr>
          <a:lstStyle/>
          <a:p>
            <a:pPr algn="ctr">
              <a:spcBef>
                <a:spcPts val="0"/>
              </a:spcBef>
              <a:spcAft>
                <a:spcPts val="0"/>
              </a:spcAft>
            </a:pPr>
            <a:r>
              <a:rPr sz="3000" b="1" i="0">
                <a:solidFill>
                  <a:srgbClr val="A51C30"/>
                </a:solidFill>
                <a:latin typeface="Calibri"/>
              </a:rPr>
              <a:t>f</a:t>
            </a:r>
            <a:r>
              <a:rPr sz="3000" b="0" i="0">
                <a:solidFill>
                  <a:srgbClr val="1C1C1E"/>
                </a:solidFill>
                <a:latin typeface="Calibri"/>
              </a:rPr>
              <a:t> :  </a:t>
            </a:r>
            <a:r>
              <a:rPr sz="3000" b="1" i="0">
                <a:solidFill>
                  <a:srgbClr val="A51C30"/>
                </a:solidFill>
                <a:latin typeface="Calibri"/>
              </a:rPr>
              <a:t>P</a:t>
            </a:r>
            <a:r>
              <a:rPr sz="3000" b="0" i="0">
                <a:solidFill>
                  <a:srgbClr val="1C1C1E"/>
                </a:solidFill>
                <a:latin typeface="Calibri"/>
              </a:rPr>
              <a:t>  ⊗  </a:t>
            </a:r>
            <a:r>
              <a:rPr sz="3000" b="1" i="0">
                <a:solidFill>
                  <a:srgbClr val="A51C30"/>
                </a:solidFill>
                <a:latin typeface="Calibri"/>
              </a:rPr>
              <a:t>X</a:t>
            </a:r>
            <a:r>
              <a:rPr sz="3000" b="0" i="0">
                <a:solidFill>
                  <a:srgbClr val="1C1C1E"/>
                </a:solidFill>
                <a:latin typeface="Calibri"/>
              </a:rPr>
              <a:t>  →  </a:t>
            </a:r>
            <a:r>
              <a:rPr sz="3000" b="1" i="0">
                <a:solidFill>
                  <a:srgbClr val="A51C30"/>
                </a:solidFill>
                <a:latin typeface="Calibri"/>
              </a:rPr>
              <a:t>D(Y)</a:t>
            </a:r>
          </a:p>
        </p:txBody>
      </p:sp>
      <p:sp>
        <p:nvSpPr>
          <p:cNvPr id="13" name="TextBox 12"/>
          <p:cNvSpPr txBox="1"/>
          <p:nvPr/>
        </p:nvSpPr>
        <p:spPr>
          <a:xfrm>
            <a:off x="1005840"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f  </a:t>
            </a:r>
            <a:r>
              <a:rPr sz="950" b="1" i="0">
                <a:solidFill>
                  <a:srgbClr val="1C1C1E"/>
                </a:solidFill>
                <a:latin typeface="Calibri"/>
              </a:rPr>
              <a:t>the KERNEL</a:t>
            </a:r>
          </a:p>
          <a:p>
            <a:pPr algn="ctr">
              <a:spcBef>
                <a:spcPts val="0"/>
              </a:spcBef>
              <a:spcAft>
                <a:spcPts val="0"/>
              </a:spcAft>
            </a:pPr>
            <a:r>
              <a:rPr sz="819" b="0" i="0">
                <a:solidFill>
                  <a:srgbClr val="4A4F57"/>
                </a:solidFill>
                <a:latin typeface="Calibri"/>
              </a:rPr>
              <a:t>the shape of the computation</a:t>
            </a:r>
          </a:p>
        </p:txBody>
      </p:sp>
      <p:sp>
        <p:nvSpPr>
          <p:cNvPr id="14" name="TextBox 13"/>
          <p:cNvSpPr txBox="1"/>
          <p:nvPr/>
        </p:nvSpPr>
        <p:spPr>
          <a:xfrm>
            <a:off x="3550843"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P  </a:t>
            </a:r>
            <a:r>
              <a:rPr sz="950" b="1" i="0">
                <a:solidFill>
                  <a:srgbClr val="1C1C1E"/>
                </a:solidFill>
                <a:latin typeface="Calibri"/>
              </a:rPr>
              <a:t>the PARAMETERS</a:t>
            </a:r>
          </a:p>
          <a:p>
            <a:pPr algn="ctr">
              <a:spcBef>
                <a:spcPts val="0"/>
              </a:spcBef>
              <a:spcAft>
                <a:spcPts val="0"/>
              </a:spcAft>
            </a:pPr>
            <a:r>
              <a:rPr sz="819" b="0" i="0">
                <a:solidFill>
                  <a:srgbClr val="4A4F57"/>
                </a:solidFill>
                <a:latin typeface="Calibri"/>
              </a:rPr>
              <a:t>the numbers it runs with</a:t>
            </a:r>
          </a:p>
        </p:txBody>
      </p:sp>
      <p:sp>
        <p:nvSpPr>
          <p:cNvPr id="15" name="TextBox 14"/>
          <p:cNvSpPr txBox="1"/>
          <p:nvPr/>
        </p:nvSpPr>
        <p:spPr>
          <a:xfrm>
            <a:off x="6095847"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X  </a:t>
            </a:r>
            <a:r>
              <a:rPr sz="950" b="1" i="0">
                <a:solidFill>
                  <a:srgbClr val="1C1C1E"/>
                </a:solidFill>
                <a:latin typeface="Calibri"/>
              </a:rPr>
              <a:t>the FEATURES</a:t>
            </a:r>
          </a:p>
          <a:p>
            <a:pPr algn="ctr">
              <a:spcBef>
                <a:spcPts val="0"/>
              </a:spcBef>
              <a:spcAft>
                <a:spcPts val="0"/>
              </a:spcAft>
            </a:pPr>
            <a:r>
              <a:rPr sz="819" b="0" i="0">
                <a:solidFill>
                  <a:srgbClr val="4A4F57"/>
                </a:solidFill>
                <a:latin typeface="Calibri"/>
              </a:rPr>
              <a:t>what it reads</a:t>
            </a:r>
          </a:p>
        </p:txBody>
      </p:sp>
      <p:sp>
        <p:nvSpPr>
          <p:cNvPr id="16" name="TextBox 15"/>
          <p:cNvSpPr txBox="1"/>
          <p:nvPr/>
        </p:nvSpPr>
        <p:spPr>
          <a:xfrm>
            <a:off x="8640851" y="2103120"/>
            <a:ext cx="2453563" cy="365760"/>
          </a:xfrm>
          <a:prstGeom prst="rect">
            <a:avLst/>
          </a:prstGeom>
          <a:noFill/>
        </p:spPr>
        <p:txBody>
          <a:bodyPr wrap="square" lIns="0" rIns="0" tIns="0" bIns="0" anchor="t">
            <a:spAutoFit/>
          </a:bodyPr>
          <a:lstStyle/>
          <a:p>
            <a:pPr algn="ctr">
              <a:spcBef>
                <a:spcPts val="0"/>
              </a:spcBef>
              <a:spcAft>
                <a:spcPts val="100"/>
              </a:spcAft>
            </a:pPr>
            <a:r>
              <a:rPr sz="950" b="1" i="0">
                <a:solidFill>
                  <a:srgbClr val="A51C30"/>
                </a:solidFill>
                <a:latin typeface="Calibri"/>
              </a:rPr>
              <a:t>D(Y)  </a:t>
            </a:r>
            <a:r>
              <a:rPr sz="950" b="1" i="0">
                <a:solidFill>
                  <a:srgbClr val="1C1C1E"/>
                </a:solidFill>
                <a:latin typeface="Calibri"/>
              </a:rPr>
              <a:t>the OUTPUT</a:t>
            </a:r>
          </a:p>
          <a:p>
            <a:pPr algn="ctr">
              <a:spcBef>
                <a:spcPts val="0"/>
              </a:spcBef>
              <a:spcAft>
                <a:spcPts val="0"/>
              </a:spcAft>
            </a:pPr>
            <a:r>
              <a:rPr sz="819" b="0" i="0">
                <a:solidFill>
                  <a:srgbClr val="4A4F57"/>
                </a:solidFill>
                <a:latin typeface="Calibri"/>
              </a:rPr>
              <a:t>a distribution, not a number</a:t>
            </a:r>
          </a:p>
        </p:txBody>
      </p:sp>
      <p:sp>
        <p:nvSpPr>
          <p:cNvPr id="17" name="Rectangle 16"/>
          <p:cNvSpPr/>
          <p:nvPr/>
        </p:nvSpPr>
        <p:spPr>
          <a:xfrm>
            <a:off x="777240"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905256"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Model</a:t>
            </a:r>
          </a:p>
          <a:p>
            <a:pPr>
              <a:lnSpc>
                <a:spcPct val="118000"/>
              </a:lnSpc>
              <a:spcBef>
                <a:spcPts val="0"/>
              </a:spcBef>
              <a:spcAft>
                <a:spcPts val="700"/>
              </a:spcAft>
            </a:pPr>
            <a:r>
              <a:rPr sz="860" b="0" i="0">
                <a:solidFill>
                  <a:srgbClr val="1C1C1E"/>
                </a:solidFill>
                <a:latin typeface="Calibri"/>
              </a:rPr>
              <a:t>The register entry: what this is for, who owns it, what tier it sits at.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the code, and not the numbers. Those are its versions and its parameters.</a:t>
            </a:r>
          </a:p>
        </p:txBody>
      </p:sp>
      <p:sp>
        <p:nvSpPr>
          <p:cNvPr id="20" name="Rectangle 19"/>
          <p:cNvSpPr/>
          <p:nvPr/>
        </p:nvSpPr>
        <p:spPr>
          <a:xfrm>
            <a:off x="2933943"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2933943"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3061959"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Kernel</a:t>
            </a:r>
          </a:p>
          <a:p>
            <a:pPr>
              <a:lnSpc>
                <a:spcPct val="118000"/>
              </a:lnSpc>
              <a:spcBef>
                <a:spcPts val="0"/>
              </a:spcBef>
              <a:spcAft>
                <a:spcPts val="700"/>
              </a:spcAft>
            </a:pPr>
            <a:r>
              <a:rPr sz="860" b="0" i="0">
                <a:solidFill>
                  <a:srgbClr val="1C1C1E"/>
                </a:solidFill>
                <a:latin typeface="Calibri"/>
              </a:rPr>
              <a:t>One immutable version of the model — the morphism f : P ⊗ X → D(Y), pinned by digest.</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changed by training. Training picks a point in P; the shape stays.</a:t>
            </a:r>
          </a:p>
        </p:txBody>
      </p:sp>
      <p:sp>
        <p:nvSpPr>
          <p:cNvPr id="23" name="Rectangle 22"/>
          <p:cNvSpPr/>
          <p:nvPr/>
        </p:nvSpPr>
        <p:spPr>
          <a:xfrm>
            <a:off x="5090647"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5090647"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5218663"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Feature</a:t>
            </a:r>
          </a:p>
          <a:p>
            <a:pPr>
              <a:lnSpc>
                <a:spcPct val="118000"/>
              </a:lnSpc>
              <a:spcBef>
                <a:spcPts val="0"/>
              </a:spcBef>
              <a:spcAft>
                <a:spcPts val="700"/>
              </a:spcAft>
            </a:pPr>
            <a:r>
              <a:rPr sz="860" b="0" i="0">
                <a:solidFill>
                  <a:srgbClr val="1C1C1E"/>
                </a:solidFill>
                <a:latin typeface="Calibri"/>
              </a:rPr>
              <a:t>A meaning with an entity, a type, a shape and an owner. A featureset assembles them into X.</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column. A column is where the values happen to sit today.</a:t>
            </a:r>
          </a:p>
        </p:txBody>
      </p:sp>
      <p:sp>
        <p:nvSpPr>
          <p:cNvPr id="26" name="Rectangle 25"/>
          <p:cNvSpPr/>
          <p:nvPr/>
        </p:nvSpPr>
        <p:spPr>
          <a:xfrm>
            <a:off x="7247351"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247351"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7375367"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Parameters</a:t>
            </a:r>
          </a:p>
          <a:p>
            <a:pPr>
              <a:lnSpc>
                <a:spcPct val="118000"/>
              </a:lnSpc>
              <a:spcBef>
                <a:spcPts val="0"/>
              </a:spcBef>
              <a:spcAft>
                <a:spcPts val="700"/>
              </a:spcAft>
            </a:pPr>
            <a:r>
              <a:rPr sz="860" b="0" i="0">
                <a:solidFill>
                  <a:srgbClr val="1C1C1E"/>
                </a:solidFill>
                <a:latin typeface="Calibri"/>
              </a:rPr>
              <a:t>An inhabitant of P: the coefficients, weights or constants the kernel runs with.</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 new model. A retrain gives a new parameter set, not a new version.</a:t>
            </a:r>
          </a:p>
        </p:txBody>
      </p:sp>
      <p:sp>
        <p:nvSpPr>
          <p:cNvPr id="29" name="Rectangle 28"/>
          <p:cNvSpPr/>
          <p:nvPr/>
        </p:nvSpPr>
        <p:spPr>
          <a:xfrm>
            <a:off x="9404055" y="2724912"/>
            <a:ext cx="2010399" cy="2340864"/>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Rectangle 29"/>
          <p:cNvSpPr/>
          <p:nvPr/>
        </p:nvSpPr>
        <p:spPr>
          <a:xfrm>
            <a:off x="9404055" y="2724912"/>
            <a:ext cx="201039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532071" y="2871216"/>
            <a:ext cx="1754367" cy="2048256"/>
          </a:xfrm>
          <a:prstGeom prst="rect">
            <a:avLst/>
          </a:prstGeom>
          <a:noFill/>
        </p:spPr>
        <p:txBody>
          <a:bodyPr wrap="square" lIns="0" rIns="0" tIns="0" bIns="0" anchor="t">
            <a:spAutoFit/>
          </a:bodyPr>
          <a:lstStyle/>
          <a:p>
            <a:pPr algn="l">
              <a:spcBef>
                <a:spcPts val="0"/>
              </a:spcBef>
              <a:spcAft>
                <a:spcPts val="500"/>
              </a:spcAft>
            </a:pPr>
            <a:r>
              <a:rPr sz="1200" b="1" i="0">
                <a:solidFill>
                  <a:srgbClr val="1C1C1E"/>
                </a:solidFill>
                <a:latin typeface="Georgia"/>
              </a:rPr>
              <a:t>Warrant</a:t>
            </a:r>
          </a:p>
          <a:p>
            <a:pPr>
              <a:lnSpc>
                <a:spcPct val="118000"/>
              </a:lnSpc>
              <a:spcBef>
                <a:spcPts val="0"/>
              </a:spcBef>
              <a:spcAft>
                <a:spcPts val="700"/>
              </a:spcAft>
            </a:pPr>
            <a:r>
              <a:rPr sz="860" b="0" i="0">
                <a:solidFill>
                  <a:srgbClr val="1C1C1E"/>
                </a:solidFill>
                <a:latin typeface="Calibri"/>
              </a:rPr>
              <a:t>A signed, expiring document: this kernel, at that point in P, over that data, by whom, until when.</a:t>
            </a:r>
          </a:p>
          <a:p>
            <a:pPr>
              <a:lnSpc>
                <a:spcPct val="116000"/>
              </a:lnSpc>
              <a:spcBef>
                <a:spcPts val="0"/>
              </a:spcBef>
              <a:spcAft>
                <a:spcPts val="0"/>
              </a:spcAft>
            </a:pPr>
            <a:r>
              <a:rPr sz="819" b="1" i="0">
                <a:solidFill>
                  <a:srgbClr val="A51C30"/>
                </a:solidFill>
                <a:latin typeface="Calibri"/>
              </a:rPr>
              <a:t>Not  </a:t>
            </a:r>
            <a:r>
              <a:rPr sz="819" b="0" i="0">
                <a:solidFill>
                  <a:srgbClr val="4A4F57"/>
                </a:solidFill>
                <a:latin typeface="Calibri"/>
              </a:rPr>
              <a:t>Not an execution. MAYA issues it; an engine acts on it and MAYA never runs anything.</a:t>
            </a:r>
          </a:p>
        </p:txBody>
      </p:sp>
      <p:sp>
        <p:nvSpPr>
          <p:cNvPr id="32" name="Rectangle 31"/>
          <p:cNvSpPr/>
          <p:nvPr/>
        </p:nvSpPr>
        <p:spPr>
          <a:xfrm>
            <a:off x="777240" y="5248656"/>
            <a:ext cx="10637215" cy="7315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Rectangle 32"/>
          <p:cNvSpPr/>
          <p:nvPr/>
        </p:nvSpPr>
        <p:spPr>
          <a:xfrm>
            <a:off x="777240" y="5248656"/>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4" name="TextBox 33"/>
          <p:cNvSpPr txBox="1"/>
          <p:nvPr/>
        </p:nvSpPr>
        <p:spPr>
          <a:xfrm>
            <a:off x="1014983" y="5367528"/>
            <a:ext cx="10180015" cy="5120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How they correlate. </a:t>
            </a:r>
            <a:r>
              <a:rPr sz="1050" b="0" i="0">
                <a:solidFill>
                  <a:srgbClr val="1C1C1E"/>
                </a:solidFill>
                <a:latin typeface="Calibri"/>
              </a:rPr>
              <a:t>A MODEL owns versions; each version is a KERNEL. A FEATURESET presents X. A fit inhabits P and returns PARAMETERS. A WARRANT is what names a kernel, a point in P and a source of X together — </a:t>
            </a:r>
            <a:r>
              <a:rPr sz="1050" b="1" i="0">
                <a:solidFill>
                  <a:srgbClr val="1C1C1E"/>
                </a:solidFill>
                <a:latin typeface="Calibri"/>
              </a:rPr>
              <a:t>which is why it is the only one of the five that can be acted 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pinned Delta version</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an inhabitant of P comes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 append-only, hash-linked, and verified by re-deriving each node rather than re-reading it</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object is for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graphicFrame>
        <p:nvGraphicFramePr>
          <p:cNvPr id="10" name="Table 9"/>
          <p:cNvGraphicFramePr>
            <a:graphicFrameLocks noGrp="1"/>
          </p:cNvGraphicFramePr>
          <p:nvPr/>
        </p:nvGraphicFramePr>
        <p:xfrm>
          <a:off x="777240" y="1353312"/>
          <a:ext cx="10637214" cy="2546350"/>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Delta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what may be run, by whom, until when, on what data</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an inhabitant of P: the numbers a fit produced</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119118"/>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19118"/>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237990"/>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the single structural decision this platform makes over and over, and it is why </a:t>
            </a:r>
            <a:r>
              <a:rPr sz="1050" b="1" i="0">
                <a:solidFill>
                  <a:srgbClr val="1C1C1E"/>
                </a:solidFill>
                <a:latin typeface="Calibri"/>
              </a:rPr>
              <a:t>the same identifier resolves to the same bytes a year later.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clocks, never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Rectangle 9"/>
          <p:cNvSpPr/>
          <p:nvPr/>
        </p:nvSpPr>
        <p:spPr>
          <a:xfrm>
            <a:off x="777240" y="1353312"/>
            <a:ext cx="5956840" cy="156088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56088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event_ts    when the fact was TRUE in the world</a:t>
            </a:r>
          </a:p>
          <a:p>
            <a:pPr>
              <a:lnSpc>
                <a:spcPct val="134000"/>
              </a:lnSpc>
              <a:spcBef>
                <a:spcPts val="0"/>
              </a:spcBef>
              <a:spcAft>
                <a:spcPts val="0"/>
              </a:spcAft>
            </a:pPr>
            <a:r>
              <a:rPr sz="1000" b="0" i="0">
                <a:solidFill>
                  <a:srgbClr val="1C1C1E"/>
                </a:solidFill>
                <a:latin typeface="Consolas"/>
              </a:rPr>
              <a:t>ingest_ts   when the platform LEARNED it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point-in-time rule:</a:t>
            </a:r>
          </a:p>
          <a:p>
            <a:pPr>
              <a:lnSpc>
                <a:spcPct val="134000"/>
              </a:lnSpc>
              <a:spcBef>
                <a:spcPts val="0"/>
              </a:spcBef>
              <a:spcAft>
                <a:spcPts val="0"/>
              </a:spcAft>
            </a:pPr>
            <a:r>
              <a:rPr sz="1000" b="0" i="0">
                <a:solidFill>
                  <a:srgbClr val="1C1C1E"/>
                </a:solidFill>
                <a:latin typeface="Consolas"/>
              </a:rPr>
              <a:t>    event_ts  &lt;= label_ts</a:t>
            </a:r>
          </a:p>
          <a:p>
            <a:pPr>
              <a:lnSpc>
                <a:spcPct val="134000"/>
              </a:lnSpc>
              <a:spcBef>
                <a:spcPts val="0"/>
              </a:spcBef>
              <a:spcAft>
                <a:spcPts val="0"/>
              </a:spcAft>
            </a:pPr>
            <a:r>
              <a:rPr sz="1000" b="0" i="0">
                <a:solidFill>
                  <a:srgbClr val="1C1C1E"/>
                </a:solidFill>
                <a:latin typeface="Consolas"/>
              </a:rPr>
              <a:t>    ingest_ts &lt;= as_of</a:t>
            </a:r>
          </a:p>
        </p:txBody>
      </p:sp>
      <p:sp>
        <p:nvSpPr>
          <p:cNvPr id="13" name="TextBox 12"/>
          <p:cNvSpPr txBox="1"/>
          <p:nvPr/>
        </p:nvSpPr>
        <p:spPr>
          <a:xfrm>
            <a:off x="777240" y="3151936"/>
            <a:ext cx="5956840" cy="2011680"/>
          </a:xfrm>
          <a:prstGeom prst="rect">
            <a:avLst/>
          </a:prstGeom>
          <a:noFill/>
        </p:spPr>
        <p:txBody>
          <a:bodyPr wrap="square" lIns="0" rIns="0" tIns="0" bIns="0" anchor="t">
            <a:spAutoFit/>
          </a:bodyPr>
          <a:lstStyle/>
          <a:p>
            <a:pPr algn="l">
              <a:lnSpc>
                <a:spcPct val="126000"/>
              </a:lnSpc>
              <a:spcBef>
                <a:spcPts val="0"/>
              </a:spcBef>
              <a:spcAft>
                <a:spcPts val="800"/>
              </a:spcAft>
            </a:pPr>
            <a:r>
              <a:rPr sz="1150" b="0" i="0">
                <a:solidFill>
                  <a:srgbClr val="1C1C1E"/>
                </a:solidFill>
                <a:latin typeface="Calibri"/>
              </a:rPr>
              <a:t>“What did we know, and when did we know it” is a different question from “what was true”, and a training set built without both answers only the second.</a:t>
            </a:r>
          </a:p>
          <a:p>
            <a:pPr>
              <a:lnSpc>
                <a:spcPct val="124000"/>
              </a:lnSpc>
              <a:spcBef>
                <a:spcPts val="0"/>
              </a:spcBef>
              <a:spcAft>
                <a:spcPts val="0"/>
              </a:spcAft>
            </a:pPr>
            <a:r>
              <a:rPr sz="1100" b="0" i="0">
                <a:solidFill>
                  <a:srgbClr val="4A4F57"/>
                </a:solidFill>
                <a:latin typeface="Calibri"/>
              </a:rPr>
              <a:t>A row missing either clock is refused at the upload rather than two layers later during assembly — which is where it stops being fixable.</a:t>
            </a:r>
          </a:p>
        </p:txBody>
      </p:sp>
      <p:sp>
        <p:nvSpPr>
          <p:cNvPr id="14" name="TextBox 13"/>
          <p:cNvSpPr txBox="1"/>
          <p:nvPr/>
        </p:nvSpPr>
        <p:spPr>
          <a:xfrm>
            <a:off x="7159569" y="1353312"/>
            <a:ext cx="4254886"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Where the clocks decide the answer</a:t>
            </a:r>
          </a:p>
        </p:txBody>
      </p:sp>
      <p:graphicFrame>
        <p:nvGraphicFramePr>
          <p:cNvPr id="15" name="Table 14"/>
          <p:cNvGraphicFramePr>
            <a:graphicFrameLocks noGrp="1"/>
          </p:cNvGraphicFramePr>
          <p:nvPr/>
        </p:nvGraphicFramePr>
        <p:xfrm>
          <a:off x="7159569" y="1737360"/>
          <a:ext cx="4254885" cy="2658856"/>
        </p:xfrm>
        <a:graphic>
          <a:graphicData uri="http://schemas.openxmlformats.org/drawingml/2006/table">
            <a:tbl>
              <a:tblPr>
                <a:tableStyleId>{5C22544A-7EE6-4342-B048-85BDC9FD1C3A}</a:tableStyleId>
              </a:tblPr>
              <a:tblGrid>
                <a:gridCol w="1172264"/>
                <a:gridCol w="3082621"/>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Assembly</a:t>
                      </a:r>
                    </a:p>
                  </a:txBody>
                  <a:tcPr marL="82296" marR="64008" marT="32004" marB="32004" anchor="ctr">
                    <a:solidFill>
                      <a:srgbClr val="FFFFFF"/>
                    </a:solidFill>
                  </a:tcPr>
                </a:tc>
                <a:tc>
                  <a:txBody>
                    <a:bodyPr wrap="square"/>
                    <a:lstStyle/>
                    <a:p>
                      <a:pPr algn="l"/>
                      <a:r>
                        <a:rPr sz="950" b="0">
                          <a:solidFill>
                            <a:srgbClr val="1C1C1E"/>
                          </a:solidFill>
                          <a:latin typeface="Calibri"/>
                        </a:rPr>
                        <a:t>the latest fact true by the label date AND known by as_of</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Normalisation</a:t>
                      </a:r>
                    </a:p>
                  </a:txBody>
                  <a:tcPr marL="82296" marR="64008" marT="32004" marB="32004" anchor="ctr">
                    <a:solidFill>
                      <a:srgbClr val="F6F3EF"/>
                    </a:solidFill>
                  </a:tcPr>
                </a:tc>
                <a:tc>
                  <a:txBody>
                    <a:bodyPr wrap="square"/>
                    <a:lstStyle/>
                    <a:p>
                      <a:pPr algn="l"/>
                      <a:r>
                        <a:rPr sz="950" b="0">
                          <a:solidFill>
                            <a:srgbClr val="1C1C1E"/>
                          </a:solidFill>
                          <a:latin typeface="Calibri"/>
                        </a:rPr>
                        <a:t>statistics fitted only from what was knowable then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Derived features</a:t>
                      </a:r>
                    </a:p>
                  </a:txBody>
                  <a:tcPr marL="82296" marR="64008" marT="32004" marB="32004" anchor="ctr">
                    <a:solidFill>
                      <a:srgbClr val="FFFFFF"/>
                    </a:solidFill>
                  </a:tcPr>
                </a:tc>
                <a:tc>
                  <a:txBody>
                    <a:bodyPr wrap="square"/>
                    <a:lstStyle/>
                    <a:p>
                      <a:pPr algn="l"/>
                      <a:r>
                        <a:rPr sz="950" b="0">
                          <a:solidFill>
                            <a:srgbClr val="1C1C1E"/>
                          </a:solidFill>
                          <a:latin typeface="Calibri"/>
                        </a:rPr>
                        <a:t>ingest_ts(Z) = max over the inputs</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Alignment</a:t>
                      </a:r>
                    </a:p>
                  </a:txBody>
                  <a:tcPr marL="82296" marR="64008" marT="32004" marB="32004" anchor="ctr">
                    <a:solidFill>
                      <a:srgbClr val="F6F3EF"/>
                    </a:solidFill>
                  </a:tcPr>
                </a:tc>
                <a:tc>
                  <a:txBody>
                    <a:bodyPr wrap="square"/>
                    <a:lstStyle/>
                    <a:p>
                      <a:pPr algn="l"/>
                      <a:r>
                        <a:rPr sz="950" b="0">
                          <a:solidFill>
                            <a:srgbClr val="1C1C1E"/>
                          </a:solidFill>
                          <a:latin typeface="Calibri"/>
                        </a:rPr>
                        <a:t>a back-filled value carries the clock it became knowable at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Telemetry</a:t>
                      </a:r>
                    </a:p>
                  </a:txBody>
                  <a:tcPr marL="82296" marR="64008" marT="32004" marB="32004" anchor="ctr">
                    <a:solidFill>
                      <a:srgbClr val="FFFFFF"/>
                    </a:solidFill>
                  </a:tcPr>
                </a:tc>
                <a:tc>
                  <a:txBody>
                    <a:bodyPr wrap="square"/>
                    <a:lstStyle/>
                    <a:p>
                      <a:pPr algn="l"/>
                      <a:r>
                        <a:rPr sz="950" b="0">
                          <a:solidFill>
                            <a:srgbClr val="1C1C1E"/>
                          </a:solidFill>
                          <a:latin typeface="Calibri"/>
                        </a:rPr>
                        <a:t>a review of last quarter sees last quarter's population</a:t>
                      </a:r>
                    </a:p>
                  </a:txBody>
                  <a:tcPr marL="82296" marR="64008" marT="32004" marB="32004"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Engineering a Feature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meaning, a shape, a lineage, and an owner who answers for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Not always a number</a:t>
            </a:r>
          </a:p>
          <a:p>
            <a:pPr>
              <a:lnSpc>
                <a:spcPct val="115000"/>
              </a:lnSpc>
              <a:spcBef>
                <a:spcPts val="0"/>
              </a:spcBef>
              <a:spcAft>
                <a:spcPts val="700"/>
              </a:spcAft>
            </a:pPr>
            <a:r>
              <a:rPr sz="1150" b="0" i="0">
                <a:solidFill>
                  <a:srgbClr val="F6E6E9"/>
                </a:solidFill>
                <a:latin typeface="Calibri"/>
              </a:rPr>
              <a:t>Derived features</a:t>
            </a:r>
          </a:p>
          <a:p>
            <a:pPr>
              <a:lnSpc>
                <a:spcPct val="115000"/>
              </a:lnSpc>
              <a:spcBef>
                <a:spcPts val="0"/>
              </a:spcBef>
              <a:spcAft>
                <a:spcPts val="700"/>
              </a:spcAft>
            </a:pPr>
            <a:r>
              <a:rPr sz="1150" b="0" i="0">
                <a:solidFill>
                  <a:srgbClr val="F6E6E9"/>
                </a:solidFill>
                <a:latin typeface="Calibri"/>
              </a:rPr>
              <a:t>The leakage rules</a:t>
            </a:r>
          </a:p>
          <a:p>
            <a:pPr>
              <a:lnSpc>
                <a:spcPct val="115000"/>
              </a:lnSpc>
              <a:spcBef>
                <a:spcPts val="0"/>
              </a:spcBef>
              <a:spcAft>
                <a:spcPts val="700"/>
              </a:spcAft>
            </a:pPr>
            <a:r>
              <a:rPr sz="1150" b="0" i="0">
                <a:solidFill>
                  <a:srgbClr val="F6E6E9"/>
                </a:solidFill>
                <a:latin typeface="Calibri"/>
              </a:rPr>
              <a:t>Sealing and ownership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Resolution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Rectangle 9"/>
          <p:cNvSpPr/>
          <p:nvPr/>
        </p:nvSpPr>
        <p:spPr>
          <a:xfrm>
            <a:off x="777240" y="1353312"/>
            <a:ext cx="5318607"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a:t>
            </a:r>
          </a:p>
          <a:p>
            <a:pPr>
              <a:lnSpc>
                <a:spcPct val="134000"/>
              </a:lnSpc>
              <a:spcBef>
                <a:spcPts val="0"/>
              </a:spcBef>
              <a:spcAft>
                <a:spcPts val="0"/>
              </a:spcAft>
            </a:pPr>
            <a:r>
              <a:rPr sz="900" b="0" i="0">
                <a:solidFill>
                  <a:srgbClr val="7A7F87"/>
                </a:solidFill>
                <a:latin typeface="Consolas"/>
              </a:rPr>
              <a:t># the row's own clock. whitelisted at the AST,</a:t>
            </a:r>
          </a:p>
          <a:p>
            <a:pPr>
              <a:lnSpc>
                <a:spcPct val="134000"/>
              </a:lnSpc>
              <a:spcBef>
                <a:spcPts val="0"/>
              </a:spcBef>
              <a:spcAft>
                <a:spcPts val="0"/>
              </a:spcAft>
            </a:pPr>
            <a:r>
              <a:rPr sz="900" b="0" i="0">
                <a:solidFill>
                  <a:srgbClr val="7A7F87"/>
                </a:solidFill>
                <a:latin typeface="Consolas"/>
              </a:rPr>
              <a:t># so what cannot be expressed cannot be smuggled in.</a:t>
            </a:r>
          </a:p>
        </p:txBody>
      </p:sp>
      <p:sp>
        <p:nvSpPr>
          <p:cNvPr id="13" name="Rectangle 12"/>
          <p:cNvSpPr/>
          <p:nvPr/>
        </p:nvSpPr>
        <p:spPr>
          <a:xfrm>
            <a:off x="777240" y="3216264"/>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216264"/>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335136"/>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141524"/>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the transitive closure</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Certification is the meet</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a:t>
                      </a:r>
                    </a:p>
                  </a:txBody>
                  <a:tcPr marL="82296" marR="64008" marT="32004" marB="32004" anchor="ctr">
                    <a:solidFill>
                      <a:srgbClr val="F6F3E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Rectangle 9"/>
          <p:cNvSpPr/>
          <p:nvPr/>
        </p:nvSpPr>
        <p:spPr>
          <a:xfrm>
            <a:off x="777240" y="1353312"/>
            <a:ext cx="5744096"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featureset's LABEL</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427536"/>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They are one idea applied four times.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Engineering a Feature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That combination is the point. A parent that cannot move is a parent worth building on, and evolution moves to a child where it stays visible.</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Composing a Featureset</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schema, versions that fill it, and one fold that does both.</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Schema and constituents</a:t>
            </a:r>
          </a:p>
          <a:p>
            <a:pPr>
              <a:lnSpc>
                <a:spcPct val="115000"/>
              </a:lnSpc>
              <a:spcBef>
                <a:spcPts val="0"/>
              </a:spcBef>
              <a:spcAft>
                <a:spcPts val="700"/>
              </a:spcAft>
            </a:pPr>
            <a:r>
              <a:rPr sz="1150" b="0" i="0">
                <a:solidFill>
                  <a:srgbClr val="F6E6E9"/>
                </a:solidFill>
                <a:latin typeface="Calibri"/>
              </a:rPr>
              <a:t>The composition monoid</a:t>
            </a:r>
          </a:p>
          <a:p>
            <a:pPr>
              <a:lnSpc>
                <a:spcPct val="115000"/>
              </a:lnSpc>
              <a:spcBef>
                <a:spcPts val="0"/>
              </a:spcBef>
              <a:spcAft>
                <a:spcPts val="700"/>
              </a:spcAft>
            </a:pPr>
            <a:r>
              <a:rPr sz="1150" b="0" i="0">
                <a:solidFill>
                  <a:srgbClr val="F6E6E9"/>
                </a:solidFill>
                <a:latin typeface="Calibri"/>
              </a:rPr>
              <a:t>Rolling forward</a:t>
            </a:r>
          </a:p>
          <a:p>
            <a:pPr>
              <a:lnSpc>
                <a:spcPct val="115000"/>
              </a:lnSpc>
              <a:spcBef>
                <a:spcPts val="0"/>
              </a:spcBef>
              <a:spcAft>
                <a:spcPts val="700"/>
              </a:spcAft>
            </a:pPr>
            <a:r>
              <a:rPr sz="1150" b="0" i="0">
                <a:solidFill>
                  <a:srgbClr val="F6E6E9"/>
                </a:solidFill>
                <a:latin typeface="Calibri"/>
              </a:rPr>
              <a:t>Retrieval policy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5956840"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numeric</a:t>
            </a:r>
          </a:p>
          <a:p>
            <a:pPr>
              <a:lnSpc>
                <a:spcPct val="134000"/>
              </a:lnSpc>
              <a:spcBef>
                <a:spcPts val="0"/>
              </a:spcBef>
              <a:spcAft>
                <a:spcPts val="0"/>
              </a:spcAft>
            </a:pPr>
            <a:r>
              <a:rPr sz="950" b="0" i="0">
                <a:solidFill>
                  <a:srgbClr val="1C1C1E"/>
                </a:solidFill>
                <a:latin typeface="Consolas"/>
              </a:rPr>
              <a:t>         us_index: numeric</a:t>
            </a:r>
          </a:p>
          <a:p>
            <a:pPr>
              <a:lnSpc>
                <a:spcPct val="134000"/>
              </a:lnSpc>
              <a:spcBef>
                <a:spcPts val="0"/>
              </a:spcBef>
              <a:spcAft>
                <a:spcPts val="0"/>
              </a:spcAft>
            </a:pPr>
            <a:r>
              <a:rPr sz="950" b="0" i="0">
                <a:solidFill>
                  <a:srgbClr val="1C1C1E"/>
                </a:solidFill>
                <a:latin typeface="Consolas"/>
              </a:rPr>
              <a:t>         daily_index: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@v1   gb_index→UKRPI  us_index→USCPI  daily→DAILY_INFL</a:t>
            </a:r>
          </a:p>
          <a:p>
            <a:pPr>
              <a:lnSpc>
                <a:spcPct val="134000"/>
              </a:lnSpc>
              <a:spcBef>
                <a:spcPts val="0"/>
              </a:spcBef>
              <a:spcAft>
                <a:spcPts val="0"/>
              </a:spcAft>
            </a:pPr>
            <a:r>
              <a:rPr sz="950" b="0" i="0">
                <a:solidFill>
                  <a:srgbClr val="1C1C1E"/>
                </a:solidFill>
                <a:latin typeface="Consolas"/>
              </a:rPr>
              <a:t>@v2   gb_index→UKRPI  us_index→USCPI  daily→EUHICP</a:t>
            </a:r>
          </a:p>
        </p:txBody>
      </p:sp>
      <p:sp>
        <p:nvSpPr>
          <p:cNvPr id="13" name="TextBox 12"/>
          <p:cNvSpPr txBox="1"/>
          <p:nvPr/>
        </p:nvSpPr>
        <p:spPr>
          <a:xfrm>
            <a:off x="777240" y="3309602"/>
            <a:ext cx="5956840" cy="164592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@v2 draws on a different feature entirely, and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not a version of this featureset — it is a different one, or it is a model change, and the register decides which so nobody has to remember.</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Delta location</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that named views without pinning them would resolve to different bytes next month with its digest unchanged — which is adversarial finding C-2, </a:t>
            </a:r>
            <a:r>
              <a:rPr sz="1050" b="1" i="0">
                <a:solidFill>
                  <a:srgbClr val="1C1C1E"/>
                </a:solidFill>
                <a:latin typeface="Calibri"/>
              </a:rPr>
              <a:t>one level out from the 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TextBox 39"/>
          <p:cNvSpPr txBox="1"/>
          <p:nvPr/>
        </p:nvSpPr>
        <p:spPr>
          <a:xfrm>
            <a:off x="777240" y="4219956"/>
            <a:ext cx="10637215" cy="40233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 parent is sealed, and that is the point. </a:t>
            </a:r>
            <a:r>
              <a:rPr sz="1000" b="0" i="0">
                <a:solidFill>
                  <a:srgbClr val="4A4F57"/>
                </a:solidFill>
                <a:latin typeface="Calibri"/>
              </a:rPr>
              <a:t>A sealed feature takes no amendment and can still be composed from, so a parent that cannot move is a parent worth building on — and the change lives in the child, where a reviewer sees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1000"/>
              </a:spcAft>
            </a:pPr>
            <a:r>
              <a:rPr sz="1000" b="0" i="0">
                <a:solidFill>
                  <a:srgbClr val="4A4F57"/>
                </a:solidFill>
                <a:latin typeface="Calibri"/>
              </a:rPr>
              <a:t>That is the only rule there is. If a parent could beat a child, naming a parent would be an act of surrender; if the order did not matter, ‘combine these two’ would be ambiguous whenever they disagreed.</a:t>
            </a:r>
          </a:p>
          <a:p>
            <a:pPr>
              <a:lnSpc>
                <a:spcPct val="124000"/>
              </a:lnSpc>
              <a:spcBef>
                <a:spcPts val="0"/>
              </a:spcBef>
              <a:spcAft>
                <a:spcPts val="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Modifying something other things are built 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Amend it</a:t>
            </a:r>
          </a:p>
        </p:txBody>
      </p:sp>
      <p:sp>
        <p:nvSpPr>
          <p:cNvPr id="14" name="TextBox 13"/>
          <p:cNvSpPr txBox="1"/>
          <p:nvPr/>
        </p:nvSpPr>
        <p:spPr>
          <a:xfrm>
            <a:off x="996695"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4A4F57"/>
                </a:solidFill>
                <a:latin typeface="Calibri"/>
              </a:rPr>
              <a:t>Changes the definition and advances its version. Allowed while the feature is open, and every child records which version it composed against.</a:t>
            </a:r>
          </a:p>
        </p:txBody>
      </p:sp>
      <p:sp>
        <p:nvSpPr>
          <p:cNvPr id="15" name="Rectangle 14"/>
          <p:cNvSpPr/>
          <p:nvPr/>
        </p:nvSpPr>
        <p:spPr>
          <a:xfrm>
            <a:off x="3486835"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86835"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06291"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3706291"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 it</a:t>
            </a:r>
          </a:p>
        </p:txBody>
      </p:sp>
      <p:sp>
        <p:nvSpPr>
          <p:cNvPr id="19" name="TextBox 18"/>
          <p:cNvSpPr txBox="1"/>
          <p:nvPr/>
        </p:nvSpPr>
        <p:spPr>
          <a:xfrm>
            <a:off x="3706291"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amendment, no further versions, no change of owner — and still composable. A parent that cannot move is a parent worth building on.</a:t>
            </a:r>
          </a:p>
        </p:txBody>
      </p:sp>
      <p:sp>
        <p:nvSpPr>
          <p:cNvPr id="20" name="Rectangle 19"/>
          <p:cNvSpPr/>
          <p:nvPr/>
        </p:nvSpPr>
        <p:spPr>
          <a:xfrm>
            <a:off x="6196431"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196431"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15887"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6415887"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Compose a child</a:t>
            </a:r>
          </a:p>
        </p:txBody>
      </p:sp>
      <p:sp>
        <p:nvSpPr>
          <p:cNvPr id="24" name="TextBox 23"/>
          <p:cNvSpPr txBox="1"/>
          <p:nvPr/>
        </p:nvSpPr>
        <p:spPr>
          <a:xfrm>
            <a:off x="6415887"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way to change a sealed thing. The change lives where a reviewer sees it, beside the parent it departs from.</a:t>
            </a:r>
          </a:p>
        </p:txBody>
      </p:sp>
      <p:sp>
        <p:nvSpPr>
          <p:cNvPr id="25" name="Rectangle 24"/>
          <p:cNvSpPr/>
          <p:nvPr/>
        </p:nvSpPr>
        <p:spPr>
          <a:xfrm>
            <a:off x="8906027" y="1353312"/>
            <a:ext cx="250842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06027" y="1353312"/>
            <a:ext cx="250842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25483" y="1572768"/>
            <a:ext cx="206951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4</a:t>
            </a:r>
          </a:p>
        </p:txBody>
      </p:sp>
      <p:sp>
        <p:nvSpPr>
          <p:cNvPr id="28" name="TextBox 27"/>
          <p:cNvSpPr txBox="1"/>
          <p:nvPr/>
        </p:nvSpPr>
        <p:spPr>
          <a:xfrm>
            <a:off x="9125483" y="1847088"/>
            <a:ext cx="206951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Roll forward</a:t>
            </a:r>
          </a:p>
        </p:txBody>
      </p:sp>
      <p:sp>
        <p:nvSpPr>
          <p:cNvPr id="29" name="TextBox 28"/>
          <p:cNvSpPr txBox="1"/>
          <p:nvPr/>
        </p:nvSpPr>
        <p:spPr>
          <a:xfrm>
            <a:off x="9125483" y="2157984"/>
            <a:ext cx="206951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For a featureset: mint a version re-resolved to the newest view versions, with a diff naming every slot that moved.</a:t>
            </a:r>
          </a:p>
        </p:txBody>
      </p:sp>
      <p:sp>
        <p:nvSpPr>
          <p:cNvPr id="30" name="Rectangle 29"/>
          <p:cNvSpPr/>
          <p:nvPr/>
        </p:nvSpPr>
        <p:spPr>
          <a:xfrm>
            <a:off x="777240" y="3529584"/>
            <a:ext cx="10637215" cy="9326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29584"/>
            <a:ext cx="45720" cy="9326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1014983" y="3648456"/>
            <a:ext cx="10180015" cy="731520"/>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 But it is never silent, because a stable name over moving contents is the failure this platform was built around.</a:t>
            </a:r>
          </a:p>
        </p:txBody>
      </p:sp>
      <p:sp>
        <p:nvSpPr>
          <p:cNvPr id="33" name="TextBox 32"/>
          <p:cNvSpPr txBox="1"/>
          <p:nvPr/>
        </p:nvSpPr>
        <p:spPr>
          <a:xfrm>
            <a:off x="777240" y="4626864"/>
            <a:ext cx="10637215" cy="3657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Which is why sealing and composing are the same idea from two sides. </a:t>
            </a:r>
            <a:r>
              <a:rPr sz="1000" b="0" i="0">
                <a:solidFill>
                  <a:srgbClr val="4A4F57"/>
                </a:solidFill>
                <a:latin typeface="Calibri"/>
              </a:rPr>
              <a:t>A sealed parent cannot drift, because the amendment that would move it is refused — so sealing turns a promise about stability into a property of the object.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Composition: one fold, two objects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744096" cy="17002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002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compose([a, b, c])  =  merge(merge(a, b), c)</a:t>
            </a:r>
          </a:p>
          <a:p>
            <a:pPr>
              <a:lnSpc>
                <a:spcPct val="134000"/>
              </a:lnSpc>
              <a:spcBef>
                <a:spcPts val="0"/>
              </a:spcBef>
              <a:spcAft>
                <a:spcPts val="0"/>
              </a:spcAft>
            </a:pPr>
            <a:r>
              <a:rPr sz="950" b="0" i="0">
                <a:solidFill>
                  <a:srgbClr val="1C1C1E"/>
                </a:solidFill>
                <a:latin typeface="Consolas"/>
              </a:rPr>
              <a:t>                       then the object's OWN operations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merge is associative;  {} is its identity</a:t>
            </a:r>
          </a:p>
          <a:p>
            <a:pPr>
              <a:lnSpc>
                <a:spcPct val="134000"/>
              </a:lnSpc>
              <a:spcBef>
                <a:spcPts val="0"/>
              </a:spcBef>
              <a:spcAft>
                <a:spcPts val="0"/>
              </a:spcAft>
            </a:pPr>
            <a:r>
              <a:rPr sz="950" b="0" i="0">
                <a:solidFill>
                  <a:srgbClr val="1C1C1E"/>
                </a:solidFill>
                <a:latin typeface="Consolas"/>
              </a:rPr>
              <a:t>  ⇒ composition is a MONOID</a:t>
            </a:r>
          </a:p>
          <a:p>
            <a:pPr>
              <a:lnSpc>
                <a:spcPct val="134000"/>
              </a:lnSpc>
              <a:spcBef>
                <a:spcPts val="0"/>
              </a:spcBef>
              <a:spcAft>
                <a:spcPts val="0"/>
              </a:spcAft>
            </a:pPr>
            <a:r>
              <a:rPr sz="950" b="0" i="0">
                <a:solidFill>
                  <a:srgbClr val="1C1C1E"/>
                </a:solidFill>
                <a:latin typeface="Consolas"/>
              </a:rPr>
              <a:t>  ⇒ 'a combination of features is a feature'</a:t>
            </a:r>
          </a:p>
          <a:p>
            <a:pPr>
              <a:lnSpc>
                <a:spcPct val="134000"/>
              </a:lnSpc>
              <a:spcBef>
                <a:spcPts val="0"/>
              </a:spcBef>
              <a:spcAft>
                <a:spcPts val="0"/>
              </a:spcAft>
            </a:pPr>
            <a:r>
              <a:rPr sz="950" b="0" i="0">
                <a:solidFill>
                  <a:srgbClr val="1C1C1E"/>
                </a:solidFill>
                <a:latin typeface="Consolas"/>
              </a:rPr>
              <a:t>     is a statement, not an aspiration</a:t>
            </a:r>
          </a:p>
        </p:txBody>
      </p:sp>
      <p:sp>
        <p:nvSpPr>
          <p:cNvPr id="13" name="TextBox 12"/>
          <p:cNvSpPr txBox="1"/>
          <p:nvPr/>
        </p:nvSpPr>
        <p:spPr>
          <a:xfrm>
            <a:off x="777240" y="3291314"/>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Left to right, the rightmost wins, and an object’s own operations are applied last — because if a parent could override a child, naming a parent would be an act of surrender.</a:t>
            </a:r>
          </a:p>
          <a:p>
            <a:pPr>
              <a:lnSpc>
                <a:spcPct val="125000"/>
              </a:lnSpc>
              <a:spcBef>
                <a:spcPts val="0"/>
              </a:spcBef>
              <a:spcAft>
                <a:spcPts val="0"/>
              </a:spcAft>
            </a:pPr>
            <a:r>
              <a:rPr sz="1100" b="0" i="0">
                <a:solidFill>
                  <a:srgbClr val="4A4F57"/>
                </a:solidFill>
                <a:latin typeface="Calibri"/>
              </a:rPr>
              <a:t>Inheriting from one parent and combining several are the same operation at different arities, so there is one mechanism and inheritance is the one-parent case.</a:t>
            </a:r>
          </a:p>
        </p:txBody>
      </p:sp>
      <p:sp>
        <p:nvSpPr>
          <p:cNvPr id="14" name="TextBox 13"/>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operation is total</a:t>
            </a:r>
          </a:p>
        </p:txBody>
      </p:sp>
      <p:graphicFrame>
        <p:nvGraphicFramePr>
          <p:cNvPr id="15" name="Table 14"/>
          <p:cNvGraphicFramePr>
            <a:graphicFrameLocks noGrp="1"/>
          </p:cNvGraphicFramePr>
          <p:nvPr/>
        </p:nvGraphicFramePr>
        <p:xfrm>
          <a:off x="6946824" y="1719072"/>
          <a:ext cx="4467629" cy="2287827"/>
        </p:xfrm>
        <a:graphic>
          <a:graphicData uri="http://schemas.openxmlformats.org/drawingml/2006/table">
            <a:tbl>
              <a:tblPr firstRow="1">
                <a:tableStyleId>{5C22544A-7EE6-4342-B048-85BDC9FD1C3A}</a:tableStyleId>
              </a:tblPr>
              <a:tblGrid>
                <a:gridCol w="1624592"/>
                <a:gridCol w="2843037"/>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drop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a drop that quietly does nothing leaves a child differing from what its author wrote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add of something present</a:t>
                      </a:r>
                    </a:p>
                  </a:txBody>
                  <a:tcPr marL="82296" marR="64008" marT="32004" marB="32004" anchor="ctr">
                    <a:solidFill>
                      <a:srgbClr val="F6F3EF"/>
                    </a:solidFill>
                  </a:tcPr>
                </a:tc>
                <a:tc>
                  <a:txBody>
                    <a:bodyPr wrap="square"/>
                    <a:lstStyle/>
                    <a:p>
                      <a:pPr algn="l"/>
                      <a:r>
                        <a:rPr sz="900" b="0">
                          <a:solidFill>
                            <a:srgbClr val="1C1C1E"/>
                          </a:solidFill>
                          <a:latin typeface="Calibri"/>
                        </a:rPr>
                        <a:t>say override — the two read differently to a reviewer and should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override of something absent</a:t>
                      </a:r>
                    </a:p>
                  </a:txBody>
                  <a:tcPr marL="82296" marR="64008" marT="32004" marB="32004" anchor="ctr">
                    <a:solidFill>
                      <a:srgbClr val="FFFFFF"/>
                    </a:solidFill>
                  </a:tcPr>
                </a:tc>
                <a:tc>
                  <a:txBody>
                    <a:bodyPr wrap="square"/>
                    <a:lstStyle/>
                    <a:p>
                      <a:pPr algn="l"/>
                      <a:r>
                        <a:rPr sz="900" b="0">
                          <a:solidFill>
                            <a:srgbClr val="1C1C1E"/>
                          </a:solidFill>
                          <a:latin typeface="Calibri"/>
                        </a:rPr>
                        <a:t>say add</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a cycle</a:t>
                      </a:r>
                    </a:p>
                  </a:txBody>
                  <a:tcPr marL="82296" marR="64008" marT="32004" marB="32004" anchor="ctr">
                    <a:solidFill>
                      <a:srgbClr val="F6F3EF"/>
                    </a:solidFill>
                  </a:tcPr>
                </a:tc>
                <a:tc>
                  <a:txBody>
                    <a:bodyPr wrap="square"/>
                    <a:lstStyle/>
                    <a:p>
                      <a:pPr algn="l"/>
                      <a:r>
                        <a:rPr sz="900" b="0">
                          <a:solidFill>
                            <a:srgbClr val="1C1C1E"/>
                          </a:solidFill>
                          <a:latin typeface="Calibri"/>
                        </a:rPr>
                        <a:t>there is no fixed point to resolve to</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an ephemeral parent</a:t>
                      </a:r>
                    </a:p>
                  </a:txBody>
                  <a:tcPr marL="82296" marR="64008" marT="32004" marB="32004" anchor="ctr">
                    <a:solidFill>
                      <a:srgbClr val="FFFFFF"/>
                    </a:solidFill>
                  </a:tcPr>
                </a:tc>
                <a:tc>
                  <a:txBody>
                    <a:bodyPr wrap="square"/>
                    <a:lstStyle/>
                    <a:p>
                      <a:pPr algn="l"/>
                      <a:r>
                        <a:rPr sz="900" b="0">
                          <a:solidFill>
                            <a:srgbClr val="1C1C1E"/>
                          </a:solidFill>
                          <a:latin typeface="Calibri"/>
                        </a:rPr>
                        <a:t>it resolves today and dangles tomorrow</a:t>
                      </a:r>
                    </a:p>
                  </a:txBody>
                  <a:tcPr marL="82296" marR="64008" marT="32004" marB="32004"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Aligning onto an axis, and the leakage that cannot hide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Composing a Featureset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graphicFrame>
        <p:nvGraphicFramePr>
          <p:cNvPr id="10" name="Table 9"/>
          <p:cNvGraphicFramePr>
            <a:graphicFrameLocks noGrp="1"/>
          </p:cNvGraphicFramePr>
          <p:nvPr/>
        </p:nvGraphicFramePr>
        <p:xfrm>
          <a:off x="777240" y="1764792"/>
          <a:ext cx="5318606" cy="1596136"/>
        </p:xfrm>
        <a:graphic>
          <a:graphicData uri="http://schemas.openxmlformats.org/drawingml/2006/table">
            <a:tbl>
              <a:tblPr firstRow="1">
                <a:tableStyleId>{5C22544A-7EE6-4342-B048-85BDC9FD1C3A}</a:tableStyleId>
              </a:tblPr>
              <a:tblGrid>
                <a:gridCol w="1270115"/>
                <a:gridCol w="2302083"/>
                <a:gridCol w="1746408"/>
              </a:tblGrid>
              <a:tr h="329184">
                <a:tc>
                  <a:txBody>
                    <a:bodyPr wrap="square"/>
                    <a:lstStyle/>
                    <a:p>
                      <a:pPr algn="l"/>
                      <a:r>
                        <a:rPr sz="1000" b="1">
                          <a:solidFill>
                            <a:srgbClr val="FFFFFF"/>
                          </a:solidFill>
                          <a:latin typeface="Calibri"/>
                        </a:rPr>
                        <a:t>Rule</a:t>
                      </a:r>
                    </a:p>
                  </a:txBody>
                  <a:tcPr marL="82296" marR="64008" marT="32004" marB="32004" anchor="ctr">
                    <a:solidFill>
                      <a:srgbClr val="A51C30"/>
                    </a:solidFill>
                  </a:tcPr>
                </a:tc>
                <a:tc>
                  <a:txBody>
                    <a:bodyPr wrap="square"/>
                    <a:lstStyle/>
                    <a:p>
                      <a:pPr algn="l"/>
                      <a:r>
                        <a:rPr sz="1000" b="1">
                          <a:solidFill>
                            <a:srgbClr val="FFFFFF"/>
                          </a:solidFill>
                          <a:latin typeface="Calibri"/>
                        </a:rPr>
                        <a:t>Fills from</a:t>
                      </a:r>
                    </a:p>
                  </a:txBody>
                  <a:tcPr marL="82296" marR="64008" marT="32004" marB="32004" anchor="ctr">
                    <a:solidFill>
                      <a:srgbClr val="A51C30"/>
                    </a:solidFill>
                  </a:tcPr>
                </a:tc>
                <a:tc>
                  <a:txBody>
                    <a:bodyPr wrap="square"/>
                    <a:lstStyle/>
                    <a:p>
                      <a:pPr algn="l"/>
                      <a:r>
                        <a:rPr sz="1000" b="1">
                          <a:solidFill>
                            <a:srgbClr val="FFFFFF"/>
                          </a:solidFill>
                          <a:latin typeface="Calibri"/>
                        </a:rPr>
                        <a:t>Safe for training</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FFFF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6F3E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FFFFF"/>
                    </a:solidFill>
                  </a:tcPr>
                </a:tc>
                <a:tc>
                  <a:txBody>
                    <a:bodyPr wrap="square"/>
                    <a:lstStyle/>
                    <a:p>
                      <a:pPr algn="l"/>
                      <a:r>
                        <a:rPr sz="1000" b="0">
                          <a:solidFill>
                            <a:srgbClr val="1C1C1E"/>
                          </a:solidFill>
                          <a:latin typeface="Calibri"/>
                        </a:rPr>
                        <a:t>both neighbours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6F3E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bl>
          </a:graphicData>
        </a:graphic>
      </p:graphicFrame>
      <p:sp>
        <p:nvSpPr>
          <p:cNvPr id="11" name="TextBox 10"/>
          <p:cNvSpPr txBox="1"/>
          <p:nvPr/>
        </p:nvSpPr>
        <p:spPr>
          <a:xfrm>
            <a:off x="777240" y="3598671"/>
            <a:ext cx="5318607" cy="164592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last three reach into the future. They are right for drawing a curve or for an explicitly retrospective backtest, and wrong for training.</a:t>
            </a:r>
          </a:p>
          <a:p>
            <a:pPr>
              <a:lnSpc>
                <a:spcPct val="125000"/>
              </a:lnSpc>
              <a:spcBef>
                <a:spcPts val="0"/>
              </a:spcBef>
              <a:spcAft>
                <a:spcPts val="0"/>
              </a:spcAft>
            </a:pPr>
            <a:r>
              <a:rPr sz="1150" b="1" i="0">
                <a:solidFill>
                  <a:srgbClr val="A51C30"/>
                </a:solidFill>
                <a:latin typeface="Calibri"/>
              </a:rPr>
              <a:t>They are not refused. They are stamped honestly.</a:t>
            </a:r>
          </a:p>
        </p:txBody>
      </p:sp>
      <p:sp>
        <p:nvSpPr>
          <p:cNvPr id="12" name="Rectangle 11"/>
          <p:cNvSpPr/>
          <p:nvPr/>
        </p:nvSpPr>
        <p:spPr>
          <a:xfrm>
            <a:off x="6521336" y="1764792"/>
            <a:ext cx="4893118"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176479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22504" y="1865376"/>
            <a:ext cx="4527358"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grid  t=0   100.0   ingest_ts 0.0</a:t>
            </a:r>
          </a:p>
          <a:p>
            <a:pPr>
              <a:lnSpc>
                <a:spcPct val="134000"/>
              </a:lnSpc>
              <a:spcBef>
                <a:spcPts val="0"/>
              </a:spcBef>
              <a:spcAft>
                <a:spcPts val="0"/>
              </a:spcAft>
            </a:pPr>
            <a:r>
              <a:rPr sz="900" b="0" i="0">
                <a:solidFill>
                  <a:srgbClr val="1C1C1E"/>
                </a:solidFill>
                <a:latin typeface="Consolas"/>
              </a:rPr>
              <a:t>grid  t=1   400.0   ingest_ts 3.0   ← filled from t=3</a:t>
            </a:r>
          </a:p>
          <a:p>
            <a:pPr>
              <a:lnSpc>
                <a:spcPct val="134000"/>
              </a:lnSpc>
              <a:spcBef>
                <a:spcPts val="0"/>
              </a:spcBef>
              <a:spcAft>
                <a:spcPts val="0"/>
              </a:spcAft>
            </a:pPr>
            <a:r>
              <a:rPr sz="900" b="0" i="0">
                <a:solidFill>
                  <a:srgbClr val="1C1C1E"/>
                </a:solidFill>
                <a:latin typeface="Consolas"/>
              </a:rPr>
              <a:t>grid  t=2   400.0   ingest_ts 3.0</a:t>
            </a:r>
          </a:p>
          <a:p>
            <a:pPr>
              <a:lnSpc>
                <a:spcPct val="134000"/>
              </a:lnSpc>
              <a:spcBef>
                <a:spcPts val="0"/>
              </a:spcBef>
              <a:spcAft>
                <a:spcPts val="0"/>
              </a:spcAft>
            </a:pPr>
            <a:r>
              <a:rPr sz="900" b="0" i="0">
                <a:solidFill>
                  <a:srgbClr val="1C1C1E"/>
                </a:solidFill>
                <a:latin typeface="Consolas"/>
              </a:rPr>
              <a:t>grid  t=3   400.0   ingest_ts 3.0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 point-in-time read at as_of = 1</a:t>
            </a:r>
          </a:p>
          <a:p>
            <a:pPr>
              <a:lnSpc>
                <a:spcPct val="134000"/>
              </a:lnSpc>
              <a:spcBef>
                <a:spcPts val="0"/>
              </a:spcBef>
              <a:spcAft>
                <a:spcPts val="0"/>
              </a:spcAft>
            </a:pPr>
            <a:r>
              <a:rPr sz="900" b="0" i="0">
                <a:solidFill>
                  <a:srgbClr val="7A7F87"/>
                </a:solidFill>
                <a:latin typeface="Consolas"/>
              </a:rPr>
              <a:t># excludes rows 2 and 3 by the ORDINARY rule</a:t>
            </a:r>
          </a:p>
        </p:txBody>
      </p:sp>
      <p:sp>
        <p:nvSpPr>
          <p:cNvPr id="15" name="TextBox 14"/>
          <p:cNvSpPr txBox="1"/>
          <p:nvPr/>
        </p:nvSpPr>
        <p:spPr>
          <a:xfrm>
            <a:off x="6521336" y="3627744"/>
            <a:ext cx="4893118" cy="146304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A value derived from a later observation inherits that observation’s ingest clock, because that is genuinely when it became knowable.</a:t>
            </a:r>
          </a:p>
          <a:p>
            <a:pPr>
              <a:lnSpc>
                <a:spcPct val="125000"/>
              </a:lnSpc>
              <a:spcBef>
                <a:spcPts val="0"/>
              </a:spcBef>
              <a:spcAft>
                <a:spcPts val="0"/>
              </a:spcAft>
            </a:pPr>
            <a:r>
              <a:rPr sz="1100" b="0" i="0">
                <a:solidFill>
                  <a:srgbClr val="4A4F57"/>
                </a:solidFill>
                <a:latin typeface="Calibri"/>
              </a:rPr>
              <a:t>The leakage is not caught by a check. It is made arithmetically impossible to hide, by the bitemporal machinery already here.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Warrants, and What Comes Back</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A featureset version and a model version meet; a parameter set returns.</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fit warrant</a:t>
            </a:r>
          </a:p>
          <a:p>
            <a:pPr>
              <a:lnSpc>
                <a:spcPct val="115000"/>
              </a:lnSpc>
              <a:spcBef>
                <a:spcPts val="0"/>
              </a:spcBef>
              <a:spcAft>
                <a:spcPts val="700"/>
              </a:spcAft>
            </a:pPr>
            <a:r>
              <a:rPr sz="1150" b="0" i="0">
                <a:solidFill>
                  <a:srgbClr val="F6E6E9"/>
                </a:solidFill>
                <a:latin typeface="Calibri"/>
              </a:rPr>
              <a:t>The parameter object</a:t>
            </a:r>
          </a:p>
          <a:p>
            <a:pPr>
              <a:lnSpc>
                <a:spcPct val="115000"/>
              </a:lnSpc>
              <a:spcBef>
                <a:spcPts val="0"/>
              </a:spcBef>
              <a:spcAft>
                <a:spcPts val="700"/>
              </a:spcAft>
            </a:pPr>
            <a:r>
              <a:rPr sz="1150" b="0" i="0">
                <a:solidFill>
                  <a:srgbClr val="F6E6E9"/>
                </a:solidFill>
                <a:latin typeface="Calibri"/>
              </a:rPr>
              <a:t>The scoring warrant</a:t>
            </a:r>
          </a:p>
          <a:p>
            <a:pPr>
              <a:lnSpc>
                <a:spcPct val="115000"/>
              </a:lnSpc>
              <a:spcBef>
                <a:spcPts val="0"/>
              </a:spcBef>
              <a:spcAft>
                <a:spcPts val="700"/>
              </a:spcAft>
            </a:pPr>
            <a:r>
              <a:rPr sz="1150" b="0" i="0">
                <a:solidFill>
                  <a:srgbClr val="F6E6E9"/>
                </a:solidFill>
                <a:latin typeface="Calibri"/>
              </a:rPr>
              <a:t>Three routes to 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744096" cy="22041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2041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021281"/>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776929"/>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77692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895801"/>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 Without that, “which data produced these numbers” has no answer.</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inhabitant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What MAYA Refuses, and Why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refusals are the product. Everything else is bookkeeping.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refusals that matter</a:t>
            </a:r>
          </a:p>
          <a:p>
            <a:pPr>
              <a:lnSpc>
                <a:spcPct val="115000"/>
              </a:lnSpc>
              <a:spcBef>
                <a:spcPts val="0"/>
              </a:spcBef>
              <a:spcAft>
                <a:spcPts val="700"/>
              </a:spcAft>
            </a:pPr>
            <a:r>
              <a:rPr sz="1150" b="0" i="0">
                <a:solidFill>
                  <a:srgbClr val="F6E6E9"/>
                </a:solidFill>
                <a:latin typeface="Calibri"/>
              </a:rPr>
              <a:t>What it deliberately will not do</a:t>
            </a:r>
          </a:p>
          <a:p>
            <a:pPr>
              <a:lnSpc>
                <a:spcPct val="115000"/>
              </a:lnSpc>
              <a:spcBef>
                <a:spcPts val="0"/>
              </a:spcBef>
              <a:spcAft>
                <a:spcPts val="700"/>
              </a:spcAft>
            </a:pPr>
            <a:r>
              <a:rPr sz="1150" b="0" i="0">
                <a:solidFill>
                  <a:srgbClr val="F6E6E9"/>
                </a:solidFill>
                <a:latin typeface="Calibri"/>
              </a:rPr>
              <a:t>Where the boundary 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captive engine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the rest of it worth relying on — </a:t>
            </a:r>
            <a:r>
              <a:rPr sz="1050" b="1" i="0">
                <a:solidFill>
                  <a:srgbClr val="1C1C1E"/>
                </a:solidFill>
                <a:latin typeface="Calibri"/>
              </a:rPr>
              <a:t>and every honest gap is written down in the implementation plan.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A Worked Example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Real data, real fits: the S&amp;P 500 and the US unemployment rate.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data, and its two clocks</a:t>
            </a:r>
          </a:p>
          <a:p>
            <a:pPr>
              <a:lnSpc>
                <a:spcPct val="115000"/>
              </a:lnSpc>
              <a:spcBef>
                <a:spcPts val="0"/>
              </a:spcBef>
              <a:spcAft>
                <a:spcPts val="700"/>
              </a:spcAft>
            </a:pPr>
            <a:r>
              <a:rPr sz="1150" b="0" i="0">
                <a:solidFill>
                  <a:srgbClr val="F6E6E9"/>
                </a:solidFill>
                <a:latin typeface="Calibri"/>
              </a:rPr>
              <a:t>The gap that is really there</a:t>
            </a:r>
          </a:p>
          <a:p>
            <a:pPr>
              <a:lnSpc>
                <a:spcPct val="115000"/>
              </a:lnSpc>
              <a:spcBef>
                <a:spcPts val="0"/>
              </a:spcBef>
              <a:spcAft>
                <a:spcPts val="700"/>
              </a:spcAft>
            </a:pPr>
            <a:r>
              <a:rPr sz="1150" b="0" i="0">
                <a:solidFill>
                  <a:srgbClr val="F6E6E9"/>
                </a:solidFill>
                <a:latin typeface="Calibri"/>
              </a:rPr>
              <a:t>Two models over one X</a:t>
            </a:r>
          </a:p>
          <a:p>
            <a:pPr>
              <a:lnSpc>
                <a:spcPct val="115000"/>
              </a:lnSpc>
              <a:spcBef>
                <a:spcPts val="0"/>
              </a:spcBef>
              <a:spcAft>
                <a:spcPts val="700"/>
              </a:spcAft>
            </a:pPr>
            <a:r>
              <a:rPr sz="1150" b="0" i="0">
                <a:solidFill>
                  <a:srgbClr val="F6E6E9"/>
                </a:solidFill>
                <a:latin typeface="Calibri"/>
              </a:rPr>
              <a:t>Extending it, and what that forces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258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not a hypothetical about leakage. It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Nothing was constructed to make this slide interesting — the hole is in the series.</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They are the data every number in this chapter was computed from, carrying their own provenance in the header — which series, from where, retrieved when, and which column means what.</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 and a file that did not say so would be inviting somebody to rely on it.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258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in the repository, at docs/examples/, as CSV. </a:t>
            </a:r>
            <a:r>
              <a:rPr sz="1050" b="0" i="0">
                <a:solidFill>
                  <a:srgbClr val="1C1C1E"/>
                </a:solidFill>
                <a:latin typeface="Calibri"/>
              </a:rPr>
              <a:t>The deck is regenerated from source rather than edited as a binary, so the figures and the files cannot drift apart — </a:t>
            </a:r>
            <a:r>
              <a:rPr sz="1050" b="1" i="0">
                <a:solidFill>
                  <a:srgbClr val="1C1C1E"/>
                </a:solidFill>
                <a:latin typeface="Calibri"/>
              </a:rPr>
              <a:t>the generator reads these same two CSVs.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1143000" y="100584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TextBox 4"/>
          <p:cNvSpPr txBox="1"/>
          <p:nvPr/>
        </p:nvSpPr>
        <p:spPr>
          <a:xfrm>
            <a:off x="1143000" y="1280160"/>
            <a:ext cx="8509772" cy="2377440"/>
          </a:xfrm>
          <a:prstGeom prst="rect">
            <a:avLst/>
          </a:prstGeom>
          <a:noFill/>
        </p:spPr>
        <p:txBody>
          <a:bodyPr wrap="square" lIns="0" rIns="0" tIns="0" bIns="0" anchor="t">
            <a:spAutoFit/>
          </a:bodyPr>
          <a:lstStyle/>
          <a:p>
            <a:pPr algn="l">
              <a:spcBef>
                <a:spcPts val="0"/>
              </a:spcBef>
              <a:spcAft>
                <a:spcPts val="1400"/>
              </a:spcAft>
            </a:pPr>
            <a:r>
              <a:rPr sz="3400" b="0" i="0">
                <a:solidFill>
                  <a:srgbClr val="FFFFFF"/>
                </a:solidFill>
                <a:latin typeface="Georgia"/>
              </a:rPr>
              <a:t>One idea, applied everywhere</a:t>
            </a:r>
          </a:p>
          <a:p>
            <a:pPr>
              <a:lnSpc>
                <a:spcPct val="132000"/>
              </a:lnSpc>
              <a:spcBef>
                <a:spcPts val="0"/>
              </a:spcBef>
              <a:spcAft>
                <a:spcPts val="0"/>
              </a:spcAft>
            </a:pPr>
            <a:r>
              <a:rPr sz="1500" b="0" i="1">
                <a:solidFill>
                  <a:srgbClr val="F4DFE3"/>
                </a:solidFill>
                <a:latin typeface="Calibri"/>
              </a:rPr>
              <a:t>A pin is to a version, never to a name. A clock records when something became knowable, not when it was written down. A refusal says what to do instead. And what the platform will not do is written down beside what it will.</a:t>
            </a:r>
          </a:p>
        </p:txBody>
      </p:sp>
      <p:sp>
        <p:nvSpPr>
          <p:cNvPr id="6" name="TextBox 5"/>
          <p:cNvSpPr txBox="1"/>
          <p:nvPr/>
        </p:nvSpPr>
        <p:spPr>
          <a:xfrm>
            <a:off x="1143000" y="3858768"/>
            <a:ext cx="7871539" cy="192024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