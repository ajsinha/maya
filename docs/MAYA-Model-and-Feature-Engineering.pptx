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3977639"/>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Rectangle 3"/>
          <p:cNvSpPr/>
          <p:nvPr/>
        </p:nvSpPr>
        <p:spPr>
          <a:xfrm>
            <a:off x="0" y="3977639"/>
            <a:ext cx="12191695" cy="54864"/>
          </a:xfrm>
          <a:prstGeom prst="rect">
            <a:avLst/>
          </a:prstGeom>
          <a:solidFill>
            <a:srgbClr val="B88B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 name="Rectangle 4"/>
          <p:cNvSpPr/>
          <p:nvPr/>
        </p:nvSpPr>
        <p:spPr>
          <a:xfrm>
            <a:off x="0" y="0"/>
            <a:ext cx="182880" cy="3977639"/>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pic>
        <p:nvPicPr>
          <p:cNvPr id="6" name="Picture 5" descr="maya-mark-white.png"/>
          <p:cNvPicPr>
            <a:picLocks noChangeAspect="1"/>
          </p:cNvPicPr>
          <p:nvPr/>
        </p:nvPicPr>
        <p:blipFill>
          <a:blip r:embed="rId2"/>
          <a:stretch>
            <a:fillRect/>
          </a:stretch>
        </p:blipFill>
        <p:spPr>
          <a:xfrm>
            <a:off x="1051560" y="640080"/>
            <a:ext cx="731520" cy="731520"/>
          </a:xfrm>
          <a:prstGeom prst="rect">
            <a:avLst/>
          </a:prstGeom>
        </p:spPr>
      </p:pic>
      <p:sp>
        <p:nvSpPr>
          <p:cNvPr id="7" name="TextBox 6"/>
          <p:cNvSpPr txBox="1"/>
          <p:nvPr/>
        </p:nvSpPr>
        <p:spPr>
          <a:xfrm>
            <a:off x="1911095" y="905256"/>
            <a:ext cx="9686239" cy="310896"/>
          </a:xfrm>
          <a:prstGeom prst="rect">
            <a:avLst/>
          </a:prstGeom>
          <a:noFill/>
        </p:spPr>
        <p:txBody>
          <a:bodyPr wrap="square" lIns="0" rIns="0" tIns="0" bIns="0" anchor="t">
            <a:spAutoFit/>
          </a:bodyPr>
          <a:lstStyle/>
          <a:p>
            <a:pPr algn="l">
              <a:spcBef>
                <a:spcPts val="0"/>
              </a:spcBef>
              <a:spcAft>
                <a:spcPts val="0"/>
              </a:spcAft>
            </a:pPr>
            <a:r>
              <a:rPr sz="1100" b="1" i="0">
                <a:solidFill>
                  <a:srgbClr val="E8B8C0"/>
                </a:solidFill>
                <a:latin typeface="Calibri"/>
              </a:rPr>
              <a:t>MAYA  ·  MODEL &amp; AI LIFECYCLE ASSURANCE PLATFORM</a:t>
            </a:r>
          </a:p>
        </p:txBody>
      </p:sp>
      <p:sp>
        <p:nvSpPr>
          <p:cNvPr id="8" name="TextBox 7"/>
          <p:cNvSpPr txBox="1"/>
          <p:nvPr/>
        </p:nvSpPr>
        <p:spPr>
          <a:xfrm>
            <a:off x="1051560" y="1481328"/>
            <a:ext cx="9360749" cy="1828800"/>
          </a:xfrm>
          <a:prstGeom prst="rect">
            <a:avLst/>
          </a:prstGeom>
          <a:noFill/>
        </p:spPr>
        <p:txBody>
          <a:bodyPr wrap="square" lIns="0" rIns="0" tIns="0" bIns="0" anchor="t">
            <a:spAutoFit/>
          </a:bodyPr>
          <a:lstStyle/>
          <a:p>
            <a:pPr algn="l">
              <a:spcBef>
                <a:spcPts val="0"/>
              </a:spcBef>
              <a:spcAft>
                <a:spcPts val="400"/>
              </a:spcAft>
            </a:pPr>
            <a:r>
              <a:rPr sz="4200" b="0" i="0">
                <a:solidFill>
                  <a:srgbClr val="FFFFFF"/>
                </a:solidFill>
                <a:latin typeface="Georgia"/>
              </a:rPr>
              <a:t>Model and Feature Engineering</a:t>
            </a:r>
          </a:p>
        </p:txBody>
      </p:sp>
      <p:sp>
        <p:nvSpPr>
          <p:cNvPr id="9" name="Rectangle 8"/>
          <p:cNvSpPr/>
          <p:nvPr/>
        </p:nvSpPr>
        <p:spPr>
          <a:xfrm>
            <a:off x="1051560" y="2999232"/>
            <a:ext cx="155448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0" name="TextBox 9"/>
          <p:cNvSpPr txBox="1"/>
          <p:nvPr/>
        </p:nvSpPr>
        <p:spPr>
          <a:xfrm>
            <a:off x="1051560" y="3236976"/>
            <a:ext cx="8935260" cy="731520"/>
          </a:xfrm>
          <a:prstGeom prst="rect">
            <a:avLst/>
          </a:prstGeom>
          <a:noFill/>
        </p:spPr>
        <p:txBody>
          <a:bodyPr wrap="square" lIns="0" rIns="0" tIns="0" bIns="0" anchor="t">
            <a:spAutoFit/>
          </a:bodyPr>
          <a:lstStyle/>
          <a:p>
            <a:pPr algn="l">
              <a:lnSpc>
                <a:spcPct val="125000"/>
              </a:lnSpc>
              <a:spcBef>
                <a:spcPts val="0"/>
              </a:spcBef>
              <a:spcAft>
                <a:spcPts val="0"/>
              </a:spcAft>
            </a:pPr>
            <a:r>
              <a:rPr sz="1400" b="0" i="1">
                <a:solidFill>
                  <a:srgbClr val="F4DFE3"/>
                </a:solidFill>
                <a:latin typeface="Calibri"/>
              </a:rPr>
              <a:t>How a feature is defined, how a featureset is composed, how a warrant carries both to an execution engine — and what has to come back</a:t>
            </a:r>
          </a:p>
        </p:txBody>
      </p:sp>
      <p:sp>
        <p:nvSpPr>
          <p:cNvPr id="11" name="TextBox 10"/>
          <p:cNvSpPr txBox="1"/>
          <p:nvPr/>
        </p:nvSpPr>
        <p:spPr>
          <a:xfrm>
            <a:off x="1051560" y="4480560"/>
            <a:ext cx="5850468" cy="914400"/>
          </a:xfrm>
          <a:prstGeom prst="rect">
            <a:avLst/>
          </a:prstGeom>
          <a:noFill/>
        </p:spPr>
        <p:txBody>
          <a:bodyPr wrap="square" lIns="0" rIns="0" tIns="0" bIns="0" anchor="t">
            <a:spAutoFit/>
          </a:bodyPr>
          <a:lstStyle/>
          <a:p>
            <a:pPr algn="l">
              <a:spcBef>
                <a:spcPts val="0"/>
              </a:spcBef>
              <a:spcAft>
                <a:spcPts val="300"/>
              </a:spcAft>
            </a:pPr>
            <a:r>
              <a:rPr sz="2000" b="1" i="0">
                <a:solidFill>
                  <a:srgbClr val="1C1C1E"/>
                </a:solidFill>
                <a:latin typeface="Georgia"/>
              </a:rPr>
              <a:t>Ashutosh Sinha</a:t>
            </a:r>
          </a:p>
          <a:p>
            <a:pPr>
              <a:spcBef>
                <a:spcPts val="0"/>
              </a:spcBef>
              <a:spcAft>
                <a:spcPts val="100"/>
              </a:spcAft>
            </a:pPr>
            <a:r>
              <a:rPr sz="1200" b="0" i="0">
                <a:solidFill>
                  <a:srgbClr val="A51C30"/>
                </a:solidFill>
                <a:latin typeface="Calibri"/>
              </a:rPr>
              <a:t>Independent Researcher</a:t>
            </a:r>
          </a:p>
          <a:p>
            <a:pPr>
              <a:spcBef>
                <a:spcPts val="0"/>
              </a:spcBef>
              <a:spcAft>
                <a:spcPts val="600"/>
              </a:spcAft>
            </a:pPr>
            <a:r>
              <a:rPr sz="1050" b="0" i="0">
                <a:solidFill>
                  <a:srgbClr val="7A7F87"/>
                </a:solidFill>
                <a:latin typeface="Calibri"/>
              </a:rPr>
              <a:t>September 2026   ·   the practitioner's deck</a:t>
            </a:r>
          </a:p>
        </p:txBody>
      </p:sp>
      <p:sp>
        <p:nvSpPr>
          <p:cNvPr id="12" name="TextBox 11"/>
          <p:cNvSpPr txBox="1"/>
          <p:nvPr/>
        </p:nvSpPr>
        <p:spPr>
          <a:xfrm>
            <a:off x="6627708" y="4407408"/>
            <a:ext cx="4786746" cy="1737360"/>
          </a:xfrm>
          <a:prstGeom prst="rect">
            <a:avLst/>
          </a:prstGeom>
          <a:noFill/>
        </p:spPr>
        <p:txBody>
          <a:bodyPr wrap="square" lIns="0" rIns="0" tIns="0" bIns="0" anchor="t">
            <a:spAutoFit/>
          </a:bodyPr>
          <a:lstStyle/>
          <a:p>
            <a:pPr algn="l">
              <a:spcBef>
                <a:spcPts val="0"/>
              </a:spcBef>
              <a:spcAft>
                <a:spcPts val="600"/>
              </a:spcAft>
            </a:pPr>
            <a:r>
              <a:rPr sz="950" b="1" i="0">
                <a:solidFill>
                  <a:srgbClr val="A51C30"/>
                </a:solidFill>
                <a:latin typeface="Calibri"/>
              </a:rPr>
              <a:t>CHAPTERS</a:t>
            </a:r>
          </a:p>
          <a:p>
            <a:pPr>
              <a:spcBef>
                <a:spcPts val="0"/>
              </a:spcBef>
              <a:spcAft>
                <a:spcPts val="300"/>
              </a:spcAft>
            </a:pPr>
            <a:r>
              <a:rPr sz="1050" b="1" i="0">
                <a:solidFill>
                  <a:srgbClr val="A51C30"/>
                </a:solidFill>
                <a:latin typeface="Calibri"/>
              </a:rPr>
              <a:t>1   </a:t>
            </a:r>
            <a:r>
              <a:rPr sz="1050" b="0" i="0">
                <a:solidFill>
                  <a:srgbClr val="4A4F57"/>
                </a:solidFill>
                <a:latin typeface="Calibri"/>
              </a:rPr>
              <a:t>The shape of the whole thing</a:t>
            </a:r>
          </a:p>
          <a:p>
            <a:pPr>
              <a:spcBef>
                <a:spcPts val="0"/>
              </a:spcBef>
              <a:spcAft>
                <a:spcPts val="300"/>
              </a:spcAft>
            </a:pPr>
            <a:r>
              <a:rPr sz="1050" b="1" i="0">
                <a:solidFill>
                  <a:srgbClr val="A51C30"/>
                </a:solidFill>
                <a:latin typeface="Calibri"/>
              </a:rPr>
              <a:t>2   </a:t>
            </a:r>
            <a:r>
              <a:rPr sz="1050" b="0" i="0">
                <a:solidFill>
                  <a:srgbClr val="4A4F57"/>
                </a:solidFill>
                <a:latin typeface="Calibri"/>
              </a:rPr>
              <a:t>Engineering a feature</a:t>
            </a:r>
          </a:p>
          <a:p>
            <a:pPr>
              <a:spcBef>
                <a:spcPts val="0"/>
              </a:spcBef>
              <a:spcAft>
                <a:spcPts val="300"/>
              </a:spcAft>
            </a:pPr>
            <a:r>
              <a:rPr sz="1050" b="1" i="0">
                <a:solidFill>
                  <a:srgbClr val="A51C30"/>
                </a:solidFill>
                <a:latin typeface="Calibri"/>
              </a:rPr>
              <a:t>3   </a:t>
            </a:r>
            <a:r>
              <a:rPr sz="1050" b="0" i="0">
                <a:solidFill>
                  <a:srgbClr val="4A4F57"/>
                </a:solidFill>
                <a:latin typeface="Calibri"/>
              </a:rPr>
              <a:t>Composing a featureset</a:t>
            </a:r>
          </a:p>
          <a:p>
            <a:pPr>
              <a:spcBef>
                <a:spcPts val="0"/>
              </a:spcBef>
              <a:spcAft>
                <a:spcPts val="300"/>
              </a:spcAft>
            </a:pPr>
            <a:r>
              <a:rPr sz="1050" b="1" i="0">
                <a:solidFill>
                  <a:srgbClr val="A51C30"/>
                </a:solidFill>
                <a:latin typeface="Calibri"/>
              </a:rPr>
              <a:t>4   </a:t>
            </a:r>
            <a:r>
              <a:rPr sz="1050" b="0" i="0">
                <a:solidFill>
                  <a:srgbClr val="4A4F57"/>
                </a:solidFill>
                <a:latin typeface="Calibri"/>
              </a:rPr>
              <a:t>Warrants, and what comes back</a:t>
            </a:r>
          </a:p>
          <a:p>
            <a:pPr>
              <a:spcBef>
                <a:spcPts val="0"/>
              </a:spcBef>
              <a:spcAft>
                <a:spcPts val="300"/>
              </a:spcAft>
            </a:pPr>
            <a:r>
              <a:rPr sz="1050" b="1" i="0">
                <a:solidFill>
                  <a:srgbClr val="A51C30"/>
                </a:solidFill>
                <a:latin typeface="Calibri"/>
              </a:rPr>
              <a:t>5   </a:t>
            </a:r>
            <a:r>
              <a:rPr sz="1050" b="0" i="0">
                <a:solidFill>
                  <a:srgbClr val="4A4F57"/>
                </a:solidFill>
                <a:latin typeface="Calibri"/>
              </a:rPr>
              <a:t>What MAYA refuses, and why</a:t>
            </a:r>
          </a:p>
          <a:p>
            <a:pPr>
              <a:spcBef>
                <a:spcPts val="0"/>
              </a:spcBef>
              <a:spcAft>
                <a:spcPts val="300"/>
              </a:spcAft>
            </a:pPr>
            <a:r>
              <a:rPr sz="1050" b="1" i="0">
                <a:solidFill>
                  <a:srgbClr val="A51C30"/>
                </a:solidFill>
                <a:latin typeface="Calibri"/>
              </a:rPr>
              <a:t>6   </a:t>
            </a:r>
            <a:r>
              <a:rPr sz="1050" b="0" i="0">
                <a:solidFill>
                  <a:srgbClr val="4A4F57"/>
                </a:solidFill>
                <a:latin typeface="Calibri"/>
              </a:rPr>
              <a:t>A worked example, with the numbers</a:t>
            </a:r>
          </a:p>
        </p:txBody>
      </p:sp>
      <p:sp>
        <p:nvSpPr>
          <p:cNvPr id="13" name="Rectangle 12"/>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
            </a:r>
          </a:p>
        </p:txBody>
      </p:sp>
      <p:sp>
        <p:nvSpPr>
          <p:cNvPr id="15" name="TextBox 14"/>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1</a:t>
            </a:r>
          </a:p>
        </p:txBody>
      </p:sp>
      <p:sp>
        <p:nvSpPr>
          <p:cNvPr id="5" name="TextBox 4"/>
          <p:cNvSpPr txBox="1"/>
          <p:nvPr/>
        </p:nvSpPr>
        <p:spPr>
          <a:xfrm>
            <a:off x="1005840" y="2463393"/>
            <a:ext cx="6169584" cy="1188720"/>
          </a:xfrm>
          <a:prstGeom prst="rect">
            <a:avLst/>
          </a:prstGeom>
          <a:noFill/>
        </p:spPr>
        <p:txBody>
          <a:bodyPr wrap="square" lIns="0" rIns="0" tIns="0" bIns="0" anchor="t">
            <a:spAutoFit/>
          </a:bodyPr>
          <a:lstStyle/>
          <a:p>
            <a:pPr algn="l">
              <a:spcBef>
                <a:spcPts val="0"/>
              </a:spcBef>
              <a:spcAft>
                <a:spcPts val="0"/>
              </a:spcAft>
            </a:pPr>
            <a:r>
              <a:rPr sz="2800" b="0" i="0">
                <a:solidFill>
                  <a:srgbClr val="FFFFFF"/>
                </a:solidFill>
                <a:latin typeface="Georgia"/>
              </a:rPr>
              <a:t>The Shape of the Whole Thing</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Features, featuresets, warrants and parameters — and how they meet.</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The process end to end</a:t>
            </a:r>
          </a:p>
          <a:p>
            <a:pPr>
              <a:lnSpc>
                <a:spcPct val="115000"/>
              </a:lnSpc>
              <a:spcBef>
                <a:spcPts val="0"/>
              </a:spcBef>
              <a:spcAft>
                <a:spcPts val="700"/>
              </a:spcAft>
            </a:pPr>
            <a:r>
              <a:rPr sz="1150" b="0" i="0">
                <a:solidFill>
                  <a:srgbClr val="F6E6E9"/>
                </a:solidFill>
                <a:latin typeface="Calibri"/>
              </a:rPr>
              <a:t>What each object is for</a:t>
            </a:r>
          </a:p>
          <a:p>
            <a:pPr>
              <a:lnSpc>
                <a:spcPct val="115000"/>
              </a:lnSpc>
              <a:spcBef>
                <a:spcPts val="0"/>
              </a:spcBef>
              <a:spcAft>
                <a:spcPts val="700"/>
              </a:spcAft>
            </a:pPr>
            <a:r>
              <a:rPr sz="1150" b="0" i="0">
                <a:solidFill>
                  <a:srgbClr val="F6E6E9"/>
                </a:solidFill>
                <a:latin typeface="Calibri"/>
              </a:rPr>
              <a:t>Where the pins are</a:t>
            </a:r>
          </a:p>
          <a:p>
            <a:pPr>
              <a:lnSpc>
                <a:spcPct val="115000"/>
              </a:lnSpc>
              <a:spcBef>
                <a:spcPts val="0"/>
              </a:spcBef>
              <a:spcAft>
                <a:spcPts val="700"/>
              </a:spcAft>
            </a:pPr>
            <a:r>
              <a:rPr sz="1150" b="0" i="0">
                <a:solidFill>
                  <a:srgbClr val="F6E6E9"/>
                </a:solidFill>
                <a:latin typeface="Calibri"/>
              </a:rPr>
              <a:t>The two clocks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SHAPE OF THE WHOLE THING</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Five words, and how they hold together</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 · The Shape of the Whole 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a:t>
            </a:r>
          </a:p>
        </p:txBody>
      </p:sp>
      <p:sp>
        <p:nvSpPr>
          <p:cNvPr id="10" name="Rectangle 9"/>
          <p:cNvSpPr/>
          <p:nvPr/>
        </p:nvSpPr>
        <p:spPr>
          <a:xfrm>
            <a:off x="777240" y="1353312"/>
            <a:ext cx="10637215" cy="115214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5720" cy="115214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777240" y="1481328"/>
            <a:ext cx="10637215" cy="566928"/>
          </a:xfrm>
          <a:prstGeom prst="rect">
            <a:avLst/>
          </a:prstGeom>
          <a:noFill/>
        </p:spPr>
        <p:txBody>
          <a:bodyPr wrap="square" lIns="0" rIns="0" tIns="0" bIns="0" anchor="t">
            <a:spAutoFit/>
          </a:bodyPr>
          <a:lstStyle/>
          <a:p>
            <a:pPr algn="ctr">
              <a:spcBef>
                <a:spcPts val="0"/>
              </a:spcBef>
              <a:spcAft>
                <a:spcPts val="0"/>
              </a:spcAft>
            </a:pPr>
            <a:r>
              <a:rPr sz="3000" b="1" i="0">
                <a:solidFill>
                  <a:srgbClr val="A51C30"/>
                </a:solidFill>
                <a:latin typeface="Calibri"/>
              </a:rPr>
              <a:t>f</a:t>
            </a:r>
            <a:r>
              <a:rPr sz="3000" b="0" i="0">
                <a:solidFill>
                  <a:srgbClr val="1C1C1E"/>
                </a:solidFill>
                <a:latin typeface="Calibri"/>
              </a:rPr>
              <a:t> :  </a:t>
            </a:r>
            <a:r>
              <a:rPr sz="3000" b="1" i="0">
                <a:solidFill>
                  <a:srgbClr val="A51C30"/>
                </a:solidFill>
                <a:latin typeface="Calibri"/>
              </a:rPr>
              <a:t>P</a:t>
            </a:r>
            <a:r>
              <a:rPr sz="3000" b="0" i="0">
                <a:solidFill>
                  <a:srgbClr val="1C1C1E"/>
                </a:solidFill>
                <a:latin typeface="Calibri"/>
              </a:rPr>
              <a:t>  ⊗  </a:t>
            </a:r>
            <a:r>
              <a:rPr sz="3000" b="1" i="0">
                <a:solidFill>
                  <a:srgbClr val="A51C30"/>
                </a:solidFill>
                <a:latin typeface="Calibri"/>
              </a:rPr>
              <a:t>X</a:t>
            </a:r>
            <a:r>
              <a:rPr sz="3000" b="0" i="0">
                <a:solidFill>
                  <a:srgbClr val="1C1C1E"/>
                </a:solidFill>
                <a:latin typeface="Calibri"/>
              </a:rPr>
              <a:t>  →  </a:t>
            </a:r>
            <a:r>
              <a:rPr sz="3000" b="1" i="0">
                <a:solidFill>
                  <a:srgbClr val="A51C30"/>
                </a:solidFill>
                <a:latin typeface="Calibri"/>
              </a:rPr>
              <a:t>D(Y)</a:t>
            </a:r>
          </a:p>
        </p:txBody>
      </p:sp>
      <p:sp>
        <p:nvSpPr>
          <p:cNvPr id="13" name="TextBox 12"/>
          <p:cNvSpPr txBox="1"/>
          <p:nvPr/>
        </p:nvSpPr>
        <p:spPr>
          <a:xfrm>
            <a:off x="1005840" y="2103120"/>
            <a:ext cx="2453563" cy="365760"/>
          </a:xfrm>
          <a:prstGeom prst="rect">
            <a:avLst/>
          </a:prstGeom>
          <a:noFill/>
        </p:spPr>
        <p:txBody>
          <a:bodyPr wrap="square" lIns="0" rIns="0" tIns="0" bIns="0" anchor="t">
            <a:spAutoFit/>
          </a:bodyPr>
          <a:lstStyle/>
          <a:p>
            <a:pPr algn="ctr">
              <a:spcBef>
                <a:spcPts val="0"/>
              </a:spcBef>
              <a:spcAft>
                <a:spcPts val="100"/>
              </a:spcAft>
            </a:pPr>
            <a:r>
              <a:rPr sz="950" b="1" i="0">
                <a:solidFill>
                  <a:srgbClr val="A51C30"/>
                </a:solidFill>
                <a:latin typeface="Calibri"/>
              </a:rPr>
              <a:t>f  </a:t>
            </a:r>
            <a:r>
              <a:rPr sz="950" b="1" i="0">
                <a:solidFill>
                  <a:srgbClr val="1C1C1E"/>
                </a:solidFill>
                <a:latin typeface="Calibri"/>
              </a:rPr>
              <a:t>the KERNEL</a:t>
            </a:r>
          </a:p>
          <a:p>
            <a:pPr algn="ctr">
              <a:spcBef>
                <a:spcPts val="0"/>
              </a:spcBef>
              <a:spcAft>
                <a:spcPts val="0"/>
              </a:spcAft>
            </a:pPr>
            <a:r>
              <a:rPr sz="819" b="0" i="0">
                <a:solidFill>
                  <a:srgbClr val="4A4F57"/>
                </a:solidFill>
                <a:latin typeface="Calibri"/>
              </a:rPr>
              <a:t>the shape of the computation</a:t>
            </a:r>
          </a:p>
        </p:txBody>
      </p:sp>
      <p:sp>
        <p:nvSpPr>
          <p:cNvPr id="14" name="TextBox 13"/>
          <p:cNvSpPr txBox="1"/>
          <p:nvPr/>
        </p:nvSpPr>
        <p:spPr>
          <a:xfrm>
            <a:off x="3550843" y="2103120"/>
            <a:ext cx="2453563" cy="365760"/>
          </a:xfrm>
          <a:prstGeom prst="rect">
            <a:avLst/>
          </a:prstGeom>
          <a:noFill/>
        </p:spPr>
        <p:txBody>
          <a:bodyPr wrap="square" lIns="0" rIns="0" tIns="0" bIns="0" anchor="t">
            <a:spAutoFit/>
          </a:bodyPr>
          <a:lstStyle/>
          <a:p>
            <a:pPr algn="ctr">
              <a:spcBef>
                <a:spcPts val="0"/>
              </a:spcBef>
              <a:spcAft>
                <a:spcPts val="100"/>
              </a:spcAft>
            </a:pPr>
            <a:r>
              <a:rPr sz="950" b="1" i="0">
                <a:solidFill>
                  <a:srgbClr val="A51C30"/>
                </a:solidFill>
                <a:latin typeface="Calibri"/>
              </a:rPr>
              <a:t>P  </a:t>
            </a:r>
            <a:r>
              <a:rPr sz="950" b="1" i="0">
                <a:solidFill>
                  <a:srgbClr val="1C1C1E"/>
                </a:solidFill>
                <a:latin typeface="Calibri"/>
              </a:rPr>
              <a:t>the PARAMETERS</a:t>
            </a:r>
          </a:p>
          <a:p>
            <a:pPr algn="ctr">
              <a:spcBef>
                <a:spcPts val="0"/>
              </a:spcBef>
              <a:spcAft>
                <a:spcPts val="0"/>
              </a:spcAft>
            </a:pPr>
            <a:r>
              <a:rPr sz="819" b="0" i="0">
                <a:solidFill>
                  <a:srgbClr val="4A4F57"/>
                </a:solidFill>
                <a:latin typeface="Calibri"/>
              </a:rPr>
              <a:t>the numbers it runs with</a:t>
            </a:r>
          </a:p>
        </p:txBody>
      </p:sp>
      <p:sp>
        <p:nvSpPr>
          <p:cNvPr id="15" name="TextBox 14"/>
          <p:cNvSpPr txBox="1"/>
          <p:nvPr/>
        </p:nvSpPr>
        <p:spPr>
          <a:xfrm>
            <a:off x="6095847" y="2103120"/>
            <a:ext cx="2453563" cy="365760"/>
          </a:xfrm>
          <a:prstGeom prst="rect">
            <a:avLst/>
          </a:prstGeom>
          <a:noFill/>
        </p:spPr>
        <p:txBody>
          <a:bodyPr wrap="square" lIns="0" rIns="0" tIns="0" bIns="0" anchor="t">
            <a:spAutoFit/>
          </a:bodyPr>
          <a:lstStyle/>
          <a:p>
            <a:pPr algn="ctr">
              <a:spcBef>
                <a:spcPts val="0"/>
              </a:spcBef>
              <a:spcAft>
                <a:spcPts val="100"/>
              </a:spcAft>
            </a:pPr>
            <a:r>
              <a:rPr sz="950" b="1" i="0">
                <a:solidFill>
                  <a:srgbClr val="A51C30"/>
                </a:solidFill>
                <a:latin typeface="Calibri"/>
              </a:rPr>
              <a:t>X  </a:t>
            </a:r>
            <a:r>
              <a:rPr sz="950" b="1" i="0">
                <a:solidFill>
                  <a:srgbClr val="1C1C1E"/>
                </a:solidFill>
                <a:latin typeface="Calibri"/>
              </a:rPr>
              <a:t>the FEATURES</a:t>
            </a:r>
          </a:p>
          <a:p>
            <a:pPr algn="ctr">
              <a:spcBef>
                <a:spcPts val="0"/>
              </a:spcBef>
              <a:spcAft>
                <a:spcPts val="0"/>
              </a:spcAft>
            </a:pPr>
            <a:r>
              <a:rPr sz="819" b="0" i="0">
                <a:solidFill>
                  <a:srgbClr val="4A4F57"/>
                </a:solidFill>
                <a:latin typeface="Calibri"/>
              </a:rPr>
              <a:t>what it reads</a:t>
            </a:r>
          </a:p>
        </p:txBody>
      </p:sp>
      <p:sp>
        <p:nvSpPr>
          <p:cNvPr id="16" name="TextBox 15"/>
          <p:cNvSpPr txBox="1"/>
          <p:nvPr/>
        </p:nvSpPr>
        <p:spPr>
          <a:xfrm>
            <a:off x="8640851" y="2103120"/>
            <a:ext cx="2453563" cy="365760"/>
          </a:xfrm>
          <a:prstGeom prst="rect">
            <a:avLst/>
          </a:prstGeom>
          <a:noFill/>
        </p:spPr>
        <p:txBody>
          <a:bodyPr wrap="square" lIns="0" rIns="0" tIns="0" bIns="0" anchor="t">
            <a:spAutoFit/>
          </a:bodyPr>
          <a:lstStyle/>
          <a:p>
            <a:pPr algn="ctr">
              <a:spcBef>
                <a:spcPts val="0"/>
              </a:spcBef>
              <a:spcAft>
                <a:spcPts val="100"/>
              </a:spcAft>
            </a:pPr>
            <a:r>
              <a:rPr sz="950" b="1" i="0">
                <a:solidFill>
                  <a:srgbClr val="A51C30"/>
                </a:solidFill>
                <a:latin typeface="Calibri"/>
              </a:rPr>
              <a:t>D(Y)  </a:t>
            </a:r>
            <a:r>
              <a:rPr sz="950" b="1" i="0">
                <a:solidFill>
                  <a:srgbClr val="1C1C1E"/>
                </a:solidFill>
                <a:latin typeface="Calibri"/>
              </a:rPr>
              <a:t>the OUTPUT</a:t>
            </a:r>
          </a:p>
          <a:p>
            <a:pPr algn="ctr">
              <a:spcBef>
                <a:spcPts val="0"/>
              </a:spcBef>
              <a:spcAft>
                <a:spcPts val="0"/>
              </a:spcAft>
            </a:pPr>
            <a:r>
              <a:rPr sz="819" b="0" i="0">
                <a:solidFill>
                  <a:srgbClr val="4A4F57"/>
                </a:solidFill>
                <a:latin typeface="Calibri"/>
              </a:rPr>
              <a:t>a distribution, not a number</a:t>
            </a:r>
          </a:p>
        </p:txBody>
      </p:sp>
      <p:sp>
        <p:nvSpPr>
          <p:cNvPr id="17" name="Rectangle 16"/>
          <p:cNvSpPr/>
          <p:nvPr/>
        </p:nvSpPr>
        <p:spPr>
          <a:xfrm>
            <a:off x="777240" y="2724912"/>
            <a:ext cx="2010399" cy="2340864"/>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Rectangle 17"/>
          <p:cNvSpPr/>
          <p:nvPr/>
        </p:nvSpPr>
        <p:spPr>
          <a:xfrm>
            <a:off x="777240" y="2724912"/>
            <a:ext cx="2010399"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TextBox 18"/>
          <p:cNvSpPr txBox="1"/>
          <p:nvPr/>
        </p:nvSpPr>
        <p:spPr>
          <a:xfrm>
            <a:off x="905256" y="2871216"/>
            <a:ext cx="1754367" cy="2048256"/>
          </a:xfrm>
          <a:prstGeom prst="rect">
            <a:avLst/>
          </a:prstGeom>
          <a:noFill/>
        </p:spPr>
        <p:txBody>
          <a:bodyPr wrap="square" lIns="0" rIns="0" tIns="0" bIns="0" anchor="t">
            <a:spAutoFit/>
          </a:bodyPr>
          <a:lstStyle/>
          <a:p>
            <a:pPr algn="l">
              <a:spcBef>
                <a:spcPts val="0"/>
              </a:spcBef>
              <a:spcAft>
                <a:spcPts val="500"/>
              </a:spcAft>
            </a:pPr>
            <a:r>
              <a:rPr sz="1200" b="1" i="0">
                <a:solidFill>
                  <a:srgbClr val="1C1C1E"/>
                </a:solidFill>
                <a:latin typeface="Georgia"/>
              </a:rPr>
              <a:t>Model</a:t>
            </a:r>
          </a:p>
          <a:p>
            <a:pPr>
              <a:lnSpc>
                <a:spcPct val="118000"/>
              </a:lnSpc>
              <a:spcBef>
                <a:spcPts val="0"/>
              </a:spcBef>
              <a:spcAft>
                <a:spcPts val="700"/>
              </a:spcAft>
            </a:pPr>
            <a:r>
              <a:rPr sz="860" b="0" i="0">
                <a:solidFill>
                  <a:srgbClr val="1C1C1E"/>
                </a:solidFill>
                <a:latin typeface="Calibri"/>
              </a:rPr>
              <a:t>The register entry: what this is for, who owns it, what tier it sits at.</a:t>
            </a:r>
          </a:p>
          <a:p>
            <a:pPr>
              <a:lnSpc>
                <a:spcPct val="116000"/>
              </a:lnSpc>
              <a:spcBef>
                <a:spcPts val="0"/>
              </a:spcBef>
              <a:spcAft>
                <a:spcPts val="0"/>
              </a:spcAft>
            </a:pPr>
            <a:r>
              <a:rPr sz="819" b="1" i="0">
                <a:solidFill>
                  <a:srgbClr val="A51C30"/>
                </a:solidFill>
                <a:latin typeface="Calibri"/>
              </a:rPr>
              <a:t>Not  </a:t>
            </a:r>
            <a:r>
              <a:rPr sz="819" b="0" i="0">
                <a:solidFill>
                  <a:srgbClr val="4A4F57"/>
                </a:solidFill>
                <a:latin typeface="Calibri"/>
              </a:rPr>
              <a:t>Not the code, and not the numbers. Those are its versions and its parameters.</a:t>
            </a:r>
          </a:p>
        </p:txBody>
      </p:sp>
      <p:sp>
        <p:nvSpPr>
          <p:cNvPr id="20" name="Rectangle 19"/>
          <p:cNvSpPr/>
          <p:nvPr/>
        </p:nvSpPr>
        <p:spPr>
          <a:xfrm>
            <a:off x="2933943" y="2724912"/>
            <a:ext cx="2010399" cy="2340864"/>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2933943" y="2724912"/>
            <a:ext cx="2010399"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3061959" y="2871216"/>
            <a:ext cx="1754367" cy="2048256"/>
          </a:xfrm>
          <a:prstGeom prst="rect">
            <a:avLst/>
          </a:prstGeom>
          <a:noFill/>
        </p:spPr>
        <p:txBody>
          <a:bodyPr wrap="square" lIns="0" rIns="0" tIns="0" bIns="0" anchor="t">
            <a:spAutoFit/>
          </a:bodyPr>
          <a:lstStyle/>
          <a:p>
            <a:pPr algn="l">
              <a:spcBef>
                <a:spcPts val="0"/>
              </a:spcBef>
              <a:spcAft>
                <a:spcPts val="500"/>
              </a:spcAft>
            </a:pPr>
            <a:r>
              <a:rPr sz="1200" b="1" i="0">
                <a:solidFill>
                  <a:srgbClr val="1C1C1E"/>
                </a:solidFill>
                <a:latin typeface="Georgia"/>
              </a:rPr>
              <a:t>Kernel</a:t>
            </a:r>
          </a:p>
          <a:p>
            <a:pPr>
              <a:lnSpc>
                <a:spcPct val="118000"/>
              </a:lnSpc>
              <a:spcBef>
                <a:spcPts val="0"/>
              </a:spcBef>
              <a:spcAft>
                <a:spcPts val="700"/>
              </a:spcAft>
            </a:pPr>
            <a:r>
              <a:rPr sz="860" b="0" i="0">
                <a:solidFill>
                  <a:srgbClr val="1C1C1E"/>
                </a:solidFill>
                <a:latin typeface="Calibri"/>
              </a:rPr>
              <a:t>One immutable version of the model — the morphism f : P ⊗ X → D(Y), pinned by digest.</a:t>
            </a:r>
          </a:p>
          <a:p>
            <a:pPr>
              <a:lnSpc>
                <a:spcPct val="116000"/>
              </a:lnSpc>
              <a:spcBef>
                <a:spcPts val="0"/>
              </a:spcBef>
              <a:spcAft>
                <a:spcPts val="0"/>
              </a:spcAft>
            </a:pPr>
            <a:r>
              <a:rPr sz="819" b="1" i="0">
                <a:solidFill>
                  <a:srgbClr val="A51C30"/>
                </a:solidFill>
                <a:latin typeface="Calibri"/>
              </a:rPr>
              <a:t>Not  </a:t>
            </a:r>
            <a:r>
              <a:rPr sz="819" b="0" i="0">
                <a:solidFill>
                  <a:srgbClr val="4A4F57"/>
                </a:solidFill>
                <a:latin typeface="Calibri"/>
              </a:rPr>
              <a:t>Not changed by training. Training picks a point in P; the shape stays.</a:t>
            </a:r>
          </a:p>
        </p:txBody>
      </p:sp>
      <p:sp>
        <p:nvSpPr>
          <p:cNvPr id="23" name="Rectangle 22"/>
          <p:cNvSpPr/>
          <p:nvPr/>
        </p:nvSpPr>
        <p:spPr>
          <a:xfrm>
            <a:off x="5090647" y="2724912"/>
            <a:ext cx="2010399" cy="2340864"/>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Rectangle 23"/>
          <p:cNvSpPr/>
          <p:nvPr/>
        </p:nvSpPr>
        <p:spPr>
          <a:xfrm>
            <a:off x="5090647" y="2724912"/>
            <a:ext cx="2010399"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5" name="TextBox 24"/>
          <p:cNvSpPr txBox="1"/>
          <p:nvPr/>
        </p:nvSpPr>
        <p:spPr>
          <a:xfrm>
            <a:off x="5218663" y="2871216"/>
            <a:ext cx="1754367" cy="2048256"/>
          </a:xfrm>
          <a:prstGeom prst="rect">
            <a:avLst/>
          </a:prstGeom>
          <a:noFill/>
        </p:spPr>
        <p:txBody>
          <a:bodyPr wrap="square" lIns="0" rIns="0" tIns="0" bIns="0" anchor="t">
            <a:spAutoFit/>
          </a:bodyPr>
          <a:lstStyle/>
          <a:p>
            <a:pPr algn="l">
              <a:spcBef>
                <a:spcPts val="0"/>
              </a:spcBef>
              <a:spcAft>
                <a:spcPts val="500"/>
              </a:spcAft>
            </a:pPr>
            <a:r>
              <a:rPr sz="1200" b="1" i="0">
                <a:solidFill>
                  <a:srgbClr val="1C1C1E"/>
                </a:solidFill>
                <a:latin typeface="Georgia"/>
              </a:rPr>
              <a:t>Feature</a:t>
            </a:r>
          </a:p>
          <a:p>
            <a:pPr>
              <a:lnSpc>
                <a:spcPct val="118000"/>
              </a:lnSpc>
              <a:spcBef>
                <a:spcPts val="0"/>
              </a:spcBef>
              <a:spcAft>
                <a:spcPts val="700"/>
              </a:spcAft>
            </a:pPr>
            <a:r>
              <a:rPr sz="860" b="0" i="0">
                <a:solidFill>
                  <a:srgbClr val="1C1C1E"/>
                </a:solidFill>
                <a:latin typeface="Calibri"/>
              </a:rPr>
              <a:t>A meaning with an entity, a type, a shape and an owner. A featureset assembles them into X.</a:t>
            </a:r>
          </a:p>
          <a:p>
            <a:pPr>
              <a:lnSpc>
                <a:spcPct val="116000"/>
              </a:lnSpc>
              <a:spcBef>
                <a:spcPts val="0"/>
              </a:spcBef>
              <a:spcAft>
                <a:spcPts val="0"/>
              </a:spcAft>
            </a:pPr>
            <a:r>
              <a:rPr sz="819" b="1" i="0">
                <a:solidFill>
                  <a:srgbClr val="A51C30"/>
                </a:solidFill>
                <a:latin typeface="Calibri"/>
              </a:rPr>
              <a:t>Not  </a:t>
            </a:r>
            <a:r>
              <a:rPr sz="819" b="0" i="0">
                <a:solidFill>
                  <a:srgbClr val="4A4F57"/>
                </a:solidFill>
                <a:latin typeface="Calibri"/>
              </a:rPr>
              <a:t>Not a column. A column is where the values happen to sit today.</a:t>
            </a:r>
          </a:p>
        </p:txBody>
      </p:sp>
      <p:sp>
        <p:nvSpPr>
          <p:cNvPr id="26" name="Rectangle 25"/>
          <p:cNvSpPr/>
          <p:nvPr/>
        </p:nvSpPr>
        <p:spPr>
          <a:xfrm>
            <a:off x="7247351" y="2724912"/>
            <a:ext cx="2010399" cy="2340864"/>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247351" y="2724912"/>
            <a:ext cx="2010399"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7375367" y="2871216"/>
            <a:ext cx="1754367" cy="2048256"/>
          </a:xfrm>
          <a:prstGeom prst="rect">
            <a:avLst/>
          </a:prstGeom>
          <a:noFill/>
        </p:spPr>
        <p:txBody>
          <a:bodyPr wrap="square" lIns="0" rIns="0" tIns="0" bIns="0" anchor="t">
            <a:spAutoFit/>
          </a:bodyPr>
          <a:lstStyle/>
          <a:p>
            <a:pPr algn="l">
              <a:spcBef>
                <a:spcPts val="0"/>
              </a:spcBef>
              <a:spcAft>
                <a:spcPts val="500"/>
              </a:spcAft>
            </a:pPr>
            <a:r>
              <a:rPr sz="1200" b="1" i="0">
                <a:solidFill>
                  <a:srgbClr val="1C1C1E"/>
                </a:solidFill>
                <a:latin typeface="Georgia"/>
              </a:rPr>
              <a:t>Parameters</a:t>
            </a:r>
          </a:p>
          <a:p>
            <a:pPr>
              <a:lnSpc>
                <a:spcPct val="118000"/>
              </a:lnSpc>
              <a:spcBef>
                <a:spcPts val="0"/>
              </a:spcBef>
              <a:spcAft>
                <a:spcPts val="700"/>
              </a:spcAft>
            </a:pPr>
            <a:r>
              <a:rPr sz="860" b="0" i="0">
                <a:solidFill>
                  <a:srgbClr val="1C1C1E"/>
                </a:solidFill>
                <a:latin typeface="Calibri"/>
              </a:rPr>
              <a:t>An inhabitant of P: the coefficients, weights or constants the kernel runs with.</a:t>
            </a:r>
          </a:p>
          <a:p>
            <a:pPr>
              <a:lnSpc>
                <a:spcPct val="116000"/>
              </a:lnSpc>
              <a:spcBef>
                <a:spcPts val="0"/>
              </a:spcBef>
              <a:spcAft>
                <a:spcPts val="0"/>
              </a:spcAft>
            </a:pPr>
            <a:r>
              <a:rPr sz="819" b="1" i="0">
                <a:solidFill>
                  <a:srgbClr val="A51C30"/>
                </a:solidFill>
                <a:latin typeface="Calibri"/>
              </a:rPr>
              <a:t>Not  </a:t>
            </a:r>
            <a:r>
              <a:rPr sz="819" b="0" i="0">
                <a:solidFill>
                  <a:srgbClr val="4A4F57"/>
                </a:solidFill>
                <a:latin typeface="Calibri"/>
              </a:rPr>
              <a:t>Not a new model. A retrain gives a new parameter set, not a new version.</a:t>
            </a:r>
          </a:p>
        </p:txBody>
      </p:sp>
      <p:sp>
        <p:nvSpPr>
          <p:cNvPr id="29" name="Rectangle 28"/>
          <p:cNvSpPr/>
          <p:nvPr/>
        </p:nvSpPr>
        <p:spPr>
          <a:xfrm>
            <a:off x="9404055" y="2724912"/>
            <a:ext cx="2010399" cy="2340864"/>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0" name="Rectangle 29"/>
          <p:cNvSpPr/>
          <p:nvPr/>
        </p:nvSpPr>
        <p:spPr>
          <a:xfrm>
            <a:off x="9404055" y="2724912"/>
            <a:ext cx="2010399"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1" name="TextBox 30"/>
          <p:cNvSpPr txBox="1"/>
          <p:nvPr/>
        </p:nvSpPr>
        <p:spPr>
          <a:xfrm>
            <a:off x="9532071" y="2871216"/>
            <a:ext cx="1754367" cy="2048256"/>
          </a:xfrm>
          <a:prstGeom prst="rect">
            <a:avLst/>
          </a:prstGeom>
          <a:noFill/>
        </p:spPr>
        <p:txBody>
          <a:bodyPr wrap="square" lIns="0" rIns="0" tIns="0" bIns="0" anchor="t">
            <a:spAutoFit/>
          </a:bodyPr>
          <a:lstStyle/>
          <a:p>
            <a:pPr algn="l">
              <a:spcBef>
                <a:spcPts val="0"/>
              </a:spcBef>
              <a:spcAft>
                <a:spcPts val="500"/>
              </a:spcAft>
            </a:pPr>
            <a:r>
              <a:rPr sz="1200" b="1" i="0">
                <a:solidFill>
                  <a:srgbClr val="1C1C1E"/>
                </a:solidFill>
                <a:latin typeface="Georgia"/>
              </a:rPr>
              <a:t>Warrant</a:t>
            </a:r>
          </a:p>
          <a:p>
            <a:pPr>
              <a:lnSpc>
                <a:spcPct val="118000"/>
              </a:lnSpc>
              <a:spcBef>
                <a:spcPts val="0"/>
              </a:spcBef>
              <a:spcAft>
                <a:spcPts val="700"/>
              </a:spcAft>
            </a:pPr>
            <a:r>
              <a:rPr sz="860" b="0" i="0">
                <a:solidFill>
                  <a:srgbClr val="1C1C1E"/>
                </a:solidFill>
                <a:latin typeface="Calibri"/>
              </a:rPr>
              <a:t>A signed, expiring document: this kernel, at that point in P, over that data, by whom, until when.</a:t>
            </a:r>
          </a:p>
          <a:p>
            <a:pPr>
              <a:lnSpc>
                <a:spcPct val="116000"/>
              </a:lnSpc>
              <a:spcBef>
                <a:spcPts val="0"/>
              </a:spcBef>
              <a:spcAft>
                <a:spcPts val="0"/>
              </a:spcAft>
            </a:pPr>
            <a:r>
              <a:rPr sz="819" b="1" i="0">
                <a:solidFill>
                  <a:srgbClr val="A51C30"/>
                </a:solidFill>
                <a:latin typeface="Calibri"/>
              </a:rPr>
              <a:t>Not  </a:t>
            </a:r>
            <a:r>
              <a:rPr sz="819" b="0" i="0">
                <a:solidFill>
                  <a:srgbClr val="4A4F57"/>
                </a:solidFill>
                <a:latin typeface="Calibri"/>
              </a:rPr>
              <a:t>Not an execution. MAYA issues it; an engine acts on it and MAYA never runs anything.</a:t>
            </a:r>
          </a:p>
        </p:txBody>
      </p:sp>
      <p:sp>
        <p:nvSpPr>
          <p:cNvPr id="32" name="Rectangle 31"/>
          <p:cNvSpPr/>
          <p:nvPr/>
        </p:nvSpPr>
        <p:spPr>
          <a:xfrm>
            <a:off x="777240" y="5248656"/>
            <a:ext cx="10637215" cy="7315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3" name="Rectangle 32"/>
          <p:cNvSpPr/>
          <p:nvPr/>
        </p:nvSpPr>
        <p:spPr>
          <a:xfrm>
            <a:off x="777240" y="5248656"/>
            <a:ext cx="41148" cy="7315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4" name="TextBox 33"/>
          <p:cNvSpPr txBox="1"/>
          <p:nvPr/>
        </p:nvSpPr>
        <p:spPr>
          <a:xfrm>
            <a:off x="1014983" y="5367528"/>
            <a:ext cx="10180015" cy="5120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How they correlate. </a:t>
            </a:r>
            <a:r>
              <a:rPr sz="1050" b="0" i="0">
                <a:solidFill>
                  <a:srgbClr val="1C1C1E"/>
                </a:solidFill>
                <a:latin typeface="Calibri"/>
              </a:rPr>
              <a:t>A MODEL owns versions; each version is a KERNEL. A FEATURESET presents X. A fit inhabits P and returns PARAMETERS. A WARRANT is what names a kernel, a point in P and a source of X together — </a:t>
            </a:r>
            <a:r>
              <a:rPr sz="1050" b="1" i="0">
                <a:solidFill>
                  <a:srgbClr val="1C1C1E"/>
                </a:solidFill>
                <a:latin typeface="Calibri"/>
              </a:rPr>
              <a:t>which is why it is the only one of the five that can be acted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SHAPE OF THE WHOLE THING</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Model, feature and warrant management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 · The Shape of the Whole 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a:t>
            </a:r>
          </a:p>
        </p:txBody>
      </p:sp>
      <p:sp>
        <p:nvSpPr>
          <p:cNvPr id="10" name="Rectangle 9"/>
          <p:cNvSpPr/>
          <p:nvPr/>
        </p:nvSpPr>
        <p:spPr>
          <a:xfrm>
            <a:off x="777240" y="1408176"/>
            <a:ext cx="10637215" cy="969264"/>
          </a:xfrm>
          <a:prstGeom prst="rect">
            <a:avLst/>
          </a:prstGeom>
          <a:solidFill>
            <a:srgbClr val="FA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408176"/>
            <a:ext cx="45720" cy="96926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536192"/>
            <a:ext cx="932688" cy="713232"/>
          </a:xfrm>
          <a:prstGeom prst="rect">
            <a:avLst/>
          </a:prstGeom>
          <a:noFill/>
        </p:spPr>
        <p:txBody>
          <a:bodyPr wrap="square" lIns="0" rIns="0" tIns="0" bIns="0" anchor="t">
            <a:spAutoFit/>
          </a:bodyPr>
          <a:lstStyle/>
          <a:p>
            <a:pPr algn="l">
              <a:spcBef>
                <a:spcPts val="0"/>
              </a:spcBef>
              <a:spcAft>
                <a:spcPts val="200"/>
              </a:spcAft>
            </a:pPr>
            <a:r>
              <a:rPr sz="1050" b="1" i="0">
                <a:solidFill>
                  <a:srgbClr val="A51C30"/>
                </a:solidFill>
                <a:latin typeface="Georgia"/>
              </a:rPr>
              <a:t>Feature</a:t>
            </a:r>
          </a:p>
          <a:p>
            <a:pPr>
              <a:lnSpc>
                <a:spcPct val="112000"/>
              </a:lnSpc>
              <a:spcBef>
                <a:spcPts val="0"/>
              </a:spcBef>
              <a:spcAft>
                <a:spcPts val="0"/>
              </a:spcAft>
            </a:pPr>
            <a:r>
              <a:rPr sz="760" b="0" i="0">
                <a:solidFill>
                  <a:srgbClr val="4A4F57"/>
                </a:solidFill>
                <a:latin typeface="Calibri"/>
              </a:rPr>
              <a:t>what the model reads</a:t>
            </a:r>
          </a:p>
        </p:txBody>
      </p:sp>
      <p:sp>
        <p:nvSpPr>
          <p:cNvPr id="13" name="Chevron 12"/>
          <p:cNvSpPr/>
          <p:nvPr/>
        </p:nvSpPr>
        <p:spPr>
          <a:xfrm>
            <a:off x="1965960" y="1490472"/>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Define</a:t>
            </a:r>
          </a:p>
          <a:p>
            <a:pPr>
              <a:lnSpc>
                <a:spcPct val="110000"/>
              </a:lnSpc>
              <a:spcBef>
                <a:spcPts val="0"/>
              </a:spcBef>
              <a:spcAft>
                <a:spcPts val="0"/>
              </a:spcAft>
            </a:pPr>
            <a:r>
              <a:rPr sz="740" b="0" i="0">
                <a:solidFill>
                  <a:srgbClr val="4A4F57"/>
                </a:solidFill>
                <a:latin typeface="Calibri"/>
              </a:rPr>
              <a:t>a meaning: entity, shape, owner</a:t>
            </a:r>
          </a:p>
        </p:txBody>
      </p:sp>
      <p:sp>
        <p:nvSpPr>
          <p:cNvPr id="14" name="Chevron 13"/>
          <p:cNvSpPr/>
          <p:nvPr/>
        </p:nvSpPr>
        <p:spPr>
          <a:xfrm>
            <a:off x="3841028" y="1490472"/>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Derive</a:t>
            </a:r>
          </a:p>
          <a:p>
            <a:pPr>
              <a:lnSpc>
                <a:spcPct val="110000"/>
              </a:lnSpc>
              <a:spcBef>
                <a:spcPts val="0"/>
              </a:spcBef>
              <a:spcAft>
                <a:spcPts val="0"/>
              </a:spcAft>
            </a:pPr>
            <a:r>
              <a:rPr sz="740" b="0" i="0">
                <a:solidFill>
                  <a:srgbClr val="4A4F57"/>
                </a:solidFill>
                <a:latin typeface="Calibri"/>
              </a:rPr>
              <a:t>Z = f(X, Y), lineage recorded</a:t>
            </a:r>
          </a:p>
        </p:txBody>
      </p:sp>
      <p:sp>
        <p:nvSpPr>
          <p:cNvPr id="15" name="Chevron 14"/>
          <p:cNvSpPr/>
          <p:nvPr/>
        </p:nvSpPr>
        <p:spPr>
          <a:xfrm>
            <a:off x="5716097" y="1490472"/>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Materialise</a:t>
            </a:r>
          </a:p>
          <a:p>
            <a:pPr>
              <a:lnSpc>
                <a:spcPct val="110000"/>
              </a:lnSpc>
              <a:spcBef>
                <a:spcPts val="0"/>
              </a:spcBef>
              <a:spcAft>
                <a:spcPts val="0"/>
              </a:spcAft>
            </a:pPr>
            <a:r>
              <a:rPr sz="740" b="0" i="0">
                <a:solidFill>
                  <a:srgbClr val="4A4F57"/>
                </a:solidFill>
                <a:latin typeface="Calibri"/>
              </a:rPr>
              <a:t>values into a pinned Delta version</a:t>
            </a:r>
          </a:p>
        </p:txBody>
      </p:sp>
      <p:sp>
        <p:nvSpPr>
          <p:cNvPr id="16" name="Chevron 15"/>
          <p:cNvSpPr/>
          <p:nvPr/>
        </p:nvSpPr>
        <p:spPr>
          <a:xfrm>
            <a:off x="7591165" y="1490472"/>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Declare a set</a:t>
            </a:r>
          </a:p>
          <a:p>
            <a:pPr>
              <a:lnSpc>
                <a:spcPct val="110000"/>
              </a:lnSpc>
              <a:spcBef>
                <a:spcPts val="0"/>
              </a:spcBef>
              <a:spcAft>
                <a:spcPts val="0"/>
              </a:spcAft>
            </a:pPr>
            <a:r>
              <a:rPr sz="740" b="0" i="0">
                <a:solidFill>
                  <a:srgbClr val="4A4F57"/>
                </a:solidFill>
                <a:latin typeface="Calibri"/>
              </a:rPr>
              <a:t>a SCHEMA of named slots</a:t>
            </a:r>
          </a:p>
        </p:txBody>
      </p:sp>
      <p:sp>
        <p:nvSpPr>
          <p:cNvPr id="17" name="Chevron 16"/>
          <p:cNvSpPr/>
          <p:nvPr/>
        </p:nvSpPr>
        <p:spPr>
          <a:xfrm>
            <a:off x="9466234" y="1490472"/>
            <a:ext cx="1783628" cy="804672"/>
          </a:xfrm>
          <a:prstGeom prst="chevron">
            <a:avLst>
              <a:gd name="adj" fmla="val 16000"/>
            </a:avLst>
          </a:prstGeom>
          <a:solidFill>
            <a:srgbClr val="EAE4DC"/>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Publish v1</a:t>
            </a:r>
          </a:p>
          <a:p>
            <a:pPr>
              <a:lnSpc>
                <a:spcPct val="110000"/>
              </a:lnSpc>
              <a:spcBef>
                <a:spcPts val="0"/>
              </a:spcBef>
              <a:spcAft>
                <a:spcPts val="0"/>
              </a:spcAft>
            </a:pPr>
            <a:r>
              <a:rPr sz="740" b="0" i="0">
                <a:solidFill>
                  <a:srgbClr val="4A4F57"/>
                </a:solidFill>
                <a:latin typeface="Calibri"/>
              </a:rPr>
              <a:t>slots filled, every binding pinned</a:t>
            </a:r>
          </a:p>
        </p:txBody>
      </p:sp>
      <p:sp>
        <p:nvSpPr>
          <p:cNvPr id="18" name="Rectangle 17"/>
          <p:cNvSpPr/>
          <p:nvPr/>
        </p:nvSpPr>
        <p:spPr>
          <a:xfrm>
            <a:off x="777240" y="2798064"/>
            <a:ext cx="10637215" cy="96926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Rectangle 18"/>
          <p:cNvSpPr/>
          <p:nvPr/>
        </p:nvSpPr>
        <p:spPr>
          <a:xfrm>
            <a:off x="777240" y="2798064"/>
            <a:ext cx="45720" cy="96926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TextBox 19"/>
          <p:cNvSpPr txBox="1"/>
          <p:nvPr/>
        </p:nvSpPr>
        <p:spPr>
          <a:xfrm>
            <a:off x="923544" y="2926080"/>
            <a:ext cx="932688" cy="713232"/>
          </a:xfrm>
          <a:prstGeom prst="rect">
            <a:avLst/>
          </a:prstGeom>
          <a:noFill/>
        </p:spPr>
        <p:txBody>
          <a:bodyPr wrap="square" lIns="0" rIns="0" tIns="0" bIns="0" anchor="t">
            <a:spAutoFit/>
          </a:bodyPr>
          <a:lstStyle/>
          <a:p>
            <a:pPr algn="l">
              <a:spcBef>
                <a:spcPts val="0"/>
              </a:spcBef>
              <a:spcAft>
                <a:spcPts val="200"/>
              </a:spcAft>
            </a:pPr>
            <a:r>
              <a:rPr sz="1050" b="1" i="0">
                <a:solidFill>
                  <a:srgbClr val="A51C30"/>
                </a:solidFill>
                <a:latin typeface="Georgia"/>
              </a:rPr>
              <a:t>Model</a:t>
            </a:r>
          </a:p>
          <a:p>
            <a:pPr>
              <a:lnSpc>
                <a:spcPct val="112000"/>
              </a:lnSpc>
              <a:spcBef>
                <a:spcPts val="0"/>
              </a:spcBef>
              <a:spcAft>
                <a:spcPts val="0"/>
              </a:spcAft>
            </a:pPr>
            <a:r>
              <a:rPr sz="760" b="0" i="0">
                <a:solidFill>
                  <a:srgbClr val="4A4F57"/>
                </a:solidFill>
                <a:latin typeface="Calibri"/>
              </a:rPr>
              <a:t>what will run</a:t>
            </a:r>
          </a:p>
        </p:txBody>
      </p:sp>
      <p:sp>
        <p:nvSpPr>
          <p:cNvPr id="21" name="Chevron 20"/>
          <p:cNvSpPr/>
          <p:nvPr/>
        </p:nvSpPr>
        <p:spPr>
          <a:xfrm>
            <a:off x="1965960" y="2880360"/>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Register</a:t>
            </a:r>
          </a:p>
          <a:p>
            <a:pPr>
              <a:lnSpc>
                <a:spcPct val="110000"/>
              </a:lnSpc>
              <a:spcBef>
                <a:spcPts val="0"/>
              </a:spcBef>
              <a:spcAft>
                <a:spcPts val="0"/>
              </a:spcAft>
            </a:pPr>
            <a:r>
              <a:rPr sz="740" b="0" i="0">
                <a:solidFill>
                  <a:srgbClr val="4A4F57"/>
                </a:solidFill>
                <a:latin typeface="Calibri"/>
              </a:rPr>
              <a:t>owner, purpose, legal entity</a:t>
            </a:r>
          </a:p>
        </p:txBody>
      </p:sp>
      <p:sp>
        <p:nvSpPr>
          <p:cNvPr id="22" name="Chevron 21"/>
          <p:cNvSpPr/>
          <p:nvPr/>
        </p:nvSpPr>
        <p:spPr>
          <a:xfrm>
            <a:off x="3841028" y="2880360"/>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Assess</a:t>
            </a:r>
          </a:p>
          <a:p>
            <a:pPr>
              <a:lnSpc>
                <a:spcPct val="110000"/>
              </a:lnSpc>
              <a:spcBef>
                <a:spcPts val="0"/>
              </a:spcBef>
              <a:spcAft>
                <a:spcPts val="0"/>
              </a:spcAft>
            </a:pPr>
            <a:r>
              <a:rPr sz="740" b="0" i="0">
                <a:solidFill>
                  <a:srgbClr val="4A4F57"/>
                </a:solidFill>
                <a:latin typeface="Calibri"/>
              </a:rPr>
              <a:t>the tier, which sets the control depth</a:t>
            </a:r>
          </a:p>
        </p:txBody>
      </p:sp>
      <p:sp>
        <p:nvSpPr>
          <p:cNvPr id="23" name="Chevron 22"/>
          <p:cNvSpPr/>
          <p:nvPr/>
        </p:nvSpPr>
        <p:spPr>
          <a:xfrm>
            <a:off x="5716097" y="2880360"/>
            <a:ext cx="1783628" cy="804672"/>
          </a:xfrm>
          <a:prstGeom prst="chevron">
            <a:avLst>
              <a:gd name="adj" fmla="val 16000"/>
            </a:avLst>
          </a:prstGeom>
          <a:solidFill>
            <a:srgbClr val="EAE4DC"/>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Create version</a:t>
            </a:r>
          </a:p>
          <a:p>
            <a:pPr>
              <a:lnSpc>
                <a:spcPct val="110000"/>
              </a:lnSpc>
              <a:spcBef>
                <a:spcPts val="0"/>
              </a:spcBef>
              <a:spcAft>
                <a:spcPts val="0"/>
              </a:spcAft>
            </a:pPr>
            <a:r>
              <a:rPr sz="740" b="0" i="0">
                <a:solidFill>
                  <a:srgbClr val="4A4F57"/>
                </a:solidFill>
                <a:latin typeface="Calibri"/>
              </a:rPr>
              <a:t>the kernel f : P × X → D(Y)</a:t>
            </a:r>
          </a:p>
        </p:txBody>
      </p:sp>
      <p:sp>
        <p:nvSpPr>
          <p:cNvPr id="24" name="Chevron 23"/>
          <p:cNvSpPr/>
          <p:nvPr/>
        </p:nvSpPr>
        <p:spPr>
          <a:xfrm>
            <a:off x="7591165" y="2880360"/>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Approve</a:t>
            </a:r>
          </a:p>
          <a:p>
            <a:pPr>
              <a:lnSpc>
                <a:spcPct val="110000"/>
              </a:lnSpc>
              <a:spcBef>
                <a:spcPts val="0"/>
              </a:spcBef>
              <a:spcAft>
                <a:spcPts val="0"/>
              </a:spcAft>
            </a:pPr>
            <a:r>
              <a:rPr sz="740" b="0" i="0">
                <a:solidFill>
                  <a:srgbClr val="4A4F57"/>
                </a:solidFill>
                <a:latin typeface="Calibri"/>
              </a:rPr>
              <a:t>a quorum whose size follows the tier</a:t>
            </a:r>
          </a:p>
        </p:txBody>
      </p:sp>
      <p:sp>
        <p:nvSpPr>
          <p:cNvPr id="25" name="Chevron 24"/>
          <p:cNvSpPr/>
          <p:nvPr/>
        </p:nvSpPr>
        <p:spPr>
          <a:xfrm>
            <a:off x="9466234" y="2880360"/>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Point an alias</a:t>
            </a:r>
          </a:p>
          <a:p>
            <a:pPr>
              <a:lnSpc>
                <a:spcPct val="110000"/>
              </a:lnSpc>
              <a:spcBef>
                <a:spcPts val="0"/>
              </a:spcBef>
              <a:spcAft>
                <a:spcPts val="0"/>
              </a:spcAft>
            </a:pPr>
            <a:r>
              <a:rPr sz="740" b="0" i="0">
                <a:solidFill>
                  <a:srgbClr val="4A4F57"/>
                </a:solidFill>
                <a:latin typeface="Calibri"/>
              </a:rPr>
              <a:t>refused unless the contract refines</a:t>
            </a:r>
          </a:p>
        </p:txBody>
      </p:sp>
      <p:sp>
        <p:nvSpPr>
          <p:cNvPr id="26" name="Rectangle 25"/>
          <p:cNvSpPr/>
          <p:nvPr/>
        </p:nvSpPr>
        <p:spPr>
          <a:xfrm>
            <a:off x="777240" y="4187952"/>
            <a:ext cx="10637215" cy="969264"/>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4187952"/>
            <a:ext cx="45720" cy="969264"/>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923544" y="4315968"/>
            <a:ext cx="932688" cy="713232"/>
          </a:xfrm>
          <a:prstGeom prst="rect">
            <a:avLst/>
          </a:prstGeom>
          <a:noFill/>
        </p:spPr>
        <p:txBody>
          <a:bodyPr wrap="square" lIns="0" rIns="0" tIns="0" bIns="0" anchor="t">
            <a:spAutoFit/>
          </a:bodyPr>
          <a:lstStyle/>
          <a:p>
            <a:pPr algn="l">
              <a:spcBef>
                <a:spcPts val="0"/>
              </a:spcBef>
              <a:spcAft>
                <a:spcPts val="200"/>
              </a:spcAft>
            </a:pPr>
            <a:r>
              <a:rPr sz="1050" b="1" i="0">
                <a:solidFill>
                  <a:srgbClr val="4A4F57"/>
                </a:solidFill>
                <a:latin typeface="Georgia"/>
              </a:rPr>
              <a:t>Execution</a:t>
            </a:r>
          </a:p>
          <a:p>
            <a:pPr>
              <a:lnSpc>
                <a:spcPct val="112000"/>
              </a:lnSpc>
              <a:spcBef>
                <a:spcPts val="0"/>
              </a:spcBef>
              <a:spcAft>
                <a:spcPts val="0"/>
              </a:spcAft>
            </a:pPr>
            <a:r>
              <a:rPr sz="760" b="0" i="0">
                <a:solidFill>
                  <a:srgbClr val="4A4F57"/>
                </a:solidFill>
                <a:latin typeface="Calibri"/>
              </a:rPr>
              <a:t>outside MAYA</a:t>
            </a:r>
          </a:p>
        </p:txBody>
      </p:sp>
      <p:sp>
        <p:nvSpPr>
          <p:cNvPr id="29" name="Chevron 28"/>
          <p:cNvSpPr/>
          <p:nvPr/>
        </p:nvSpPr>
        <p:spPr>
          <a:xfrm>
            <a:off x="1965960" y="4270248"/>
            <a:ext cx="1783628" cy="804672"/>
          </a:xfrm>
          <a:prstGeom prst="chevron">
            <a:avLst>
              <a:gd name="adj" fmla="val 16000"/>
            </a:avLst>
          </a:prstGeom>
          <a:solidFill>
            <a:srgbClr val="EAE4DC"/>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Fit warrant</a:t>
            </a:r>
          </a:p>
          <a:p>
            <a:pPr>
              <a:lnSpc>
                <a:spcPct val="110000"/>
              </a:lnSpc>
              <a:spcBef>
                <a:spcPts val="0"/>
              </a:spcBef>
              <a:spcAft>
                <a:spcPts val="0"/>
              </a:spcAft>
            </a:pPr>
            <a:r>
              <a:rPr sz="740" b="0" i="0">
                <a:solidFill>
                  <a:srgbClr val="4A4F57"/>
                </a:solidFill>
                <a:latin typeface="Calibri"/>
              </a:rPr>
              <a:t>model version × featureset version × window</a:t>
            </a:r>
          </a:p>
        </p:txBody>
      </p:sp>
      <p:sp>
        <p:nvSpPr>
          <p:cNvPr id="30" name="Chevron 29"/>
          <p:cNvSpPr/>
          <p:nvPr/>
        </p:nvSpPr>
        <p:spPr>
          <a:xfrm>
            <a:off x="3841028" y="4270248"/>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Engine runs</a:t>
            </a:r>
          </a:p>
          <a:p>
            <a:pPr>
              <a:lnSpc>
                <a:spcPct val="110000"/>
              </a:lnSpc>
              <a:spcBef>
                <a:spcPts val="0"/>
              </a:spcBef>
              <a:spcAft>
                <a:spcPts val="0"/>
              </a:spcAft>
            </a:pPr>
            <a:r>
              <a:rPr sz="740" b="0" i="0">
                <a:solidFill>
                  <a:srgbClr val="4A4F57"/>
                </a:solidFill>
                <a:latin typeface="Calibri"/>
              </a:rPr>
              <a:t>MAYA signs it and waits</a:t>
            </a:r>
          </a:p>
        </p:txBody>
      </p:sp>
      <p:sp>
        <p:nvSpPr>
          <p:cNvPr id="31" name="Chevron 30"/>
          <p:cNvSpPr/>
          <p:nvPr/>
        </p:nvSpPr>
        <p:spPr>
          <a:xfrm>
            <a:off x="5716097" y="4270248"/>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Parameter set</a:t>
            </a:r>
          </a:p>
          <a:p>
            <a:pPr>
              <a:lnSpc>
                <a:spcPct val="110000"/>
              </a:lnSpc>
              <a:spcBef>
                <a:spcPts val="0"/>
              </a:spcBef>
              <a:spcAft>
                <a:spcPts val="0"/>
              </a:spcAft>
            </a:pPr>
            <a:r>
              <a:rPr sz="740" b="0" i="0">
                <a:solidFill>
                  <a:srgbClr val="4A4F57"/>
                </a:solidFill>
                <a:latin typeface="Calibri"/>
              </a:rPr>
              <a:t>an inhabitant of P comes back</a:t>
            </a:r>
          </a:p>
        </p:txBody>
      </p:sp>
      <p:sp>
        <p:nvSpPr>
          <p:cNvPr id="32" name="Chevron 31"/>
          <p:cNvSpPr/>
          <p:nvPr/>
        </p:nvSpPr>
        <p:spPr>
          <a:xfrm>
            <a:off x="7591165" y="4270248"/>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Approve it</a:t>
            </a:r>
          </a:p>
          <a:p>
            <a:pPr>
              <a:lnSpc>
                <a:spcPct val="110000"/>
              </a:lnSpc>
              <a:spcBef>
                <a:spcPts val="0"/>
              </a:spcBef>
              <a:spcAft>
                <a:spcPts val="0"/>
              </a:spcAft>
            </a:pPr>
            <a:r>
              <a:rPr sz="740" b="0" i="0">
                <a:solidFill>
                  <a:srgbClr val="4A4F57"/>
                </a:solidFill>
                <a:latin typeface="Calibri"/>
              </a:rPr>
              <a:t>by somebody other than who recorded it</a:t>
            </a:r>
          </a:p>
        </p:txBody>
      </p:sp>
      <p:sp>
        <p:nvSpPr>
          <p:cNvPr id="33" name="Chevron 32"/>
          <p:cNvSpPr/>
          <p:nvPr/>
        </p:nvSpPr>
        <p:spPr>
          <a:xfrm>
            <a:off x="9466234" y="4270248"/>
            <a:ext cx="1783628" cy="804672"/>
          </a:xfrm>
          <a:prstGeom prst="chevron">
            <a:avLst>
              <a:gd name="adj" fmla="val 16000"/>
            </a:avLst>
          </a:prstGeom>
          <a:solidFill>
            <a:srgbClr val="EAE4DC"/>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Score warrant</a:t>
            </a:r>
          </a:p>
          <a:p>
            <a:pPr>
              <a:lnSpc>
                <a:spcPct val="110000"/>
              </a:lnSpc>
              <a:spcBef>
                <a:spcPts val="0"/>
              </a:spcBef>
              <a:spcAft>
                <a:spcPts val="0"/>
              </a:spcAft>
            </a:pPr>
            <a:r>
              <a:rPr sz="740" b="0" i="0">
                <a:solidFill>
                  <a:srgbClr val="4A4F57"/>
                </a:solidFill>
                <a:latin typeface="Calibri"/>
              </a:rPr>
              <a:t>names the model AND the parameter set</a:t>
            </a:r>
          </a:p>
        </p:txBody>
      </p:sp>
      <p:sp>
        <p:nvSpPr>
          <p:cNvPr id="34" name="Down Arrow 33"/>
          <p:cNvSpPr/>
          <p:nvPr/>
        </p:nvSpPr>
        <p:spPr>
          <a:xfrm>
            <a:off x="10215358" y="2423160"/>
            <a:ext cx="201168" cy="329184"/>
          </a:xfrm>
          <a:prstGeom prst="downArrow">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965960" y="2478024"/>
            <a:ext cx="8121382" cy="237744"/>
          </a:xfrm>
          <a:prstGeom prst="rect">
            <a:avLst/>
          </a:prstGeom>
          <a:noFill/>
        </p:spPr>
        <p:txBody>
          <a:bodyPr wrap="square" lIns="0" rIns="0" tIns="0" bIns="0" anchor="t">
            <a:spAutoFit/>
          </a:bodyPr>
          <a:lstStyle/>
          <a:p>
            <a:pPr algn="r">
              <a:spcBef>
                <a:spcPts val="0"/>
              </a:spcBef>
              <a:spcAft>
                <a:spcPts val="0"/>
              </a:spcAft>
            </a:pPr>
            <a:r>
              <a:rPr sz="800" b="0" i="1">
                <a:solidFill>
                  <a:srgbClr val="A51C30"/>
                </a:solidFill>
                <a:latin typeface="Calibri"/>
              </a:rPr>
              <a:t>the featureset version a fit will read  →</a:t>
            </a:r>
          </a:p>
        </p:txBody>
      </p:sp>
      <p:sp>
        <p:nvSpPr>
          <p:cNvPr id="36" name="Down Arrow 35"/>
          <p:cNvSpPr/>
          <p:nvPr/>
        </p:nvSpPr>
        <p:spPr>
          <a:xfrm>
            <a:off x="6465221" y="3813048"/>
            <a:ext cx="201168" cy="329184"/>
          </a:xfrm>
          <a:prstGeom prst="downArrow">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965960" y="3867912"/>
            <a:ext cx="4371245" cy="237744"/>
          </a:xfrm>
          <a:prstGeom prst="rect">
            <a:avLst/>
          </a:prstGeom>
          <a:noFill/>
        </p:spPr>
        <p:txBody>
          <a:bodyPr wrap="square" lIns="0" rIns="0" tIns="0" bIns="0" anchor="t">
            <a:spAutoFit/>
          </a:bodyPr>
          <a:lstStyle/>
          <a:p>
            <a:pPr algn="r">
              <a:spcBef>
                <a:spcPts val="0"/>
              </a:spcBef>
              <a:spcAft>
                <a:spcPts val="0"/>
              </a:spcAft>
            </a:pPr>
            <a:r>
              <a:rPr sz="800" b="0" i="1">
                <a:solidFill>
                  <a:srgbClr val="A51C30"/>
                </a:solidFill>
                <a:latin typeface="Calibri"/>
              </a:rPr>
              <a:t>the model version it is issued against  →</a:t>
            </a:r>
          </a:p>
        </p:txBody>
      </p:sp>
      <p:sp>
        <p:nvSpPr>
          <p:cNvPr id="38" name="Rectangle 37"/>
          <p:cNvSpPr/>
          <p:nvPr/>
        </p:nvSpPr>
        <p:spPr>
          <a:xfrm>
            <a:off x="777240" y="5340096"/>
            <a:ext cx="10637215"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9" name="TextBox 38"/>
          <p:cNvSpPr txBox="1"/>
          <p:nvPr/>
        </p:nvSpPr>
        <p:spPr>
          <a:xfrm>
            <a:off x="960120" y="5422392"/>
            <a:ext cx="10271455" cy="274320"/>
          </a:xfrm>
          <a:prstGeom prst="rect">
            <a:avLst/>
          </a:prstGeom>
          <a:noFill/>
        </p:spPr>
        <p:txBody>
          <a:bodyPr wrap="square" lIns="0" rIns="0" tIns="0" bIns="0" anchor="t">
            <a:spAutoFit/>
          </a:bodyPr>
          <a:lstStyle/>
          <a:p>
            <a:pPr algn="l">
              <a:spcBef>
                <a:spcPts val="0"/>
              </a:spcBef>
              <a:spcAft>
                <a:spcPts val="0"/>
              </a:spcAft>
            </a:pPr>
            <a:r>
              <a:rPr sz="950" b="1" i="0">
                <a:solidFill>
                  <a:srgbClr val="FFFFFF"/>
                </a:solidFill>
                <a:latin typeface="Calibri"/>
              </a:rPr>
              <a:t>Evidence chain   </a:t>
            </a:r>
            <a:r>
              <a:rPr sz="950" b="0" i="0">
                <a:solidFill>
                  <a:srgbClr val="F4DFE3"/>
                </a:solidFill>
                <a:latin typeface="Calibri"/>
              </a:rPr>
              <a:t>every act above appends a node — append-only, hash-linked, and verified by re-deriving each node rather than re-reading it</a:t>
            </a:r>
          </a:p>
        </p:txBody>
      </p:sp>
      <p:sp>
        <p:nvSpPr>
          <p:cNvPr id="40" name="TextBox 39"/>
          <p:cNvSpPr txBox="1"/>
          <p:nvPr/>
        </p:nvSpPr>
        <p:spPr>
          <a:xfrm>
            <a:off x="777240" y="5870448"/>
            <a:ext cx="10637215" cy="384048"/>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A51C30"/>
                </a:solidFill>
                <a:latin typeface="Calibri"/>
              </a:rPr>
              <a:t>Left to right within a lane; downward where one lane hands something to the next. </a:t>
            </a:r>
            <a:r>
              <a:rPr sz="950" b="0" i="0">
                <a:solidFill>
                  <a:srgbClr val="4A4F57"/>
                </a:solidFill>
                <a:latin typeface="Calibri"/>
              </a:rPr>
              <a:t>The two vertical arrows are the whole design: a featureset version and a model version meet in a fit warrant, and the parameter set that comes back is what the next warrant names.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SHAPE OF THE WHOLE THING</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each object is for</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 · The Shape of the Whole 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a:t>
            </a:r>
          </a:p>
        </p:txBody>
      </p:sp>
      <p:graphicFrame>
        <p:nvGraphicFramePr>
          <p:cNvPr id="10" name="Table 9"/>
          <p:cNvGraphicFramePr>
            <a:graphicFrameLocks noGrp="1"/>
          </p:cNvGraphicFramePr>
          <p:nvPr/>
        </p:nvGraphicFramePr>
        <p:xfrm>
          <a:off x="777240" y="1353312"/>
          <a:ext cx="10637214" cy="2546350"/>
        </p:xfrm>
        <a:graphic>
          <a:graphicData uri="http://schemas.openxmlformats.org/drawingml/2006/table">
            <a:tbl>
              <a:tblPr firstRow="1">
                <a:tableStyleId>{5C22544A-7EE6-4342-B048-85BDC9FD1C3A}</a:tableStyleId>
              </a:tblPr>
              <a:tblGrid>
                <a:gridCol w="1834002"/>
                <a:gridCol w="5226907"/>
                <a:gridCol w="3576305"/>
              </a:tblGrid>
              <a:tr h="329184">
                <a:tc>
                  <a:txBody>
                    <a:bodyPr wrap="square"/>
                    <a:lstStyle/>
                    <a:p>
                      <a:pPr algn="l"/>
                      <a:r>
                        <a:rPr sz="1000" b="1">
                          <a:solidFill>
                            <a:srgbClr val="FFFFFF"/>
                          </a:solidFill>
                          <a:latin typeface="Calibri"/>
                        </a:rPr>
                        <a:t>Object</a:t>
                      </a:r>
                    </a:p>
                  </a:txBody>
                  <a:tcPr marL="82296" marR="64008" marT="32004" marB="32004" anchor="ctr">
                    <a:solidFill>
                      <a:srgbClr val="A51C30"/>
                    </a:solidFill>
                  </a:tcPr>
                </a:tc>
                <a:tc>
                  <a:txBody>
                    <a:bodyPr wrap="square"/>
                    <a:lstStyle/>
                    <a:p>
                      <a:pPr algn="l"/>
                      <a:r>
                        <a:rPr sz="1000" b="1">
                          <a:solidFill>
                            <a:srgbClr val="FFFFFF"/>
                          </a:solidFill>
                          <a:latin typeface="Calibri"/>
                        </a:rPr>
                        <a:t>Answers</a:t>
                      </a:r>
                    </a:p>
                  </a:txBody>
                  <a:tcPr marL="82296" marR="64008" marT="32004" marB="32004" anchor="ctr">
                    <a:solidFill>
                      <a:srgbClr val="A51C30"/>
                    </a:solidFill>
                  </a:tcPr>
                </a:tc>
                <a:tc>
                  <a:txBody>
                    <a:bodyPr wrap="square"/>
                    <a:lstStyle/>
                    <a:p>
                      <a:pPr algn="l"/>
                      <a:r>
                        <a:rPr sz="1000" b="1">
                          <a:solidFill>
                            <a:srgbClr val="FFFFFF"/>
                          </a:solidFill>
                          <a:latin typeface="Calibri"/>
                        </a:rPr>
                        <a:t>Pinned by</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Feature</a:t>
                      </a:r>
                    </a:p>
                  </a:txBody>
                  <a:tcPr marL="82296" marR="64008" marT="32004" marB="32004" anchor="ctr">
                    <a:solidFill>
                      <a:srgbClr val="FFFFFF"/>
                    </a:solidFill>
                  </a:tcPr>
                </a:tc>
                <a:tc>
                  <a:txBody>
                    <a:bodyPr wrap="square"/>
                    <a:lstStyle/>
                    <a:p>
                      <a:pPr algn="l"/>
                      <a:r>
                        <a:rPr sz="1000" b="0">
                          <a:solidFill>
                            <a:srgbClr val="1C1C1E"/>
                          </a:solidFill>
                          <a:latin typeface="Calibri"/>
                        </a:rPr>
                        <a:t>what this signal MEANS — entity, shape, owner, definition</a:t>
                      </a:r>
                    </a:p>
                  </a:txBody>
                  <a:tcPr marL="82296" marR="64008" marT="32004" marB="32004" anchor="ctr">
                    <a:solidFill>
                      <a:srgbClr val="FFFFFF"/>
                    </a:solidFill>
                  </a:tcPr>
                </a:tc>
                <a:tc>
                  <a:txBody>
                    <a:bodyPr wrap="square"/>
                    <a:lstStyle/>
                    <a:p>
                      <a:pPr algn="l"/>
                      <a:r>
                        <a:rPr sz="1000" b="0">
                          <a:solidFill>
                            <a:srgbClr val="1C1C1E"/>
                          </a:solidFill>
                          <a:latin typeface="Calibri"/>
                        </a:rPr>
                        <a:t>nothing; it is a declaration</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Feature view version</a:t>
                      </a:r>
                    </a:p>
                  </a:txBody>
                  <a:tcPr marL="82296" marR="64008" marT="32004" marB="32004" anchor="ctr">
                    <a:solidFill>
                      <a:srgbClr val="F6F3EF"/>
                    </a:solidFill>
                  </a:tcPr>
                </a:tc>
                <a:tc>
                  <a:txBody>
                    <a:bodyPr wrap="square"/>
                    <a:lstStyle/>
                    <a:p>
                      <a:pPr algn="l"/>
                      <a:r>
                        <a:rPr sz="1000" b="0">
                          <a:solidFill>
                            <a:srgbClr val="1C1C1E"/>
                          </a:solidFill>
                          <a:latin typeface="Calibri"/>
                        </a:rPr>
                        <a:t>where the values ARE, at a Delta version that does not move</a:t>
                      </a:r>
                    </a:p>
                  </a:txBody>
                  <a:tcPr marL="82296" marR="64008" marT="32004" marB="32004" anchor="ctr">
                    <a:solidFill>
                      <a:srgbClr val="F6F3EF"/>
                    </a:solidFill>
                  </a:tcPr>
                </a:tc>
                <a:tc>
                  <a:txBody>
                    <a:bodyPr wrap="square"/>
                    <a:lstStyle/>
                    <a:p>
                      <a:pPr algn="l"/>
                      <a:r>
                        <a:rPr sz="1000" b="0">
                          <a:solidFill>
                            <a:srgbClr val="1C1C1E"/>
                          </a:solidFill>
                          <a:latin typeface="Calibri"/>
                        </a:rPr>
                        <a:t>a featureset version</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Featureset</a:t>
                      </a:r>
                    </a:p>
                  </a:txBody>
                  <a:tcPr marL="82296" marR="64008" marT="32004" marB="32004" anchor="ctr">
                    <a:solidFill>
                      <a:srgbClr val="FFFFFF"/>
                    </a:solidFill>
                  </a:tcPr>
                </a:tc>
                <a:tc>
                  <a:txBody>
                    <a:bodyPr wrap="square"/>
                    <a:lstStyle/>
                    <a:p>
                      <a:pPr algn="l"/>
                      <a:r>
                        <a:rPr sz="1000" b="0">
                          <a:solidFill>
                            <a:srgbClr val="1C1C1E"/>
                          </a:solidFill>
                          <a:latin typeface="Calibri"/>
                        </a:rPr>
                        <a:t>what X IS: a schema of named slots a kernel is defined over</a:t>
                      </a:r>
                    </a:p>
                  </a:txBody>
                  <a:tcPr marL="82296" marR="64008" marT="32004" marB="32004" anchor="ctr">
                    <a:solidFill>
                      <a:srgbClr val="FFFFFF"/>
                    </a:solidFill>
                  </a:tcPr>
                </a:tc>
                <a:tc>
                  <a:txBody>
                    <a:bodyPr wrap="square"/>
                    <a:lstStyle/>
                    <a:p>
                      <a:pPr algn="l"/>
                      <a:r>
                        <a:rPr sz="1000" b="0">
                          <a:solidFill>
                            <a:srgbClr val="1C1C1E"/>
                          </a:solidFill>
                          <a:latin typeface="Calibri"/>
                        </a:rPr>
                        <a:t>a model version's contract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Featureset version</a:t>
                      </a:r>
                    </a:p>
                  </a:txBody>
                  <a:tcPr marL="82296" marR="64008" marT="32004" marB="32004" anchor="ctr">
                    <a:solidFill>
                      <a:srgbClr val="F6F3EF"/>
                    </a:solidFill>
                  </a:tcPr>
                </a:tc>
                <a:tc>
                  <a:txBody>
                    <a:bodyPr wrap="square"/>
                    <a:lstStyle/>
                    <a:p>
                      <a:pPr algn="l"/>
                      <a:r>
                        <a:rPr sz="1000" b="0">
                          <a:solidFill>
                            <a:srgbClr val="1C1C1E"/>
                          </a:solidFill>
                          <a:latin typeface="Calibri"/>
                        </a:rPr>
                        <a:t>which features fill that schema, and from which exact bytes</a:t>
                      </a:r>
                    </a:p>
                  </a:txBody>
                  <a:tcPr marL="82296" marR="64008" marT="32004" marB="32004" anchor="ctr">
                    <a:solidFill>
                      <a:srgbClr val="F6F3EF"/>
                    </a:solidFill>
                  </a:tcPr>
                </a:tc>
                <a:tc>
                  <a:txBody>
                    <a:bodyPr wrap="square"/>
                    <a:lstStyle/>
                    <a:p>
                      <a:pPr algn="l"/>
                      <a:r>
                        <a:rPr sz="1000" b="0">
                          <a:solidFill>
                            <a:srgbClr val="1C1C1E"/>
                          </a:solidFill>
                          <a:latin typeface="Calibri"/>
                        </a:rPr>
                        <a:t>a warrant, a snapshot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Model version</a:t>
                      </a:r>
                    </a:p>
                  </a:txBody>
                  <a:tcPr marL="82296" marR="64008" marT="32004" marB="32004" anchor="ctr">
                    <a:solidFill>
                      <a:srgbClr val="FFFFFF"/>
                    </a:solidFill>
                  </a:tcPr>
                </a:tc>
                <a:tc>
                  <a:txBody>
                    <a:bodyPr wrap="square"/>
                    <a:lstStyle/>
                    <a:p>
                      <a:pPr algn="l"/>
                      <a:r>
                        <a:rPr sz="1000" b="0">
                          <a:solidFill>
                            <a:srgbClr val="1C1C1E"/>
                          </a:solidFill>
                          <a:latin typeface="Calibri"/>
                        </a:rPr>
                        <a:t>the kernel f : P × X → D(Y) — immutable once approved</a:t>
                      </a:r>
                    </a:p>
                  </a:txBody>
                  <a:tcPr marL="82296" marR="64008" marT="32004" marB="32004" anchor="ctr">
                    <a:solidFill>
                      <a:srgbClr val="FFFFFF"/>
                    </a:solidFill>
                  </a:tcPr>
                </a:tc>
                <a:tc>
                  <a:txBody>
                    <a:bodyPr wrap="square"/>
                    <a:lstStyle/>
                    <a:p>
                      <a:pPr algn="l"/>
                      <a:r>
                        <a:rPr sz="1000" b="0">
                          <a:solidFill>
                            <a:srgbClr val="1C1C1E"/>
                          </a:solidFill>
                          <a:latin typeface="Calibri"/>
                        </a:rPr>
                        <a:t>a warrant, an alias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Warrant</a:t>
                      </a:r>
                    </a:p>
                  </a:txBody>
                  <a:tcPr marL="82296" marR="64008" marT="32004" marB="32004" anchor="ctr">
                    <a:solidFill>
                      <a:srgbClr val="F6F3EF"/>
                    </a:solidFill>
                  </a:tcPr>
                </a:tc>
                <a:tc>
                  <a:txBody>
                    <a:bodyPr wrap="square"/>
                    <a:lstStyle/>
                    <a:p>
                      <a:pPr algn="l"/>
                      <a:r>
                        <a:rPr sz="1000" b="0">
                          <a:solidFill>
                            <a:srgbClr val="1C1C1E"/>
                          </a:solidFill>
                          <a:latin typeface="Calibri"/>
                        </a:rPr>
                        <a:t>what may be run, by whom, until when, on what data</a:t>
                      </a:r>
                    </a:p>
                  </a:txBody>
                  <a:tcPr marL="82296" marR="64008" marT="32004" marB="32004" anchor="ctr">
                    <a:solidFill>
                      <a:srgbClr val="F6F3EF"/>
                    </a:solidFill>
                  </a:tcPr>
                </a:tc>
                <a:tc>
                  <a:txBody>
                    <a:bodyPr wrap="square"/>
                    <a:lstStyle/>
                    <a:p>
                      <a:pPr algn="l"/>
                      <a:r>
                        <a:rPr sz="1000" b="0">
                          <a:solidFill>
                            <a:srgbClr val="1C1C1E"/>
                          </a:solidFill>
                          <a:latin typeface="Calibri"/>
                        </a:rPr>
                        <a:t>signed; nothing pins it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Parameter set</a:t>
                      </a:r>
                    </a:p>
                  </a:txBody>
                  <a:tcPr marL="82296" marR="64008" marT="32004" marB="32004" anchor="ctr">
                    <a:solidFill>
                      <a:srgbClr val="FFFFFF"/>
                    </a:solidFill>
                  </a:tcPr>
                </a:tc>
                <a:tc>
                  <a:txBody>
                    <a:bodyPr wrap="square"/>
                    <a:lstStyle/>
                    <a:p>
                      <a:pPr algn="l"/>
                      <a:r>
                        <a:rPr sz="1000" b="0">
                          <a:solidFill>
                            <a:srgbClr val="1C1C1E"/>
                          </a:solidFill>
                          <a:latin typeface="Calibri"/>
                        </a:rPr>
                        <a:t>an inhabitant of P: the numbers a fit produced</a:t>
                      </a:r>
                    </a:p>
                  </a:txBody>
                  <a:tcPr marL="82296" marR="64008" marT="32004" marB="32004" anchor="ctr">
                    <a:solidFill>
                      <a:srgbClr val="FFFFFF"/>
                    </a:solidFill>
                  </a:tcPr>
                </a:tc>
                <a:tc>
                  <a:txBody>
                    <a:bodyPr wrap="square"/>
                    <a:lstStyle/>
                    <a:p>
                      <a:pPr algn="l"/>
                      <a:r>
                        <a:rPr sz="1000" b="0">
                          <a:solidFill>
                            <a:srgbClr val="1C1C1E"/>
                          </a:solidFill>
                          <a:latin typeface="Calibri"/>
                        </a:rPr>
                        <a:t>a scoring warrant</a:t>
                      </a:r>
                    </a:p>
                  </a:txBody>
                  <a:tcPr marL="82296" marR="64008" marT="32004" marB="32004" anchor="ctr">
                    <a:solidFill>
                      <a:srgbClr val="FFFFFF"/>
                    </a:solidFill>
                  </a:tcPr>
                </a:tc>
              </a:tr>
            </a:tbl>
          </a:graphicData>
        </a:graphic>
      </p:graphicFrame>
      <p:sp>
        <p:nvSpPr>
          <p:cNvPr id="11" name="Rectangle 10"/>
          <p:cNvSpPr/>
          <p:nvPr/>
        </p:nvSpPr>
        <p:spPr>
          <a:xfrm>
            <a:off x="777240" y="4119118"/>
            <a:ext cx="10637215" cy="78638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119118"/>
            <a:ext cx="41148" cy="78638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237990"/>
            <a:ext cx="10180015" cy="566928"/>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Read the third column. </a:t>
            </a:r>
            <a:r>
              <a:rPr sz="1050" b="0" i="0">
                <a:solidFill>
                  <a:srgbClr val="1C1C1E"/>
                </a:solidFill>
                <a:latin typeface="Calibri"/>
              </a:rPr>
              <a:t>Every object above is pinned by something further down, and a pin is always to a version rather than to a name. That is the single structural decision this platform makes over and over, and it is why </a:t>
            </a:r>
            <a:r>
              <a:rPr sz="1050" b="1" i="0">
                <a:solidFill>
                  <a:srgbClr val="1C1C1E"/>
                </a:solidFill>
                <a:latin typeface="Calibri"/>
              </a:rPr>
              <a:t>the same identifier resolves to the same bytes a year later.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SHAPE OF THE WHOLE THING</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Two clocks, never one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 · The Shape of the Whole 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a:t>
            </a:r>
          </a:p>
        </p:txBody>
      </p:sp>
      <p:sp>
        <p:nvSpPr>
          <p:cNvPr id="10" name="Rectangle 9"/>
          <p:cNvSpPr/>
          <p:nvPr/>
        </p:nvSpPr>
        <p:spPr>
          <a:xfrm>
            <a:off x="777240" y="1353312"/>
            <a:ext cx="5956840" cy="1560880"/>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56088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591080" cy="1378000"/>
          </a:xfrm>
          <a:prstGeom prst="rect">
            <a:avLst/>
          </a:prstGeom>
          <a:noFill/>
        </p:spPr>
        <p:txBody>
          <a:bodyPr wrap="square" lIns="0" rIns="0" tIns="0" bIns="0" anchor="t">
            <a:spAutoFit/>
          </a:bodyPr>
          <a:lstStyle/>
          <a:p>
            <a:pPr algn="l">
              <a:lnSpc>
                <a:spcPct val="134000"/>
              </a:lnSpc>
              <a:spcBef>
                <a:spcPts val="0"/>
              </a:spcBef>
              <a:spcAft>
                <a:spcPts val="0"/>
              </a:spcAft>
            </a:pPr>
            <a:r>
              <a:rPr sz="1000" b="0" i="0">
                <a:solidFill>
                  <a:srgbClr val="1C1C1E"/>
                </a:solidFill>
                <a:latin typeface="Consolas"/>
              </a:rPr>
              <a:t>event_ts    when the fact was TRUE in the world</a:t>
            </a:r>
          </a:p>
          <a:p>
            <a:pPr>
              <a:lnSpc>
                <a:spcPct val="134000"/>
              </a:lnSpc>
              <a:spcBef>
                <a:spcPts val="0"/>
              </a:spcBef>
              <a:spcAft>
                <a:spcPts val="0"/>
              </a:spcAft>
            </a:pPr>
            <a:r>
              <a:rPr sz="1000" b="0" i="0">
                <a:solidFill>
                  <a:srgbClr val="1C1C1E"/>
                </a:solidFill>
                <a:latin typeface="Consolas"/>
              </a:rPr>
              <a:t>ingest_ts   when the platform LEARNED it</a:t>
            </a:r>
          </a:p>
          <a:p>
            <a:pPr>
              <a:lnSpc>
                <a:spcPct val="134000"/>
              </a:lnSpc>
              <a:spcBef>
                <a:spcPts val="0"/>
              </a:spcBef>
              <a:spcAft>
                <a:spcPts val="0"/>
              </a:spcAft>
            </a:pPr>
            <a:r>
              <a:rPr sz="1000" b="0" i="0">
                <a:solidFill>
                  <a:srgbClr val="1C1C1E"/>
                </a:solidFill>
                <a:latin typeface="Consolas"/>
              </a:rPr>
              <a:t> </a:t>
            </a:r>
          </a:p>
          <a:p>
            <a:pPr>
              <a:lnSpc>
                <a:spcPct val="134000"/>
              </a:lnSpc>
              <a:spcBef>
                <a:spcPts val="0"/>
              </a:spcBef>
              <a:spcAft>
                <a:spcPts val="0"/>
              </a:spcAft>
            </a:pPr>
            <a:r>
              <a:rPr sz="1000" b="0" i="0">
                <a:solidFill>
                  <a:srgbClr val="1C1C1E"/>
                </a:solidFill>
                <a:latin typeface="Consolas"/>
              </a:rPr>
              <a:t>point-in-time rule:</a:t>
            </a:r>
          </a:p>
          <a:p>
            <a:pPr>
              <a:lnSpc>
                <a:spcPct val="134000"/>
              </a:lnSpc>
              <a:spcBef>
                <a:spcPts val="0"/>
              </a:spcBef>
              <a:spcAft>
                <a:spcPts val="0"/>
              </a:spcAft>
            </a:pPr>
            <a:r>
              <a:rPr sz="1000" b="0" i="0">
                <a:solidFill>
                  <a:srgbClr val="1C1C1E"/>
                </a:solidFill>
                <a:latin typeface="Consolas"/>
              </a:rPr>
              <a:t>    event_ts  &lt;= label_ts</a:t>
            </a:r>
          </a:p>
          <a:p>
            <a:pPr>
              <a:lnSpc>
                <a:spcPct val="134000"/>
              </a:lnSpc>
              <a:spcBef>
                <a:spcPts val="0"/>
              </a:spcBef>
              <a:spcAft>
                <a:spcPts val="0"/>
              </a:spcAft>
            </a:pPr>
            <a:r>
              <a:rPr sz="1000" b="0" i="0">
                <a:solidFill>
                  <a:srgbClr val="1C1C1E"/>
                </a:solidFill>
                <a:latin typeface="Consolas"/>
              </a:rPr>
              <a:t>    ingest_ts &lt;= as_of</a:t>
            </a:r>
          </a:p>
        </p:txBody>
      </p:sp>
      <p:sp>
        <p:nvSpPr>
          <p:cNvPr id="13" name="TextBox 12"/>
          <p:cNvSpPr txBox="1"/>
          <p:nvPr/>
        </p:nvSpPr>
        <p:spPr>
          <a:xfrm>
            <a:off x="777240" y="3151936"/>
            <a:ext cx="5956840" cy="2011680"/>
          </a:xfrm>
          <a:prstGeom prst="rect">
            <a:avLst/>
          </a:prstGeom>
          <a:noFill/>
        </p:spPr>
        <p:txBody>
          <a:bodyPr wrap="square" lIns="0" rIns="0" tIns="0" bIns="0" anchor="t">
            <a:spAutoFit/>
          </a:bodyPr>
          <a:lstStyle/>
          <a:p>
            <a:pPr algn="l">
              <a:lnSpc>
                <a:spcPct val="126000"/>
              </a:lnSpc>
              <a:spcBef>
                <a:spcPts val="0"/>
              </a:spcBef>
              <a:spcAft>
                <a:spcPts val="800"/>
              </a:spcAft>
            </a:pPr>
            <a:r>
              <a:rPr sz="1150" b="0" i="0">
                <a:solidFill>
                  <a:srgbClr val="1C1C1E"/>
                </a:solidFill>
                <a:latin typeface="Calibri"/>
              </a:rPr>
              <a:t>“What did we know, and when did we know it” is a different question from “what was true”, and a training set built without both answers only the second.</a:t>
            </a:r>
          </a:p>
          <a:p>
            <a:pPr>
              <a:lnSpc>
                <a:spcPct val="124000"/>
              </a:lnSpc>
              <a:spcBef>
                <a:spcPts val="0"/>
              </a:spcBef>
              <a:spcAft>
                <a:spcPts val="0"/>
              </a:spcAft>
            </a:pPr>
            <a:r>
              <a:rPr sz="1100" b="0" i="0">
                <a:solidFill>
                  <a:srgbClr val="4A4F57"/>
                </a:solidFill>
                <a:latin typeface="Calibri"/>
              </a:rPr>
              <a:t>A row missing either clock is refused at the upload rather than two layers later during assembly — which is where it stops being fixable.</a:t>
            </a:r>
          </a:p>
        </p:txBody>
      </p:sp>
      <p:sp>
        <p:nvSpPr>
          <p:cNvPr id="14" name="TextBox 13"/>
          <p:cNvSpPr txBox="1"/>
          <p:nvPr/>
        </p:nvSpPr>
        <p:spPr>
          <a:xfrm>
            <a:off x="7159569" y="1353312"/>
            <a:ext cx="4254886"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Where the clocks decide the answer</a:t>
            </a:r>
          </a:p>
        </p:txBody>
      </p:sp>
      <p:graphicFrame>
        <p:nvGraphicFramePr>
          <p:cNvPr id="15" name="Table 14"/>
          <p:cNvGraphicFramePr>
            <a:graphicFrameLocks noGrp="1"/>
          </p:cNvGraphicFramePr>
          <p:nvPr/>
        </p:nvGraphicFramePr>
        <p:xfrm>
          <a:off x="7159569" y="1737360"/>
          <a:ext cx="4254885" cy="2658856"/>
        </p:xfrm>
        <a:graphic>
          <a:graphicData uri="http://schemas.openxmlformats.org/drawingml/2006/table">
            <a:tbl>
              <a:tblPr>
                <a:tableStyleId>{5C22544A-7EE6-4342-B048-85BDC9FD1C3A}</a:tableStyleId>
              </a:tblPr>
              <a:tblGrid>
                <a:gridCol w="1172264"/>
                <a:gridCol w="3082621"/>
              </a:tblGrid>
              <a:tr h="308216">
                <a:tc>
                  <a:txBody>
                    <a:bodyPr wrap="square"/>
                    <a:lstStyle/>
                    <a:p>
                      <a:pPr algn="l"/>
                      <a:r>
                        <a:rPr sz="950" b="1">
                          <a:solidFill>
                            <a:srgbClr val="A51C30"/>
                          </a:solidFill>
                          <a:latin typeface="Calibri"/>
                        </a:rPr>
                        <a:t/>
                      </a:r>
                    </a:p>
                  </a:txBody>
                  <a:tcPr marL="82296" marR="64008" marT="32004" marB="32004" anchor="ctr">
                    <a:solidFill>
                      <a:srgbClr val="F6F3EF"/>
                    </a:solidFill>
                  </a:tcPr>
                </a:tc>
                <a:tc>
                  <a:txBody>
                    <a:bodyPr wrap="square"/>
                    <a:lstStyle/>
                    <a:p>
                      <a:pPr algn="l"/>
                      <a:r>
                        <a:rPr sz="950" b="0">
                          <a:solidFill>
                            <a:srgbClr val="1C1C1E"/>
                          </a:solidFill>
                          <a:latin typeface="Calibri"/>
                        </a:rPr>
                        <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Assembly</a:t>
                      </a:r>
                    </a:p>
                  </a:txBody>
                  <a:tcPr marL="82296" marR="64008" marT="32004" marB="32004" anchor="ctr">
                    <a:solidFill>
                      <a:srgbClr val="FFFFFF"/>
                    </a:solidFill>
                  </a:tcPr>
                </a:tc>
                <a:tc>
                  <a:txBody>
                    <a:bodyPr wrap="square"/>
                    <a:lstStyle/>
                    <a:p>
                      <a:pPr algn="l"/>
                      <a:r>
                        <a:rPr sz="950" b="0">
                          <a:solidFill>
                            <a:srgbClr val="1C1C1E"/>
                          </a:solidFill>
                          <a:latin typeface="Calibri"/>
                        </a:rPr>
                        <a:t>the latest fact true by the label date AND known by as_of</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Normalisation</a:t>
                      </a:r>
                    </a:p>
                  </a:txBody>
                  <a:tcPr marL="82296" marR="64008" marT="32004" marB="32004" anchor="ctr">
                    <a:solidFill>
                      <a:srgbClr val="F6F3EF"/>
                    </a:solidFill>
                  </a:tcPr>
                </a:tc>
                <a:tc>
                  <a:txBody>
                    <a:bodyPr wrap="square"/>
                    <a:lstStyle/>
                    <a:p>
                      <a:pPr algn="l"/>
                      <a:r>
                        <a:rPr sz="950" b="0">
                          <a:solidFill>
                            <a:srgbClr val="1C1C1E"/>
                          </a:solidFill>
                          <a:latin typeface="Calibri"/>
                        </a:rPr>
                        <a:t>statistics fitted only from what was knowable then</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Derived features</a:t>
                      </a:r>
                    </a:p>
                  </a:txBody>
                  <a:tcPr marL="82296" marR="64008" marT="32004" marB="32004" anchor="ctr">
                    <a:solidFill>
                      <a:srgbClr val="FFFFFF"/>
                    </a:solidFill>
                  </a:tcPr>
                </a:tc>
                <a:tc>
                  <a:txBody>
                    <a:bodyPr wrap="square"/>
                    <a:lstStyle/>
                    <a:p>
                      <a:pPr algn="l"/>
                      <a:r>
                        <a:rPr sz="950" b="0">
                          <a:solidFill>
                            <a:srgbClr val="1C1C1E"/>
                          </a:solidFill>
                          <a:latin typeface="Calibri"/>
                        </a:rPr>
                        <a:t>ingest_ts(Z) = max over the inputs</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Alignment</a:t>
                      </a:r>
                    </a:p>
                  </a:txBody>
                  <a:tcPr marL="82296" marR="64008" marT="32004" marB="32004" anchor="ctr">
                    <a:solidFill>
                      <a:srgbClr val="F6F3EF"/>
                    </a:solidFill>
                  </a:tcPr>
                </a:tc>
                <a:tc>
                  <a:txBody>
                    <a:bodyPr wrap="square"/>
                    <a:lstStyle/>
                    <a:p>
                      <a:pPr algn="l"/>
                      <a:r>
                        <a:rPr sz="950" b="0">
                          <a:solidFill>
                            <a:srgbClr val="1C1C1E"/>
                          </a:solidFill>
                          <a:latin typeface="Calibri"/>
                        </a:rPr>
                        <a:t>a back-filled value carries the clock it became knowable at</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Telemetry</a:t>
                      </a:r>
                    </a:p>
                  </a:txBody>
                  <a:tcPr marL="82296" marR="64008" marT="32004" marB="32004" anchor="ctr">
                    <a:solidFill>
                      <a:srgbClr val="FFFFFF"/>
                    </a:solidFill>
                  </a:tcPr>
                </a:tc>
                <a:tc>
                  <a:txBody>
                    <a:bodyPr wrap="square"/>
                    <a:lstStyle/>
                    <a:p>
                      <a:pPr algn="l"/>
                      <a:r>
                        <a:rPr sz="950" b="0">
                          <a:solidFill>
                            <a:srgbClr val="1C1C1E"/>
                          </a:solidFill>
                          <a:latin typeface="Calibri"/>
                        </a:rPr>
                        <a:t>a review of last quarter sees last quarter's population</a:t>
                      </a:r>
                    </a:p>
                  </a:txBody>
                  <a:tcPr marL="82296" marR="64008" marT="32004" marB="32004"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2</a:t>
            </a:r>
          </a:p>
        </p:txBody>
      </p:sp>
      <p:sp>
        <p:nvSpPr>
          <p:cNvPr id="5" name="TextBox 4"/>
          <p:cNvSpPr txBox="1"/>
          <p:nvPr/>
        </p:nvSpPr>
        <p:spPr>
          <a:xfrm>
            <a:off x="1005840" y="2390241"/>
            <a:ext cx="6169584" cy="1188720"/>
          </a:xfrm>
          <a:prstGeom prst="rect">
            <a:avLst/>
          </a:prstGeom>
          <a:noFill/>
        </p:spPr>
        <p:txBody>
          <a:bodyPr wrap="square" lIns="0" rIns="0" tIns="0" bIns="0" anchor="t">
            <a:spAutoFit/>
          </a:bodyPr>
          <a:lstStyle/>
          <a:p>
            <a:pPr algn="l">
              <a:spcBef>
                <a:spcPts val="0"/>
              </a:spcBef>
              <a:spcAft>
                <a:spcPts val="0"/>
              </a:spcAft>
            </a:pPr>
            <a:r>
              <a:rPr sz="3800" b="0" i="0">
                <a:solidFill>
                  <a:srgbClr val="FFFFFF"/>
                </a:solidFill>
                <a:latin typeface="Georgia"/>
              </a:rPr>
              <a:t>Engineering a Feature</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A meaning, a shape, a lineage, and an owner who answers for it.</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Not always a number</a:t>
            </a:r>
          </a:p>
          <a:p>
            <a:pPr>
              <a:lnSpc>
                <a:spcPct val="115000"/>
              </a:lnSpc>
              <a:spcBef>
                <a:spcPts val="0"/>
              </a:spcBef>
              <a:spcAft>
                <a:spcPts val="700"/>
              </a:spcAft>
            </a:pPr>
            <a:r>
              <a:rPr sz="1150" b="0" i="0">
                <a:solidFill>
                  <a:srgbClr val="F6E6E9"/>
                </a:solidFill>
                <a:latin typeface="Calibri"/>
              </a:rPr>
              <a:t>Derived features</a:t>
            </a:r>
          </a:p>
          <a:p>
            <a:pPr>
              <a:lnSpc>
                <a:spcPct val="115000"/>
              </a:lnSpc>
              <a:spcBef>
                <a:spcPts val="0"/>
              </a:spcBef>
              <a:spcAft>
                <a:spcPts val="700"/>
              </a:spcAft>
            </a:pPr>
            <a:r>
              <a:rPr sz="1150" b="0" i="0">
                <a:solidFill>
                  <a:srgbClr val="F6E6E9"/>
                </a:solidFill>
                <a:latin typeface="Calibri"/>
              </a:rPr>
              <a:t>The leakage rules</a:t>
            </a:r>
          </a:p>
          <a:p>
            <a:pPr>
              <a:lnSpc>
                <a:spcPct val="115000"/>
              </a:lnSpc>
              <a:spcBef>
                <a:spcPts val="0"/>
              </a:spcBef>
              <a:spcAft>
                <a:spcPts val="700"/>
              </a:spcAft>
            </a:pPr>
            <a:r>
              <a:rPr sz="1150" b="0" i="0">
                <a:solidFill>
                  <a:srgbClr val="F6E6E9"/>
                </a:solidFill>
                <a:latin typeface="Calibri"/>
              </a:rPr>
              <a:t>Sealing and ownership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ENGINEERING A FEATURE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feature is not always a number</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 · Engineering a Feature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a:t>
            </a:r>
          </a:p>
        </p:txBody>
      </p:sp>
      <p:sp>
        <p:nvSpPr>
          <p:cNvPr id="10" name="Rectangle 9"/>
          <p:cNvSpPr/>
          <p:nvPr/>
        </p:nvSpPr>
        <p:spPr>
          <a:xfrm>
            <a:off x="777240" y="1353312"/>
            <a:ext cx="5531351" cy="129284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29284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165591" cy="1109967"/>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{"name": "usd_curve", "entity": "book_id",</a:t>
            </a:r>
          </a:p>
          <a:p>
            <a:pPr>
              <a:lnSpc>
                <a:spcPct val="134000"/>
              </a:lnSpc>
              <a:spcBef>
                <a:spcPts val="0"/>
              </a:spcBef>
              <a:spcAft>
                <a:spcPts val="0"/>
              </a:spcAft>
            </a:pPr>
            <a:r>
              <a:rPr sz="950" b="0" i="0">
                <a:solidFill>
                  <a:srgbClr val="1C1C1E"/>
                </a:solidFill>
                <a:latin typeface="Consolas"/>
              </a:rPr>
              <a:t> "dtype": "numeric",</a:t>
            </a:r>
          </a:p>
          <a:p>
            <a:pPr>
              <a:lnSpc>
                <a:spcPct val="134000"/>
              </a:lnSpc>
              <a:spcBef>
                <a:spcPts val="0"/>
              </a:spcBef>
              <a:spcAft>
                <a:spcPts val="0"/>
              </a:spcAft>
            </a:pPr>
            <a:r>
              <a:rPr sz="950" b="0" i="0">
                <a:solidFill>
                  <a:srgbClr val="1C1C1E"/>
                </a:solidFill>
                <a:latin typeface="Consolas"/>
              </a:rPr>
              <a:t> "shape": [10],</a:t>
            </a:r>
          </a:p>
          <a:p>
            <a:pPr>
              <a:lnSpc>
                <a:spcPct val="134000"/>
              </a:lnSpc>
              <a:spcBef>
                <a:spcPts val="0"/>
              </a:spcBef>
              <a:spcAft>
                <a:spcPts val="0"/>
              </a:spcAft>
            </a:pPr>
            <a:r>
              <a:rPr sz="950" b="0" i="0">
                <a:solidFill>
                  <a:srgbClr val="1C1C1E"/>
                </a:solidFill>
                <a:latin typeface="Consolas"/>
              </a:rPr>
              <a:t> "components": ["1m","3m","6m","1y","2y",</a:t>
            </a:r>
          </a:p>
          <a:p>
            <a:pPr>
              <a:lnSpc>
                <a:spcPct val="134000"/>
              </a:lnSpc>
              <a:spcBef>
                <a:spcPts val="0"/>
              </a:spcBef>
              <a:spcAft>
                <a:spcPts val="0"/>
              </a:spcAft>
            </a:pPr>
            <a:r>
              <a:rPr sz="950" b="0" i="0">
                <a:solidFill>
                  <a:srgbClr val="1C1C1E"/>
                </a:solidFill>
                <a:latin typeface="Consolas"/>
              </a:rPr>
              <a:t>                "3y","5y","7y","10y","30y"]}</a:t>
            </a:r>
          </a:p>
        </p:txBody>
      </p:sp>
      <p:graphicFrame>
        <p:nvGraphicFramePr>
          <p:cNvPr id="13" name="Table 12"/>
          <p:cNvGraphicFramePr>
            <a:graphicFrameLocks noGrp="1"/>
          </p:cNvGraphicFramePr>
          <p:nvPr/>
        </p:nvGraphicFramePr>
        <p:xfrm>
          <a:off x="777240" y="2902191"/>
          <a:ext cx="5531350" cy="1562048"/>
        </p:xfrm>
        <a:graphic>
          <a:graphicData uri="http://schemas.openxmlformats.org/drawingml/2006/table">
            <a:tbl>
              <a:tblPr firstRow="1">
                <a:tableStyleId>{5C22544A-7EE6-4342-B048-85BDC9FD1C3A}</a:tableStyleId>
              </a:tblPr>
              <a:tblGrid>
                <a:gridCol w="1042138"/>
                <a:gridCol w="961974"/>
                <a:gridCol w="3527238"/>
              </a:tblGrid>
              <a:tr h="329184">
                <a:tc>
                  <a:txBody>
                    <a:bodyPr wrap="square"/>
                    <a:lstStyle/>
                    <a:p>
                      <a:pPr algn="l"/>
                      <a:r>
                        <a:rPr sz="950" b="1">
                          <a:solidFill>
                            <a:srgbClr val="FFFFFF"/>
                          </a:solidFill>
                          <a:latin typeface="Calibri"/>
                        </a:rPr>
                        <a:t>Shape</a:t>
                      </a:r>
                    </a:p>
                  </a:txBody>
                  <a:tcPr marL="82296" marR="64008" marT="32004" marB="32004" anchor="ctr">
                    <a:solidFill>
                      <a:srgbClr val="A51C30"/>
                    </a:solidFill>
                  </a:tcPr>
                </a:tc>
                <a:tc>
                  <a:txBody>
                    <a:bodyPr wrap="square"/>
                    <a:lstStyle/>
                    <a:p>
                      <a:pPr algn="l"/>
                      <a:r>
                        <a:rPr sz="950" b="1">
                          <a:solidFill>
                            <a:srgbClr val="FFFFFF"/>
                          </a:solidFill>
                          <a:latin typeface="Calibri"/>
                        </a:rPr>
                        <a:t>Kind</a:t>
                      </a:r>
                    </a:p>
                  </a:txBody>
                  <a:tcPr marL="82296" marR="64008" marT="32004" marB="32004" anchor="ctr">
                    <a:solidFill>
                      <a:srgbClr val="A51C30"/>
                    </a:solidFill>
                  </a:tcPr>
                </a:tc>
                <a:tc>
                  <a:txBody>
                    <a:bodyPr wrap="square"/>
                    <a:lstStyle/>
                    <a:p>
                      <a:pPr algn="l"/>
                      <a:r>
                        <a:rPr sz="950" b="1">
                          <a:solidFill>
                            <a:srgbClr val="FFFFFF"/>
                          </a:solidFill>
                          <a:latin typeface="Calibri"/>
                        </a:rPr>
                        <a:t>Example</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a:t>
                      </a:r>
                    </a:p>
                  </a:txBody>
                  <a:tcPr marL="82296" marR="64008" marT="32004" marB="32004" anchor="ctr">
                    <a:solidFill>
                      <a:srgbClr val="FFFFFF"/>
                    </a:solidFill>
                  </a:tcPr>
                </a:tc>
                <a:tc>
                  <a:txBody>
                    <a:bodyPr wrap="square"/>
                    <a:lstStyle/>
                    <a:p>
                      <a:pPr algn="l"/>
                      <a:r>
                        <a:rPr sz="950" b="0">
                          <a:solidFill>
                            <a:srgbClr val="1C1C1E"/>
                          </a:solidFill>
                          <a:latin typeface="Calibri"/>
                        </a:rPr>
                        <a:t>scalar</a:t>
                      </a:r>
                    </a:p>
                  </a:txBody>
                  <a:tcPr marL="82296" marR="64008" marT="32004" marB="32004" anchor="ctr">
                    <a:solidFill>
                      <a:srgbClr val="FFFFFF"/>
                    </a:solidFill>
                  </a:tcPr>
                </a:tc>
                <a:tc>
                  <a:txBody>
                    <a:bodyPr wrap="square"/>
                    <a:lstStyle/>
                    <a:p>
                      <a:pPr algn="l"/>
                      <a:r>
                        <a:rPr sz="950" b="0">
                          <a:solidFill>
                            <a:srgbClr val="1C1C1E"/>
                          </a:solidFill>
                          <a:latin typeface="Calibri"/>
                        </a:rPr>
                        <a:t>debt service coverage</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[10]</a:t>
                      </a:r>
                    </a:p>
                  </a:txBody>
                  <a:tcPr marL="82296" marR="64008" marT="32004" marB="32004" anchor="ctr">
                    <a:solidFill>
                      <a:srgbClr val="F6F3EF"/>
                    </a:solidFill>
                  </a:tcPr>
                </a:tc>
                <a:tc>
                  <a:txBody>
                    <a:bodyPr wrap="square"/>
                    <a:lstStyle/>
                    <a:p>
                      <a:pPr algn="l"/>
                      <a:r>
                        <a:rPr sz="950" b="0">
                          <a:solidFill>
                            <a:srgbClr val="1C1C1E"/>
                          </a:solidFill>
                          <a:latin typeface="Calibri"/>
                        </a:rPr>
                        <a:t>vector</a:t>
                      </a:r>
                    </a:p>
                  </a:txBody>
                  <a:tcPr marL="82296" marR="64008" marT="32004" marB="32004" anchor="ctr">
                    <a:solidFill>
                      <a:srgbClr val="F6F3EF"/>
                    </a:solidFill>
                  </a:tcPr>
                </a:tc>
                <a:tc>
                  <a:txBody>
                    <a:bodyPr wrap="square"/>
                    <a:lstStyle/>
                    <a:p>
                      <a:pPr algn="l"/>
                      <a:r>
                        <a:rPr sz="950" b="0">
                          <a:solidFill>
                            <a:srgbClr val="1C1C1E"/>
                          </a:solidFill>
                          <a:latin typeface="Calibri"/>
                        </a:rPr>
                        <a:t>a curve at ten tenors</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[10, 10]</a:t>
                      </a:r>
                    </a:p>
                  </a:txBody>
                  <a:tcPr marL="82296" marR="64008" marT="32004" marB="32004" anchor="ctr">
                    <a:solidFill>
                      <a:srgbClr val="FFFFFF"/>
                    </a:solidFill>
                  </a:tcPr>
                </a:tc>
                <a:tc>
                  <a:txBody>
                    <a:bodyPr wrap="square"/>
                    <a:lstStyle/>
                    <a:p>
                      <a:pPr algn="l"/>
                      <a:r>
                        <a:rPr sz="950" b="0">
                          <a:solidFill>
                            <a:srgbClr val="1C1C1E"/>
                          </a:solidFill>
                          <a:latin typeface="Calibri"/>
                        </a:rPr>
                        <a:t>matrix</a:t>
                      </a:r>
                    </a:p>
                  </a:txBody>
                  <a:tcPr marL="82296" marR="64008" marT="32004" marB="32004" anchor="ctr">
                    <a:solidFill>
                      <a:srgbClr val="FFFFFF"/>
                    </a:solidFill>
                  </a:tcPr>
                </a:tc>
                <a:tc>
                  <a:txBody>
                    <a:bodyPr wrap="square"/>
                    <a:lstStyle/>
                    <a:p>
                      <a:pPr algn="l"/>
                      <a:r>
                        <a:rPr sz="950" b="0">
                          <a:solidFill>
                            <a:srgbClr val="1C1C1E"/>
                          </a:solidFill>
                          <a:latin typeface="Calibri"/>
                        </a:rPr>
                        <a:t>the correlation between them</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[5, 10, 10]</a:t>
                      </a:r>
                    </a:p>
                  </a:txBody>
                  <a:tcPr marL="82296" marR="64008" marT="32004" marB="32004" anchor="ctr">
                    <a:solidFill>
                      <a:srgbClr val="F6F3EF"/>
                    </a:solidFill>
                  </a:tcPr>
                </a:tc>
                <a:tc>
                  <a:txBody>
                    <a:bodyPr wrap="square"/>
                    <a:lstStyle/>
                    <a:p>
                      <a:pPr algn="l"/>
                      <a:r>
                        <a:rPr sz="950" b="0">
                          <a:solidFill>
                            <a:srgbClr val="1C1C1E"/>
                          </a:solidFill>
                          <a:latin typeface="Calibri"/>
                        </a:rPr>
                        <a:t>tensor</a:t>
                      </a:r>
                    </a:p>
                  </a:txBody>
                  <a:tcPr marL="82296" marR="64008" marT="32004" marB="32004" anchor="ctr">
                    <a:solidFill>
                      <a:srgbClr val="F6F3EF"/>
                    </a:solidFill>
                  </a:tcPr>
                </a:tc>
                <a:tc>
                  <a:txBody>
                    <a:bodyPr wrap="square"/>
                    <a:lstStyle/>
                    <a:p>
                      <a:pPr algn="l"/>
                      <a:r>
                        <a:rPr sz="950" b="0">
                          <a:solidFill>
                            <a:srgbClr val="1C1C1E"/>
                          </a:solidFill>
                          <a:latin typeface="Calibri"/>
                        </a:rPr>
                        <a:t>that matrix under five scenarios</a:t>
                      </a:r>
                    </a:p>
                  </a:txBody>
                  <a:tcPr marL="82296" marR="64008" marT="32004" marB="32004" anchor="ctr">
                    <a:solidFill>
                      <a:srgbClr val="F6F3EF"/>
                    </a:solidFill>
                  </a:tcPr>
                </a:tc>
              </a:tr>
            </a:tbl>
          </a:graphicData>
        </a:graphic>
      </p:graphicFrame>
      <p:sp>
        <p:nvSpPr>
          <p:cNvPr id="14" name="TextBox 13"/>
          <p:cNvSpPr txBox="1"/>
          <p:nvPr/>
        </p:nvSpPr>
        <p:spPr>
          <a:xfrm>
            <a:off x="6734080" y="1353312"/>
            <a:ext cx="4680374" cy="3108960"/>
          </a:xfrm>
          <a:prstGeom prst="rect">
            <a:avLst/>
          </a:prstGeom>
          <a:noFill/>
        </p:spPr>
        <p:txBody>
          <a:bodyPr wrap="square" lIns="0" rIns="0" tIns="0" bIns="0" anchor="t">
            <a:spAutoFit/>
          </a:bodyPr>
          <a:lstStyle/>
          <a:p>
            <a:pPr algn="l">
              <a:spcBef>
                <a:spcPts val="0"/>
              </a:spcBef>
              <a:spcAft>
                <a:spcPts val="800"/>
              </a:spcAft>
            </a:pPr>
            <a:r>
              <a:rPr sz="1250" b="1" i="0">
                <a:solidFill>
                  <a:srgbClr val="A51C30"/>
                </a:solidFill>
                <a:latin typeface="Georgia"/>
              </a:rPr>
              <a:t>The component order IS the axis order</a:t>
            </a:r>
          </a:p>
          <a:p>
            <a:pPr>
              <a:lnSpc>
                <a:spcPct val="125000"/>
              </a:lnSpc>
              <a:spcBef>
                <a:spcPts val="0"/>
              </a:spcBef>
              <a:spcAft>
                <a:spcPts val="1000"/>
              </a:spcAft>
            </a:pPr>
            <a:r>
              <a:rPr sz="1100" b="0" i="0">
                <a:solidFill>
                  <a:srgbClr val="1C1C1E"/>
                </a:solidFill>
                <a:latin typeface="Calibri"/>
              </a:rPr>
              <a:t>A curve whose tenors came back alphabetically would be a different curve — and one nobody would notice was wrong. Resolution preserves insertion order and never sorts.</a:t>
            </a:r>
          </a:p>
          <a:p>
            <a:pPr>
              <a:lnSpc>
                <a:spcPct val="125000"/>
              </a:lnSpc>
              <a:spcBef>
                <a:spcPts val="0"/>
              </a:spcBef>
              <a:spcAft>
                <a:spcPts val="1000"/>
              </a:spcAft>
            </a:pPr>
            <a:r>
              <a:rPr sz="1100" b="0" i="0">
                <a:solidFill>
                  <a:srgbClr val="4A4F57"/>
                </a:solidFill>
                <a:latin typeface="Calibri"/>
              </a:rPr>
              <a:t>The names are what make composition mean something. “Drop the 50-year point” is an operation on a name; on an anonymous array it is an operation on an index, and an index is not a meaning.</a:t>
            </a:r>
          </a:p>
          <a:p>
            <a:pPr>
              <a:lnSpc>
                <a:spcPct val="125000"/>
              </a:lnSpc>
              <a:spcBef>
                <a:spcPts val="0"/>
              </a:spcBef>
              <a:spcAft>
                <a:spcPts val="0"/>
              </a:spcAft>
            </a:pPr>
            <a:r>
              <a:rPr sz="1100" b="0" i="0">
                <a:solidFill>
                  <a:srgbClr val="4A4F57"/>
                </a:solidFill>
                <a:latin typeface="Calibri"/>
              </a:rPr>
              <a:t>A declared shape is checked against the values that arrive. A shape nobody verifies is a comment, and a model given ten tenors where it expected eleven produces an answer rather than an error.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ENGINEERING A FEATURE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Derived features, and the four rules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 · Engineering a Feature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a:t>
            </a:r>
          </a:p>
        </p:txBody>
      </p:sp>
      <p:sp>
        <p:nvSpPr>
          <p:cNvPr id="10" name="Rectangle 9"/>
          <p:cNvSpPr/>
          <p:nvPr/>
        </p:nvSpPr>
        <p:spPr>
          <a:xfrm>
            <a:off x="777240" y="1353312"/>
            <a:ext cx="5318607" cy="162520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62520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4952847" cy="1442328"/>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lot_to_living_ratio = lot_size_sqft / living_area_sqft</a:t>
            </a:r>
          </a:p>
          <a:p>
            <a:pPr>
              <a:lnSpc>
                <a:spcPct val="134000"/>
              </a:lnSpc>
              <a:spcBef>
                <a:spcPts val="0"/>
              </a:spcBef>
              <a:spcAft>
                <a:spcPts val="0"/>
              </a:spcAft>
            </a:pPr>
            <a:r>
              <a:rPr sz="900" b="0" i="0">
                <a:solidFill>
                  <a:srgbClr val="1C1C1E"/>
                </a:solidFill>
                <a:latin typeface="Consolas"/>
              </a:rPr>
              <a:t>property_age        = year(event_ts) - year_built</a:t>
            </a:r>
          </a:p>
          <a:p>
            <a:pPr>
              <a:lnSpc>
                <a:spcPct val="134000"/>
              </a:lnSpc>
              <a:spcBef>
                <a:spcPts val="0"/>
              </a:spcBef>
              <a:spcAft>
                <a:spcPts val="0"/>
              </a:spcAft>
            </a:pPr>
            <a:r>
              <a:rPr sz="900" b="0" i="0">
                <a:solidFill>
                  <a:srgbClr val="1C1C1E"/>
                </a:solidFill>
                <a:latin typeface="Consolas"/>
              </a:rPr>
              <a:t>log_living_area     = log(living_area_sqft)</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7A7F87"/>
                </a:solidFill>
                <a:latin typeface="Consolas"/>
              </a:rPr>
              <a:t># arithmetic, comparison, nine total functions,</a:t>
            </a:r>
          </a:p>
          <a:p>
            <a:pPr>
              <a:lnSpc>
                <a:spcPct val="134000"/>
              </a:lnSpc>
              <a:spcBef>
                <a:spcPts val="0"/>
              </a:spcBef>
              <a:spcAft>
                <a:spcPts val="0"/>
              </a:spcAft>
            </a:pPr>
            <a:r>
              <a:rPr sz="900" b="0" i="0">
                <a:solidFill>
                  <a:srgbClr val="7A7F87"/>
                </a:solidFill>
                <a:latin typeface="Consolas"/>
              </a:rPr>
              <a:t># the row's own clock. whitelisted at the AST,</a:t>
            </a:r>
          </a:p>
          <a:p>
            <a:pPr>
              <a:lnSpc>
                <a:spcPct val="134000"/>
              </a:lnSpc>
              <a:spcBef>
                <a:spcPts val="0"/>
              </a:spcBef>
              <a:spcAft>
                <a:spcPts val="0"/>
              </a:spcAft>
            </a:pPr>
            <a:r>
              <a:rPr sz="900" b="0" i="0">
                <a:solidFill>
                  <a:srgbClr val="7A7F87"/>
                </a:solidFill>
                <a:latin typeface="Consolas"/>
              </a:rPr>
              <a:t># so what cannot be expressed cannot be smuggled in.</a:t>
            </a:r>
          </a:p>
        </p:txBody>
      </p:sp>
      <p:sp>
        <p:nvSpPr>
          <p:cNvPr id="13" name="Rectangle 12"/>
          <p:cNvSpPr/>
          <p:nvPr/>
        </p:nvSpPr>
        <p:spPr>
          <a:xfrm>
            <a:off x="777240" y="3216264"/>
            <a:ext cx="5318607" cy="1042415"/>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777240" y="3216264"/>
            <a:ext cx="41148" cy="1042415"/>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1014983" y="3335136"/>
            <a:ext cx="4861407" cy="822959"/>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MAYA transforms features it holds; </a:t>
            </a:r>
            <a:r>
              <a:rPr sz="1050" b="0" i="0">
                <a:solidFill>
                  <a:srgbClr val="1C1C1E"/>
                </a:solidFill>
                <a:latin typeface="Calibri"/>
              </a:rPr>
              <a:t>it does not run models. Computing x / y over a stored column is the same class of act as the null rate it already reports for every materialisation. </a:t>
            </a:r>
            <a:r>
              <a:rPr sz="1050" b="1" i="0">
                <a:solidFill>
                  <a:srgbClr val="1C1C1E"/>
                </a:solidFill>
                <a:latin typeface="Calibri"/>
              </a:rPr>
              <a:t>Running a kernel is not.</a:t>
            </a:r>
          </a:p>
        </p:txBody>
      </p:sp>
      <p:sp>
        <p:nvSpPr>
          <p:cNvPr id="16" name="TextBox 15"/>
          <p:cNvSpPr txBox="1"/>
          <p:nvPr/>
        </p:nvSpPr>
        <p:spPr>
          <a:xfrm>
            <a:off x="6521336" y="1353312"/>
            <a:ext cx="4893118" cy="292608"/>
          </a:xfrm>
          <a:prstGeom prst="rect">
            <a:avLst/>
          </a:prstGeom>
          <a:noFill/>
        </p:spPr>
        <p:txBody>
          <a:bodyPr wrap="square" lIns="0" rIns="0" tIns="0" bIns="0" anchor="t">
            <a:spAutoFit/>
          </a:bodyPr>
          <a:lstStyle/>
          <a:p>
            <a:pPr algn="l">
              <a:spcBef>
                <a:spcPts val="0"/>
              </a:spcBef>
              <a:spcAft>
                <a:spcPts val="0"/>
              </a:spcAft>
            </a:pPr>
            <a:r>
              <a:rPr sz="1200" b="1" i="0">
                <a:solidFill>
                  <a:srgbClr val="A51C30"/>
                </a:solidFill>
                <a:latin typeface="Georgia"/>
              </a:rPr>
              <a:t>Four rules, each because the alternative fails quietly</a:t>
            </a:r>
          </a:p>
        </p:txBody>
      </p:sp>
      <p:graphicFrame>
        <p:nvGraphicFramePr>
          <p:cNvPr id="17" name="Table 16"/>
          <p:cNvGraphicFramePr>
            <a:graphicFrameLocks noGrp="1"/>
          </p:cNvGraphicFramePr>
          <p:nvPr/>
        </p:nvGraphicFramePr>
        <p:xfrm>
          <a:off x="6521336" y="1719072"/>
          <a:ext cx="4893118" cy="2141524"/>
        </p:xfrm>
        <a:graphic>
          <a:graphicData uri="http://schemas.openxmlformats.org/drawingml/2006/table">
            <a:tbl>
              <a:tblPr firstRow="1">
                <a:tableStyleId>{5C22544A-7EE6-4342-B048-85BDC9FD1C3A}</a:tableStyleId>
              </a:tblPr>
              <a:tblGrid>
                <a:gridCol w="2084106"/>
                <a:gridCol w="2809012"/>
              </a:tblGrid>
              <a:tr h="329184">
                <a:tc>
                  <a:txBody>
                    <a:bodyPr wrap="square"/>
                    <a:lstStyle/>
                    <a:p>
                      <a:pPr algn="l"/>
                      <a:r>
                        <a:rPr sz="900" b="1">
                          <a:solidFill>
                            <a:srgbClr val="FFFFFF"/>
                          </a:solidFill>
                          <a:latin typeface="Calibri"/>
                        </a:rPr>
                        <a:t>Rule</a:t>
                      </a:r>
                    </a:p>
                  </a:txBody>
                  <a:tcPr marL="82296" marR="64008" marT="32004" marB="32004" anchor="ctr">
                    <a:solidFill>
                      <a:srgbClr val="A51C30"/>
                    </a:solidFill>
                  </a:tcPr>
                </a:tc>
                <a:tc>
                  <a:txBody>
                    <a:bodyPr wrap="square"/>
                    <a:lstStyle/>
                    <a:p>
                      <a:pPr algn="l"/>
                      <a:r>
                        <a:rPr sz="900" b="1">
                          <a:solidFill>
                            <a:srgbClr val="FFFFFF"/>
                          </a:solidFill>
                          <a:latin typeface="Calibri"/>
                        </a:rPr>
                        <a:t>What it prevents</a:t>
                      </a:r>
                    </a:p>
                  </a:txBody>
                  <a:tcPr marL="82296" marR="64008" marT="32004" marB="32004" anchor="ctr">
                    <a:solidFill>
                      <a:srgbClr val="A51C30"/>
                    </a:solidFill>
                  </a:tcPr>
                </a:tc>
              </a:tr>
              <a:tr h="453085">
                <a:tc>
                  <a:txBody>
                    <a:bodyPr wrap="square"/>
                    <a:lstStyle/>
                    <a:p>
                      <a:pPr algn="l"/>
                      <a:r>
                        <a:rPr sz="900" b="1">
                          <a:solidFill>
                            <a:srgbClr val="A51C30"/>
                          </a:solidFill>
                          <a:latin typeface="Calibri"/>
                        </a:rPr>
                        <a:t>Lineage is the transitive closure</a:t>
                      </a:r>
                    </a:p>
                  </a:txBody>
                  <a:tcPr marL="82296" marR="64008" marT="32004" marB="32004" anchor="ctr">
                    <a:solidFill>
                      <a:srgbClr val="FFFFFF"/>
                    </a:solidFill>
                  </a:tcPr>
                </a:tc>
                <a:tc>
                  <a:txBody>
                    <a:bodyPr wrap="square"/>
                    <a:lstStyle/>
                    <a:p>
                      <a:pPr algn="l"/>
                      <a:r>
                        <a:rPr sz="900" b="0">
                          <a:solidFill>
                            <a:srgbClr val="1C1C1E"/>
                          </a:solidFill>
                          <a:latin typeface="Calibri"/>
                        </a:rPr>
                        <a:t>a primitive retired under something deriving from it</a:t>
                      </a:r>
                    </a:p>
                  </a:txBody>
                  <a:tcPr marL="82296" marR="64008" marT="32004" marB="32004" anchor="ctr">
                    <a:solidFill>
                      <a:srgbClr val="FFFFFF"/>
                    </a:solidFill>
                  </a:tcPr>
                </a:tc>
              </a:tr>
              <a:tr h="453085">
                <a:tc>
                  <a:txBody>
                    <a:bodyPr wrap="square"/>
                    <a:lstStyle/>
                    <a:p>
                      <a:pPr algn="l"/>
                      <a:r>
                        <a:rPr sz="900" b="1">
                          <a:solidFill>
                            <a:srgbClr val="A51C30"/>
                          </a:solidFill>
                          <a:latin typeface="Calibri"/>
                        </a:rPr>
                        <a:t>ingest_ts(Z) = max(inputs)</a:t>
                      </a:r>
                    </a:p>
                  </a:txBody>
                  <a:tcPr marL="82296" marR="64008" marT="32004" marB="32004" anchor="ctr">
                    <a:solidFill>
                      <a:srgbClr val="F6F3EF"/>
                    </a:solidFill>
                  </a:tcPr>
                </a:tc>
                <a:tc>
                  <a:txBody>
                    <a:bodyPr wrap="square"/>
                    <a:lstStyle/>
                    <a:p>
                      <a:pPr algn="l"/>
                      <a:r>
                        <a:rPr sz="900" b="0">
                          <a:solidFill>
                            <a:srgbClr val="1C1C1E"/>
                          </a:solidFill>
                          <a:latin typeface="Calibri"/>
                        </a:rPr>
                        <a:t>the easiest way to leak the future: a value appearing knowable before its inputs were</a:t>
                      </a:r>
                    </a:p>
                  </a:txBody>
                  <a:tcPr marL="82296" marR="64008" marT="32004" marB="32004" anchor="ctr">
                    <a:solidFill>
                      <a:srgbClr val="F6F3EF"/>
                    </a:solidFill>
                  </a:tcPr>
                </a:tc>
              </a:tr>
              <a:tr h="453085">
                <a:tc>
                  <a:txBody>
                    <a:bodyPr wrap="square"/>
                    <a:lstStyle/>
                    <a:p>
                      <a:pPr algn="l"/>
                      <a:r>
                        <a:rPr sz="900" b="1">
                          <a:solidFill>
                            <a:srgbClr val="A51C30"/>
                          </a:solidFill>
                          <a:latin typeface="Calibri"/>
                        </a:rPr>
                        <a:t>No slot may derive from the label</a:t>
                      </a:r>
                    </a:p>
                  </a:txBody>
                  <a:tcPr marL="82296" marR="64008" marT="32004" marB="32004" anchor="ctr">
                    <a:solidFill>
                      <a:srgbClr val="FFFFFF"/>
                    </a:solidFill>
                  </a:tcPr>
                </a:tc>
                <a:tc>
                  <a:txBody>
                    <a:bodyPr wrap="square"/>
                    <a:lstStyle/>
                    <a:p>
                      <a:pPr algn="l"/>
                      <a:r>
                        <a:rPr sz="900" b="0">
                          <a:solidFill>
                            <a:srgbClr val="1C1C1E"/>
                          </a:solidFill>
                          <a:latin typeface="Calibri"/>
                        </a:rPr>
                        <a:t>leakage with a division sign in front of it</a:t>
                      </a:r>
                    </a:p>
                  </a:txBody>
                  <a:tcPr marL="82296" marR="64008" marT="32004" marB="32004" anchor="ctr">
                    <a:solidFill>
                      <a:srgbClr val="FFFFFF"/>
                    </a:solidFill>
                  </a:tcPr>
                </a:tc>
              </a:tr>
              <a:tr h="453085">
                <a:tc>
                  <a:txBody>
                    <a:bodyPr wrap="square"/>
                    <a:lstStyle/>
                    <a:p>
                      <a:pPr algn="l"/>
                      <a:r>
                        <a:rPr sz="900" b="1">
                          <a:solidFill>
                            <a:srgbClr val="A51C30"/>
                          </a:solidFill>
                          <a:latin typeface="Calibri"/>
                        </a:rPr>
                        <a:t>Certification is the meet</a:t>
                      </a:r>
                    </a:p>
                  </a:txBody>
                  <a:tcPr marL="82296" marR="64008" marT="32004" marB="32004" anchor="ctr">
                    <a:solidFill>
                      <a:srgbClr val="F6F3EF"/>
                    </a:solidFill>
                  </a:tcPr>
                </a:tc>
                <a:tc>
                  <a:txBody>
                    <a:bodyPr wrap="square"/>
                    <a:lstStyle/>
                    <a:p>
                      <a:pPr algn="l"/>
                      <a:r>
                        <a:rPr sz="900" b="0">
                          <a:solidFill>
                            <a:srgbClr val="1C1C1E"/>
                          </a:solidFill>
                          <a:latin typeface="Calibri"/>
                        </a:rPr>
                        <a:t>deriving from an uncertified feature to launder it</a:t>
                      </a:r>
                    </a:p>
                  </a:txBody>
                  <a:tcPr marL="82296" marR="64008" marT="32004" marB="32004" anchor="ctr">
                    <a:solidFill>
                      <a:srgbClr val="F6F3E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ENGINEERING A FEATURE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one that gets refused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 · Engineering a Feature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a:t>
            </a:r>
          </a:p>
        </p:txBody>
      </p:sp>
      <p:sp>
        <p:nvSpPr>
          <p:cNvPr id="10" name="Rectangle 9"/>
          <p:cNvSpPr/>
          <p:nvPr/>
        </p:nvSpPr>
        <p:spPr>
          <a:xfrm>
            <a:off x="777240" y="1353312"/>
            <a:ext cx="5744096" cy="181819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818192"/>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378336" cy="1635312"/>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feature: price_per_sqft</a:t>
            </a:r>
          </a:p>
          <a:p>
            <a:pPr>
              <a:lnSpc>
                <a:spcPct val="134000"/>
              </a:lnSpc>
              <a:spcBef>
                <a:spcPts val="0"/>
              </a:spcBef>
              <a:spcAft>
                <a:spcPts val="0"/>
              </a:spcAft>
            </a:pPr>
            <a:r>
              <a:rPr sz="900" b="0" i="0">
                <a:solidFill>
                  <a:srgbClr val="1C1C1E"/>
                </a:solidFill>
                <a:latin typeface="Consolas"/>
              </a:rPr>
              <a:t>inputs:  [sale_price, living_area_sqft]</a:t>
            </a:r>
          </a:p>
          <a:p>
            <a:pPr>
              <a:lnSpc>
                <a:spcPct val="134000"/>
              </a:lnSpc>
              <a:spcBef>
                <a:spcPts val="0"/>
              </a:spcBef>
              <a:spcAft>
                <a:spcPts val="0"/>
              </a:spcAft>
            </a:pPr>
            <a:r>
              <a:rPr sz="900" b="0" i="0">
                <a:solidFill>
                  <a:srgbClr val="7A7F87"/>
                </a:solidFill>
                <a:latin typeface="Consolas"/>
              </a:rPr>
              <a:t>         # sale_price is the featureset's LABEL</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409  'price_per_sqft' is computed from 'sale_price',</a:t>
            </a:r>
          </a:p>
          <a:p>
            <a:pPr>
              <a:lnSpc>
                <a:spcPct val="134000"/>
              </a:lnSpc>
              <a:spcBef>
                <a:spcPts val="0"/>
              </a:spcBef>
              <a:spcAft>
                <a:spcPts val="0"/>
              </a:spcAft>
            </a:pPr>
            <a:r>
              <a:rPr sz="900" b="0" i="0">
                <a:solidFill>
                  <a:srgbClr val="1C1C1E"/>
                </a:solidFill>
                <a:latin typeface="Consolas"/>
              </a:rPr>
              <a:t>     which this featureset declares as its label — a</a:t>
            </a:r>
          </a:p>
          <a:p>
            <a:pPr>
              <a:lnSpc>
                <a:spcPct val="134000"/>
              </a:lnSpc>
              <a:spcBef>
                <a:spcPts val="0"/>
              </a:spcBef>
              <a:spcAft>
                <a:spcPts val="0"/>
              </a:spcAft>
            </a:pPr>
            <a:r>
              <a:rPr sz="900" b="0" i="0">
                <a:solidFill>
                  <a:srgbClr val="1C1C1E"/>
                </a:solidFill>
                <a:latin typeface="Consolas"/>
              </a:rPr>
              <a:t>     feature derived from the label leaks the answer</a:t>
            </a:r>
          </a:p>
          <a:p>
            <a:pPr>
              <a:lnSpc>
                <a:spcPct val="134000"/>
              </a:lnSpc>
              <a:spcBef>
                <a:spcPts val="0"/>
              </a:spcBef>
              <a:spcAft>
                <a:spcPts val="0"/>
              </a:spcAft>
            </a:pPr>
            <a:r>
              <a:rPr sz="900" b="0" i="0">
                <a:solidFill>
                  <a:srgbClr val="1C1C1E"/>
                </a:solidFill>
                <a:latin typeface="Consolas"/>
              </a:rPr>
              <a:t>     into the training set.</a:t>
            </a:r>
          </a:p>
        </p:txBody>
      </p:sp>
      <p:sp>
        <p:nvSpPr>
          <p:cNvPr id="13" name="TextBox 12"/>
          <p:cNvSpPr txBox="1"/>
          <p:nvPr/>
        </p:nvSpPr>
        <p:spPr>
          <a:xfrm>
            <a:off x="777240" y="3427536"/>
            <a:ext cx="5744096" cy="1371600"/>
          </a:xfrm>
          <a:prstGeom prst="rect">
            <a:avLst/>
          </a:prstGeom>
          <a:noFill/>
        </p:spPr>
        <p:txBody>
          <a:bodyPr wrap="square" lIns="0" rIns="0" tIns="0" bIns="0" anchor="t">
            <a:spAutoFit/>
          </a:bodyPr>
          <a:lstStyle/>
          <a:p>
            <a:pPr algn="l">
              <a:lnSpc>
                <a:spcPct val="125000"/>
              </a:lnSpc>
              <a:spcBef>
                <a:spcPts val="0"/>
              </a:spcBef>
              <a:spcAft>
                <a:spcPts val="800"/>
              </a:spcAft>
            </a:pPr>
            <a:r>
              <a:rPr sz="1100" b="0" i="0">
                <a:solidFill>
                  <a:srgbClr val="1C1C1E"/>
                </a:solidFill>
                <a:latin typeface="Calibri"/>
              </a:rPr>
              <a:t>The check walks the WHOLE lineage, not the immediate inputs: a derivation of a derivation of the label is still the label.</a:t>
            </a:r>
          </a:p>
          <a:p>
            <a:pPr>
              <a:lnSpc>
                <a:spcPct val="125000"/>
              </a:lnSpc>
              <a:spcBef>
                <a:spcPts val="0"/>
              </a:spcBef>
              <a:spcAft>
                <a:spcPts val="0"/>
              </a:spcAft>
            </a:pPr>
            <a:r>
              <a:rPr sz="1100" b="0" i="0">
                <a:solidFill>
                  <a:srgbClr val="4A4F57"/>
                </a:solidFill>
                <a:latin typeface="Calibri"/>
              </a:rPr>
              <a:t>And it runs before the view is resolved, so the message is “you cannot train on the answer” rather than “no view supplies that”.</a:t>
            </a:r>
          </a:p>
        </p:txBody>
      </p:sp>
      <p:sp>
        <p:nvSpPr>
          <p:cNvPr id="14" name="TextBox 13"/>
          <p:cNvSpPr txBox="1"/>
          <p:nvPr/>
        </p:nvSpPr>
        <p:spPr>
          <a:xfrm>
            <a:off x="6946824" y="1353312"/>
            <a:ext cx="4467630" cy="3291840"/>
          </a:xfrm>
          <a:prstGeom prst="rect">
            <a:avLst/>
          </a:prstGeom>
          <a:noFill/>
        </p:spPr>
        <p:txBody>
          <a:bodyPr wrap="square" lIns="0" rIns="0" tIns="0" bIns="0" anchor="t">
            <a:spAutoFit/>
          </a:bodyPr>
          <a:lstStyle/>
          <a:p>
            <a:pPr algn="l">
              <a:spcBef>
                <a:spcPts val="0"/>
              </a:spcBef>
              <a:spcAft>
                <a:spcPts val="800"/>
              </a:spcAft>
            </a:pPr>
            <a:r>
              <a:rPr sz="1250" b="1" i="0">
                <a:solidFill>
                  <a:srgbClr val="A51C30"/>
                </a:solidFill>
                <a:latin typeface="Georgia"/>
              </a:rPr>
              <a:t>Why this one matters more than it looks</a:t>
            </a:r>
          </a:p>
          <a:p>
            <a:pPr>
              <a:lnSpc>
                <a:spcPct val="125000"/>
              </a:lnSpc>
              <a:spcBef>
                <a:spcPts val="0"/>
              </a:spcBef>
              <a:spcAft>
                <a:spcPts val="1000"/>
              </a:spcAft>
            </a:pPr>
            <a:r>
              <a:rPr sz="1100" b="0" i="0">
                <a:solidFill>
                  <a:srgbClr val="1C1C1E"/>
                </a:solidFill>
                <a:latin typeface="Calibri"/>
              </a:rPr>
              <a:t>A model trained on a feature derived from its own label performs extraordinarily in validation and fails on the first case it has not already seen.</a:t>
            </a:r>
          </a:p>
          <a:p>
            <a:pPr>
              <a:lnSpc>
                <a:spcPct val="125000"/>
              </a:lnSpc>
              <a:spcBef>
                <a:spcPts val="0"/>
              </a:spcBef>
              <a:spcAft>
                <a:spcPts val="1000"/>
              </a:spcAft>
            </a:pPr>
            <a:r>
              <a:rPr sz="1100" b="0" i="0">
                <a:solidFill>
                  <a:srgbClr val="4A4F57"/>
                </a:solidFill>
                <a:latin typeface="Calibri"/>
              </a:rPr>
              <a:t>It is not caught by any metric, because every metric agrees the model is excellent. It is caught by knowing what the column was made from — which is why the lineage is recorded rather than inferred.</a:t>
            </a:r>
          </a:p>
          <a:p>
            <a:pPr>
              <a:lnSpc>
                <a:spcPct val="125000"/>
              </a:lnSpc>
              <a:spcBef>
                <a:spcPts val="0"/>
              </a:spcBef>
              <a:spcAft>
                <a:spcPts val="0"/>
              </a:spcAft>
            </a:pPr>
            <a:r>
              <a:rPr sz="1100" b="0" i="0">
                <a:solidFill>
                  <a:srgbClr val="4A4F57"/>
                </a:solidFill>
                <a:latin typeface="Calibri"/>
              </a:rPr>
              <a:t>The same argument produces the ingest-clock rule, the point-in-time assembly rule, and the refusal to normalise without an as_of. They are one idea applied four times.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ENGINEERING A FEATURE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Sealed, ephemeral, owned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 · Engineering a Feature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a:t>
            </a:r>
          </a:p>
        </p:txBody>
      </p:sp>
      <p:sp>
        <p:nvSpPr>
          <p:cNvPr id="10" name="Rectangle 9"/>
          <p:cNvSpPr/>
          <p:nvPr/>
        </p:nvSpPr>
        <p:spPr>
          <a:xfrm>
            <a:off x="777240" y="1353312"/>
            <a:ext cx="3350722" cy="22860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3350722"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2911810"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1</a:t>
            </a:r>
          </a:p>
        </p:txBody>
      </p:sp>
      <p:sp>
        <p:nvSpPr>
          <p:cNvPr id="13" name="TextBox 12"/>
          <p:cNvSpPr txBox="1"/>
          <p:nvPr/>
        </p:nvSpPr>
        <p:spPr>
          <a:xfrm>
            <a:off x="996695" y="1847088"/>
            <a:ext cx="2911810"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Sealed</a:t>
            </a:r>
          </a:p>
        </p:txBody>
      </p:sp>
      <p:sp>
        <p:nvSpPr>
          <p:cNvPr id="14" name="TextBox 13"/>
          <p:cNvSpPr txBox="1"/>
          <p:nvPr/>
        </p:nvSpPr>
        <p:spPr>
          <a:xfrm>
            <a:off x="996695" y="2157984"/>
            <a:ext cx="2911810" cy="129844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Final: no amendment, no further versions, no change of owner — and still composable. That combination is the point. A parent that cannot move is a parent worth building on, and evolution moves to a child where it stays visible.</a:t>
            </a:r>
          </a:p>
        </p:txBody>
      </p:sp>
      <p:sp>
        <p:nvSpPr>
          <p:cNvPr id="15" name="Rectangle 14"/>
          <p:cNvSpPr/>
          <p:nvPr/>
        </p:nvSpPr>
        <p:spPr>
          <a:xfrm>
            <a:off x="4425804" y="1353312"/>
            <a:ext cx="3350722" cy="22860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4425804" y="1353312"/>
            <a:ext cx="3350722"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4645260" y="1572768"/>
            <a:ext cx="2911810"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2</a:t>
            </a:r>
          </a:p>
        </p:txBody>
      </p:sp>
      <p:sp>
        <p:nvSpPr>
          <p:cNvPr id="18" name="TextBox 17"/>
          <p:cNvSpPr txBox="1"/>
          <p:nvPr/>
        </p:nvSpPr>
        <p:spPr>
          <a:xfrm>
            <a:off x="4645260" y="1847088"/>
            <a:ext cx="2911810"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Ephemeral</a:t>
            </a:r>
          </a:p>
        </p:txBody>
      </p:sp>
      <p:sp>
        <p:nvSpPr>
          <p:cNvPr id="19" name="TextBox 18"/>
          <p:cNvSpPr txBox="1"/>
          <p:nvPr/>
        </p:nvSpPr>
        <p:spPr>
          <a:xfrm>
            <a:off x="4645260" y="2157984"/>
            <a:ext cx="2911810" cy="129844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A time to live, then destroyed. Cannot be sealed — permanent and temporary are not two flags that happen to be set. Cannot be composed from: a child that resolves today and dangles tomorrow. Its rows go; its evidence stays.</a:t>
            </a:r>
          </a:p>
        </p:txBody>
      </p:sp>
      <p:sp>
        <p:nvSpPr>
          <p:cNvPr id="20" name="Rectangle 19"/>
          <p:cNvSpPr/>
          <p:nvPr/>
        </p:nvSpPr>
        <p:spPr>
          <a:xfrm>
            <a:off x="8074369" y="1353312"/>
            <a:ext cx="3340085" cy="22860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8074369" y="1353312"/>
            <a:ext cx="334008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8293825" y="1572768"/>
            <a:ext cx="290117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3</a:t>
            </a:r>
          </a:p>
        </p:txBody>
      </p:sp>
      <p:sp>
        <p:nvSpPr>
          <p:cNvPr id="23" name="TextBox 22"/>
          <p:cNvSpPr txBox="1"/>
          <p:nvPr/>
        </p:nvSpPr>
        <p:spPr>
          <a:xfrm>
            <a:off x="8293825" y="1847088"/>
            <a:ext cx="290117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Owned</a:t>
            </a:r>
          </a:p>
        </p:txBody>
      </p:sp>
      <p:sp>
        <p:nvSpPr>
          <p:cNvPr id="24" name="TextBox 23"/>
          <p:cNvSpPr txBox="1"/>
          <p:nvPr/>
        </p:nvSpPr>
        <p:spPr>
          <a:xfrm>
            <a:off x="8293825" y="2157984"/>
            <a:ext cx="2901173" cy="129844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Two facts kept apart. The CREATOR is history and never moves. The OWNER is a responsibility, transferred by name with the handover witnessed. An owner field that quietly becomes a leaver's username is how a model ends up accountable to nobody.</a:t>
            </a:r>
          </a:p>
        </p:txBody>
      </p:sp>
      <p:sp>
        <p:nvSpPr>
          <p:cNvPr id="25" name="Rectangle 24"/>
          <p:cNvSpPr/>
          <p:nvPr/>
        </p:nvSpPr>
        <p:spPr>
          <a:xfrm>
            <a:off x="777240" y="3840480"/>
            <a:ext cx="10637215" cy="8412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777240" y="3840480"/>
            <a:ext cx="41148" cy="8412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1014983" y="3959352"/>
            <a:ext cx="10180015" cy="62179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Sealing is its own permission. </a:t>
            </a:r>
            <a:r>
              <a:rPr sz="1050" b="0" i="0">
                <a:solidFill>
                  <a:srgbClr val="1C1C1E"/>
                </a:solidFill>
                <a:latin typeface="Calibri"/>
              </a:rPr>
              <a:t>Whoever may define a thing is not automatically who may end it, so it sits with the second line. Breaking a seal is administrators-only and needs a reason — </a:t>
            </a:r>
            <a:r>
              <a:rPr sz="1050" b="1" i="0">
                <a:solidFill>
                  <a:srgbClr val="1C1C1E"/>
                </a:solidFill>
                <a:latin typeface="Calibri"/>
              </a:rPr>
              <a:t>a seal anybody could lift would not be a seal.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3</a:t>
            </a:r>
          </a:p>
        </p:txBody>
      </p:sp>
      <p:sp>
        <p:nvSpPr>
          <p:cNvPr id="5" name="TextBox 4"/>
          <p:cNvSpPr txBox="1"/>
          <p:nvPr/>
        </p:nvSpPr>
        <p:spPr>
          <a:xfrm>
            <a:off x="1005840" y="2390241"/>
            <a:ext cx="6169584" cy="1188720"/>
          </a:xfrm>
          <a:prstGeom prst="rect">
            <a:avLst/>
          </a:prstGeom>
          <a:noFill/>
        </p:spPr>
        <p:txBody>
          <a:bodyPr wrap="square" lIns="0" rIns="0" tIns="0" bIns="0" anchor="t">
            <a:spAutoFit/>
          </a:bodyPr>
          <a:lstStyle/>
          <a:p>
            <a:pPr algn="l">
              <a:spcBef>
                <a:spcPts val="0"/>
              </a:spcBef>
              <a:spcAft>
                <a:spcPts val="0"/>
              </a:spcAft>
            </a:pPr>
            <a:r>
              <a:rPr sz="3800" b="0" i="0">
                <a:solidFill>
                  <a:srgbClr val="FFFFFF"/>
                </a:solidFill>
                <a:latin typeface="Georgia"/>
              </a:rPr>
              <a:t>Composing a Featureset</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A schema, versions that fill it, and one fold that does both.</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Schema and constituents</a:t>
            </a:r>
          </a:p>
          <a:p>
            <a:pPr>
              <a:lnSpc>
                <a:spcPct val="115000"/>
              </a:lnSpc>
              <a:spcBef>
                <a:spcPts val="0"/>
              </a:spcBef>
              <a:spcAft>
                <a:spcPts val="700"/>
              </a:spcAft>
            </a:pPr>
            <a:r>
              <a:rPr sz="1150" b="0" i="0">
                <a:solidFill>
                  <a:srgbClr val="F6E6E9"/>
                </a:solidFill>
                <a:latin typeface="Calibri"/>
              </a:rPr>
              <a:t>The composition monoid</a:t>
            </a:r>
          </a:p>
          <a:p>
            <a:pPr>
              <a:lnSpc>
                <a:spcPct val="115000"/>
              </a:lnSpc>
              <a:spcBef>
                <a:spcPts val="0"/>
              </a:spcBef>
              <a:spcAft>
                <a:spcPts val="700"/>
              </a:spcAft>
            </a:pPr>
            <a:r>
              <a:rPr sz="1150" b="0" i="0">
                <a:solidFill>
                  <a:srgbClr val="F6E6E9"/>
                </a:solidFill>
                <a:latin typeface="Calibri"/>
              </a:rPr>
              <a:t>Rolling forward</a:t>
            </a:r>
          </a:p>
          <a:p>
            <a:pPr>
              <a:lnSpc>
                <a:spcPct val="115000"/>
              </a:lnSpc>
              <a:spcBef>
                <a:spcPts val="0"/>
              </a:spcBef>
              <a:spcAft>
                <a:spcPts val="700"/>
              </a:spcAft>
            </a:pPr>
            <a:r>
              <a:rPr sz="1150" b="0" i="0">
                <a:solidFill>
                  <a:srgbClr val="F6E6E9"/>
                </a:solidFill>
                <a:latin typeface="Calibri"/>
              </a:rPr>
              <a:t>Retrieval policy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featureset declares a schema; a version fills it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3 · Composing a Featureset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12</a:t>
            </a:r>
          </a:p>
        </p:txBody>
      </p:sp>
      <p:sp>
        <p:nvSpPr>
          <p:cNvPr id="10" name="Rectangle 9"/>
          <p:cNvSpPr/>
          <p:nvPr/>
        </p:nvSpPr>
        <p:spPr>
          <a:xfrm>
            <a:off x="777240" y="1353312"/>
            <a:ext cx="5956840" cy="170025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70025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591080" cy="1517378"/>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featureset: inflation</a:t>
            </a:r>
          </a:p>
          <a:p>
            <a:pPr>
              <a:lnSpc>
                <a:spcPct val="134000"/>
              </a:lnSpc>
              <a:spcBef>
                <a:spcPts val="0"/>
              </a:spcBef>
              <a:spcAft>
                <a:spcPts val="0"/>
              </a:spcAft>
            </a:pPr>
            <a:r>
              <a:rPr sz="950" b="0" i="0">
                <a:solidFill>
                  <a:srgbClr val="1C1C1E"/>
                </a:solidFill>
                <a:latin typeface="Consolas"/>
              </a:rPr>
              <a:t>schema:  gb_index: numeric</a:t>
            </a:r>
          </a:p>
          <a:p>
            <a:pPr>
              <a:lnSpc>
                <a:spcPct val="134000"/>
              </a:lnSpc>
              <a:spcBef>
                <a:spcPts val="0"/>
              </a:spcBef>
              <a:spcAft>
                <a:spcPts val="0"/>
              </a:spcAft>
            </a:pPr>
            <a:r>
              <a:rPr sz="950" b="0" i="0">
                <a:solidFill>
                  <a:srgbClr val="1C1C1E"/>
                </a:solidFill>
                <a:latin typeface="Consolas"/>
              </a:rPr>
              <a:t>         us_index: numeric</a:t>
            </a:r>
          </a:p>
          <a:p>
            <a:pPr>
              <a:lnSpc>
                <a:spcPct val="134000"/>
              </a:lnSpc>
              <a:spcBef>
                <a:spcPts val="0"/>
              </a:spcBef>
              <a:spcAft>
                <a:spcPts val="0"/>
              </a:spcAft>
            </a:pPr>
            <a:r>
              <a:rPr sz="950" b="0" i="0">
                <a:solidFill>
                  <a:srgbClr val="1C1C1E"/>
                </a:solidFill>
                <a:latin typeface="Consolas"/>
              </a:rPr>
              <a:t>         daily_index: numeric</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@v1   gb_index→UKRPI  us_index→USCPI  daily→DAILY_INFL</a:t>
            </a:r>
          </a:p>
          <a:p>
            <a:pPr>
              <a:lnSpc>
                <a:spcPct val="134000"/>
              </a:lnSpc>
              <a:spcBef>
                <a:spcPts val="0"/>
              </a:spcBef>
              <a:spcAft>
                <a:spcPts val="0"/>
              </a:spcAft>
            </a:pPr>
            <a:r>
              <a:rPr sz="950" b="0" i="0">
                <a:solidFill>
                  <a:srgbClr val="1C1C1E"/>
                </a:solidFill>
                <a:latin typeface="Consolas"/>
              </a:rPr>
              <a:t>@v2   gb_index→UKRPI  us_index→USCPI  daily→EUHICP</a:t>
            </a:r>
          </a:p>
        </p:txBody>
      </p:sp>
      <p:sp>
        <p:nvSpPr>
          <p:cNvPr id="13" name="TextBox 12"/>
          <p:cNvSpPr txBox="1"/>
          <p:nvPr/>
        </p:nvSpPr>
        <p:spPr>
          <a:xfrm>
            <a:off x="777240" y="3309602"/>
            <a:ext cx="5956840" cy="1645920"/>
          </a:xfrm>
          <a:prstGeom prst="rect">
            <a:avLst/>
          </a:prstGeom>
          <a:noFill/>
        </p:spPr>
        <p:txBody>
          <a:bodyPr wrap="square" lIns="0" rIns="0" tIns="0" bIns="0" anchor="t">
            <a:spAutoFit/>
          </a:bodyPr>
          <a:lstStyle/>
          <a:p>
            <a:pPr algn="l">
              <a:lnSpc>
                <a:spcPct val="125000"/>
              </a:lnSpc>
              <a:spcBef>
                <a:spcPts val="0"/>
              </a:spcBef>
              <a:spcAft>
                <a:spcPts val="900"/>
              </a:spcAft>
            </a:pPr>
            <a:r>
              <a:rPr sz="1150" b="0" i="0">
                <a:solidFill>
                  <a:srgbClr val="1C1C1E"/>
                </a:solidFill>
                <a:latin typeface="Calibri"/>
              </a:rPr>
              <a:t>@v2 draws on a different feature entirely, and a model defined over inflation does not change: it reads daily_index, and always did.</a:t>
            </a:r>
          </a:p>
          <a:p>
            <a:pPr>
              <a:lnSpc>
                <a:spcPct val="125000"/>
              </a:lnSpc>
              <a:spcBef>
                <a:spcPts val="0"/>
              </a:spcBef>
              <a:spcAft>
                <a:spcPts val="0"/>
              </a:spcAft>
            </a:pPr>
            <a:r>
              <a:rPr sz="1100" b="0" i="0">
                <a:solidFill>
                  <a:srgbClr val="4A4F57"/>
                </a:solidFill>
                <a:latin typeface="Calibri"/>
              </a:rPr>
              <a:t>A version that CANNOT fill the schema is refused. It is not a version of this featureset — it is a different one, or it is a model change, and the register decides which so nobody has to remember.</a:t>
            </a:r>
          </a:p>
        </p:txBody>
      </p:sp>
      <p:sp>
        <p:nvSpPr>
          <p:cNvPr id="14" name="TextBox 13"/>
          <p:cNvSpPr txBox="1"/>
          <p:nvPr/>
        </p:nvSpPr>
        <p:spPr>
          <a:xfrm>
            <a:off x="7159569" y="1353312"/>
            <a:ext cx="4254886" cy="292608"/>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Every binding pins exactly</a:t>
            </a:r>
          </a:p>
        </p:txBody>
      </p:sp>
      <p:graphicFrame>
        <p:nvGraphicFramePr>
          <p:cNvPr id="15" name="Table 14"/>
          <p:cNvGraphicFramePr>
            <a:graphicFrameLocks noGrp="1"/>
          </p:cNvGraphicFramePr>
          <p:nvPr/>
        </p:nvGraphicFramePr>
        <p:xfrm>
          <a:off x="7159569" y="1719072"/>
          <a:ext cx="4254885" cy="1849296"/>
        </p:xfrm>
        <a:graphic>
          <a:graphicData uri="http://schemas.openxmlformats.org/drawingml/2006/table">
            <a:tbl>
              <a:tblPr>
                <a:tableStyleId>{5C22544A-7EE6-4342-B048-85BDC9FD1C3A}</a:tableStyleId>
              </a:tblPr>
              <a:tblGrid>
                <a:gridCol w="1302516"/>
                <a:gridCol w="2952369"/>
              </a:tblGrid>
              <a:tr h="308216">
                <a:tc>
                  <a:txBody>
                    <a:bodyPr wrap="square"/>
                    <a:lstStyle/>
                    <a:p>
                      <a:pPr algn="l"/>
                      <a:r>
                        <a:rPr sz="950" b="1">
                          <a:solidFill>
                            <a:srgbClr val="A51C30"/>
                          </a:solidFill>
                          <a:latin typeface="Calibri"/>
                        </a:rPr>
                        <a:t/>
                      </a:r>
                    </a:p>
                  </a:txBody>
                  <a:tcPr marL="82296" marR="64008" marT="32004" marB="32004" anchor="ctr">
                    <a:solidFill>
                      <a:srgbClr val="F6F3EF"/>
                    </a:solidFill>
                  </a:tcPr>
                </a:tc>
                <a:tc>
                  <a:txBody>
                    <a:bodyPr wrap="square"/>
                    <a:lstStyle/>
                    <a:p>
                      <a:pPr algn="l"/>
                      <a:r>
                        <a:rPr sz="950" b="0">
                          <a:solidFill>
                            <a:srgbClr val="1C1C1E"/>
                          </a:solidFill>
                          <a:latin typeface="Calibri"/>
                        </a:rPr>
                        <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feature</a:t>
                      </a:r>
                    </a:p>
                  </a:txBody>
                  <a:tcPr marL="82296" marR="64008" marT="32004" marB="32004" anchor="ctr">
                    <a:solidFill>
                      <a:srgbClr val="FFFFFF"/>
                    </a:solidFill>
                  </a:tcPr>
                </a:tc>
                <a:tc>
                  <a:txBody>
                    <a:bodyPr wrap="square"/>
                    <a:lstStyle/>
                    <a:p>
                      <a:pPr algn="l"/>
                      <a:r>
                        <a:rPr sz="950" b="0">
                          <a:solidFill>
                            <a:srgbClr val="1C1C1E"/>
                          </a:solidFill>
                          <a:latin typeface="Calibri"/>
                        </a:rPr>
                        <a:t>which signal fills the slot</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view</a:t>
                      </a:r>
                    </a:p>
                  </a:txBody>
                  <a:tcPr marL="82296" marR="64008" marT="32004" marB="32004" anchor="ctr">
                    <a:solidFill>
                      <a:srgbClr val="F6F3EF"/>
                    </a:solidFill>
                  </a:tcPr>
                </a:tc>
                <a:tc>
                  <a:txBody>
                    <a:bodyPr wrap="square"/>
                    <a:lstStyle/>
                    <a:p>
                      <a:pPr algn="l"/>
                      <a:r>
                        <a:rPr sz="950" b="0">
                          <a:solidFill>
                            <a:srgbClr val="1C1C1E"/>
                          </a:solidFill>
                          <a:latin typeface="Calibri"/>
                        </a:rPr>
                        <a:t>which view supplies its values</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view_version</a:t>
                      </a:r>
                    </a:p>
                  </a:txBody>
                  <a:tcPr marL="82296" marR="64008" marT="32004" marB="32004" anchor="ctr">
                    <a:solidFill>
                      <a:srgbClr val="FFFFFF"/>
                    </a:solidFill>
                  </a:tcPr>
                </a:tc>
                <a:tc>
                  <a:txBody>
                    <a:bodyPr wrap="square"/>
                    <a:lstStyle/>
                    <a:p>
                      <a:pPr algn="l"/>
                      <a:r>
                        <a:rPr sz="950" b="0">
                          <a:solidFill>
                            <a:srgbClr val="1C1C1E"/>
                          </a:solidFill>
                          <a:latin typeface="Calibri"/>
                        </a:rPr>
                        <a:t>which version of that view</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delta_version</a:t>
                      </a:r>
                    </a:p>
                  </a:txBody>
                  <a:tcPr marL="82296" marR="64008" marT="32004" marB="32004" anchor="ctr">
                    <a:solidFill>
                      <a:srgbClr val="F6F3EF"/>
                    </a:solidFill>
                  </a:tcPr>
                </a:tc>
                <a:tc>
                  <a:txBody>
                    <a:bodyPr wrap="square"/>
                    <a:lstStyle/>
                    <a:p>
                      <a:pPr algn="l"/>
                      <a:r>
                        <a:rPr sz="950" b="0">
                          <a:solidFill>
                            <a:srgbClr val="1C1C1E"/>
                          </a:solidFill>
                          <a:latin typeface="Calibri"/>
                        </a:rPr>
                        <a:t>which write to that path</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namespace</a:t>
                      </a:r>
                    </a:p>
                  </a:txBody>
                  <a:tcPr marL="82296" marR="64008" marT="32004" marB="32004" anchor="ctr">
                    <a:solidFill>
                      <a:srgbClr val="FFFFFF"/>
                    </a:solidFill>
                  </a:tcPr>
                </a:tc>
                <a:tc>
                  <a:txBody>
                    <a:bodyPr wrap="square"/>
                    <a:lstStyle/>
                    <a:p>
                      <a:pPr algn="l"/>
                      <a:r>
                        <a:rPr sz="950" b="0">
                          <a:solidFill>
                            <a:srgbClr val="1C1C1E"/>
                          </a:solidFill>
                          <a:latin typeface="Calibri"/>
                        </a:rPr>
                        <a:t>the resolved Delta location</a:t>
                      </a:r>
                    </a:p>
                  </a:txBody>
                  <a:tcPr marL="82296" marR="64008" marT="32004" marB="32004" anchor="ctr">
                    <a:solidFill>
                      <a:srgbClr val="FFFFFF"/>
                    </a:solidFill>
                  </a:tcPr>
                </a:tc>
              </a:tr>
            </a:tbl>
          </a:graphicData>
        </a:graphic>
      </p:graphicFrame>
      <p:sp>
        <p:nvSpPr>
          <p:cNvPr id="16" name="Rectangle 15"/>
          <p:cNvSpPr/>
          <p:nvPr/>
        </p:nvSpPr>
        <p:spPr>
          <a:xfrm>
            <a:off x="7159569" y="3474720"/>
            <a:ext cx="4254886" cy="11887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7159569" y="3474720"/>
            <a:ext cx="41148" cy="1188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7397313" y="3593591"/>
            <a:ext cx="3797686" cy="9692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path is mutable. </a:t>
            </a:r>
            <a:r>
              <a:rPr sz="1050" b="0" i="0">
                <a:solidFill>
                  <a:srgbClr val="1C1C1E"/>
                </a:solidFill>
                <a:latin typeface="Calibri"/>
              </a:rPr>
              <a:t>A set that named views without pinning them would resolve to different bytes next month with its digest unchanged — which is adversarial finding C-2, </a:t>
            </a:r>
            <a:r>
              <a:rPr sz="1050" b="1" i="0">
                <a:solidFill>
                  <a:srgbClr val="1C1C1E"/>
                </a:solidFill>
                <a:latin typeface="Calibri"/>
              </a:rPr>
              <a:t>one level out from the view.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Inheriting a feature: a curve with a tenor added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3 · Composing a Featureset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13</a:t>
            </a:r>
          </a:p>
        </p:txBody>
      </p:sp>
      <p:sp>
        <p:nvSpPr>
          <p:cNvPr id="10" name="Rectangle 9"/>
          <p:cNvSpPr/>
          <p:nvPr/>
        </p:nvSpPr>
        <p:spPr>
          <a:xfrm>
            <a:off x="777240" y="1353312"/>
            <a:ext cx="3149498" cy="1659635"/>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3149498" cy="4572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05256" y="1472184"/>
            <a:ext cx="2893466"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usd_curve</a:t>
            </a:r>
          </a:p>
        </p:txBody>
      </p:sp>
      <p:sp>
        <p:nvSpPr>
          <p:cNvPr id="13" name="TextBox 12"/>
          <p:cNvSpPr txBox="1"/>
          <p:nvPr/>
        </p:nvSpPr>
        <p:spPr>
          <a:xfrm>
            <a:off x="905256" y="1719072"/>
            <a:ext cx="2893466"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the parent — sealed, so it cannot move</a:t>
            </a:r>
          </a:p>
        </p:txBody>
      </p:sp>
      <p:sp>
        <p:nvSpPr>
          <p:cNvPr id="14" name="TextBox 13"/>
          <p:cNvSpPr txBox="1"/>
          <p:nvPr/>
        </p:nvSpPr>
        <p:spPr>
          <a:xfrm>
            <a:off x="905256" y="1901952"/>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1m</a:t>
            </a:r>
          </a:p>
        </p:txBody>
      </p:sp>
      <p:sp>
        <p:nvSpPr>
          <p:cNvPr id="15" name="TextBox 14"/>
          <p:cNvSpPr txBox="1"/>
          <p:nvPr/>
        </p:nvSpPr>
        <p:spPr>
          <a:xfrm>
            <a:off x="905256" y="2116836"/>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3m</a:t>
            </a:r>
          </a:p>
        </p:txBody>
      </p:sp>
      <p:sp>
        <p:nvSpPr>
          <p:cNvPr id="16" name="TextBox 15"/>
          <p:cNvSpPr txBox="1"/>
          <p:nvPr/>
        </p:nvSpPr>
        <p:spPr>
          <a:xfrm>
            <a:off x="905256" y="2331720"/>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1y</a:t>
            </a:r>
          </a:p>
        </p:txBody>
      </p:sp>
      <p:sp>
        <p:nvSpPr>
          <p:cNvPr id="17" name="TextBox 16"/>
          <p:cNvSpPr txBox="1"/>
          <p:nvPr/>
        </p:nvSpPr>
        <p:spPr>
          <a:xfrm>
            <a:off x="905256" y="2546603"/>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5y</a:t>
            </a:r>
          </a:p>
        </p:txBody>
      </p:sp>
      <p:sp>
        <p:nvSpPr>
          <p:cNvPr id="18" name="TextBox 17"/>
          <p:cNvSpPr txBox="1"/>
          <p:nvPr/>
        </p:nvSpPr>
        <p:spPr>
          <a:xfrm>
            <a:off x="905256" y="2761487"/>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10y</a:t>
            </a:r>
          </a:p>
        </p:txBody>
      </p:sp>
      <p:sp>
        <p:nvSpPr>
          <p:cNvPr id="19" name="Rectangle 18"/>
          <p:cNvSpPr/>
          <p:nvPr/>
        </p:nvSpPr>
        <p:spPr>
          <a:xfrm>
            <a:off x="4521098" y="1353312"/>
            <a:ext cx="3149498" cy="1879091"/>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4521098" y="1353312"/>
            <a:ext cx="3149498"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4649114" y="1472184"/>
            <a:ext cx="2893466"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its own operations</a:t>
            </a:r>
          </a:p>
        </p:txBody>
      </p:sp>
      <p:sp>
        <p:nvSpPr>
          <p:cNvPr id="22" name="TextBox 21"/>
          <p:cNvSpPr txBox="1"/>
          <p:nvPr/>
        </p:nvSpPr>
        <p:spPr>
          <a:xfrm>
            <a:off x="4649114" y="1719072"/>
            <a:ext cx="2893466"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applied last, so they beat everything above</a:t>
            </a:r>
          </a:p>
        </p:txBody>
      </p:sp>
      <p:sp>
        <p:nvSpPr>
          <p:cNvPr id="23" name="TextBox 22"/>
          <p:cNvSpPr txBox="1"/>
          <p:nvPr/>
        </p:nvSpPr>
        <p:spPr>
          <a:xfrm>
            <a:off x="4649114" y="1975104"/>
            <a:ext cx="2893466" cy="347472"/>
          </a:xfrm>
          <a:prstGeom prst="rect">
            <a:avLst/>
          </a:prstGeom>
          <a:noFill/>
        </p:spPr>
        <p:txBody>
          <a:bodyPr wrap="square" lIns="0" rIns="0" tIns="0" bIns="0" anchor="t">
            <a:spAutoFit/>
          </a:bodyPr>
          <a:lstStyle/>
          <a:p>
            <a:pPr algn="l">
              <a:spcBef>
                <a:spcPts val="0"/>
              </a:spcBef>
              <a:spcAft>
                <a:spcPts val="100"/>
              </a:spcAft>
            </a:pPr>
            <a:r>
              <a:rPr sz="950" b="1" i="0">
                <a:solidFill>
                  <a:srgbClr val="A51C30"/>
                </a:solidFill>
                <a:latin typeface="Calibri"/>
              </a:rPr>
              <a:t>add  </a:t>
            </a:r>
            <a:r>
              <a:rPr sz="950" b="1" i="0">
                <a:solidFill>
                  <a:srgbClr val="1C1C1E"/>
                </a:solidFill>
                <a:latin typeface="Calibri"/>
              </a:rPr>
              <a:t>30y</a:t>
            </a:r>
          </a:p>
          <a:p>
            <a:pPr>
              <a:spcBef>
                <a:spcPts val="0"/>
              </a:spcBef>
              <a:spcAft>
                <a:spcPts val="0"/>
              </a:spcAft>
            </a:pPr>
            <a:r>
              <a:rPr sz="760" b="0" i="0">
                <a:solidFill>
                  <a:srgbClr val="4A4F57"/>
                </a:solidFill>
                <a:latin typeface="Calibri"/>
              </a:rPr>
              <a:t>the curve goes further out</a:t>
            </a:r>
          </a:p>
        </p:txBody>
      </p:sp>
      <p:sp>
        <p:nvSpPr>
          <p:cNvPr id="24" name="TextBox 23"/>
          <p:cNvSpPr txBox="1"/>
          <p:nvPr/>
        </p:nvSpPr>
        <p:spPr>
          <a:xfrm>
            <a:off x="4649114" y="2340864"/>
            <a:ext cx="2893466" cy="347472"/>
          </a:xfrm>
          <a:prstGeom prst="rect">
            <a:avLst/>
          </a:prstGeom>
          <a:noFill/>
        </p:spPr>
        <p:txBody>
          <a:bodyPr wrap="square" lIns="0" rIns="0" tIns="0" bIns="0" anchor="t">
            <a:spAutoFit/>
          </a:bodyPr>
          <a:lstStyle/>
          <a:p>
            <a:pPr algn="l">
              <a:spcBef>
                <a:spcPts val="0"/>
              </a:spcBef>
              <a:spcAft>
                <a:spcPts val="100"/>
              </a:spcAft>
            </a:pPr>
            <a:r>
              <a:rPr sz="950" b="1" i="0">
                <a:solidFill>
                  <a:srgbClr val="A51C30"/>
                </a:solidFill>
                <a:latin typeface="Calibri"/>
              </a:rPr>
              <a:t>drop  </a:t>
            </a:r>
            <a:r>
              <a:rPr sz="950" b="1" i="0">
                <a:solidFill>
                  <a:srgbClr val="1C1C1E"/>
                </a:solidFill>
                <a:latin typeface="Calibri"/>
              </a:rPr>
              <a:t>1m</a:t>
            </a:r>
          </a:p>
          <a:p>
            <a:pPr>
              <a:spcBef>
                <a:spcPts val="0"/>
              </a:spcBef>
              <a:spcAft>
                <a:spcPts val="0"/>
              </a:spcAft>
            </a:pPr>
            <a:r>
              <a:rPr sz="760" b="0" i="0">
                <a:solidFill>
                  <a:srgbClr val="4A4F57"/>
                </a:solidFill>
                <a:latin typeface="Calibri"/>
              </a:rPr>
              <a:t>no longer quoted</a:t>
            </a:r>
          </a:p>
        </p:txBody>
      </p:sp>
      <p:sp>
        <p:nvSpPr>
          <p:cNvPr id="25" name="TextBox 24"/>
          <p:cNvSpPr txBox="1"/>
          <p:nvPr/>
        </p:nvSpPr>
        <p:spPr>
          <a:xfrm>
            <a:off x="4649114" y="2706624"/>
            <a:ext cx="2893466" cy="347472"/>
          </a:xfrm>
          <a:prstGeom prst="rect">
            <a:avLst/>
          </a:prstGeom>
          <a:noFill/>
        </p:spPr>
        <p:txBody>
          <a:bodyPr wrap="square" lIns="0" rIns="0" tIns="0" bIns="0" anchor="t">
            <a:spAutoFit/>
          </a:bodyPr>
          <a:lstStyle/>
          <a:p>
            <a:pPr algn="l">
              <a:spcBef>
                <a:spcPts val="0"/>
              </a:spcBef>
              <a:spcAft>
                <a:spcPts val="100"/>
              </a:spcAft>
            </a:pPr>
            <a:r>
              <a:rPr sz="950" b="1" i="0">
                <a:solidFill>
                  <a:srgbClr val="A51C30"/>
                </a:solidFill>
                <a:latin typeface="Calibri"/>
              </a:rPr>
              <a:t>override  </a:t>
            </a:r>
            <a:r>
              <a:rPr sz="950" b="1" i="0">
                <a:solidFill>
                  <a:srgbClr val="1C1C1E"/>
                </a:solidFill>
                <a:latin typeface="Calibri"/>
              </a:rPr>
              <a:t>3m</a:t>
            </a:r>
          </a:p>
          <a:p>
            <a:pPr>
              <a:spcBef>
                <a:spcPts val="0"/>
              </a:spcBef>
              <a:spcAft>
                <a:spcPts val="0"/>
              </a:spcAft>
            </a:pPr>
            <a:r>
              <a:rPr sz="760" b="0" i="0">
                <a:solidFill>
                  <a:srgbClr val="4A4F57"/>
                </a:solidFill>
                <a:latin typeface="Calibri"/>
              </a:rPr>
              <a:t>an OIS-based fixing</a:t>
            </a:r>
          </a:p>
        </p:txBody>
      </p:sp>
      <p:sp>
        <p:nvSpPr>
          <p:cNvPr id="26" name="Rectangle 25"/>
          <p:cNvSpPr/>
          <p:nvPr/>
        </p:nvSpPr>
        <p:spPr>
          <a:xfrm>
            <a:off x="8264956" y="1353312"/>
            <a:ext cx="3149498" cy="1659635"/>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8264956" y="1353312"/>
            <a:ext cx="3149498"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8392972" y="1472184"/>
            <a:ext cx="2893466"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usd_curve_plus</a:t>
            </a:r>
          </a:p>
        </p:txBody>
      </p:sp>
      <p:sp>
        <p:nvSpPr>
          <p:cNvPr id="29" name="TextBox 28"/>
          <p:cNvSpPr txBox="1"/>
          <p:nvPr/>
        </p:nvSpPr>
        <p:spPr>
          <a:xfrm>
            <a:off x="8392972" y="1719072"/>
            <a:ext cx="2893466"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1m is gone; the shape follows the components</a:t>
            </a:r>
          </a:p>
        </p:txBody>
      </p:sp>
      <p:sp>
        <p:nvSpPr>
          <p:cNvPr id="30" name="TextBox 29"/>
          <p:cNvSpPr txBox="1"/>
          <p:nvPr/>
        </p:nvSpPr>
        <p:spPr>
          <a:xfrm>
            <a:off x="8392972" y="1901952"/>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3m</a:t>
            </a:r>
            <a:r>
              <a:rPr sz="880" b="0" i="0">
                <a:solidFill>
                  <a:srgbClr val="A51C30"/>
                </a:solidFill>
                <a:latin typeface="Calibri"/>
              </a:rPr>
              <a:t>   overridden here</a:t>
            </a:r>
          </a:p>
        </p:txBody>
      </p:sp>
      <p:sp>
        <p:nvSpPr>
          <p:cNvPr id="31" name="TextBox 30"/>
          <p:cNvSpPr txBox="1"/>
          <p:nvPr/>
        </p:nvSpPr>
        <p:spPr>
          <a:xfrm>
            <a:off x="8392972" y="2116836"/>
            <a:ext cx="2893466"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1y</a:t>
            </a:r>
          </a:p>
        </p:txBody>
      </p:sp>
      <p:sp>
        <p:nvSpPr>
          <p:cNvPr id="32" name="TextBox 31"/>
          <p:cNvSpPr txBox="1"/>
          <p:nvPr/>
        </p:nvSpPr>
        <p:spPr>
          <a:xfrm>
            <a:off x="8392972" y="2331720"/>
            <a:ext cx="2893466"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5y</a:t>
            </a:r>
          </a:p>
        </p:txBody>
      </p:sp>
      <p:sp>
        <p:nvSpPr>
          <p:cNvPr id="33" name="TextBox 32"/>
          <p:cNvSpPr txBox="1"/>
          <p:nvPr/>
        </p:nvSpPr>
        <p:spPr>
          <a:xfrm>
            <a:off x="8392972" y="2546603"/>
            <a:ext cx="2893466"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10y</a:t>
            </a:r>
          </a:p>
        </p:txBody>
      </p:sp>
      <p:sp>
        <p:nvSpPr>
          <p:cNvPr id="34" name="TextBox 33"/>
          <p:cNvSpPr txBox="1"/>
          <p:nvPr/>
        </p:nvSpPr>
        <p:spPr>
          <a:xfrm>
            <a:off x="8392972" y="2761487"/>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30y</a:t>
            </a:r>
            <a:r>
              <a:rPr sz="880" b="0" i="0">
                <a:solidFill>
                  <a:srgbClr val="A51C30"/>
                </a:solidFill>
                <a:latin typeface="Calibri"/>
              </a:rPr>
              <a:t>   added here</a:t>
            </a:r>
          </a:p>
        </p:txBody>
      </p:sp>
      <p:sp>
        <p:nvSpPr>
          <p:cNvPr id="35" name="Down Arrow 34"/>
          <p:cNvSpPr/>
          <p:nvPr/>
        </p:nvSpPr>
        <p:spPr>
          <a:xfrm>
            <a:off x="4109618" y="2050359"/>
            <a:ext cx="219456" cy="219456"/>
          </a:xfrm>
          <a:prstGeom prst="downArrow">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own Arrow 35"/>
          <p:cNvSpPr/>
          <p:nvPr/>
        </p:nvSpPr>
        <p:spPr>
          <a:xfrm>
            <a:off x="7853476" y="2050359"/>
            <a:ext cx="219456" cy="219456"/>
          </a:xfrm>
          <a:prstGeom prst="downArrow">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3268980"/>
            <a:ext cx="10637215" cy="8412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8" name="Rectangle 37"/>
          <p:cNvSpPr/>
          <p:nvPr/>
        </p:nvSpPr>
        <p:spPr>
          <a:xfrm>
            <a:off x="777240" y="3268980"/>
            <a:ext cx="41148" cy="8412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9" name="TextBox 38"/>
          <p:cNvSpPr txBox="1"/>
          <p:nvPr/>
        </p:nvSpPr>
        <p:spPr>
          <a:xfrm>
            <a:off x="1014983" y="3387852"/>
            <a:ext cx="10180015" cy="62179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Ask the platform, not the row. </a:t>
            </a:r>
            <a:r>
              <a:rPr sz="1050" b="0" i="0">
                <a:solidFill>
                  <a:srgbClr val="1C1C1E"/>
                </a:solidFill>
                <a:latin typeface="Calibri"/>
              </a:rPr>
              <a:t>GET /features/usd_curve_plus/resolved returns the components above AND where each came from — 3m says it overrode usd_curve. </a:t>
            </a:r>
            <a:r>
              <a:rPr sz="1050" b="1" i="0">
                <a:solidFill>
                  <a:srgbClr val="1C1C1E"/>
                </a:solidFill>
                <a:latin typeface="Calibri"/>
              </a:rPr>
              <a:t>The row stores what this feature declares; resolving it is MAYA’s job.</a:t>
            </a:r>
          </a:p>
        </p:txBody>
      </p:sp>
      <p:sp>
        <p:nvSpPr>
          <p:cNvPr id="40" name="TextBox 39"/>
          <p:cNvSpPr txBox="1"/>
          <p:nvPr/>
        </p:nvSpPr>
        <p:spPr>
          <a:xfrm>
            <a:off x="777240" y="4219956"/>
            <a:ext cx="10637215" cy="402336"/>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The parent is sealed, and that is the point. </a:t>
            </a:r>
            <a:r>
              <a:rPr sz="1000" b="0" i="0">
                <a:solidFill>
                  <a:srgbClr val="4A4F57"/>
                </a:solidFill>
                <a:latin typeface="Calibri"/>
              </a:rPr>
              <a:t>A sealed feature takes no amendment and can still be composed from, so a parent that cannot move is a parent worth building on — and the change lives in the child, where a reviewer sees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Combining two featuresets: the rightmost wins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3 · Composing a Featureset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14</a:t>
            </a:r>
          </a:p>
        </p:txBody>
      </p:sp>
      <p:sp>
        <p:nvSpPr>
          <p:cNvPr id="10" name="Rectangle 9"/>
          <p:cNvSpPr/>
          <p:nvPr/>
        </p:nvSpPr>
        <p:spPr>
          <a:xfrm>
            <a:off x="777240" y="1353312"/>
            <a:ext cx="5044287" cy="1229868"/>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5044287" cy="4572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05256" y="1472184"/>
            <a:ext cx="4788255"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retail_core</a:t>
            </a:r>
          </a:p>
        </p:txBody>
      </p:sp>
      <p:sp>
        <p:nvSpPr>
          <p:cNvPr id="13" name="TextBox 12"/>
          <p:cNvSpPr txBox="1"/>
          <p:nvPr/>
        </p:nvSpPr>
        <p:spPr>
          <a:xfrm>
            <a:off x="905256" y="1719072"/>
            <a:ext cx="4788255"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first parent — least prominent</a:t>
            </a:r>
          </a:p>
        </p:txBody>
      </p:sp>
      <p:sp>
        <p:nvSpPr>
          <p:cNvPr id="14" name="TextBox 13"/>
          <p:cNvSpPr txBox="1"/>
          <p:nvPr/>
        </p:nvSpPr>
        <p:spPr>
          <a:xfrm>
            <a:off x="905256" y="1901952"/>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dscr</a:t>
            </a:r>
          </a:p>
        </p:txBody>
      </p:sp>
      <p:sp>
        <p:nvSpPr>
          <p:cNvPr id="15" name="TextBox 14"/>
          <p:cNvSpPr txBox="1"/>
          <p:nvPr/>
        </p:nvSpPr>
        <p:spPr>
          <a:xfrm>
            <a:off x="905256" y="2116836"/>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turnover</a:t>
            </a:r>
          </a:p>
        </p:txBody>
      </p:sp>
      <p:sp>
        <p:nvSpPr>
          <p:cNvPr id="16" name="TextBox 15"/>
          <p:cNvSpPr txBox="1"/>
          <p:nvPr/>
        </p:nvSpPr>
        <p:spPr>
          <a:xfrm>
            <a:off x="905256" y="2331720"/>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months_on_book</a:t>
            </a:r>
          </a:p>
        </p:txBody>
      </p:sp>
      <p:sp>
        <p:nvSpPr>
          <p:cNvPr id="17" name="Rectangle 16"/>
          <p:cNvSpPr/>
          <p:nvPr/>
        </p:nvSpPr>
        <p:spPr>
          <a:xfrm>
            <a:off x="6370167" y="1353312"/>
            <a:ext cx="5044287" cy="1229868"/>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Rectangle 17"/>
          <p:cNvSpPr/>
          <p:nvPr/>
        </p:nvSpPr>
        <p:spPr>
          <a:xfrm>
            <a:off x="6370167" y="1353312"/>
            <a:ext cx="504428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TextBox 18"/>
          <p:cNvSpPr txBox="1"/>
          <p:nvPr/>
        </p:nvSpPr>
        <p:spPr>
          <a:xfrm>
            <a:off x="6498183" y="1472184"/>
            <a:ext cx="4788255"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sme_core</a:t>
            </a:r>
          </a:p>
        </p:txBody>
      </p:sp>
      <p:sp>
        <p:nvSpPr>
          <p:cNvPr id="20" name="TextBox 19"/>
          <p:cNvSpPr txBox="1"/>
          <p:nvPr/>
        </p:nvSpPr>
        <p:spPr>
          <a:xfrm>
            <a:off x="6498183" y="1719072"/>
            <a:ext cx="4788255"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second parent — wins any clash</a:t>
            </a:r>
          </a:p>
        </p:txBody>
      </p:sp>
      <p:sp>
        <p:nvSpPr>
          <p:cNvPr id="21" name="TextBox 20"/>
          <p:cNvSpPr txBox="1"/>
          <p:nvPr/>
        </p:nvSpPr>
        <p:spPr>
          <a:xfrm>
            <a:off x="6498183" y="1901952"/>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turnover</a:t>
            </a:r>
            <a:r>
              <a:rPr sz="880" b="0" i="0">
                <a:solidFill>
                  <a:srgbClr val="A51C30"/>
                </a:solidFill>
                <a:latin typeface="Calibri"/>
              </a:rPr>
              <a:t>   3-year average</a:t>
            </a:r>
          </a:p>
        </p:txBody>
      </p:sp>
      <p:sp>
        <p:nvSpPr>
          <p:cNvPr id="22" name="TextBox 21"/>
          <p:cNvSpPr txBox="1"/>
          <p:nvPr/>
        </p:nvSpPr>
        <p:spPr>
          <a:xfrm>
            <a:off x="6498183" y="2116836"/>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sector</a:t>
            </a:r>
          </a:p>
        </p:txBody>
      </p:sp>
      <p:sp>
        <p:nvSpPr>
          <p:cNvPr id="23" name="TextBox 22"/>
          <p:cNvSpPr txBox="1"/>
          <p:nvPr/>
        </p:nvSpPr>
        <p:spPr>
          <a:xfrm>
            <a:off x="6498183" y="2331720"/>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directors</a:t>
            </a:r>
          </a:p>
        </p:txBody>
      </p:sp>
      <p:sp>
        <p:nvSpPr>
          <p:cNvPr id="24" name="Rectangle 23"/>
          <p:cNvSpPr/>
          <p:nvPr/>
        </p:nvSpPr>
        <p:spPr>
          <a:xfrm>
            <a:off x="777240" y="2820924"/>
            <a:ext cx="10637215" cy="3657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5" name="TextBox 24"/>
          <p:cNvSpPr txBox="1"/>
          <p:nvPr/>
        </p:nvSpPr>
        <p:spPr>
          <a:xfrm>
            <a:off x="960120" y="2894076"/>
            <a:ext cx="10271455" cy="237744"/>
          </a:xfrm>
          <a:prstGeom prst="rect">
            <a:avLst/>
          </a:prstGeom>
          <a:noFill/>
        </p:spPr>
        <p:txBody>
          <a:bodyPr wrap="square" lIns="0" rIns="0" tIns="0" bIns="0" anchor="t">
            <a:spAutoFit/>
          </a:bodyPr>
          <a:lstStyle/>
          <a:p>
            <a:pPr algn="l">
              <a:spcBef>
                <a:spcPts val="0"/>
              </a:spcBef>
              <a:spcAft>
                <a:spcPts val="0"/>
              </a:spcAft>
            </a:pPr>
            <a:r>
              <a:rPr sz="1000" b="1" i="0">
                <a:solidFill>
                  <a:srgbClr val="FFFFFF"/>
                </a:solidFill>
                <a:latin typeface="Calibri"/>
              </a:rPr>
              <a:t>compose: [retail_core, sme_core]</a:t>
            </a:r>
            <a:r>
              <a:rPr sz="1000" b="0" i="0">
                <a:solidFill>
                  <a:srgbClr val="F4DFE3"/>
                </a:solidFill>
                <a:latin typeface="Calibri"/>
              </a:rPr>
              <a:t>     folded left to right, later wins     </a:t>
            </a:r>
            <a:r>
              <a:rPr sz="1000" b="0" i="0">
                <a:solidFill>
                  <a:srgbClr val="F4DFE3"/>
                </a:solidFill>
                <a:latin typeface="Calibri"/>
              </a:rPr>
              <a:t>then this set’s own operations, last of all</a:t>
            </a:r>
          </a:p>
        </p:txBody>
      </p:sp>
      <p:sp>
        <p:nvSpPr>
          <p:cNvPr id="26" name="Rectangle 25"/>
          <p:cNvSpPr/>
          <p:nvPr/>
        </p:nvSpPr>
        <p:spPr>
          <a:xfrm>
            <a:off x="777240" y="3387852"/>
            <a:ext cx="5044287" cy="1874519"/>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3387852"/>
            <a:ext cx="504428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905256" y="3506724"/>
            <a:ext cx="4788255"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sme_retail</a:t>
            </a:r>
          </a:p>
        </p:txBody>
      </p:sp>
      <p:sp>
        <p:nvSpPr>
          <p:cNvPr id="29" name="TextBox 28"/>
          <p:cNvSpPr txBox="1"/>
          <p:nvPr/>
        </p:nvSpPr>
        <p:spPr>
          <a:xfrm>
            <a:off x="905256" y="3753612"/>
            <a:ext cx="4788255"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what a kernel defined over it actually reads</a:t>
            </a:r>
          </a:p>
        </p:txBody>
      </p:sp>
      <p:sp>
        <p:nvSpPr>
          <p:cNvPr id="30" name="TextBox 29"/>
          <p:cNvSpPr txBox="1"/>
          <p:nvPr/>
        </p:nvSpPr>
        <p:spPr>
          <a:xfrm>
            <a:off x="905256" y="3936492"/>
            <a:ext cx="4788255"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dscr</a:t>
            </a:r>
            <a:r>
              <a:rPr sz="880" b="0" i="0">
                <a:solidFill>
                  <a:srgbClr val="A51C30"/>
                </a:solidFill>
                <a:latin typeface="Calibri"/>
              </a:rPr>
              <a:t>   from retail_core</a:t>
            </a:r>
          </a:p>
        </p:txBody>
      </p:sp>
      <p:sp>
        <p:nvSpPr>
          <p:cNvPr id="31" name="TextBox 30"/>
          <p:cNvSpPr txBox="1"/>
          <p:nvPr/>
        </p:nvSpPr>
        <p:spPr>
          <a:xfrm>
            <a:off x="905256" y="4151376"/>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turnover</a:t>
            </a:r>
            <a:r>
              <a:rPr sz="880" b="0" i="0">
                <a:solidFill>
                  <a:srgbClr val="A51C30"/>
                </a:solidFill>
                <a:latin typeface="Calibri"/>
              </a:rPr>
              <a:t>   from sme_core — it overrode retail’s</a:t>
            </a:r>
          </a:p>
        </p:txBody>
      </p:sp>
      <p:sp>
        <p:nvSpPr>
          <p:cNvPr id="32" name="TextBox 31"/>
          <p:cNvSpPr txBox="1"/>
          <p:nvPr/>
        </p:nvSpPr>
        <p:spPr>
          <a:xfrm>
            <a:off x="905256" y="4366260"/>
            <a:ext cx="4788255"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months_on_book</a:t>
            </a:r>
            <a:r>
              <a:rPr sz="880" b="0" i="0">
                <a:solidFill>
                  <a:srgbClr val="A51C30"/>
                </a:solidFill>
                <a:latin typeface="Calibri"/>
              </a:rPr>
              <a:t>   from retail_core</a:t>
            </a:r>
          </a:p>
        </p:txBody>
      </p:sp>
      <p:sp>
        <p:nvSpPr>
          <p:cNvPr id="33" name="TextBox 32"/>
          <p:cNvSpPr txBox="1"/>
          <p:nvPr/>
        </p:nvSpPr>
        <p:spPr>
          <a:xfrm>
            <a:off x="905256" y="4581144"/>
            <a:ext cx="4788255"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sector</a:t>
            </a:r>
            <a:r>
              <a:rPr sz="880" b="0" i="0">
                <a:solidFill>
                  <a:srgbClr val="A51C30"/>
                </a:solidFill>
                <a:latin typeface="Calibri"/>
              </a:rPr>
              <a:t>   from sme_core</a:t>
            </a:r>
          </a:p>
        </p:txBody>
      </p:sp>
      <p:sp>
        <p:nvSpPr>
          <p:cNvPr id="34" name="TextBox 33"/>
          <p:cNvSpPr txBox="1"/>
          <p:nvPr/>
        </p:nvSpPr>
        <p:spPr>
          <a:xfrm>
            <a:off x="905256" y="4796028"/>
            <a:ext cx="4788255"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directors</a:t>
            </a:r>
            <a:r>
              <a:rPr sz="880" b="0" i="0">
                <a:solidFill>
                  <a:srgbClr val="A51C30"/>
                </a:solidFill>
                <a:latin typeface="Calibri"/>
              </a:rPr>
              <a:t>   from sme_core</a:t>
            </a:r>
          </a:p>
        </p:txBody>
      </p:sp>
      <p:sp>
        <p:nvSpPr>
          <p:cNvPr id="35" name="TextBox 34"/>
          <p:cNvSpPr txBox="1"/>
          <p:nvPr/>
        </p:nvSpPr>
        <p:spPr>
          <a:xfrm>
            <a:off x="905256" y="5010912"/>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guarantee_cover</a:t>
            </a:r>
            <a:r>
              <a:rPr sz="880" b="0" i="0">
                <a:solidFill>
                  <a:srgbClr val="A51C30"/>
                </a:solidFill>
                <a:latin typeface="Calibri"/>
              </a:rPr>
              <a:t>   added by this set</a:t>
            </a:r>
          </a:p>
        </p:txBody>
      </p:sp>
      <p:sp>
        <p:nvSpPr>
          <p:cNvPr id="36" name="TextBox 35"/>
          <p:cNvSpPr txBox="1"/>
          <p:nvPr/>
        </p:nvSpPr>
        <p:spPr>
          <a:xfrm>
            <a:off x="6370167" y="3387852"/>
            <a:ext cx="5044287" cy="2194560"/>
          </a:xfrm>
          <a:prstGeom prst="rect">
            <a:avLst/>
          </a:prstGeom>
          <a:noFill/>
        </p:spPr>
        <p:txBody>
          <a:bodyPr wrap="square" lIns="0" rIns="0" tIns="0" bIns="0" anchor="t">
            <a:spAutoFit/>
          </a:bodyPr>
          <a:lstStyle/>
          <a:p>
            <a:pPr algn="l">
              <a:spcBef>
                <a:spcPts val="0"/>
              </a:spcBef>
              <a:spcAft>
                <a:spcPts val="800"/>
              </a:spcAft>
            </a:pPr>
            <a:r>
              <a:rPr sz="1200" b="1" i="0">
                <a:solidFill>
                  <a:srgbClr val="A51C30"/>
                </a:solidFill>
                <a:latin typeface="Georgia"/>
              </a:rPr>
              <a:t>Only one slot clashed</a:t>
            </a:r>
          </a:p>
          <a:p>
            <a:pPr>
              <a:lnSpc>
                <a:spcPct val="124000"/>
              </a:lnSpc>
              <a:spcBef>
                <a:spcPts val="0"/>
              </a:spcBef>
              <a:spcAft>
                <a:spcPts val="1000"/>
              </a:spcAft>
            </a:pPr>
            <a:r>
              <a:rPr sz="1000" b="0" i="0">
                <a:solidFill>
                  <a:srgbClr val="1C1C1E"/>
                </a:solidFill>
                <a:latin typeface="Calibri"/>
              </a:rPr>
              <a:t>Both parents declare turnover. sme_core is named second, so its 3-year average is what the set holds — and the resolved set SAYS SO, slot by slot.</a:t>
            </a:r>
          </a:p>
          <a:p>
            <a:pPr>
              <a:lnSpc>
                <a:spcPct val="124000"/>
              </a:lnSpc>
              <a:spcBef>
                <a:spcPts val="0"/>
              </a:spcBef>
              <a:spcAft>
                <a:spcPts val="1000"/>
              </a:spcAft>
            </a:pPr>
            <a:r>
              <a:rPr sz="1000" b="0" i="0">
                <a:solidFill>
                  <a:srgbClr val="4A4F57"/>
                </a:solidFill>
                <a:latin typeface="Calibri"/>
              </a:rPr>
              <a:t>That is the only rule there is. If a parent could beat a child, naming a parent would be an act of surrender; if the order did not matter, ‘combine these two’ would be ambiguous whenever they disagreed.</a:t>
            </a:r>
          </a:p>
          <a:p>
            <a:pPr>
              <a:lnSpc>
                <a:spcPct val="124000"/>
              </a:lnSpc>
              <a:spcBef>
                <a:spcPts val="0"/>
              </a:spcBef>
              <a:spcAft>
                <a:spcPts val="0"/>
              </a:spcAft>
            </a:pPr>
            <a:r>
              <a:rPr sz="1000" b="1" i="0">
                <a:solidFill>
                  <a:srgbClr val="A51C30"/>
                </a:solidFill>
                <a:latin typeface="Calibri"/>
              </a:rPr>
              <a:t>A child inherits the parents’ retrieval policy the same way</a:t>
            </a:r>
            <a:r>
              <a:rPr sz="1000" b="0" i="0">
                <a:solidFill>
                  <a:srgbClr val="4A4F57"/>
                </a:solidFill>
                <a:latin typeface="Calibri"/>
              </a:rPr>
              <a:t> — one fold, applied to slots, to components and to policy.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Modifying something other things are built 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3 · Composing a Featureset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15</a:t>
            </a:r>
          </a:p>
        </p:txBody>
      </p:sp>
      <p:sp>
        <p:nvSpPr>
          <p:cNvPr id="10" name="Rectangle 9"/>
          <p:cNvSpPr/>
          <p:nvPr/>
        </p:nvSpPr>
        <p:spPr>
          <a:xfrm>
            <a:off x="777240" y="1353312"/>
            <a:ext cx="250842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250842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206951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1</a:t>
            </a:r>
          </a:p>
        </p:txBody>
      </p:sp>
      <p:sp>
        <p:nvSpPr>
          <p:cNvPr id="13" name="TextBox 12"/>
          <p:cNvSpPr txBox="1"/>
          <p:nvPr/>
        </p:nvSpPr>
        <p:spPr>
          <a:xfrm>
            <a:off x="996695" y="1847088"/>
            <a:ext cx="206951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Amend it</a:t>
            </a:r>
          </a:p>
        </p:txBody>
      </p:sp>
      <p:sp>
        <p:nvSpPr>
          <p:cNvPr id="14" name="TextBox 13"/>
          <p:cNvSpPr txBox="1"/>
          <p:nvPr/>
        </p:nvSpPr>
        <p:spPr>
          <a:xfrm>
            <a:off x="996695" y="2157984"/>
            <a:ext cx="2069515" cy="978407"/>
          </a:xfrm>
          <a:prstGeom prst="rect">
            <a:avLst/>
          </a:prstGeom>
          <a:noFill/>
        </p:spPr>
        <p:txBody>
          <a:bodyPr wrap="square" lIns="0" rIns="0" tIns="0" bIns="0" anchor="t">
            <a:spAutoFit/>
          </a:bodyPr>
          <a:lstStyle/>
          <a:p>
            <a:pPr algn="l">
              <a:lnSpc>
                <a:spcPct val="122000"/>
              </a:lnSpc>
              <a:spcBef>
                <a:spcPts val="0"/>
              </a:spcBef>
              <a:spcAft>
                <a:spcPts val="0"/>
              </a:spcAft>
            </a:pPr>
            <a:r>
              <a:rPr sz="1000" b="0" i="0">
                <a:solidFill>
                  <a:srgbClr val="4A4F57"/>
                </a:solidFill>
                <a:latin typeface="Calibri"/>
              </a:rPr>
              <a:t>Changes the definition and advances its version. Allowed while the feature is open, and every child records which version it composed against.</a:t>
            </a:r>
          </a:p>
        </p:txBody>
      </p:sp>
      <p:sp>
        <p:nvSpPr>
          <p:cNvPr id="15" name="Rectangle 14"/>
          <p:cNvSpPr/>
          <p:nvPr/>
        </p:nvSpPr>
        <p:spPr>
          <a:xfrm>
            <a:off x="3486835" y="1353312"/>
            <a:ext cx="250842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3486835" y="1353312"/>
            <a:ext cx="250842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3706291" y="1572768"/>
            <a:ext cx="206951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2</a:t>
            </a:r>
          </a:p>
        </p:txBody>
      </p:sp>
      <p:sp>
        <p:nvSpPr>
          <p:cNvPr id="18" name="TextBox 17"/>
          <p:cNvSpPr txBox="1"/>
          <p:nvPr/>
        </p:nvSpPr>
        <p:spPr>
          <a:xfrm>
            <a:off x="3706291" y="1847088"/>
            <a:ext cx="206951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Seal it</a:t>
            </a:r>
          </a:p>
        </p:txBody>
      </p:sp>
      <p:sp>
        <p:nvSpPr>
          <p:cNvPr id="19" name="TextBox 18"/>
          <p:cNvSpPr txBox="1"/>
          <p:nvPr/>
        </p:nvSpPr>
        <p:spPr>
          <a:xfrm>
            <a:off x="3706291" y="2157984"/>
            <a:ext cx="2069515" cy="978407"/>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No amendment, no further versions, no change of owner — and still composable. A parent that cannot move is a parent worth building on.</a:t>
            </a:r>
          </a:p>
        </p:txBody>
      </p:sp>
      <p:sp>
        <p:nvSpPr>
          <p:cNvPr id="20" name="Rectangle 19"/>
          <p:cNvSpPr/>
          <p:nvPr/>
        </p:nvSpPr>
        <p:spPr>
          <a:xfrm>
            <a:off x="6196431" y="1353312"/>
            <a:ext cx="250842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6196431" y="1353312"/>
            <a:ext cx="250842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6415887" y="1572768"/>
            <a:ext cx="206951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3</a:t>
            </a:r>
          </a:p>
        </p:txBody>
      </p:sp>
      <p:sp>
        <p:nvSpPr>
          <p:cNvPr id="23" name="TextBox 22"/>
          <p:cNvSpPr txBox="1"/>
          <p:nvPr/>
        </p:nvSpPr>
        <p:spPr>
          <a:xfrm>
            <a:off x="6415887" y="1847088"/>
            <a:ext cx="206951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Compose a child</a:t>
            </a:r>
          </a:p>
        </p:txBody>
      </p:sp>
      <p:sp>
        <p:nvSpPr>
          <p:cNvPr id="24" name="TextBox 23"/>
          <p:cNvSpPr txBox="1"/>
          <p:nvPr/>
        </p:nvSpPr>
        <p:spPr>
          <a:xfrm>
            <a:off x="6415887" y="2157984"/>
            <a:ext cx="2069515" cy="978407"/>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The way to change a sealed thing. The change lives where a reviewer sees it, beside the parent it departs from.</a:t>
            </a:r>
          </a:p>
        </p:txBody>
      </p:sp>
      <p:sp>
        <p:nvSpPr>
          <p:cNvPr id="25" name="Rectangle 24"/>
          <p:cNvSpPr/>
          <p:nvPr/>
        </p:nvSpPr>
        <p:spPr>
          <a:xfrm>
            <a:off x="8906027" y="1353312"/>
            <a:ext cx="250842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8906027" y="1353312"/>
            <a:ext cx="250842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9125483" y="1572768"/>
            <a:ext cx="206951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4</a:t>
            </a:r>
          </a:p>
        </p:txBody>
      </p:sp>
      <p:sp>
        <p:nvSpPr>
          <p:cNvPr id="28" name="TextBox 27"/>
          <p:cNvSpPr txBox="1"/>
          <p:nvPr/>
        </p:nvSpPr>
        <p:spPr>
          <a:xfrm>
            <a:off x="9125483" y="1847088"/>
            <a:ext cx="206951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Roll forward</a:t>
            </a:r>
          </a:p>
        </p:txBody>
      </p:sp>
      <p:sp>
        <p:nvSpPr>
          <p:cNvPr id="29" name="TextBox 28"/>
          <p:cNvSpPr txBox="1"/>
          <p:nvPr/>
        </p:nvSpPr>
        <p:spPr>
          <a:xfrm>
            <a:off x="9125483" y="2157984"/>
            <a:ext cx="2069515" cy="978407"/>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For a featureset: mint a version re-resolved to the newest view versions, with a diff naming every slot that moved.</a:t>
            </a:r>
          </a:p>
        </p:txBody>
      </p:sp>
      <p:sp>
        <p:nvSpPr>
          <p:cNvPr id="30" name="Rectangle 29"/>
          <p:cNvSpPr/>
          <p:nvPr/>
        </p:nvSpPr>
        <p:spPr>
          <a:xfrm>
            <a:off x="777240" y="3529584"/>
            <a:ext cx="10637215" cy="9326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1" name="Rectangle 30"/>
          <p:cNvSpPr/>
          <p:nvPr/>
        </p:nvSpPr>
        <p:spPr>
          <a:xfrm>
            <a:off x="777240" y="3529584"/>
            <a:ext cx="45720" cy="93268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2" name="TextBox 31"/>
          <p:cNvSpPr txBox="1"/>
          <p:nvPr/>
        </p:nvSpPr>
        <p:spPr>
          <a:xfrm>
            <a:off x="1014983" y="3648456"/>
            <a:ext cx="10180015" cy="731520"/>
          </a:xfrm>
          <a:prstGeom prst="rect">
            <a:avLst/>
          </a:prstGeom>
          <a:noFill/>
        </p:spPr>
        <p:txBody>
          <a:bodyPr wrap="square" lIns="0" rIns="0" tIns="0" bIns="0" anchor="t">
            <a:spAutoFit/>
          </a:bodyPr>
          <a:lstStyle/>
          <a:p>
            <a:pPr algn="l">
              <a:spcBef>
                <a:spcPts val="0"/>
              </a:spcBef>
              <a:spcAft>
                <a:spcPts val="500"/>
              </a:spcAft>
            </a:pPr>
            <a:r>
              <a:rPr sz="1150" b="1" i="0">
                <a:solidFill>
                  <a:srgbClr val="A51C30"/>
                </a:solidFill>
                <a:latin typeface="Georgia"/>
              </a:rPr>
              <a:t>And if a parent is amended anyway?</a:t>
            </a:r>
          </a:p>
          <a:p>
            <a:pPr>
              <a:lnSpc>
                <a:spcPct val="122000"/>
              </a:lnSpc>
              <a:spcBef>
                <a:spcPts val="0"/>
              </a:spcBef>
              <a:spcAft>
                <a:spcPts val="0"/>
              </a:spcAft>
            </a:pPr>
            <a:r>
              <a:rPr sz="980" b="1" i="0">
                <a:solidFill>
                  <a:srgbClr val="1C1C1E"/>
                </a:solidFill>
                <a:latin typeface="Calibri"/>
              </a:rPr>
              <a:t>The child says so. </a:t>
            </a:r>
            <a:r>
              <a:rPr sz="980" b="0" i="0">
                <a:solidFill>
                  <a:srgbClr val="1C1C1E"/>
                </a:solidFill>
                <a:latin typeface="Calibri"/>
              </a:rPr>
              <a:t>A composition records the parent’s definition version at the moment it resolved, so a parent that has moved since shows up as drift on every child that reads it — </a:t>
            </a:r>
            <a:r>
              <a:rPr sz="980" b="1" i="0">
                <a:solidFill>
                  <a:srgbClr val="A51C30"/>
                </a:solidFill>
                <a:latin typeface="Calibri"/>
              </a:rPr>
              <a:t>composed against v1, now at v3.</a:t>
            </a:r>
            <a:r>
              <a:rPr sz="980" b="0" i="0">
                <a:solidFill>
                  <a:srgbClr val="4A4F57"/>
                </a:solidFill>
                <a:latin typeface="Calibri"/>
              </a:rPr>
              <a:t>  Not a failed read: a child whose parent has moved is something to be told about, not something that should stop working. But it is never silent, because a stable name over moving contents is the failure this platform was built around.</a:t>
            </a:r>
          </a:p>
        </p:txBody>
      </p:sp>
      <p:sp>
        <p:nvSpPr>
          <p:cNvPr id="33" name="TextBox 32"/>
          <p:cNvSpPr txBox="1"/>
          <p:nvPr/>
        </p:nvSpPr>
        <p:spPr>
          <a:xfrm>
            <a:off x="777240" y="4626864"/>
            <a:ext cx="10637215" cy="36576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Which is why sealing and composing are the same idea from two sides. </a:t>
            </a:r>
            <a:r>
              <a:rPr sz="1000" b="0" i="0">
                <a:solidFill>
                  <a:srgbClr val="4A4F57"/>
                </a:solidFill>
                <a:latin typeface="Calibri"/>
              </a:rPr>
              <a:t>A sealed parent cannot drift, because the amendment that would move it is refused — so sealing turns a promise about stability into a property of the object.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Composition: one fold, two objects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3 · Composing a Featureset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16</a:t>
            </a:r>
          </a:p>
        </p:txBody>
      </p:sp>
      <p:sp>
        <p:nvSpPr>
          <p:cNvPr id="10" name="Rectangle 9"/>
          <p:cNvSpPr/>
          <p:nvPr/>
        </p:nvSpPr>
        <p:spPr>
          <a:xfrm>
            <a:off x="777240" y="1353312"/>
            <a:ext cx="5744096" cy="170025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70025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378336" cy="1517378"/>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compose([a, b, c])  =  merge(merge(a, b), c)</a:t>
            </a:r>
          </a:p>
          <a:p>
            <a:pPr>
              <a:lnSpc>
                <a:spcPct val="134000"/>
              </a:lnSpc>
              <a:spcBef>
                <a:spcPts val="0"/>
              </a:spcBef>
              <a:spcAft>
                <a:spcPts val="0"/>
              </a:spcAft>
            </a:pPr>
            <a:r>
              <a:rPr sz="950" b="0" i="0">
                <a:solidFill>
                  <a:srgbClr val="1C1C1E"/>
                </a:solidFill>
                <a:latin typeface="Consolas"/>
              </a:rPr>
              <a:t>                       then the object's OWN operations</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merge is associative;  {} is its identity</a:t>
            </a:r>
          </a:p>
          <a:p>
            <a:pPr>
              <a:lnSpc>
                <a:spcPct val="134000"/>
              </a:lnSpc>
              <a:spcBef>
                <a:spcPts val="0"/>
              </a:spcBef>
              <a:spcAft>
                <a:spcPts val="0"/>
              </a:spcAft>
            </a:pPr>
            <a:r>
              <a:rPr sz="950" b="0" i="0">
                <a:solidFill>
                  <a:srgbClr val="1C1C1E"/>
                </a:solidFill>
                <a:latin typeface="Consolas"/>
              </a:rPr>
              <a:t>  ⇒ composition is a MONOID</a:t>
            </a:r>
          </a:p>
          <a:p>
            <a:pPr>
              <a:lnSpc>
                <a:spcPct val="134000"/>
              </a:lnSpc>
              <a:spcBef>
                <a:spcPts val="0"/>
              </a:spcBef>
              <a:spcAft>
                <a:spcPts val="0"/>
              </a:spcAft>
            </a:pPr>
            <a:r>
              <a:rPr sz="950" b="0" i="0">
                <a:solidFill>
                  <a:srgbClr val="1C1C1E"/>
                </a:solidFill>
                <a:latin typeface="Consolas"/>
              </a:rPr>
              <a:t>  ⇒ 'a combination of features is a feature'</a:t>
            </a:r>
          </a:p>
          <a:p>
            <a:pPr>
              <a:lnSpc>
                <a:spcPct val="134000"/>
              </a:lnSpc>
              <a:spcBef>
                <a:spcPts val="0"/>
              </a:spcBef>
              <a:spcAft>
                <a:spcPts val="0"/>
              </a:spcAft>
            </a:pPr>
            <a:r>
              <a:rPr sz="950" b="0" i="0">
                <a:solidFill>
                  <a:srgbClr val="1C1C1E"/>
                </a:solidFill>
                <a:latin typeface="Consolas"/>
              </a:rPr>
              <a:t>     is a statement, not an aspiration</a:t>
            </a:r>
          </a:p>
        </p:txBody>
      </p:sp>
      <p:sp>
        <p:nvSpPr>
          <p:cNvPr id="13" name="TextBox 12"/>
          <p:cNvSpPr txBox="1"/>
          <p:nvPr/>
        </p:nvSpPr>
        <p:spPr>
          <a:xfrm>
            <a:off x="777240" y="3291314"/>
            <a:ext cx="5744096" cy="1371600"/>
          </a:xfrm>
          <a:prstGeom prst="rect">
            <a:avLst/>
          </a:prstGeom>
          <a:noFill/>
        </p:spPr>
        <p:txBody>
          <a:bodyPr wrap="square" lIns="0" rIns="0" tIns="0" bIns="0" anchor="t">
            <a:spAutoFit/>
          </a:bodyPr>
          <a:lstStyle/>
          <a:p>
            <a:pPr algn="l">
              <a:lnSpc>
                <a:spcPct val="125000"/>
              </a:lnSpc>
              <a:spcBef>
                <a:spcPts val="0"/>
              </a:spcBef>
              <a:spcAft>
                <a:spcPts val="800"/>
              </a:spcAft>
            </a:pPr>
            <a:r>
              <a:rPr sz="1100" b="0" i="0">
                <a:solidFill>
                  <a:srgbClr val="1C1C1E"/>
                </a:solidFill>
                <a:latin typeface="Calibri"/>
              </a:rPr>
              <a:t>Left to right, the rightmost wins, and an object’s own operations are applied last — because if a parent could override a child, naming a parent would be an act of surrender.</a:t>
            </a:r>
          </a:p>
          <a:p>
            <a:pPr>
              <a:lnSpc>
                <a:spcPct val="125000"/>
              </a:lnSpc>
              <a:spcBef>
                <a:spcPts val="0"/>
              </a:spcBef>
              <a:spcAft>
                <a:spcPts val="0"/>
              </a:spcAft>
            </a:pPr>
            <a:r>
              <a:rPr sz="1100" b="0" i="0">
                <a:solidFill>
                  <a:srgbClr val="4A4F57"/>
                </a:solidFill>
                <a:latin typeface="Calibri"/>
              </a:rPr>
              <a:t>Inheriting from one parent and combining several are the same operation at different arities, so there is one mechanism and inheritance is the one-parent case.</a:t>
            </a:r>
          </a:p>
        </p:txBody>
      </p:sp>
      <p:sp>
        <p:nvSpPr>
          <p:cNvPr id="14" name="TextBox 13"/>
          <p:cNvSpPr txBox="1"/>
          <p:nvPr/>
        </p:nvSpPr>
        <p:spPr>
          <a:xfrm>
            <a:off x="6946824" y="1353312"/>
            <a:ext cx="4467630" cy="292608"/>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Every operation is total</a:t>
            </a:r>
          </a:p>
        </p:txBody>
      </p:sp>
      <p:graphicFrame>
        <p:nvGraphicFramePr>
          <p:cNvPr id="15" name="Table 14"/>
          <p:cNvGraphicFramePr>
            <a:graphicFrameLocks noGrp="1"/>
          </p:cNvGraphicFramePr>
          <p:nvPr/>
        </p:nvGraphicFramePr>
        <p:xfrm>
          <a:off x="6946824" y="1719072"/>
          <a:ext cx="4467629" cy="2287827"/>
        </p:xfrm>
        <a:graphic>
          <a:graphicData uri="http://schemas.openxmlformats.org/drawingml/2006/table">
            <a:tbl>
              <a:tblPr firstRow="1">
                <a:tableStyleId>{5C22544A-7EE6-4342-B048-85BDC9FD1C3A}</a:tableStyleId>
              </a:tblPr>
              <a:tblGrid>
                <a:gridCol w="1624592"/>
                <a:gridCol w="2843037"/>
              </a:tblGrid>
              <a:tr h="329184">
                <a:tc>
                  <a:txBody>
                    <a:bodyPr wrap="square"/>
                    <a:lstStyle/>
                    <a:p>
                      <a:pPr algn="l"/>
                      <a:r>
                        <a:rPr sz="900" b="1">
                          <a:solidFill>
                            <a:srgbClr val="FFFFFF"/>
                          </a:solidFill>
                          <a:latin typeface="Calibri"/>
                        </a:rPr>
                        <a:t>Refused</a:t>
                      </a:r>
                    </a:p>
                  </a:txBody>
                  <a:tcPr marL="82296" marR="64008" marT="32004" marB="32004" anchor="ctr">
                    <a:solidFill>
                      <a:srgbClr val="A51C30"/>
                    </a:solidFill>
                  </a:tcPr>
                </a:tc>
                <a:tc>
                  <a:txBody>
                    <a:bodyPr wrap="square"/>
                    <a:lstStyle/>
                    <a:p>
                      <a:pPr algn="l"/>
                      <a:r>
                        <a:rPr sz="900" b="1">
                          <a:solidFill>
                            <a:srgbClr val="FFFFFF"/>
                          </a:solidFill>
                          <a:latin typeface="Calibri"/>
                        </a:rPr>
                        <a:t>Because</a:t>
                      </a:r>
                    </a:p>
                  </a:txBody>
                  <a:tcPr marL="82296" marR="64008" marT="32004" marB="32004" anchor="ctr">
                    <a:solidFill>
                      <a:srgbClr val="A51C30"/>
                    </a:solidFill>
                  </a:tcPr>
                </a:tc>
              </a:tr>
              <a:tr h="453085">
                <a:tc>
                  <a:txBody>
                    <a:bodyPr wrap="square"/>
                    <a:lstStyle/>
                    <a:p>
                      <a:pPr algn="l"/>
                      <a:r>
                        <a:rPr sz="900" b="1">
                          <a:solidFill>
                            <a:srgbClr val="A51C30"/>
                          </a:solidFill>
                          <a:latin typeface="Calibri"/>
                        </a:rPr>
                        <a:t>drop of something absent</a:t>
                      </a:r>
                    </a:p>
                  </a:txBody>
                  <a:tcPr marL="82296" marR="64008" marT="32004" marB="32004" anchor="ctr">
                    <a:solidFill>
                      <a:srgbClr val="FFFFFF"/>
                    </a:solidFill>
                  </a:tcPr>
                </a:tc>
                <a:tc>
                  <a:txBody>
                    <a:bodyPr wrap="square"/>
                    <a:lstStyle/>
                    <a:p>
                      <a:pPr algn="l"/>
                      <a:r>
                        <a:rPr sz="900" b="0">
                          <a:solidFill>
                            <a:srgbClr val="1C1C1E"/>
                          </a:solidFill>
                          <a:latin typeface="Calibri"/>
                        </a:rPr>
                        <a:t>a drop that quietly does nothing leaves a child differing from what its author wrote</a:t>
                      </a:r>
                    </a:p>
                  </a:txBody>
                  <a:tcPr marL="82296" marR="64008" marT="32004" marB="32004" anchor="ctr">
                    <a:solidFill>
                      <a:srgbClr val="FFFFFF"/>
                    </a:solidFill>
                  </a:tcPr>
                </a:tc>
              </a:tr>
              <a:tr h="453085">
                <a:tc>
                  <a:txBody>
                    <a:bodyPr wrap="square"/>
                    <a:lstStyle/>
                    <a:p>
                      <a:pPr algn="l"/>
                      <a:r>
                        <a:rPr sz="900" b="1">
                          <a:solidFill>
                            <a:srgbClr val="A51C30"/>
                          </a:solidFill>
                          <a:latin typeface="Calibri"/>
                        </a:rPr>
                        <a:t>add of something present</a:t>
                      </a:r>
                    </a:p>
                  </a:txBody>
                  <a:tcPr marL="82296" marR="64008" marT="32004" marB="32004" anchor="ctr">
                    <a:solidFill>
                      <a:srgbClr val="F6F3EF"/>
                    </a:solidFill>
                  </a:tcPr>
                </a:tc>
                <a:tc>
                  <a:txBody>
                    <a:bodyPr wrap="square"/>
                    <a:lstStyle/>
                    <a:p>
                      <a:pPr algn="l"/>
                      <a:r>
                        <a:rPr sz="900" b="0">
                          <a:solidFill>
                            <a:srgbClr val="1C1C1E"/>
                          </a:solidFill>
                          <a:latin typeface="Calibri"/>
                        </a:rPr>
                        <a:t>say override — the two read differently to a reviewer and should</a:t>
                      </a:r>
                    </a:p>
                  </a:txBody>
                  <a:tcPr marL="82296" marR="64008" marT="32004" marB="32004" anchor="ctr">
                    <a:solidFill>
                      <a:srgbClr val="F6F3EF"/>
                    </a:solidFill>
                  </a:tcPr>
                </a:tc>
              </a:tr>
              <a:tr h="453085">
                <a:tc>
                  <a:txBody>
                    <a:bodyPr wrap="square"/>
                    <a:lstStyle/>
                    <a:p>
                      <a:pPr algn="l"/>
                      <a:r>
                        <a:rPr sz="900" b="1">
                          <a:solidFill>
                            <a:srgbClr val="A51C30"/>
                          </a:solidFill>
                          <a:latin typeface="Calibri"/>
                        </a:rPr>
                        <a:t>override of something absent</a:t>
                      </a:r>
                    </a:p>
                  </a:txBody>
                  <a:tcPr marL="82296" marR="64008" marT="32004" marB="32004" anchor="ctr">
                    <a:solidFill>
                      <a:srgbClr val="FFFFFF"/>
                    </a:solidFill>
                  </a:tcPr>
                </a:tc>
                <a:tc>
                  <a:txBody>
                    <a:bodyPr wrap="square"/>
                    <a:lstStyle/>
                    <a:p>
                      <a:pPr algn="l"/>
                      <a:r>
                        <a:rPr sz="900" b="0">
                          <a:solidFill>
                            <a:srgbClr val="1C1C1E"/>
                          </a:solidFill>
                          <a:latin typeface="Calibri"/>
                        </a:rPr>
                        <a:t>say add</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a cycle</a:t>
                      </a:r>
                    </a:p>
                  </a:txBody>
                  <a:tcPr marL="82296" marR="64008" marT="32004" marB="32004" anchor="ctr">
                    <a:solidFill>
                      <a:srgbClr val="F6F3EF"/>
                    </a:solidFill>
                  </a:tcPr>
                </a:tc>
                <a:tc>
                  <a:txBody>
                    <a:bodyPr wrap="square"/>
                    <a:lstStyle/>
                    <a:p>
                      <a:pPr algn="l"/>
                      <a:r>
                        <a:rPr sz="900" b="0">
                          <a:solidFill>
                            <a:srgbClr val="1C1C1E"/>
                          </a:solidFill>
                          <a:latin typeface="Calibri"/>
                        </a:rPr>
                        <a:t>there is no fixed point to resolve to</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an ephemeral parent</a:t>
                      </a:r>
                    </a:p>
                  </a:txBody>
                  <a:tcPr marL="82296" marR="64008" marT="32004" marB="32004" anchor="ctr">
                    <a:solidFill>
                      <a:srgbClr val="FFFFFF"/>
                    </a:solidFill>
                  </a:tcPr>
                </a:tc>
                <a:tc>
                  <a:txBody>
                    <a:bodyPr wrap="square"/>
                    <a:lstStyle/>
                    <a:p>
                      <a:pPr algn="l"/>
                      <a:r>
                        <a:rPr sz="900" b="0">
                          <a:solidFill>
                            <a:srgbClr val="1C1C1E"/>
                          </a:solidFill>
                          <a:latin typeface="Calibri"/>
                        </a:rPr>
                        <a:t>it resolves today and dangles tomorrow</a:t>
                      </a:r>
                    </a:p>
                  </a:txBody>
                  <a:tcPr marL="82296" marR="64008" marT="32004" marB="32004"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MAYA does to values on the way out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3 · Composing a Featureset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17</a:t>
            </a:r>
          </a:p>
        </p:txBody>
      </p:sp>
      <p:sp>
        <p:nvSpPr>
          <p:cNvPr id="10" name="Rectangle 9"/>
          <p:cNvSpPr/>
          <p:nvPr/>
        </p:nvSpPr>
        <p:spPr>
          <a:xfrm>
            <a:off x="777240" y="1353312"/>
            <a:ext cx="2522143" cy="129844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499616"/>
            <a:ext cx="2229535" cy="1024127"/>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1</a:t>
            </a:r>
          </a:p>
          <a:p>
            <a:pPr>
              <a:spcBef>
                <a:spcPts val="0"/>
              </a:spcBef>
              <a:spcAft>
                <a:spcPts val="400"/>
              </a:spcAft>
            </a:pPr>
            <a:r>
              <a:rPr sz="1100" b="1" i="0">
                <a:solidFill>
                  <a:srgbClr val="1C1C1E"/>
                </a:solidFill>
                <a:latin typeface="Calibri"/>
              </a:rPr>
              <a:t>Align</a:t>
            </a:r>
          </a:p>
          <a:p>
            <a:pPr>
              <a:lnSpc>
                <a:spcPct val="115000"/>
              </a:lnSpc>
              <a:spcBef>
                <a:spcPts val="0"/>
              </a:spcBef>
              <a:spcAft>
                <a:spcPts val="600"/>
              </a:spcAft>
            </a:pPr>
            <a:r>
              <a:rPr sz="850" b="0" i="0">
                <a:solidFill>
                  <a:srgbClr val="4A4F57"/>
                </a:solidFill>
                <a:latin typeface="Calibri"/>
              </a:rPr>
              <a:t>onto a chosen axis, filling gaps by a stated rule</a:t>
            </a:r>
          </a:p>
        </p:txBody>
      </p:sp>
      <p:sp>
        <p:nvSpPr>
          <p:cNvPr id="13" name="Rectangle 12"/>
          <p:cNvSpPr/>
          <p:nvPr/>
        </p:nvSpPr>
        <p:spPr>
          <a:xfrm>
            <a:off x="3482263" y="1353312"/>
            <a:ext cx="2522143" cy="129844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3482263"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3628567" y="1499616"/>
            <a:ext cx="2229535" cy="1024127"/>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2</a:t>
            </a:r>
          </a:p>
          <a:p>
            <a:pPr>
              <a:spcBef>
                <a:spcPts val="0"/>
              </a:spcBef>
              <a:spcAft>
                <a:spcPts val="400"/>
              </a:spcAft>
            </a:pPr>
            <a:r>
              <a:rPr sz="1100" b="1" i="0">
                <a:solidFill>
                  <a:srgbClr val="1C1C1E"/>
                </a:solidFill>
                <a:latin typeface="Calibri"/>
              </a:rPr>
              <a:t>Fit</a:t>
            </a:r>
          </a:p>
          <a:p>
            <a:pPr>
              <a:lnSpc>
                <a:spcPct val="115000"/>
              </a:lnSpc>
              <a:spcBef>
                <a:spcPts val="0"/>
              </a:spcBef>
              <a:spcAft>
                <a:spcPts val="600"/>
              </a:spcAft>
            </a:pPr>
            <a:r>
              <a:rPr sz="850" b="0" i="0">
                <a:solidFill>
                  <a:srgbClr val="4A4F57"/>
                </a:solidFill>
                <a:latin typeface="Calibri"/>
              </a:rPr>
              <a:t>statistics from what was knowable at the as_of — on OBSERVED values, before anything is filled</a:t>
            </a:r>
          </a:p>
        </p:txBody>
      </p:sp>
      <p:sp>
        <p:nvSpPr>
          <p:cNvPr id="16" name="Rectangle 15"/>
          <p:cNvSpPr/>
          <p:nvPr/>
        </p:nvSpPr>
        <p:spPr>
          <a:xfrm>
            <a:off x="6187287" y="1353312"/>
            <a:ext cx="2522143" cy="129844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187287"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333591" y="1499616"/>
            <a:ext cx="2229535" cy="1024127"/>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3</a:t>
            </a:r>
          </a:p>
          <a:p>
            <a:pPr>
              <a:spcBef>
                <a:spcPts val="0"/>
              </a:spcBef>
              <a:spcAft>
                <a:spcPts val="400"/>
              </a:spcAft>
            </a:pPr>
            <a:r>
              <a:rPr sz="1100" b="1" i="0">
                <a:solidFill>
                  <a:srgbClr val="1C1C1E"/>
                </a:solidFill>
                <a:latin typeface="Calibri"/>
              </a:rPr>
              <a:t>Fill</a:t>
            </a:r>
          </a:p>
          <a:p>
            <a:pPr>
              <a:lnSpc>
                <a:spcPct val="115000"/>
              </a:lnSpc>
              <a:spcBef>
                <a:spcPts val="0"/>
              </a:spcBef>
              <a:spcAft>
                <a:spcPts val="600"/>
              </a:spcAft>
            </a:pPr>
            <a:r>
              <a:rPr sz="850" b="0" i="0">
                <a:solidFill>
                  <a:srgbClr val="4A4F57"/>
                </a:solidFill>
                <a:latin typeface="Calibri"/>
              </a:rPr>
              <a:t>the gaps, reporting how much of each column was invented</a:t>
            </a:r>
          </a:p>
        </p:txBody>
      </p:sp>
      <p:sp>
        <p:nvSpPr>
          <p:cNvPr id="19" name="Rectangle 18"/>
          <p:cNvSpPr/>
          <p:nvPr/>
        </p:nvSpPr>
        <p:spPr>
          <a:xfrm>
            <a:off x="8892311" y="1353312"/>
            <a:ext cx="2522143" cy="129844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8892311"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9038615" y="1499616"/>
            <a:ext cx="2229535" cy="1024127"/>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4</a:t>
            </a:r>
          </a:p>
          <a:p>
            <a:pPr>
              <a:spcBef>
                <a:spcPts val="0"/>
              </a:spcBef>
              <a:spcAft>
                <a:spcPts val="400"/>
              </a:spcAft>
            </a:pPr>
            <a:r>
              <a:rPr sz="1100" b="1" i="0">
                <a:solidFill>
                  <a:srgbClr val="1C1C1E"/>
                </a:solidFill>
                <a:latin typeface="Calibri"/>
              </a:rPr>
              <a:t>Normalise</a:t>
            </a:r>
          </a:p>
          <a:p>
            <a:pPr>
              <a:lnSpc>
                <a:spcPct val="115000"/>
              </a:lnSpc>
              <a:spcBef>
                <a:spcPts val="0"/>
              </a:spcBef>
              <a:spcAft>
                <a:spcPts val="600"/>
              </a:spcAft>
            </a:pPr>
            <a:r>
              <a:rPr sz="850" b="0" i="0">
                <a:solidFill>
                  <a:srgbClr val="4A4F57"/>
                </a:solidFill>
                <a:latin typeface="Calibri"/>
              </a:rPr>
              <a:t>everything, including what was filled, and return the statistics with the data</a:t>
            </a:r>
          </a:p>
        </p:txBody>
      </p:sp>
      <p:sp>
        <p:nvSpPr>
          <p:cNvPr id="22" name="TextBox 21"/>
          <p:cNvSpPr txBox="1"/>
          <p:nvPr/>
        </p:nvSpPr>
        <p:spPr>
          <a:xfrm>
            <a:off x="777240" y="2834640"/>
            <a:ext cx="5531351" cy="1463040"/>
          </a:xfrm>
          <a:prstGeom prst="rect">
            <a:avLst/>
          </a:prstGeom>
          <a:noFill/>
        </p:spPr>
        <p:txBody>
          <a:bodyPr wrap="square" lIns="0" rIns="0" tIns="0" bIns="0" anchor="t">
            <a:spAutoFit/>
          </a:bodyPr>
          <a:lstStyle/>
          <a:p>
            <a:pPr algn="l">
              <a:spcBef>
                <a:spcPts val="0"/>
              </a:spcBef>
              <a:spcAft>
                <a:spcPts val="600"/>
              </a:spcAft>
            </a:pPr>
            <a:r>
              <a:rPr sz="1200" b="1" i="0">
                <a:solidFill>
                  <a:srgbClr val="A51C30"/>
                </a:solidFill>
                <a:latin typeface="Georgia"/>
              </a:rPr>
              <a:t>The order is the point.</a:t>
            </a:r>
          </a:p>
          <a:p>
            <a:pPr>
              <a:lnSpc>
                <a:spcPct val="125000"/>
              </a:lnSpc>
              <a:spcBef>
                <a:spcPts val="0"/>
              </a:spcBef>
              <a:spcAft>
                <a:spcPts val="0"/>
              </a:spcAft>
            </a:pPr>
            <a:r>
              <a:rPr sz="1100" b="0" i="0">
                <a:solidFill>
                  <a:srgbClr val="1C1C1E"/>
                </a:solidFill>
                <a:latin typeface="Calibri"/>
              </a:rPr>
              <a:t>Fitting the normalisation AFTER filling would shrink the spread by exactly the amount that was invented, because every filled cell sits at the centre and pulls the variance down.</a:t>
            </a:r>
          </a:p>
        </p:txBody>
      </p:sp>
      <p:sp>
        <p:nvSpPr>
          <p:cNvPr id="23" name="TextBox 22"/>
          <p:cNvSpPr txBox="1"/>
          <p:nvPr/>
        </p:nvSpPr>
        <p:spPr>
          <a:xfrm>
            <a:off x="6734080" y="2834640"/>
            <a:ext cx="4680374" cy="1463040"/>
          </a:xfrm>
          <a:prstGeom prst="rect">
            <a:avLst/>
          </a:prstGeom>
          <a:noFill/>
        </p:spPr>
        <p:txBody>
          <a:bodyPr wrap="square" lIns="0" rIns="0" tIns="0" bIns="0" anchor="t">
            <a:spAutoFit/>
          </a:bodyPr>
          <a:lstStyle/>
          <a:p>
            <a:pPr algn="l">
              <a:spcBef>
                <a:spcPts val="0"/>
              </a:spcBef>
              <a:spcAft>
                <a:spcPts val="600"/>
              </a:spcAft>
            </a:pPr>
            <a:r>
              <a:rPr sz="1200" b="1" i="0">
                <a:solidFill>
                  <a:srgbClr val="A51C30"/>
                </a:solidFill>
                <a:latin typeface="Georgia"/>
              </a:rPr>
              <a:t>And the as_of is not optional.</a:t>
            </a:r>
          </a:p>
          <a:p>
            <a:pPr>
              <a:lnSpc>
                <a:spcPct val="125000"/>
              </a:lnSpc>
              <a:spcBef>
                <a:spcPts val="0"/>
              </a:spcBef>
              <a:spcAft>
                <a:spcPts val="0"/>
              </a:spcAft>
            </a:pPr>
            <a:r>
              <a:rPr sz="1100" b="0" i="0">
                <a:solidFill>
                  <a:srgbClr val="1C1C1E"/>
                </a:solidFill>
                <a:latin typeface="Calibri"/>
              </a:rPr>
              <a:t>A z-score fitted over the whole column encodes what the mean turned out to be, including the part that had not happened when the row was scored. The leaky answer is the one somebody would get by accident, so it is the one that must not be the default.</a:t>
            </a:r>
          </a:p>
        </p:txBody>
      </p:sp>
      <p:sp>
        <p:nvSpPr>
          <p:cNvPr id="24" name="Rectangle 23"/>
          <p:cNvSpPr/>
          <p:nvPr/>
        </p:nvSpPr>
        <p:spPr>
          <a:xfrm>
            <a:off x="777240" y="4480560"/>
            <a:ext cx="10637215" cy="8412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5" name="Rectangle 24"/>
          <p:cNvSpPr/>
          <p:nvPr/>
        </p:nvSpPr>
        <p:spPr>
          <a:xfrm>
            <a:off x="777240" y="4480560"/>
            <a:ext cx="41148" cy="8412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TextBox 25"/>
          <p:cNvSpPr txBox="1"/>
          <p:nvPr/>
        </p:nvSpPr>
        <p:spPr>
          <a:xfrm>
            <a:off x="1014983" y="4599432"/>
            <a:ext cx="10180015" cy="62179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Attached as default behaviour, overridden by the request. </a:t>
            </a:r>
            <a:r>
              <a:rPr sz="1050" b="0" i="0">
                <a:solidFill>
                  <a:srgbClr val="1C1C1E"/>
                </a:solidFill>
                <a:latin typeface="Calibri"/>
              </a:rPr>
              <a:t>Parents, then the object, then the caller — the same left-to-right fold, merged column by column, so a parent that fills three columns and a child that normalises one </a:t>
            </a:r>
            <a:r>
              <a:rPr sz="1050" b="1" i="0">
                <a:solidFill>
                  <a:srgbClr val="1C1C1E"/>
                </a:solidFill>
                <a:latin typeface="Calibri"/>
              </a:rPr>
              <a:t>end up doing both.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Aligning onto an axis, and the leakage that cannot hide</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3 · Composing a Featureset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18</a:t>
            </a:r>
          </a:p>
        </p:txBody>
      </p:sp>
      <p:graphicFrame>
        <p:nvGraphicFramePr>
          <p:cNvPr id="10" name="Table 9"/>
          <p:cNvGraphicFramePr>
            <a:graphicFrameLocks noGrp="1"/>
          </p:cNvGraphicFramePr>
          <p:nvPr/>
        </p:nvGraphicFramePr>
        <p:xfrm>
          <a:off x="777240" y="1764792"/>
          <a:ext cx="5318606" cy="1596136"/>
        </p:xfrm>
        <a:graphic>
          <a:graphicData uri="http://schemas.openxmlformats.org/drawingml/2006/table">
            <a:tbl>
              <a:tblPr firstRow="1">
                <a:tableStyleId>{5C22544A-7EE6-4342-B048-85BDC9FD1C3A}</a:tableStyleId>
              </a:tblPr>
              <a:tblGrid>
                <a:gridCol w="1270115"/>
                <a:gridCol w="2302083"/>
                <a:gridCol w="1746408"/>
              </a:tblGrid>
              <a:tr h="329184">
                <a:tc>
                  <a:txBody>
                    <a:bodyPr wrap="square"/>
                    <a:lstStyle/>
                    <a:p>
                      <a:pPr algn="l"/>
                      <a:r>
                        <a:rPr sz="1000" b="1">
                          <a:solidFill>
                            <a:srgbClr val="FFFFFF"/>
                          </a:solidFill>
                          <a:latin typeface="Calibri"/>
                        </a:rPr>
                        <a:t>Rule</a:t>
                      </a:r>
                    </a:p>
                  </a:txBody>
                  <a:tcPr marL="82296" marR="64008" marT="32004" marB="32004" anchor="ctr">
                    <a:solidFill>
                      <a:srgbClr val="A51C30"/>
                    </a:solidFill>
                  </a:tcPr>
                </a:tc>
                <a:tc>
                  <a:txBody>
                    <a:bodyPr wrap="square"/>
                    <a:lstStyle/>
                    <a:p>
                      <a:pPr algn="l"/>
                      <a:r>
                        <a:rPr sz="1000" b="1">
                          <a:solidFill>
                            <a:srgbClr val="FFFFFF"/>
                          </a:solidFill>
                          <a:latin typeface="Calibri"/>
                        </a:rPr>
                        <a:t>Fills from</a:t>
                      </a:r>
                    </a:p>
                  </a:txBody>
                  <a:tcPr marL="82296" marR="64008" marT="32004" marB="32004" anchor="ctr">
                    <a:solidFill>
                      <a:srgbClr val="A51C30"/>
                    </a:solidFill>
                  </a:tcPr>
                </a:tc>
                <a:tc>
                  <a:txBody>
                    <a:bodyPr wrap="square"/>
                    <a:lstStyle/>
                    <a:p>
                      <a:pPr algn="l"/>
                      <a:r>
                        <a:rPr sz="1000" b="1">
                          <a:solidFill>
                            <a:srgbClr val="FFFFFF"/>
                          </a:solidFill>
                          <a:latin typeface="Calibri"/>
                        </a:rPr>
                        <a:t>Safe for training</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flat_forward</a:t>
                      </a:r>
                    </a:p>
                  </a:txBody>
                  <a:tcPr marL="82296" marR="64008" marT="32004" marB="32004" anchor="ctr">
                    <a:solidFill>
                      <a:srgbClr val="FFFFFF"/>
                    </a:solidFill>
                  </a:tcPr>
                </a:tc>
                <a:tc>
                  <a:txBody>
                    <a:bodyPr wrap="square"/>
                    <a:lstStyle/>
                    <a:p>
                      <a:pPr algn="l"/>
                      <a:r>
                        <a:rPr sz="1000" b="0">
                          <a:solidFill>
                            <a:srgbClr val="1C1C1E"/>
                          </a:solidFill>
                          <a:latin typeface="Calibri"/>
                        </a:rPr>
                        <a:t>the last observation</a:t>
                      </a:r>
                    </a:p>
                  </a:txBody>
                  <a:tcPr marL="82296" marR="64008" marT="32004" marB="32004" anchor="ctr">
                    <a:solidFill>
                      <a:srgbClr val="FFFFFF"/>
                    </a:solidFill>
                  </a:tcPr>
                </a:tc>
                <a:tc>
                  <a:txBody>
                    <a:bodyPr wrap="square"/>
                    <a:lstStyle/>
                    <a:p>
                      <a:pPr algn="l"/>
                      <a:r>
                        <a:rPr sz="1000" b="0">
                          <a:solidFill>
                            <a:srgbClr val="1C1C1E"/>
                          </a:solidFill>
                          <a:latin typeface="Calibri"/>
                        </a:rPr>
                        <a:t>yes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flat_backward</a:t>
                      </a:r>
                    </a:p>
                  </a:txBody>
                  <a:tcPr marL="82296" marR="64008" marT="32004" marB="32004" anchor="ctr">
                    <a:solidFill>
                      <a:srgbClr val="F6F3EF"/>
                    </a:solidFill>
                  </a:tcPr>
                </a:tc>
                <a:tc>
                  <a:txBody>
                    <a:bodyPr wrap="square"/>
                    <a:lstStyle/>
                    <a:p>
                      <a:pPr algn="l"/>
                      <a:r>
                        <a:rPr sz="1000" b="0">
                          <a:solidFill>
                            <a:srgbClr val="1C1C1E"/>
                          </a:solidFill>
                          <a:latin typeface="Calibri"/>
                        </a:rPr>
                        <a:t>the next observation</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linear</a:t>
                      </a:r>
                    </a:p>
                  </a:txBody>
                  <a:tcPr marL="82296" marR="64008" marT="32004" marB="32004" anchor="ctr">
                    <a:solidFill>
                      <a:srgbClr val="FFFFFF"/>
                    </a:solidFill>
                  </a:tcPr>
                </a:tc>
                <a:tc>
                  <a:txBody>
                    <a:bodyPr wrap="square"/>
                    <a:lstStyle/>
                    <a:p>
                      <a:pPr algn="l"/>
                      <a:r>
                        <a:rPr sz="1000" b="0">
                          <a:solidFill>
                            <a:srgbClr val="1C1C1E"/>
                          </a:solidFill>
                          <a:latin typeface="Calibri"/>
                        </a:rPr>
                        <a:t>both neighbours</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nearest</a:t>
                      </a:r>
                    </a:p>
                  </a:txBody>
                  <a:tcPr marL="82296" marR="64008" marT="32004" marB="32004" anchor="ctr">
                    <a:solidFill>
                      <a:srgbClr val="F6F3EF"/>
                    </a:solidFill>
                  </a:tcPr>
                </a:tc>
                <a:tc>
                  <a:txBody>
                    <a:bodyPr wrap="square"/>
                    <a:lstStyle/>
                    <a:p>
                      <a:pPr algn="l"/>
                      <a:r>
                        <a:rPr sz="1000" b="0">
                          <a:solidFill>
                            <a:srgbClr val="1C1C1E"/>
                          </a:solidFill>
                          <a:latin typeface="Calibri"/>
                        </a:rPr>
                        <a:t>whichever is closer</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r>
            </a:tbl>
          </a:graphicData>
        </a:graphic>
      </p:graphicFrame>
      <p:sp>
        <p:nvSpPr>
          <p:cNvPr id="11" name="TextBox 10"/>
          <p:cNvSpPr txBox="1"/>
          <p:nvPr/>
        </p:nvSpPr>
        <p:spPr>
          <a:xfrm>
            <a:off x="777240" y="3598671"/>
            <a:ext cx="5318607" cy="1645920"/>
          </a:xfrm>
          <a:prstGeom prst="rect">
            <a:avLst/>
          </a:prstGeom>
          <a:noFill/>
        </p:spPr>
        <p:txBody>
          <a:bodyPr wrap="square" lIns="0" rIns="0" tIns="0" bIns="0" anchor="t">
            <a:spAutoFit/>
          </a:bodyPr>
          <a:lstStyle/>
          <a:p>
            <a:pPr algn="l">
              <a:lnSpc>
                <a:spcPct val="125000"/>
              </a:lnSpc>
              <a:spcBef>
                <a:spcPts val="0"/>
              </a:spcBef>
              <a:spcAft>
                <a:spcPts val="800"/>
              </a:spcAft>
            </a:pPr>
            <a:r>
              <a:rPr sz="1100" b="0" i="0">
                <a:solidFill>
                  <a:srgbClr val="1C1C1E"/>
                </a:solidFill>
                <a:latin typeface="Calibri"/>
              </a:rPr>
              <a:t>The last three reach into the future. They are right for drawing a curve or for an explicitly retrospective backtest, and wrong for training.</a:t>
            </a:r>
          </a:p>
          <a:p>
            <a:pPr>
              <a:lnSpc>
                <a:spcPct val="125000"/>
              </a:lnSpc>
              <a:spcBef>
                <a:spcPts val="0"/>
              </a:spcBef>
              <a:spcAft>
                <a:spcPts val="0"/>
              </a:spcAft>
            </a:pPr>
            <a:r>
              <a:rPr sz="1150" b="1" i="0">
                <a:solidFill>
                  <a:srgbClr val="A51C30"/>
                </a:solidFill>
                <a:latin typeface="Calibri"/>
              </a:rPr>
              <a:t>They are not refused. They are stamped honestly.</a:t>
            </a:r>
          </a:p>
        </p:txBody>
      </p:sp>
      <p:sp>
        <p:nvSpPr>
          <p:cNvPr id="12" name="Rectangle 11"/>
          <p:cNvSpPr/>
          <p:nvPr/>
        </p:nvSpPr>
        <p:spPr>
          <a:xfrm>
            <a:off x="6521336" y="1764792"/>
            <a:ext cx="4893118" cy="162520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6521336" y="1764792"/>
            <a:ext cx="41148" cy="162520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6722504" y="1865376"/>
            <a:ext cx="4527358" cy="1442328"/>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grid  t=0   100.0   ingest_ts 0.0</a:t>
            </a:r>
          </a:p>
          <a:p>
            <a:pPr>
              <a:lnSpc>
                <a:spcPct val="134000"/>
              </a:lnSpc>
              <a:spcBef>
                <a:spcPts val="0"/>
              </a:spcBef>
              <a:spcAft>
                <a:spcPts val="0"/>
              </a:spcAft>
            </a:pPr>
            <a:r>
              <a:rPr sz="900" b="0" i="0">
                <a:solidFill>
                  <a:srgbClr val="1C1C1E"/>
                </a:solidFill>
                <a:latin typeface="Consolas"/>
              </a:rPr>
              <a:t>grid  t=1   400.0   ingest_ts 3.0   ← filled from t=3</a:t>
            </a:r>
          </a:p>
          <a:p>
            <a:pPr>
              <a:lnSpc>
                <a:spcPct val="134000"/>
              </a:lnSpc>
              <a:spcBef>
                <a:spcPts val="0"/>
              </a:spcBef>
              <a:spcAft>
                <a:spcPts val="0"/>
              </a:spcAft>
            </a:pPr>
            <a:r>
              <a:rPr sz="900" b="0" i="0">
                <a:solidFill>
                  <a:srgbClr val="1C1C1E"/>
                </a:solidFill>
                <a:latin typeface="Consolas"/>
              </a:rPr>
              <a:t>grid  t=2   400.0   ingest_ts 3.0</a:t>
            </a:r>
          </a:p>
          <a:p>
            <a:pPr>
              <a:lnSpc>
                <a:spcPct val="134000"/>
              </a:lnSpc>
              <a:spcBef>
                <a:spcPts val="0"/>
              </a:spcBef>
              <a:spcAft>
                <a:spcPts val="0"/>
              </a:spcAft>
            </a:pPr>
            <a:r>
              <a:rPr sz="900" b="0" i="0">
                <a:solidFill>
                  <a:srgbClr val="1C1C1E"/>
                </a:solidFill>
                <a:latin typeface="Consolas"/>
              </a:rPr>
              <a:t>grid  t=3   400.0   ingest_ts 3.0</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7A7F87"/>
                </a:solidFill>
                <a:latin typeface="Consolas"/>
              </a:rPr>
              <a:t># a point-in-time read at as_of = 1</a:t>
            </a:r>
          </a:p>
          <a:p>
            <a:pPr>
              <a:lnSpc>
                <a:spcPct val="134000"/>
              </a:lnSpc>
              <a:spcBef>
                <a:spcPts val="0"/>
              </a:spcBef>
              <a:spcAft>
                <a:spcPts val="0"/>
              </a:spcAft>
            </a:pPr>
            <a:r>
              <a:rPr sz="900" b="0" i="0">
                <a:solidFill>
                  <a:srgbClr val="7A7F87"/>
                </a:solidFill>
                <a:latin typeface="Consolas"/>
              </a:rPr>
              <a:t># excludes rows 2 and 3 by the ORDINARY rule</a:t>
            </a:r>
          </a:p>
        </p:txBody>
      </p:sp>
      <p:sp>
        <p:nvSpPr>
          <p:cNvPr id="15" name="TextBox 14"/>
          <p:cNvSpPr txBox="1"/>
          <p:nvPr/>
        </p:nvSpPr>
        <p:spPr>
          <a:xfrm>
            <a:off x="6521336" y="3627744"/>
            <a:ext cx="4893118" cy="1463040"/>
          </a:xfrm>
          <a:prstGeom prst="rect">
            <a:avLst/>
          </a:prstGeom>
          <a:noFill/>
        </p:spPr>
        <p:txBody>
          <a:bodyPr wrap="square" lIns="0" rIns="0" tIns="0" bIns="0" anchor="t">
            <a:spAutoFit/>
          </a:bodyPr>
          <a:lstStyle/>
          <a:p>
            <a:pPr algn="l">
              <a:lnSpc>
                <a:spcPct val="125000"/>
              </a:lnSpc>
              <a:spcBef>
                <a:spcPts val="0"/>
              </a:spcBef>
              <a:spcAft>
                <a:spcPts val="800"/>
              </a:spcAft>
            </a:pPr>
            <a:r>
              <a:rPr sz="1100" b="0" i="0">
                <a:solidFill>
                  <a:srgbClr val="1C1C1E"/>
                </a:solidFill>
                <a:latin typeface="Calibri"/>
              </a:rPr>
              <a:t>A value derived from a later observation inherits that observation’s ingest clock, because that is genuinely when it became knowable.</a:t>
            </a:r>
          </a:p>
          <a:p>
            <a:pPr>
              <a:lnSpc>
                <a:spcPct val="125000"/>
              </a:lnSpc>
              <a:spcBef>
                <a:spcPts val="0"/>
              </a:spcBef>
              <a:spcAft>
                <a:spcPts val="0"/>
              </a:spcAft>
            </a:pPr>
            <a:r>
              <a:rPr sz="1100" b="0" i="0">
                <a:solidFill>
                  <a:srgbClr val="4A4F57"/>
                </a:solidFill>
                <a:latin typeface="Calibri"/>
              </a:rPr>
              <a:t>The leakage is not caught by a check. It is made arithmetically impossible to hide, by the bitemporal machinery already 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4</a:t>
            </a:r>
          </a:p>
        </p:txBody>
      </p:sp>
      <p:sp>
        <p:nvSpPr>
          <p:cNvPr id="5" name="TextBox 4"/>
          <p:cNvSpPr txBox="1"/>
          <p:nvPr/>
        </p:nvSpPr>
        <p:spPr>
          <a:xfrm>
            <a:off x="1005840" y="2463393"/>
            <a:ext cx="6169584" cy="1188720"/>
          </a:xfrm>
          <a:prstGeom prst="rect">
            <a:avLst/>
          </a:prstGeom>
          <a:noFill/>
        </p:spPr>
        <p:txBody>
          <a:bodyPr wrap="square" lIns="0" rIns="0" tIns="0" bIns="0" anchor="t">
            <a:spAutoFit/>
          </a:bodyPr>
          <a:lstStyle/>
          <a:p>
            <a:pPr algn="l">
              <a:spcBef>
                <a:spcPts val="0"/>
              </a:spcBef>
              <a:spcAft>
                <a:spcPts val="0"/>
              </a:spcAft>
            </a:pPr>
            <a:r>
              <a:rPr sz="2800" b="0" i="0">
                <a:solidFill>
                  <a:srgbClr val="FFFFFF"/>
                </a:solidFill>
                <a:latin typeface="Georgia"/>
              </a:rPr>
              <a:t>Warrants, and What Comes Back</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A featureset version and a model version meet; a parameter set returns.</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The fit warrant</a:t>
            </a:r>
          </a:p>
          <a:p>
            <a:pPr>
              <a:lnSpc>
                <a:spcPct val="115000"/>
              </a:lnSpc>
              <a:spcBef>
                <a:spcPts val="0"/>
              </a:spcBef>
              <a:spcAft>
                <a:spcPts val="700"/>
              </a:spcAft>
            </a:pPr>
            <a:r>
              <a:rPr sz="1150" b="0" i="0">
                <a:solidFill>
                  <a:srgbClr val="F6E6E9"/>
                </a:solidFill>
                <a:latin typeface="Calibri"/>
              </a:rPr>
              <a:t>The parameter object</a:t>
            </a:r>
          </a:p>
          <a:p>
            <a:pPr>
              <a:lnSpc>
                <a:spcPct val="115000"/>
              </a:lnSpc>
              <a:spcBef>
                <a:spcPts val="0"/>
              </a:spcBef>
              <a:spcAft>
                <a:spcPts val="700"/>
              </a:spcAft>
            </a:pPr>
            <a:r>
              <a:rPr sz="1150" b="0" i="0">
                <a:solidFill>
                  <a:srgbClr val="F6E6E9"/>
                </a:solidFill>
                <a:latin typeface="Calibri"/>
              </a:rPr>
              <a:t>The scoring warrant</a:t>
            </a:r>
          </a:p>
          <a:p>
            <a:pPr>
              <a:lnSpc>
                <a:spcPct val="115000"/>
              </a:lnSpc>
              <a:spcBef>
                <a:spcPts val="0"/>
              </a:spcBef>
              <a:spcAft>
                <a:spcPts val="700"/>
              </a:spcAft>
            </a:pPr>
            <a:r>
              <a:rPr sz="1150" b="0" i="0">
                <a:solidFill>
                  <a:srgbClr val="F6E6E9"/>
                </a:solidFill>
                <a:latin typeface="Calibri"/>
              </a:rPr>
              <a:t>Three routes to P</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WARRANTS, AND WHAT COMES BACK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fit warrant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4 · Warrants, and What Comes Back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20</a:t>
            </a:r>
          </a:p>
        </p:txBody>
      </p:sp>
      <p:sp>
        <p:nvSpPr>
          <p:cNvPr id="10" name="Rectangle 9"/>
          <p:cNvSpPr/>
          <p:nvPr/>
        </p:nvSpPr>
        <p:spPr>
          <a:xfrm>
            <a:off x="777240" y="1353312"/>
            <a:ext cx="5744096" cy="2204161"/>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204161"/>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378336" cy="2021281"/>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"operation":  {"verb": "fit"},</a:t>
            </a:r>
          </a:p>
          <a:p>
            <a:pPr>
              <a:lnSpc>
                <a:spcPct val="134000"/>
              </a:lnSpc>
              <a:spcBef>
                <a:spcPts val="0"/>
              </a:spcBef>
              <a:spcAft>
                <a:spcPts val="0"/>
              </a:spcAft>
            </a:pPr>
            <a:r>
              <a:rPr sz="900" b="0" i="0">
                <a:solidFill>
                  <a:srgbClr val="1C1C1E"/>
                </a:solidFill>
                <a:latin typeface="Consolas"/>
              </a:rPr>
              <a:t>"parameters": {"kind": "estimated_coefficients",</a:t>
            </a:r>
          </a:p>
          <a:p>
            <a:pPr>
              <a:lnSpc>
                <a:spcPct val="134000"/>
              </a:lnSpc>
              <a:spcBef>
                <a:spcPts val="0"/>
              </a:spcBef>
              <a:spcAft>
                <a:spcPts val="0"/>
              </a:spcAft>
            </a:pPr>
            <a:r>
              <a:rPr sz="900" b="0" i="0">
                <a:solidFill>
                  <a:srgbClr val="1C1C1E"/>
                </a:solidFill>
                <a:latin typeface="Consolas"/>
              </a:rPr>
              <a:t>               "source": {"binding": "to_be_fitted"}},</a:t>
            </a:r>
          </a:p>
          <a:p>
            <a:pPr>
              <a:lnSpc>
                <a:spcPct val="134000"/>
              </a:lnSpc>
              <a:spcBef>
                <a:spcPts val="0"/>
              </a:spcBef>
              <a:spcAft>
                <a:spcPts val="0"/>
              </a:spcAft>
            </a:pPr>
            <a:r>
              <a:rPr sz="900" b="0" i="0">
                <a:solidFill>
                  <a:srgbClr val="1C1C1E"/>
                </a:solidFill>
                <a:latin typeface="Consolas"/>
              </a:rPr>
              <a:t>"data": {</a:t>
            </a:r>
          </a:p>
          <a:p>
            <a:pPr>
              <a:lnSpc>
                <a:spcPct val="134000"/>
              </a:lnSpc>
              <a:spcBef>
                <a:spcPts val="0"/>
              </a:spcBef>
              <a:spcAft>
                <a:spcPts val="0"/>
              </a:spcAft>
            </a:pPr>
            <a:r>
              <a:rPr sz="900" b="0" i="0">
                <a:solidFill>
                  <a:srgbClr val="1C1C1E"/>
                </a:solidFill>
                <a:latin typeface="Consolas"/>
              </a:rPr>
              <a:t>  "inputs":  [{"binding":   "featureset",</a:t>
            </a:r>
          </a:p>
          <a:p>
            <a:pPr>
              <a:lnSpc>
                <a:spcPct val="134000"/>
              </a:lnSpc>
              <a:spcBef>
                <a:spcPts val="0"/>
              </a:spcBef>
              <a:spcAft>
                <a:spcPts val="0"/>
              </a:spcAft>
            </a:pPr>
            <a:r>
              <a:rPr sz="900" b="0" i="0">
                <a:solidFill>
                  <a:srgbClr val="1C1C1E"/>
                </a:solidFill>
                <a:latin typeface="Consolas"/>
              </a:rPr>
              <a:t>               "featureset": "nj_home_core", "version": 1,</a:t>
            </a:r>
          </a:p>
          <a:p>
            <a:pPr>
              <a:lnSpc>
                <a:spcPct val="134000"/>
              </a:lnSpc>
              <a:spcBef>
                <a:spcPts val="0"/>
              </a:spcBef>
              <a:spcAft>
                <a:spcPts val="0"/>
              </a:spcAft>
            </a:pPr>
            <a:r>
              <a:rPr sz="900" b="0" i="0">
                <a:solidFill>
                  <a:srgbClr val="1C1C1E"/>
                </a:solidFill>
                <a:latin typeface="Consolas"/>
              </a:rPr>
              <a:t>               "window": {"from": "2019-01-01",</a:t>
            </a:r>
          </a:p>
          <a:p>
            <a:pPr>
              <a:lnSpc>
                <a:spcPct val="134000"/>
              </a:lnSpc>
              <a:spcBef>
                <a:spcPts val="0"/>
              </a:spcBef>
              <a:spcAft>
                <a:spcPts val="0"/>
              </a:spcAft>
            </a:pPr>
            <a:r>
              <a:rPr sz="900" b="0" i="0">
                <a:solidFill>
                  <a:srgbClr val="1C1C1E"/>
                </a:solidFill>
                <a:latin typeface="Consolas"/>
              </a:rPr>
              <a:t>                          "to":   "2024-12-31"},</a:t>
            </a:r>
          </a:p>
          <a:p>
            <a:pPr>
              <a:lnSpc>
                <a:spcPct val="134000"/>
              </a:lnSpc>
              <a:spcBef>
                <a:spcPts val="0"/>
              </a:spcBef>
              <a:spcAft>
                <a:spcPts val="0"/>
              </a:spcAft>
            </a:pPr>
            <a:r>
              <a:rPr sz="900" b="0" i="0">
                <a:solidFill>
                  <a:srgbClr val="1C1C1E"/>
                </a:solidFill>
                <a:latin typeface="Consolas"/>
              </a:rPr>
              <a:t>               "as_of":  "2025-01-15"}],</a:t>
            </a:r>
          </a:p>
          <a:p>
            <a:pPr>
              <a:lnSpc>
                <a:spcPct val="134000"/>
              </a:lnSpc>
              <a:spcBef>
                <a:spcPts val="0"/>
              </a:spcBef>
              <a:spcAft>
                <a:spcPts val="0"/>
              </a:spcAft>
            </a:pPr>
            <a:r>
              <a:rPr sz="900" b="0" i="0">
                <a:solidFill>
                  <a:srgbClr val="1C1C1E"/>
                </a:solidFill>
                <a:latin typeface="Consolas"/>
              </a:rPr>
              <a:t>  "outputs": [{"sink": "parameter_object"}]}</a:t>
            </a:r>
          </a:p>
        </p:txBody>
      </p:sp>
      <p:sp>
        <p:nvSpPr>
          <p:cNvPr id="13" name="Rectangle 12"/>
          <p:cNvSpPr/>
          <p:nvPr/>
        </p:nvSpPr>
        <p:spPr>
          <a:xfrm>
            <a:off x="777240" y="3776929"/>
            <a:ext cx="5744096" cy="9144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777240" y="3776929"/>
            <a:ext cx="41148" cy="9144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1014983" y="3895801"/>
            <a:ext cx="5286896" cy="6949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set fixes the columns; the warrant fixes the period. </a:t>
            </a:r>
            <a:r>
              <a:rPr sz="1050" b="0" i="0">
                <a:solidFill>
                  <a:srgbClr val="1C1C1E"/>
                </a:solidFill>
                <a:latin typeface="Calibri"/>
              </a:rPr>
              <a:t>That is why window and as_of are here and not in the featureset — </a:t>
            </a:r>
            <a:r>
              <a:rPr sz="1050" b="1" i="0">
                <a:solidFill>
                  <a:srgbClr val="1C1C1E"/>
                </a:solidFill>
                <a:latin typeface="Calibri"/>
              </a:rPr>
              <a:t>one set trains 2019–23 and 2020–24 without becoming two sets.</a:t>
            </a:r>
          </a:p>
        </p:txBody>
      </p:sp>
      <p:sp>
        <p:nvSpPr>
          <p:cNvPr id="16" name="TextBox 15"/>
          <p:cNvSpPr txBox="1"/>
          <p:nvPr/>
        </p:nvSpPr>
        <p:spPr>
          <a:xfrm>
            <a:off x="6946824" y="1353312"/>
            <a:ext cx="4467630" cy="292608"/>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Five checks before it is signed</a:t>
            </a:r>
          </a:p>
        </p:txBody>
      </p:sp>
      <p:graphicFrame>
        <p:nvGraphicFramePr>
          <p:cNvPr id="17" name="Table 16"/>
          <p:cNvGraphicFramePr>
            <a:graphicFrameLocks noGrp="1"/>
          </p:cNvGraphicFramePr>
          <p:nvPr/>
        </p:nvGraphicFramePr>
        <p:xfrm>
          <a:off x="6946824" y="1719072"/>
          <a:ext cx="4467629" cy="2134436"/>
        </p:xfrm>
        <a:graphic>
          <a:graphicData uri="http://schemas.openxmlformats.org/drawingml/2006/table">
            <a:tbl>
              <a:tblPr firstRow="1">
                <a:tableStyleId>{5C22544A-7EE6-4342-B048-85BDC9FD1C3A}</a:tableStyleId>
              </a:tblPr>
              <a:tblGrid>
                <a:gridCol w="771681"/>
                <a:gridCol w="3695948"/>
              </a:tblGrid>
              <a:tr h="329184">
                <a:tc>
                  <a:txBody>
                    <a:bodyPr wrap="square"/>
                    <a:lstStyle/>
                    <a:p>
                      <a:pPr algn="l"/>
                      <a:r>
                        <a:rPr sz="900" b="1">
                          <a:solidFill>
                            <a:srgbClr val="FFFFFF"/>
                          </a:solidFill>
                          <a:latin typeface="Calibri"/>
                        </a:rPr>
                        <a:t>Law</a:t>
                      </a:r>
                    </a:p>
                  </a:txBody>
                  <a:tcPr marL="82296" marR="64008" marT="32004" marB="32004" anchor="ctr">
                    <a:solidFill>
                      <a:srgbClr val="A51C30"/>
                    </a:solidFill>
                  </a:tcPr>
                </a:tc>
                <a:tc>
                  <a:txBody>
                    <a:bodyPr wrap="square"/>
                    <a:lstStyle/>
                    <a:p>
                      <a:pPr algn="l"/>
                      <a:r>
                        <a:rPr sz="900" b="1">
                          <a:solidFill>
                            <a:srgbClr val="FFFFFF"/>
                          </a:solidFill>
                          <a:latin typeface="Calibri"/>
                        </a:rPr>
                        <a:t>Asks</a:t>
                      </a:r>
                    </a:p>
                  </a:txBody>
                  <a:tcPr marL="82296" marR="64008" marT="32004" marB="32004" anchor="ctr">
                    <a:solidFill>
                      <a:srgbClr val="A51C30"/>
                    </a:solidFill>
                  </a:tcPr>
                </a:tc>
              </a:tr>
              <a:tr h="453085">
                <a:tc>
                  <a:txBody>
                    <a:bodyPr wrap="square"/>
                    <a:lstStyle/>
                    <a:p>
                      <a:pPr algn="l"/>
                      <a:r>
                        <a:rPr sz="900" b="1">
                          <a:solidFill>
                            <a:srgbClr val="A51C30"/>
                          </a:solidFill>
                          <a:latin typeface="Calibri"/>
                        </a:rPr>
                        <a:t>L-W1</a:t>
                      </a:r>
                    </a:p>
                  </a:txBody>
                  <a:tcPr marL="82296" marR="64008" marT="32004" marB="32004" anchor="ctr">
                    <a:solidFill>
                      <a:srgbClr val="FFFFFF"/>
                    </a:solidFill>
                  </a:tcPr>
                </a:tc>
                <a:tc>
                  <a:txBody>
                    <a:bodyPr wrap="square"/>
                    <a:lstStyle/>
                    <a:p>
                      <a:pPr algn="l"/>
                      <a:r>
                        <a:rPr sz="900" b="0">
                          <a:solidFill>
                            <a:srgbClr val="1C1C1E"/>
                          </a:solidFill>
                          <a:latin typeface="Calibri"/>
                        </a:rPr>
                        <a:t>is 'fit' meaningful for this class? T0 has nothing to fit, and the refusal says so</a:t>
                      </a:r>
                    </a:p>
                  </a:txBody>
                  <a:tcPr marL="82296" marR="64008" marT="32004" marB="32004" anchor="ctr">
                    <a:solidFill>
                      <a:srgbClr val="FFFFFF"/>
                    </a:solidFill>
                  </a:tcPr>
                </a:tc>
              </a:tr>
              <a:tr h="453085">
                <a:tc>
                  <a:txBody>
                    <a:bodyPr wrap="square"/>
                    <a:lstStyle/>
                    <a:p>
                      <a:pPr algn="l"/>
                      <a:r>
                        <a:rPr sz="900" b="1">
                          <a:solidFill>
                            <a:srgbClr val="A51C30"/>
                          </a:solidFill>
                          <a:latin typeface="Calibri"/>
                        </a:rPr>
                        <a:t>L-W10</a:t>
                      </a:r>
                    </a:p>
                  </a:txBody>
                  <a:tcPr marL="82296" marR="64008" marT="32004" marB="32004" anchor="ctr">
                    <a:solidFill>
                      <a:srgbClr val="F6F3EF"/>
                    </a:solidFill>
                  </a:tcPr>
                </a:tc>
                <a:tc>
                  <a:txBody>
                    <a:bodyPr wrap="square"/>
                    <a:lstStyle/>
                    <a:p>
                      <a:pPr algn="l"/>
                      <a:r>
                        <a:rPr sz="900" b="0">
                          <a:solidFill>
                            <a:srgbClr val="1C1C1E"/>
                          </a:solidFill>
                          <a:latin typeface="Calibri"/>
                        </a:rPr>
                        <a:t>does the featureset provide what the kernel declares it reads?</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L-W3</a:t>
                      </a:r>
                    </a:p>
                  </a:txBody>
                  <a:tcPr marL="82296" marR="64008" marT="32004" marB="32004" anchor="ctr">
                    <a:solidFill>
                      <a:srgbClr val="FFFFFF"/>
                    </a:solidFill>
                  </a:tcPr>
                </a:tc>
                <a:tc>
                  <a:txBody>
                    <a:bodyPr wrap="square"/>
                    <a:lstStyle/>
                    <a:p>
                      <a:pPr algn="l"/>
                      <a:r>
                        <a:rPr sz="900" b="0">
                          <a:solidFill>
                            <a:srgbClr val="1C1C1E"/>
                          </a:solidFill>
                          <a:latin typeface="Calibri"/>
                        </a:rPr>
                        <a:t>is the binding one that can answer 'what was known at t'?</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L-W9</a:t>
                      </a:r>
                    </a:p>
                  </a:txBody>
                  <a:tcPr marL="82296" marR="64008" marT="32004" marB="32004" anchor="ctr">
                    <a:solidFill>
                      <a:srgbClr val="F6F3EF"/>
                    </a:solidFill>
                  </a:tcPr>
                </a:tc>
                <a:tc>
                  <a:txBody>
                    <a:bodyPr wrap="square"/>
                    <a:lstStyle/>
                    <a:p>
                      <a:pPr algn="l"/>
                      <a:r>
                        <a:rPr sz="900" b="0">
                          <a:solidFill>
                            <a:srgbClr val="1C1C1E"/>
                          </a:solidFill>
                          <a:latin typeface="Calibri"/>
                        </a:rPr>
                        <a:t>is the read bounded in BOTH clocks?</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L-W4</a:t>
                      </a:r>
                    </a:p>
                  </a:txBody>
                  <a:tcPr marL="82296" marR="64008" marT="32004" marB="32004" anchor="ctr">
                    <a:solidFill>
                      <a:srgbClr val="FFFFFF"/>
                    </a:solidFill>
                  </a:tcPr>
                </a:tc>
                <a:tc>
                  <a:txBody>
                    <a:bodyPr wrap="square"/>
                    <a:lstStyle/>
                    <a:p>
                      <a:pPr algn="l"/>
                      <a:r>
                        <a:rPr sz="900" b="0">
                          <a:solidFill>
                            <a:srgbClr val="1C1C1E"/>
                          </a:solidFill>
                          <a:latin typeface="Calibri"/>
                        </a:rPr>
                        <a:t>does it say where the parameters go?</a:t>
                      </a:r>
                    </a:p>
                  </a:txBody>
                  <a:tcPr marL="82296" marR="64008" marT="32004" marB="32004" anchor="ctr">
                    <a:solidFill>
                      <a:srgbClr val="FFFFFF"/>
                    </a:solidFill>
                  </a:tcPr>
                </a:tc>
              </a:tr>
            </a:tbl>
          </a:graphicData>
        </a:graphic>
      </p:graphicFrame>
      <p:sp>
        <p:nvSpPr>
          <p:cNvPr id="18" name="TextBox 17"/>
          <p:cNvSpPr txBox="1"/>
          <p:nvPr/>
        </p:nvSpPr>
        <p:spPr>
          <a:xfrm>
            <a:off x="6946824" y="3566160"/>
            <a:ext cx="4467630" cy="1005840"/>
          </a:xfrm>
          <a:prstGeom prst="rect">
            <a:avLst/>
          </a:prstGeom>
          <a:noFill/>
        </p:spPr>
        <p:txBody>
          <a:bodyPr wrap="square" lIns="0" rIns="0" tIns="0" bIns="0" anchor="t">
            <a:spAutoFit/>
          </a:bodyPr>
          <a:lstStyle/>
          <a:p>
            <a:pPr algn="l">
              <a:lnSpc>
                <a:spcPct val="124000"/>
              </a:lnSpc>
              <a:spcBef>
                <a:spcPts val="0"/>
              </a:spcBef>
              <a:spcAft>
                <a:spcPts val="600"/>
              </a:spcAft>
            </a:pPr>
            <a:r>
              <a:rPr sz="1150" b="1" i="0">
                <a:solidFill>
                  <a:srgbClr val="1C1C1E"/>
                </a:solidFill>
                <a:latin typeface="Calibri"/>
              </a:rPr>
              <a:t>MAYA does not fit anything. It signs this and waits.</a:t>
            </a:r>
          </a:p>
          <a:p>
            <a:pPr>
              <a:lnSpc>
                <a:spcPct val="124000"/>
              </a:lnSpc>
              <a:spcBef>
                <a:spcPts val="0"/>
              </a:spcBef>
              <a:spcAft>
                <a:spcPts val="0"/>
              </a:spcAft>
            </a:pPr>
            <a:r>
              <a:rPr sz="1050" b="0" i="0">
                <a:solidFill>
                  <a:srgbClr val="4A4F57"/>
                </a:solidFill>
                <a:latin typeface="Calibri"/>
              </a:rPr>
              <a:t>The estimation happens in an execution engine — the same boundary drawn everywhere else here.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WARRANTS, AND WHAT COMES BACK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fit produces a parameter set, not a model version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4 · Warrants, and What Comes Back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21</a:t>
            </a:r>
          </a:p>
        </p:txBody>
      </p:sp>
      <p:sp>
        <p:nvSpPr>
          <p:cNvPr id="10" name="Rectangle 9"/>
          <p:cNvSpPr/>
          <p:nvPr/>
        </p:nvSpPr>
        <p:spPr>
          <a:xfrm>
            <a:off x="777240" y="1353312"/>
            <a:ext cx="5531351" cy="149655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496552"/>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165591" cy="1313672"/>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f : P ⊗ X → D(Y)     the kernel</a:t>
            </a:r>
          </a:p>
          <a:p>
            <a:pPr>
              <a:lnSpc>
                <a:spcPct val="134000"/>
              </a:lnSpc>
              <a:spcBef>
                <a:spcPts val="0"/>
              </a:spcBef>
              <a:spcAft>
                <a:spcPts val="0"/>
              </a:spcAft>
            </a:pPr>
            <a:r>
              <a:rPr sz="950" b="0" i="0">
                <a:solidFill>
                  <a:srgbClr val="1C1C1E"/>
                </a:solidFill>
                <a:latin typeface="Consolas"/>
              </a:rPr>
              <a:t>fit                 picks a point in P</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 the kernel did not change.</a:t>
            </a:r>
          </a:p>
          <a:p>
            <a:pPr>
              <a:lnSpc>
                <a:spcPct val="134000"/>
              </a:lnSpc>
              <a:spcBef>
                <a:spcPts val="0"/>
              </a:spcBef>
              <a:spcAft>
                <a:spcPts val="0"/>
              </a:spcAft>
            </a:pPr>
            <a:r>
              <a:rPr sz="950" b="0" i="0">
                <a:solidFill>
                  <a:srgbClr val="1C1C1E"/>
                </a:solidFill>
                <a:latin typeface="Consolas"/>
              </a:rPr>
              <a:t>⇒ minting a model version per retrain would make</a:t>
            </a:r>
          </a:p>
          <a:p>
            <a:pPr>
              <a:lnSpc>
                <a:spcPct val="134000"/>
              </a:lnSpc>
              <a:spcBef>
                <a:spcPts val="0"/>
              </a:spcBef>
              <a:spcAft>
                <a:spcPts val="0"/>
              </a:spcAft>
            </a:pPr>
            <a:r>
              <a:rPr sz="950" b="0" i="0">
                <a:solidFill>
                  <a:srgbClr val="1C1C1E"/>
                </a:solidFill>
                <a:latin typeface="Consolas"/>
              </a:rPr>
              <a:t>  'the model changed' mean two different things.</a:t>
            </a:r>
          </a:p>
        </p:txBody>
      </p:sp>
      <p:sp>
        <p:nvSpPr>
          <p:cNvPr id="13" name="TextBox 12"/>
          <p:cNvSpPr txBox="1"/>
          <p:nvPr/>
        </p:nvSpPr>
        <p:spPr>
          <a:xfrm>
            <a:off x="777240" y="3087608"/>
            <a:ext cx="5531351" cy="1737360"/>
          </a:xfrm>
          <a:prstGeom prst="rect">
            <a:avLst/>
          </a:prstGeom>
          <a:noFill/>
        </p:spPr>
        <p:txBody>
          <a:bodyPr wrap="square" lIns="0" rIns="0" tIns="0" bIns="0" anchor="t">
            <a:spAutoFit/>
          </a:bodyPr>
          <a:lstStyle/>
          <a:p>
            <a:pPr algn="l">
              <a:lnSpc>
                <a:spcPct val="125000"/>
              </a:lnSpc>
              <a:spcBef>
                <a:spcPts val="0"/>
              </a:spcBef>
              <a:spcAft>
                <a:spcPts val="900"/>
              </a:spcAft>
            </a:pPr>
            <a:r>
              <a:rPr sz="1100" b="0" i="0">
                <a:solidFill>
                  <a:srgbClr val="1C1C1E"/>
                </a:solidFill>
                <a:latin typeface="Calibri"/>
              </a:rPr>
              <a:t>But a parameter set does change behaviour — so it is immutable, versioned, and an alias cannot point at it until somebody other than whoever recorded it has approved.</a:t>
            </a:r>
          </a:p>
          <a:p>
            <a:pPr>
              <a:lnSpc>
                <a:spcPct val="125000"/>
              </a:lnSpc>
              <a:spcBef>
                <a:spcPts val="0"/>
              </a:spcBef>
              <a:spcAft>
                <a:spcPts val="0"/>
              </a:spcAft>
            </a:pPr>
            <a:r>
              <a:rPr sz="1100" b="0" i="0">
                <a:solidFill>
                  <a:srgbClr val="4A4F57"/>
                </a:solidFill>
                <a:latin typeface="Calibri"/>
              </a:rPr>
              <a:t>Accepted ONLY against a warrant MAYA issued, and only when it names the featureset version that produced it. Without that, “which data produced these numbers” has no answer.</a:t>
            </a:r>
          </a:p>
        </p:txBody>
      </p:sp>
      <p:sp>
        <p:nvSpPr>
          <p:cNvPr id="14" name="TextBox 13"/>
          <p:cNvSpPr txBox="1"/>
          <p:nvPr/>
        </p:nvSpPr>
        <p:spPr>
          <a:xfrm>
            <a:off x="6734080" y="1353312"/>
            <a:ext cx="4680374" cy="292608"/>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Three routes to P, governed to three depths</a:t>
            </a:r>
          </a:p>
        </p:txBody>
      </p:sp>
      <p:graphicFrame>
        <p:nvGraphicFramePr>
          <p:cNvPr id="15" name="Table 14"/>
          <p:cNvGraphicFramePr>
            <a:graphicFrameLocks noGrp="1"/>
          </p:cNvGraphicFramePr>
          <p:nvPr/>
        </p:nvGraphicFramePr>
        <p:xfrm>
          <a:off x="6734080" y="1719072"/>
          <a:ext cx="4680374" cy="1253832"/>
        </p:xfrm>
        <a:graphic>
          <a:graphicData uri="http://schemas.openxmlformats.org/drawingml/2006/table">
            <a:tbl>
              <a:tblPr firstRow="1">
                <a:tableStyleId>{5C22544A-7EE6-4342-B048-85BDC9FD1C3A}</a:tableStyleId>
              </a:tblPr>
              <a:tblGrid>
                <a:gridCol w="1191368"/>
                <a:gridCol w="2127443"/>
                <a:gridCol w="1361563"/>
              </a:tblGrid>
              <a:tr h="329184">
                <a:tc>
                  <a:txBody>
                    <a:bodyPr wrap="square"/>
                    <a:lstStyle/>
                    <a:p>
                      <a:pPr algn="l"/>
                      <a:r>
                        <a:rPr sz="950" b="1">
                          <a:solidFill>
                            <a:srgbClr val="FFFFFF"/>
                          </a:solidFill>
                          <a:latin typeface="Calibri"/>
                        </a:rPr>
                        <a:t>Route</a:t>
                      </a:r>
                    </a:p>
                  </a:txBody>
                  <a:tcPr marL="82296" marR="64008" marT="32004" marB="32004" anchor="ctr">
                    <a:solidFill>
                      <a:srgbClr val="A51C30"/>
                    </a:solidFill>
                  </a:tcPr>
                </a:tc>
                <a:tc>
                  <a:txBody>
                    <a:bodyPr wrap="square"/>
                    <a:lstStyle/>
                    <a:p>
                      <a:pPr algn="l"/>
                      <a:r>
                        <a:rPr sz="950" b="1">
                          <a:solidFill>
                            <a:srgbClr val="FFFFFF"/>
                          </a:solidFill>
                          <a:latin typeface="Calibri"/>
                        </a:rPr>
                        <a:t>Evidence</a:t>
                      </a:r>
                    </a:p>
                  </a:txBody>
                  <a:tcPr marL="82296" marR="64008" marT="32004" marB="32004" anchor="ctr">
                    <a:solidFill>
                      <a:srgbClr val="A51C30"/>
                    </a:solidFill>
                  </a:tcPr>
                </a:tc>
                <a:tc>
                  <a:txBody>
                    <a:bodyPr wrap="square"/>
                    <a:lstStyle/>
                    <a:p>
                      <a:pPr algn="l"/>
                      <a:r>
                        <a:rPr sz="950" b="1">
                          <a:solidFill>
                            <a:srgbClr val="FFFFFF"/>
                          </a:solidFill>
                          <a:latin typeface="Calibri"/>
                        </a:rPr>
                        <a:t>Governed</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fitted</a:t>
                      </a:r>
                    </a:p>
                  </a:txBody>
                  <a:tcPr marL="82296" marR="64008" marT="32004" marB="32004" anchor="ctr">
                    <a:solidFill>
                      <a:srgbClr val="FFFFFF"/>
                    </a:solidFill>
                  </a:tcPr>
                </a:tc>
                <a:tc>
                  <a:txBody>
                    <a:bodyPr wrap="square"/>
                    <a:lstStyle/>
                    <a:p>
                      <a:pPr algn="l"/>
                      <a:r>
                        <a:rPr sz="950" b="0">
                          <a:solidFill>
                            <a:srgbClr val="1C1C1E"/>
                          </a:solidFill>
                          <a:latin typeface="Calibri"/>
                        </a:rPr>
                        <a:t>a warrant MAYA issued</a:t>
                      </a:r>
                    </a:p>
                  </a:txBody>
                  <a:tcPr marL="82296" marR="64008" marT="32004" marB="32004" anchor="ctr">
                    <a:solidFill>
                      <a:srgbClr val="FFFFFF"/>
                    </a:solidFill>
                  </a:tcPr>
                </a:tc>
                <a:tc>
                  <a:txBody>
                    <a:bodyPr wrap="square"/>
                    <a:lstStyle/>
                    <a:p>
                      <a:pPr algn="l"/>
                      <a:r>
                        <a:rPr sz="950" b="0">
                          <a:solidFill>
                            <a:srgbClr val="1C1C1E"/>
                          </a:solidFill>
                          <a:latin typeface="Calibri"/>
                        </a:rPr>
                        <a:t>each set</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calibrated</a:t>
                      </a:r>
                    </a:p>
                  </a:txBody>
                  <a:tcPr marL="82296" marR="64008" marT="32004" marB="32004" anchor="ctr">
                    <a:solidFill>
                      <a:srgbClr val="F6F3EF"/>
                    </a:solidFill>
                  </a:tcPr>
                </a:tc>
                <a:tc>
                  <a:txBody>
                    <a:bodyPr wrap="square"/>
                    <a:lstStyle/>
                    <a:p>
                      <a:pPr algn="l"/>
                      <a:r>
                        <a:rPr sz="950" b="0">
                          <a:solidFill>
                            <a:srgbClr val="1C1C1E"/>
                          </a:solidFill>
                          <a:latin typeface="Calibri"/>
                        </a:rPr>
                        <a:t>market data, often daily</a:t>
                      </a:r>
                    </a:p>
                  </a:txBody>
                  <a:tcPr marL="82296" marR="64008" marT="32004" marB="32004" anchor="ctr">
                    <a:solidFill>
                      <a:srgbClr val="F6F3EF"/>
                    </a:solidFill>
                  </a:tcPr>
                </a:tc>
                <a:tc>
                  <a:txBody>
                    <a:bodyPr wrap="square"/>
                    <a:lstStyle/>
                    <a:p>
                      <a:pPr algn="l"/>
                      <a:r>
                        <a:rPr sz="950" b="0">
                          <a:solidFill>
                            <a:srgbClr val="1C1C1E"/>
                          </a:solidFill>
                          <a:latin typeface="Calibri"/>
                        </a:rPr>
                        <a:t>the procedure</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declared</a:t>
                      </a:r>
                    </a:p>
                  </a:txBody>
                  <a:tcPr marL="82296" marR="64008" marT="32004" marB="32004" anchor="ctr">
                    <a:solidFill>
                      <a:srgbClr val="FFFFFF"/>
                    </a:solidFill>
                  </a:tcPr>
                </a:tc>
                <a:tc>
                  <a:txBody>
                    <a:bodyPr wrap="square"/>
                    <a:lstStyle/>
                    <a:p>
                      <a:pPr algn="l"/>
                      <a:r>
                        <a:rPr sz="950" b="0">
                          <a:solidFill>
                            <a:srgbClr val="1C1C1E"/>
                          </a:solidFill>
                          <a:latin typeface="Calibri"/>
                        </a:rPr>
                        <a:t>a person’s assertion</a:t>
                      </a:r>
                    </a:p>
                  </a:txBody>
                  <a:tcPr marL="82296" marR="64008" marT="32004" marB="32004" anchor="ctr">
                    <a:solidFill>
                      <a:srgbClr val="FFFFFF"/>
                    </a:solidFill>
                  </a:tcPr>
                </a:tc>
                <a:tc>
                  <a:txBody>
                    <a:bodyPr wrap="square"/>
                    <a:lstStyle/>
                    <a:p>
                      <a:pPr algn="l"/>
                      <a:r>
                        <a:rPr sz="950" b="0">
                          <a:solidFill>
                            <a:srgbClr val="1C1C1E"/>
                          </a:solidFill>
                          <a:latin typeface="Calibri"/>
                        </a:rPr>
                        <a:t>attestation</a:t>
                      </a:r>
                    </a:p>
                  </a:txBody>
                  <a:tcPr marL="82296" marR="64008" marT="32004" marB="32004" anchor="ctr">
                    <a:solidFill>
                      <a:srgbClr val="FFFFFF"/>
                    </a:solidFill>
                  </a:tcPr>
                </a:tc>
              </a:tr>
            </a:tbl>
          </a:graphicData>
        </a:graphic>
      </p:graphicFrame>
      <p:sp>
        <p:nvSpPr>
          <p:cNvPr id="16" name="TextBox 15"/>
          <p:cNvSpPr txBox="1"/>
          <p:nvPr/>
        </p:nvSpPr>
        <p:spPr>
          <a:xfrm>
            <a:off x="6734080" y="3090672"/>
            <a:ext cx="4680374" cy="1828800"/>
          </a:xfrm>
          <a:prstGeom prst="rect">
            <a:avLst/>
          </a:prstGeom>
          <a:noFill/>
        </p:spPr>
        <p:txBody>
          <a:bodyPr wrap="square" lIns="0" rIns="0" tIns="0" bIns="0" anchor="t">
            <a:spAutoFit/>
          </a:bodyPr>
          <a:lstStyle/>
          <a:p>
            <a:pPr algn="l">
              <a:lnSpc>
                <a:spcPct val="124000"/>
              </a:lnSpc>
              <a:spcBef>
                <a:spcPts val="0"/>
              </a:spcBef>
              <a:spcAft>
                <a:spcPts val="900"/>
              </a:spcAft>
            </a:pPr>
            <a:r>
              <a:rPr sz="1050" b="0" i="0">
                <a:solidFill>
                  <a:srgbClr val="4A4F57"/>
                </a:solidFill>
                <a:latin typeface="Calibri"/>
              </a:rPr>
              <a:t>The middle row is why provenance is not cosmetic: a Hull–White model recalibrated every morning would drown the register if each day needed a committee.</a:t>
            </a:r>
          </a:p>
          <a:p>
            <a:pPr>
              <a:lnSpc>
                <a:spcPct val="124000"/>
              </a:lnSpc>
              <a:spcBef>
                <a:spcPts val="0"/>
              </a:spcBef>
              <a:spcAft>
                <a:spcPts val="0"/>
              </a:spcAft>
            </a:pPr>
            <a:r>
              <a:rPr sz="1050" b="0" i="0">
                <a:solidFill>
                  <a:srgbClr val="4A4F57"/>
                </a:solidFill>
                <a:latin typeface="Calibri"/>
              </a:rPr>
              <a:t>The bottom row is the model that never trains. A closed form arrives with its parameters and its kernel is ready from the first day — and L-W1 refuses it a fit warrant, so nobody has to remember which models train.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WARRANTS, AND WHAT COMES BACK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run warrant, and why it is determined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4 · Warrants, and What Comes Back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22</a:t>
            </a:r>
          </a:p>
        </p:txBody>
      </p:sp>
      <p:sp>
        <p:nvSpPr>
          <p:cNvPr id="10" name="Rectangle 9"/>
          <p:cNvSpPr/>
          <p:nvPr/>
        </p:nvSpPr>
        <p:spPr>
          <a:xfrm>
            <a:off x="777240" y="1353312"/>
            <a:ext cx="5956840" cy="162520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62520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591080" cy="1442328"/>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"operation":  {"verb": "score", "deterministic": true},</a:t>
            </a:r>
          </a:p>
          <a:p>
            <a:pPr>
              <a:lnSpc>
                <a:spcPct val="134000"/>
              </a:lnSpc>
              <a:spcBef>
                <a:spcPts val="0"/>
              </a:spcBef>
              <a:spcAft>
                <a:spcPts val="0"/>
              </a:spcAft>
            </a:pPr>
            <a:r>
              <a:rPr sz="900" b="0" i="0">
                <a:solidFill>
                  <a:srgbClr val="1C1C1E"/>
                </a:solidFill>
                <a:latin typeface="Consolas"/>
              </a:rPr>
              <a:t>"parameters": {"kind":   "estimated_coefficients",</a:t>
            </a:r>
          </a:p>
          <a:p>
            <a:pPr>
              <a:lnSpc>
                <a:spcPct val="134000"/>
              </a:lnSpc>
              <a:spcBef>
                <a:spcPts val="0"/>
              </a:spcBef>
              <a:spcAft>
                <a:spcPts val="0"/>
              </a:spcAft>
            </a:pPr>
            <a:r>
              <a:rPr sz="900" b="0" i="0">
                <a:solidFill>
                  <a:srgbClr val="1C1C1E"/>
                </a:solidFill>
                <a:latin typeface="Consolas"/>
              </a:rPr>
              <a:t>               "source": {"binding": "parameter_set",</a:t>
            </a:r>
          </a:p>
          <a:p>
            <a:pPr>
              <a:lnSpc>
                <a:spcPct val="134000"/>
              </a:lnSpc>
              <a:spcBef>
                <a:spcPts val="0"/>
              </a:spcBef>
              <a:spcAft>
                <a:spcPts val="0"/>
              </a:spcAft>
            </a:pPr>
            <a:r>
              <a:rPr sz="900" b="0" i="0">
                <a:solidFill>
                  <a:srgbClr val="1C1C1E"/>
                </a:solidFill>
                <a:latin typeface="Consolas"/>
              </a:rPr>
              <a:t>                          "parameter_set": "01a06d51f9c3",</a:t>
            </a:r>
          </a:p>
          <a:p>
            <a:pPr>
              <a:lnSpc>
                <a:spcPct val="134000"/>
              </a:lnSpc>
              <a:spcBef>
                <a:spcPts val="0"/>
              </a:spcBef>
              <a:spcAft>
                <a:spcPts val="0"/>
              </a:spcAft>
            </a:pPr>
            <a:r>
              <a:rPr sz="900" b="0" i="0">
                <a:solidFill>
                  <a:srgbClr val="1C1C1E"/>
                </a:solidFill>
                <a:latin typeface="Consolas"/>
              </a:rPr>
              <a:t>                          "digest": "sha256:c4e7…"}},</a:t>
            </a:r>
          </a:p>
          <a:p>
            <a:pPr>
              <a:lnSpc>
                <a:spcPct val="134000"/>
              </a:lnSpc>
              <a:spcBef>
                <a:spcPts val="0"/>
              </a:spcBef>
              <a:spcAft>
                <a:spcPts val="0"/>
              </a:spcAft>
            </a:pPr>
            <a:r>
              <a:rPr sz="900" b="0" i="0">
                <a:solidFill>
                  <a:srgbClr val="1C1C1E"/>
                </a:solidFill>
                <a:latin typeface="Consolas"/>
              </a:rPr>
              <a:t>"data": {"inputs":  [{"binding": "request"}],</a:t>
            </a:r>
          </a:p>
          <a:p>
            <a:pPr>
              <a:lnSpc>
                <a:spcPct val="134000"/>
              </a:lnSpc>
              <a:spcBef>
                <a:spcPts val="0"/>
              </a:spcBef>
              <a:spcAft>
                <a:spcPts val="0"/>
              </a:spcAft>
            </a:pPr>
            <a:r>
              <a:rPr sz="900" b="0" i="0">
                <a:solidFill>
                  <a:srgbClr val="1C1C1E"/>
                </a:solidFill>
                <a:latin typeface="Consolas"/>
              </a:rPr>
              <a:t>         "outputs": [{"sink": "response"}]}</a:t>
            </a:r>
          </a:p>
        </p:txBody>
      </p:sp>
      <p:sp>
        <p:nvSpPr>
          <p:cNvPr id="13" name="TextBox 12"/>
          <p:cNvSpPr txBox="1"/>
          <p:nvPr/>
        </p:nvSpPr>
        <p:spPr>
          <a:xfrm>
            <a:off x="777240" y="3234552"/>
            <a:ext cx="5956840" cy="1554480"/>
          </a:xfrm>
          <a:prstGeom prst="rect">
            <a:avLst/>
          </a:prstGeom>
          <a:noFill/>
        </p:spPr>
        <p:txBody>
          <a:bodyPr wrap="square" lIns="0" rIns="0" tIns="0" bIns="0" anchor="t">
            <a:spAutoFit/>
          </a:bodyPr>
          <a:lstStyle/>
          <a:p>
            <a:pPr algn="l">
              <a:lnSpc>
                <a:spcPct val="125000"/>
              </a:lnSpc>
              <a:spcBef>
                <a:spcPts val="0"/>
              </a:spcBef>
              <a:spcAft>
                <a:spcPts val="900"/>
              </a:spcAft>
            </a:pPr>
            <a:r>
              <a:rPr sz="1150" b="0" i="0">
                <a:solidFill>
                  <a:srgbClr val="1C1C1E"/>
                </a:solidFill>
                <a:latin typeface="Calibri"/>
              </a:rPr>
              <a:t>Model version AND parameter set, both pinned. The run is determined: same kernel, same point in P, same input, same answer.</a:t>
            </a:r>
          </a:p>
          <a:p>
            <a:pPr>
              <a:lnSpc>
                <a:spcPct val="125000"/>
              </a:lnSpc>
              <a:spcBef>
                <a:spcPts val="0"/>
              </a:spcBef>
              <a:spcAft>
                <a:spcPts val="0"/>
              </a:spcAft>
            </a:pPr>
            <a:r>
              <a:rPr sz="1050" b="0" i="0">
                <a:solidFill>
                  <a:srgbClr val="4A4F57"/>
                </a:solidFill>
                <a:latin typeface="Calibri"/>
              </a:rPr>
              <a:t>L-W8 refuses each of to_be_fitted and parameter_set in the other’s position. A fit that claims to read parameters has the direction backwards; a score that will not name its inhabitant produces a number attributable to nothing.</a:t>
            </a:r>
          </a:p>
        </p:txBody>
      </p:sp>
      <p:sp>
        <p:nvSpPr>
          <p:cNvPr id="14" name="TextBox 13"/>
          <p:cNvSpPr txBox="1"/>
          <p:nvPr/>
        </p:nvSpPr>
        <p:spPr>
          <a:xfrm>
            <a:off x="7159569" y="1353312"/>
            <a:ext cx="4254886" cy="329184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What the appraiser gets</a:t>
            </a:r>
          </a:p>
          <a:p>
            <a:pPr>
              <a:lnSpc>
                <a:spcPct val="124000"/>
              </a:lnSpc>
              <a:spcBef>
                <a:spcPts val="0"/>
              </a:spcBef>
              <a:spcAft>
                <a:spcPts val="800"/>
              </a:spcAft>
            </a:pPr>
            <a:r>
              <a:rPr sz="1100" b="0" i="0">
                <a:solidFill>
                  <a:srgbClr val="1C1C1E"/>
                </a:solidFill>
                <a:latin typeface="Calibri"/>
              </a:rPr>
              <a:t>A number whose provenance runs all the way back:</a:t>
            </a:r>
          </a:p>
          <a:p>
            <a:pPr>
              <a:spcBef>
                <a:spcPts val="0"/>
              </a:spcBef>
              <a:spcAft>
                <a:spcPts val="500"/>
              </a:spcAft>
            </a:pPr>
            <a:r>
              <a:rPr sz="1050" b="1" i="0">
                <a:solidFill>
                  <a:srgbClr val="A51C30"/>
                </a:solidFill>
                <a:latin typeface="Calibri"/>
              </a:rPr>
              <a:t>→  </a:t>
            </a:r>
            <a:r>
              <a:rPr sz="1050" b="0" i="0">
                <a:solidFill>
                  <a:srgbClr val="4A4F57"/>
                </a:solidFill>
                <a:latin typeface="Calibri"/>
              </a:rPr>
              <a:t>the parameter set that produced it</a:t>
            </a:r>
          </a:p>
          <a:p>
            <a:pPr>
              <a:spcBef>
                <a:spcPts val="0"/>
              </a:spcBef>
              <a:spcAft>
                <a:spcPts val="500"/>
              </a:spcAft>
            </a:pPr>
            <a:r>
              <a:rPr sz="1050" b="1" i="0">
                <a:solidFill>
                  <a:srgbClr val="A51C30"/>
                </a:solidFill>
                <a:latin typeface="Calibri"/>
              </a:rPr>
              <a:t>→  </a:t>
            </a:r>
            <a:r>
              <a:rPr sz="1050" b="0" i="0">
                <a:solidFill>
                  <a:srgbClr val="4A4F57"/>
                </a:solidFill>
                <a:latin typeface="Calibri"/>
              </a:rPr>
              <a:t>the featureset version it was fitted from</a:t>
            </a:r>
          </a:p>
          <a:p>
            <a:pPr>
              <a:spcBef>
                <a:spcPts val="0"/>
              </a:spcBef>
              <a:spcAft>
                <a:spcPts val="500"/>
              </a:spcAft>
            </a:pPr>
            <a:r>
              <a:rPr sz="1050" b="1" i="0">
                <a:solidFill>
                  <a:srgbClr val="A51C30"/>
                </a:solidFill>
                <a:latin typeface="Calibri"/>
              </a:rPr>
              <a:t>→  </a:t>
            </a:r>
            <a:r>
              <a:rPr sz="1050" b="0" i="0">
                <a:solidFill>
                  <a:srgbClr val="4A4F57"/>
                </a:solidFill>
                <a:latin typeface="Calibri"/>
              </a:rPr>
              <a:t>the pinned Delta namespaces beneath that</a:t>
            </a:r>
          </a:p>
          <a:p>
            <a:pPr>
              <a:spcBef>
                <a:spcPts val="0"/>
              </a:spcBef>
              <a:spcAft>
                <a:spcPts val="500"/>
              </a:spcAft>
            </a:pPr>
            <a:r>
              <a:rPr sz="1050" b="1" i="0">
                <a:solidFill>
                  <a:srgbClr val="A51C30"/>
                </a:solidFill>
                <a:latin typeface="Calibri"/>
              </a:rPr>
              <a:t>→  </a:t>
            </a:r>
            <a:r>
              <a:rPr sz="1050" b="0" i="0">
                <a:solidFill>
                  <a:srgbClr val="4A4F57"/>
                </a:solidFill>
                <a:latin typeface="Calibri"/>
              </a:rPr>
              <a:t>the rows that were true and known on a stated date</a:t>
            </a:r>
          </a:p>
          <a:p>
            <a:pPr>
              <a:lnSpc>
                <a:spcPct val="124000"/>
              </a:lnSpc>
              <a:spcBef>
                <a:spcPts val="800"/>
              </a:spcBef>
              <a:spcAft>
                <a:spcPts val="0"/>
              </a:spcAft>
            </a:pPr>
            <a:r>
              <a:rPr sz="1100" b="1" i="0">
                <a:solidFill>
                  <a:srgbClr val="1C1C1E"/>
                </a:solidFill>
                <a:latin typeface="Calibri"/>
              </a:rPr>
              <a:t>Not a claim about lineage. A chain of pins, each of which resolves.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5</a:t>
            </a:r>
          </a:p>
        </p:txBody>
      </p:sp>
      <p:sp>
        <p:nvSpPr>
          <p:cNvPr id="5" name="TextBox 4"/>
          <p:cNvSpPr txBox="1"/>
          <p:nvPr/>
        </p:nvSpPr>
        <p:spPr>
          <a:xfrm>
            <a:off x="1005840" y="2434132"/>
            <a:ext cx="6169584" cy="1188720"/>
          </a:xfrm>
          <a:prstGeom prst="rect">
            <a:avLst/>
          </a:prstGeom>
          <a:noFill/>
        </p:spPr>
        <p:txBody>
          <a:bodyPr wrap="square" lIns="0" rIns="0" tIns="0" bIns="0" anchor="t">
            <a:spAutoFit/>
          </a:bodyPr>
          <a:lstStyle/>
          <a:p>
            <a:pPr algn="l">
              <a:spcBef>
                <a:spcPts val="0"/>
              </a:spcBef>
              <a:spcAft>
                <a:spcPts val="0"/>
              </a:spcAft>
            </a:pPr>
            <a:r>
              <a:rPr sz="3200" b="0" i="0">
                <a:solidFill>
                  <a:srgbClr val="FFFFFF"/>
                </a:solidFill>
                <a:latin typeface="Georgia"/>
              </a:rPr>
              <a:t>What MAYA Refuses, and Why</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The refusals are the product. Everything else is bookkeeping.</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The refusals that matter</a:t>
            </a:r>
          </a:p>
          <a:p>
            <a:pPr>
              <a:lnSpc>
                <a:spcPct val="115000"/>
              </a:lnSpc>
              <a:spcBef>
                <a:spcPts val="0"/>
              </a:spcBef>
              <a:spcAft>
                <a:spcPts val="700"/>
              </a:spcAft>
            </a:pPr>
            <a:r>
              <a:rPr sz="1150" b="0" i="0">
                <a:solidFill>
                  <a:srgbClr val="F6E6E9"/>
                </a:solidFill>
                <a:latin typeface="Calibri"/>
              </a:rPr>
              <a:t>What it deliberately will not do</a:t>
            </a:r>
          </a:p>
          <a:p>
            <a:pPr>
              <a:lnSpc>
                <a:spcPct val="115000"/>
              </a:lnSpc>
              <a:spcBef>
                <a:spcPts val="0"/>
              </a:spcBef>
              <a:spcAft>
                <a:spcPts val="700"/>
              </a:spcAft>
            </a:pPr>
            <a:r>
              <a:rPr sz="1150" b="0" i="0">
                <a:solidFill>
                  <a:srgbClr val="F6E6E9"/>
                </a:solidFill>
                <a:latin typeface="Calibri"/>
              </a:rPr>
              <a:t>Where the boundary 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WHAT MAYA REFUSES, AND WHY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refusals that matter</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5 · What MAYA Refuses, and Why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24</a:t>
            </a:r>
          </a:p>
        </p:txBody>
      </p:sp>
      <p:graphicFrame>
        <p:nvGraphicFramePr>
          <p:cNvPr id="10" name="Table 9"/>
          <p:cNvGraphicFramePr>
            <a:graphicFrameLocks noGrp="1"/>
          </p:cNvGraphicFramePr>
          <p:nvPr/>
        </p:nvGraphicFramePr>
        <p:xfrm>
          <a:off x="777240" y="1353312"/>
          <a:ext cx="10637215" cy="2863088"/>
        </p:xfrm>
        <a:graphic>
          <a:graphicData uri="http://schemas.openxmlformats.org/drawingml/2006/table">
            <a:tbl>
              <a:tblPr firstRow="1">
                <a:tableStyleId>{5C22544A-7EE6-4342-B048-85BDC9FD1C3A}</a:tableStyleId>
              </a:tblPr>
              <a:tblGrid>
                <a:gridCol w="4218206"/>
                <a:gridCol w="6419009"/>
              </a:tblGrid>
              <a:tr h="329184">
                <a:tc>
                  <a:txBody>
                    <a:bodyPr wrap="square"/>
                    <a:lstStyle/>
                    <a:p>
                      <a:pPr algn="l"/>
                      <a:r>
                        <a:rPr sz="1000" b="1">
                          <a:solidFill>
                            <a:srgbClr val="FFFFFF"/>
                          </a:solidFill>
                          <a:latin typeface="Calibri"/>
                        </a:rPr>
                        <a:t>Refused</a:t>
                      </a:r>
                    </a:p>
                  </a:txBody>
                  <a:tcPr marL="82296" marR="64008" marT="32004" marB="32004" anchor="ctr">
                    <a:solidFill>
                      <a:srgbClr val="A51C30"/>
                    </a:solidFill>
                  </a:tcPr>
                </a:tc>
                <a:tc>
                  <a:txBody>
                    <a:bodyPr wrap="square"/>
                    <a:lstStyle/>
                    <a:p>
                      <a:pPr algn="l"/>
                      <a:r>
                        <a:rPr sz="1000" b="1">
                          <a:solidFill>
                            <a:srgbClr val="FFFFFF"/>
                          </a:solidFill>
                          <a:latin typeface="Calibri"/>
                        </a:rPr>
                        <a:t>Because</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a training set with either clock unbounded</a:t>
                      </a:r>
                    </a:p>
                  </a:txBody>
                  <a:tcPr marL="82296" marR="64008" marT="32004" marB="32004" anchor="ctr">
                    <a:solidFill>
                      <a:srgbClr val="FFFFFF"/>
                    </a:solidFill>
                  </a:tcPr>
                </a:tc>
                <a:tc>
                  <a:txBody>
                    <a:bodyPr wrap="square"/>
                    <a:lstStyle/>
                    <a:p>
                      <a:pPr algn="l"/>
                      <a:r>
                        <a:rPr sz="1000" b="0">
                          <a:solidFill>
                            <a:srgbClr val="1C1C1E"/>
                          </a:solidFill>
                          <a:latin typeface="Calibri"/>
                        </a:rPr>
                        <a:t>it cannot be shown point-in-time correct, so it cannot be shown not to have leaked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feature derived from the label</a:t>
                      </a:r>
                    </a:p>
                  </a:txBody>
                  <a:tcPr marL="82296" marR="64008" marT="32004" marB="32004" anchor="ctr">
                    <a:solidFill>
                      <a:srgbClr val="F6F3EF"/>
                    </a:solidFill>
                  </a:tcPr>
                </a:tc>
                <a:tc>
                  <a:txBody>
                    <a:bodyPr wrap="square"/>
                    <a:lstStyle/>
                    <a:p>
                      <a:pPr algn="l"/>
                      <a:r>
                        <a:rPr sz="1000" b="0">
                          <a:solidFill>
                            <a:srgbClr val="1C1C1E"/>
                          </a:solidFill>
                          <a:latin typeface="Calibri"/>
                        </a:rPr>
                        <a:t>leakage with a division sign in front of it; every metric will agree the model is excellent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normalising without an as_of</a:t>
                      </a:r>
                    </a:p>
                  </a:txBody>
                  <a:tcPr marL="82296" marR="64008" marT="32004" marB="32004" anchor="ctr">
                    <a:solidFill>
                      <a:srgbClr val="FFFFFF"/>
                    </a:solidFill>
                  </a:tcPr>
                </a:tc>
                <a:tc>
                  <a:txBody>
                    <a:bodyPr wrap="square"/>
                    <a:lstStyle/>
                    <a:p>
                      <a:pPr algn="l"/>
                      <a:r>
                        <a:rPr sz="1000" b="0">
                          <a:solidFill>
                            <a:srgbClr val="1C1C1E"/>
                          </a:solidFill>
                          <a:latin typeface="Calibri"/>
                        </a:rPr>
                        <a:t>the leaky answer is the one somebody would get by accident, so it must not be the default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featureset that does not cover the kernel’s inputs</a:t>
                      </a:r>
                    </a:p>
                  </a:txBody>
                  <a:tcPr marL="82296" marR="64008" marT="32004" marB="32004" anchor="ctr">
                    <a:solidFill>
                      <a:srgbClr val="F6F3EF"/>
                    </a:solidFill>
                  </a:tcPr>
                </a:tc>
                <a:tc>
                  <a:txBody>
                    <a:bodyPr wrap="square"/>
                    <a:lstStyle/>
                    <a:p>
                      <a:pPr algn="l"/>
                      <a:r>
                        <a:rPr sz="1000" b="0">
                          <a:solidFill>
                            <a:srgbClr val="1C1C1E"/>
                          </a:solidFill>
                          <a:latin typeface="Calibri"/>
                        </a:rPr>
                        <a:t>adding a regressor is a model change, not a data change</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 fit warrant for a T0 model</a:t>
                      </a:r>
                    </a:p>
                  </a:txBody>
                  <a:tcPr marL="82296" marR="64008" marT="32004" marB="32004" anchor="ctr">
                    <a:solidFill>
                      <a:srgbClr val="FFFFFF"/>
                    </a:solidFill>
                  </a:tcPr>
                </a:tc>
                <a:tc>
                  <a:txBody>
                    <a:bodyPr wrap="square"/>
                    <a:lstStyle/>
                    <a:p>
                      <a:pPr algn="l"/>
                      <a:r>
                        <a:rPr sz="1000" b="0">
                          <a:solidFill>
                            <a:srgbClr val="1C1C1E"/>
                          </a:solidFill>
                          <a:latin typeface="Calibri"/>
                        </a:rPr>
                        <a:t>its parameters come from theory; asking it to fit is a type error</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parameters with no warrant behind them</a:t>
                      </a:r>
                    </a:p>
                  </a:txBody>
                  <a:tcPr marL="82296" marR="64008" marT="32004" marB="32004" anchor="ctr">
                    <a:solidFill>
                      <a:srgbClr val="F6F3EF"/>
                    </a:solidFill>
                  </a:tcPr>
                </a:tc>
                <a:tc>
                  <a:txBody>
                    <a:bodyPr wrap="square"/>
                    <a:lstStyle/>
                    <a:p>
                      <a:pPr algn="l"/>
                      <a:r>
                        <a:rPr sz="1000" b="0">
                          <a:solidFill>
                            <a:srgbClr val="1C1C1E"/>
                          </a:solidFill>
                          <a:latin typeface="Calibri"/>
                        </a:rPr>
                        <a:t>‘which data produced these numbers’ would have no answer</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 version approved before its model is assessed</a:t>
                      </a:r>
                    </a:p>
                  </a:txBody>
                  <a:tcPr marL="82296" marR="64008" marT="32004" marB="32004" anchor="ctr">
                    <a:solidFill>
                      <a:srgbClr val="FFFFFF"/>
                    </a:solidFill>
                  </a:tcPr>
                </a:tc>
                <a:tc>
                  <a:txBody>
                    <a:bodyPr wrap="square"/>
                    <a:lstStyle/>
                    <a:p>
                      <a:pPr algn="l"/>
                      <a:r>
                        <a:rPr sz="1000" b="0">
                          <a:solidFill>
                            <a:srgbClr val="1C1C1E"/>
                          </a:solidFill>
                          <a:latin typeface="Calibri"/>
                        </a:rPr>
                        <a:t>the tier decides how many signatures the approval needs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an upload missing entity_id or either clock</a:t>
                      </a:r>
                    </a:p>
                  </a:txBody>
                  <a:tcPr marL="82296" marR="64008" marT="32004" marB="32004" anchor="ctr">
                    <a:solidFill>
                      <a:srgbClr val="F6F3EF"/>
                    </a:solidFill>
                  </a:tcPr>
                </a:tc>
                <a:tc>
                  <a:txBody>
                    <a:bodyPr wrap="square"/>
                    <a:lstStyle/>
                    <a:p>
                      <a:pPr algn="l"/>
                      <a:r>
                        <a:rPr sz="1000" b="0">
                          <a:solidFill>
                            <a:srgbClr val="1C1C1E"/>
                          </a:solidFill>
                          <a:latin typeface="Calibri"/>
                        </a:rPr>
                        <a:t>accepting it moves the failure two layers from where it was caused</a:t>
                      </a:r>
                    </a:p>
                  </a:txBody>
                  <a:tcPr marL="82296" marR="64008" marT="32004" marB="32004" anchor="ctr">
                    <a:solidFill>
                      <a:srgbClr val="F6F3EF"/>
                    </a:solidFill>
                  </a:tcPr>
                </a:tc>
              </a:tr>
            </a:tbl>
          </a:graphicData>
        </a:graphic>
      </p:graphicFrame>
      <p:sp>
        <p:nvSpPr>
          <p:cNvPr id="11" name="Rectangle 10"/>
          <p:cNvSpPr/>
          <p:nvPr/>
        </p:nvSpPr>
        <p:spPr>
          <a:xfrm>
            <a:off x="777240" y="4417567"/>
            <a:ext cx="10637215" cy="78638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417567"/>
            <a:ext cx="41148" cy="78638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536439"/>
            <a:ext cx="10180015" cy="566928"/>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Every refusal carries a remediation. </a:t>
            </a:r>
            <a:r>
              <a:rPr sz="1050" b="0" i="0">
                <a:solidFill>
                  <a:srgbClr val="1C1C1E"/>
                </a:solidFill>
                <a:latin typeface="Calibri"/>
              </a:rPr>
              <a:t>“Policy violation” tells somebody nothing they can act on, so each of these names what to do instead — </a:t>
            </a:r>
            <a:r>
              <a:rPr sz="1050" b="1" i="0">
                <a:solidFill>
                  <a:srgbClr val="1C1C1E"/>
                </a:solidFill>
                <a:latin typeface="Calibri"/>
              </a:rPr>
              <a:t>a gate people cannot satisfy is a gate people route around.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WHAT MAYA REFUSES, AND WHY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Where the boundary is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5 · What MAYA Refuses, and Why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25</a:t>
            </a:r>
          </a:p>
        </p:txBody>
      </p:sp>
      <p:sp>
        <p:nvSpPr>
          <p:cNvPr id="10" name="Rectangle 9"/>
          <p:cNvSpPr/>
          <p:nvPr/>
        </p:nvSpPr>
        <p:spPr>
          <a:xfrm>
            <a:off x="777240" y="1353312"/>
            <a:ext cx="3350722" cy="23774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3350722"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2911810"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1</a:t>
            </a:r>
          </a:p>
        </p:txBody>
      </p:sp>
      <p:sp>
        <p:nvSpPr>
          <p:cNvPr id="13" name="TextBox 12"/>
          <p:cNvSpPr txBox="1"/>
          <p:nvPr/>
        </p:nvSpPr>
        <p:spPr>
          <a:xfrm>
            <a:off x="996695" y="1847088"/>
            <a:ext cx="2911810"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It does not compute</a:t>
            </a:r>
          </a:p>
        </p:txBody>
      </p:sp>
      <p:sp>
        <p:nvSpPr>
          <p:cNvPr id="14" name="TextBox 13"/>
          <p:cNvSpPr txBox="1"/>
          <p:nvPr/>
        </p:nvSpPr>
        <p:spPr>
          <a:xfrm>
            <a:off x="996695" y="2157984"/>
            <a:ext cx="2911810" cy="13898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No fitting, no calibration, no scoring. MAYA issues a warrant and takes delivery of the result. The captive engine exists so a fresh deployment can demonstrate the whole governed path against real artifacts — not so anybody runs an estate on it.</a:t>
            </a:r>
          </a:p>
        </p:txBody>
      </p:sp>
      <p:sp>
        <p:nvSpPr>
          <p:cNvPr id="15" name="Rectangle 14"/>
          <p:cNvSpPr/>
          <p:nvPr/>
        </p:nvSpPr>
        <p:spPr>
          <a:xfrm>
            <a:off x="4425804" y="1353312"/>
            <a:ext cx="3350722" cy="23774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4425804" y="1353312"/>
            <a:ext cx="3350722"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4645260" y="1572768"/>
            <a:ext cx="2911810"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2</a:t>
            </a:r>
          </a:p>
        </p:txBody>
      </p:sp>
      <p:sp>
        <p:nvSpPr>
          <p:cNvPr id="18" name="TextBox 17"/>
          <p:cNvSpPr txBox="1"/>
          <p:nvPr/>
        </p:nvSpPr>
        <p:spPr>
          <a:xfrm>
            <a:off x="4645260" y="1847088"/>
            <a:ext cx="2911810"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It does not transform</a:t>
            </a:r>
          </a:p>
        </p:txBody>
      </p:sp>
      <p:sp>
        <p:nvSpPr>
          <p:cNvPr id="19" name="TextBox 18"/>
          <p:cNvSpPr txBox="1"/>
          <p:nvPr/>
        </p:nvSpPr>
        <p:spPr>
          <a:xfrm>
            <a:off x="4645260" y="2157984"/>
            <a:ext cx="2911810" cy="13898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The expression language is small on purpose. Anything needing a library, a join or a model is declared external: the definition, the lineage and the leakage check are still kept, and the register says plainly that the platform did not compute the values.</a:t>
            </a:r>
          </a:p>
        </p:txBody>
      </p:sp>
      <p:sp>
        <p:nvSpPr>
          <p:cNvPr id="20" name="Rectangle 19"/>
          <p:cNvSpPr/>
          <p:nvPr/>
        </p:nvSpPr>
        <p:spPr>
          <a:xfrm>
            <a:off x="8074369" y="1353312"/>
            <a:ext cx="3340085" cy="23774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8074369" y="1353312"/>
            <a:ext cx="334008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8293825" y="1572768"/>
            <a:ext cx="290117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3</a:t>
            </a:r>
          </a:p>
        </p:txBody>
      </p:sp>
      <p:sp>
        <p:nvSpPr>
          <p:cNvPr id="23" name="TextBox 22"/>
          <p:cNvSpPr txBox="1"/>
          <p:nvPr/>
        </p:nvSpPr>
        <p:spPr>
          <a:xfrm>
            <a:off x="8293825" y="1847088"/>
            <a:ext cx="290117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It does not choose</a:t>
            </a:r>
          </a:p>
        </p:txBody>
      </p:sp>
      <p:sp>
        <p:nvSpPr>
          <p:cNvPr id="24" name="TextBox 23"/>
          <p:cNvSpPr txBox="1"/>
          <p:nvPr/>
        </p:nvSpPr>
        <p:spPr>
          <a:xfrm>
            <a:off x="8293825" y="2157984"/>
            <a:ext cx="2901173" cy="13898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No feature selection, no importance ranking, no suggestion engine. It records what you chose, pins it so it cannot move underneath you, and refuses the combinations that are type errors.</a:t>
            </a:r>
          </a:p>
        </p:txBody>
      </p:sp>
      <p:sp>
        <p:nvSpPr>
          <p:cNvPr id="25" name="Rectangle 24"/>
          <p:cNvSpPr/>
          <p:nvPr/>
        </p:nvSpPr>
        <p:spPr>
          <a:xfrm>
            <a:off x="777240" y="3931920"/>
            <a:ext cx="10637215" cy="859536"/>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777240" y="3931920"/>
            <a:ext cx="41148" cy="8595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1014983" y="4050791"/>
            <a:ext cx="10180015" cy="640080"/>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platform that claimed to do all three </a:t>
            </a:r>
            <a:r>
              <a:rPr sz="1050" b="0" i="0">
                <a:solidFill>
                  <a:srgbClr val="1C1C1E"/>
                </a:solidFill>
                <a:latin typeface="Calibri"/>
              </a:rPr>
              <a:t>would be believed about the parts it does badly. Stating the boundary is what makes the rest of it worth relying on — </a:t>
            </a:r>
            <a:r>
              <a:rPr sz="1050" b="1" i="0">
                <a:solidFill>
                  <a:srgbClr val="1C1C1E"/>
                </a:solidFill>
                <a:latin typeface="Calibri"/>
              </a:rPr>
              <a:t>and every honest gap is written down in the implementation plan.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6</a:t>
            </a:r>
          </a:p>
        </p:txBody>
      </p:sp>
      <p:sp>
        <p:nvSpPr>
          <p:cNvPr id="5" name="TextBox 4"/>
          <p:cNvSpPr txBox="1"/>
          <p:nvPr/>
        </p:nvSpPr>
        <p:spPr>
          <a:xfrm>
            <a:off x="1005840" y="2331720"/>
            <a:ext cx="6169584" cy="1188720"/>
          </a:xfrm>
          <a:prstGeom prst="rect">
            <a:avLst/>
          </a:prstGeom>
          <a:noFill/>
        </p:spPr>
        <p:txBody>
          <a:bodyPr wrap="square" lIns="0" rIns="0" tIns="0" bIns="0" anchor="t">
            <a:spAutoFit/>
          </a:bodyPr>
          <a:lstStyle/>
          <a:p>
            <a:pPr algn="l">
              <a:spcBef>
                <a:spcPts val="0"/>
              </a:spcBef>
              <a:spcAft>
                <a:spcPts val="0"/>
              </a:spcAft>
            </a:pPr>
            <a:r>
              <a:rPr sz="4600" b="0" i="0">
                <a:solidFill>
                  <a:srgbClr val="FFFFFF"/>
                </a:solidFill>
                <a:latin typeface="Georgia"/>
              </a:rPr>
              <a:t>A Worked Example</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Two features, one featureset, three models — with the numbers.</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The data, and its two clocks</a:t>
            </a:r>
          </a:p>
          <a:p>
            <a:pPr>
              <a:lnSpc>
                <a:spcPct val="115000"/>
              </a:lnSpc>
              <a:spcBef>
                <a:spcPts val="0"/>
              </a:spcBef>
              <a:spcAft>
                <a:spcPts val="700"/>
              </a:spcAft>
            </a:pPr>
            <a:r>
              <a:rPr sz="1150" b="0" i="0">
                <a:solidFill>
                  <a:srgbClr val="F6E6E9"/>
                </a:solidFill>
                <a:latin typeface="Calibri"/>
              </a:rPr>
              <a:t>The featureset, aligned</a:t>
            </a:r>
          </a:p>
          <a:p>
            <a:pPr>
              <a:lnSpc>
                <a:spcPct val="115000"/>
              </a:lnSpc>
              <a:spcBef>
                <a:spcPts val="0"/>
              </a:spcBef>
              <a:spcAft>
                <a:spcPts val="700"/>
              </a:spcAft>
            </a:pPr>
            <a:r>
              <a:rPr sz="1150" b="0" i="0">
                <a:solidFill>
                  <a:srgbClr val="F6E6E9"/>
                </a:solidFill>
                <a:latin typeface="Calibri"/>
              </a:rPr>
              <a:t>Two models over one X</a:t>
            </a:r>
          </a:p>
          <a:p>
            <a:pPr>
              <a:lnSpc>
                <a:spcPct val="115000"/>
              </a:lnSpc>
              <a:spcBef>
                <a:spcPts val="0"/>
              </a:spcBef>
              <a:spcAft>
                <a:spcPts val="700"/>
              </a:spcAft>
            </a:pPr>
            <a:r>
              <a:rPr sz="1150" b="0" i="0">
                <a:solidFill>
                  <a:srgbClr val="F6E6E9"/>
                </a:solidFill>
                <a:latin typeface="Calibri"/>
              </a:rPr>
              <a:t>Extending it, and what that forces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A WORKED EXAMPLE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Two features that arrive on different clocks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6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27</a:t>
            </a:r>
          </a:p>
        </p:txBody>
      </p:sp>
      <p:graphicFrame>
        <p:nvGraphicFramePr>
          <p:cNvPr id="10" name="Table 9"/>
          <p:cNvGraphicFramePr>
            <a:graphicFrameLocks noGrp="1"/>
          </p:cNvGraphicFramePr>
          <p:nvPr/>
        </p:nvGraphicFramePr>
        <p:xfrm>
          <a:off x="777240" y="1353312"/>
          <a:ext cx="4680374" cy="1562048"/>
        </p:xfrm>
        <a:graphic>
          <a:graphicData uri="http://schemas.openxmlformats.org/drawingml/2006/table">
            <a:tbl>
              <a:tblPr firstRow="1">
                <a:tableStyleId>{5C22544A-7EE6-4342-B048-85BDC9FD1C3A}</a:tableStyleId>
              </a:tblPr>
              <a:tblGrid>
                <a:gridCol w="1743669"/>
                <a:gridCol w="1743669"/>
                <a:gridCol w="1193036"/>
              </a:tblGrid>
              <a:tr h="329184">
                <a:tc>
                  <a:txBody>
                    <a:bodyPr wrap="square"/>
                    <a:lstStyle/>
                    <a:p>
                      <a:pPr algn="l"/>
                      <a:r>
                        <a:rPr sz="950" b="1">
                          <a:solidFill>
                            <a:srgbClr val="FFFFFF"/>
                          </a:solidFill>
                          <a:latin typeface="Calibri"/>
                        </a:rPr>
                        <a:t>event_ts</a:t>
                      </a:r>
                    </a:p>
                  </a:txBody>
                  <a:tcPr marL="82296" marR="64008" marT="32004" marB="32004" anchor="ctr">
                    <a:solidFill>
                      <a:srgbClr val="A51C30"/>
                    </a:solidFill>
                  </a:tcPr>
                </a:tc>
                <a:tc>
                  <a:txBody>
                    <a:bodyPr wrap="square"/>
                    <a:lstStyle/>
                    <a:p>
                      <a:pPr algn="l"/>
                      <a:r>
                        <a:rPr sz="950" b="1">
                          <a:solidFill>
                            <a:srgbClr val="FFFFFF"/>
                          </a:solidFill>
                          <a:latin typeface="Calibri"/>
                        </a:rPr>
                        <a:t>ingest_ts</a:t>
                      </a:r>
                    </a:p>
                  </a:txBody>
                  <a:tcPr marL="82296" marR="64008" marT="32004" marB="32004" anchor="ctr">
                    <a:solidFill>
                      <a:srgbClr val="A51C30"/>
                    </a:solidFill>
                  </a:tcPr>
                </a:tc>
                <a:tc>
                  <a:txBody>
                    <a:bodyPr wrap="square"/>
                    <a:lstStyle/>
                    <a:p>
                      <a:pPr algn="l"/>
                      <a:r>
                        <a:rPr sz="950" b="1">
                          <a:solidFill>
                            <a:srgbClr val="FFFFFF"/>
                          </a:solidFill>
                          <a:latin typeface="Calibri"/>
                        </a:rPr>
                        <a:t>px_close</a:t>
                      </a:r>
                    </a:p>
                  </a:txBody>
                  <a:tcPr marL="82296" marR="64008" marT="32004" marB="32004" anchor="ctr">
                    <a:solidFill>
                      <a:srgbClr val="A51C30"/>
                    </a:solidFill>
                  </a:tcPr>
                </a:tc>
              </a:tr>
              <a:tr h="308216">
                <a:tc>
                  <a:txBody>
                    <a:bodyPr wrap="square"/>
                    <a:lstStyle/>
                    <a:p>
                      <a:pPr algn="l"/>
                      <a:r>
                        <a:rPr sz="950" b="1">
                          <a:solidFill>
                            <a:srgbClr val="1C1C1E"/>
                          </a:solidFill>
                          <a:latin typeface="Calibri"/>
                        </a:rPr>
                        <a:t>2026-08-27</a:t>
                      </a:r>
                    </a:p>
                  </a:txBody>
                  <a:tcPr marL="82296" marR="64008" marT="32004" marB="32004" anchor="ctr">
                    <a:solidFill>
                      <a:srgbClr val="FFFFFF"/>
                    </a:solidFill>
                  </a:tcPr>
                </a:tc>
                <a:tc>
                  <a:txBody>
                    <a:bodyPr wrap="square"/>
                    <a:lstStyle/>
                    <a:p>
                      <a:pPr algn="l"/>
                      <a:r>
                        <a:rPr sz="950" b="0">
                          <a:solidFill>
                            <a:srgbClr val="1C1C1E"/>
                          </a:solidFill>
                          <a:latin typeface="Calibri"/>
                        </a:rPr>
                        <a:t>2026-08-27</a:t>
                      </a:r>
                    </a:p>
                  </a:txBody>
                  <a:tcPr marL="82296" marR="64008" marT="32004" marB="32004" anchor="ctr">
                    <a:solidFill>
                      <a:srgbClr val="FFFFFF"/>
                    </a:solidFill>
                  </a:tcPr>
                </a:tc>
                <a:tc>
                  <a:txBody>
                    <a:bodyPr wrap="square"/>
                    <a:lstStyle/>
                    <a:p>
                      <a:pPr algn="l"/>
                      <a:r>
                        <a:rPr sz="950" b="0">
                          <a:solidFill>
                            <a:srgbClr val="1C1C1E"/>
                          </a:solidFill>
                          <a:latin typeface="Calibri"/>
                        </a:rPr>
                        <a:t>97.05</a:t>
                      </a:r>
                    </a:p>
                  </a:txBody>
                  <a:tcPr marL="82296" marR="64008" marT="32004" marB="32004" anchor="ctr">
                    <a:solidFill>
                      <a:srgbClr val="FFFFFF"/>
                    </a:solidFill>
                  </a:tcPr>
                </a:tc>
              </a:tr>
              <a:tr h="308216">
                <a:tc>
                  <a:txBody>
                    <a:bodyPr wrap="square"/>
                    <a:lstStyle/>
                    <a:p>
                      <a:pPr algn="l"/>
                      <a:r>
                        <a:rPr sz="950" b="1">
                          <a:solidFill>
                            <a:srgbClr val="1C1C1E"/>
                          </a:solidFill>
                          <a:latin typeface="Calibri"/>
                        </a:rPr>
                        <a:t>2026-08-28</a:t>
                      </a:r>
                    </a:p>
                  </a:txBody>
                  <a:tcPr marL="82296" marR="64008" marT="32004" marB="32004" anchor="ctr">
                    <a:solidFill>
                      <a:srgbClr val="F6F3EF"/>
                    </a:solidFill>
                  </a:tcPr>
                </a:tc>
                <a:tc>
                  <a:txBody>
                    <a:bodyPr wrap="square"/>
                    <a:lstStyle/>
                    <a:p>
                      <a:pPr algn="l"/>
                      <a:r>
                        <a:rPr sz="950" b="0">
                          <a:solidFill>
                            <a:srgbClr val="1C1C1E"/>
                          </a:solidFill>
                          <a:latin typeface="Calibri"/>
                        </a:rPr>
                        <a:t>2026-08-28</a:t>
                      </a:r>
                    </a:p>
                  </a:txBody>
                  <a:tcPr marL="82296" marR="64008" marT="32004" marB="32004" anchor="ctr">
                    <a:solidFill>
                      <a:srgbClr val="F6F3EF"/>
                    </a:solidFill>
                  </a:tcPr>
                </a:tc>
                <a:tc>
                  <a:txBody>
                    <a:bodyPr wrap="square"/>
                    <a:lstStyle/>
                    <a:p>
                      <a:pPr algn="l"/>
                      <a:r>
                        <a:rPr sz="950" b="0">
                          <a:solidFill>
                            <a:srgbClr val="1C1C1E"/>
                          </a:solidFill>
                          <a:latin typeface="Calibri"/>
                        </a:rPr>
                        <a:t>98.11</a:t>
                      </a:r>
                    </a:p>
                  </a:txBody>
                  <a:tcPr marL="82296" marR="64008" marT="32004" marB="32004" anchor="ctr">
                    <a:solidFill>
                      <a:srgbClr val="F6F3EF"/>
                    </a:solidFill>
                  </a:tcPr>
                </a:tc>
              </a:tr>
              <a:tr h="308216">
                <a:tc>
                  <a:txBody>
                    <a:bodyPr wrap="square"/>
                    <a:lstStyle/>
                    <a:p>
                      <a:pPr algn="l"/>
                      <a:r>
                        <a:rPr sz="950" b="1">
                          <a:solidFill>
                            <a:srgbClr val="1C1C1E"/>
                          </a:solidFill>
                          <a:latin typeface="Calibri"/>
                        </a:rPr>
                        <a:t>2026-08-31</a:t>
                      </a:r>
                    </a:p>
                  </a:txBody>
                  <a:tcPr marL="82296" marR="64008" marT="32004" marB="32004" anchor="ctr">
                    <a:solidFill>
                      <a:srgbClr val="FFFFFF"/>
                    </a:solidFill>
                  </a:tcPr>
                </a:tc>
                <a:tc>
                  <a:txBody>
                    <a:bodyPr wrap="square"/>
                    <a:lstStyle/>
                    <a:p>
                      <a:pPr algn="l"/>
                      <a:r>
                        <a:rPr sz="950" b="0">
                          <a:solidFill>
                            <a:srgbClr val="1C1C1E"/>
                          </a:solidFill>
                          <a:latin typeface="Calibri"/>
                        </a:rPr>
                        <a:t>2026-08-31</a:t>
                      </a:r>
                    </a:p>
                  </a:txBody>
                  <a:tcPr marL="82296" marR="64008" marT="32004" marB="32004" anchor="ctr">
                    <a:solidFill>
                      <a:srgbClr val="FFFFFF"/>
                    </a:solidFill>
                  </a:tcPr>
                </a:tc>
                <a:tc>
                  <a:txBody>
                    <a:bodyPr wrap="square"/>
                    <a:lstStyle/>
                    <a:p>
                      <a:pPr algn="l"/>
                      <a:r>
                        <a:rPr sz="950" b="0">
                          <a:solidFill>
                            <a:srgbClr val="1C1C1E"/>
                          </a:solidFill>
                          <a:latin typeface="Calibri"/>
                        </a:rPr>
                        <a:t>98.74</a:t>
                      </a:r>
                    </a:p>
                  </a:txBody>
                  <a:tcPr marL="82296" marR="64008" marT="32004" marB="32004" anchor="ctr">
                    <a:solidFill>
                      <a:srgbClr val="FFFFFF"/>
                    </a:solidFill>
                  </a:tcPr>
                </a:tc>
              </a:tr>
              <a:tr h="308216">
                <a:tc>
                  <a:txBody>
                    <a:bodyPr wrap="square"/>
                    <a:lstStyle/>
                    <a:p>
                      <a:pPr algn="l"/>
                      <a:r>
                        <a:rPr sz="950" b="1">
                          <a:solidFill>
                            <a:srgbClr val="1C1C1E"/>
                          </a:solidFill>
                          <a:latin typeface="Calibri"/>
                        </a:rPr>
                        <a:t>2026-09-01</a:t>
                      </a:r>
                    </a:p>
                  </a:txBody>
                  <a:tcPr marL="82296" marR="64008" marT="32004" marB="32004" anchor="ctr">
                    <a:solidFill>
                      <a:srgbClr val="F6F3EF"/>
                    </a:solidFill>
                  </a:tcPr>
                </a:tc>
                <a:tc>
                  <a:txBody>
                    <a:bodyPr wrap="square"/>
                    <a:lstStyle/>
                    <a:p>
                      <a:pPr algn="l"/>
                      <a:r>
                        <a:rPr sz="950" b="0">
                          <a:solidFill>
                            <a:srgbClr val="1C1C1E"/>
                          </a:solidFill>
                          <a:latin typeface="Calibri"/>
                        </a:rPr>
                        <a:t>2026-09-01</a:t>
                      </a:r>
                    </a:p>
                  </a:txBody>
                  <a:tcPr marL="82296" marR="64008" marT="32004" marB="32004" anchor="ctr">
                    <a:solidFill>
                      <a:srgbClr val="F6F3EF"/>
                    </a:solidFill>
                  </a:tcPr>
                </a:tc>
                <a:tc>
                  <a:txBody>
                    <a:bodyPr wrap="square"/>
                    <a:lstStyle/>
                    <a:p>
                      <a:pPr algn="l"/>
                      <a:r>
                        <a:rPr sz="950" b="0">
                          <a:solidFill>
                            <a:srgbClr val="1C1C1E"/>
                          </a:solidFill>
                          <a:latin typeface="Calibri"/>
                        </a:rPr>
                        <a:t>99.43</a:t>
                      </a:r>
                    </a:p>
                  </a:txBody>
                  <a:tcPr marL="82296" marR="64008" marT="32004" marB="32004" anchor="ctr">
                    <a:solidFill>
                      <a:srgbClr val="F6F3EF"/>
                    </a:solidFill>
                  </a:tcPr>
                </a:tc>
              </a:tr>
            </a:tbl>
          </a:graphicData>
        </a:graphic>
      </p:graphicFrame>
      <p:sp>
        <p:nvSpPr>
          <p:cNvPr id="11" name="TextBox 10"/>
          <p:cNvSpPr txBox="1"/>
          <p:nvPr/>
        </p:nvSpPr>
        <p:spPr>
          <a:xfrm>
            <a:off x="777240" y="3061665"/>
            <a:ext cx="4680374" cy="457200"/>
          </a:xfrm>
          <a:prstGeom prst="rect">
            <a:avLst/>
          </a:prstGeom>
          <a:noFill/>
        </p:spPr>
        <p:txBody>
          <a:bodyPr wrap="square" lIns="0" rIns="0" tIns="0" bIns="0" anchor="t">
            <a:spAutoFit/>
          </a:bodyPr>
          <a:lstStyle/>
          <a:p>
            <a:pPr algn="l">
              <a:spcBef>
                <a:spcPts val="0"/>
              </a:spcBef>
              <a:spcAft>
                <a:spcPts val="0"/>
              </a:spcAft>
            </a:pPr>
            <a:r>
              <a:rPr sz="950" b="1" i="0">
                <a:solidFill>
                  <a:srgbClr val="A51C30"/>
                </a:solidFill>
                <a:latin typeface="Calibri"/>
              </a:rPr>
              <a:t>us_equity_close</a:t>
            </a:r>
            <a:r>
              <a:rPr sz="950" b="0" i="0">
                <a:solidFill>
                  <a:srgbClr val="4A4F57"/>
                </a:solidFill>
                <a:latin typeface="Calibri"/>
              </a:rPr>
              <a:t>   daily, scalar, published the same day</a:t>
            </a:r>
          </a:p>
        </p:txBody>
      </p:sp>
      <p:graphicFrame>
        <p:nvGraphicFramePr>
          <p:cNvPr id="12" name="Table 11"/>
          <p:cNvGraphicFramePr>
            <a:graphicFrameLocks noGrp="1"/>
          </p:cNvGraphicFramePr>
          <p:nvPr/>
        </p:nvGraphicFramePr>
        <p:xfrm>
          <a:off x="777240" y="3482289"/>
          <a:ext cx="4680374" cy="1253832"/>
        </p:xfrm>
        <a:graphic>
          <a:graphicData uri="http://schemas.openxmlformats.org/drawingml/2006/table">
            <a:tbl>
              <a:tblPr firstRow="1">
                <a:tableStyleId>{5C22544A-7EE6-4342-B048-85BDC9FD1C3A}</a:tableStyleId>
              </a:tblPr>
              <a:tblGrid>
                <a:gridCol w="1743669"/>
                <a:gridCol w="1743669"/>
                <a:gridCol w="1193036"/>
              </a:tblGrid>
              <a:tr h="329184">
                <a:tc>
                  <a:txBody>
                    <a:bodyPr wrap="square"/>
                    <a:lstStyle/>
                    <a:p>
                      <a:pPr algn="l"/>
                      <a:r>
                        <a:rPr sz="950" b="1">
                          <a:solidFill>
                            <a:srgbClr val="FFFFFF"/>
                          </a:solidFill>
                          <a:latin typeface="Calibri"/>
                        </a:rPr>
                        <a:t>event_ts</a:t>
                      </a:r>
                    </a:p>
                  </a:txBody>
                  <a:tcPr marL="82296" marR="64008" marT="32004" marB="32004" anchor="ctr">
                    <a:solidFill>
                      <a:srgbClr val="A51C30"/>
                    </a:solidFill>
                  </a:tcPr>
                </a:tc>
                <a:tc>
                  <a:txBody>
                    <a:bodyPr wrap="square"/>
                    <a:lstStyle/>
                    <a:p>
                      <a:pPr algn="l"/>
                      <a:r>
                        <a:rPr sz="950" b="1">
                          <a:solidFill>
                            <a:srgbClr val="FFFFFF"/>
                          </a:solidFill>
                          <a:latin typeface="Calibri"/>
                        </a:rPr>
                        <a:t>ingest_ts</a:t>
                      </a:r>
                    </a:p>
                  </a:txBody>
                  <a:tcPr marL="82296" marR="64008" marT="32004" marB="32004" anchor="ctr">
                    <a:solidFill>
                      <a:srgbClr val="A51C30"/>
                    </a:solidFill>
                  </a:tcPr>
                </a:tc>
                <a:tc>
                  <a:txBody>
                    <a:bodyPr wrap="square"/>
                    <a:lstStyle/>
                    <a:p>
                      <a:pPr algn="l"/>
                      <a:r>
                        <a:rPr sz="950" b="1">
                          <a:solidFill>
                            <a:srgbClr val="FFFFFF"/>
                          </a:solidFill>
                          <a:latin typeface="Calibri"/>
                        </a:rPr>
                        <a:t>u3_rate</a:t>
                      </a:r>
                    </a:p>
                  </a:txBody>
                  <a:tcPr marL="82296" marR="64008" marT="32004" marB="32004" anchor="ctr">
                    <a:solidFill>
                      <a:srgbClr val="A51C30"/>
                    </a:solidFill>
                  </a:tcPr>
                </a:tc>
              </a:tr>
              <a:tr h="308216">
                <a:tc>
                  <a:txBody>
                    <a:bodyPr wrap="square"/>
                    <a:lstStyle/>
                    <a:p>
                      <a:pPr algn="l"/>
                      <a:r>
                        <a:rPr sz="950" b="1">
                          <a:solidFill>
                            <a:srgbClr val="1C1C1E"/>
                          </a:solidFill>
                          <a:latin typeface="Calibri"/>
                        </a:rPr>
                        <a:t>2026-06-30</a:t>
                      </a:r>
                    </a:p>
                  </a:txBody>
                  <a:tcPr marL="82296" marR="64008" marT="32004" marB="32004" anchor="ctr">
                    <a:solidFill>
                      <a:srgbClr val="FFFFFF"/>
                    </a:solidFill>
                  </a:tcPr>
                </a:tc>
                <a:tc>
                  <a:txBody>
                    <a:bodyPr wrap="square"/>
                    <a:lstStyle/>
                    <a:p>
                      <a:pPr algn="l"/>
                      <a:r>
                        <a:rPr sz="950" b="0">
                          <a:solidFill>
                            <a:srgbClr val="1C1C1E"/>
                          </a:solidFill>
                          <a:latin typeface="Calibri"/>
                        </a:rPr>
                        <a:t>2026-07-02</a:t>
                      </a:r>
                    </a:p>
                  </a:txBody>
                  <a:tcPr marL="82296" marR="64008" marT="32004" marB="32004" anchor="ctr">
                    <a:solidFill>
                      <a:srgbClr val="FFFFFF"/>
                    </a:solidFill>
                  </a:tcPr>
                </a:tc>
                <a:tc>
                  <a:txBody>
                    <a:bodyPr wrap="square"/>
                    <a:lstStyle/>
                    <a:p>
                      <a:pPr algn="l"/>
                      <a:r>
                        <a:rPr sz="950" b="0">
                          <a:solidFill>
                            <a:srgbClr val="1C1C1E"/>
                          </a:solidFill>
                          <a:latin typeface="Calibri"/>
                        </a:rPr>
                        <a:t>4.1</a:t>
                      </a:r>
                    </a:p>
                  </a:txBody>
                  <a:tcPr marL="82296" marR="64008" marT="32004" marB="32004" anchor="ctr">
                    <a:solidFill>
                      <a:srgbClr val="FFFFFF"/>
                    </a:solidFill>
                  </a:tcPr>
                </a:tc>
              </a:tr>
              <a:tr h="308216">
                <a:tc>
                  <a:txBody>
                    <a:bodyPr wrap="square"/>
                    <a:lstStyle/>
                    <a:p>
                      <a:pPr algn="l"/>
                      <a:r>
                        <a:rPr sz="950" b="1">
                          <a:solidFill>
                            <a:srgbClr val="1C1C1E"/>
                          </a:solidFill>
                          <a:latin typeface="Calibri"/>
                        </a:rPr>
                        <a:t>2026-07-31</a:t>
                      </a:r>
                    </a:p>
                  </a:txBody>
                  <a:tcPr marL="82296" marR="64008" marT="32004" marB="32004" anchor="ctr">
                    <a:solidFill>
                      <a:srgbClr val="F6F3EF"/>
                    </a:solidFill>
                  </a:tcPr>
                </a:tc>
                <a:tc>
                  <a:txBody>
                    <a:bodyPr wrap="square"/>
                    <a:lstStyle/>
                    <a:p>
                      <a:pPr algn="l"/>
                      <a:r>
                        <a:rPr sz="950" b="0">
                          <a:solidFill>
                            <a:srgbClr val="1C1C1E"/>
                          </a:solidFill>
                          <a:latin typeface="Calibri"/>
                        </a:rPr>
                        <a:t>2026-08-07</a:t>
                      </a:r>
                    </a:p>
                  </a:txBody>
                  <a:tcPr marL="82296" marR="64008" marT="32004" marB="32004" anchor="ctr">
                    <a:solidFill>
                      <a:srgbClr val="F6F3EF"/>
                    </a:solidFill>
                  </a:tcPr>
                </a:tc>
                <a:tc>
                  <a:txBody>
                    <a:bodyPr wrap="square"/>
                    <a:lstStyle/>
                    <a:p>
                      <a:pPr algn="l"/>
                      <a:r>
                        <a:rPr sz="950" b="0">
                          <a:solidFill>
                            <a:srgbClr val="1C1C1E"/>
                          </a:solidFill>
                          <a:latin typeface="Calibri"/>
                        </a:rPr>
                        <a:t>4.1</a:t>
                      </a:r>
                    </a:p>
                  </a:txBody>
                  <a:tcPr marL="82296" marR="64008" marT="32004" marB="32004" anchor="ctr">
                    <a:solidFill>
                      <a:srgbClr val="F6F3EF"/>
                    </a:solidFill>
                  </a:tcPr>
                </a:tc>
              </a:tr>
              <a:tr h="308216">
                <a:tc>
                  <a:txBody>
                    <a:bodyPr wrap="square"/>
                    <a:lstStyle/>
                    <a:p>
                      <a:pPr algn="l"/>
                      <a:r>
                        <a:rPr sz="950" b="1">
                          <a:solidFill>
                            <a:srgbClr val="1C1C1E"/>
                          </a:solidFill>
                          <a:latin typeface="Calibri"/>
                        </a:rPr>
                        <a:t>2026-08-31</a:t>
                      </a:r>
                    </a:p>
                  </a:txBody>
                  <a:tcPr marL="82296" marR="64008" marT="32004" marB="32004" anchor="ctr">
                    <a:solidFill>
                      <a:srgbClr val="FFFFFF"/>
                    </a:solidFill>
                  </a:tcPr>
                </a:tc>
                <a:tc>
                  <a:txBody>
                    <a:bodyPr wrap="square"/>
                    <a:lstStyle/>
                    <a:p>
                      <a:pPr algn="l"/>
                      <a:r>
                        <a:rPr sz="950" b="0">
                          <a:solidFill>
                            <a:srgbClr val="1C1C1E"/>
                          </a:solidFill>
                          <a:latin typeface="Calibri"/>
                        </a:rPr>
                        <a:t>2026-09-04</a:t>
                      </a:r>
                    </a:p>
                  </a:txBody>
                  <a:tcPr marL="82296" marR="64008" marT="32004" marB="32004" anchor="ctr">
                    <a:solidFill>
                      <a:srgbClr val="FFFFFF"/>
                    </a:solidFill>
                  </a:tcPr>
                </a:tc>
                <a:tc>
                  <a:txBody>
                    <a:bodyPr wrap="square"/>
                    <a:lstStyle/>
                    <a:p>
                      <a:pPr algn="l"/>
                      <a:r>
                        <a:rPr sz="950" b="0">
                          <a:solidFill>
                            <a:srgbClr val="1C1C1E"/>
                          </a:solidFill>
                          <a:latin typeface="Calibri"/>
                        </a:rPr>
                        <a:t>4.0</a:t>
                      </a:r>
                    </a:p>
                  </a:txBody>
                  <a:tcPr marL="82296" marR="64008" marT="32004" marB="32004" anchor="ctr">
                    <a:solidFill>
                      <a:srgbClr val="FFFFFF"/>
                    </a:solidFill>
                  </a:tcPr>
                </a:tc>
              </a:tr>
            </a:tbl>
          </a:graphicData>
        </a:graphic>
      </p:graphicFrame>
      <p:sp>
        <p:nvSpPr>
          <p:cNvPr id="13" name="TextBox 12"/>
          <p:cNvSpPr txBox="1"/>
          <p:nvPr/>
        </p:nvSpPr>
        <p:spPr>
          <a:xfrm>
            <a:off x="777240" y="4882426"/>
            <a:ext cx="4680374" cy="457200"/>
          </a:xfrm>
          <a:prstGeom prst="rect">
            <a:avLst/>
          </a:prstGeom>
          <a:noFill/>
        </p:spPr>
        <p:txBody>
          <a:bodyPr wrap="square" lIns="0" rIns="0" tIns="0" bIns="0" anchor="t">
            <a:spAutoFit/>
          </a:bodyPr>
          <a:lstStyle/>
          <a:p>
            <a:pPr algn="l">
              <a:spcBef>
                <a:spcPts val="0"/>
              </a:spcBef>
              <a:spcAft>
                <a:spcPts val="0"/>
              </a:spcAft>
            </a:pPr>
            <a:r>
              <a:rPr sz="950" b="1" i="0">
                <a:solidFill>
                  <a:srgbClr val="A51C30"/>
                </a:solidFill>
                <a:latin typeface="Calibri"/>
              </a:rPr>
              <a:t>us_unemployment</a:t>
            </a:r>
            <a:r>
              <a:rPr sz="950" b="0" i="0">
                <a:solidFill>
                  <a:srgbClr val="4A4F57"/>
                </a:solidFill>
                <a:latin typeface="Calibri"/>
              </a:rPr>
              <a:t>   monthly, scalar, published days later</a:t>
            </a:r>
          </a:p>
        </p:txBody>
      </p:sp>
      <p:sp>
        <p:nvSpPr>
          <p:cNvPr id="14" name="TextBox 13"/>
          <p:cNvSpPr txBox="1"/>
          <p:nvPr/>
        </p:nvSpPr>
        <p:spPr>
          <a:xfrm>
            <a:off x="5883103" y="1353312"/>
            <a:ext cx="5531351" cy="310896"/>
          </a:xfrm>
          <a:prstGeom prst="rect">
            <a:avLst/>
          </a:prstGeom>
          <a:noFill/>
        </p:spPr>
        <p:txBody>
          <a:bodyPr wrap="square" lIns="0" rIns="0" tIns="0" bIns="0" anchor="t">
            <a:spAutoFit/>
          </a:bodyPr>
          <a:lstStyle/>
          <a:p>
            <a:pPr algn="l">
              <a:spcBef>
                <a:spcPts val="0"/>
              </a:spcBef>
              <a:spcAft>
                <a:spcPts val="800"/>
              </a:spcAft>
            </a:pPr>
            <a:r>
              <a:rPr sz="1300" b="1" i="0">
                <a:solidFill>
                  <a:srgbClr val="A51C30"/>
                </a:solidFill>
                <a:latin typeface="Georgia"/>
              </a:rPr>
              <a:t>Look at the second table’s two columns</a:t>
            </a:r>
          </a:p>
          <a:p>
            <a:pPr>
              <a:lnSpc>
                <a:spcPct val="125000"/>
              </a:lnSpc>
              <a:spcBef>
                <a:spcPts val="0"/>
              </a:spcBef>
              <a:spcAft>
                <a:spcPts val="1000"/>
              </a:spcAft>
            </a:pPr>
            <a:r>
              <a:rPr sz="1100" b="0" i="0">
                <a:solidFill>
                  <a:srgbClr val="1C1C1E"/>
                </a:solidFill>
                <a:latin typeface="Calibri"/>
              </a:rPr>
              <a:t>August’s unemployment rate was TRUE on the 31st of August and was not KNOWN until the 4th of September. The two clocks differ by four days, and they differ because that is what happened.</a:t>
            </a:r>
          </a:p>
          <a:p>
            <a:pPr>
              <a:lnSpc>
                <a:spcPct val="125000"/>
              </a:lnSpc>
              <a:spcBef>
                <a:spcPts val="0"/>
              </a:spcBef>
              <a:spcAft>
                <a:spcPts val="1000"/>
              </a:spcAft>
            </a:pPr>
            <a:r>
              <a:rPr sz="1100" b="0" i="0">
                <a:solidFill>
                  <a:srgbClr val="4A4F57"/>
                </a:solidFill>
                <a:latin typeface="Calibri"/>
              </a:rPr>
              <a:t>A model trained on the 1st of September using August’s figure would be using a number that did not exist yet. It would back-test beautifully and disappoint in production, and no metric would say why.</a:t>
            </a:r>
          </a:p>
          <a:p>
            <a:pPr>
              <a:lnSpc>
                <a:spcPct val="125000"/>
              </a:lnSpc>
              <a:spcBef>
                <a:spcPts val="0"/>
              </a:spcBef>
              <a:spcAft>
                <a:spcPts val="0"/>
              </a:spcAft>
            </a:pPr>
            <a:r>
              <a:rPr sz="1100" b="1" i="0">
                <a:solidFill>
                  <a:srgbClr val="A51C30"/>
                </a:solidFill>
                <a:latin typeface="Calibri"/>
              </a:rPr>
              <a:t>This is not a hypothetical about leakage. </a:t>
            </a:r>
            <a:r>
              <a:rPr sz="1100" b="0" i="0">
                <a:solidFill>
                  <a:srgbClr val="4A4F57"/>
                </a:solidFill>
                <a:latin typeface="Calibri"/>
              </a:rPr>
              <a:t>It is the ordinary shape of every macroeconomic series a bank uses, and it is why every row here carries both stamps rather than one.</a:t>
            </a:r>
          </a:p>
        </p:txBody>
      </p:sp>
      <p:sp>
        <p:nvSpPr>
          <p:cNvPr id="15" name="Rectangle 14"/>
          <p:cNvSpPr/>
          <p:nvPr/>
        </p:nvSpPr>
        <p:spPr>
          <a:xfrm>
            <a:off x="5883103" y="4114800"/>
            <a:ext cx="5531351" cy="896112"/>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5883103" y="4114800"/>
            <a:ext cx="41148" cy="89611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6120847" y="4233672"/>
            <a:ext cx="5074151" cy="676656"/>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Both are scalars — shape []. </a:t>
            </a:r>
            <a:r>
              <a:rPr sz="1050" b="0" i="0">
                <a:solidFill>
                  <a:srgbClr val="1C1C1E"/>
                </a:solidFill>
                <a:latin typeface="Calibri"/>
              </a:rPr>
              <a:t>The curve on an earlier slide was a vector; these are not. The shape is declared either way, </a:t>
            </a:r>
            <a:r>
              <a:rPr sz="1050" b="1" i="0">
                <a:solidFill>
                  <a:srgbClr val="1C1C1E"/>
                </a:solidFill>
                <a:latin typeface="Calibri"/>
              </a:rPr>
              <a:t>because a shape nobody states is a shape somebody assumes.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A WORKED EXAMPLE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One featureset, aligned onto a daily axis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6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28</a:t>
            </a:r>
          </a:p>
        </p:txBody>
      </p:sp>
      <p:sp>
        <p:nvSpPr>
          <p:cNvPr id="10" name="Rectangle 9"/>
          <p:cNvSpPr/>
          <p:nvPr/>
        </p:nvSpPr>
        <p:spPr>
          <a:xfrm>
            <a:off x="777240" y="1353312"/>
            <a:ext cx="5318607" cy="201117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01117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4952847" cy="1828297"/>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featureset: macro_core</a:t>
            </a:r>
          </a:p>
          <a:p>
            <a:pPr>
              <a:lnSpc>
                <a:spcPct val="134000"/>
              </a:lnSpc>
              <a:spcBef>
                <a:spcPts val="0"/>
              </a:spcBef>
              <a:spcAft>
                <a:spcPts val="0"/>
              </a:spcAft>
            </a:pPr>
            <a:r>
              <a:rPr sz="900" b="0" i="0">
                <a:solidFill>
                  <a:srgbClr val="1C1C1E"/>
                </a:solidFill>
                <a:latin typeface="Consolas"/>
              </a:rPr>
              <a:t>entity:     us_equity_index      grain: one row per day</a:t>
            </a:r>
          </a:p>
          <a:p>
            <a:pPr>
              <a:lnSpc>
                <a:spcPct val="134000"/>
              </a:lnSpc>
              <a:spcBef>
                <a:spcPts val="0"/>
              </a:spcBef>
              <a:spcAft>
                <a:spcPts val="0"/>
              </a:spcAft>
            </a:pPr>
            <a:r>
              <a:rPr sz="900" b="0" i="0">
                <a:solidFill>
                  <a:srgbClr val="1C1C1E"/>
                </a:solidFill>
                <a:latin typeface="Consolas"/>
              </a:rPr>
              <a:t>slots:      px_close        numeric   []</a:t>
            </a:r>
          </a:p>
          <a:p>
            <a:pPr>
              <a:lnSpc>
                <a:spcPct val="134000"/>
              </a:lnSpc>
              <a:spcBef>
                <a:spcPts val="0"/>
              </a:spcBef>
              <a:spcAft>
                <a:spcPts val="0"/>
              </a:spcAft>
            </a:pPr>
            <a:r>
              <a:rPr sz="900" b="0" i="0">
                <a:solidFill>
                  <a:srgbClr val="1C1C1E"/>
                </a:solidFill>
                <a:latin typeface="Consolas"/>
              </a:rPr>
              <a:t>            u3_rate         numeric   []</a:t>
            </a:r>
          </a:p>
          <a:p>
            <a:pPr>
              <a:lnSpc>
                <a:spcPct val="134000"/>
              </a:lnSpc>
              <a:spcBef>
                <a:spcPts val="0"/>
              </a:spcBef>
              <a:spcAft>
                <a:spcPts val="0"/>
              </a:spcAft>
            </a:pPr>
            <a:r>
              <a:rPr sz="900" b="0" i="0">
                <a:solidFill>
                  <a:srgbClr val="1C1C1E"/>
                </a:solidFill>
                <a:latin typeface="Consolas"/>
              </a:rPr>
              <a:t>            prev_return     numeric   []   (derived)</a:t>
            </a:r>
          </a:p>
          <a:p>
            <a:pPr>
              <a:lnSpc>
                <a:spcPct val="134000"/>
              </a:lnSpc>
              <a:spcBef>
                <a:spcPts val="0"/>
              </a:spcBef>
              <a:spcAft>
                <a:spcPts val="0"/>
              </a:spcAft>
            </a:pPr>
            <a:r>
              <a:rPr sz="900" b="0" i="0">
                <a:solidFill>
                  <a:srgbClr val="1C1C1E"/>
                </a:solidFill>
                <a:latin typeface="Consolas"/>
              </a:rPr>
              <a:t>label:      next_return</a:t>
            </a:r>
          </a:p>
          <a:p>
            <a:pPr>
              <a:lnSpc>
                <a:spcPct val="134000"/>
              </a:lnSpc>
              <a:spcBef>
                <a:spcPts val="0"/>
              </a:spcBef>
              <a:spcAft>
                <a:spcPts val="0"/>
              </a:spcAft>
            </a:pPr>
            <a:r>
              <a:rPr sz="900" b="0" i="0">
                <a:solidFill>
                  <a:srgbClr val="1C1C1E"/>
                </a:solidFill>
                <a:latin typeface="Consolas"/>
              </a:rPr>
              <a:t>defaults:</a:t>
            </a:r>
          </a:p>
          <a:p>
            <a:pPr>
              <a:lnSpc>
                <a:spcPct val="134000"/>
              </a:lnSpc>
              <a:spcBef>
                <a:spcPts val="0"/>
              </a:spcBef>
              <a:spcAft>
                <a:spcPts val="0"/>
              </a:spcAft>
            </a:pPr>
            <a:r>
              <a:rPr sz="900" b="0" i="0">
                <a:solidFill>
                  <a:srgbClr val="1C1C1E"/>
                </a:solidFill>
                <a:latin typeface="Consolas"/>
              </a:rPr>
              <a:t>  align:     {axis: event_ts, rule: flat_forward}</a:t>
            </a:r>
          </a:p>
          <a:p>
            <a:pPr>
              <a:lnSpc>
                <a:spcPct val="134000"/>
              </a:lnSpc>
              <a:spcBef>
                <a:spcPts val="0"/>
              </a:spcBef>
              <a:spcAft>
                <a:spcPts val="0"/>
              </a:spcAft>
            </a:pPr>
            <a:r>
              <a:rPr sz="900" b="0" i="0">
                <a:solidFill>
                  <a:srgbClr val="1C1C1E"/>
                </a:solidFill>
                <a:latin typeface="Consolas"/>
              </a:rPr>
              <a:t>  normalise: {u3_rate: zscore}</a:t>
            </a:r>
          </a:p>
        </p:txBody>
      </p:sp>
      <p:sp>
        <p:nvSpPr>
          <p:cNvPr id="13" name="TextBox 12"/>
          <p:cNvSpPr txBox="1"/>
          <p:nvPr/>
        </p:nvSpPr>
        <p:spPr>
          <a:xfrm>
            <a:off x="777240" y="3565657"/>
            <a:ext cx="5318607" cy="91440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flat_forward, and only flat_forward. </a:t>
            </a:r>
            <a:r>
              <a:rPr sz="1000" b="0" i="0">
                <a:solidFill>
                  <a:srgbClr val="4A4F57"/>
                </a:solidFill>
                <a:latin typeface="Calibri"/>
              </a:rPr>
              <a:t>Unemployment is monthly and the grid is daily, so the gaps are filled by carrying the last published figure. Interpolating between June and July would use July’s number on the 2nd of July, which nobody had.</a:t>
            </a:r>
          </a:p>
        </p:txBody>
      </p:sp>
      <p:graphicFrame>
        <p:nvGraphicFramePr>
          <p:cNvPr id="14" name="Table 13"/>
          <p:cNvGraphicFramePr>
            <a:graphicFrameLocks noGrp="1"/>
          </p:cNvGraphicFramePr>
          <p:nvPr/>
        </p:nvGraphicFramePr>
        <p:xfrm>
          <a:off x="6521336" y="1353312"/>
          <a:ext cx="4893116" cy="1929913"/>
        </p:xfrm>
        <a:graphic>
          <a:graphicData uri="http://schemas.openxmlformats.org/drawingml/2006/table">
            <a:tbl>
              <a:tblPr firstRow="1">
                <a:tableStyleId>{5C22544A-7EE6-4342-B048-85BDC9FD1C3A}</a:tableStyleId>
              </a:tblPr>
              <a:tblGrid>
                <a:gridCol w="1143252"/>
                <a:gridCol w="960331"/>
                <a:gridCol w="823141"/>
                <a:gridCol w="1051791"/>
                <a:gridCol w="914601"/>
              </a:tblGrid>
              <a:tr h="329184">
                <a:tc>
                  <a:txBody>
                    <a:bodyPr wrap="square"/>
                    <a:lstStyle/>
                    <a:p>
                      <a:pPr algn="l"/>
                      <a:r>
                        <a:rPr sz="850" b="1">
                          <a:solidFill>
                            <a:srgbClr val="FFFFFF"/>
                          </a:solidFill>
                          <a:latin typeface="Calibri"/>
                        </a:rPr>
                        <a:t>date</a:t>
                      </a:r>
                    </a:p>
                  </a:txBody>
                  <a:tcPr marL="82296" marR="64008" marT="32004" marB="32004" anchor="ctr">
                    <a:solidFill>
                      <a:srgbClr val="A51C30"/>
                    </a:solidFill>
                  </a:tcPr>
                </a:tc>
                <a:tc>
                  <a:txBody>
                    <a:bodyPr wrap="square"/>
                    <a:lstStyle/>
                    <a:p>
                      <a:pPr algn="l"/>
                      <a:r>
                        <a:rPr sz="850" b="1">
                          <a:solidFill>
                            <a:srgbClr val="FFFFFF"/>
                          </a:solidFill>
                          <a:latin typeface="Calibri"/>
                        </a:rPr>
                        <a:t>px_close</a:t>
                      </a:r>
                    </a:p>
                  </a:txBody>
                  <a:tcPr marL="82296" marR="64008" marT="32004" marB="32004" anchor="ctr">
                    <a:solidFill>
                      <a:srgbClr val="A51C30"/>
                    </a:solidFill>
                  </a:tcPr>
                </a:tc>
                <a:tc>
                  <a:txBody>
                    <a:bodyPr wrap="square"/>
                    <a:lstStyle/>
                    <a:p>
                      <a:pPr algn="l"/>
                      <a:r>
                        <a:rPr sz="850" b="1">
                          <a:solidFill>
                            <a:srgbClr val="FFFFFF"/>
                          </a:solidFill>
                          <a:latin typeface="Calibri"/>
                        </a:rPr>
                        <a:t>u3_rate</a:t>
                      </a:r>
                    </a:p>
                  </a:txBody>
                  <a:tcPr marL="82296" marR="64008" marT="32004" marB="32004" anchor="ctr">
                    <a:solidFill>
                      <a:srgbClr val="A51C30"/>
                    </a:solidFill>
                  </a:tcPr>
                </a:tc>
                <a:tc>
                  <a:txBody>
                    <a:bodyPr wrap="square"/>
                    <a:lstStyle/>
                    <a:p>
                      <a:pPr algn="l"/>
                      <a:r>
                        <a:rPr sz="850" b="1">
                          <a:solidFill>
                            <a:srgbClr val="FFFFFF"/>
                          </a:solidFill>
                          <a:latin typeface="Calibri"/>
                        </a:rPr>
                        <a:t>u3 ingest</a:t>
                      </a:r>
                    </a:p>
                  </a:txBody>
                  <a:tcPr marL="82296" marR="64008" marT="32004" marB="32004" anchor="ctr">
                    <a:solidFill>
                      <a:srgbClr val="A51C30"/>
                    </a:solidFill>
                  </a:tcPr>
                </a:tc>
                <a:tc>
                  <a:txBody>
                    <a:bodyPr wrap="square"/>
                    <a:lstStyle/>
                    <a:p>
                      <a:pPr algn="l"/>
                      <a:r>
                        <a:rPr sz="850" b="1">
                          <a:solidFill>
                            <a:srgbClr val="FFFFFF"/>
                          </a:solidFill>
                          <a:latin typeface="Calibri"/>
                        </a:rPr>
                        <a:t>usable at t?</a:t>
                      </a:r>
                    </a:p>
                  </a:txBody>
                  <a:tcPr marL="82296" marR="64008" marT="32004" marB="32004" anchor="ctr">
                    <a:solidFill>
                      <a:srgbClr val="A51C30"/>
                    </a:solidFill>
                  </a:tcPr>
                </a:tc>
              </a:tr>
              <a:tr h="291172">
                <a:tc>
                  <a:txBody>
                    <a:bodyPr wrap="square"/>
                    <a:lstStyle/>
                    <a:p>
                      <a:pPr algn="l"/>
                      <a:r>
                        <a:rPr sz="850" b="1">
                          <a:solidFill>
                            <a:srgbClr val="A51C30"/>
                          </a:solidFill>
                          <a:latin typeface="Calibri"/>
                        </a:rPr>
                        <a:t>2026-09-01</a:t>
                      </a:r>
                    </a:p>
                  </a:txBody>
                  <a:tcPr marL="82296" marR="64008" marT="32004" marB="32004" anchor="ctr">
                    <a:solidFill>
                      <a:srgbClr val="FFFFFF"/>
                    </a:solidFill>
                  </a:tcPr>
                </a:tc>
                <a:tc>
                  <a:txBody>
                    <a:bodyPr wrap="square"/>
                    <a:lstStyle/>
                    <a:p>
                      <a:pPr algn="l"/>
                      <a:r>
                        <a:rPr sz="850" b="0">
                          <a:solidFill>
                            <a:srgbClr val="1C1C1E"/>
                          </a:solidFill>
                          <a:latin typeface="Calibri"/>
                        </a:rPr>
                        <a:t>99.43</a:t>
                      </a:r>
                    </a:p>
                  </a:txBody>
                  <a:tcPr marL="82296" marR="64008" marT="32004" marB="32004" anchor="ctr">
                    <a:solidFill>
                      <a:srgbClr val="FFFFFF"/>
                    </a:solidFill>
                  </a:tcPr>
                </a:tc>
                <a:tc>
                  <a:txBody>
                    <a:bodyPr wrap="square"/>
                    <a:lstStyle/>
                    <a:p>
                      <a:pPr algn="l"/>
                      <a:r>
                        <a:rPr sz="850" b="0">
                          <a:solidFill>
                            <a:srgbClr val="1C1C1E"/>
                          </a:solidFill>
                          <a:latin typeface="Calibri"/>
                        </a:rPr>
                        <a:t>4.1</a:t>
                      </a:r>
                    </a:p>
                  </a:txBody>
                  <a:tcPr marL="82296" marR="64008" marT="32004" marB="32004" anchor="ctr">
                    <a:solidFill>
                      <a:srgbClr val="FFFFFF"/>
                    </a:solidFill>
                  </a:tcPr>
                </a:tc>
                <a:tc>
                  <a:txBody>
                    <a:bodyPr wrap="square"/>
                    <a:lstStyle/>
                    <a:p>
                      <a:pPr algn="l"/>
                      <a:r>
                        <a:rPr sz="850" b="0">
                          <a:solidFill>
                            <a:srgbClr val="1C1C1E"/>
                          </a:solidFill>
                          <a:latin typeface="Calibri"/>
                        </a:rPr>
                        <a:t>2026-08-07</a:t>
                      </a:r>
                    </a:p>
                  </a:txBody>
                  <a:tcPr marL="82296" marR="64008" marT="32004" marB="32004" anchor="ctr">
                    <a:solidFill>
                      <a:srgbClr val="FFFFFF"/>
                    </a:solidFill>
                  </a:tcPr>
                </a:tc>
                <a:tc>
                  <a:txBody>
                    <a:bodyPr wrap="square"/>
                    <a:lstStyle/>
                    <a:p>
                      <a:pPr algn="l"/>
                      <a:r>
                        <a:rPr sz="850" b="0">
                          <a:solidFill>
                            <a:srgbClr val="1C1C1E"/>
                          </a:solidFill>
                          <a:latin typeface="Calibri"/>
                        </a:rPr>
                        <a:t>yes — July’s</a:t>
                      </a:r>
                    </a:p>
                  </a:txBody>
                  <a:tcPr marL="82296" marR="64008" marT="32004" marB="32004" anchor="ctr">
                    <a:solidFill>
                      <a:srgbClr val="FFFFFF"/>
                    </a:solidFill>
                  </a:tcPr>
                </a:tc>
              </a:tr>
              <a:tr h="291172">
                <a:tc>
                  <a:txBody>
                    <a:bodyPr wrap="square"/>
                    <a:lstStyle/>
                    <a:p>
                      <a:pPr algn="l"/>
                      <a:r>
                        <a:rPr sz="850" b="1">
                          <a:solidFill>
                            <a:srgbClr val="A51C30"/>
                          </a:solidFill>
                          <a:latin typeface="Calibri"/>
                        </a:rPr>
                        <a:t>2026-09-02</a:t>
                      </a:r>
                    </a:p>
                  </a:txBody>
                  <a:tcPr marL="82296" marR="64008" marT="32004" marB="32004" anchor="ctr">
                    <a:solidFill>
                      <a:srgbClr val="F6F3EF"/>
                    </a:solidFill>
                  </a:tcPr>
                </a:tc>
                <a:tc>
                  <a:txBody>
                    <a:bodyPr wrap="square"/>
                    <a:lstStyle/>
                    <a:p>
                      <a:pPr algn="l"/>
                      <a:r>
                        <a:rPr sz="850" b="0">
                          <a:solidFill>
                            <a:srgbClr val="1C1C1E"/>
                          </a:solidFill>
                          <a:latin typeface="Calibri"/>
                        </a:rPr>
                        <a:t>99.10</a:t>
                      </a:r>
                    </a:p>
                  </a:txBody>
                  <a:tcPr marL="82296" marR="64008" marT="32004" marB="32004" anchor="ctr">
                    <a:solidFill>
                      <a:srgbClr val="F6F3EF"/>
                    </a:solidFill>
                  </a:tcPr>
                </a:tc>
                <a:tc>
                  <a:txBody>
                    <a:bodyPr wrap="square"/>
                    <a:lstStyle/>
                    <a:p>
                      <a:pPr algn="l"/>
                      <a:r>
                        <a:rPr sz="850" b="0">
                          <a:solidFill>
                            <a:srgbClr val="1C1C1E"/>
                          </a:solidFill>
                          <a:latin typeface="Calibri"/>
                        </a:rPr>
                        <a:t>4.1</a:t>
                      </a:r>
                    </a:p>
                  </a:txBody>
                  <a:tcPr marL="82296" marR="64008" marT="32004" marB="32004" anchor="ctr">
                    <a:solidFill>
                      <a:srgbClr val="F6F3EF"/>
                    </a:solidFill>
                  </a:tcPr>
                </a:tc>
                <a:tc>
                  <a:txBody>
                    <a:bodyPr wrap="square"/>
                    <a:lstStyle/>
                    <a:p>
                      <a:pPr algn="l"/>
                      <a:r>
                        <a:rPr sz="850" b="0">
                          <a:solidFill>
                            <a:srgbClr val="1C1C1E"/>
                          </a:solidFill>
                          <a:latin typeface="Calibri"/>
                        </a:rPr>
                        <a:t>2026-08-07</a:t>
                      </a:r>
                    </a:p>
                  </a:txBody>
                  <a:tcPr marL="82296" marR="64008" marT="32004" marB="32004" anchor="ctr">
                    <a:solidFill>
                      <a:srgbClr val="F6F3EF"/>
                    </a:solidFill>
                  </a:tcPr>
                </a:tc>
                <a:tc>
                  <a:txBody>
                    <a:bodyPr wrap="square"/>
                    <a:lstStyle/>
                    <a:p>
                      <a:pPr algn="l"/>
                      <a:r>
                        <a:rPr sz="850" b="0">
                          <a:solidFill>
                            <a:srgbClr val="1C1C1E"/>
                          </a:solidFill>
                          <a:latin typeface="Calibri"/>
                        </a:rPr>
                        <a:t>yes</a:t>
                      </a:r>
                    </a:p>
                  </a:txBody>
                  <a:tcPr marL="82296" marR="64008" marT="32004" marB="32004" anchor="ctr">
                    <a:solidFill>
                      <a:srgbClr val="F6F3EF"/>
                    </a:solidFill>
                  </a:tcPr>
                </a:tc>
              </a:tr>
              <a:tr h="291172">
                <a:tc>
                  <a:txBody>
                    <a:bodyPr wrap="square"/>
                    <a:lstStyle/>
                    <a:p>
                      <a:pPr algn="l"/>
                      <a:r>
                        <a:rPr sz="850" b="1">
                          <a:solidFill>
                            <a:srgbClr val="A51C30"/>
                          </a:solidFill>
                          <a:latin typeface="Calibri"/>
                        </a:rPr>
                        <a:t>2026-09-03</a:t>
                      </a:r>
                    </a:p>
                  </a:txBody>
                  <a:tcPr marL="82296" marR="64008" marT="32004" marB="32004" anchor="ctr">
                    <a:solidFill>
                      <a:srgbClr val="FFFFFF"/>
                    </a:solidFill>
                  </a:tcPr>
                </a:tc>
                <a:tc>
                  <a:txBody>
                    <a:bodyPr wrap="square"/>
                    <a:lstStyle/>
                    <a:p>
                      <a:pPr algn="l"/>
                      <a:r>
                        <a:rPr sz="850" b="0">
                          <a:solidFill>
                            <a:srgbClr val="1C1C1E"/>
                          </a:solidFill>
                          <a:latin typeface="Calibri"/>
                        </a:rPr>
                        <a:t>98.72</a:t>
                      </a:r>
                    </a:p>
                  </a:txBody>
                  <a:tcPr marL="82296" marR="64008" marT="32004" marB="32004" anchor="ctr">
                    <a:solidFill>
                      <a:srgbClr val="FFFFFF"/>
                    </a:solidFill>
                  </a:tcPr>
                </a:tc>
                <a:tc>
                  <a:txBody>
                    <a:bodyPr wrap="square"/>
                    <a:lstStyle/>
                    <a:p>
                      <a:pPr algn="l"/>
                      <a:r>
                        <a:rPr sz="850" b="0">
                          <a:solidFill>
                            <a:srgbClr val="1C1C1E"/>
                          </a:solidFill>
                          <a:latin typeface="Calibri"/>
                        </a:rPr>
                        <a:t>4.1</a:t>
                      </a:r>
                    </a:p>
                  </a:txBody>
                  <a:tcPr marL="82296" marR="64008" marT="32004" marB="32004" anchor="ctr">
                    <a:solidFill>
                      <a:srgbClr val="FFFFFF"/>
                    </a:solidFill>
                  </a:tcPr>
                </a:tc>
                <a:tc>
                  <a:txBody>
                    <a:bodyPr wrap="square"/>
                    <a:lstStyle/>
                    <a:p>
                      <a:pPr algn="l"/>
                      <a:r>
                        <a:rPr sz="850" b="0">
                          <a:solidFill>
                            <a:srgbClr val="1C1C1E"/>
                          </a:solidFill>
                          <a:latin typeface="Calibri"/>
                        </a:rPr>
                        <a:t>2026-08-07</a:t>
                      </a:r>
                    </a:p>
                  </a:txBody>
                  <a:tcPr marL="82296" marR="64008" marT="32004" marB="32004" anchor="ctr">
                    <a:solidFill>
                      <a:srgbClr val="FFFFFF"/>
                    </a:solidFill>
                  </a:tcPr>
                </a:tc>
                <a:tc>
                  <a:txBody>
                    <a:bodyPr wrap="square"/>
                    <a:lstStyle/>
                    <a:p>
                      <a:pPr algn="l"/>
                      <a:r>
                        <a:rPr sz="850" b="0">
                          <a:solidFill>
                            <a:srgbClr val="1C1C1E"/>
                          </a:solidFill>
                          <a:latin typeface="Calibri"/>
                        </a:rPr>
                        <a:t>yes</a:t>
                      </a:r>
                    </a:p>
                  </a:txBody>
                  <a:tcPr marL="82296" marR="64008" marT="32004" marB="32004" anchor="ctr">
                    <a:solidFill>
                      <a:srgbClr val="FFFFFF"/>
                    </a:solidFill>
                  </a:tcPr>
                </a:tc>
              </a:tr>
              <a:tr h="436041">
                <a:tc>
                  <a:txBody>
                    <a:bodyPr wrap="square"/>
                    <a:lstStyle/>
                    <a:p>
                      <a:pPr algn="l"/>
                      <a:r>
                        <a:rPr sz="850" b="1">
                          <a:solidFill>
                            <a:srgbClr val="A51C30"/>
                          </a:solidFill>
                          <a:latin typeface="Calibri"/>
                        </a:rPr>
                        <a:t>2026-09-04</a:t>
                      </a:r>
                    </a:p>
                  </a:txBody>
                  <a:tcPr marL="82296" marR="64008" marT="32004" marB="32004" anchor="ctr">
                    <a:solidFill>
                      <a:srgbClr val="F6F3EF"/>
                    </a:solidFill>
                  </a:tcPr>
                </a:tc>
                <a:tc>
                  <a:txBody>
                    <a:bodyPr wrap="square"/>
                    <a:lstStyle/>
                    <a:p>
                      <a:pPr algn="l"/>
                      <a:r>
                        <a:rPr sz="850" b="0">
                          <a:solidFill>
                            <a:srgbClr val="1C1C1E"/>
                          </a:solidFill>
                          <a:latin typeface="Calibri"/>
                        </a:rPr>
                        <a:t>98.95</a:t>
                      </a:r>
                    </a:p>
                  </a:txBody>
                  <a:tcPr marL="82296" marR="64008" marT="32004" marB="32004" anchor="ctr">
                    <a:solidFill>
                      <a:srgbClr val="F6F3EF"/>
                    </a:solidFill>
                  </a:tcPr>
                </a:tc>
                <a:tc>
                  <a:txBody>
                    <a:bodyPr wrap="square"/>
                    <a:lstStyle/>
                    <a:p>
                      <a:pPr algn="l"/>
                      <a:r>
                        <a:rPr sz="850" b="0">
                          <a:solidFill>
                            <a:srgbClr val="1C1C1E"/>
                          </a:solidFill>
                          <a:latin typeface="Calibri"/>
                        </a:rPr>
                        <a:t>4.0</a:t>
                      </a:r>
                    </a:p>
                  </a:txBody>
                  <a:tcPr marL="82296" marR="64008" marT="32004" marB="32004" anchor="ctr">
                    <a:solidFill>
                      <a:srgbClr val="F6F3EF"/>
                    </a:solidFill>
                  </a:tcPr>
                </a:tc>
                <a:tc>
                  <a:txBody>
                    <a:bodyPr wrap="square"/>
                    <a:lstStyle/>
                    <a:p>
                      <a:pPr algn="l"/>
                      <a:r>
                        <a:rPr sz="850" b="0">
                          <a:solidFill>
                            <a:srgbClr val="1C1C1E"/>
                          </a:solidFill>
                          <a:latin typeface="Calibri"/>
                        </a:rPr>
                        <a:t>2026-09-04</a:t>
                      </a:r>
                    </a:p>
                  </a:txBody>
                  <a:tcPr marL="82296" marR="64008" marT="32004" marB="32004" anchor="ctr">
                    <a:solidFill>
                      <a:srgbClr val="F6F3EF"/>
                    </a:solidFill>
                  </a:tcPr>
                </a:tc>
                <a:tc>
                  <a:txBody>
                    <a:bodyPr wrap="square"/>
                    <a:lstStyle/>
                    <a:p>
                      <a:pPr algn="l"/>
                      <a:r>
                        <a:rPr sz="850" b="0">
                          <a:solidFill>
                            <a:srgbClr val="1C1C1E"/>
                          </a:solidFill>
                          <a:latin typeface="Calibri"/>
                        </a:rPr>
                        <a:t>yes — August lands</a:t>
                      </a:r>
                    </a:p>
                  </a:txBody>
                  <a:tcPr marL="82296" marR="64008" marT="32004" marB="32004" anchor="ctr">
                    <a:solidFill>
                      <a:srgbClr val="F6F3EF"/>
                    </a:solidFill>
                  </a:tcPr>
                </a:tc>
              </a:tr>
              <a:tr h="291172">
                <a:tc>
                  <a:txBody>
                    <a:bodyPr wrap="square"/>
                    <a:lstStyle/>
                    <a:p>
                      <a:pPr algn="l"/>
                      <a:r>
                        <a:rPr sz="850" b="1">
                          <a:solidFill>
                            <a:srgbClr val="A51C30"/>
                          </a:solidFill>
                          <a:latin typeface="Calibri"/>
                        </a:rPr>
                        <a:t>2026-09-05</a:t>
                      </a:r>
                    </a:p>
                  </a:txBody>
                  <a:tcPr marL="82296" marR="64008" marT="32004" marB="32004" anchor="ctr">
                    <a:solidFill>
                      <a:srgbClr val="FFFFFF"/>
                    </a:solidFill>
                  </a:tcPr>
                </a:tc>
                <a:tc>
                  <a:txBody>
                    <a:bodyPr wrap="square"/>
                    <a:lstStyle/>
                    <a:p>
                      <a:pPr algn="l"/>
                      <a:r>
                        <a:rPr sz="850" b="0">
                          <a:solidFill>
                            <a:srgbClr val="1C1C1E"/>
                          </a:solidFill>
                          <a:latin typeface="Calibri"/>
                        </a:rPr>
                        <a:t>99.31</a:t>
                      </a:r>
                    </a:p>
                  </a:txBody>
                  <a:tcPr marL="82296" marR="64008" marT="32004" marB="32004" anchor="ctr">
                    <a:solidFill>
                      <a:srgbClr val="FFFFFF"/>
                    </a:solidFill>
                  </a:tcPr>
                </a:tc>
                <a:tc>
                  <a:txBody>
                    <a:bodyPr wrap="square"/>
                    <a:lstStyle/>
                    <a:p>
                      <a:pPr algn="l"/>
                      <a:r>
                        <a:rPr sz="850" b="0">
                          <a:solidFill>
                            <a:srgbClr val="1C1C1E"/>
                          </a:solidFill>
                          <a:latin typeface="Calibri"/>
                        </a:rPr>
                        <a:t>4.0</a:t>
                      </a:r>
                    </a:p>
                  </a:txBody>
                  <a:tcPr marL="82296" marR="64008" marT="32004" marB="32004" anchor="ctr">
                    <a:solidFill>
                      <a:srgbClr val="FFFFFF"/>
                    </a:solidFill>
                  </a:tcPr>
                </a:tc>
                <a:tc>
                  <a:txBody>
                    <a:bodyPr wrap="square"/>
                    <a:lstStyle/>
                    <a:p>
                      <a:pPr algn="l"/>
                      <a:r>
                        <a:rPr sz="850" b="0">
                          <a:solidFill>
                            <a:srgbClr val="1C1C1E"/>
                          </a:solidFill>
                          <a:latin typeface="Calibri"/>
                        </a:rPr>
                        <a:t>2026-09-04</a:t>
                      </a:r>
                    </a:p>
                  </a:txBody>
                  <a:tcPr marL="82296" marR="64008" marT="32004" marB="32004" anchor="ctr">
                    <a:solidFill>
                      <a:srgbClr val="FFFFFF"/>
                    </a:solidFill>
                  </a:tcPr>
                </a:tc>
                <a:tc>
                  <a:txBody>
                    <a:bodyPr wrap="square"/>
                    <a:lstStyle/>
                    <a:p>
                      <a:pPr algn="l"/>
                      <a:r>
                        <a:rPr sz="850" b="0">
                          <a:solidFill>
                            <a:srgbClr val="1C1C1E"/>
                          </a:solidFill>
                          <a:latin typeface="Calibri"/>
                        </a:rPr>
                        <a:t>yes</a:t>
                      </a:r>
                    </a:p>
                  </a:txBody>
                  <a:tcPr marL="82296" marR="64008" marT="32004" marB="32004" anchor="ctr">
                    <a:solidFill>
                      <a:srgbClr val="FFFFFF"/>
                    </a:solidFill>
                  </a:tcPr>
                </a:tc>
              </a:tr>
            </a:tbl>
          </a:graphicData>
        </a:graphic>
      </p:graphicFrame>
      <p:sp>
        <p:nvSpPr>
          <p:cNvPr id="15" name="Rectangle 14"/>
          <p:cNvSpPr/>
          <p:nvPr/>
        </p:nvSpPr>
        <p:spPr>
          <a:xfrm>
            <a:off x="6521336" y="3466109"/>
            <a:ext cx="4893118" cy="1133856"/>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521336" y="3466109"/>
            <a:ext cx="41148" cy="113385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6759080" y="3584981"/>
            <a:ext cx="4435918" cy="914400"/>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carried value keeps the clock it was published on. </a:t>
            </a:r>
            <a:r>
              <a:rPr sz="1050" b="0" i="0">
                <a:solidFill>
                  <a:srgbClr val="1C1C1E"/>
                </a:solidFill>
                <a:latin typeface="Calibri"/>
              </a:rPr>
              <a:t>Rows on the 1st to the 3rd hold July’s 4.1, stamped 7 August. On the 4th, August’s 4.0 arrives and is stamped that day — </a:t>
            </a:r>
            <a:r>
              <a:rPr sz="1050" b="1" i="0">
                <a:solidFill>
                  <a:srgbClr val="1C1C1E"/>
                </a:solidFill>
                <a:latin typeface="Calibri"/>
              </a:rPr>
              <a:t>so a point-in-time read as of the 2nd cannot see it, by the ordinary rule and without anybody remembering a flag.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A WORKED EXAMPLE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Two models, one featureset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6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29</a:t>
            </a:r>
          </a:p>
        </p:txBody>
      </p:sp>
      <p:sp>
        <p:nvSpPr>
          <p:cNvPr id="10" name="Rectangle 9"/>
          <p:cNvSpPr/>
          <p:nvPr/>
        </p:nvSpPr>
        <p:spPr>
          <a:xfrm>
            <a:off x="777240" y="1353312"/>
            <a:ext cx="5135727" cy="2204161"/>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204161"/>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4769967" cy="2021281"/>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multiple linear regression</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next_return  =  18.080</a:t>
            </a:r>
          </a:p>
          <a:p>
            <a:pPr>
              <a:lnSpc>
                <a:spcPct val="134000"/>
              </a:lnSpc>
              <a:spcBef>
                <a:spcPts val="0"/>
              </a:spcBef>
              <a:spcAft>
                <a:spcPts val="0"/>
              </a:spcAft>
            </a:pPr>
            <a:r>
              <a:rPr sz="900" b="0" i="0">
                <a:solidFill>
                  <a:srgbClr val="1C1C1E"/>
                </a:solidFill>
                <a:latin typeface="Consolas"/>
              </a:rPr>
              <a:t>             − 4.247 × u3_rate</a:t>
            </a:r>
          </a:p>
          <a:p>
            <a:pPr>
              <a:lnSpc>
                <a:spcPct val="134000"/>
              </a:lnSpc>
              <a:spcBef>
                <a:spcPts val="0"/>
              </a:spcBef>
              <a:spcAft>
                <a:spcPts val="0"/>
              </a:spcAft>
            </a:pPr>
            <a:r>
              <a:rPr sz="900" b="0" i="0">
                <a:solidFill>
                  <a:srgbClr val="1C1C1E"/>
                </a:solidFill>
                <a:latin typeface="Consolas"/>
              </a:rPr>
              <a:t>             − 0.096 × prev_return</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kind   estimated_coefficients   → T2</a:t>
            </a:r>
          </a:p>
          <a:p>
            <a:pPr>
              <a:lnSpc>
                <a:spcPct val="134000"/>
              </a:lnSpc>
              <a:spcBef>
                <a:spcPts val="0"/>
              </a:spcBef>
              <a:spcAft>
                <a:spcPts val="0"/>
              </a:spcAft>
            </a:pPr>
            <a:r>
              <a:rPr sz="900" b="0" i="0">
                <a:solidFill>
                  <a:srgbClr val="1C1C1E"/>
                </a:solidFill>
                <a:latin typeface="Consolas"/>
              </a:rPr>
              <a:t>P      3 numbers</a:t>
            </a:r>
          </a:p>
          <a:p>
            <a:pPr>
              <a:lnSpc>
                <a:spcPct val="134000"/>
              </a:lnSpc>
              <a:spcBef>
                <a:spcPts val="0"/>
              </a:spcBef>
              <a:spcAft>
                <a:spcPts val="0"/>
              </a:spcAft>
            </a:pPr>
            <a:r>
              <a:rPr sz="900" b="0" i="0">
                <a:solidFill>
                  <a:srgbClr val="1C1C1E"/>
                </a:solidFill>
                <a:latin typeface="Consolas"/>
              </a:rPr>
              <a:t>D(Y)   point_estimate</a:t>
            </a:r>
          </a:p>
          <a:p>
            <a:pPr>
              <a:lnSpc>
                <a:spcPct val="134000"/>
              </a:lnSpc>
              <a:spcBef>
                <a:spcPts val="0"/>
              </a:spcBef>
              <a:spcAft>
                <a:spcPts val="0"/>
              </a:spcAft>
            </a:pPr>
            <a:r>
              <a:rPr sz="900" b="0" i="0">
                <a:solidFill>
                  <a:srgbClr val="1C1C1E"/>
                </a:solidFill>
                <a:latin typeface="Consolas"/>
              </a:rPr>
              <a:t>fit    n = 10   R² = 0.179   resid sd = 1.114</a:t>
            </a:r>
          </a:p>
        </p:txBody>
      </p:sp>
      <p:sp>
        <p:nvSpPr>
          <p:cNvPr id="13" name="TextBox 12"/>
          <p:cNvSpPr txBox="1"/>
          <p:nvPr/>
        </p:nvSpPr>
        <p:spPr>
          <a:xfrm>
            <a:off x="777240" y="3758641"/>
            <a:ext cx="5135727" cy="82296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It predicts the level. </a:t>
            </a:r>
            <a:r>
              <a:rPr sz="1000" b="0" i="0">
                <a:solidFill>
                  <a:srgbClr val="4A4F57"/>
                </a:solidFill>
                <a:latin typeface="Calibri"/>
              </a:rPr>
              <a:t>An R² of 0.18 on ten points is not a good model; it is an honest one, and the register stores the diagnostics beside the coefficients so a reviewer sees both.</a:t>
            </a:r>
          </a:p>
        </p:txBody>
      </p:sp>
      <p:sp>
        <p:nvSpPr>
          <p:cNvPr id="14" name="Rectangle 13"/>
          <p:cNvSpPr/>
          <p:nvPr/>
        </p:nvSpPr>
        <p:spPr>
          <a:xfrm>
            <a:off x="6278727" y="1353312"/>
            <a:ext cx="5135727" cy="2204161"/>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6278727" y="1353312"/>
            <a:ext cx="41148" cy="2204161"/>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6479895" y="1453896"/>
            <a:ext cx="4769967" cy="2021281"/>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GARCH(1,1) on the same returns</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σ²ₜ  =  0.1050</a:t>
            </a:r>
          </a:p>
          <a:p>
            <a:pPr>
              <a:lnSpc>
                <a:spcPct val="134000"/>
              </a:lnSpc>
              <a:spcBef>
                <a:spcPts val="0"/>
              </a:spcBef>
              <a:spcAft>
                <a:spcPts val="0"/>
              </a:spcAft>
            </a:pPr>
            <a:r>
              <a:rPr sz="900" b="0" i="0">
                <a:solidFill>
                  <a:srgbClr val="1C1C1E"/>
                </a:solidFill>
                <a:latin typeface="Consolas"/>
              </a:rPr>
              <a:t>      + 0.110 × ε²ₜ₋₁</a:t>
            </a:r>
          </a:p>
          <a:p>
            <a:pPr>
              <a:lnSpc>
                <a:spcPct val="134000"/>
              </a:lnSpc>
              <a:spcBef>
                <a:spcPts val="0"/>
              </a:spcBef>
              <a:spcAft>
                <a:spcPts val="0"/>
              </a:spcAft>
            </a:pPr>
            <a:r>
              <a:rPr sz="900" b="0" i="0">
                <a:solidFill>
                  <a:srgbClr val="1C1C1E"/>
                </a:solidFill>
                <a:latin typeface="Consolas"/>
              </a:rPr>
              <a:t>      + 0.790 × σ²ₜ₋₁</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kind   estimated_coefficients   → T2</a:t>
            </a:r>
          </a:p>
          <a:p>
            <a:pPr>
              <a:lnSpc>
                <a:spcPct val="134000"/>
              </a:lnSpc>
              <a:spcBef>
                <a:spcPts val="0"/>
              </a:spcBef>
              <a:spcAft>
                <a:spcPts val="0"/>
              </a:spcAft>
            </a:pPr>
            <a:r>
              <a:rPr sz="900" b="0" i="0">
                <a:solidFill>
                  <a:srgbClr val="1C1C1E"/>
                </a:solidFill>
                <a:latin typeface="Consolas"/>
              </a:rPr>
              <a:t>P      3 numbers  (ω, α, β)</a:t>
            </a:r>
          </a:p>
          <a:p>
            <a:pPr>
              <a:lnSpc>
                <a:spcPct val="134000"/>
              </a:lnSpc>
              <a:spcBef>
                <a:spcPts val="0"/>
              </a:spcBef>
              <a:spcAft>
                <a:spcPts val="0"/>
              </a:spcAft>
            </a:pPr>
            <a:r>
              <a:rPr sz="900" b="0" i="0">
                <a:solidFill>
                  <a:srgbClr val="1C1C1E"/>
                </a:solidFill>
                <a:latin typeface="Consolas"/>
              </a:rPr>
              <a:t>D(Y)   predictive_distribution</a:t>
            </a:r>
          </a:p>
          <a:p>
            <a:pPr>
              <a:lnSpc>
                <a:spcPct val="134000"/>
              </a:lnSpc>
              <a:spcBef>
                <a:spcPts val="0"/>
              </a:spcBef>
              <a:spcAft>
                <a:spcPts val="0"/>
              </a:spcAft>
            </a:pPr>
            <a:r>
              <a:rPr sz="900" b="0" i="0">
                <a:solidFill>
                  <a:srgbClr val="1C1C1E"/>
                </a:solidFill>
                <a:latin typeface="Consolas"/>
              </a:rPr>
              <a:t>fit    long-run sd 1.025, matching the sample</a:t>
            </a:r>
          </a:p>
        </p:txBody>
      </p:sp>
      <p:sp>
        <p:nvSpPr>
          <p:cNvPr id="17" name="TextBox 16"/>
          <p:cNvSpPr txBox="1"/>
          <p:nvPr/>
        </p:nvSpPr>
        <p:spPr>
          <a:xfrm>
            <a:off x="6278727" y="3758641"/>
            <a:ext cx="5135727" cy="82296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It predicts the spread. </a:t>
            </a:r>
            <a:r>
              <a:rPr sz="1000" b="0" i="0">
                <a:solidFill>
                  <a:srgbClr val="4A4F57"/>
                </a:solidFill>
                <a:latin typeface="Calibri"/>
              </a:rPr>
              <a:t>Same features, same entity, same grain — a different kernel, a different P, and an output that is a distribution rather than a number.</a:t>
            </a:r>
          </a:p>
        </p:txBody>
      </p:sp>
      <p:sp>
        <p:nvSpPr>
          <p:cNvPr id="18" name="Rectangle 17"/>
          <p:cNvSpPr/>
          <p:nvPr/>
        </p:nvSpPr>
        <p:spPr>
          <a:xfrm>
            <a:off x="777240" y="4673041"/>
            <a:ext cx="10637215" cy="106070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Rectangle 18"/>
          <p:cNvSpPr/>
          <p:nvPr/>
        </p:nvSpPr>
        <p:spPr>
          <a:xfrm>
            <a:off x="777240" y="4673041"/>
            <a:ext cx="41148" cy="106070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TextBox 19"/>
          <p:cNvSpPr txBox="1"/>
          <p:nvPr/>
        </p:nvSpPr>
        <p:spPr>
          <a:xfrm>
            <a:off x="1014983" y="4791913"/>
            <a:ext cx="10180015" cy="841247"/>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Two warrants, two parameter sets, one featureset version. </a:t>
            </a:r>
            <a:r>
              <a:rPr sz="1050" b="0" i="0">
                <a:solidFill>
                  <a:srgbClr val="1C1C1E"/>
                </a:solidFill>
                <a:latin typeface="Calibri"/>
              </a:rPr>
              <a:t>Each fit warrant names macro_core@v1 and its own model version; each returns a parameter set that records which featureset version produced it. Nothing about the data was duplicated to serve two models, and nothing about either model had to know the other existed — </a:t>
            </a:r>
            <a:r>
              <a:rPr sz="1050" b="1" i="0">
                <a:solidFill>
                  <a:srgbClr val="1C1C1E"/>
                </a:solidFill>
                <a:latin typeface="Calibri"/>
              </a:rPr>
              <a:t>which is what a named presentation of X buys.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A WORKED EXAMPLE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Extending the featureset, and what that forces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6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30</a:t>
            </a:r>
          </a:p>
        </p:txBody>
      </p:sp>
      <p:sp>
        <p:nvSpPr>
          <p:cNvPr id="10" name="Rectangle 9"/>
          <p:cNvSpPr/>
          <p:nvPr/>
        </p:nvSpPr>
        <p:spPr>
          <a:xfrm>
            <a:off x="777240" y="1353312"/>
            <a:ext cx="5105863" cy="1432224"/>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432224"/>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4740103" cy="1249344"/>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featureset: macro_plus</a:t>
            </a:r>
          </a:p>
          <a:p>
            <a:pPr>
              <a:lnSpc>
                <a:spcPct val="134000"/>
              </a:lnSpc>
              <a:spcBef>
                <a:spcPts val="0"/>
              </a:spcBef>
              <a:spcAft>
                <a:spcPts val="0"/>
              </a:spcAft>
            </a:pPr>
            <a:r>
              <a:rPr sz="900" b="0" i="0">
                <a:solidFill>
                  <a:srgbClr val="1C1C1E"/>
                </a:solidFill>
                <a:latin typeface="Consolas"/>
              </a:rPr>
              <a:t>composes:   [macro_core]</a:t>
            </a:r>
          </a:p>
          <a:p>
            <a:pPr>
              <a:lnSpc>
                <a:spcPct val="134000"/>
              </a:lnSpc>
              <a:spcBef>
                <a:spcPts val="0"/>
              </a:spcBef>
              <a:spcAft>
                <a:spcPts val="0"/>
              </a:spcAft>
            </a:pPr>
            <a:r>
              <a:rPr sz="900" b="0" i="0">
                <a:solidFill>
                  <a:srgbClr val="1C1C1E"/>
                </a:solidFill>
                <a:latin typeface="Consolas"/>
              </a:rPr>
              <a:t>operations: [{op: add, name: term_spread}]</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 macro_plus resolves to FOUR slots</a:t>
            </a:r>
          </a:p>
          <a:p>
            <a:pPr>
              <a:lnSpc>
                <a:spcPct val="134000"/>
              </a:lnSpc>
              <a:spcBef>
                <a:spcPts val="0"/>
              </a:spcBef>
              <a:spcAft>
                <a:spcPts val="0"/>
              </a:spcAft>
            </a:pPr>
            <a:r>
              <a:rPr sz="900" b="0" i="0">
                <a:solidFill>
                  <a:srgbClr val="1C1C1E"/>
                </a:solidFill>
                <a:latin typeface="Consolas"/>
              </a:rPr>
              <a:t>  px_close  u3_rate  prev_return  term_spread</a:t>
            </a:r>
          </a:p>
        </p:txBody>
      </p:sp>
      <p:sp>
        <p:nvSpPr>
          <p:cNvPr id="13" name="TextBox 12"/>
          <p:cNvSpPr txBox="1"/>
          <p:nvPr/>
        </p:nvSpPr>
        <p:spPr>
          <a:xfrm>
            <a:off x="777240" y="2986704"/>
            <a:ext cx="5105863" cy="1371600"/>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Not a new version of macro_core. </a:t>
            </a:r>
            <a:r>
              <a:rPr sz="1050" b="0" i="0">
                <a:solidFill>
                  <a:srgbClr val="4A4F57"/>
                </a:solidFill>
                <a:latin typeface="Calibri"/>
              </a:rPr>
              <a:t>Adding a slot changes the schema, and the schema is what a kernel is defined over — so it is a new featureset composed from the old one, and macro_core@v1 is untouched for whoever is already using it.</a:t>
            </a:r>
          </a:p>
        </p:txBody>
      </p:sp>
      <p:sp>
        <p:nvSpPr>
          <p:cNvPr id="14" name="TextBox 13"/>
          <p:cNvSpPr txBox="1"/>
          <p:nvPr/>
        </p:nvSpPr>
        <p:spPr>
          <a:xfrm>
            <a:off x="6308591" y="1353312"/>
            <a:ext cx="5105863" cy="27432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And the old model cannot simply read it</a:t>
            </a:r>
          </a:p>
        </p:txBody>
      </p:sp>
      <p:sp>
        <p:nvSpPr>
          <p:cNvPr id="15" name="Rectangle 14"/>
          <p:cNvSpPr/>
          <p:nvPr/>
        </p:nvSpPr>
        <p:spPr>
          <a:xfrm>
            <a:off x="6308591" y="1700784"/>
            <a:ext cx="5105863" cy="173242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308591" y="1700784"/>
            <a:ext cx="41148" cy="1732422"/>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6509759" y="1801368"/>
            <a:ext cx="4740103" cy="1549542"/>
          </a:xfrm>
          <a:prstGeom prst="rect">
            <a:avLst/>
          </a:prstGeom>
          <a:noFill/>
        </p:spPr>
        <p:txBody>
          <a:bodyPr wrap="square" lIns="0" rIns="0" tIns="0" bIns="0" anchor="t">
            <a:spAutoFit/>
          </a:bodyPr>
          <a:lstStyle/>
          <a:p>
            <a:pPr algn="l">
              <a:lnSpc>
                <a:spcPct val="134000"/>
              </a:lnSpc>
              <a:spcBef>
                <a:spcPts val="0"/>
              </a:spcBef>
              <a:spcAft>
                <a:spcPts val="0"/>
              </a:spcAft>
            </a:pPr>
            <a:r>
              <a:rPr sz="850" b="0" i="0">
                <a:solidFill>
                  <a:srgbClr val="1C1C1E"/>
                </a:solidFill>
                <a:latin typeface="Consolas"/>
              </a:rPr>
              <a:t>POST /api/v1/fit-warrants</a:t>
            </a:r>
          </a:p>
          <a:p>
            <a:pPr>
              <a:lnSpc>
                <a:spcPct val="134000"/>
              </a:lnSpc>
              <a:spcBef>
                <a:spcPts val="0"/>
              </a:spcBef>
              <a:spcAft>
                <a:spcPts val="0"/>
              </a:spcAft>
            </a:pPr>
            <a:r>
              <a:rPr sz="850" b="0" i="0">
                <a:solidFill>
                  <a:srgbClr val="1C1C1E"/>
                </a:solidFill>
                <a:latin typeface="Consolas"/>
              </a:rPr>
              <a:t>  { model: mlr@1.0.0, featureset: macro_plus }</a:t>
            </a:r>
          </a:p>
          <a:p>
            <a:pPr>
              <a:lnSpc>
                <a:spcPct val="134000"/>
              </a:lnSpc>
              <a:spcBef>
                <a:spcPts val="0"/>
              </a:spcBef>
              <a:spcAft>
                <a:spcPts val="0"/>
              </a:spcAft>
            </a:pPr>
            <a:r>
              <a:rPr sz="850" b="0" i="0">
                <a:solidFill>
                  <a:srgbClr val="1C1C1E"/>
                </a:solidFill>
                <a:latin typeface="Consolas"/>
              </a:rPr>
              <a:t> </a:t>
            </a:r>
          </a:p>
          <a:p>
            <a:pPr>
              <a:lnSpc>
                <a:spcPct val="134000"/>
              </a:lnSpc>
              <a:spcBef>
                <a:spcPts val="0"/>
              </a:spcBef>
              <a:spcAft>
                <a:spcPts val="0"/>
              </a:spcAft>
            </a:pPr>
            <a:r>
              <a:rPr sz="850" b="0" i="0">
                <a:solidFill>
                  <a:srgbClr val="1C1C1E"/>
                </a:solidFill>
                <a:latin typeface="Consolas"/>
              </a:rPr>
              <a:t>409 schema_not_satisfied</a:t>
            </a:r>
          </a:p>
          <a:p>
            <a:pPr>
              <a:lnSpc>
                <a:spcPct val="134000"/>
              </a:lnSpc>
              <a:spcBef>
                <a:spcPts val="0"/>
              </a:spcBef>
              <a:spcAft>
                <a:spcPts val="0"/>
              </a:spcAft>
            </a:pPr>
            <a:r>
              <a:rPr sz="850" b="0" i="0">
                <a:solidFill>
                  <a:srgbClr val="1C1C1E"/>
                </a:solidFill>
                <a:latin typeface="Consolas"/>
              </a:rPr>
              <a:t>    'macro_plus' provides term_spread, which this</a:t>
            </a:r>
          </a:p>
          <a:p>
            <a:pPr>
              <a:lnSpc>
                <a:spcPct val="134000"/>
              </a:lnSpc>
              <a:spcBef>
                <a:spcPts val="0"/>
              </a:spcBef>
              <a:spcAft>
                <a:spcPts val="0"/>
              </a:spcAft>
            </a:pPr>
            <a:r>
              <a:rPr sz="850" b="0" i="0">
                <a:solidFill>
                  <a:srgbClr val="1C1C1E"/>
                </a:solidFill>
                <a:latin typeface="Consolas"/>
              </a:rPr>
              <a:t>    version does not declare in its input schema.</a:t>
            </a:r>
          </a:p>
          <a:p>
            <a:pPr>
              <a:lnSpc>
                <a:spcPct val="134000"/>
              </a:lnSpc>
              <a:spcBef>
                <a:spcPts val="0"/>
              </a:spcBef>
              <a:spcAft>
                <a:spcPts val="0"/>
              </a:spcAft>
            </a:pPr>
            <a:r>
              <a:rPr sz="850" b="0" i="0">
                <a:solidFill>
                  <a:srgbClr val="1C1C1E"/>
                </a:solidFill>
                <a:latin typeface="Consolas"/>
              </a:rPr>
              <a:t>    Adding a regressor is a MODEL change, not a</a:t>
            </a:r>
          </a:p>
          <a:p>
            <a:pPr>
              <a:lnSpc>
                <a:spcPct val="134000"/>
              </a:lnSpc>
              <a:spcBef>
                <a:spcPts val="0"/>
              </a:spcBef>
              <a:spcAft>
                <a:spcPts val="0"/>
              </a:spcAft>
            </a:pPr>
            <a:r>
              <a:rPr sz="850" b="0" i="0">
                <a:solidFill>
                  <a:srgbClr val="1C1C1E"/>
                </a:solidFill>
                <a:latin typeface="Consolas"/>
              </a:rPr>
              <a:t>    data change.</a:t>
            </a:r>
          </a:p>
        </p:txBody>
      </p:sp>
      <p:sp>
        <p:nvSpPr>
          <p:cNvPr id="18" name="TextBox 17"/>
          <p:cNvSpPr txBox="1"/>
          <p:nvPr/>
        </p:nvSpPr>
        <p:spPr>
          <a:xfrm>
            <a:off x="6308591" y="3616086"/>
            <a:ext cx="5105863" cy="914400"/>
          </a:xfrm>
          <a:prstGeom prst="rect">
            <a:avLst/>
          </a:prstGeom>
          <a:noFill/>
        </p:spPr>
        <p:txBody>
          <a:bodyPr wrap="square" lIns="0" rIns="0" tIns="0" bIns="0" anchor="t">
            <a:spAutoFit/>
          </a:bodyPr>
          <a:lstStyle/>
          <a:p>
            <a:pPr algn="l">
              <a:lnSpc>
                <a:spcPct val="124000"/>
              </a:lnSpc>
              <a:spcBef>
                <a:spcPts val="0"/>
              </a:spcBef>
              <a:spcAft>
                <a:spcPts val="600"/>
              </a:spcAft>
            </a:pPr>
            <a:r>
              <a:rPr sz="1050" b="0" i="0">
                <a:solidFill>
                  <a:srgbClr val="1C1C1E"/>
                </a:solidFill>
                <a:latin typeface="Calibri"/>
              </a:rPr>
              <a:t>So a third model is registered over the wider X — a gradient-boosted classifier for ‘drawdown next month’:</a:t>
            </a:r>
          </a:p>
        </p:txBody>
      </p:sp>
      <p:graphicFrame>
        <p:nvGraphicFramePr>
          <p:cNvPr id="19" name="Table 18"/>
          <p:cNvGraphicFramePr>
            <a:graphicFrameLocks noGrp="1"/>
          </p:cNvGraphicFramePr>
          <p:nvPr/>
        </p:nvGraphicFramePr>
        <p:xfrm>
          <a:off x="6308591" y="4530486"/>
          <a:ext cx="5105862" cy="1498470"/>
        </p:xfrm>
        <a:graphic>
          <a:graphicData uri="http://schemas.openxmlformats.org/drawingml/2006/table">
            <a:tbl>
              <a:tblPr>
                <a:tableStyleId>{5C22544A-7EE6-4342-B048-85BDC9FD1C3A}</a:tableStyleId>
              </a:tblPr>
              <a:tblGrid>
                <a:gridCol w="919975"/>
                <a:gridCol w="4185887"/>
              </a:tblGrid>
              <a:tr h="299694">
                <a:tc>
                  <a:txBody>
                    <a:bodyPr wrap="square"/>
                    <a:lstStyle/>
                    <a:p>
                      <a:pPr algn="l"/>
                      <a:r>
                        <a:rPr sz="900" b="1">
                          <a:solidFill>
                            <a:srgbClr val="A51C30"/>
                          </a:solidFill>
                          <a:latin typeface="Calibri"/>
                        </a:rPr>
                        <a:t/>
                      </a:r>
                    </a:p>
                  </a:txBody>
                  <a:tcPr marL="82296" marR="64008" marT="32004" marB="32004" anchor="ctr">
                    <a:solidFill>
                      <a:srgbClr val="F6F3EF"/>
                    </a:solidFill>
                  </a:tcPr>
                </a:tc>
                <a:tc>
                  <a:txBody>
                    <a:bodyPr wrap="square"/>
                    <a:lstStyle/>
                    <a:p>
                      <a:pPr algn="l"/>
                      <a:r>
                        <a:rPr sz="900" b="0">
                          <a:solidFill>
                            <a:srgbClr val="1C1C1E"/>
                          </a:solidFill>
                          <a:latin typeface="Calibri"/>
                        </a:rPr>
                        <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kind</a:t>
                      </a:r>
                    </a:p>
                  </a:txBody>
                  <a:tcPr marL="82296" marR="64008" marT="32004" marB="32004" anchor="ctr">
                    <a:solidFill>
                      <a:srgbClr val="FFFFFF"/>
                    </a:solidFill>
                  </a:tcPr>
                </a:tc>
                <a:tc>
                  <a:txBody>
                    <a:bodyPr wrap="square"/>
                    <a:lstStyle/>
                    <a:p>
                      <a:pPr algn="l"/>
                      <a:r>
                        <a:rPr sz="900" b="0">
                          <a:solidFill>
                            <a:srgbClr val="1C1C1E"/>
                          </a:solidFill>
                          <a:latin typeface="Calibri"/>
                        </a:rPr>
                        <a:t>learned_weights  → T3, not T2</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fit</a:t>
                      </a:r>
                    </a:p>
                  </a:txBody>
                  <a:tcPr marL="82296" marR="64008" marT="32004" marB="32004" anchor="ctr">
                    <a:solidFill>
                      <a:srgbClr val="F6F3EF"/>
                    </a:solidFill>
                  </a:tcPr>
                </a:tc>
                <a:tc>
                  <a:txBody>
                    <a:bodyPr wrap="square"/>
                    <a:lstStyle/>
                    <a:p>
                      <a:pPr algn="l"/>
                      <a:r>
                        <a:rPr sz="900" b="0">
                          <a:solidFill>
                            <a:srgbClr val="1C1C1E"/>
                          </a:solidFill>
                          <a:latin typeface="Calibri"/>
                        </a:rPr>
                        <a:t>train, not estimate</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D(Y)</a:t>
                      </a:r>
                    </a:p>
                  </a:txBody>
                  <a:tcPr marL="82296" marR="64008" marT="32004" marB="32004" anchor="ctr">
                    <a:solidFill>
                      <a:srgbClr val="FFFFFF"/>
                    </a:solidFill>
                  </a:tcPr>
                </a:tc>
                <a:tc>
                  <a:txBody>
                    <a:bodyPr wrap="square"/>
                    <a:lstStyle/>
                    <a:p>
                      <a:pPr algn="l"/>
                      <a:r>
                        <a:rPr sz="900" b="0">
                          <a:solidFill>
                            <a:srgbClr val="1C1C1E"/>
                          </a:solidFill>
                          <a:latin typeface="Calibri"/>
                        </a:rPr>
                        <a:t>class_probabilities</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reads</a:t>
                      </a:r>
                    </a:p>
                  </a:txBody>
                  <a:tcPr marL="82296" marR="64008" marT="32004" marB="32004" anchor="ctr">
                    <a:solidFill>
                      <a:srgbClr val="F6F3EF"/>
                    </a:solidFill>
                  </a:tcPr>
                </a:tc>
                <a:tc>
                  <a:txBody>
                    <a:bodyPr wrap="square"/>
                    <a:lstStyle/>
                    <a:p>
                      <a:pPr algn="l"/>
                      <a:r>
                        <a:rPr sz="900" b="0">
                          <a:solidFill>
                            <a:srgbClr val="1C1C1E"/>
                          </a:solidFill>
                          <a:latin typeface="Calibri"/>
                        </a:rPr>
                        <a:t>macro_plus@v1, all four slots</a:t>
                      </a:r>
                    </a:p>
                  </a:txBody>
                  <a:tcPr marL="82296" marR="64008" marT="32004" marB="32004" anchor="ctr">
                    <a:solidFill>
                      <a:srgbClr val="F6F3EF"/>
                    </a:solidFill>
                  </a:tcPr>
                </a:tc>
              </a:tr>
            </a:tbl>
          </a:graphicData>
        </a:graphic>
      </p:graphicFrame>
      <p:sp>
        <p:nvSpPr>
          <p:cNvPr id="20" name="Rectangle 19"/>
          <p:cNvSpPr/>
          <p:nvPr/>
        </p:nvSpPr>
        <p:spPr>
          <a:xfrm>
            <a:off x="777240" y="4486320"/>
            <a:ext cx="5105863" cy="120700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777240" y="4486320"/>
            <a:ext cx="41148" cy="120700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1014983" y="4605192"/>
            <a:ext cx="4648663" cy="98755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refusal is the feature. </a:t>
            </a:r>
            <a:r>
              <a:rPr sz="1050" b="0" i="0">
                <a:solidFill>
                  <a:srgbClr val="1C1C1E"/>
                </a:solidFill>
                <a:latin typeface="Calibri"/>
              </a:rPr>
              <a:t>Widening a featureset under a model that was never defined over it is the failure all of this exists to make visible — and it is caught at the warrant, </a:t>
            </a:r>
            <a:r>
              <a:rPr sz="1050" b="1" i="0">
                <a:solidFill>
                  <a:srgbClr val="1C1C1E"/>
                </a:solidFill>
                <a:latin typeface="Calibri"/>
              </a:rPr>
              <a:t>before anything is fitted, rather than by somebody noticing later that a coefficient vector had four entries.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82880"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Rectangle 3"/>
          <p:cNvSpPr/>
          <p:nvPr/>
        </p:nvSpPr>
        <p:spPr>
          <a:xfrm>
            <a:off x="1143000" y="1005840"/>
            <a:ext cx="155448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 name="TextBox 4"/>
          <p:cNvSpPr txBox="1"/>
          <p:nvPr/>
        </p:nvSpPr>
        <p:spPr>
          <a:xfrm>
            <a:off x="1143000" y="1280160"/>
            <a:ext cx="8509772" cy="2377440"/>
          </a:xfrm>
          <a:prstGeom prst="rect">
            <a:avLst/>
          </a:prstGeom>
          <a:noFill/>
        </p:spPr>
        <p:txBody>
          <a:bodyPr wrap="square" lIns="0" rIns="0" tIns="0" bIns="0" anchor="t">
            <a:spAutoFit/>
          </a:bodyPr>
          <a:lstStyle/>
          <a:p>
            <a:pPr algn="l">
              <a:spcBef>
                <a:spcPts val="0"/>
              </a:spcBef>
              <a:spcAft>
                <a:spcPts val="1400"/>
              </a:spcAft>
            </a:pPr>
            <a:r>
              <a:rPr sz="3400" b="0" i="0">
                <a:solidFill>
                  <a:srgbClr val="FFFFFF"/>
                </a:solidFill>
                <a:latin typeface="Georgia"/>
              </a:rPr>
              <a:t>One idea, applied everywhere</a:t>
            </a:r>
          </a:p>
          <a:p>
            <a:pPr>
              <a:lnSpc>
                <a:spcPct val="132000"/>
              </a:lnSpc>
              <a:spcBef>
                <a:spcPts val="0"/>
              </a:spcBef>
              <a:spcAft>
                <a:spcPts val="0"/>
              </a:spcAft>
            </a:pPr>
            <a:r>
              <a:rPr sz="1500" b="0" i="1">
                <a:solidFill>
                  <a:srgbClr val="F4DFE3"/>
                </a:solidFill>
                <a:latin typeface="Calibri"/>
              </a:rPr>
              <a:t>A pin is to a version, never to a name. A clock records when something became knowable, not when it was written down. A refusal says what to do instead. And what the platform will not do is written down beside what it will.</a:t>
            </a:r>
          </a:p>
        </p:txBody>
      </p:sp>
      <p:sp>
        <p:nvSpPr>
          <p:cNvPr id="6" name="TextBox 5"/>
          <p:cNvSpPr txBox="1"/>
          <p:nvPr/>
        </p:nvSpPr>
        <p:spPr>
          <a:xfrm>
            <a:off x="1143000" y="3858768"/>
            <a:ext cx="7871539" cy="1920240"/>
          </a:xfrm>
          <a:prstGeom prst="rect">
            <a:avLst/>
          </a:prstGeom>
          <a:noFill/>
        </p:spPr>
        <p:txBody>
          <a:bodyPr wrap="square" lIns="0" rIns="0" tIns="0" bIns="0" anchor="t">
            <a:spAutoFit/>
          </a:bodyPr>
          <a:lstStyle/>
          <a:p>
            <a:pPr algn="l">
              <a:spcBef>
                <a:spcPts val="0"/>
              </a:spcBef>
              <a:spcAft>
                <a:spcPts val="400"/>
              </a:spcAft>
            </a:pPr>
            <a:r>
              <a:rPr sz="1800" b="1" i="0">
                <a:solidFill>
                  <a:srgbClr val="FFFFFF"/>
                </a:solidFill>
                <a:latin typeface="Calibri"/>
              </a:rPr>
              <a:t>Ashutosh Sinha</a:t>
            </a:r>
          </a:p>
          <a:p>
            <a:pPr>
              <a:spcBef>
                <a:spcPts val="0"/>
              </a:spcBef>
              <a:spcAft>
                <a:spcPts val="1400"/>
              </a:spcAft>
            </a:pPr>
            <a:r>
              <a:rPr sz="1200" b="0" i="0">
                <a:solidFill>
                  <a:srgbClr val="F2D8DC"/>
                </a:solidFill>
                <a:latin typeface="Calibri"/>
              </a:rPr>
              <a:t>Independent Researcher   ·   ajsinha@gmail.com</a:t>
            </a:r>
          </a:p>
          <a:p>
            <a:pPr>
              <a:lnSpc>
                <a:spcPct val="130000"/>
              </a:lnSpc>
              <a:spcBef>
                <a:spcPts val="0"/>
              </a:spcBef>
              <a:spcAft>
                <a:spcPts val="600"/>
              </a:spcAft>
            </a:pPr>
            <a:r>
              <a:rPr sz="1050" b="0" i="0">
                <a:solidFill>
                  <a:srgbClr val="E8C4CA"/>
                </a:solidFill>
                <a:latin typeface="Calibri"/>
              </a:rPr>
              <a:t>Featuresets and parameters: docs/15-featuresets-and-parameters.md   ·   Composition and retrieval: docs/16-features-composed-and-shaped.md   ·   Feature platform: docs/07-feature-platform.md</a:t>
            </a:r>
          </a:p>
          <a:p>
            <a:pPr>
              <a:lnSpc>
                <a:spcPct val="125000"/>
              </a:lnSpc>
              <a:spcBef>
                <a:spcPts val="1000"/>
              </a:spcBef>
              <a:spcAft>
                <a:spcPts val="600"/>
              </a:spcAft>
            </a:pPr>
            <a:r>
              <a:rPr sz="850" b="0" i="0">
                <a:solidFill>
                  <a:srgbClr val="D8A0AC"/>
                </a:solidFill>
                <a:latin typeface="Calibri"/>
              </a:rPr>
              <a:t>© 2026 Ashutosh Sinha. All rights reserved. Proprietary and confidential — see LICENSE and NOTICE. Not legal, regulatory or financial advice.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