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oleObject" Target="../embeddings/oleObject1.bin"/><Relationship Id="rId3" Type="http://schemas.openxmlformats.org/officeDocument/2006/relationships/image" Target="../media/image2.png"/><Relationship Id="rId4" Type="http://schemas.openxmlformats.org/officeDocument/2006/relationships/oleObject" Target="../embeddings/oleObject2.bin"/></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200" b="0" i="0">
                <a:solidFill>
                  <a:srgbClr val="FFFFFF"/>
                </a:solidFill>
                <a:latin typeface="Georgia"/>
              </a:rPr>
              <a:t>Model and Feature Engineering</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How a feature is defined, how a featureset is composed, how a warrant carries both to an execution engine — and what has to come back</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the practitioner's deck</a:t>
            </a:r>
          </a:p>
        </p:txBody>
      </p:sp>
      <p:sp>
        <p:nvSpPr>
          <p:cNvPr id="12" name="TextBox 11"/>
          <p:cNvSpPr txBox="1"/>
          <p:nvPr/>
        </p:nvSpPr>
        <p:spPr>
          <a:xfrm>
            <a:off x="6627708" y="4407408"/>
            <a:ext cx="4786746" cy="17373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The shape of the whole thing</a:t>
            </a:r>
          </a:p>
          <a:p>
            <a:pPr>
              <a:spcBef>
                <a:spcPts val="0"/>
              </a:spcBef>
              <a:spcAft>
                <a:spcPts val="300"/>
              </a:spcAft>
            </a:pPr>
            <a:r>
              <a:rPr sz="1050" b="1" i="0">
                <a:solidFill>
                  <a:srgbClr val="A51C30"/>
                </a:solidFill>
                <a:latin typeface="Calibri"/>
              </a:rPr>
              <a:t>2   </a:t>
            </a:r>
            <a:r>
              <a:rPr sz="1050" b="0" i="0">
                <a:solidFill>
                  <a:srgbClr val="4A4F57"/>
                </a:solidFill>
                <a:latin typeface="Calibri"/>
              </a:rPr>
              <a:t>Engineering a feature</a:t>
            </a:r>
          </a:p>
          <a:p>
            <a:pPr>
              <a:spcBef>
                <a:spcPts val="0"/>
              </a:spcBef>
              <a:spcAft>
                <a:spcPts val="300"/>
              </a:spcAft>
            </a:pPr>
            <a:r>
              <a:rPr sz="1050" b="1" i="0">
                <a:solidFill>
                  <a:srgbClr val="A51C30"/>
                </a:solidFill>
                <a:latin typeface="Calibri"/>
              </a:rPr>
              <a:t>3   </a:t>
            </a:r>
            <a:r>
              <a:rPr sz="1050" b="0" i="0">
                <a:solidFill>
                  <a:srgbClr val="4A4F57"/>
                </a:solidFill>
                <a:latin typeface="Calibri"/>
              </a:rPr>
              <a:t>Composing a featureset</a:t>
            </a:r>
          </a:p>
          <a:p>
            <a:pPr>
              <a:spcBef>
                <a:spcPts val="0"/>
              </a:spcBef>
              <a:spcAft>
                <a:spcPts val="300"/>
              </a:spcAft>
            </a:pPr>
            <a:r>
              <a:rPr sz="1050" b="1" i="0">
                <a:solidFill>
                  <a:srgbClr val="A51C30"/>
                </a:solidFill>
                <a:latin typeface="Calibri"/>
              </a:rPr>
              <a:t>4   </a:t>
            </a:r>
            <a:r>
              <a:rPr sz="1050" b="0" i="0">
                <a:solidFill>
                  <a:srgbClr val="4A4F57"/>
                </a:solidFill>
                <a:latin typeface="Calibri"/>
              </a:rPr>
              <a:t>Warrants, and what comes back</a:t>
            </a:r>
          </a:p>
          <a:p>
            <a:pPr>
              <a:spcBef>
                <a:spcPts val="0"/>
              </a:spcBef>
              <a:spcAft>
                <a:spcPts val="300"/>
              </a:spcAft>
            </a:pPr>
            <a:r>
              <a:rPr sz="1050" b="1" i="0">
                <a:solidFill>
                  <a:srgbClr val="A51C30"/>
                </a:solidFill>
                <a:latin typeface="Calibri"/>
              </a:rPr>
              <a:t>5   </a:t>
            </a:r>
            <a:r>
              <a:rPr sz="1050" b="0" i="0">
                <a:solidFill>
                  <a:srgbClr val="4A4F57"/>
                </a:solidFill>
                <a:latin typeface="Calibri"/>
              </a:rPr>
              <a:t>What MAYA refuses, and why</a:t>
            </a:r>
          </a:p>
          <a:p>
            <a:pPr>
              <a:spcBef>
                <a:spcPts val="0"/>
              </a:spcBef>
              <a:spcAft>
                <a:spcPts val="300"/>
              </a:spcAft>
            </a:pPr>
            <a:r>
              <a:rPr sz="1050" b="1" i="0">
                <a:solidFill>
                  <a:srgbClr val="A51C30"/>
                </a:solidFill>
                <a:latin typeface="Calibri"/>
              </a:rPr>
              <a:t>6   </a:t>
            </a:r>
            <a:r>
              <a:rPr sz="1050" b="0" i="0">
                <a:solidFill>
                  <a:srgbClr val="4A4F57"/>
                </a:solidFill>
                <a:latin typeface="Calibri"/>
              </a:rPr>
              <a:t>A worked example, with the numbers</a:t>
            </a:r>
          </a:p>
        </p:txBody>
      </p:sp>
      <p:sp>
        <p:nvSpPr>
          <p:cNvPr id="13" name="Rectangle 12"/>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featuresets, warrants and parameters — and how they meet.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a:p>
            <a:pPr>
              <a:lnSpc>
                <a:spcPct val="115000"/>
              </a:lnSpc>
              <a:spcBef>
                <a:spcPts val="0"/>
              </a:spcBef>
              <a:spcAft>
                <a:spcPts val="700"/>
              </a:spcAft>
            </a:pPr>
            <a:r>
              <a:rPr sz="1150" b="0" i="0">
                <a:solidFill>
                  <a:srgbClr val="F6E6E9"/>
                </a:solidFill>
                <a:latin typeface="Calibri"/>
              </a:rPr>
              <a:t>The two clocks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words, and how they hold together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10637215" cy="115214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5720" cy="11521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77240" y="1481328"/>
            <a:ext cx="10637215" cy="566928"/>
          </a:xfrm>
          <a:prstGeom prst="rect">
            <a:avLst/>
          </a:prstGeom>
          <a:noFill/>
        </p:spPr>
        <p:txBody>
          <a:bodyPr wrap="square" lIns="0" rIns="0" tIns="0" bIns="0" anchor="t">
            <a:spAutoFit/>
          </a:bodyPr>
          <a:lstStyle/>
          <a:p>
            <a:pPr algn="ctr">
              <a:spcBef>
                <a:spcPts val="0"/>
              </a:spcBef>
              <a:spcAft>
                <a:spcPts val="0"/>
              </a:spcAft>
            </a:pPr>
            <a:r>
              <a:rPr sz="3000" b="1" i="0">
                <a:solidFill>
                  <a:srgbClr val="A51C30"/>
                </a:solidFill>
                <a:latin typeface="Calibri"/>
              </a:rPr>
              <a:t>f</a:t>
            </a:r>
            <a:r>
              <a:rPr sz="3000" b="0" i="0">
                <a:solidFill>
                  <a:srgbClr val="1C1C1E"/>
                </a:solidFill>
                <a:latin typeface="Calibri"/>
              </a:rPr>
              <a:t> :  </a:t>
            </a:r>
            <a:r>
              <a:rPr sz="3000" b="1" i="0">
                <a:solidFill>
                  <a:srgbClr val="A51C30"/>
                </a:solidFill>
                <a:latin typeface="Calibri"/>
              </a:rPr>
              <a:t>P</a:t>
            </a:r>
            <a:r>
              <a:rPr sz="3000" b="0" i="0">
                <a:solidFill>
                  <a:srgbClr val="1C1C1E"/>
                </a:solidFill>
                <a:latin typeface="Calibri"/>
              </a:rPr>
              <a:t>  ⊗  </a:t>
            </a:r>
            <a:r>
              <a:rPr sz="3000" b="1" i="0">
                <a:solidFill>
                  <a:srgbClr val="A51C30"/>
                </a:solidFill>
                <a:latin typeface="Calibri"/>
              </a:rPr>
              <a:t>X</a:t>
            </a:r>
            <a:r>
              <a:rPr sz="3000" b="0" i="0">
                <a:solidFill>
                  <a:srgbClr val="1C1C1E"/>
                </a:solidFill>
                <a:latin typeface="Calibri"/>
              </a:rPr>
              <a:t>  →  </a:t>
            </a:r>
            <a:r>
              <a:rPr sz="3000" b="1" i="0">
                <a:solidFill>
                  <a:srgbClr val="A51C30"/>
                </a:solidFill>
                <a:latin typeface="Calibri"/>
              </a:rPr>
              <a:t>D(Y)</a:t>
            </a:r>
          </a:p>
        </p:txBody>
      </p:sp>
      <p:sp>
        <p:nvSpPr>
          <p:cNvPr id="13" name="TextBox 12"/>
          <p:cNvSpPr txBox="1"/>
          <p:nvPr/>
        </p:nvSpPr>
        <p:spPr>
          <a:xfrm>
            <a:off x="1005840"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f  </a:t>
            </a:r>
            <a:r>
              <a:rPr sz="950" b="1" i="0">
                <a:solidFill>
                  <a:srgbClr val="1C1C1E"/>
                </a:solidFill>
                <a:latin typeface="Calibri"/>
              </a:rPr>
              <a:t>the KERNEL</a:t>
            </a:r>
          </a:p>
          <a:p>
            <a:pPr algn="ctr">
              <a:spcBef>
                <a:spcPts val="0"/>
              </a:spcBef>
              <a:spcAft>
                <a:spcPts val="0"/>
              </a:spcAft>
            </a:pPr>
            <a:r>
              <a:rPr sz="819" b="0" i="0">
                <a:solidFill>
                  <a:srgbClr val="4A4F57"/>
                </a:solidFill>
                <a:latin typeface="Calibri"/>
              </a:rPr>
              <a:t>the shape of the computation</a:t>
            </a:r>
          </a:p>
        </p:txBody>
      </p:sp>
      <p:sp>
        <p:nvSpPr>
          <p:cNvPr id="14" name="TextBox 13"/>
          <p:cNvSpPr txBox="1"/>
          <p:nvPr/>
        </p:nvSpPr>
        <p:spPr>
          <a:xfrm>
            <a:off x="3550843"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P  </a:t>
            </a:r>
            <a:r>
              <a:rPr sz="950" b="1" i="0">
                <a:solidFill>
                  <a:srgbClr val="1C1C1E"/>
                </a:solidFill>
                <a:latin typeface="Calibri"/>
              </a:rPr>
              <a:t>the PARAMETERS</a:t>
            </a:r>
          </a:p>
          <a:p>
            <a:pPr algn="ctr">
              <a:spcBef>
                <a:spcPts val="0"/>
              </a:spcBef>
              <a:spcAft>
                <a:spcPts val="0"/>
              </a:spcAft>
            </a:pPr>
            <a:r>
              <a:rPr sz="819" b="0" i="0">
                <a:solidFill>
                  <a:srgbClr val="4A4F57"/>
                </a:solidFill>
                <a:latin typeface="Calibri"/>
              </a:rPr>
              <a:t>the numbers it runs with</a:t>
            </a:r>
          </a:p>
        </p:txBody>
      </p:sp>
      <p:sp>
        <p:nvSpPr>
          <p:cNvPr id="15" name="TextBox 14"/>
          <p:cNvSpPr txBox="1"/>
          <p:nvPr/>
        </p:nvSpPr>
        <p:spPr>
          <a:xfrm>
            <a:off x="6095847"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X  </a:t>
            </a:r>
            <a:r>
              <a:rPr sz="950" b="1" i="0">
                <a:solidFill>
                  <a:srgbClr val="1C1C1E"/>
                </a:solidFill>
                <a:latin typeface="Calibri"/>
              </a:rPr>
              <a:t>the FEATURES</a:t>
            </a:r>
          </a:p>
          <a:p>
            <a:pPr algn="ctr">
              <a:spcBef>
                <a:spcPts val="0"/>
              </a:spcBef>
              <a:spcAft>
                <a:spcPts val="0"/>
              </a:spcAft>
            </a:pPr>
            <a:r>
              <a:rPr sz="819" b="0" i="0">
                <a:solidFill>
                  <a:srgbClr val="4A4F57"/>
                </a:solidFill>
                <a:latin typeface="Calibri"/>
              </a:rPr>
              <a:t>what it reads</a:t>
            </a:r>
          </a:p>
        </p:txBody>
      </p:sp>
      <p:sp>
        <p:nvSpPr>
          <p:cNvPr id="16" name="TextBox 15"/>
          <p:cNvSpPr txBox="1"/>
          <p:nvPr/>
        </p:nvSpPr>
        <p:spPr>
          <a:xfrm>
            <a:off x="8640851"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D(Y)  </a:t>
            </a:r>
            <a:r>
              <a:rPr sz="950" b="1" i="0">
                <a:solidFill>
                  <a:srgbClr val="1C1C1E"/>
                </a:solidFill>
                <a:latin typeface="Calibri"/>
              </a:rPr>
              <a:t>the OUTPUT</a:t>
            </a:r>
          </a:p>
          <a:p>
            <a:pPr algn="ctr">
              <a:spcBef>
                <a:spcPts val="0"/>
              </a:spcBef>
              <a:spcAft>
                <a:spcPts val="0"/>
              </a:spcAft>
            </a:pPr>
            <a:r>
              <a:rPr sz="819" b="0" i="0">
                <a:solidFill>
                  <a:srgbClr val="4A4F57"/>
                </a:solidFill>
                <a:latin typeface="Calibri"/>
              </a:rPr>
              <a:t>a distribution, not a number</a:t>
            </a:r>
          </a:p>
        </p:txBody>
      </p:sp>
      <p:sp>
        <p:nvSpPr>
          <p:cNvPr id="17" name="Rectangle 16"/>
          <p:cNvSpPr/>
          <p:nvPr/>
        </p:nvSpPr>
        <p:spPr>
          <a:xfrm>
            <a:off x="777240"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05256"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Model</a:t>
            </a:r>
          </a:p>
          <a:p>
            <a:pPr>
              <a:lnSpc>
                <a:spcPct val="118000"/>
              </a:lnSpc>
              <a:spcBef>
                <a:spcPts val="0"/>
              </a:spcBef>
              <a:spcAft>
                <a:spcPts val="700"/>
              </a:spcAft>
            </a:pPr>
            <a:r>
              <a:rPr sz="860" b="0" i="0">
                <a:solidFill>
                  <a:srgbClr val="1C1C1E"/>
                </a:solidFill>
                <a:latin typeface="Calibri"/>
              </a:rPr>
              <a:t>The register entry: what this is for, who owns it, what tier it sits at.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the code, and not the numbers. Those are its versions and its parameters.</a:t>
            </a:r>
          </a:p>
        </p:txBody>
      </p:sp>
      <p:sp>
        <p:nvSpPr>
          <p:cNvPr id="20" name="Rectangle 19"/>
          <p:cNvSpPr/>
          <p:nvPr/>
        </p:nvSpPr>
        <p:spPr>
          <a:xfrm>
            <a:off x="2933943"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2933943"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3061959"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Kernel</a:t>
            </a:r>
          </a:p>
          <a:p>
            <a:pPr>
              <a:lnSpc>
                <a:spcPct val="118000"/>
              </a:lnSpc>
              <a:spcBef>
                <a:spcPts val="0"/>
              </a:spcBef>
              <a:spcAft>
                <a:spcPts val="700"/>
              </a:spcAft>
            </a:pPr>
            <a:r>
              <a:rPr sz="860" b="0" i="0">
                <a:solidFill>
                  <a:srgbClr val="1C1C1E"/>
                </a:solidFill>
                <a:latin typeface="Calibri"/>
              </a:rPr>
              <a:t>One immutable version of the model — the morphism f : P ⊗ X → D(Y), pinned by digest.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changed by training. Training picks a point in P; the shape stays.</a:t>
            </a:r>
          </a:p>
        </p:txBody>
      </p:sp>
      <p:sp>
        <p:nvSpPr>
          <p:cNvPr id="23" name="Rectangle 22"/>
          <p:cNvSpPr/>
          <p:nvPr/>
        </p:nvSpPr>
        <p:spPr>
          <a:xfrm>
            <a:off x="5090647"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5090647"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5218663"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Feature</a:t>
            </a:r>
          </a:p>
          <a:p>
            <a:pPr>
              <a:lnSpc>
                <a:spcPct val="118000"/>
              </a:lnSpc>
              <a:spcBef>
                <a:spcPts val="0"/>
              </a:spcBef>
              <a:spcAft>
                <a:spcPts val="700"/>
              </a:spcAft>
            </a:pPr>
            <a:r>
              <a:rPr sz="860" b="0" i="0">
                <a:solidFill>
                  <a:srgbClr val="1C1C1E"/>
                </a:solidFill>
                <a:latin typeface="Calibri"/>
              </a:rPr>
              <a:t>A meaning with an entity, a type, a shape and an owner. A featureset assembles them into X.</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column. A column is where the values happen to sit today.</a:t>
            </a:r>
          </a:p>
        </p:txBody>
      </p:sp>
      <p:sp>
        <p:nvSpPr>
          <p:cNvPr id="26" name="Rectangle 25"/>
          <p:cNvSpPr/>
          <p:nvPr/>
        </p:nvSpPr>
        <p:spPr>
          <a:xfrm>
            <a:off x="7247351"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247351"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7375367"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Parameters</a:t>
            </a:r>
          </a:p>
          <a:p>
            <a:pPr>
              <a:lnSpc>
                <a:spcPct val="118000"/>
              </a:lnSpc>
              <a:spcBef>
                <a:spcPts val="0"/>
              </a:spcBef>
              <a:spcAft>
                <a:spcPts val="700"/>
              </a:spcAft>
            </a:pPr>
            <a:r>
              <a:rPr sz="860" b="0" i="0">
                <a:solidFill>
                  <a:srgbClr val="1C1C1E"/>
                </a:solidFill>
                <a:latin typeface="Calibri"/>
              </a:rPr>
              <a:t>An inhabitant of P: the coefficients, weights or constants the kernel runs with.</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new model. A retrain gives a new parameter set, not a new version.</a:t>
            </a:r>
          </a:p>
        </p:txBody>
      </p:sp>
      <p:sp>
        <p:nvSpPr>
          <p:cNvPr id="29" name="Rectangle 28"/>
          <p:cNvSpPr/>
          <p:nvPr/>
        </p:nvSpPr>
        <p:spPr>
          <a:xfrm>
            <a:off x="9404055"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Rectangle 29"/>
          <p:cNvSpPr/>
          <p:nvPr/>
        </p:nvSpPr>
        <p:spPr>
          <a:xfrm>
            <a:off x="9404055"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532071"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Warrant</a:t>
            </a:r>
          </a:p>
          <a:p>
            <a:pPr>
              <a:lnSpc>
                <a:spcPct val="118000"/>
              </a:lnSpc>
              <a:spcBef>
                <a:spcPts val="0"/>
              </a:spcBef>
              <a:spcAft>
                <a:spcPts val="700"/>
              </a:spcAft>
            </a:pPr>
            <a:r>
              <a:rPr sz="860" b="0" i="0">
                <a:solidFill>
                  <a:srgbClr val="1C1C1E"/>
                </a:solidFill>
                <a:latin typeface="Calibri"/>
              </a:rPr>
              <a:t>A signed, expiring document: this kernel, at that point in P, over that data, by whom, until when.</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an execution. MAYA issues it; an engine acts on it and MAYA never runs anything.</a:t>
            </a:r>
          </a:p>
        </p:txBody>
      </p:sp>
      <p:sp>
        <p:nvSpPr>
          <p:cNvPr id="32" name="Rectangle 31"/>
          <p:cNvSpPr/>
          <p:nvPr/>
        </p:nvSpPr>
        <p:spPr>
          <a:xfrm>
            <a:off x="777240" y="5248656"/>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5248656"/>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1014983" y="5367528"/>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How they correlate. </a:t>
            </a:r>
            <a:r>
              <a:rPr sz="1050" b="0" i="0">
                <a:solidFill>
                  <a:srgbClr val="1C1C1E"/>
                </a:solidFill>
                <a:latin typeface="Calibri"/>
              </a:rPr>
              <a:t>A MODEL owns versions; each version is a KERNEL. A FEATURESET presents X. A fit inhabits P and returns PARAMETERS. A WARRANT is what names a kernel, a point in P and a source of X together — </a:t>
            </a:r>
            <a:r>
              <a:rPr sz="1050" b="1" i="0">
                <a:solidFill>
                  <a:srgbClr val="1C1C1E"/>
                </a:solidFill>
                <a:latin typeface="Calibri"/>
              </a:rPr>
              <a:t>which is why it is the only one of the five that can be acted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never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5956840" cy="156088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5608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event_ts    when the fact was TRUE in the world</a:t>
            </a:r>
          </a:p>
          <a:p>
            <a:pPr>
              <a:lnSpc>
                <a:spcPct val="134000"/>
              </a:lnSpc>
              <a:spcBef>
                <a:spcPts val="0"/>
              </a:spcBef>
              <a:spcAft>
                <a:spcPts val="0"/>
              </a:spcAft>
            </a:pPr>
            <a:r>
              <a:rPr sz="1000" b="0" i="0">
                <a:solidFill>
                  <a:srgbClr val="1C1C1E"/>
                </a:solidFill>
                <a:latin typeface="Consolas"/>
              </a:rPr>
              <a:t>ingest_ts   when the platform LEARNED it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point-in-time rule:</a:t>
            </a:r>
          </a:p>
          <a:p>
            <a:pPr>
              <a:lnSpc>
                <a:spcPct val="134000"/>
              </a:lnSpc>
              <a:spcBef>
                <a:spcPts val="0"/>
              </a:spcBef>
              <a:spcAft>
                <a:spcPts val="0"/>
              </a:spcAft>
            </a:pPr>
            <a:r>
              <a:rPr sz="1000" b="0" i="0">
                <a:solidFill>
                  <a:srgbClr val="1C1C1E"/>
                </a:solidFill>
                <a:latin typeface="Consolas"/>
              </a:rPr>
              <a:t>    event_ts  &lt;= label_ts</a:t>
            </a:r>
          </a:p>
          <a:p>
            <a:pPr>
              <a:lnSpc>
                <a:spcPct val="134000"/>
              </a:lnSpc>
              <a:spcBef>
                <a:spcPts val="0"/>
              </a:spcBef>
              <a:spcAft>
                <a:spcPts val="0"/>
              </a:spcAft>
            </a:pPr>
            <a:r>
              <a:rPr sz="1000" b="0" i="0">
                <a:solidFill>
                  <a:srgbClr val="1C1C1E"/>
                </a:solidFill>
                <a:latin typeface="Consolas"/>
              </a:rPr>
              <a:t>    ingest_ts &lt;= as_of</a:t>
            </a:r>
          </a:p>
        </p:txBody>
      </p:sp>
      <p:sp>
        <p:nvSpPr>
          <p:cNvPr id="13" name="TextBox 12"/>
          <p:cNvSpPr txBox="1"/>
          <p:nvPr/>
        </p:nvSpPr>
        <p:spPr>
          <a:xfrm>
            <a:off x="777240" y="3151936"/>
            <a:ext cx="5956840" cy="2011680"/>
          </a:xfrm>
          <a:prstGeom prst="rect">
            <a:avLst/>
          </a:prstGeom>
          <a:noFill/>
        </p:spPr>
        <p:txBody>
          <a:bodyPr wrap="square" lIns="0" rIns="0" tIns="0" bIns="0" anchor="t">
            <a:spAutoFit/>
          </a:bodyPr>
          <a:lstStyle/>
          <a:p>
            <a:pPr algn="l">
              <a:lnSpc>
                <a:spcPct val="126000"/>
              </a:lnSpc>
              <a:spcBef>
                <a:spcPts val="0"/>
              </a:spcBef>
              <a:spcAft>
                <a:spcPts val="800"/>
              </a:spcAft>
            </a:pPr>
            <a:r>
              <a:rPr sz="1150" b="0" i="0">
                <a:solidFill>
                  <a:srgbClr val="1C1C1E"/>
                </a:solidFill>
                <a:latin typeface="Calibri"/>
              </a:rPr>
              <a:t>“What did we know, and when did we know it” is a different question from “what was true”, and a training set built without both answers only the second.</a:t>
            </a:r>
          </a:p>
          <a:p>
            <a:pPr>
              <a:lnSpc>
                <a:spcPct val="124000"/>
              </a:lnSpc>
              <a:spcBef>
                <a:spcPts val="0"/>
              </a:spcBef>
              <a:spcAft>
                <a:spcPts val="0"/>
              </a:spcAft>
            </a:pPr>
            <a:r>
              <a:rPr sz="1100" b="0" i="0">
                <a:solidFill>
                  <a:srgbClr val="4A4F57"/>
                </a:solidFill>
                <a:latin typeface="Calibri"/>
              </a:rPr>
              <a:t>A row missing either clock is refused at the upload rather than two layers later during assembly — which is where it stops being fixable.</a:t>
            </a:r>
          </a:p>
        </p:txBody>
      </p:sp>
      <p:sp>
        <p:nvSpPr>
          <p:cNvPr id="14" name="TextBox 13"/>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Where the clocks decide the answer</a:t>
            </a:r>
          </a:p>
        </p:txBody>
      </p:sp>
      <p:graphicFrame>
        <p:nvGraphicFramePr>
          <p:cNvPr id="15" name="Table 14"/>
          <p:cNvGraphicFramePr>
            <a:graphicFrameLocks noGrp="1"/>
          </p:cNvGraphicFramePr>
          <p:nvPr/>
        </p:nvGraphicFramePr>
        <p:xfrm>
          <a:off x="7159569" y="1737360"/>
          <a:ext cx="4254885" cy="2658856"/>
        </p:xfrm>
        <a:graphic>
          <a:graphicData uri="http://schemas.openxmlformats.org/drawingml/2006/table">
            <a:tbl>
              <a:tblPr>
                <a:tableStyleId>{5C22544A-7EE6-4342-B048-85BDC9FD1C3A}</a:tableStyleId>
              </a:tblPr>
              <a:tblGrid>
                <a:gridCol w="1172264"/>
                <a:gridCol w="3082621"/>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Assembly</a:t>
                      </a:r>
                    </a:p>
                  </a:txBody>
                  <a:tcPr marL="82296" marR="64008" marT="32004" marB="32004" anchor="ctr">
                    <a:solidFill>
                      <a:srgbClr val="FFFFFF"/>
                    </a:solidFill>
                  </a:tcPr>
                </a:tc>
                <a:tc>
                  <a:txBody>
                    <a:bodyPr wrap="square"/>
                    <a:lstStyle/>
                    <a:p>
                      <a:pPr algn="l"/>
                      <a:r>
                        <a:rPr sz="950" b="0">
                          <a:solidFill>
                            <a:srgbClr val="1C1C1E"/>
                          </a:solidFill>
                          <a:latin typeface="Calibri"/>
                        </a:rPr>
                        <a:t>the latest fact true by the label date AND known by as_of</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Normalisation</a:t>
                      </a:r>
                    </a:p>
                  </a:txBody>
                  <a:tcPr marL="82296" marR="64008" marT="32004" marB="32004" anchor="ctr">
                    <a:solidFill>
                      <a:srgbClr val="F6F3EF"/>
                    </a:solidFill>
                  </a:tcPr>
                </a:tc>
                <a:tc>
                  <a:txBody>
                    <a:bodyPr wrap="square"/>
                    <a:lstStyle/>
                    <a:p>
                      <a:pPr algn="l"/>
                      <a:r>
                        <a:rPr sz="950" b="0">
                          <a:solidFill>
                            <a:srgbClr val="1C1C1E"/>
                          </a:solidFill>
                          <a:latin typeface="Calibri"/>
                        </a:rPr>
                        <a:t>statistics fitted only from what was knowable then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Derived features</a:t>
                      </a:r>
                    </a:p>
                  </a:txBody>
                  <a:tcPr marL="82296" marR="64008" marT="32004" marB="32004" anchor="ctr">
                    <a:solidFill>
                      <a:srgbClr val="FFFFFF"/>
                    </a:solidFill>
                  </a:tcPr>
                </a:tc>
                <a:tc>
                  <a:txBody>
                    <a:bodyPr wrap="square"/>
                    <a:lstStyle/>
                    <a:p>
                      <a:pPr algn="l"/>
                      <a:r>
                        <a:rPr sz="950" b="0">
                          <a:solidFill>
                            <a:srgbClr val="1C1C1E"/>
                          </a:solidFill>
                          <a:latin typeface="Calibri"/>
                        </a:rPr>
                        <a:t>ingest_ts(Z) = max over the inputs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Alignment</a:t>
                      </a:r>
                    </a:p>
                  </a:txBody>
                  <a:tcPr marL="82296" marR="64008" marT="32004" marB="32004" anchor="ctr">
                    <a:solidFill>
                      <a:srgbClr val="F6F3EF"/>
                    </a:solidFill>
                  </a:tcPr>
                </a:tc>
                <a:tc>
                  <a:txBody>
                    <a:bodyPr wrap="square"/>
                    <a:lstStyle/>
                    <a:p>
                      <a:pPr algn="l"/>
                      <a:r>
                        <a:rPr sz="950" b="0">
                          <a:solidFill>
                            <a:srgbClr val="1C1C1E"/>
                          </a:solidFill>
                          <a:latin typeface="Calibri"/>
                        </a:rPr>
                        <a:t>a back-filled value carries the clock it became knowable at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Telemetry</a:t>
                      </a:r>
                    </a:p>
                  </a:txBody>
                  <a:tcPr marL="82296" marR="64008" marT="32004" marB="32004" anchor="ctr">
                    <a:solidFill>
                      <a:srgbClr val="FFFFFF"/>
                    </a:solidFill>
                  </a:tcPr>
                </a:tc>
                <a:tc>
                  <a:txBody>
                    <a:bodyPr wrap="square"/>
                    <a:lstStyle/>
                    <a:p>
                      <a:pPr algn="l"/>
                      <a:r>
                        <a:rPr sz="950" b="0">
                          <a:solidFill>
                            <a:srgbClr val="1C1C1E"/>
                          </a:solidFill>
                          <a:latin typeface="Calibri"/>
                        </a:rPr>
                        <a:t>a review of last quarter sees last quarter's population</a:t>
                      </a:r>
                    </a:p>
                  </a:txBody>
                  <a:tcPr marL="82296" marR="64008" marT="32004" marB="32004"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Engineering a Feature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meaning, a shape, a lineage, and an owner who answers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Composing a Featureset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474720"/>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474720"/>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593591"/>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356616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258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not a hypothetical about leakage. It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docs/data/ — </a:t>
            </a:r>
            <a:r>
              <a:rPr sz="1050" b="1" i="0">
                <a:solidFill>
                  <a:srgbClr val="1C1C1E"/>
                </a:solidFill>
                <a:latin typeface="Calibri"/>
              </a:rPr>
              <a:t>every figure that follows was computed from them.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Nothing was constructed to make this slide interesting — the hole is in the series.</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to open it. They are the files every number in this chapter was computed from, carrying their own provenance in the header — which series, from where, retrieved when, and which column means what.</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 and a file that did not say so would be inviting somebody to rely on it.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35248" y="1682496"/>
          <a:ext cx="475488" cy="475488"/>
        </p:xfrm>
        <a:graphic>
          <a:graphicData uri="http://schemas.openxmlformats.org/presentationml/2006/ole">
            <p:oleObj showAsIcon="1" r:id="rId2" imgW="475488" imgH="475488" progId="Package">
              <p:embed/>
              <p:pic>
                <p:nvPicPr>
                  <p:cNvPr id="0" name=""/>
                  <p:cNvPicPr/>
                  <p:nvPr/>
                </p:nvPicPr>
                <p:blipFill>
                  <a:blip r:embed="rId3"/>
                  <a:stretch>
                    <a:fillRect/>
                  </a:stretch>
                </p:blipFill>
                <p:spPr>
                  <a:xfrm>
                    <a:off x="6935248" y="1682496"/>
                    <a:ext cx="475488" cy="475488"/>
                  </a:xfrm>
                  <a:prstGeom prst="rect">
                    <a:avLst/>
                  </a:prstGeom>
                </p:spPr>
              </p:pic>
            </p:oleObj>
          </a:graphicData>
        </a:graphic>
      </p:graphicFrame>
      <p:sp>
        <p:nvSpPr>
          <p:cNvPr id="14" name="TextBox 13"/>
          <p:cNvSpPr txBox="1"/>
          <p:nvPr/>
        </p:nvSpPr>
        <p:spPr>
          <a:xfrm>
            <a:off x="7575328" y="1627632"/>
            <a:ext cx="3637958" cy="822960"/>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258 rows  ·  Sep 2025 – Sep 2026</a:t>
            </a:r>
          </a:p>
          <a:p>
            <a:pPr>
              <a:spcBef>
                <a:spcPts val="0"/>
              </a:spcBef>
              <a:spcAft>
                <a:spcPts val="0"/>
              </a:spcAft>
            </a:pPr>
            <a:r>
              <a:rPr sz="850" b="0" i="0">
                <a:solidFill>
                  <a:srgbClr val="A51C30"/>
                </a:solidFill>
                <a:latin typeface="Calibri"/>
              </a:rPr>
              <a:t>sp500_daily.csv</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35248" y="3072384"/>
          <a:ext cx="475488" cy="475488"/>
        </p:xfrm>
        <a:graphic>
          <a:graphicData uri="http://schemas.openxmlformats.org/presentationml/2006/ole">
            <p:oleObj showAsIcon="1" r:id="rId4" imgW="475488" imgH="475488" progId="Package">
              <p:embed/>
              <p:pic>
                <p:nvPicPr>
                  <p:cNvPr id="0" name=""/>
                  <p:cNvPicPr/>
                  <p:nvPr/>
                </p:nvPicPr>
                <p:blipFill>
                  <a:blip r:embed="rId3"/>
                  <a:stretch>
                    <a:fillRect/>
                  </a:stretch>
                </p:blipFill>
                <p:spPr>
                  <a:xfrm>
                    <a:off x="6935248" y="3072384"/>
                    <a:ext cx="475488" cy="475488"/>
                  </a:xfrm>
                  <a:prstGeom prst="rect">
                    <a:avLst/>
                  </a:prstGeom>
                </p:spPr>
              </p:pic>
            </p:oleObj>
          </a:graphicData>
        </a:graphic>
      </p:graphicFrame>
      <p:sp>
        <p:nvSpPr>
          <p:cNvPr id="18" name="TextBox 17"/>
          <p:cNvSpPr txBox="1"/>
          <p:nvPr/>
        </p:nvSpPr>
        <p:spPr>
          <a:xfrm>
            <a:off x="7575328" y="3017520"/>
            <a:ext cx="3637958" cy="822960"/>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us_unemployment_monthly.csv</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in the repository, at docs/data/. </a:t>
            </a:r>
            <a:r>
              <a:rPr sz="1050" b="0" i="0">
                <a:solidFill>
                  <a:srgbClr val="1C1C1E"/>
                </a:solidFill>
                <a:latin typeface="Calibri"/>
              </a:rPr>
              <a:t>The deck is regenerated from source rather than edited as a binary, so the figures and the files cannot drift apart — </a:t>
            </a:r>
            <a:r>
              <a:rPr sz="1050" b="1" i="0">
                <a:solidFill>
                  <a:srgbClr val="1C1C1E"/>
                </a:solidFill>
                <a:latin typeface="Calibri"/>
              </a:rPr>
              <a:t>the generator reads these same two CSVs.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