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444752"/>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886968" y="1572768"/>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Feature</a:t>
            </a:r>
          </a:p>
          <a:p>
            <a:pPr>
              <a:lnSpc>
                <a:spcPct val="114000"/>
              </a:lnSpc>
              <a:spcBef>
                <a:spcPts val="0"/>
              </a:spcBef>
              <a:spcAft>
                <a:spcPts val="0"/>
              </a:spcAft>
            </a:pPr>
            <a:r>
              <a:rPr sz="819" b="0" i="0">
                <a:solidFill>
                  <a:srgbClr val="4A4F57"/>
                </a:solidFill>
                <a:latin typeface="Calibri"/>
              </a:rPr>
              <a:t>a meaning, not a column: entity, shape, owner</a:t>
            </a:r>
          </a:p>
        </p:txBody>
      </p:sp>
      <p:sp>
        <p:nvSpPr>
          <p:cNvPr id="13" name="Rectangle 12"/>
          <p:cNvSpPr/>
          <p:nvPr/>
        </p:nvSpPr>
        <p:spPr>
          <a:xfrm>
            <a:off x="3154679" y="1444752"/>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154679" y="1444752"/>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264408" y="1572768"/>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Derived feature</a:t>
            </a:r>
          </a:p>
          <a:p>
            <a:pPr>
              <a:lnSpc>
                <a:spcPct val="114000"/>
              </a:lnSpc>
              <a:spcBef>
                <a:spcPts val="0"/>
              </a:spcBef>
              <a:spcAft>
                <a:spcPts val="0"/>
              </a:spcAft>
            </a:pPr>
            <a:r>
              <a:rPr sz="819" b="0" i="0">
                <a:solidFill>
                  <a:srgbClr val="4A4F57"/>
                </a:solidFill>
                <a:latin typeface="Calibri"/>
              </a:rPr>
              <a:t>Z = f(X, Y), declared and versioned</a:t>
            </a:r>
          </a:p>
        </p:txBody>
      </p:sp>
      <p:sp>
        <p:nvSpPr>
          <p:cNvPr id="16" name="Rectangle 15"/>
          <p:cNvSpPr/>
          <p:nvPr/>
        </p:nvSpPr>
        <p:spPr>
          <a:xfrm>
            <a:off x="5532119" y="1444752"/>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532119" y="1444752"/>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641847" y="1572768"/>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Feature view version</a:t>
            </a:r>
          </a:p>
          <a:p>
            <a:pPr>
              <a:lnSpc>
                <a:spcPct val="114000"/>
              </a:lnSpc>
              <a:spcBef>
                <a:spcPts val="0"/>
              </a:spcBef>
              <a:spcAft>
                <a:spcPts val="0"/>
              </a:spcAft>
            </a:pPr>
            <a:r>
              <a:rPr sz="819" b="0" i="0">
                <a:solidFill>
                  <a:srgbClr val="4A4F57"/>
                </a:solidFill>
                <a:latin typeface="Calibri"/>
              </a:rPr>
              <a:t>where values live: a Delta namespace that never moves</a:t>
            </a:r>
          </a:p>
        </p:txBody>
      </p:sp>
      <p:sp>
        <p:nvSpPr>
          <p:cNvPr id="19" name="Rectangle 18"/>
          <p:cNvSpPr/>
          <p:nvPr/>
        </p:nvSpPr>
        <p:spPr>
          <a:xfrm>
            <a:off x="7909559" y="1444752"/>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909559" y="1444752"/>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019287" y="1572768"/>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Telemetry</a:t>
            </a:r>
          </a:p>
          <a:p>
            <a:pPr>
              <a:lnSpc>
                <a:spcPct val="114000"/>
              </a:lnSpc>
              <a:spcBef>
                <a:spcPts val="0"/>
              </a:spcBef>
              <a:spcAft>
                <a:spcPts val="0"/>
              </a:spcAft>
            </a:pPr>
            <a:r>
              <a:rPr sz="819" b="0" i="0">
                <a:solidFill>
                  <a:srgbClr val="4A4F57"/>
                </a:solidFill>
                <a:latin typeface="Calibri"/>
              </a:rPr>
              <a:t>scores and outcomes, on two clocks</a:t>
            </a:r>
          </a:p>
        </p:txBody>
      </p:sp>
      <p:sp>
        <p:nvSpPr>
          <p:cNvPr id="22" name="Rectangle 21"/>
          <p:cNvSpPr/>
          <p:nvPr/>
        </p:nvSpPr>
        <p:spPr>
          <a:xfrm>
            <a:off x="777240" y="2615184"/>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15184"/>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886968" y="2743200"/>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Featureset</a:t>
            </a:r>
          </a:p>
          <a:p>
            <a:pPr>
              <a:lnSpc>
                <a:spcPct val="114000"/>
              </a:lnSpc>
              <a:spcBef>
                <a:spcPts val="0"/>
              </a:spcBef>
              <a:spcAft>
                <a:spcPts val="0"/>
              </a:spcAft>
            </a:pPr>
            <a:r>
              <a:rPr sz="819" b="0" i="0">
                <a:solidFill>
                  <a:srgbClr val="4A4F57"/>
                </a:solidFill>
                <a:latin typeface="Calibri"/>
              </a:rPr>
              <a:t>a declared SCHEMA of named slots</a:t>
            </a:r>
          </a:p>
        </p:txBody>
      </p:sp>
      <p:sp>
        <p:nvSpPr>
          <p:cNvPr id="25" name="Rectangle 24"/>
          <p:cNvSpPr/>
          <p:nvPr/>
        </p:nvSpPr>
        <p:spPr>
          <a:xfrm>
            <a:off x="3154679" y="2615184"/>
            <a:ext cx="2084831" cy="786384"/>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3154679" y="2615184"/>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3264408" y="2743200"/>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Featureset version</a:t>
            </a:r>
          </a:p>
          <a:p>
            <a:pPr>
              <a:lnSpc>
                <a:spcPct val="114000"/>
              </a:lnSpc>
              <a:spcBef>
                <a:spcPts val="0"/>
              </a:spcBef>
              <a:spcAft>
                <a:spcPts val="0"/>
              </a:spcAft>
            </a:pPr>
            <a:r>
              <a:rPr sz="819" b="0" i="0">
                <a:solidFill>
                  <a:srgbClr val="4A4F57"/>
                </a:solidFill>
                <a:latin typeface="Calibri"/>
              </a:rPr>
              <a:t>fills each slot: feature + view version + Delta version</a:t>
            </a:r>
          </a:p>
        </p:txBody>
      </p:sp>
      <p:sp>
        <p:nvSpPr>
          <p:cNvPr id="28" name="Rectangle 27"/>
          <p:cNvSpPr/>
          <p:nvPr/>
        </p:nvSpPr>
        <p:spPr>
          <a:xfrm>
            <a:off x="5532119" y="2615184"/>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5532119" y="2615184"/>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5641847" y="2743200"/>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Dataset snapshot</a:t>
            </a:r>
          </a:p>
          <a:p>
            <a:pPr>
              <a:lnSpc>
                <a:spcPct val="114000"/>
              </a:lnSpc>
              <a:spcBef>
                <a:spcPts val="0"/>
              </a:spcBef>
              <a:spcAft>
                <a:spcPts val="0"/>
              </a:spcAft>
            </a:pPr>
            <a:r>
              <a:rPr sz="819" b="0" i="0">
                <a:solidFill>
                  <a:srgbClr val="4A4F57"/>
                </a:solidFill>
                <a:latin typeface="Calibri"/>
              </a:rPr>
              <a:t>assembled point-in-time, digested, PIT-verified</a:t>
            </a:r>
          </a:p>
        </p:txBody>
      </p:sp>
      <p:sp>
        <p:nvSpPr>
          <p:cNvPr id="31" name="Rectangle 30"/>
          <p:cNvSpPr/>
          <p:nvPr/>
        </p:nvSpPr>
        <p:spPr>
          <a:xfrm>
            <a:off x="7909559" y="2615184"/>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909559" y="2615184"/>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8019287" y="2743200"/>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Monitor</a:t>
            </a:r>
          </a:p>
          <a:p>
            <a:pPr>
              <a:lnSpc>
                <a:spcPct val="114000"/>
              </a:lnSpc>
              <a:spcBef>
                <a:spcPts val="0"/>
              </a:spcBef>
              <a:spcAft>
                <a:spcPts val="0"/>
              </a:spcAft>
            </a:pPr>
            <a:r>
              <a:rPr sz="819" b="0" i="0">
                <a:solidFill>
                  <a:srgbClr val="4A4F57"/>
                </a:solidFill>
                <a:latin typeface="Calibri"/>
              </a:rPr>
              <a:t>evaluated from telemetry the platform holds</a:t>
            </a:r>
          </a:p>
        </p:txBody>
      </p:sp>
      <p:sp>
        <p:nvSpPr>
          <p:cNvPr id="34" name="Rectangle 33"/>
          <p:cNvSpPr/>
          <p:nvPr/>
        </p:nvSpPr>
        <p:spPr>
          <a:xfrm>
            <a:off x="777240" y="3785616"/>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Rectangle 34"/>
          <p:cNvSpPr/>
          <p:nvPr/>
        </p:nvSpPr>
        <p:spPr>
          <a:xfrm>
            <a:off x="777240" y="3785616"/>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886968" y="3913632"/>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Model</a:t>
            </a:r>
          </a:p>
          <a:p>
            <a:pPr>
              <a:lnSpc>
                <a:spcPct val="114000"/>
              </a:lnSpc>
              <a:spcBef>
                <a:spcPts val="0"/>
              </a:spcBef>
              <a:spcAft>
                <a:spcPts val="0"/>
              </a:spcAft>
            </a:pPr>
            <a:r>
              <a:rPr sz="819" b="0" i="0">
                <a:solidFill>
                  <a:srgbClr val="4A4F57"/>
                </a:solidFill>
                <a:latin typeface="Calibri"/>
              </a:rPr>
              <a:t>the register entry: owner, purpose, tier</a:t>
            </a:r>
          </a:p>
        </p:txBody>
      </p:sp>
      <p:sp>
        <p:nvSpPr>
          <p:cNvPr id="37" name="Rectangle 36"/>
          <p:cNvSpPr/>
          <p:nvPr/>
        </p:nvSpPr>
        <p:spPr>
          <a:xfrm>
            <a:off x="3154679" y="3785616"/>
            <a:ext cx="2084831" cy="786384"/>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3154679" y="3785616"/>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3264408" y="3913632"/>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Model version</a:t>
            </a:r>
          </a:p>
          <a:p>
            <a:pPr>
              <a:lnSpc>
                <a:spcPct val="114000"/>
              </a:lnSpc>
              <a:spcBef>
                <a:spcPts val="0"/>
              </a:spcBef>
              <a:spcAft>
                <a:spcPts val="0"/>
              </a:spcAft>
            </a:pPr>
            <a:r>
              <a:rPr sz="819" b="0" i="0">
                <a:solidFill>
                  <a:srgbClr val="4A4F57"/>
                </a:solidFill>
                <a:latin typeface="Calibri"/>
              </a:rPr>
              <a:t>the kernel  f : P × X → D(Y), immutable</a:t>
            </a:r>
          </a:p>
        </p:txBody>
      </p:sp>
      <p:sp>
        <p:nvSpPr>
          <p:cNvPr id="40" name="Rectangle 39"/>
          <p:cNvSpPr/>
          <p:nvPr/>
        </p:nvSpPr>
        <p:spPr>
          <a:xfrm>
            <a:off x="5532119" y="3785616"/>
            <a:ext cx="2084831" cy="786384"/>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5532119" y="3785616"/>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5641847" y="3913632"/>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Warrant</a:t>
            </a:r>
          </a:p>
          <a:p>
            <a:pPr>
              <a:lnSpc>
                <a:spcPct val="114000"/>
              </a:lnSpc>
              <a:spcBef>
                <a:spcPts val="0"/>
              </a:spcBef>
              <a:spcAft>
                <a:spcPts val="0"/>
              </a:spcAft>
            </a:pPr>
            <a:r>
              <a:rPr sz="819" b="0" i="0">
                <a:solidFill>
                  <a:srgbClr val="4A4F57"/>
                </a:solidFill>
                <a:latin typeface="Calibri"/>
              </a:rPr>
              <a:t>signed, expiring, entitlement-bound: what may be run</a:t>
            </a:r>
          </a:p>
        </p:txBody>
      </p:sp>
      <p:sp>
        <p:nvSpPr>
          <p:cNvPr id="43" name="Rectangle 42"/>
          <p:cNvSpPr/>
          <p:nvPr/>
        </p:nvSpPr>
        <p:spPr>
          <a:xfrm>
            <a:off x="7909559" y="3785616"/>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Rectangle 43"/>
          <p:cNvSpPr/>
          <p:nvPr/>
        </p:nvSpPr>
        <p:spPr>
          <a:xfrm>
            <a:off x="7909559" y="3785616"/>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5" name="TextBox 44"/>
          <p:cNvSpPr txBox="1"/>
          <p:nvPr/>
        </p:nvSpPr>
        <p:spPr>
          <a:xfrm>
            <a:off x="8019287" y="3913632"/>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Execution engine</a:t>
            </a:r>
          </a:p>
          <a:p>
            <a:pPr>
              <a:lnSpc>
                <a:spcPct val="114000"/>
              </a:lnSpc>
              <a:spcBef>
                <a:spcPts val="0"/>
              </a:spcBef>
              <a:spcAft>
                <a:spcPts val="0"/>
              </a:spcAft>
            </a:pPr>
            <a:r>
              <a:rPr sz="819" b="0" i="0">
                <a:solidFill>
                  <a:srgbClr val="4A4F57"/>
                </a:solidFill>
                <a:latin typeface="Calibri"/>
              </a:rPr>
              <a:t>outside MAYA. reads the warrant, runs nothing else</a:t>
            </a:r>
          </a:p>
        </p:txBody>
      </p:sp>
      <p:sp>
        <p:nvSpPr>
          <p:cNvPr id="46" name="Rectangle 45"/>
          <p:cNvSpPr/>
          <p:nvPr/>
        </p:nvSpPr>
        <p:spPr>
          <a:xfrm>
            <a:off x="777240" y="4956048"/>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Rectangle 46"/>
          <p:cNvSpPr/>
          <p:nvPr/>
        </p:nvSpPr>
        <p:spPr>
          <a:xfrm>
            <a:off x="777240" y="4956048"/>
            <a:ext cx="2084831"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886968" y="5084064"/>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Parameter set</a:t>
            </a:r>
          </a:p>
          <a:p>
            <a:pPr>
              <a:lnSpc>
                <a:spcPct val="114000"/>
              </a:lnSpc>
              <a:spcBef>
                <a:spcPts val="0"/>
              </a:spcBef>
              <a:spcAft>
                <a:spcPts val="0"/>
              </a:spcAft>
            </a:pPr>
            <a:r>
              <a:rPr sz="819" b="0" i="0">
                <a:solidFill>
                  <a:srgbClr val="4A4F57"/>
                </a:solidFill>
                <a:latin typeface="Calibri"/>
              </a:rPr>
              <a:t>an inhabitant of P. a fit makes one, not a version</a:t>
            </a:r>
          </a:p>
        </p:txBody>
      </p:sp>
      <p:sp>
        <p:nvSpPr>
          <p:cNvPr id="49" name="Rectangle 48"/>
          <p:cNvSpPr/>
          <p:nvPr/>
        </p:nvSpPr>
        <p:spPr>
          <a:xfrm>
            <a:off x="3154679" y="4956048"/>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Rectangle 49"/>
          <p:cNvSpPr/>
          <p:nvPr/>
        </p:nvSpPr>
        <p:spPr>
          <a:xfrm>
            <a:off x="3154679" y="4956048"/>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1" name="TextBox 50"/>
          <p:cNvSpPr txBox="1"/>
          <p:nvPr/>
        </p:nvSpPr>
        <p:spPr>
          <a:xfrm>
            <a:off x="3264408" y="5084064"/>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Approval</a:t>
            </a:r>
          </a:p>
          <a:p>
            <a:pPr>
              <a:lnSpc>
                <a:spcPct val="114000"/>
              </a:lnSpc>
              <a:spcBef>
                <a:spcPts val="0"/>
              </a:spcBef>
              <a:spcAft>
                <a:spcPts val="0"/>
              </a:spcAft>
            </a:pPr>
            <a:r>
              <a:rPr sz="819" b="0" i="0">
                <a:solidFill>
                  <a:srgbClr val="4A4F57"/>
                </a:solidFill>
                <a:latin typeface="Calibri"/>
              </a:rPr>
              <a:t>a quorum whose depth follows the tier</a:t>
            </a:r>
          </a:p>
        </p:txBody>
      </p:sp>
      <p:sp>
        <p:nvSpPr>
          <p:cNvPr id="52" name="Rectangle 51"/>
          <p:cNvSpPr/>
          <p:nvPr/>
        </p:nvSpPr>
        <p:spPr>
          <a:xfrm>
            <a:off x="5532119" y="4956048"/>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Rectangle 52"/>
          <p:cNvSpPr/>
          <p:nvPr/>
        </p:nvSpPr>
        <p:spPr>
          <a:xfrm>
            <a:off x="5532119" y="4956048"/>
            <a:ext cx="2084831" cy="45720"/>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4" name="TextBox 53"/>
          <p:cNvSpPr txBox="1"/>
          <p:nvPr/>
        </p:nvSpPr>
        <p:spPr>
          <a:xfrm>
            <a:off x="5641847" y="5084064"/>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Evidence chain</a:t>
            </a:r>
          </a:p>
          <a:p>
            <a:pPr>
              <a:lnSpc>
                <a:spcPct val="114000"/>
              </a:lnSpc>
              <a:spcBef>
                <a:spcPts val="0"/>
              </a:spcBef>
              <a:spcAft>
                <a:spcPts val="0"/>
              </a:spcAft>
            </a:pPr>
            <a:r>
              <a:rPr sz="819" b="0" i="0">
                <a:solidFill>
                  <a:srgbClr val="4A4F57"/>
                </a:solidFill>
                <a:latin typeface="Calibri"/>
              </a:rPr>
              <a:t>append-only, hash-linked: every act above</a:t>
            </a:r>
          </a:p>
        </p:txBody>
      </p:sp>
      <p:sp>
        <p:nvSpPr>
          <p:cNvPr id="55" name="Rectangle 54"/>
          <p:cNvSpPr/>
          <p:nvPr/>
        </p:nvSpPr>
        <p:spPr>
          <a:xfrm>
            <a:off x="7909559" y="4956048"/>
            <a:ext cx="2084831" cy="78638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6" name="Rectangle 55"/>
          <p:cNvSpPr/>
          <p:nvPr/>
        </p:nvSpPr>
        <p:spPr>
          <a:xfrm>
            <a:off x="7909559" y="4956048"/>
            <a:ext cx="2084831"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8019287" y="5084064"/>
            <a:ext cx="1865376" cy="54864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Georgia"/>
              </a:rPr>
              <a:t>Compiled document</a:t>
            </a:r>
          </a:p>
          <a:p>
            <a:pPr>
              <a:lnSpc>
                <a:spcPct val="114000"/>
              </a:lnSpc>
              <a:spcBef>
                <a:spcPts val="0"/>
              </a:spcBef>
              <a:spcAft>
                <a:spcPts val="0"/>
              </a:spcAft>
            </a:pPr>
            <a:r>
              <a:rPr sz="819" b="0" i="0">
                <a:solidFill>
                  <a:srgbClr val="4A4F57"/>
                </a:solidFill>
                <a:latin typeface="Calibri"/>
              </a:rPr>
              <a:t>generated from the register, citations that resolve</a:t>
            </a:r>
          </a:p>
        </p:txBody>
      </p:sp>
      <p:cxnSp>
        <p:nvCxnSpPr>
          <p:cNvPr id="58" name="Connector 57"/>
          <p:cNvCxnSpPr/>
          <p:nvPr/>
        </p:nvCxnSpPr>
        <p:spPr>
          <a:xfrm>
            <a:off x="2862072" y="1837944"/>
            <a:ext cx="292607"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239512" y="1837944"/>
            <a:ext cx="292607"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4654296" y="2231136"/>
            <a:ext cx="1920239" cy="384048"/>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862072" y="3008376"/>
            <a:ext cx="292607"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239512" y="3008376"/>
            <a:ext cx="292607"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862072" y="4178808"/>
            <a:ext cx="292607"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239512" y="4178808"/>
            <a:ext cx="292607"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616951" y="4178808"/>
            <a:ext cx="292608" cy="0"/>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4197096" y="3401568"/>
            <a:ext cx="2011679" cy="384048"/>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2734056" y="4572000"/>
            <a:ext cx="6217920" cy="384048"/>
          </a:xfrm>
          <a:prstGeom prst="line">
            <a:avLst/>
          </a:prstGeom>
          <a:ln w="1905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862072" y="5349240"/>
            <a:ext cx="292607"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562856" y="4572000"/>
            <a:ext cx="2011679" cy="384048"/>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951976" y="2231136"/>
            <a:ext cx="0" cy="384048"/>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77240" y="5833872"/>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Read the middle column downwards. </a:t>
            </a:r>
            <a:r>
              <a:rPr sz="1000" b="0" i="0">
                <a:solidFill>
                  <a:srgbClr val="4A4F57"/>
                </a:solidFill>
                <a:latin typeface="Calibri"/>
              </a:rPr>
              <a:t>A featureset version and a model version meet in a warrant; the engine returns a parameter set; the parameter set is approved and the next warrant names it. Everything on the way leaves a node in the evidence chain.</a:t>
            </a:r>
          </a:p>
        </p:txBody>
      </p:sp>
      <p:sp>
        <p:nvSpPr>
          <p:cNvPr id="72" name="Rectangle 7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3" name="TextBox 7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74" name="TextBox 7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
        <p:nvSpPr>
          <p:cNvPr id="14" name="Rectangle 13"/>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
        <p:nvSpPr>
          <p:cNvPr id="16" name="Rectangle 15"/>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
        <p:nvSpPr>
          <p:cNvPr id="15" name="Rectangle 14"/>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17" name="TextBox 16"/>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
        <p:nvSpPr>
          <p:cNvPr id="18" name="Rectangle 1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
        <p:nvSpPr>
          <p:cNvPr id="15" name="Rectangle 14"/>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17" name="TextBox 16"/>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
        <p:nvSpPr>
          <p:cNvPr id="28" name="Rectangle 2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30" name="TextBox 2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474720"/>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474720"/>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593591"/>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
        <p:nvSpPr>
          <p:cNvPr id="19" name="Rectangle 18"/>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21" name="TextBox 20"/>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
        <p:nvSpPr>
          <p:cNvPr id="16" name="Rectangle 15"/>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
        <p:nvSpPr>
          <p:cNvPr id="27" name="Rectangle 2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29" name="TextBox 2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
        <p:nvSpPr>
          <p:cNvPr id="16" name="Rectangle 15"/>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356616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
        <p:nvSpPr>
          <p:cNvPr id="19" name="Rectangle 18"/>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21" name="TextBox 20"/>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
        <p:nvSpPr>
          <p:cNvPr id="17" name="Rectangle 1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
        <p:nvSpPr>
          <p:cNvPr id="15" name="Rectangle 14"/>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17" name="TextBox 16"/>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
        <p:nvSpPr>
          <p:cNvPr id="14" name="Rectangle 13"/>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
        <p:nvSpPr>
          <p:cNvPr id="28" name="Rectangle 2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30" name="TextBox 2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