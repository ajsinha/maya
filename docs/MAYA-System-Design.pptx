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400" b="0" i="0">
                <a:solidFill>
                  <a:srgbClr val="FFFFFF"/>
                </a:solidFill>
                <a:latin typeface="Georgia"/>
              </a:rPr>
              <a:t>Detailed System Design</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722516"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Component interfaces, algorithms, transaction boundaries, error semantics and operations — the level below the architecture</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written to be sufficient to start coding from</a:t>
            </a:r>
          </a:p>
        </p:txBody>
      </p:sp>
      <p:sp>
        <p:nvSpPr>
          <p:cNvPr id="12" name="TextBox 11"/>
          <p:cNvSpPr txBox="1"/>
          <p:nvPr/>
        </p:nvSpPr>
        <p:spPr>
          <a:xfrm>
            <a:off x="6627708" y="4407408"/>
            <a:ext cx="4786746" cy="205740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Overview and design rules</a:t>
            </a:r>
          </a:p>
          <a:p>
            <a:pPr>
              <a:spcBef>
                <a:spcPts val="0"/>
              </a:spcBef>
              <a:spcAft>
                <a:spcPts val="300"/>
              </a:spcAft>
            </a:pPr>
            <a:r>
              <a:rPr sz="1050" b="1" i="0">
                <a:solidFill>
                  <a:srgbClr val="A51C30"/>
                </a:solidFill>
                <a:latin typeface="Calibri"/>
              </a:rPr>
              <a:t>2   </a:t>
            </a:r>
            <a:r>
              <a:rPr sz="1050" b="0" i="0">
                <a:solidFill>
                  <a:srgbClr val="4A4F57"/>
                </a:solidFill>
                <a:latin typeface="Calibri"/>
              </a:rPr>
              <a:t>Core domain and registry</a:t>
            </a:r>
          </a:p>
          <a:p>
            <a:pPr>
              <a:spcBef>
                <a:spcPts val="0"/>
              </a:spcBef>
              <a:spcAft>
                <a:spcPts val="300"/>
              </a:spcAft>
            </a:pPr>
            <a:r>
              <a:rPr sz="1050" b="1" i="0">
                <a:solidFill>
                  <a:srgbClr val="A51C30"/>
                </a:solidFill>
                <a:latin typeface="Calibri"/>
              </a:rPr>
              <a:t>3   </a:t>
            </a:r>
            <a:r>
              <a:rPr sz="1050" b="0" i="0">
                <a:solidFill>
                  <a:srgbClr val="4A4F57"/>
                </a:solidFill>
                <a:latin typeface="Calibri"/>
              </a:rPr>
              <a:t>Governance subsystems</a:t>
            </a:r>
          </a:p>
          <a:p>
            <a:pPr>
              <a:spcBef>
                <a:spcPts val="0"/>
              </a:spcBef>
              <a:spcAft>
                <a:spcPts val="300"/>
              </a:spcAft>
            </a:pPr>
            <a:r>
              <a:rPr sz="1050" b="1" i="0">
                <a:solidFill>
                  <a:srgbClr val="A51C30"/>
                </a:solidFill>
                <a:latin typeface="Calibri"/>
              </a:rPr>
              <a:t>4   </a:t>
            </a:r>
            <a:r>
              <a:rPr sz="1050" b="0" i="0">
                <a:solidFill>
                  <a:srgbClr val="4A4F57"/>
                </a:solidFill>
                <a:latin typeface="Calibri"/>
              </a:rPr>
              <a:t>Data and features</a:t>
            </a:r>
          </a:p>
          <a:p>
            <a:pPr>
              <a:spcBef>
                <a:spcPts val="0"/>
              </a:spcBef>
              <a:spcAft>
                <a:spcPts val="300"/>
              </a:spcAft>
            </a:pPr>
            <a:r>
              <a:rPr sz="1050" b="1" i="0">
                <a:solidFill>
                  <a:srgbClr val="A51C30"/>
                </a:solidFill>
                <a:latin typeface="Calibri"/>
              </a:rPr>
              <a:t>5   </a:t>
            </a:r>
            <a:r>
              <a:rPr sz="1050" b="0" i="0">
                <a:solidFill>
                  <a:srgbClr val="4A4F57"/>
                </a:solidFill>
                <a:latin typeface="Calibri"/>
              </a:rPr>
              <a:t>Execution and warrants</a:t>
            </a:r>
          </a:p>
          <a:p>
            <a:pPr>
              <a:spcBef>
                <a:spcPts val="0"/>
              </a:spcBef>
              <a:spcAft>
                <a:spcPts val="300"/>
              </a:spcAft>
            </a:pPr>
            <a:r>
              <a:rPr sz="1050" b="1" i="0">
                <a:solidFill>
                  <a:srgbClr val="A51C30"/>
                </a:solidFill>
                <a:latin typeface="Calibri"/>
              </a:rPr>
              <a:t>6   </a:t>
            </a:r>
            <a:r>
              <a:rPr sz="1050" b="0" i="0">
                <a:solidFill>
                  <a:srgbClr val="4A4F57"/>
                </a:solidFill>
                <a:latin typeface="Calibri"/>
              </a:rPr>
              <a:t>Machine assistance</a:t>
            </a:r>
          </a:p>
          <a:p>
            <a:pPr>
              <a:spcBef>
                <a:spcPts val="0"/>
              </a:spcBef>
              <a:spcAft>
                <a:spcPts val="300"/>
              </a:spcAft>
            </a:pPr>
            <a:r>
              <a:rPr sz="1050" b="1" i="0">
                <a:solidFill>
                  <a:srgbClr val="A51C30"/>
                </a:solidFill>
                <a:latin typeface="Calibri"/>
              </a:rPr>
              <a:t>7   </a:t>
            </a:r>
            <a:r>
              <a:rPr sz="1050" b="0" i="0">
                <a:solidFill>
                  <a:srgbClr val="4A4F57"/>
                </a:solidFill>
                <a:latin typeface="Calibri"/>
              </a:rPr>
              <a:t>Interfaces</a:t>
            </a:r>
          </a:p>
          <a:p>
            <a:pPr>
              <a:spcBef>
                <a:spcPts val="0"/>
              </a:spcBef>
              <a:spcAft>
                <a:spcPts val="300"/>
              </a:spcAft>
            </a:pPr>
            <a:r>
              <a:rPr sz="1050" b="1" i="0">
                <a:solidFill>
                  <a:srgbClr val="A51C30"/>
                </a:solidFill>
                <a:latin typeface="Calibri"/>
              </a:rPr>
              <a:t>8   </a:t>
            </a:r>
            <a:r>
              <a:rPr sz="1050" b="0" i="0">
                <a:solidFill>
                  <a:srgbClr val="4A4F57"/>
                </a:solidFill>
                <a:latin typeface="Calibri"/>
              </a:rPr>
              <a:t>Cross-cutting and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537535"/>
        </p:xfrm>
        <a:graphic>
          <a:graphicData uri="http://schemas.openxmlformats.org/drawingml/2006/table">
            <a:tbl>
              <a:tblPr firstRow="1">
                <a:tableStyleId>{5C22544A-7EE6-4342-B048-85BDC9FD1C3A}</a:tableStyleId>
              </a:tblPr>
              <a:tblGrid>
                <a:gridCol w="3026104"/>
                <a:gridCol w="2751003"/>
                <a:gridCol w="4860106"/>
              </a:tblGrid>
              <a:tr h="333781">
                <a:tc>
                  <a:txBody>
                    <a:bodyPr wrap="square"/>
                    <a:lstStyle/>
                    <a:p>
                      <a:pPr algn="l"/>
                      <a:r>
                        <a:rPr sz="1100" b="1">
                          <a:solidFill>
                            <a:srgbClr val="FFFFFF"/>
                          </a:solidFill>
                          <a:latin typeface="Calibri"/>
                        </a:rPr>
                        <a:t>Document</a:t>
                      </a:r>
                    </a:p>
                  </a:txBody>
                  <a:tcPr marL="82296" marR="64008" marT="32004" marB="32004" anchor="ctr">
                    <a:solidFill>
                      <a:srgbClr val="A51C30"/>
                    </a:solidFill>
                  </a:tcPr>
                </a:tc>
                <a:tc>
                  <a:txBody>
                    <a:bodyPr wrap="square"/>
                    <a:lstStyle/>
                    <a:p>
                      <a:pPr algn="l"/>
                      <a:r>
                        <a:rPr sz="1100" b="1">
                          <a:solidFill>
                            <a:srgbClr val="FFFFFF"/>
                          </a:solidFill>
                          <a:latin typeface="Calibri"/>
                        </a:rPr>
                        <a:t>Level</a:t>
                      </a:r>
                    </a:p>
                  </a:txBody>
                  <a:tcPr marL="82296" marR="64008" marT="32004" marB="32004" anchor="ctr">
                    <a:solidFill>
                      <a:srgbClr val="A51C30"/>
                    </a:solidFill>
                  </a:tcPr>
                </a:tc>
                <a:tc>
                  <a:txBody>
                    <a:bodyPr wrap="square"/>
                    <a:lstStyle/>
                    <a:p>
                      <a:pPr algn="l"/>
                      <a:r>
                        <a:rPr sz="1100" b="1">
                          <a:solidFill>
                            <a:srgbClr val="FFFFFF"/>
                          </a:solidFill>
                          <a:latin typeface="Calibri"/>
                        </a:rPr>
                        <a:t>Answers</a:t>
                      </a:r>
                    </a:p>
                  </a:txBody>
                  <a:tcPr marL="82296" marR="64008" marT="32004" marB="32004" anchor="ctr">
                    <a:solidFill>
                      <a:srgbClr val="A51C30"/>
                    </a:solidFill>
                  </a:tcPr>
                </a:tc>
              </a:tr>
              <a:tr h="420624">
                <a:tc>
                  <a:txBody>
                    <a:bodyPr wrap="square"/>
                    <a:lstStyle/>
                    <a:p>
                      <a:pPr algn="l"/>
                      <a:r>
                        <a:rPr sz="110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10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100" b="0">
                          <a:solidFill>
                            <a:srgbClr val="1C1C1E"/>
                          </a:solidFill>
                          <a:latin typeface="Calibri"/>
                        </a:rPr>
                        <a:t>~200 numbered requirements, personas, regulatory traceability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10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100" b="0">
                          <a:solidFill>
                            <a:srgbClr val="1C1C1E"/>
                          </a:solidFill>
                          <a:latin typeface="Calibri"/>
                        </a:rPr>
                        <a:t>Deployable units, bounded contexts, extensibility, failure modes</a:t>
                      </a:r>
                    </a:p>
                  </a:txBody>
                  <a:tcPr marL="82296" marR="64008" marT="32004" marB="32004" anchor="ctr">
                    <a:solidFill>
                      <a:srgbClr val="F6F3EF"/>
                    </a:solidFill>
                  </a:tcPr>
                </a:tc>
              </a:tr>
              <a:tr h="521258">
                <a:tc>
                  <a:txBody>
                    <a:bodyPr wrap="square"/>
                    <a:lstStyle/>
                    <a:p>
                      <a:pPr algn="l"/>
                      <a:r>
                        <a:rPr sz="1100" b="1">
                          <a:solidFill>
                            <a:srgbClr val="A51C30"/>
                          </a:solidFill>
                          <a:latin typeface="Calibri"/>
                        </a:rPr>
                        <a:t>14 — Detailed design  ← this deck</a:t>
                      </a:r>
                    </a:p>
                  </a:txBody>
                  <a:tcPr marL="82296" marR="64008" marT="32004" marB="32004" anchor="ctr">
                    <a:solidFill>
                      <a:srgbClr val="FFFFFF"/>
                    </a:solidFill>
                  </a:tcPr>
                </a:tc>
                <a:tc>
                  <a:txBody>
                    <a:bodyPr wrap="square"/>
                    <a:lstStyle/>
                    <a:p>
                      <a:pPr algn="l"/>
                      <a:r>
                        <a:rPr sz="1100" b="0">
                          <a:solidFill>
                            <a:srgbClr val="1C1C1E"/>
                          </a:solidFill>
                          <a:latin typeface="Calibri"/>
                        </a:rPr>
                        <a:t>What each component does internally</a:t>
                      </a:r>
                    </a:p>
                  </a:txBody>
                  <a:tcPr marL="82296" marR="64008" marT="32004" marB="32004" anchor="ctr">
                    <a:solidFill>
                      <a:srgbClr val="FFFFFF"/>
                    </a:solidFill>
                  </a:tcPr>
                </a:tc>
                <a:tc>
                  <a:txBody>
                    <a:bodyPr wrap="square"/>
                    <a:lstStyle/>
                    <a:p>
                      <a:pPr algn="l"/>
                      <a:r>
                        <a:rPr sz="1100" b="0">
                          <a:solidFill>
                            <a:srgbClr val="1C1C1E"/>
                          </a:solidFill>
                          <a:latin typeface="Calibri"/>
                        </a:rPr>
                        <a:t>Interfaces, algorithms, transaction boundaries, concurrency, error taxonomy, SLOs, capacity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05–09 — Annexes</a:t>
                      </a:r>
                    </a:p>
                  </a:txBody>
                  <a:tcPr marL="82296" marR="64008" marT="32004" marB="32004" anchor="ctr">
                    <a:solidFill>
                      <a:srgbClr val="F6F3EF"/>
                    </a:solidFill>
                  </a:tcPr>
                </a:tc>
                <a:tc>
                  <a:txBody>
                    <a:bodyPr wrap="square"/>
                    <a:lstStyle/>
                    <a:p>
                      <a:pPr algn="l"/>
                      <a:r>
                        <a:rPr sz="1100" b="0">
                          <a:solidFill>
                            <a:srgbClr val="1C1C1E"/>
                          </a:solidFill>
                          <a:latin typeface="Calibri"/>
                        </a:rPr>
                        <a:t>Specific surfaces in depth</a:t>
                      </a:r>
                    </a:p>
                  </a:txBody>
                  <a:tcPr marL="82296" marR="64008" marT="32004" marB="32004" anchor="ctr">
                    <a:solidFill>
                      <a:srgbClr val="F6F3EF"/>
                    </a:solidFill>
                  </a:tcPr>
                </a:tc>
                <a:tc>
                  <a:txBody>
                    <a:bodyPr wrap="square"/>
                    <a:lstStyle/>
                    <a:p>
                      <a:pPr algn="l"/>
                      <a:r>
                        <a:rPr sz="1100" b="0">
                          <a:solidFill>
                            <a:srgbClr val="1C1C1E"/>
                          </a:solidFill>
                          <a:latin typeface="Calibri"/>
                        </a:rPr>
                        <a:t>Data model, warrants, features, UI, security</a:t>
                      </a:r>
                    </a:p>
                  </a:txBody>
                  <a:tcPr marL="82296" marR="64008" marT="32004" marB="32004" anchor="ctr">
                    <a:solidFill>
                      <a:srgbClr val="F6F3EF"/>
                    </a:solidFill>
                  </a:tcPr>
                </a:tc>
              </a:tr>
              <a:tr h="420624">
                <a:tc>
                  <a:txBody>
                    <a:bodyPr wrap="square"/>
                    <a:lstStyle/>
                    <a:p>
                      <a:pPr algn="l"/>
                      <a:r>
                        <a:rPr sz="1100" b="1">
                          <a:solidFill>
                            <a:srgbClr val="A51C30"/>
                          </a:solidFill>
                          <a:latin typeface="Calibri"/>
                        </a:rPr>
                        <a:t>11 — Adversarial review</a:t>
                      </a:r>
                    </a:p>
                  </a:txBody>
                  <a:tcPr marL="82296" marR="64008" marT="32004" marB="32004" anchor="ctr">
                    <a:solidFill>
                      <a:srgbClr val="FFFFFF"/>
                    </a:solidFill>
                  </a:tcPr>
                </a:tc>
                <a:tc>
                  <a:txBody>
                    <a:bodyPr wrap="square"/>
                    <a:lstStyle/>
                    <a:p>
                      <a:pPr algn="l"/>
                      <a:r>
                        <a:rPr sz="1100" b="0">
                          <a:solidFill>
                            <a:srgbClr val="1C1C1E"/>
                          </a:solidFill>
                          <a:latin typeface="Calibri"/>
                        </a:rPr>
                        <a:t>What was wrong with all of it</a:t>
                      </a:r>
                    </a:p>
                  </a:txBody>
                  <a:tcPr marL="82296" marR="64008" marT="32004" marB="32004" anchor="ctr">
                    <a:solidFill>
                      <a:srgbClr val="FFFFFF"/>
                    </a:solidFill>
                  </a:tcPr>
                </a:tc>
                <a:tc>
                  <a:txBody>
                    <a:bodyPr wrap="square"/>
                    <a:lstStyle/>
                    <a:p>
                      <a:pPr algn="l"/>
                      <a:r>
                        <a:rPr sz="1100" b="0">
                          <a:solidFill>
                            <a:srgbClr val="1C1C1E"/>
                          </a:solidFill>
                          <a:latin typeface="Calibri"/>
                        </a:rPr>
                        <a:t>27 findings; 17 required redesign — folded in here</a:t>
                      </a:r>
                    </a:p>
                  </a:txBody>
                  <a:tcPr marL="82296" marR="64008" marT="32004" marB="32004" anchor="ctr">
                    <a:solidFill>
                      <a:srgbClr val="FFFFFF"/>
                    </a:solidFill>
                  </a:tcPr>
                </a:tc>
              </a:tr>
            </a:tbl>
          </a:graphicData>
        </a:graphic>
      </p:graphicFrame>
      <p:sp>
        <p:nvSpPr>
          <p:cNvPr id="11" name="Rectangle 10"/>
          <p:cNvSpPr/>
          <p:nvPr/>
        </p:nvSpPr>
        <p:spPr>
          <a:xfrm>
            <a:off x="777240" y="416516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6516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293184"/>
            <a:ext cx="10088575" cy="68580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Test of adequacy. </a:t>
            </a:r>
            <a:r>
              <a:rPr sz="1200" b="0" i="0">
                <a:solidFill>
                  <a:srgbClr val="1C1C1E"/>
                </a:solidFill>
                <a:latin typeface="Calibri"/>
              </a:rPr>
              <a:t>An engineer who has read the architecture should be able to open this document and begin implementing a component without inventing an interface, guessing a transaction boundary, or deciding an error code. Where that is not yet true, it is a gap in this document rather than a decision left to the reader.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Overview and Design Rules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Components, responsibilities, and the seven rules that bind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Component inventory</a:t>
            </a:r>
          </a:p>
          <a:p>
            <a:pPr>
              <a:lnSpc>
                <a:spcPct val="115000"/>
              </a:lnSpc>
              <a:spcBef>
                <a:spcPts val="0"/>
              </a:spcBef>
              <a:spcAft>
                <a:spcPts val="700"/>
              </a:spcAft>
            </a:pPr>
            <a:r>
              <a:rPr sz="1150" b="0" i="0">
                <a:solidFill>
                  <a:srgbClr val="F6E6E9"/>
                </a:solidFill>
                <a:latin typeface="Calibri"/>
              </a:rPr>
              <a:t>Responsibility boundaries</a:t>
            </a:r>
          </a:p>
          <a:p>
            <a:pPr>
              <a:lnSpc>
                <a:spcPct val="115000"/>
              </a:lnSpc>
              <a:spcBef>
                <a:spcPts val="0"/>
              </a:spcBef>
              <a:spcAft>
                <a:spcPts val="700"/>
              </a:spcAft>
            </a:pPr>
            <a:r>
              <a:rPr sz="1150" b="0" i="0">
                <a:solidFill>
                  <a:srgbClr val="F6E6E9"/>
                </a:solidFill>
                <a:latin typeface="Calibri"/>
              </a:rPr>
              <a:t>Seven design rules</a:t>
            </a:r>
          </a:p>
          <a:p>
            <a:pPr>
              <a:lnSpc>
                <a:spcPct val="115000"/>
              </a:lnSpc>
              <a:spcBef>
                <a:spcPts val="0"/>
              </a:spcBef>
              <a:spcAft>
                <a:spcPts val="700"/>
              </a:spcAft>
            </a:pPr>
            <a:r>
              <a:rPr sz="1150" b="0" i="0">
                <a:solidFill>
                  <a:srgbClr val="F6E6E9"/>
                </a:solidFill>
                <a:latin typeface="Calibri"/>
              </a:rPr>
              <a:t>Process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maya-web (static)</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Event stream</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model_algebra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composition</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&amp; outbox</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telemetry</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plugin loader</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sandbox client</a:t>
            </a:r>
          </a:p>
        </p:txBody>
      </p:sp>
      <p:sp>
        <p:nvSpPr>
          <p:cNvPr id="77" name="TextBox 76"/>
          <p:cNvSpPr txBox="1"/>
          <p:nvPr/>
        </p:nvSpPr>
        <p:spPr>
          <a:xfrm>
            <a:off x="777240" y="5020055"/>
            <a:ext cx="10637215" cy="365760"/>
          </a:xfrm>
          <a:prstGeom prst="rect">
            <a:avLst/>
          </a:prstGeom>
          <a:noFill/>
        </p:spPr>
        <p:txBody>
          <a:bodyPr wrap="square" lIns="0" rIns="0" tIns="0" bIns="0" anchor="t">
            <a:spAutoFit/>
          </a:bodyPr>
          <a:lstStyle/>
          <a:p>
            <a:pPr algn="l">
              <a:spcBef>
                <a:spcPts val="0"/>
              </a:spcBef>
              <a:spcAft>
                <a:spcPts val="0"/>
              </a:spcAft>
            </a:pPr>
            <a:r>
              <a:rPr sz="1150" b="1" i="0">
                <a:solidFill>
                  <a:srgbClr val="A51C30"/>
                </a:solidFill>
                <a:latin typeface="Calibri"/>
              </a:rPr>
              <a:t>Dependency rule, enforced in CI. </a:t>
            </a:r>
            <a:r>
              <a:rPr sz="1150" b="0" i="0">
                <a:solidFill>
                  <a:srgbClr val="1C1C1E"/>
                </a:solidFill>
                <a:latin typeface="Calibri"/>
              </a:rPr>
              <a:t>Arrows point downward only. The core domain imports nothing from MAYA; interfaces import everything and are imported by nothing.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Append chain, semiring evaluation, gluing</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Lattices, τ, control adequacy, derivation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Institutions, comorphisms, Rego gates, MTL obligations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Rectangle 9"/>
          <p:cNvSpPr/>
          <p:nvPr/>
        </p:nvSpPr>
        <p:spPr>
          <a:xfrm>
            <a:off x="777240"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exposes a Protocol and is consumed only through it. No cross-component imports of internals.</a:t>
            </a:r>
          </a:p>
        </p:txBody>
      </p:sp>
      <p:sp>
        <p:nvSpPr>
          <p:cNvPr id="15" name="Rectangle 14"/>
          <p:cNvSpPr/>
          <p:nvPr/>
        </p:nvSpPr>
        <p:spPr>
          <a:xfrm>
            <a:off x="349597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component edge.</a:t>
            </a:r>
          </a:p>
        </p:txBody>
      </p:sp>
      <p:sp>
        <p:nvSpPr>
          <p:cNvPr id="20" name="Rectangle 19"/>
          <p:cNvSpPr/>
          <p:nvPr/>
        </p:nvSpPr>
        <p:spPr>
          <a:xfrm>
            <a:off x="621471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writes</a:t>
            </a:r>
          </a:p>
        </p:txBody>
      </p:sp>
      <p:sp>
        <p:nvSpPr>
          <p:cNvPr id="24" name="TextBox 23"/>
          <p:cNvSpPr txBox="1"/>
          <p:nvPr/>
        </p:nvSpPr>
        <p:spPr>
          <a:xfrm>
            <a:off x="643417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write path is idempotent given an Idempotency-Key or a natural key.</a:t>
            </a:r>
          </a:p>
        </p:txBody>
      </p:sp>
      <p:sp>
        <p:nvSpPr>
          <p:cNvPr id="25" name="Rectangle 24"/>
          <p:cNvSpPr/>
          <p:nvPr/>
        </p:nvSpPr>
        <p:spPr>
          <a:xfrm>
            <a:off x="893345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derived value is persisted with its derivation record, in the same transaction.</a:t>
            </a:r>
          </a:p>
        </p:txBody>
      </p:sp>
      <p:sp>
        <p:nvSpPr>
          <p:cNvPr id="30" name="Rectangle 29"/>
          <p:cNvSpPr/>
          <p:nvPr/>
        </p:nvSpPr>
        <p:spPr>
          <a:xfrm>
            <a:off x="777240"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Nothing outside platform/db opens a transaction. Components receive a UnitOfWork.</a:t>
            </a:r>
          </a:p>
        </p:txBody>
      </p:sp>
      <p:sp>
        <p:nvSpPr>
          <p:cNvPr id="35" name="Rectangle 34"/>
          <p:cNvSpPr/>
          <p:nvPr/>
        </p:nvSpPr>
        <p:spPr>
          <a:xfrm>
            <a:off x="349597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9592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306824"/>
            <a:ext cx="2042083"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externally visible failure maps to the error taxonomy. Never an unmapped 500.</a:t>
            </a:r>
          </a:p>
        </p:txBody>
      </p:sp>
      <p:sp>
        <p:nvSpPr>
          <p:cNvPr id="40" name="Rectangle 39"/>
          <p:cNvSpPr/>
          <p:nvPr/>
        </p:nvSpPr>
        <p:spPr>
          <a:xfrm>
            <a:off x="621471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link to remediate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DEPLOYABLE UNITS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graphicFrame>
        <p:nvGraphicFramePr>
          <p:cNvPr id="10" name="Table 9"/>
          <p:cNvGraphicFramePr>
            <a:graphicFrameLocks noGrp="1"/>
          </p:cNvGraphicFramePr>
          <p:nvPr/>
        </p:nvGraphicFramePr>
        <p:xfrm>
          <a:off x="777240" y="1353312"/>
          <a:ext cx="10637214" cy="2998570"/>
        </p:xfrm>
        <a:graphic>
          <a:graphicData uri="http://schemas.openxmlformats.org/drawingml/2006/table">
            <a:tbl>
              <a:tblPr firstRow="1">
                <a:tableStyleId>{5C22544A-7EE6-4342-B048-85BDC9FD1C3A}</a:tableStyleId>
              </a:tblPr>
              <a:tblGrid>
                <a:gridCol w="1918186"/>
                <a:gridCol w="2005376"/>
                <a:gridCol w="4533895"/>
                <a:gridCol w="2179757"/>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Scaling</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maya-web</a:t>
                      </a:r>
                    </a:p>
                  </a:txBody>
                  <a:tcPr marL="82296" marR="64008" marT="32004" marB="32004" anchor="ctr">
                    <a:solidFill>
                      <a:srgbClr val="FFFFFF"/>
                    </a:solidFill>
                  </a:tcPr>
                </a:tc>
                <a:tc>
                  <a:txBody>
                    <a:bodyPr wrap="square"/>
                    <a:lstStyle/>
                    <a:p>
                      <a:pPr algn="l"/>
                      <a:r>
                        <a:rPr sz="1050" b="0">
                          <a:solidFill>
                            <a:srgbClr val="1C1C1E"/>
                          </a:solidFill>
                          <a:latin typeface="Calibri"/>
                        </a:rPr>
                        <a:t>Static, CDN + 2 pods</a:t>
                      </a:r>
                    </a:p>
                  </a:txBody>
                  <a:tcPr marL="82296" marR="64008" marT="32004" marB="32004" anchor="ctr">
                    <a:solidFill>
                      <a:srgbClr val="FFFFFF"/>
                    </a:solidFill>
                  </a:tcPr>
                </a:tc>
                <a:tc>
                  <a:txBody>
                    <a:bodyPr wrap="square"/>
                    <a:lstStyle/>
                    <a:p>
                      <a:pPr algn="l"/>
                      <a:r>
                        <a:rPr sz="1050" b="0">
                          <a:solidFill>
                            <a:srgbClr val="1C1C1E"/>
                          </a:solidFill>
                          <a:latin typeface="Calibri"/>
                        </a:rPr>
                        <a:t>Separate process and pipeline (ADR-011);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Yes — stops human review only</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maya-api</a:t>
                      </a:r>
                    </a:p>
                  </a:txBody>
                  <a:tcPr marL="82296" marR="64008" marT="32004" marB="32004" anchor="ctr">
                    <a:solidFill>
                      <a:srgbClr val="F6F3EF"/>
                    </a:solidFill>
                  </a:tcPr>
                </a:tc>
                <a:tc>
                  <a:txBody>
                    <a:bodyPr wrap="square"/>
                    <a:lstStyle/>
                    <a:p>
                      <a:pPr algn="l"/>
                      <a:r>
                        <a:rPr sz="1050" b="0">
                          <a:solidFill>
                            <a:srgbClr val="1C1C1E"/>
                          </a:solidFill>
                          <a:latin typeface="Calibri"/>
                        </a:rPr>
                        <a:t>3–10 pods, CPU-bound</a:t>
                      </a:r>
                    </a:p>
                  </a:txBody>
                  <a:tcPr marL="82296" marR="64008" marT="32004" marB="32004" anchor="ctr">
                    <a:solidFill>
                      <a:srgbClr val="F6F3EF"/>
                    </a:solidFill>
                  </a:tcPr>
                </a:tc>
                <a:tc>
                  <a:txBody>
                    <a:bodyPr wrap="square"/>
                    <a:lstStyle/>
                    <a:p>
                      <a:pPr algn="l"/>
                      <a:r>
                        <a:rPr sz="1050" b="0">
                          <a:solidFill>
                            <a:srgbClr val="1C1C1E"/>
                          </a:solidFill>
                          <a:latin typeface="Calibri"/>
                        </a:rPr>
                        <a:t>The bulk of the domain; deploys together for transactional integrity</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maya-warrants</a:t>
                      </a:r>
                    </a:p>
                  </a:txBody>
                  <a:tcPr marL="82296" marR="64008" marT="32004" marB="32004" anchor="ctr">
                    <a:solidFill>
                      <a:srgbClr val="FFFFFF"/>
                    </a:solidFill>
                  </a:tcPr>
                </a:tc>
                <a:tc>
                  <a:txBody>
                    <a:bodyPr wrap="square"/>
                    <a:lstStyle/>
                    <a:p>
                      <a:pPr algn="l"/>
                      <a:r>
                        <a:rPr sz="1050" b="0">
                          <a:solidFill>
                            <a:srgbClr val="1C1C1E"/>
                          </a:solidFill>
                          <a:latin typeface="Calibri"/>
                        </a:rPr>
                        <a:t>10–100 pods, regional</a:t>
                      </a:r>
                    </a:p>
                  </a:txBody>
                  <a:tcPr marL="82296" marR="64008" marT="32004" marB="32004" anchor="ctr">
                    <a:solidFill>
                      <a:srgbClr val="FFFFFF"/>
                    </a:solidFill>
                  </a:tcPr>
                </a:tc>
                <a:tc>
                  <a:txBody>
                    <a:bodyPr wrap="square"/>
                    <a:lstStyle/>
                    <a:p>
                      <a:pPr algn="l"/>
                      <a:r>
                        <a:rPr sz="1050" b="0">
                          <a:solidFill>
                            <a:srgbClr val="1C1C1E"/>
                          </a:solidFill>
                          <a:latin typeface="Calibri"/>
                        </a:rPr>
                        <a:t>10× tighter SLA; reads only the warrant projection; survives control-plane outage</a:t>
                      </a:r>
                    </a:p>
                  </a:txBody>
                  <a:tcPr marL="82296" marR="64008" marT="32004" marB="32004" anchor="ctr">
                    <a:solidFill>
                      <a:srgbClr val="FFFFFF"/>
                    </a:solidFill>
                  </a:tcPr>
                </a:tc>
                <a:tc>
                  <a:txBody>
                    <a:bodyPr wrap="square"/>
                    <a:lstStyle/>
                    <a:p>
                      <a:pPr algn="l"/>
                      <a:r>
                        <a:rPr sz="1050" b="0">
                          <a:solidFill>
                            <a:srgbClr val="1C1C1E"/>
                          </a:solidFill>
                          <a:latin typeface="Calibri"/>
                        </a:rPr>
                        <a:t>Yes — by design</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maya-worker</a:t>
                      </a:r>
                    </a:p>
                  </a:txBody>
                  <a:tcPr marL="82296" marR="64008" marT="32004" marB="32004" anchor="ctr">
                    <a:solidFill>
                      <a:srgbClr val="F6F3EF"/>
                    </a:solidFill>
                  </a:tcPr>
                </a:tc>
                <a:tc>
                  <a:txBody>
                    <a:bodyPr wrap="square"/>
                    <a:lstStyle/>
                    <a:p>
                      <a:pPr algn="l"/>
                      <a:r>
                        <a:rPr sz="1050" b="0">
                          <a:solidFill>
                            <a:srgbClr val="1C1C1E"/>
                          </a:solidFill>
                          <a:latin typeface="Calibri"/>
                        </a:rPr>
                        <a:t>Queue-depth autoscaled</a:t>
                      </a:r>
                    </a:p>
                  </a:txBody>
                  <a:tcPr marL="82296" marR="64008" marT="32004" marB="32004" anchor="ctr">
                    <a:solidFill>
                      <a:srgbClr val="F6F3EF"/>
                    </a:solidFill>
                  </a:tcPr>
                </a:tc>
                <a:tc>
                  <a:txBody>
                    <a:bodyPr wrap="square"/>
                    <a:lstStyle/>
                    <a:p>
                      <a:pPr algn="l"/>
                      <a:r>
                        <a:rPr sz="1050" b="0">
                          <a:solidFill>
                            <a:srgbClr val="1C1C1E"/>
                          </a:solidFill>
                          <a:latin typeface="Calibri"/>
                        </a:rPr>
                        <a:t>Long-running, retryable, at-least-once</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maya-sandbox</a:t>
                      </a:r>
                    </a:p>
                  </a:txBody>
                  <a:tcPr marL="82296" marR="64008" marT="32004" marB="32004" anchor="ctr">
                    <a:solidFill>
                      <a:srgbClr val="FFFFFF"/>
                    </a:solidFill>
                  </a:tcPr>
                </a:tc>
                <a:tc>
                  <a:txBody>
                    <a:bodyPr wrap="square"/>
                    <a:lstStyle/>
                    <a:p>
                      <a:pPr algn="l"/>
                      <a:r>
                        <a:rPr sz="1050" b="0">
                          <a:solidFill>
                            <a:srgbClr val="1C1C1E"/>
                          </a:solidFill>
                          <a:latin typeface="Calibri"/>
                        </a:rPr>
                        <a:t>Job per task, gVisor</a:t>
                      </a:r>
                    </a:p>
                  </a:txBody>
                  <a:tcPr marL="82296" marR="64008" marT="32004" marB="32004" anchor="ctr">
                    <a:solidFill>
                      <a:srgbClr val="FFFFFF"/>
                    </a:solidFill>
                  </a:tcPr>
                </a:tc>
                <a:tc>
                  <a:txBody>
                    <a:bodyPr wrap="square"/>
                    <a:lstStyle/>
                    <a:p>
                      <a:pPr algn="l"/>
                      <a:r>
                        <a:rPr sz="1050" b="0">
                          <a:solidFill>
                            <a:srgbClr val="1C1C1E"/>
                          </a:solidFill>
                          <a:latin typeface="Calibri"/>
                        </a:rPr>
                        <a:t>Never runs untrusted code in-process with the control plane</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Spark / Databricks</a:t>
                      </a:r>
                    </a:p>
                  </a:txBody>
                  <a:tcPr marL="82296" marR="64008" marT="32004" marB="32004" anchor="ctr">
                    <a:solidFill>
                      <a:srgbClr val="F6F3EF"/>
                    </a:solidFill>
                  </a:tcPr>
                </a:tc>
                <a:tc>
                  <a:txBody>
                    <a:bodyPr wrap="square"/>
                    <a:lstStyle/>
                    <a:p>
                      <a:pPr algn="l"/>
                      <a:r>
                        <a:rPr sz="1050" b="0">
                          <a:solidFill>
                            <a:srgbClr val="1C1C1E"/>
                          </a:solidFill>
                          <a:latin typeface="Calibri"/>
                        </a:rPr>
                        <a:t>Cluster-managed</a:t>
                      </a:r>
                    </a:p>
                  </a:txBody>
                  <a:tcPr marL="82296" marR="64008" marT="32004" marB="32004" anchor="ctr">
                    <a:solidFill>
                      <a:srgbClr val="F6F3EF"/>
                    </a:solidFill>
                  </a:tcPr>
                </a:tc>
                <a:tc>
                  <a:txBody>
                    <a:bodyPr wrap="square"/>
                    <a:lstStyle/>
                    <a:p>
                      <a:pPr algn="l"/>
                      <a:r>
                        <a:rPr sz="1050" b="0">
                          <a:solidFill>
                            <a:srgbClr val="1C1C1E"/>
                          </a:solidFill>
                          <a:latin typeface="Calibri"/>
                        </a:rPr>
                        <a:t>Data-plane compute: PIT joins, materialisation, monitoring</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bl>
          </a:graphicData>
        </a:graphic>
      </p:graphicFrame>
      <p:sp>
        <p:nvSpPr>
          <p:cNvPr id="11" name="Rectangle 10"/>
          <p:cNvSpPr/>
          <p:nvPr/>
        </p:nvSpPr>
        <p:spPr>
          <a:xfrm>
            <a:off x="777240" y="4607915"/>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07915"/>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35931"/>
            <a:ext cx="1008857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The one asymmetry. </a:t>
            </a:r>
            <a:r>
              <a:rPr sz="1200" b="0" i="0">
                <a:solidFill>
                  <a:srgbClr val="1C1C1E"/>
                </a:solidFill>
                <a:latin typeface="Calibri"/>
              </a:rPr>
              <a:t>Governance must not become the bank's single point of failure. If the control plane is down, already-authorised production scoring continues; only new issuance and governance changes stop.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419502"/>
            <a:ext cx="6169584" cy="1188720"/>
          </a:xfrm>
          <a:prstGeom prst="rect">
            <a:avLst/>
          </a:prstGeom>
          <a:noFill/>
        </p:spPr>
        <p:txBody>
          <a:bodyPr wrap="square" lIns="0" rIns="0" tIns="0" bIns="0" anchor="t">
            <a:spAutoFit/>
          </a:bodyPr>
          <a:lstStyle/>
          <a:p>
            <a:pPr algn="l">
              <a:spcBef>
                <a:spcPts val="0"/>
              </a:spcBef>
              <a:spcAft>
                <a:spcPts val="0"/>
              </a:spcAft>
            </a:pPr>
            <a:r>
              <a:rPr sz="3400" b="0" i="0">
                <a:solidFill>
                  <a:srgbClr val="FFFFFF"/>
                </a:solidFill>
                <a:latin typeface="Georgia"/>
              </a:rPr>
              <a:t>Core Domain and Registry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algebra in code, and the registry that indexes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model algebra</a:t>
            </a:r>
          </a:p>
          <a:p>
            <a:pPr>
              <a:lnSpc>
                <a:spcPct val="115000"/>
              </a:lnSpc>
              <a:spcBef>
                <a:spcPts val="0"/>
              </a:spcBef>
              <a:spcAft>
                <a:spcPts val="700"/>
              </a:spcAft>
            </a:pPr>
            <a:r>
              <a:rPr sz="1150" b="0" i="0">
                <a:solidFill>
                  <a:srgbClr val="F6E6E9"/>
                </a:solidFill>
                <a:latin typeface="Calibri"/>
              </a:rPr>
              <a:t>Trainability is derived</a:t>
            </a:r>
          </a:p>
          <a:p>
            <a:pPr>
              <a:lnSpc>
                <a:spcPct val="115000"/>
              </a:lnSpc>
              <a:spcBef>
                <a:spcPts val="0"/>
              </a:spcBef>
              <a:spcAft>
                <a:spcPts val="700"/>
              </a:spcAft>
            </a:pPr>
            <a:r>
              <a:rPr sz="1150" b="0" i="0">
                <a:solidFill>
                  <a:srgbClr val="F6E6E9"/>
                </a:solidFill>
                <a:latin typeface="Calibri"/>
              </a:rPr>
              <a:t>Contract algebra</a:t>
            </a:r>
          </a:p>
          <a:p>
            <a:pPr>
              <a:lnSpc>
                <a:spcPct val="115000"/>
              </a:lnSpc>
              <a:spcBef>
                <a:spcPts val="0"/>
              </a:spcBef>
              <a:spcAft>
                <a:spcPts val="700"/>
              </a:spcAft>
            </a:pPr>
            <a:r>
              <a:rPr sz="1150" b="0" i="0">
                <a:solidFill>
                  <a:srgbClr val="F6E6E9"/>
                </a:solidFill>
                <a:latin typeface="Calibri"/>
              </a:rPr>
              <a:t>The fibre registry</a:t>
            </a:r>
          </a:p>
          <a:p>
            <a:pPr>
              <a:lnSpc>
                <a:spcPct val="115000"/>
              </a:lnSpc>
              <a:spcBef>
                <a:spcPts val="0"/>
              </a:spcBef>
              <a:spcAft>
                <a:spcPts val="700"/>
              </a:spcAft>
            </a:pPr>
            <a:r>
              <a:rPr sz="1150" b="0" i="0">
                <a:solidFill>
                  <a:srgbClr val="F6E6E9"/>
                </a:solidFill>
                <a:latin typeface="Calibri"/>
              </a:rPr>
              <a:t>Version creation</a:t>
            </a:r>
          </a:p>
          <a:p>
            <a:pPr>
              <a:lnSpc>
                <a:spcPct val="115000"/>
              </a:lnSpc>
              <a:spcBef>
                <a:spcPts val="0"/>
              </a:spcBef>
              <a:spcAft>
                <a:spcPts val="700"/>
              </a:spcAft>
            </a:pPr>
            <a:r>
              <a:rPr sz="1150" b="0" i="0">
                <a:solidFill>
                  <a:srgbClr val="F6E6E9"/>
                </a:solidFill>
                <a:latin typeface="Calibri"/>
              </a:rPr>
              <a:t>Alias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MAYA/DOMAIN/MODEL_ALGEBRA.PY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956840" cy="46410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464103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591080" cy="416554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 learned_weights |</a:t>
            </a:r>
          </a:p>
          <a:p>
            <a:pPr>
              <a:lnSpc>
                <a:spcPct val="134000"/>
              </a:lnSpc>
              <a:spcBef>
                <a:spcPts val="0"/>
              </a:spcBef>
              <a:spcAft>
                <a:spcPts val="0"/>
              </a:spcAft>
            </a:pPr>
            <a:r>
              <a:rPr sz="950" b="0" i="0">
                <a:solidFill>
                  <a:srgbClr val="7A7F87"/>
                </a:solidFill>
                <a:latin typeface="Consolas"/>
              </a:rPr>
              <a:t>                                 # llm_configuration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is_accessible(self) -&gt; bool:    # False for vendor black boxes</a:t>
            </a:r>
          </a:p>
          <a:p>
            <a:pPr>
              <a:lnSpc>
                <a:spcPct val="134000"/>
              </a:lnSpc>
              <a:spcBef>
                <a:spcPts val="0"/>
              </a:spcBef>
              <a:spcAft>
                <a:spcPts val="0"/>
              </a:spcAft>
            </a:pPr>
            <a:r>
              <a:rPr sz="950" b="0" i="0">
                <a:solidFill>
                  <a:srgbClr val="1C1C1E"/>
                </a:solidFill>
                <a:latin typeface="Consolas"/>
              </a:rPr>
              <a:t>        return self.kind != "opaque"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a:t>
            </a:r>
          </a:p>
          <a:p>
            <a:pPr>
              <a:lnSpc>
                <a:spcPct val="134000"/>
              </a:lnSpc>
              <a:spcBef>
                <a:spcPts val="0"/>
              </a:spcBef>
              <a:spcAft>
                <a:spcPts val="0"/>
              </a:spcAft>
            </a:pPr>
            <a:r>
              <a:rPr sz="950" b="0" i="0">
                <a:solidFill>
                  <a:srgbClr val="1C1C1E"/>
                </a:solidFill>
                <a:latin typeface="Consolas"/>
              </a:rPr>
              <a:t>    output: ObjectSpec</a:t>
            </a:r>
          </a:p>
          <a:p>
            <a:pPr>
              <a:lnSpc>
                <a:spcPct val="134000"/>
              </a:lnSpc>
              <a:spcBef>
                <a:spcPts val="0"/>
              </a:spcBef>
              <a:spcAft>
                <a:spcPts val="0"/>
              </a:spcAft>
            </a:pPr>
            <a:r>
              <a:rPr sz="950" b="0" i="0">
                <a:solidFill>
                  <a:srgbClr val="1C1C1E"/>
                </a:solidFill>
                <a:latin typeface="Consolas"/>
              </a:rPr>
              <a:t>    deterministic: bool              # law L-3</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300" b="1" i="0">
                <a:solidFill>
                  <a:srgbClr val="1C1C1E"/>
                </a:solidFill>
                <a:latin typeface="Georgia"/>
              </a:rPr>
              <a:t>Why it is shaped this way</a:t>
            </a:r>
          </a:p>
          <a:p>
            <a:pPr>
              <a:spcBef>
                <a:spcPts val="800"/>
              </a:spcBef>
              <a:spcAft>
                <a:spcPts val="300"/>
              </a:spcAft>
            </a:pPr>
            <a:r>
              <a:rPr sz="1150" b="1">
                <a:solidFill>
                  <a:srgbClr val="A51C30"/>
                </a:solidFill>
                <a:latin typeface="Calibri"/>
              </a:rPr>
              <a:t>▪  </a:t>
            </a:r>
            <a:r>
              <a:rPr sz="1150" b="1">
                <a:solidFill>
                  <a:srgbClr val="1C1C1E"/>
                </a:solidFill>
                <a:latin typeface="Calibri"/>
              </a:rPr>
              <a:t>Parameters are an object, not a blob</a:t>
            </a:r>
          </a:p>
          <a:p>
            <a:pPr lvl="1">
              <a:spcBef>
                <a:spcPts val="0"/>
              </a:spcBef>
              <a:spcAft>
                <a:spcPts val="0"/>
              </a:spcAft>
            </a:pPr>
            <a:r>
              <a:rPr sz="1000">
                <a:solidFill>
                  <a:srgbClr val="4A4F57"/>
                </a:solidFill>
                <a:latin typeface="Calibri"/>
              </a:rPr>
              <a:t>P is first-class, so “no parameters” and “inaccessible parameters” are expressible states rather than nulls</a:t>
            </a:r>
          </a:p>
          <a:p>
            <a:pPr>
              <a:spcBef>
                <a:spcPts val="800"/>
              </a:spcBef>
              <a:spcAft>
                <a:spcPts val="300"/>
              </a:spcAft>
            </a:pPr>
            <a:r>
              <a:rPr sz="1150" b="1">
                <a:solidFill>
                  <a:srgbClr val="A51C30"/>
                </a:solidFill>
                <a:latin typeface="Calibri"/>
              </a:rPr>
              <a:t>▪  </a:t>
            </a:r>
            <a:r>
              <a:rPr sz="1150" b="1">
                <a:solidFill>
                  <a:srgbClr val="1C1C1E"/>
                </a:solidFill>
                <a:latin typeface="Calibri"/>
              </a:rPr>
              <a:t>Determinism is stored and tested</a:t>
            </a:r>
          </a:p>
          <a:p>
            <a:pPr lvl="1">
              <a:spcBef>
                <a:spcPts val="0"/>
              </a:spcBef>
              <a:spcAft>
                <a:spcPts val="0"/>
              </a:spcAft>
            </a:pPr>
            <a:r>
              <a:rPr sz="1000">
                <a:solidFill>
                  <a:srgbClr val="4A4F57"/>
                </a:solidFill>
                <a:latin typeface="Calibri"/>
              </a:rPr>
              <a:t>f commutes with copy — which is exactly the reproducibility replay in §8.2</a:t>
            </a:r>
          </a:p>
          <a:p>
            <a:pPr>
              <a:spcBef>
                <a:spcPts val="800"/>
              </a:spcBef>
              <a:spcAft>
                <a:spcPts val="300"/>
              </a:spcAft>
            </a:pPr>
            <a:r>
              <a:rPr sz="1150" b="1">
                <a:solidFill>
                  <a:srgbClr val="A51C30"/>
                </a:solidFill>
                <a:latin typeface="Calibri"/>
              </a:rPr>
              <a:t>▪  </a:t>
            </a:r>
            <a:r>
              <a:rPr sz="1150" b="1">
                <a:solidFill>
                  <a:srgbClr val="1C1C1E"/>
                </a:solidFill>
                <a:latin typeface="Calibri"/>
              </a:rPr>
              <a:t>No framework, no I/O</a:t>
            </a:r>
          </a:p>
          <a:p>
            <a:pPr lvl="1">
              <a:spcBef>
                <a:spcPts val="0"/>
              </a:spcBef>
              <a:spcAft>
                <a:spcPts val="0"/>
              </a:spcAft>
            </a:pPr>
            <a:r>
              <a:rPr sz="1000">
                <a:solidFill>
                  <a:srgbClr val="4A4F57"/>
                </a:solidFill>
                <a:latin typeface="Calibri"/>
              </a:rPr>
              <a:t>Fully unit-testable; the laws run in milliseconds over generated inputs</a:t>
            </a:r>
          </a:p>
          <a:p>
            <a:pPr>
              <a:spcBef>
                <a:spcPts val="800"/>
              </a:spcBef>
              <a:spcAft>
                <a:spcPts val="300"/>
              </a:spcAft>
            </a:pPr>
            <a:r>
              <a:rPr sz="1150" b="1">
                <a:solidFill>
                  <a:srgbClr val="A51C30"/>
                </a:solidFill>
                <a:latin typeface="Calibri"/>
              </a:rPr>
              <a:t>▪  </a:t>
            </a:r>
            <a:r>
              <a:rPr sz="1150" b="1">
                <a:solidFill>
                  <a:srgbClr val="1C1C1E"/>
                </a:solidFill>
                <a:latin typeface="Calibri"/>
              </a:rPr>
              <a:t>Frozen dataclasses</a:t>
            </a:r>
          </a:p>
          <a:p>
            <a:pPr lvl="1">
              <a:spcBef>
                <a:spcPts val="0"/>
              </a:spcBef>
              <a:spcAft>
                <a:spcPts val="0"/>
              </a:spcAft>
            </a:pPr>
            <a:r>
              <a:rPr sz="1000">
                <a:solidFill>
                  <a:srgbClr val="4A4F57"/>
                </a:solidFill>
                <a:latin typeface="Calibri"/>
              </a:rPr>
              <a:t>Immutability at the type level mirrors immutability at the storage level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CLASSIFICATION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Trainability is derived, never declared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10637215"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maya/domain/model_algebra.py</a:t>
            </a:r>
          </a:p>
        </p:txBody>
      </p:sp>
      <p:sp>
        <p:nvSpPr>
          <p:cNvPr id="13" name="TextBox 12"/>
          <p:cNvSpPr txBox="1"/>
          <p:nvPr/>
        </p:nvSpPr>
        <p:spPr>
          <a:xfrm>
            <a:off x="978408" y="1746504"/>
            <a:ext cx="10271455"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def trainability_class(self, fit: FitProcedure, adaptive: bool) -&gt; str:</a:t>
            </a:r>
          </a:p>
          <a:p>
            <a:pPr>
              <a:lnSpc>
                <a:spcPct val="134000"/>
              </a:lnSpc>
              <a:spcBef>
                <a:spcPts val="0"/>
              </a:spcBef>
              <a:spcAft>
                <a:spcPts val="0"/>
              </a:spcAft>
            </a:pPr>
            <a:r>
              <a:rPr sz="1050" b="0" i="0">
                <a:solidFill>
                  <a:srgbClr val="1C1C1E"/>
                </a:solidFill>
                <a:latin typeface="Consolas"/>
              </a:rPr>
              <a:t>    if not self.parameters.is_accessible:   return "T6"    # vendor black box</a:t>
            </a:r>
          </a:p>
          <a:p>
            <a:pPr>
              <a:lnSpc>
                <a:spcPct val="134000"/>
              </a:lnSpc>
              <a:spcBef>
                <a:spcPts val="0"/>
              </a:spcBef>
              <a:spcAft>
                <a:spcPts val="0"/>
              </a:spcAft>
            </a:pPr>
            <a:r>
              <a:rPr sz="1050" b="0" i="0">
                <a:solidFill>
                  <a:srgbClr val="1C1C1E"/>
                </a:solidFill>
                <a:latin typeface="Consolas"/>
              </a:rPr>
              <a:t>    if self.parameters.is_terminal:         return "T0"    # analytic — P ≅ I</a:t>
            </a:r>
          </a:p>
          <a:p>
            <a:pPr>
              <a:lnSpc>
                <a:spcPct val="134000"/>
              </a:lnSpc>
              <a:spcBef>
                <a:spcPts val="0"/>
              </a:spcBef>
              <a:spcAft>
                <a:spcPts val="0"/>
              </a:spcAft>
            </a:pPr>
            <a:r>
              <a:rPr sz="1050" b="0" i="0">
                <a:solidFill>
                  <a:srgbClr val="1C1C1E"/>
                </a:solidFill>
                <a:latin typeface="Consolas"/>
              </a:rPr>
              <a:t>    return {"calibrate": "T1", "estimate": "T2",</a:t>
            </a:r>
          </a:p>
          <a:p>
            <a:pPr>
              <a:lnSpc>
                <a:spcPct val="134000"/>
              </a:lnSpc>
              <a:spcBef>
                <a:spcPts val="0"/>
              </a:spcBef>
              <a:spcAft>
                <a:spcPts val="0"/>
              </a:spcAft>
            </a:pPr>
            <a:r>
              <a:rPr sz="1050" b="0" i="0">
                <a:solidFill>
                  <a:srgbClr val="1C1C1E"/>
                </a:solidFill>
                <a:latin typeface="Consolas"/>
              </a:rPr>
              <a:t>            "train": "T4" if adaptive else "T3",</a:t>
            </a:r>
          </a:p>
          <a:p>
            <a:pPr>
              <a:lnSpc>
                <a:spcPct val="134000"/>
              </a:lnSpc>
              <a:spcBef>
                <a:spcPts val="0"/>
              </a:spcBef>
              <a:spcAft>
                <a:spcPts val="0"/>
              </a:spcAft>
            </a:pPr>
            <a:r>
              <a:rPr sz="1050" b="0" i="0">
                <a:solidFill>
                  <a:srgbClr val="1C1C1E"/>
                </a:solidFill>
                <a:latin typeface="Consolas"/>
              </a:rPr>
              <a:t>            "configure": "T5", "elicit": "T7", "author": "T8"}[fit]</a:t>
            </a:r>
          </a:p>
        </p:txBody>
      </p:sp>
      <p:sp>
        <p:nvSpPr>
          <p:cNvPr id="14" name="TextBox 13"/>
          <p:cNvSpPr txBox="1"/>
          <p:nvPr/>
        </p:nvSpPr>
        <p:spPr>
          <a:xfrm>
            <a:off x="777240" y="3545448"/>
            <a:ext cx="4999491" cy="2194560"/>
          </a:xfrm>
          <a:prstGeom prst="rect">
            <a:avLst/>
          </a:prstGeom>
          <a:noFill/>
        </p:spPr>
        <p:txBody>
          <a:bodyPr wrap="square" lIns="0" rIns="0" tIns="0" bIns="0" anchor="t">
            <a:spAutoFit/>
          </a:bodyPr>
          <a:lstStyle/>
          <a:p>
            <a:pPr algn="l">
              <a:spcBef>
                <a:spcPts val="0"/>
              </a:spcBef>
              <a:spcAft>
                <a:spcPts val="800"/>
              </a:spcAft>
            </a:pPr>
            <a:r>
              <a:rPr sz="1300" b="1" i="0">
                <a:solidFill>
                  <a:srgbClr val="1C1C1E"/>
                </a:solidFill>
                <a:latin typeface="Georgia"/>
              </a:rPr>
              <a:t>What this buys</a:t>
            </a:r>
          </a:p>
          <a:p>
            <a:pPr>
              <a:spcBef>
                <a:spcPts val="0"/>
              </a:spcBef>
              <a:spcAft>
                <a:spcPts val="700"/>
              </a:spcAft>
            </a:pPr>
            <a:r>
              <a:rPr sz="1150" b="1">
                <a:solidFill>
                  <a:srgbClr val="A51C30"/>
                </a:solidFill>
                <a:latin typeface="Calibri"/>
              </a:rPr>
              <a:t>▪  </a:t>
            </a:r>
            <a:r>
              <a:rPr sz="1150">
                <a:solidFill>
                  <a:srgbClr val="1C1C1E"/>
                </a:solidFill>
                <a:latin typeface="Calibri"/>
              </a:rPr>
              <a:t>The class is a function of the parameter object and the fitting procedure — never an enum a user picks</a:t>
            </a:r>
          </a:p>
          <a:p>
            <a:pPr>
              <a:spcBef>
                <a:spcPts val="0"/>
              </a:spcBef>
              <a:spcAft>
                <a:spcPts val="700"/>
              </a:spcAft>
            </a:pPr>
            <a:r>
              <a:rPr sz="1150" b="1">
                <a:solidFill>
                  <a:srgbClr val="A51C30"/>
                </a:solidFill>
                <a:latin typeface="Calibri"/>
              </a:rPr>
              <a:t>▪  </a:t>
            </a:r>
            <a:r>
              <a:rPr sz="1150">
                <a:solidFill>
                  <a:srgbClr val="1C1C1E"/>
                </a:solidFill>
                <a:latin typeface="Calibri"/>
              </a:rPr>
              <a:t>Mislabelled records become impossible, so the estate cannot quietly drift</a:t>
            </a:r>
          </a:p>
          <a:p>
            <a:pPr>
              <a:spcBef>
                <a:spcPts val="0"/>
              </a:spcBef>
              <a:spcAft>
                <a:spcPts val="700"/>
              </a:spcAft>
            </a:pPr>
            <a:r>
              <a:rPr sz="1150" b="1">
                <a:solidFill>
                  <a:srgbClr val="A51C30"/>
                </a:solidFill>
                <a:latin typeface="Calibri"/>
              </a:rPr>
              <a:t>▪  </a:t>
            </a:r>
            <a:r>
              <a:rPr sz="1150">
                <a:solidFill>
                  <a:srgbClr val="1C1C1E"/>
                </a:solidFill>
                <a:latin typeface="Calibri"/>
              </a:rPr>
              <a:t>T0 and T6 are the two extremal cases and both fall out, rather than being special-cased</a:t>
            </a:r>
          </a:p>
        </p:txBody>
      </p:sp>
      <p:sp>
        <p:nvSpPr>
          <p:cNvPr id="15" name="Rectangle 14"/>
          <p:cNvSpPr/>
          <p:nvPr/>
        </p:nvSpPr>
        <p:spPr>
          <a:xfrm>
            <a:off x="6414964" y="3545448"/>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545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673464"/>
            <a:ext cx="4542291" cy="118872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The consequence that matters. </a:t>
            </a:r>
            <a:r>
              <a:rPr sz="11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REASONING ABOUT BLACK BOXES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DECIDABLE SUBSTITUTABILITY</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a:t>
            </a:r>
          </a:p>
          <a:p>
            <a:pPr>
              <a:lnSpc>
                <a:spcPct val="134000"/>
              </a:lnSpc>
              <a:spcBef>
                <a:spcPts val="0"/>
              </a:spcBef>
              <a:spcAft>
                <a:spcPts val="0"/>
              </a:spcAft>
            </a:pPr>
            <a:r>
              <a:rPr sz="950" b="0" i="0">
                <a:solidFill>
                  <a:srgbClr val="1C1C1E"/>
                </a:solidFill>
                <a:latin typeface="Consolas"/>
              </a:rPr>
              <a:t>    weaker_assumption  = other.assumptions.implies(self.assumptions)</a:t>
            </a:r>
          </a:p>
          <a:p>
            <a:pPr>
              <a:lnSpc>
                <a:spcPct val="134000"/>
              </a:lnSpc>
              <a:spcBef>
                <a:spcPts val="0"/>
              </a:spcBef>
              <a:spcAft>
                <a:spcPts val="0"/>
              </a:spcAft>
            </a:pPr>
            <a:r>
              <a:rPr sz="950" b="0" i="0">
                <a:solidFill>
                  <a:srgbClr val="1C1C1E"/>
                </a:solidFill>
                <a:latin typeface="Consolas"/>
              </a:rPr>
              <a:t>    stronger_guarantee = (other.assumptions &amp; self.guarantees) \</a:t>
            </a:r>
          </a:p>
          <a:p>
            <a:pPr>
              <a:lnSpc>
                <a:spcPct val="134000"/>
              </a:lnSpc>
              <a:spcBef>
                <a:spcPts val="0"/>
              </a:spcBef>
              <a:spcAft>
                <a:spcPts val="0"/>
              </a:spcAft>
            </a:pPr>
            <a:r>
              <a:rPr sz="950" b="0" i="0">
                <a:solidFill>
                  <a:srgbClr val="1C1C1E"/>
                </a:solidFill>
                <a:latin typeface="Consolas"/>
              </a:rPr>
              <a:t>                            .implies(other.guarantees)</a:t>
            </a:r>
          </a:p>
          <a:p>
            <a:pPr>
              <a:lnSpc>
                <a:spcPct val="134000"/>
              </a:lnSpc>
              <a:spcBef>
                <a:spcPts val="0"/>
              </a:spcBef>
              <a:spcAft>
                <a:spcPts val="0"/>
              </a:spcAft>
            </a:pPr>
            <a:r>
              <a:rPr sz="950" b="0" i="0">
                <a:solidFill>
                  <a:srgbClr val="1C1C1E"/>
                </a:solidFill>
                <a:latin typeface="Consolas"/>
              </a:rPr>
              <a:t>    return RefinementResult(</a:t>
            </a:r>
          </a:p>
          <a:p>
            <a:pPr>
              <a:lnSpc>
                <a:spcPct val="134000"/>
              </a:lnSpc>
              <a:spcBef>
                <a:spcPts val="0"/>
              </a:spcBef>
              <a:spcAft>
                <a:spcPts val="0"/>
              </a:spcAft>
            </a:pPr>
            <a:r>
              <a:rPr sz="950" b="0" i="0">
                <a:solidFill>
                  <a:srgbClr val="1C1C1E"/>
                </a:solidFill>
                <a:latin typeface="Consolas"/>
              </a:rPr>
              <a:t>        holds = weaker_assumption and stronger_guarantee,</a:t>
            </a:r>
          </a:p>
          <a:p>
            <a:pPr>
              <a:lnSpc>
                <a:spcPct val="134000"/>
              </a:lnSpc>
              <a:spcBef>
                <a:spcPts val="0"/>
              </a:spcBef>
              <a:spcAft>
                <a:spcPts val="0"/>
              </a:spcAft>
            </a:pPr>
            <a:r>
              <a:rPr sz="950" b="0" i="0">
                <a:solidFill>
                  <a:srgbClr val="1C1C1E"/>
                </a:solidFill>
                <a:latin typeface="Consolas"/>
              </a:rPr>
              <a:t>        failing_clauses = [...],   # DR-7: always name what failed</a:t>
            </a:r>
          </a:p>
          <a:p>
            <a:pPr>
              <a:lnSpc>
                <a:spcPct val="134000"/>
              </a:lnSpc>
              <a:spcBef>
                <a:spcPts val="0"/>
              </a:spcBef>
              <a:spcAft>
                <a:spcPts val="0"/>
              </a:spcAft>
            </a:pPr>
            <a:r>
              <a:rPr sz="950" b="0" i="0">
                <a:solidFill>
                  <a:srgbClr val="1C1C1E"/>
                </a:solidFill>
                <a:latin typeface="Consolas"/>
              </a:rPr>
              <a:t>    )</a:t>
            </a:r>
          </a:p>
        </p:txBody>
      </p:sp>
      <p:sp>
        <p:nvSpPr>
          <p:cNvPr id="14" name="TextBox 13"/>
          <p:cNvSpPr txBox="1"/>
          <p:nvPr/>
        </p:nvSpPr>
        <p:spPr>
          <a:xfrm>
            <a:off x="7053196" y="1353312"/>
            <a:ext cx="4361258" cy="164592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deliberately restricted predicate language</a:t>
            </a:r>
          </a:p>
          <a:p>
            <a:pPr>
              <a:lnSpc>
                <a:spcPct val="125000"/>
              </a:lnSpc>
              <a:spcBef>
                <a:spcPts val="0"/>
              </a:spcBef>
              <a:spcAft>
                <a:spcPts val="700"/>
              </a:spcAft>
            </a:pPr>
            <a:r>
              <a:rPr sz="1100" b="0" i="0">
                <a:solidFill>
                  <a:srgbClr val="4A4F57"/>
                </a:solidFill>
                <a:latin typeface="Calibri"/>
              </a:rPr>
              <a:t>Conjunctions of interval constraints, set membership, metric comparisons and freshness bounds — chosen so refinement stays decidable.</a:t>
            </a:r>
          </a:p>
          <a:p>
            <a:pPr>
              <a:lnSpc>
                <a:spcPct val="125000"/>
              </a:lnSpc>
              <a:spcBef>
                <a:spcPts val="0"/>
              </a:spcBef>
              <a:spcAft>
                <a:spcPts val="600"/>
              </a:spcAft>
            </a:pPr>
            <a:r>
              <a:rPr sz="1100" b="0" i="0">
                <a:solidFill>
                  <a:srgbClr val="4A4F57"/>
                </a:solidFill>
                <a:latin typeface="Calibri"/>
              </a:rPr>
              <a:t>Richer assumptions are recorded as </a:t>
            </a:r>
            <a:r>
              <a:rPr sz="1100" b="1" i="1">
                <a:solidFill>
                  <a:srgbClr val="1C1C1E"/>
                </a:solidFill>
                <a:latin typeface="Calibri"/>
              </a:rPr>
              <a:t>narrative</a:t>
            </a:r>
            <a:r>
              <a:rPr sz="1100" b="0" i="0">
                <a:solidFill>
                  <a:srgbClr val="4A4F57"/>
                </a:solidFill>
                <a:latin typeface="Calibri"/>
              </a:rPr>
              <a:t> and explicitly excluded from automated refinement — so nobody believes a check happened that did not.</a:t>
            </a:r>
          </a:p>
        </p:txBody>
      </p:sp>
      <p:sp>
        <p:nvSpPr>
          <p:cNvPr id="15" name="TextBox 14"/>
          <p:cNvSpPr txBox="1"/>
          <p:nvPr/>
        </p:nvSpPr>
        <p:spPr>
          <a:xfrm>
            <a:off x="777240" y="4046197"/>
            <a:ext cx="10637215" cy="365760"/>
          </a:xfrm>
          <a:prstGeom prst="rect">
            <a:avLst/>
          </a:prstGeom>
          <a:noFill/>
        </p:spPr>
        <p:txBody>
          <a:bodyPr wrap="square" lIns="0" rIns="0" tIns="0" bIns="0" anchor="t">
            <a:spAutoFit/>
          </a:bodyPr>
          <a:lstStyle/>
          <a:p>
            <a:pPr algn="l">
              <a:spcBef>
                <a:spcPts val="0"/>
              </a:spcBef>
              <a:spcAft>
                <a:spcPts val="0"/>
              </a:spcAft>
            </a:pPr>
            <a:r>
              <a:rPr sz="1300" b="1" i="0">
                <a:solidFill>
                  <a:srgbClr val="1C1C1E"/>
                </a:solidFill>
                <a:latin typeface="Georgia"/>
              </a:rPr>
              <a:t>Where the four operations are used</a:t>
            </a:r>
          </a:p>
        </p:txBody>
      </p:sp>
      <p:graphicFrame>
        <p:nvGraphicFramePr>
          <p:cNvPr id="16" name="Table 15"/>
          <p:cNvGraphicFramePr>
            <a:graphicFrameLocks noGrp="1"/>
          </p:cNvGraphicFramePr>
          <p:nvPr/>
        </p:nvGraphicFramePr>
        <p:xfrm>
          <a:off x="777240" y="4411957"/>
          <a:ext cx="10637214" cy="1813773"/>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Operation</a:t>
                      </a:r>
                    </a:p>
                  </a:txBody>
                  <a:tcPr marL="82296" marR="64008" marT="32004" marB="32004" anchor="ctr">
                    <a:solidFill>
                      <a:srgbClr val="A51C30"/>
                    </a:solidFill>
                  </a:tcPr>
                </a:tc>
                <a:tc>
                  <a:txBody>
                    <a:bodyPr wrap="square"/>
                    <a:lstStyle/>
                    <a:p>
                      <a:pPr algn="l"/>
                      <a:r>
                        <a:rPr sz="1100" b="1">
                          <a:solidFill>
                            <a:srgbClr val="FFFFFF"/>
                          </a:solidFill>
                          <a:latin typeface="Calibri"/>
                        </a:rPr>
                        <a:t>Question it answers</a:t>
                      </a:r>
                    </a:p>
                  </a:txBody>
                  <a:tcPr marL="82296" marR="64008" marT="32004" marB="32004" anchor="ctr">
                    <a:solidFill>
                      <a:srgbClr val="A51C30"/>
                    </a:solidFill>
                  </a:tcPr>
                </a:tc>
                <a:tc>
                  <a:txBody>
                    <a:bodyPr wrap="square"/>
                    <a:lstStyle/>
                    <a:p>
                      <a:pPr algn="l"/>
                      <a:r>
                        <a:rPr sz="1100" b="1">
                          <a:solidFill>
                            <a:srgbClr val="FFFFFF"/>
                          </a:solidFill>
                          <a:latin typeface="Calibri"/>
                        </a:rPr>
                        <a:t>Used at</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Refinement  ⪯</a:t>
                      </a:r>
                    </a:p>
                  </a:txBody>
                  <a:tcPr marL="82296" marR="64008" marT="32004" marB="32004" anchor="ctr">
                    <a:solidFill>
                      <a:srgbClr val="FFFFFF"/>
                    </a:solidFill>
                  </a:tcPr>
                </a:tc>
                <a:tc>
                  <a:txBody>
                    <a:bodyPr wrap="square"/>
                    <a:lstStyle/>
                    <a:p>
                      <a:pPr algn="l"/>
                      <a:r>
                        <a:rPr sz="105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50" b="0">
                          <a:solidFill>
                            <a:srgbClr val="1C1C1E"/>
                          </a:solidFill>
                          <a:latin typeface="Calibri"/>
                        </a:rPr>
                        <a:t>Every alias move — a proof obligation, not a meeting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Composition  ⊗</a:t>
                      </a:r>
                    </a:p>
                  </a:txBody>
                  <a:tcPr marL="82296" marR="64008" marT="32004" marB="32004" anchor="ctr">
                    <a:solidFill>
                      <a:srgbClr val="F6F3EF"/>
                    </a:solidFill>
                  </a:tcPr>
                </a:tc>
                <a:tc>
                  <a:txBody>
                    <a:bodyPr wrap="square"/>
                    <a:lstStyle/>
                    <a:p>
                      <a:pPr algn="l"/>
                      <a:r>
                        <a:rPr sz="1050" b="0">
                          <a:solidFill>
                            <a:srgbClr val="1C1C1E"/>
                          </a:solidFill>
                          <a:latin typeface="Calibri"/>
                        </a:rPr>
                        <a:t>What does this model chain promise end to end?</a:t>
                      </a:r>
                    </a:p>
                  </a:txBody>
                  <a:tcPr marL="82296" marR="64008" marT="32004" marB="32004" anchor="ctr">
                    <a:solidFill>
                      <a:srgbClr val="F6F3EF"/>
                    </a:solidFill>
                  </a:tcPr>
                </a:tc>
                <a:tc>
                  <a:txBody>
                    <a:bodyPr wrap="square"/>
                    <a:lstStyle/>
                    <a:p>
                      <a:pPr algn="l"/>
                      <a:r>
                        <a:rPr sz="1050" b="0">
                          <a:solidFill>
                            <a:srgbClr val="1C1C1E"/>
                          </a:solidFill>
                          <a:latin typeface="Calibri"/>
                        </a:rPr>
                        <a:t>Composite warrants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Conjunction  ∧</a:t>
                      </a:r>
                    </a:p>
                  </a:txBody>
                  <a:tcPr marL="82296" marR="64008" marT="32004" marB="32004" anchor="ctr">
                    <a:solidFill>
                      <a:srgbClr val="FFFFFF"/>
                    </a:solidFill>
                  </a:tcPr>
                </a:tc>
                <a:tc>
                  <a:txBody>
                    <a:bodyPr wrap="square"/>
                    <a:lstStyle/>
                    <a:p>
                      <a:pPr algn="l"/>
                      <a:r>
                        <a:rPr sz="1050" b="0">
                          <a:solidFill>
                            <a:srgbClr val="1C1C1E"/>
                          </a:solidFill>
                          <a:latin typeface="Calibri"/>
                        </a:rPr>
                        <a:t>Satisfy performance and fairness and latency together</a:t>
                      </a:r>
                    </a:p>
                  </a:txBody>
                  <a:tcPr marL="82296" marR="64008" marT="32004" marB="32004" anchor="ctr">
                    <a:solidFill>
                      <a:srgbClr val="FFFFFF"/>
                    </a:solidFill>
                  </a:tcPr>
                </a:tc>
                <a:tc>
                  <a:txBody>
                    <a:bodyPr wrap="square"/>
                    <a:lstStyle/>
                    <a:p>
                      <a:pPr algn="l"/>
                      <a:r>
                        <a:rPr sz="1050" b="0">
                          <a:solidFill>
                            <a:srgbClr val="1C1C1E"/>
                          </a:solidFill>
                          <a:latin typeface="Calibri"/>
                        </a:rPr>
                        <a:t>Merging viewpoints on one model</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Quotient  /</a:t>
                      </a:r>
                    </a:p>
                  </a:txBody>
                  <a:tcPr marL="82296" marR="64008" marT="32004" marB="32004" anchor="ctr">
                    <a:solidFill>
                      <a:srgbClr val="F6F3EF"/>
                    </a:solidFill>
                  </a:tcPr>
                </a:tc>
                <a:tc>
                  <a:txBody>
                    <a:bodyPr wrap="square"/>
                    <a:lstStyle/>
                    <a:p>
                      <a:pPr algn="l"/>
                      <a:r>
                        <a:rPr sz="1050" b="0">
                          <a:solidFill>
                            <a:srgbClr val="1C1C1E"/>
                          </a:solidFill>
                          <a:latin typeface="Calibri"/>
                        </a:rPr>
                        <a:t>Given the target and what we have, what must the missing piece guarantee?</a:t>
                      </a:r>
                    </a:p>
                  </a:txBody>
                  <a:tcPr marL="82296" marR="64008" marT="32004" marB="32004" anchor="ctr">
                    <a:solidFill>
                      <a:srgbClr val="F6F3EF"/>
                    </a:solidFill>
                  </a:tcPr>
                </a:tc>
                <a:tc>
                  <a:txBody>
                    <a:bodyPr wrap="square"/>
                    <a:lstStyle/>
                    <a:p>
                      <a:pPr algn="l"/>
                      <a:r>
                        <a:rPr sz="1050" b="0">
                          <a:solidFill>
                            <a:srgbClr val="1C1C1E"/>
                          </a:solidFill>
                          <a:latin typeface="Calibri"/>
                        </a:rPr>
                        <a:t>Turns a validation gap into a specification</a:t>
                      </a:r>
                    </a:p>
                  </a:txBody>
                  <a:tcPr marL="82296" marR="64008" marT="32004" marB="32004" anchor="ctr">
                    <a:solidFill>
                      <a:srgbClr val="F6F3E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EXTENSIBILITY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fibre registry, and why it fails at startup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6169584" cy="341880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41880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STARTUP TOTALITY CHECK</a:t>
            </a:r>
          </a:p>
        </p:txBody>
      </p:sp>
      <p:sp>
        <p:nvSpPr>
          <p:cNvPr id="13" name="TextBox 12"/>
          <p:cNvSpPr txBox="1"/>
          <p:nvPr/>
        </p:nvSpPr>
        <p:spPr>
          <a:xfrm>
            <a:off x="978408" y="1746504"/>
            <a:ext cx="5803824" cy="2943316"/>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FibreRegistry:</a:t>
            </a:r>
          </a:p>
          <a:p>
            <a:pPr>
              <a:lnSpc>
                <a:spcPct val="134000"/>
              </a:lnSpc>
              <a:spcBef>
                <a:spcPts val="0"/>
              </a:spcBef>
              <a:spcAft>
                <a:spcPts val="0"/>
              </a:spcAft>
            </a:pPr>
            <a:r>
              <a:rPr sz="950" b="0" i="0">
                <a:solidFill>
                  <a:srgbClr val="1C1C1E"/>
                </a:solidFill>
                <a:latin typeface="Consolas"/>
              </a:rPr>
              <a:t>    def __init__(self, plugins: PluginLoader):</a:t>
            </a:r>
          </a:p>
          <a:p>
            <a:pPr>
              <a:lnSpc>
                <a:spcPct val="134000"/>
              </a:lnSpc>
              <a:spcBef>
                <a:spcPts val="0"/>
              </a:spcBef>
              <a:spcAft>
                <a:spcPts val="0"/>
              </a:spcAft>
            </a:pPr>
            <a:r>
              <a:rPr sz="950" b="0" i="0">
                <a:solidFill>
                  <a:srgbClr val="1C1C1E"/>
                </a:solidFill>
                <a:latin typeface="Consolas"/>
              </a:rPr>
              <a:t>        for ep in plugins.entry_points("maya.model_class"):</a:t>
            </a:r>
          </a:p>
          <a:p>
            <a:pPr>
              <a:lnSpc>
                <a:spcPct val="134000"/>
              </a:lnSpc>
              <a:spcBef>
                <a:spcPts val="0"/>
              </a:spcBef>
              <a:spcAft>
                <a:spcPts val="0"/>
              </a:spcAft>
            </a:pPr>
            <a:r>
              <a:rPr sz="950" b="0" i="0">
                <a:solidFill>
                  <a:srgbClr val="1C1C1E"/>
                </a:solidFill>
                <a:latin typeface="Consolas"/>
              </a:rPr>
              <a:t>            f = ep.load()()</a:t>
            </a:r>
          </a:p>
          <a:p>
            <a:pPr>
              <a:lnSpc>
                <a:spcPct val="134000"/>
              </a:lnSpc>
              <a:spcBef>
                <a:spcPts val="0"/>
              </a:spcBef>
              <a:spcAft>
                <a:spcPts val="0"/>
              </a:spcAft>
            </a:pPr>
            <a:r>
              <a:rPr sz="950" b="0" i="0">
                <a:solidFill>
                  <a:srgbClr val="1C1C1E"/>
                </a:solidFill>
                <a:latin typeface="Consolas"/>
              </a:rPr>
              <a:t>            self._validate_total(f)      # law L-15</a:t>
            </a:r>
          </a:p>
          <a:p>
            <a:pPr>
              <a:lnSpc>
                <a:spcPct val="134000"/>
              </a:lnSpc>
              <a:spcBef>
                <a:spcPts val="0"/>
              </a:spcBef>
              <a:spcAft>
                <a:spcPts val="0"/>
              </a:spcAft>
            </a:pPr>
            <a:r>
              <a:rPr sz="950" b="0" i="0">
                <a:solidFill>
                  <a:srgbClr val="1C1C1E"/>
                </a:solidFill>
                <a:latin typeface="Consolas"/>
              </a:rPr>
              <a:t>            self._fibres[f.key] = f</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def _validate_total(self, f) -&gt; None:</a:t>
            </a:r>
          </a:p>
          <a:p>
            <a:pPr>
              <a:lnSpc>
                <a:spcPct val="134000"/>
              </a:lnSpc>
              <a:spcBef>
                <a:spcPts val="0"/>
              </a:spcBef>
              <a:spcAft>
                <a:spcPts val="0"/>
              </a:spcAft>
            </a:pPr>
            <a:r>
              <a:rPr sz="950" b="0" i="0">
                <a:solidFill>
                  <a:srgbClr val="1C1C1E"/>
                </a:solidFill>
                <a:latin typeface="Consolas"/>
              </a:rPr>
              <a:t>        missing = [n for n in ("evidence_schema", "lifecycle",</a:t>
            </a:r>
          </a:p>
          <a:p>
            <a:pPr>
              <a:lnSpc>
                <a:spcPct val="134000"/>
              </a:lnSpc>
              <a:spcBef>
                <a:spcPts val="0"/>
              </a:spcBef>
              <a:spcAft>
                <a:spcPts val="0"/>
              </a:spcAft>
            </a:pPr>
            <a:r>
              <a:rPr sz="950" b="0" i="0">
                <a:solidFill>
                  <a:srgbClr val="1C1C1E"/>
                </a:solidFill>
                <a:latin typeface="Consolas"/>
              </a:rPr>
              <a:t>                   "default_monitors", "document_templates",</a:t>
            </a:r>
          </a:p>
          <a:p>
            <a:pPr>
              <a:lnSpc>
                <a:spcPct val="134000"/>
              </a:lnSpc>
              <a:spcBef>
                <a:spcPts val="0"/>
              </a:spcBef>
              <a:spcAft>
                <a:spcPts val="0"/>
              </a:spcAft>
            </a:pPr>
            <a:r>
              <a:rPr sz="950" b="0" i="0">
                <a:solidFill>
                  <a:srgbClr val="1C1C1E"/>
                </a:solidFill>
                <a:latin typeface="Consolas"/>
              </a:rPr>
              <a:t>                   "tiering_hints", "contract_template")</a:t>
            </a:r>
          </a:p>
          <a:p>
            <a:pPr>
              <a:lnSpc>
                <a:spcPct val="134000"/>
              </a:lnSpc>
              <a:spcBef>
                <a:spcPts val="0"/>
              </a:spcBef>
              <a:spcAft>
                <a:spcPts val="0"/>
              </a:spcAft>
            </a:pPr>
            <a:r>
              <a:rPr sz="950" b="0" i="0">
                <a:solidFill>
                  <a:srgbClr val="1C1C1E"/>
                </a:solidFill>
                <a:latin typeface="Consolas"/>
              </a:rPr>
              <a:t>                   if not getattr(f, n)()]</a:t>
            </a:r>
          </a:p>
          <a:p>
            <a:pPr>
              <a:lnSpc>
                <a:spcPct val="134000"/>
              </a:lnSpc>
              <a:spcBef>
                <a:spcPts val="0"/>
              </a:spcBef>
              <a:spcAft>
                <a:spcPts val="0"/>
              </a:spcAft>
            </a:pPr>
            <a:r>
              <a:rPr sz="950" b="0" i="0">
                <a:solidFill>
                  <a:srgbClr val="1C1C1E"/>
                </a:solidFill>
                <a:latin typeface="Consolas"/>
              </a:rPr>
              <a:t>        if missing:</a:t>
            </a:r>
          </a:p>
          <a:p>
            <a:pPr>
              <a:lnSpc>
                <a:spcPct val="134000"/>
              </a:lnSpc>
              <a:spcBef>
                <a:spcPts val="0"/>
              </a:spcBef>
              <a:spcAft>
                <a:spcPts val="0"/>
              </a:spcAft>
            </a:pPr>
            <a:r>
              <a:rPr sz="950" b="0" i="0">
                <a:solidFill>
                  <a:srgbClr val="1C1C1E"/>
                </a:solidFill>
                <a:latin typeface="Consolas"/>
              </a:rPr>
              <a:t>            raise FibreIncomplete(f.key, missing)  # refuse to boot</a:t>
            </a:r>
          </a:p>
        </p:txBody>
      </p:sp>
      <p:sp>
        <p:nvSpPr>
          <p:cNvPr id="14" name="TextBox 13"/>
          <p:cNvSpPr txBox="1"/>
          <p:nvPr/>
        </p:nvSpPr>
        <p:spPr>
          <a:xfrm>
            <a:off x="7372313" y="135331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Nine extension points</a:t>
            </a:r>
          </a:p>
          <a:p>
            <a:pPr>
              <a:lnSpc>
                <a:spcPct val="130000"/>
              </a:lnSpc>
              <a:spcBef>
                <a:spcPts val="0"/>
              </a:spcBef>
              <a:spcAft>
                <a:spcPts val="1200"/>
              </a:spcAft>
            </a:pPr>
            <a:r>
              <a:rPr sz="1100" b="0" i="0">
                <a:solidFill>
                  <a:srgbClr val="4A4F57"/>
                </a:solidFill>
                <a:latin typeface="Calibri"/>
              </a:rPr>
              <a:t>model class · regime · semiring · artifact format · validation test · metric · document template · warrant flavour · connector</a:t>
            </a:r>
          </a:p>
          <a:p>
            <a:pPr>
              <a:spcBef>
                <a:spcPts val="0"/>
              </a:spcBef>
              <a:spcAft>
                <a:spcPts val="700"/>
              </a:spcAft>
            </a:pPr>
            <a:r>
              <a:rPr sz="1250" b="1" i="0">
                <a:solidFill>
                  <a:srgbClr val="1C1C1E"/>
                </a:solidFill>
                <a:latin typeface="Georgia"/>
              </a:rPr>
              <a:t>Why refuse to boot?</a:t>
            </a:r>
          </a:p>
          <a:p>
            <a:pPr>
              <a:lnSpc>
                <a:spcPct val="130000"/>
              </a:lnSpc>
              <a:spcBef>
                <a:spcPts val="0"/>
              </a:spcBef>
              <a:spcAft>
                <a:spcPts val="0"/>
              </a:spcAft>
            </a:pPr>
            <a:r>
              <a:rPr sz="1100" b="0" i="0">
                <a:solidFill>
                  <a:srgbClr val="4A4F57"/>
                </a:solidFill>
                <a:latin typeface="Calibri"/>
              </a:rPr>
              <a:t>A half-registered fibre would otherwise surface as a confusing runtime error weeks later, in the one place the platform has to be trustworthy. Failing loudly at startup is the cheaper failure.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the full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Manifest checked against the fibre's JSON Schema</a:t>
            </a:r>
          </a:p>
        </p:txBody>
      </p:sp>
      <p:sp>
        <p:nvSpPr>
          <p:cNvPr id="13" name="Rectangle 12"/>
          <p:cNvSpPr/>
          <p:nvPr/>
        </p:nvSpPr>
        <p:spPr>
          <a:xfrm>
            <a:off x="232296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32296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46927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Quarantine</a:t>
            </a:r>
          </a:p>
          <a:p>
            <a:pPr>
              <a:lnSpc>
                <a:spcPct val="115000"/>
              </a:lnSpc>
              <a:spcBef>
                <a:spcPts val="0"/>
              </a:spcBef>
              <a:spcAft>
                <a:spcPts val="600"/>
              </a:spcAft>
            </a:pPr>
            <a:r>
              <a:rPr sz="850" b="0" i="0">
                <a:solidFill>
                  <a:srgbClr val="4A4F57"/>
                </a:solidFill>
                <a:latin typeface="Calibri"/>
              </a:rPr>
              <a:t>Artifact streamed to a no-execute, content-addressed store</a:t>
            </a:r>
          </a:p>
        </p:txBody>
      </p:sp>
      <p:sp>
        <p:nvSpPr>
          <p:cNvPr id="16" name="Rectangle 15"/>
          <p:cNvSpPr/>
          <p:nvPr/>
        </p:nvSpPr>
        <p:spPr>
          <a:xfrm>
            <a:off x="3868695"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3868695"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014999"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Sandbox</a:t>
            </a:r>
          </a:p>
          <a:p>
            <a:pPr>
              <a:lnSpc>
                <a:spcPct val="115000"/>
              </a:lnSpc>
              <a:spcBef>
                <a:spcPts val="0"/>
              </a:spcBef>
              <a:spcAft>
                <a:spcPts val="600"/>
              </a:spcAft>
            </a:pPr>
            <a:r>
              <a:rPr sz="850" b="0" i="0">
                <a:solidFill>
                  <a:srgbClr val="4A4F57"/>
                </a:solidFill>
                <a:latin typeface="Calibri"/>
              </a:rPr>
              <a:t>Malware, pickle opcodes, SCA, secrets, licence; then graph parse</a:t>
            </a:r>
          </a:p>
        </p:txBody>
      </p:sp>
      <p:sp>
        <p:nvSpPr>
          <p:cNvPr id="19" name="Rectangle 18"/>
          <p:cNvSpPr/>
          <p:nvPr/>
        </p:nvSpPr>
        <p:spPr>
          <a:xfrm>
            <a:off x="5414423"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414423"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5560727"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Policy</a:t>
            </a:r>
          </a:p>
          <a:p>
            <a:pPr>
              <a:lnSpc>
                <a:spcPct val="115000"/>
              </a:lnSpc>
              <a:spcBef>
                <a:spcPts val="0"/>
              </a:spcBef>
              <a:spcAft>
                <a:spcPts val="600"/>
              </a:spcAft>
            </a:pPr>
            <a:r>
              <a:rPr sz="850" b="0" i="0">
                <a:solidFill>
                  <a:srgbClr val="4A4F57"/>
                </a:solidFill>
                <a:latin typeface="Calibri"/>
              </a:rPr>
              <a:t>Format policy for the target environment; reject with an exception path</a:t>
            </a:r>
          </a:p>
        </p:txBody>
      </p:sp>
      <p:sp>
        <p:nvSpPr>
          <p:cNvPr id="22" name="Rectangle 21"/>
          <p:cNvSpPr/>
          <p:nvPr/>
        </p:nvSpPr>
        <p:spPr>
          <a:xfrm>
            <a:off x="6960151"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6960151"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106455"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Features</a:t>
            </a:r>
          </a:p>
          <a:p>
            <a:pPr>
              <a:lnSpc>
                <a:spcPct val="115000"/>
              </a:lnSpc>
              <a:spcBef>
                <a:spcPts val="0"/>
              </a:spcBef>
              <a:spcAft>
                <a:spcPts val="600"/>
              </a:spcAft>
            </a:pPr>
            <a:r>
              <a:rPr sz="850" b="0" i="0">
                <a:solidFill>
                  <a:srgbClr val="4A4F57"/>
                </a:solidFill>
                <a:latin typeface="Calibri"/>
              </a:rPr>
              <a:t>Declared inputs reconciled against the feature registry</a:t>
            </a:r>
          </a:p>
        </p:txBody>
      </p:sp>
      <p:sp>
        <p:nvSpPr>
          <p:cNvPr id="25" name="Rectangle 24"/>
          <p:cNvSpPr/>
          <p:nvPr/>
        </p:nvSpPr>
        <p:spPr>
          <a:xfrm>
            <a:off x="8505879"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505879"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8652183"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created immutable; artifact promoted, signed, attested</a:t>
            </a:r>
          </a:p>
        </p:txBody>
      </p:sp>
      <p:sp>
        <p:nvSpPr>
          <p:cNvPr id="28" name="Rectangle 27"/>
          <p:cNvSpPr/>
          <p:nvPr/>
        </p:nvSpPr>
        <p:spPr>
          <a:xfrm>
            <a:off x="1005160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Rectangle 28"/>
          <p:cNvSpPr/>
          <p:nvPr/>
        </p:nvSpPr>
        <p:spPr>
          <a:xfrm>
            <a:off x="1005160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TextBox 29"/>
          <p:cNvSpPr txBox="1"/>
          <p:nvPr/>
        </p:nvSpPr>
        <p:spPr>
          <a:xfrm>
            <a:off x="1019791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7</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Nodes appended: artifact, introspection, scans, contract, manifest</a:t>
            </a:r>
          </a:p>
        </p:txBody>
      </p:sp>
      <p:sp>
        <p:nvSpPr>
          <p:cNvPr id="31" name="Rectangle 30"/>
          <p:cNvSpPr/>
          <p:nvPr/>
        </p:nvSpPr>
        <p:spPr>
          <a:xfrm>
            <a:off x="777240" y="31089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1089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51560" y="3236976"/>
            <a:ext cx="10088575" cy="7772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Transaction boundary. </a:t>
            </a:r>
            <a:r>
              <a:rPr sz="1200" b="0" i="0">
                <a:solidFill>
                  <a:srgbClr val="1C1C1E"/>
                </a:solidFill>
                <a:latin typeface="Calibri"/>
              </a:rPr>
              <a:t>Steps 6–7 are one Postgres transaction plus an outbox row for the object-store promotion. If promotion fails the outbox retries; the version exists but is marked artifact_pending and cannot be aliased. </a:t>
            </a:r>
            <a:r>
              <a:rPr sz="1200" b="1" i="0">
                <a:solidFill>
                  <a:srgbClr val="A51C30"/>
                </a:solidFill>
                <a:latin typeface="Calibri"/>
              </a:rPr>
              <a:t>Partial visibility is preferable to a lost write.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10637215"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maya/registry/aliases.py</a:t>
            </a:r>
          </a:p>
        </p:txBody>
      </p:sp>
      <p:sp>
        <p:nvSpPr>
          <p:cNvPr id="13" name="TextBox 12"/>
          <p:cNvSpPr txBox="1"/>
          <p:nvPr/>
        </p:nvSpPr>
        <p:spPr>
          <a:xfrm>
            <a:off x="978408" y="1746504"/>
            <a:ext cx="10271455"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uow.transaction():</a:t>
            </a:r>
          </a:p>
          <a:p>
            <a:pPr>
              <a:lnSpc>
                <a:spcPct val="134000"/>
              </a:lnSpc>
              <a:spcBef>
                <a:spcPts val="0"/>
              </a:spcBef>
              <a:spcAft>
                <a:spcPts val="0"/>
              </a:spcAft>
            </a:pPr>
            <a:r>
              <a:rPr sz="950" b="0" i="0">
                <a:solidFill>
                  <a:srgbClr val="1C1C1E"/>
                </a:solidFill>
                <a:latin typeface="Consolas"/>
              </a:rPr>
              <a:t>    lock = advisory_lock(f"alias:{model_id}:{env}")     # serialise per (model, env)</a:t>
            </a:r>
          </a:p>
          <a:p>
            <a:pPr>
              <a:lnSpc>
                <a:spcPct val="134000"/>
              </a:lnSpc>
              <a:spcBef>
                <a:spcPts val="0"/>
              </a:spcBef>
              <a:spcAft>
                <a:spcPts val="0"/>
              </a:spcAft>
            </a:pPr>
            <a:r>
              <a:rPr sz="950" b="0" i="0">
                <a:solidFill>
                  <a:srgbClr val="1C1C1E"/>
                </a:solidFill>
                <a:latin typeface="Consolas"/>
              </a:rPr>
              <a:t>    ref  = new.contract.refines(cur.contract)            # law L-7</a:t>
            </a:r>
          </a:p>
          <a:p>
            <a:pPr>
              <a:lnSpc>
                <a:spcPct val="134000"/>
              </a:lnSpc>
              <a:spcBef>
                <a:spcPts val="0"/>
              </a:spcBef>
              <a:spcAft>
                <a:spcPts val="0"/>
              </a:spcAft>
            </a:pPr>
            <a:r>
              <a:rPr sz="950" b="0" i="0">
                <a:solidFill>
                  <a:srgbClr val="1C1C1E"/>
                </a:solidFill>
                <a:latin typeface="Consolas"/>
              </a:rPr>
              <a:t>    var  = substitutable(new.schema, cur.schema)         # law L-12</a:t>
            </a:r>
          </a:p>
          <a:p>
            <a:pPr>
              <a:lnSpc>
                <a:spcPct val="134000"/>
              </a:lnSpc>
              <a:spcBef>
                <a:spcPts val="0"/>
              </a:spcBef>
              <a:spcAft>
                <a:spcPts val="0"/>
              </a:spcAft>
            </a:pPr>
            <a:r>
              <a:rPr sz="950" b="0" i="0">
                <a:solidFill>
                  <a:srgbClr val="1C1C1E"/>
                </a:solidFill>
                <a:latin typeface="Consolas"/>
              </a:rPr>
              <a:t>    if not (ref.holds and var.ok):</a:t>
            </a:r>
          </a:p>
          <a:p>
            <a:pPr>
              <a:lnSpc>
                <a:spcPct val="134000"/>
              </a:lnSpc>
              <a:spcBef>
                <a:spcPts val="0"/>
              </a:spcBef>
              <a:spcAft>
                <a:spcPts val="0"/>
              </a:spcAft>
            </a:pPr>
            <a:r>
              <a:rPr sz="950" b="0" i="0">
                <a:solidFill>
                  <a:srgbClr val="1C1C1E"/>
                </a:solidFill>
                <a:latin typeface="Consolas"/>
              </a:rPr>
              <a:t>        raise AliasMoveRefused(ref, var, consumers=warrants.consumers_of(...))</a:t>
            </a:r>
          </a:p>
          <a:p>
            <a:pPr>
              <a:lnSpc>
                <a:spcPct val="134000"/>
              </a:lnSpc>
              <a:spcBef>
                <a:spcPts val="0"/>
              </a:spcBef>
              <a:spcAft>
                <a:spcPts val="0"/>
              </a:spcAft>
            </a:pPr>
            <a:r>
              <a:rPr sz="950" b="0" i="0">
                <a:solidFill>
                  <a:srgbClr val="1C1C1E"/>
                </a:solidFill>
                <a:latin typeface="Consolas"/>
              </a:rPr>
              <a:t>    if not policy.evaluate("gates.alias_move", ctx).allow: raise PolicyDenied(...)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warrant_projection.rebuild(model_id, env, name, new)    # PRE-WARM before invalidate</a:t>
            </a:r>
          </a:p>
          <a:p>
            <a:pPr>
              <a:lnSpc>
                <a:spcPct val="134000"/>
              </a:lnSpc>
              <a:spcBef>
                <a:spcPts val="0"/>
              </a:spcBef>
              <a:spcAft>
                <a:spcPts val="0"/>
              </a:spcAft>
            </a:pPr>
            <a:r>
              <a:rPr sz="950" b="0" i="0">
                <a:solidFill>
                  <a:srgbClr val="1C1C1E"/>
                </a:solidFill>
                <a:latin typeface="Consolas"/>
              </a:rPr>
              <a:t>    aliases.point(model_id, env, name, new)</a:t>
            </a:r>
          </a:p>
          <a:p>
            <a:pPr>
              <a:lnSpc>
                <a:spcPct val="134000"/>
              </a:lnSpc>
              <a:spcBef>
                <a:spcPts val="0"/>
              </a:spcBef>
              <a:spcAft>
                <a:spcPts val="0"/>
              </a:spcAft>
            </a:pPr>
            <a:r>
              <a:rPr sz="950" b="0" i="0">
                <a:solidFill>
                  <a:srgbClr val="1C1C1E"/>
                </a:solidFill>
                <a:latin typeface="Consolas"/>
              </a:rPr>
              <a:t>    alias_history.append(cur, new, ref, var, actor, justification)</a:t>
            </a:r>
          </a:p>
          <a:p>
            <a:pPr>
              <a:lnSpc>
                <a:spcPct val="134000"/>
              </a:lnSpc>
              <a:spcBef>
                <a:spcPts val="0"/>
              </a:spcBef>
              <a:spcAft>
                <a:spcPts val="0"/>
              </a:spcAft>
            </a:pPr>
            <a:r>
              <a:rPr sz="950" b="0" i="0">
                <a:solidFill>
                  <a:srgbClr val="1C1C1E"/>
                </a:solidFill>
                <a:latin typeface="Consolas"/>
              </a:rPr>
              <a:t>    outbox.put(CacheInvalidate(...), AliasMoved(...))</a:t>
            </a:r>
          </a:p>
          <a:p>
            <a:pPr>
              <a:lnSpc>
                <a:spcPct val="134000"/>
              </a:lnSpc>
              <a:spcBef>
                <a:spcPts val="0"/>
              </a:spcBef>
              <a:spcAft>
                <a:spcPts val="0"/>
              </a:spcAft>
            </a:pPr>
            <a:r>
              <a:rPr sz="950" b="0" i="0">
                <a:solidFill>
                  <a:srgbClr val="1C1C1E"/>
                </a:solidFill>
                <a:latin typeface="Consolas"/>
              </a:rPr>
              <a:t>monitoring.schedule_post_move_comparison(model_id, env, window="P7D")</a:t>
            </a:r>
          </a:p>
        </p:txBody>
      </p:sp>
      <p:sp>
        <p:nvSpPr>
          <p:cNvPr id="14" name="TextBox 13"/>
          <p:cNvSpPr txBox="1"/>
          <p:nvPr/>
        </p:nvSpPr>
        <p:spPr>
          <a:xfrm>
            <a:off x="777240" y="4842730"/>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00" b="1" i="0">
                <a:solidFill>
                  <a:srgbClr val="A51C30"/>
                </a:solidFill>
                <a:latin typeface="Calibri"/>
              </a:rPr>
              <a:t>Three things are happening. </a:t>
            </a:r>
            <a:r>
              <a:rPr sz="1200" b="0" i="0">
                <a:solidFill>
                  <a:srgbClr val="1C1C1E"/>
                </a:solidFill>
                <a:latin typeface="Calibri"/>
              </a:rPr>
              <a:t>Substitutability is a </a:t>
            </a:r>
            <a:r>
              <a:rPr sz="1200" b="1" i="0">
                <a:solidFill>
                  <a:srgbClr val="1C1C1E"/>
                </a:solidFill>
                <a:latin typeface="Calibri"/>
              </a:rPr>
              <a:t>proof</a:t>
            </a:r>
            <a:r>
              <a:rPr sz="1200" b="0" i="0">
                <a:solidFill>
                  <a:srgbClr val="1C1C1E"/>
                </a:solidFill>
                <a:latin typeface="Calibri"/>
              </a:rPr>
              <a:t> — consumers cannot be broken and are not redeployed. Pre-warming before invalidating is the fix for the cache stampede found in adversarial review, so a hot alias is never served from an empty cache. And the automatic seven-day post-move comparison is SS1/23's parallel outcomes analysis, performed as infrastructure rather than as a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Governance Subsystems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Evidence, risk, regimes, lifecycle, validation, documentation.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Evidence append and chain</a:t>
            </a:r>
          </a:p>
          <a:p>
            <a:pPr>
              <a:lnSpc>
                <a:spcPct val="115000"/>
              </a:lnSpc>
              <a:spcBef>
                <a:spcPts val="0"/>
              </a:spcBef>
              <a:spcAft>
                <a:spcPts val="700"/>
              </a:spcAft>
            </a:pPr>
            <a:r>
              <a:rPr sz="1150" b="0" i="0">
                <a:solidFill>
                  <a:srgbClr val="F6E6E9"/>
                </a:solidFill>
                <a:latin typeface="Calibri"/>
              </a:rPr>
              <a:t>Semiring evaluation</a:t>
            </a:r>
          </a:p>
          <a:p>
            <a:pPr>
              <a:lnSpc>
                <a:spcPct val="115000"/>
              </a:lnSpc>
              <a:spcBef>
                <a:spcPts val="0"/>
              </a:spcBef>
              <a:spcAft>
                <a:spcPts val="700"/>
              </a:spcAft>
            </a:pPr>
            <a:r>
              <a:rPr sz="1150" b="0" i="0">
                <a:solidFill>
                  <a:srgbClr val="F6E6E9"/>
                </a:solidFill>
                <a:latin typeface="Calibri"/>
              </a:rPr>
              <a:t>The tiering algorithm</a:t>
            </a:r>
          </a:p>
          <a:p>
            <a:pPr>
              <a:lnSpc>
                <a:spcPct val="115000"/>
              </a:lnSpc>
              <a:spcBef>
                <a:spcPts val="0"/>
              </a:spcBef>
              <a:spcAft>
                <a:spcPts val="700"/>
              </a:spcAft>
            </a:pPr>
            <a:r>
              <a:rPr sz="1150" b="0" i="0">
                <a:solidFill>
                  <a:srgbClr val="F6E6E9"/>
                </a:solidFill>
                <a:latin typeface="Calibri"/>
              </a:rPr>
              <a:t>Anti-gaming</a:t>
            </a:r>
          </a:p>
          <a:p>
            <a:pPr>
              <a:lnSpc>
                <a:spcPct val="115000"/>
              </a:lnSpc>
              <a:spcBef>
                <a:spcPts val="0"/>
              </a:spcBef>
              <a:spcAft>
                <a:spcPts val="700"/>
              </a:spcAft>
            </a:pPr>
            <a:r>
              <a:rPr sz="1150" b="0" i="0">
                <a:solidFill>
                  <a:srgbClr val="F6E6E9"/>
                </a:solidFill>
                <a:latin typeface="Calibri"/>
              </a:rPr>
              <a:t>Institutions in code</a:t>
            </a:r>
          </a:p>
          <a:p>
            <a:pPr>
              <a:lnSpc>
                <a:spcPct val="115000"/>
              </a:lnSpc>
              <a:spcBef>
                <a:spcPts val="0"/>
              </a:spcBef>
              <a:spcAft>
                <a:spcPts val="700"/>
              </a:spcAft>
            </a:pPr>
            <a:r>
              <a:rPr sz="1150" b="0" i="0">
                <a:solidFill>
                  <a:srgbClr val="F6E6E9"/>
                </a:solidFill>
                <a:latin typeface="Calibri"/>
              </a:rPr>
              <a:t>Lifecycle and baseline import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uow.lock("evidence_chain"):        # serialises seq only</a:t>
            </a:r>
          </a:p>
          <a:p>
            <a:pPr>
              <a:lnSpc>
                <a:spcPct val="134000"/>
              </a:lnSpc>
              <a:spcBef>
                <a:spcPts val="0"/>
              </a:spcBef>
              <a:spcAft>
                <a:spcPts val="0"/>
              </a:spcAft>
            </a:pPr>
            <a:r>
              <a:rPr sz="950" b="0" i="0">
                <a:solidFill>
                  <a:srgbClr val="1C1C1E"/>
                </a:solidFill>
                <a:latin typeface="Consolas"/>
              </a:rPr>
              <a:t>    prev = evidence.head()</a:t>
            </a:r>
          </a:p>
          <a:p>
            <a:pPr>
              <a:lnSpc>
                <a:spcPct val="134000"/>
              </a:lnSpc>
              <a:spcBef>
                <a:spcPts val="0"/>
              </a:spcBef>
              <a:spcAft>
                <a:spcPts val="0"/>
              </a:spcAft>
            </a:pPr>
            <a:r>
              <a:rPr sz="950" b="0" i="0">
                <a:solidFill>
                  <a:srgbClr val="1C1C1E"/>
                </a:solidFill>
                <a:latin typeface="Consolas"/>
              </a:rPr>
              <a:t>    node = EvidenceNode(</a:t>
            </a:r>
          </a:p>
          <a:p>
            <a:pPr>
              <a:lnSpc>
                <a:spcPct val="134000"/>
              </a:lnSpc>
              <a:spcBef>
                <a:spcPts val="0"/>
              </a:spcBef>
              <a:spcAft>
                <a:spcPts val="0"/>
              </a:spcAft>
            </a:pPr>
            <a:r>
              <a:rPr sz="950" b="0" i="0">
                <a:solidFill>
                  <a:srgbClr val="1C1C1E"/>
                </a:solidFill>
                <a:latin typeface="Consolas"/>
              </a:rPr>
              <a:t>        seq = prev.seq + 1,</a:t>
            </a:r>
          </a:p>
          <a:p>
            <a:pPr>
              <a:lnSpc>
                <a:spcPct val="134000"/>
              </a:lnSpc>
              <a:spcBef>
                <a:spcPts val="0"/>
              </a:spcBef>
              <a:spcAft>
                <a:spcPts val="0"/>
              </a:spcAft>
            </a:pPr>
            <a:r>
              <a:rPr sz="950" b="0" i="0">
                <a:solidFill>
                  <a:srgbClr val="1C1C1E"/>
                </a:solidFill>
                <a:latin typeface="Consolas"/>
              </a:rPr>
              <a:t>        payload = {} if personal_data else payload,     # law L-18</a:t>
            </a:r>
          </a:p>
          <a:p>
            <a:pPr>
              <a:lnSpc>
                <a:spcPct val="134000"/>
              </a:lnSpc>
              <a:spcBef>
                <a:spcPts val="0"/>
              </a:spcBef>
              <a:spcAft>
                <a:spcPts val="0"/>
              </a:spcAft>
            </a:pPr>
            <a:r>
              <a:rPr sz="950" b="0" i="0">
                <a:solidFill>
                  <a:srgbClr val="1C1C1E"/>
                </a:solidFill>
                <a:latin typeface="Consolas"/>
              </a:rPr>
              <a:t>        payload_uri = delta.put(payload) if personal_data else None,</a:t>
            </a:r>
          </a:p>
          <a:p>
            <a:pPr>
              <a:lnSpc>
                <a:spcPct val="134000"/>
              </a:lnSpc>
              <a:spcBef>
                <a:spcPts val="0"/>
              </a:spcBef>
              <a:spcAft>
                <a:spcPts val="0"/>
              </a:spcAft>
            </a:pPr>
            <a:r>
              <a:rPr sz="950" b="0" i="0">
                <a:solidFill>
                  <a:srgbClr val="1C1C1E"/>
                </a:solidFill>
                <a:latin typeface="Consolas"/>
              </a:rPr>
              <a:t>        content_hash = sha256(canonical_json(...)),</a:t>
            </a:r>
          </a:p>
          <a:p>
            <a:pPr>
              <a:lnSpc>
                <a:spcPct val="134000"/>
              </a:lnSpc>
              <a:spcBef>
                <a:spcPts val="0"/>
              </a:spcBef>
              <a:spcAft>
                <a:spcPts val="0"/>
              </a:spcAft>
            </a:pPr>
            <a:r>
              <a:rPr sz="950" b="0" i="0">
                <a:solidFill>
                  <a:srgbClr val="1C1C1E"/>
                </a:solidFill>
                <a:latin typeface="Consolas"/>
              </a:rPr>
              <a:t>        prev_hash    = prev.chain_hash,</a:t>
            </a:r>
          </a:p>
          <a:p>
            <a:pPr>
              <a:lnSpc>
                <a:spcPct val="134000"/>
              </a:lnSpc>
              <a:spcBef>
                <a:spcPts val="0"/>
              </a:spcBef>
              <a:spcAft>
                <a:spcPts val="0"/>
              </a:spcAft>
            </a:pPr>
            <a:r>
              <a:rPr sz="950" b="0" i="0">
                <a:solidFill>
                  <a:srgbClr val="1C1C1E"/>
                </a:solidFill>
                <a:latin typeface="Consolas"/>
              </a:rPr>
              <a:t>        chain_hash   = sha256(f"{seq}|{prev_hash}|{content_hash}|"</a:t>
            </a:r>
          </a:p>
          <a:p>
            <a:pPr>
              <a:lnSpc>
                <a:spcPct val="134000"/>
              </a:lnSpc>
              <a:spcBef>
                <a:spcPts val="0"/>
              </a:spcBef>
              <a:spcAft>
                <a:spcPts val="0"/>
              </a:spcAft>
            </a:pPr>
            <a:r>
              <a:rPr sz="950" b="0" i="0">
                <a:solidFill>
                  <a:srgbClr val="1C1C1E"/>
                </a:solidFill>
                <a:latin typeface="Consolas"/>
              </a:rPr>
              <a:t>                              f"{sorted(parent.chain_hash)}"),</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evidence.insert(node)                # INSERT-only database role</a:t>
            </a:r>
          </a:p>
        </p:txBody>
      </p:sp>
      <p:sp>
        <p:nvSpPr>
          <p:cNvPr id="14" name="TextBox 13"/>
          <p:cNvSpPr txBox="1"/>
          <p:nvPr/>
        </p:nvSpPr>
        <p:spPr>
          <a:xfrm>
            <a:off x="7585057" y="1353312"/>
            <a:ext cx="3829397" cy="320040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700"/>
              </a:spcBef>
              <a:spcAft>
                <a:spcPts val="300"/>
              </a:spcAft>
            </a:pPr>
            <a:r>
              <a:rPr sz="1100" b="1">
                <a:solidFill>
                  <a:srgbClr val="A51C30"/>
                </a:solidFill>
                <a:latin typeface="Calibri"/>
              </a:rPr>
              <a:t>▪  </a:t>
            </a:r>
            <a:r>
              <a:rPr sz="110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700"/>
              </a:spcBef>
              <a:spcAft>
                <a:spcPts val="300"/>
              </a:spcAft>
            </a:pPr>
            <a:r>
              <a:rPr sz="1100" b="1">
                <a:solidFill>
                  <a:srgbClr val="A51C30"/>
                </a:solidFill>
                <a:latin typeface="Calibri"/>
              </a:rPr>
              <a:t>▪  </a:t>
            </a:r>
            <a:r>
              <a:rPr sz="1100" b="1">
                <a:solidFill>
                  <a:srgbClr val="1C1C1E"/>
                </a:solidFill>
                <a:latin typeface="Calibri"/>
              </a:rPr>
              <a:t>The linear chain expresses order</a:t>
            </a:r>
          </a:p>
          <a:p>
            <a:pPr lvl="1">
              <a:spcBef>
                <a:spcPts val="0"/>
              </a:spcBef>
              <a:spcAft>
                <a:spcPts val="0"/>
              </a:spcAft>
            </a:pPr>
            <a:r>
              <a:rPr sz="950">
                <a:solidFill>
                  <a:srgbClr val="4A4F57"/>
                </a:solidFill>
                <a:latin typeface="Calibri"/>
              </a:rPr>
              <a:t>so deletion of a leaf and insertion into the past become detectable</a:t>
            </a:r>
          </a:p>
          <a:p>
            <a:pPr>
              <a:spcBef>
                <a:spcPts val="700"/>
              </a:spcBef>
              <a:spcAft>
                <a:spcPts val="300"/>
              </a:spcAft>
            </a:pPr>
            <a:r>
              <a:rPr sz="1100" b="1">
                <a:solidFill>
                  <a:srgbClr val="A51C30"/>
                </a:solidFill>
                <a:latin typeface="Calibri"/>
              </a:rPr>
              <a:t>▪  </a:t>
            </a:r>
            <a:r>
              <a:rPr sz="1100" b="1">
                <a:solidFill>
                  <a:srgbClr val="1C1C1E"/>
                </a:solidFill>
                <a:latin typeface="Calibri"/>
              </a:rPr>
              <a:t>Anchored daily</a:t>
            </a:r>
          </a:p>
          <a:p>
            <a:pPr lvl="1">
              <a:spcBef>
                <a:spcPts val="0"/>
              </a:spcBef>
              <a:spcAft>
                <a:spcPts val="0"/>
              </a:spcAft>
            </a:pPr>
            <a:r>
              <a:rPr sz="950">
                <a:solidFill>
                  <a:srgbClr val="4A4F57"/>
                </a:solidFill>
                <a:latin typeface="Calibri"/>
              </a:rPr>
              <a:t>chain head written to WORM and an RFC-3161 timestamp — self-consistency of a chain an attacker controls proves nothing</a:t>
            </a:r>
          </a:p>
          <a:p>
            <a:pPr>
              <a:spcBef>
                <a:spcPts val="700"/>
              </a:spcBef>
              <a:spcAft>
                <a:spcPts val="300"/>
              </a:spcAft>
            </a:pPr>
            <a:r>
              <a:rPr sz="1100" b="1">
                <a:solidFill>
                  <a:srgbClr val="A51C30"/>
                </a:solidFill>
                <a:latin typeface="Calibri"/>
              </a:rPr>
              <a:t>▪  </a:t>
            </a:r>
            <a:r>
              <a:rPr sz="1100" b="1">
                <a:solidFill>
                  <a:srgbClr val="1C1C1E"/>
                </a:solidFill>
                <a:latin typeface="Calibri"/>
              </a:rPr>
              <a:t>Personal data is never inline</a:t>
            </a:r>
          </a:p>
          <a:p>
            <a:pPr lvl="1">
              <a:spcBef>
                <a:spcPts val="0"/>
              </a:spcBef>
              <a:spcAft>
                <a:spcPts val="0"/>
              </a:spcAft>
            </a:pPr>
            <a:r>
              <a:rPr sz="950">
                <a:solidFill>
                  <a:srgbClr val="4A4F57"/>
                </a:solidFill>
                <a:latin typeface="Calibri"/>
              </a:rPr>
              <a:t>only an erasable pointer, so crypto-shredding leaves the chain valid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nine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maya/evidence/query.py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863088"/>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Why(X)</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ℕ[X]</a:t>
                      </a:r>
                    </a:p>
                  </a:txBody>
                  <a:tcPr marL="82296" marR="64008" marT="32004" marB="32004" anchor="ctr">
                    <a:solidFill>
                      <a:srgbClr val="FFFFFF"/>
                    </a:solidFill>
                  </a:tcPr>
                </a:tc>
                <a:tc>
                  <a:txBody>
                    <a:bodyPr wrap="square"/>
                    <a:lstStyle/>
                    <a:p>
                      <a:pPr algn="l"/>
                      <a:r>
                        <a:rPr sz="1000" b="0">
                          <a:solidFill>
                            <a:srgbClr val="1C1C1E"/>
                          </a:solidFill>
                          <a:latin typeface="Calibri"/>
                        </a:rPr>
                        <a:t>Tier 1 audit reconstruction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Tropical</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Classification</a:t>
                      </a:r>
                    </a:p>
                  </a:txBody>
                  <a:tcPr marL="82296" marR="64008" marT="32004" marB="32004" anchor="ctr">
                    <a:solidFill>
                      <a:srgbClr val="F6F3EF"/>
                    </a:solidFill>
                  </a:tcPr>
                </a:tc>
                <a:tc>
                  <a:txBody>
                    <a:bodyPr wrap="square"/>
                    <a:lstStyle/>
                    <a:p>
                      <a:pPr algn="l"/>
                      <a:r>
                        <a:rPr sz="1000" b="0">
                          <a:solidFill>
                            <a:srgbClr val="1C1C1E"/>
                          </a:solidFill>
                          <a:latin typeface="Calibri"/>
                        </a:rPr>
                        <a:t>PII propagation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Admissibility</a:t>
                      </a:r>
                    </a:p>
                  </a:txBody>
                  <a:tcPr marL="82296" marR="64008" marT="32004" marB="32004" anchor="ctr">
                    <a:solidFill>
                      <a:srgbClr val="FFFFFF"/>
                    </a:solidFill>
                  </a:tcPr>
                </a:tc>
                <a:tc>
                  <a:txBody>
                    <a:bodyPr wrap="square"/>
                    <a:lstStyle/>
                    <a:p>
                      <a:pPr algn="l"/>
                      <a:r>
                        <a:rPr sz="1000" b="0">
                          <a:solidFill>
                            <a:srgbClr val="1C1C1E"/>
                          </a:solidFill>
                          <a:latin typeface="Calibri"/>
                        </a:rPr>
                        <a:t>Which regulators accept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bl>
          </a:graphicData>
        </a:graphic>
      </p:graphicFrame>
      <p:sp>
        <p:nvSpPr>
          <p:cNvPr id="15" name="Rectangle 14"/>
          <p:cNvSpPr/>
          <p:nvPr/>
        </p:nvSpPr>
        <p:spPr>
          <a:xfrm>
            <a:off x="777240" y="4620737"/>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51560" y="4748753"/>
            <a:ext cx="10088575" cy="6858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Complexity, stated honestly. </a:t>
            </a:r>
            <a:r>
              <a:rPr sz="1150" b="0" i="0">
                <a:solidFill>
                  <a:srgbClr val="1C1C1E"/>
                </a:solidFill>
                <a:latin typeface="Calibri"/>
              </a:rPr>
              <a:t>Why-provenance is worst-case exponential in the number of alternatives. Controls: canonical form with absorption, memoisation, depth cap, and a hard 4,096-term cap beyond which evaluation degrades to Boolean ⊕ Trust and emits truncated=true. </a:t>
            </a:r>
            <a:r>
              <a:rPr sz="1150" b="1" i="0">
                <a:solidFill>
                  <a:srgbClr val="A51C30"/>
                </a:solidFill>
                <a:latin typeface="Calibri"/>
              </a:rPr>
              <a:t>A silently partial answer is never returned.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tiering algorithm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maya/risk/tiering.py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 tested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 = Materiality(quantitative = rules.exposure_band(...),</a:t>
            </a:r>
          </a:p>
          <a:p>
            <a:pPr>
              <a:lnSpc>
                <a:spcPct val="134000"/>
              </a:lnSpc>
              <a:spcBef>
                <a:spcPts val="0"/>
              </a:spcBef>
              <a:spcAft>
                <a:spcPts val="0"/>
              </a:spcAft>
            </a:pPr>
            <a:r>
              <a:rPr sz="950" b="0" i="0">
                <a:solidFill>
                  <a:srgbClr val="1C1C1E"/>
                </a:solidFill>
                <a:latin typeface="Consolas"/>
              </a:rPr>
              <a:t>                qualitative  = rules.purpose_class(...)).join()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c = Complexity.meet(data=..., methodology=..., implementation=...,</a:t>
            </a:r>
          </a:p>
          <a:p>
            <a:pPr>
              <a:lnSpc>
                <a:spcPct val="134000"/>
              </a:lnSpc>
              <a:spcBef>
                <a:spcPts val="0"/>
              </a:spcBef>
              <a:spcAft>
                <a:spcPts val="0"/>
              </a:spcAft>
            </a:pPr>
            <a:r>
              <a:rPr sz="950" b="0" i="0">
                <a:solidFill>
                  <a:srgbClr val="1C1C1E"/>
                </a:solidFill>
                <a:latin typeface="Consolas"/>
              </a:rPr>
              <a:t>                    use_intensity=..., interpretability=...,</a:t>
            </a:r>
          </a:p>
          <a:p>
            <a:pPr>
              <a:lnSpc>
                <a:spcPct val="134000"/>
              </a:lnSpc>
              <a:spcBef>
                <a:spcPts val="0"/>
              </a:spcBef>
              <a:spcAft>
                <a:spcPts val="0"/>
              </a:spcAft>
            </a:pPr>
            <a:r>
              <a:rPr sz="950" b="0" i="0">
                <a:solidFill>
                  <a:srgbClr val="1C1C1E"/>
                </a:solidFill>
                <a:latin typeface="Consolas"/>
              </a:rPr>
              <a:t>                    transparency=..., bias_potential=...)</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Galois adjoint — law L-5</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a:p>
            <a:pPr>
              <a:lnSpc>
                <a:spcPct val="134000"/>
              </a:lnSpc>
              <a:spcBef>
                <a:spcPts val="0"/>
              </a:spcBef>
              <a:spcAft>
                <a:spcPts val="0"/>
              </a:spcAft>
            </a:pPr>
            <a:r>
              <a:rPr sz="950" b="0" i="0">
                <a:solidFill>
                  <a:srgbClr val="1C1C1E"/>
                </a:solidFill>
                <a:latin typeface="Consolas"/>
              </a:rPr>
              <a:t>                      next_review_due=..., triggers=...)</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axes, never one score</a:t>
            </a:r>
          </a:p>
          <a:p>
            <a:pPr>
              <a:lnSpc>
                <a:spcPct val="126000"/>
              </a:lnSpc>
              <a:spcBef>
                <a:spcPts val="0"/>
              </a:spcBef>
              <a:spcAft>
                <a:spcPts val="1000"/>
              </a:spcAft>
            </a:pPr>
            <a:r>
              <a:rPr sz="1100" b="0" i="0">
                <a:solidFill>
                  <a:srgbClr val="4A4F57"/>
                </a:solidFill>
                <a:latin typeface="Calibri"/>
              </a:rPr>
              <a:t>Materiality and complexity are separate lattices. Collapsing them into a product lets a very complex model with modest exposure land beside a simple model with enormous exposure.</a:t>
            </a:r>
          </a:p>
          <a:p>
            <a:pPr>
              <a:spcBef>
                <a:spcPts val="0"/>
              </a:spcBef>
              <a:spcAft>
                <a:spcPts val="700"/>
              </a:spcAft>
            </a:pPr>
            <a:r>
              <a:rPr sz="1250" b="1" i="0">
                <a:solidFill>
                  <a:srgbClr val="1C1C1E"/>
                </a:solidFill>
                <a:latin typeface="Georgia"/>
              </a:rPr>
              <a:t>The guarantee</a:t>
            </a:r>
          </a:p>
          <a:p>
            <a:pPr>
              <a:lnSpc>
                <a:spcPct val="126000"/>
              </a:lnSpc>
              <a:spcBef>
                <a:spcPts val="0"/>
              </a:spcBef>
              <a:spcAft>
                <a:spcPts val="600"/>
              </a:spcAft>
            </a:pPr>
            <a:r>
              <a:rPr sz="1100" b="0" i="0">
                <a:solidFill>
                  <a:srgbClr val="4A4F57"/>
                </a:solidFill>
                <a:latin typeface="Calibri"/>
              </a:rPr>
              <a:t>τ is monotone, so </a:t>
            </a:r>
            <a:r>
              <a:rPr sz="1100" b="1" i="0">
                <a:solidFill>
                  <a:srgbClr val="1C1C1E"/>
                </a:solidFill>
                <a:latin typeface="Calibri"/>
              </a:rPr>
              <a:t>nothing we can learn about a model that makes it more consequential or more complicated will ever move it into a lighter control regime.</a:t>
            </a:r>
            <a:r>
              <a:rPr sz="1100" b="0" i="0">
                <a:solidFill>
                  <a:srgbClr val="4A4F57"/>
                </a:solidFill>
                <a:latin typeface="Calibri"/>
              </a:rPr>
              <a:t> An unconstrained scoring formula cannot make that promise, and typically cannot even be checked.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Anti-gaming: where the facts come from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353312"/>
          <a:ext cx="10637214" cy="1846426"/>
        </p:xfrm>
        <a:graphic>
          <a:graphicData uri="http://schemas.openxmlformats.org/drawingml/2006/table">
            <a:tbl>
              <a:tblPr firstRow="1">
                <a:tableStyleId>{5C22544A-7EE6-4342-B048-85BDC9FD1C3A}</a:tableStyleId>
              </a:tblPr>
              <a:tblGrid>
                <a:gridCol w="2200803"/>
                <a:gridCol w="4951807"/>
                <a:gridCol w="3484604"/>
              </a:tblGrid>
              <a:tr h="333781">
                <a:tc>
                  <a:txBody>
                    <a:bodyPr wrap="square"/>
                    <a:lstStyle/>
                    <a:p>
                      <a:pPr algn="l"/>
                      <a:r>
                        <a:rPr sz="1100" b="1">
                          <a:solidFill>
                            <a:srgbClr val="FFFFFF"/>
                          </a:solidFill>
                          <a:latin typeface="Calibri"/>
                        </a:rPr>
                        <a:t>Fact</a:t>
                      </a:r>
                    </a:p>
                  </a:txBody>
                  <a:tcPr marL="82296" marR="64008" marT="32004" marB="32004" anchor="ctr">
                    <a:solidFill>
                      <a:srgbClr val="A51C30"/>
                    </a:solidFill>
                  </a:tcPr>
                </a:tc>
                <a:tc>
                  <a:txBody>
                    <a:bodyPr wrap="square"/>
                    <a:lstStyle/>
                    <a:p>
                      <a:pPr algn="l"/>
                      <a:r>
                        <a:rPr sz="1100" b="1">
                          <a:solidFill>
                            <a:srgbClr val="FFFFFF"/>
                          </a:solidFill>
                          <a:latin typeface="Calibri"/>
                        </a:rPr>
                        <a:t>Source</a:t>
                      </a:r>
                    </a:p>
                  </a:txBody>
                  <a:tcPr marL="82296" marR="64008" marT="32004" marB="32004" anchor="ctr">
                    <a:solidFill>
                      <a:srgbClr val="A51C30"/>
                    </a:solidFill>
                  </a:tcPr>
                </a:tc>
                <a:tc>
                  <a:txBody>
                    <a:bodyPr wrap="square"/>
                    <a:lstStyle/>
                    <a:p>
                      <a:pPr algn="l"/>
                      <a:r>
                        <a:rPr sz="1100" b="1">
                          <a:solidFill>
                            <a:srgbClr val="FFFFFF"/>
                          </a:solidFill>
                          <a:latin typeface="Calibri"/>
                        </a:rPr>
                        <a:t>If unavailable</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exposure_measure</a:t>
                      </a:r>
                    </a:p>
                  </a:txBody>
                  <a:tcPr marL="82296" marR="64008" marT="32004" marB="32004" anchor="ctr">
                    <a:solidFill>
                      <a:srgbClr val="FFFFFF"/>
                    </a:solidFill>
                  </a:tcPr>
                </a:tc>
                <a:tc>
                  <a:txBody>
                    <a:bodyPr wrap="square"/>
                    <a:lstStyle/>
                    <a:p>
                      <a:pPr algn="l"/>
                      <a:r>
                        <a:rPr sz="1050" b="0">
                          <a:solidFill>
                            <a:srgbClr val="1C1C1E"/>
                          </a:solidFill>
                          <a:latin typeface="Calibri"/>
                        </a:rPr>
                        <a:t>Bound to a system of record — risk data mart, GL, portfolio system — with nightly reconciliation</a:t>
                      </a:r>
                    </a:p>
                  </a:txBody>
                  <a:tcPr marL="82296" marR="64008" marT="32004" marB="32004" anchor="ctr">
                    <a:solidFill>
                      <a:srgbClr val="FFFFFF"/>
                    </a:solidFill>
                  </a:tcPr>
                </a:tc>
                <a:tc>
                  <a:txBody>
                    <a:bodyPr wrap="square"/>
                    <a:lstStyle/>
                    <a:p>
                      <a:pPr algn="l"/>
                      <a:r>
                        <a:rPr sz="1050" b="0">
                          <a:solidFill>
                            <a:srgbClr val="1C1C1E"/>
                          </a:solidFill>
                          <a:latin typeface="Calibri"/>
                        </a:rPr>
                        <a:t>Marked unsourced; peer-cohort outlier detection applies; flagged on the model page</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purpose_class</a:t>
                      </a:r>
                    </a:p>
                  </a:txBody>
                  <a:tcPr marL="82296" marR="64008" marT="32004" marB="32004" anchor="ctr">
                    <a:solidFill>
                      <a:srgbClr val="F6F3EF"/>
                    </a:solidFill>
                  </a:tcPr>
                </a:tc>
                <a:tc>
                  <a:txBody>
                    <a:bodyPr wrap="square"/>
                    <a:lstStyle/>
                    <a:p>
                      <a:pPr algn="l"/>
                      <a:r>
                        <a:rPr sz="1050" b="0">
                          <a:solidFill>
                            <a:srgbClr val="1C1C1E"/>
                          </a:solidFill>
                          <a:latin typeface="Calibri"/>
                        </a:rPr>
                        <a:t>Human — but a change requires approval at the tier being LEFT, not the tier being entered</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complexity components</a:t>
                      </a:r>
                    </a:p>
                  </a:txBody>
                  <a:tcPr marL="82296" marR="64008" marT="32004" marB="32004" anchor="ctr">
                    <a:solidFill>
                      <a:srgbClr val="FFFFFF"/>
                    </a:solidFill>
                  </a:tcPr>
                </a:tc>
                <a:tc>
                  <a:txBody>
                    <a:bodyPr wrap="square"/>
                    <a:lstStyle/>
                    <a:p>
                      <a:pPr algn="l"/>
                      <a:r>
                        <a:rPr sz="1050" b="0">
                          <a:solidFill>
                            <a:srgbClr val="1C1C1E"/>
                          </a:solidFill>
                          <a:latin typeface="Calibri"/>
                        </a:rPr>
                        <a:t>Derived from artifact introspection, feature contract and lineage where possible</a:t>
                      </a:r>
                    </a:p>
                  </a:txBody>
                  <a:tcPr marL="82296" marR="64008" marT="32004" marB="32004" anchor="ctr">
                    <a:solidFill>
                      <a:srgbClr val="FFFFFF"/>
                    </a:solidFill>
                  </a:tcPr>
                </a:tc>
                <a:tc>
                  <a:txBody>
                    <a:bodyPr wrap="square"/>
                    <a:lstStyle/>
                    <a:p>
                      <a:pPr algn="l"/>
                      <a:r>
                        <a:rPr sz="1050" b="0">
                          <a:solidFill>
                            <a:srgbClr val="1C1C1E"/>
                          </a:solidFill>
                          <a:latin typeface="Calibri"/>
                        </a:rPr>
                        <a:t>Human, with recorded rationale</a:t>
                      </a:r>
                    </a:p>
                  </a:txBody>
                  <a:tcPr marL="82296" marR="64008" marT="32004" marB="32004" anchor="ctr">
                    <a:solidFill>
                      <a:srgbClr val="FFFFFF"/>
                    </a:solidFill>
                  </a:tcPr>
                </a:tc>
              </a:tr>
            </a:tbl>
          </a:graphicData>
        </a:graphic>
      </p:graphicFrame>
      <p:sp>
        <p:nvSpPr>
          <p:cNvPr id="11" name="TextBox 10"/>
          <p:cNvSpPr txBox="1"/>
          <p:nvPr/>
        </p:nvSpPr>
        <p:spPr>
          <a:xfrm>
            <a:off x="777240" y="3474059"/>
            <a:ext cx="5105863"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The attack the obvious control misses</a:t>
            </a:r>
          </a:p>
          <a:p>
            <a:pPr>
              <a:lnSpc>
                <a:spcPct val="126000"/>
              </a:lnSpc>
              <a:spcBef>
                <a:spcPts val="0"/>
              </a:spcBef>
              <a:spcAft>
                <a:spcPts val="0"/>
              </a:spcAft>
            </a:pPr>
            <a:r>
              <a:rPr sz="1150" b="0" i="0">
                <a:solidFill>
                  <a:srgbClr val="4A4F57"/>
                </a:solidFill>
                <a:latin typeface="Calibri"/>
              </a:rPr>
              <a:t>Tier is derived, traced and monotone — so overriding it is visible. But it is derived from facts, and understating an exposure lowers the tier through a perfectly valid, fully audited derivation.</a:t>
            </a:r>
          </a:p>
        </p:txBody>
      </p:sp>
      <p:sp>
        <p:nvSpPr>
          <p:cNvPr id="12" name="Rectangle 11"/>
          <p:cNvSpPr/>
          <p:nvPr/>
        </p:nvSpPr>
        <p:spPr>
          <a:xfrm>
            <a:off x="6521336" y="3474059"/>
            <a:ext cx="4893118"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3474059"/>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59080" y="3602075"/>
            <a:ext cx="4435918"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Retrospective calibration</a:t>
            </a:r>
          </a:p>
          <a:p>
            <a:pPr>
              <a:lnSpc>
                <a:spcPct val="126000"/>
              </a:lnSpc>
              <a:spcBef>
                <a:spcPts val="0"/>
              </a:spcBef>
              <a:spcAft>
                <a:spcPts val="0"/>
              </a:spcAft>
            </a:pPr>
            <a:r>
              <a:rPr sz="1150" b="0" i="0">
                <a:solidFill>
                  <a:srgbClr val="1C1C1E"/>
                </a:solidFill>
                <a:latin typeface="Calibri"/>
              </a:rPr>
              <a:t>Annually, tier assignments are back-tested against realised incidents, findings and losses. </a:t>
            </a:r>
            <a:r>
              <a:rPr sz="1150" b="1" i="0">
                <a:solidFill>
                  <a:srgbClr val="1C1C1E"/>
                </a:solidFill>
                <a:latin typeface="Calibri"/>
              </a:rPr>
              <a:t>A tier that never predicts anything is evidence of systematic understatement — not of a quiet portfolio.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Institutions in code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maya/regimes/engine.py</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core   = CoreFacts.for_model(model_id)</a:t>
            </a:r>
          </a:p>
          <a:p>
            <a:pPr>
              <a:lnSpc>
                <a:spcPct val="134000"/>
              </a:lnSpc>
              <a:spcBef>
                <a:spcPts val="0"/>
              </a:spcBef>
              <a:spcAft>
                <a:spcPts val="0"/>
              </a:spcAft>
            </a:pPr>
            <a:r>
              <a:rPr sz="950" b="0" i="0">
                <a:solidFill>
                  <a:srgbClr val="1C1C1E"/>
                </a:solidFill>
                <a:latin typeface="Consolas"/>
              </a:rPr>
              <a:t>    local  = inst.translate(core)                    # the comorphism component</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{"sentence": "is_model",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s.is_obligation and s.evaluate(local).value])</a:t>
            </a:r>
          </a:p>
        </p:txBody>
      </p:sp>
      <p:sp>
        <p:nvSpPr>
          <p:cNvPr id="14" name="TextBox 13"/>
          <p:cNvSpPr txBox="1"/>
          <p:nvPr/>
        </p:nvSpPr>
        <p:spPr>
          <a:xfrm>
            <a:off x="777240" y="4417032"/>
            <a:ext cx="5531351"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someone who was not there.</a:t>
            </a:r>
          </a:p>
        </p:txBody>
      </p:sp>
      <p:sp>
        <p:nvSpPr>
          <p:cNvPr id="15" name="Rectangle 14"/>
          <p:cNvSpPr/>
          <p:nvPr/>
        </p:nvSpPr>
        <p:spPr>
          <a:xfrm>
            <a:off x="6734080" y="4417032"/>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41703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545048"/>
            <a:ext cx="4223174"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Law L-8 runs in CI</a:t>
            </a:r>
          </a:p>
          <a:p>
            <a:pPr>
              <a:lnSpc>
                <a:spcPct val="126000"/>
              </a:lnSpc>
              <a:spcBef>
                <a:spcPts val="0"/>
              </a:spcBef>
              <a:spcAft>
                <a:spcPts val="0"/>
              </a:spcAft>
            </a:pPr>
            <a:r>
              <a:rPr sz="1100" b="0" i="0">
                <a:solidFill>
                  <a:srgbClr val="1C1C1E"/>
                </a:solidFill>
                <a:latin typeface="Calibri"/>
              </a:rPr>
              <a:t>Hypothesis generates inventory states. For each regime and sentence, evaluating natively and evaluating the translation must agree. </a:t>
            </a:r>
            <a:r>
              <a:rPr sz="1100" b="1" i="0">
                <a:solidFill>
                  <a:srgbClr val="1C1C1E"/>
                </a:solidFill>
                <a:latin typeface="Calibri"/>
              </a:rPr>
              <a:t>A disagreement is a defective encoding — exactly the bug that produces an indefensible scope determination.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Six SoD rules, checked twice</a:t>
            </a:r>
          </a:p>
          <a:p>
            <a:pPr>
              <a:lnSpc>
                <a:spcPct val="124000"/>
              </a:lnSpc>
              <a:spcBef>
                <a:spcPts val="0"/>
              </a:spcBef>
              <a:spcAft>
                <a:spcPts val="600"/>
              </a:spcAft>
            </a:pPr>
            <a:r>
              <a:rPr sz="1050" b="0" i="0">
                <a:solidFill>
                  <a:srgbClr val="4A4F57"/>
                </a:solidFill>
                <a:latin typeface="Calibri"/>
              </a:rPr>
              <a:t>developer ≠ validator · owner not sole approver · no self-closure of findings · policy author ≠ publisher · overlay proposer ≠ approver · platform admin has no governance rights</a:t>
            </a:r>
          </a:p>
          <a:p>
            <a:pPr>
              <a:lnSpc>
                <a:spcPct val="124000"/>
              </a:lnSpc>
              <a:spcBef>
                <a:spcPts val="0"/>
              </a:spcBef>
              <a:spcAft>
                <a:spcPts val="0"/>
              </a:spcAft>
            </a:pPr>
            <a:r>
              <a:rPr sz="1050" b="0" i="0">
                <a:solidFill>
                  <a:srgbClr val="4A4F57"/>
                </a:solidFill>
                <a:latin typeface="Calibri"/>
              </a:rPr>
              <a:t>Checked at the API and re-checked nightly — a role change creates a retrospective conflict the point-in-time check never sees.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10128"/>
            <a:ext cx="4542291" cy="11887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this exists. </a:t>
            </a:r>
            <a:r>
              <a:rPr sz="110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a:t>
            </a:r>
            <a:r>
              <a:rPr sz="1100" b="1" i="0">
                <a:solidFill>
                  <a:srgbClr val="1C1C1E"/>
                </a:solidFill>
                <a:latin typeface="Calibri"/>
              </a:rPr>
              <a:t>never rendered in the same colour as a breach.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91456"/>
            <a:ext cx="10180015" cy="7315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both. </a:t>
            </a:r>
            <a:r>
              <a:rPr sz="1100" b="0" i="0">
                <a:solidFill>
                  <a:srgbClr val="1C1C1E"/>
                </a:solidFill>
                <a:latin typeface="Calibri"/>
              </a:rPr>
              <a:t>A platform that only compiles cannot hold the paper the quant actually wrote; one that only stores files is a share drive with a database in front. Held apart, the register can say which is which — and </a:t>
            </a:r>
            <a:r>
              <a:rPr sz="1100" b="1" i="0">
                <a:solidFill>
                  <a:srgbClr val="1C1C1E"/>
                </a:solidFill>
                <a:latin typeface="Calibri"/>
              </a:rPr>
              <a:t>a rejected document stays on file with its reason</a:t>
            </a:r>
            <a:r>
              <a:rPr sz="1100" b="0" i="0">
                <a:solidFill>
                  <a:srgbClr val="1C1C1E"/>
                </a:solidFill>
                <a:latin typeface="Calibri"/>
              </a:rPr>
              <a:t>, because the papers that did not pass are the ones a supervisor asks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Data and Features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Point-in-time correctness, version-namespaced serving, monitoring at scale.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PIT assembly</a:t>
            </a:r>
          </a:p>
          <a:p>
            <a:pPr>
              <a:lnSpc>
                <a:spcPct val="115000"/>
              </a:lnSpc>
              <a:spcBef>
                <a:spcPts val="0"/>
              </a:spcBef>
              <a:spcAft>
                <a:spcPts val="700"/>
              </a:spcAft>
            </a:pPr>
            <a:r>
              <a:rPr sz="1150" b="0" i="0">
                <a:solidFill>
                  <a:srgbClr val="F6E6E9"/>
                </a:solidFill>
                <a:latin typeface="Calibri"/>
              </a:rPr>
              <a:t>Three-layer verification</a:t>
            </a:r>
          </a:p>
          <a:p>
            <a:pPr>
              <a:lnSpc>
                <a:spcPct val="115000"/>
              </a:lnSpc>
              <a:spcBef>
                <a:spcPts val="0"/>
              </a:spcBef>
              <a:spcAft>
                <a:spcPts val="700"/>
              </a:spcAft>
            </a:pPr>
            <a:r>
              <a:rPr sz="1150" b="0" i="0">
                <a:solidFill>
                  <a:srgbClr val="F6E6E9"/>
                </a:solidFill>
                <a:latin typeface="Calibri"/>
              </a:rPr>
              <a:t>Online store namespacing</a:t>
            </a:r>
          </a:p>
          <a:p>
            <a:pPr>
              <a:lnSpc>
                <a:spcPct val="115000"/>
              </a:lnSpc>
              <a:spcBef>
                <a:spcPts val="0"/>
              </a:spcBef>
              <a:spcAft>
                <a:spcPts val="700"/>
              </a:spcAft>
            </a:pPr>
            <a:r>
              <a:rPr sz="1150" b="0" i="0">
                <a:solidFill>
                  <a:srgbClr val="F6E6E9"/>
                </a:solidFill>
                <a:latin typeface="Calibri"/>
              </a:rPr>
              <a:t>Monitoring pipeline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956840"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maya/features/assembly.py</a:t>
            </a:r>
          </a:p>
        </p:txBody>
      </p:sp>
      <p:sp>
        <p:nvSpPr>
          <p:cNvPr id="13" name="TextBox 12"/>
          <p:cNvSpPr txBox="1"/>
          <p:nvPr/>
        </p:nvSpPr>
        <p:spPr>
          <a:xfrm>
            <a:off x="978408" y="1746504"/>
            <a:ext cx="5591080"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static = analyse_temporal_predicates(spine, views)   # LAYER 1</a:t>
            </a:r>
          </a:p>
          <a:p>
            <a:pPr>
              <a:lnSpc>
                <a:spcPct val="134000"/>
              </a:lnSpc>
              <a:spcBef>
                <a:spcPts val="0"/>
              </a:spcBef>
              <a:spcAft>
                <a:spcPts val="0"/>
              </a:spcAft>
            </a:pPr>
            <a:r>
              <a:rPr sz="950" b="0" i="0">
                <a:solidFill>
                  <a:srgbClr val="1C1C1E"/>
                </a:solidFill>
                <a:latin typeface="Consolas"/>
              </a:rPr>
              <a:t>if not (static.has_valid_time_bound and</a:t>
            </a:r>
          </a:p>
          <a:p>
            <a:pPr>
              <a:lnSpc>
                <a:spcPct val="134000"/>
              </a:lnSpc>
              <a:spcBef>
                <a:spcPts val="0"/>
              </a:spcBef>
              <a:spcAft>
                <a:spcPts val="0"/>
              </a:spcAft>
            </a:pPr>
            <a:r>
              <a:rPr sz="950" b="0" i="0">
                <a:solidFill>
                  <a:srgbClr val="1C1C1E"/>
                </a:solidFill>
                <a:latin typeface="Consolas"/>
              </a:rPr>
              <a:t>        static.has_transaction_time_bound):</a:t>
            </a:r>
          </a:p>
          <a:p>
            <a:pPr>
              <a:lnSpc>
                <a:spcPct val="134000"/>
              </a:lnSpc>
              <a:spcBef>
                <a:spcPts val="0"/>
              </a:spcBef>
              <a:spcAft>
                <a:spcPts val="0"/>
              </a:spcAft>
            </a:pPr>
            <a:r>
              <a:rPr sz="950" b="0" i="0">
                <a:solidFill>
                  <a:srgbClr val="1C1C1E"/>
                </a:solidFill>
                <a:latin typeface="Consolas"/>
              </a:rPr>
              <a:t>    raise AssemblyRejected(static.missing)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df = spark.read(spine)</a:t>
            </a:r>
          </a:p>
          <a:p>
            <a:pPr>
              <a:lnSpc>
                <a:spcPct val="134000"/>
              </a:lnSpc>
              <a:spcBef>
                <a:spcPts val="0"/>
              </a:spcBef>
              <a:spcAft>
                <a:spcPts val="0"/>
              </a:spcAft>
            </a:pPr>
            <a:r>
              <a:rPr sz="950" b="0" i="0">
                <a:solidFill>
                  <a:srgbClr val="1C1C1E"/>
                </a:solidFill>
                <a:latin typeface="Consolas"/>
              </a:rPr>
              <a:t>for v in views:</a:t>
            </a:r>
          </a:p>
          <a:p>
            <a:pPr>
              <a:lnSpc>
                <a:spcPct val="134000"/>
              </a:lnSpc>
              <a:spcBef>
                <a:spcPts val="0"/>
              </a:spcBef>
              <a:spcAft>
                <a:spcPts val="0"/>
              </a:spcAft>
            </a:pPr>
            <a:r>
              <a:rPr sz="950" b="0" i="0">
                <a:solidFill>
                  <a:srgbClr val="1C1C1E"/>
                </a:solidFill>
                <a:latin typeface="Consolas"/>
              </a:rPr>
              <a:t>    df = df.join(pit_lateral(v, as_of), on=["entity_id"], how="left")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snap   = delta.write(df, name=name)</a:t>
            </a:r>
          </a:p>
          <a:p>
            <a:pPr>
              <a:lnSpc>
                <a:spcPct val="134000"/>
              </a:lnSpc>
              <a:spcBef>
                <a:spcPts val="0"/>
              </a:spcBef>
              <a:spcAft>
                <a:spcPts val="0"/>
              </a:spcAft>
            </a:pPr>
            <a:r>
              <a:rPr sz="950" b="0" i="0">
                <a:solidFill>
                  <a:srgbClr val="1C1C1E"/>
                </a:solidFill>
                <a:latin typeface="Consolas"/>
              </a:rPr>
              <a:t>report = verify_pit(snap, spine, views, as_of)       # LAYER 2</a:t>
            </a:r>
          </a:p>
          <a:p>
            <a:pPr>
              <a:lnSpc>
                <a:spcPct val="134000"/>
              </a:lnSpc>
              <a:spcBef>
                <a:spcPts val="0"/>
              </a:spcBef>
              <a:spcAft>
                <a:spcPts val="0"/>
              </a:spcAft>
            </a:pPr>
            <a:r>
              <a:rPr sz="950" b="0" i="0">
                <a:solidFill>
                  <a:srgbClr val="1C1C1E"/>
                </a:solidFill>
                <a:latin typeface="Consolas"/>
              </a:rPr>
              <a:t>if not report.passed:</a:t>
            </a:r>
          </a:p>
          <a:p>
            <a:pPr>
              <a:lnSpc>
                <a:spcPct val="134000"/>
              </a:lnSpc>
              <a:spcBef>
                <a:spcPts val="0"/>
              </a:spcBef>
              <a:spcAft>
                <a:spcPts val="0"/>
              </a:spcAft>
            </a:pPr>
            <a:r>
              <a:rPr sz="950" b="0" i="0">
                <a:solidFill>
                  <a:srgbClr val="1C1C1E"/>
                </a:solidFill>
                <a:latin typeface="Consolas"/>
              </a:rPr>
              <a:t>    findings.raise_(severity="Critical", category="leakage", ...)</a:t>
            </a:r>
          </a:p>
        </p:txBody>
      </p:sp>
      <p:sp>
        <p:nvSpPr>
          <p:cNvPr id="14" name="Rectangle 13"/>
          <p:cNvSpPr/>
          <p:nvPr/>
        </p:nvSpPr>
        <p:spPr>
          <a:xfrm>
            <a:off x="7159569" y="1353312"/>
            <a:ext cx="4254886" cy="230378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159569" y="1353312"/>
            <a:ext cx="41148" cy="230378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360737" y="1444752"/>
            <a:ext cx="388912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GENERATED JOIN</a:t>
            </a:r>
          </a:p>
        </p:txBody>
      </p:sp>
      <p:sp>
        <p:nvSpPr>
          <p:cNvPr id="17" name="TextBox 16"/>
          <p:cNvSpPr txBox="1"/>
          <p:nvPr/>
        </p:nvSpPr>
        <p:spPr>
          <a:xfrm>
            <a:off x="7360737" y="1746504"/>
            <a:ext cx="388912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LEFT JOIN LATERAL (</a:t>
            </a:r>
          </a:p>
          <a:p>
            <a:pPr>
              <a:lnSpc>
                <a:spcPct val="134000"/>
              </a:lnSpc>
              <a:spcBef>
                <a:spcPts val="0"/>
              </a:spcBef>
              <a:spcAft>
                <a:spcPts val="0"/>
              </a:spcAft>
            </a:pPr>
            <a:r>
              <a:rPr sz="900" b="0" i="0">
                <a:solidFill>
                  <a:srgbClr val="1C1C1E"/>
                </a:solidFill>
                <a:latin typeface="Consolas"/>
              </a:rPr>
              <a:t>  SELECT &lt;features&gt;</a:t>
            </a:r>
          </a:p>
          <a:p>
            <a:pPr>
              <a:lnSpc>
                <a:spcPct val="134000"/>
              </a:lnSpc>
              <a:spcBef>
                <a:spcPts val="0"/>
              </a:spcBef>
              <a:spcAft>
                <a:spcPts val="0"/>
              </a:spcAft>
            </a:pPr>
            <a:r>
              <a:rPr sz="900" b="0" i="0">
                <a:solidFill>
                  <a:srgbClr val="1C1C1E"/>
                </a:solidFill>
                <a:latin typeface="Consolas"/>
              </a:rPr>
              <a:t>  FROM   &lt;view&gt; VERSION AS OF :dv   -- txn time</a:t>
            </a:r>
          </a:p>
          <a:p>
            <a:pPr>
              <a:lnSpc>
                <a:spcPct val="134000"/>
              </a:lnSpc>
              <a:spcBef>
                <a:spcPts val="0"/>
              </a:spcBef>
              <a:spcAft>
                <a:spcPts val="0"/>
              </a:spcAft>
            </a:pPr>
            <a:r>
              <a:rPr sz="900" b="0" i="0">
                <a:solidFill>
                  <a:srgbClr val="1C1C1E"/>
                </a:solidFill>
                <a:latin typeface="Consolas"/>
              </a:rPr>
              <a:t>  WHERE  entity_id  = s.entity_id</a:t>
            </a:r>
          </a:p>
          <a:p>
            <a:pPr>
              <a:lnSpc>
                <a:spcPct val="134000"/>
              </a:lnSpc>
              <a:spcBef>
                <a:spcPts val="0"/>
              </a:spcBef>
              <a:spcAft>
                <a:spcPts val="0"/>
              </a:spcAft>
            </a:pPr>
            <a:r>
              <a:rPr sz="900" b="0" i="0">
                <a:solidFill>
                  <a:srgbClr val="1C1C1E"/>
                </a:solidFill>
                <a:latin typeface="Consolas"/>
              </a:rPr>
              <a:t>    AND  event_ts  &lt;= s.label_ts    -- valid time</a:t>
            </a:r>
          </a:p>
          <a:p>
            <a:pPr>
              <a:lnSpc>
                <a:spcPct val="134000"/>
              </a:lnSpc>
              <a:spcBef>
                <a:spcPts val="0"/>
              </a:spcBef>
              <a:spcAft>
                <a:spcPts val="0"/>
              </a:spcAft>
            </a:pPr>
            <a:r>
              <a:rPr sz="900" b="0" i="0">
                <a:solidFill>
                  <a:srgbClr val="1C1C1E"/>
                </a:solidFill>
                <a:latin typeface="Consolas"/>
              </a:rPr>
              <a:t>    AND  ingest_ts &lt;= :as_of        -- txn time</a:t>
            </a:r>
          </a:p>
          <a:p>
            <a:pPr>
              <a:lnSpc>
                <a:spcPct val="134000"/>
              </a:lnSpc>
              <a:spcBef>
                <a:spcPts val="0"/>
              </a:spcBef>
              <a:spcAft>
                <a:spcPts val="0"/>
              </a:spcAft>
            </a:pPr>
            <a:r>
              <a:rPr sz="900" b="0" i="0">
                <a:solidFill>
                  <a:srgbClr val="1C1C1E"/>
                </a:solidFill>
                <a:latin typeface="Consolas"/>
              </a:rPr>
              <a:t>  ORDER BY event_ts DESC, ingest_ts DESC</a:t>
            </a:r>
          </a:p>
          <a:p>
            <a:pPr>
              <a:lnSpc>
                <a:spcPct val="134000"/>
              </a:lnSpc>
              <a:spcBef>
                <a:spcPts val="0"/>
              </a:spcBef>
              <a:spcAft>
                <a:spcPts val="0"/>
              </a:spcAft>
            </a:pPr>
            <a:r>
              <a:rPr sz="900" b="0" i="0">
                <a:solidFill>
                  <a:srgbClr val="1C1C1E"/>
                </a:solidFill>
                <a:latin typeface="Consolas"/>
              </a:rPr>
              <a:t>  LIMIT 1</a:t>
            </a:r>
          </a:p>
          <a:p>
            <a:pPr>
              <a:lnSpc>
                <a:spcPct val="134000"/>
              </a:lnSpc>
              <a:spcBef>
                <a:spcPts val="0"/>
              </a:spcBef>
              <a:spcAft>
                <a:spcPts val="0"/>
              </a:spcAft>
            </a:pPr>
            <a:r>
              <a:rPr sz="900" b="0" i="0">
                <a:solidFill>
                  <a:srgbClr val="1C1C1E"/>
                </a:solidFill>
                <a:latin typeface="Consolas"/>
              </a:rPr>
              <a:t>) f ON true</a:t>
            </a:r>
          </a:p>
        </p:txBody>
      </p:sp>
      <p:sp>
        <p:nvSpPr>
          <p:cNvPr id="18" name="TextBox 17"/>
          <p:cNvSpPr txBox="1"/>
          <p:nvPr/>
        </p:nvSpPr>
        <p:spPr>
          <a:xfrm>
            <a:off x="777240" y="4842730"/>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Delta supplies the second clock. </a:t>
            </a:r>
            <a:r>
              <a:rPr sz="1200" b="0" i="0">
                <a:solidFill>
                  <a:srgbClr val="1C1C1E"/>
                </a:solidFill>
                <a:latin typeface="Calibri"/>
              </a:rPr>
              <a:t>VERSION AS OF gives the transaction-time axis natively — which is why Delta rather than a plain warehouse table is the right substrate for a regulated feature store. Because both clocks are recorded, the platform can also answer the question that arises when a source is restated: </a:t>
            </a:r>
            <a:r>
              <a:rPr sz="1200" b="1" i="0">
                <a:solidFill>
                  <a:srgbClr val="1C1C1E"/>
                </a:solidFill>
                <a:latin typeface="Calibri"/>
              </a:rPr>
              <a:t>which historical training sets, model versions and decisions used the superseded values?</a:t>
            </a:r>
            <a:r>
              <a:rPr sz="1200" b="0" i="0">
                <a:solidFill>
                  <a:srgbClr val="1C1C1E"/>
                </a:solidFill>
                <a:latin typeface="Calibri"/>
              </a:rPr>
              <a:t> With one clock, that question is unanswerable.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graphicFrame>
        <p:nvGraphicFramePr>
          <p:cNvPr id="10" name="Table 9"/>
          <p:cNvGraphicFramePr>
            <a:graphicFrameLocks noGrp="1"/>
          </p:cNvGraphicFramePr>
          <p:nvPr/>
        </p:nvGraphicFramePr>
        <p:xfrm>
          <a:off x="777240" y="1353312"/>
          <a:ext cx="10637214" cy="2150808"/>
        </p:xfrm>
        <a:graphic>
          <a:graphicData uri="http://schemas.openxmlformats.org/drawingml/2006/table">
            <a:tbl>
              <a:tblPr firstRow="1">
                <a:tableStyleId>{5C22544A-7EE6-4342-B048-85BDC9FD1C3A}</a:tableStyleId>
              </a:tblPr>
              <a:tblGrid>
                <a:gridCol w="2109103"/>
                <a:gridCol w="4585006"/>
                <a:gridCol w="39431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83171">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Parses the assembly query and requires BOTH a valid-time and a transaction-time bound. An assembly lacking either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2 · Stratified sampling</a:t>
                      </a:r>
                    </a:p>
                  </a:txBody>
                  <a:tcPr marL="82296" marR="64008" marT="32004" marB="32004" anchor="ctr">
                    <a:solidFill>
                      <a:srgbClr val="F6F3EF"/>
                    </a:solidFill>
                  </a:tcPr>
                </a:tc>
                <a:tc>
                  <a:txBody>
                    <a:bodyPr wrap="square"/>
                    <a:lstStyle/>
                    <a:p>
                      <a:pPr algn="l"/>
                      <a:r>
                        <a:rPr sz="1050" b="0">
                          <a:solidFill>
                            <a:srgbClr val="1C1C1E"/>
                          </a:solidFill>
                          <a:latin typeface="Calibri"/>
                        </a:rPr>
                        <a:t>Independent recomputation over strata across label period, entity type and label value</a:t>
                      </a:r>
                    </a:p>
                  </a:txBody>
                  <a:tcPr marL="82296" marR="64008" marT="32004" marB="32004" anchor="ctr">
                    <a:solidFill>
                      <a:srgbClr val="F6F3EF"/>
                    </a:solidFill>
                  </a:tcPr>
                </a:tc>
                <a:tc>
                  <a:txBody>
                    <a:bodyPr wrap="square"/>
                    <a:lstStyle/>
                    <a:p>
                      <a:pPr algn="l"/>
                      <a:r>
                        <a:rPr sz="1050" b="0">
                          <a:solidFill>
                            <a:srgbClr val="1C1C1E"/>
                          </a:solidFill>
                          <a:latin typeface="Calibri"/>
                        </a:rPr>
                        <a:t>Detects systematic violations at a stated statistical power. Does not prove absence</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3 · Adversarial injection</a:t>
                      </a:r>
                    </a:p>
                  </a:txBody>
                  <a:tcPr marL="82296" marR="64008" marT="32004" marB="32004" anchor="ctr">
                    <a:solidFill>
                      <a:srgbClr val="FFFFFF"/>
                    </a:solidFill>
                  </a:tcPr>
                </a:tc>
                <a:tc>
                  <a:txBody>
                    <a:bodyPr wrap="square"/>
                    <a:lstStyle/>
                    <a:p>
                      <a:pPr algn="l"/>
                      <a:r>
                        <a:rPr sz="1050" b="0">
                          <a:solidFill>
                            <a:srgbClr val="1C1C1E"/>
                          </a:solidFill>
                          <a:latin typeface="Calibri"/>
                        </a:rPr>
                        <a:t>CI injects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Proves the verifier still works — the failure mode that would otherwise be silent and catastrophic</a:t>
                      </a:r>
                    </a:p>
                  </a:txBody>
                  <a:tcPr marL="82296" marR="64008" marT="32004" marB="32004" anchor="ctr">
                    <a:solidFill>
                      <a:srgbClr val="FFFFFF"/>
                    </a:solidFill>
                  </a:tcPr>
                </a:tc>
              </a:tr>
            </a:tbl>
          </a:graphicData>
        </a:graphic>
      </p:graphicFrame>
      <p:sp>
        <p:nvSpPr>
          <p:cNvPr id="11" name="Rectangle 10"/>
          <p:cNvSpPr/>
          <p:nvPr/>
        </p:nvSpPr>
        <p:spPr>
          <a:xfrm>
            <a:off x="777240" y="3778440"/>
            <a:ext cx="10637215"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3906456"/>
            <a:ext cx="9997135" cy="86868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Law L-10, restated honestly</a:t>
            </a:r>
          </a:p>
          <a:p>
            <a:pPr>
              <a:lnSpc>
                <a:spcPct val="126000"/>
              </a:lnSpc>
              <a:spcBef>
                <a:spcPts val="0"/>
              </a:spcBef>
              <a:spcAft>
                <a:spcPts val="0"/>
              </a:spcAft>
            </a:pPr>
            <a:r>
              <a:rPr sz="1150" b="1" i="0">
                <a:solidFill>
                  <a:srgbClr val="FFFFFF"/>
                </a:solidFill>
                <a:latin typeface="Calibri"/>
              </a:rPr>
              <a:t>“No assembly passes without a static temporal bound, and sampling detects systematic violations at stated power.”  </a:t>
            </a:r>
            <a:r>
              <a:rPr sz="1150" b="0" i="0">
                <a:solidFill>
                  <a:srgbClr val="F6E0E4"/>
                </a:solidFill>
                <a:latin typeface="Calibri"/>
              </a:rPr>
              <a:t>Weaker than the original wording — and true. Adversarial review rejected the single-layer claim, because a leak confined to a rare, high-value segment is exactly where sampling fails and where the damage is greatest.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DEFECT THAT REPORTED GREEN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online store must be version-namespaced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10637215" cy="118872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96012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Finding C-2 — the most serious defect adversarial review found</a:t>
            </a:r>
          </a:p>
          <a:p>
            <a:pPr>
              <a:lnSpc>
                <a:spcPct val="126000"/>
              </a:lnSpc>
              <a:spcBef>
                <a:spcPts val="0"/>
              </a:spcBef>
              <a:spcAft>
                <a:spcPts val="0"/>
              </a:spcAft>
            </a:pPr>
            <a:r>
              <a:rPr sz="1150" b="0" i="0">
                <a:solidFill>
                  <a:srgbClr val="F6E0E4"/>
                </a:solidFill>
                <a:latin typeface="Calibri"/>
              </a:rPr>
              <a:t>Contracts pinned feature view v7. The online store served whatever was latest. On a transformation change, a model would be served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very platform that exists to prevent it.</a:t>
            </a:r>
          </a:p>
        </p:txBody>
      </p:sp>
      <p:sp>
        <p:nvSpPr>
          <p:cNvPr id="12" name="Rectangle 11"/>
          <p:cNvSpPr/>
          <p:nvPr/>
        </p:nvSpPr>
        <p:spPr>
          <a:xfrm>
            <a:off x="777240" y="277063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77063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86207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FIX — VERSION IS PART OF THE KEY</a:t>
            </a:r>
          </a:p>
        </p:txBody>
      </p:sp>
      <p:sp>
        <p:nvSpPr>
          <p:cNvPr id="15" name="TextBox 14"/>
          <p:cNvSpPr txBox="1"/>
          <p:nvPr/>
        </p:nvSpPr>
        <p:spPr>
          <a:xfrm>
            <a:off x="978408" y="316382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72491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822191"/>
            <a:ext cx="4893118" cy="118872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Law L-17 checks this in production, continuously. </a:t>
            </a:r>
            <a:r>
              <a:rPr sz="1150" b="0" i="0">
                <a:solidFill>
                  <a:srgbClr val="1C1C1E"/>
                </a:solidFill>
                <a:latin typeface="Calibri"/>
              </a:rPr>
              <a:t>The namespace served must equal the namespace pinned. C-2 was invisible to every design-time check, so its guard is a runtime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EVALUATION AT SCALE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pipeline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85039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inference_log</a:t>
            </a:r>
          </a:p>
          <a:p>
            <a:pPr algn="ctr">
              <a:spcBef>
                <a:spcPts val="0"/>
              </a:spcBef>
              <a:spcAft>
                <a:spcPts val="0"/>
              </a:spcAft>
            </a:pPr>
            <a:r>
              <a:rPr sz="900" b="0" i="0">
                <a:solidFill>
                  <a:srgbClr val="FFFFFF"/>
                </a:solidFill>
                <a:latin typeface="Calibri"/>
              </a:rPr>
              <a:t>Delta + CDF</a:t>
            </a:r>
          </a:p>
        </p:txBody>
      </p:sp>
      <p:cxnSp>
        <p:nvCxnSpPr>
          <p:cNvPr id="12" name="Connector 11"/>
          <p:cNvCxnSpPr/>
          <p:nvPr/>
        </p:nvCxnSpPr>
        <p:spPr>
          <a:xfrm>
            <a:off x="212441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32558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239873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Incremental reader</a:t>
            </a:r>
          </a:p>
          <a:p>
            <a:pPr algn="ctr">
              <a:spcBef>
                <a:spcPts val="0"/>
              </a:spcBef>
              <a:spcAft>
                <a:spcPts val="0"/>
              </a:spcAft>
            </a:pPr>
            <a:r>
              <a:rPr sz="900" b="0" i="0">
                <a:solidFill>
                  <a:srgbClr val="FFFFFF"/>
                </a:solidFill>
                <a:latin typeface="Calibri"/>
              </a:rPr>
              <a:t>changed partitions only</a:t>
            </a:r>
          </a:p>
        </p:txBody>
      </p:sp>
      <p:cxnSp>
        <p:nvCxnSpPr>
          <p:cNvPr id="15" name="Connector 14"/>
          <p:cNvCxnSpPr/>
          <p:nvPr/>
        </p:nvCxnSpPr>
        <p:spPr>
          <a:xfrm>
            <a:off x="367275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7392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94707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Metric compute</a:t>
            </a:r>
          </a:p>
          <a:p>
            <a:pPr algn="ctr">
              <a:spcBef>
                <a:spcPts val="0"/>
              </a:spcBef>
              <a:spcAft>
                <a:spcPts val="0"/>
              </a:spcAft>
            </a:pPr>
            <a:r>
              <a:rPr sz="900" b="0" i="0">
                <a:solidFill>
                  <a:srgbClr val="FFFFFF"/>
                </a:solidFill>
                <a:latin typeface="Calibri"/>
              </a:rPr>
              <a:t>Spark · per monitor × slice</a:t>
            </a:r>
          </a:p>
        </p:txBody>
      </p:sp>
      <p:cxnSp>
        <p:nvCxnSpPr>
          <p:cNvPr id="18" name="Connector 17"/>
          <p:cNvCxnSpPr/>
          <p:nvPr/>
        </p:nvCxnSpPr>
        <p:spPr>
          <a:xfrm>
            <a:off x="522109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422261"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549541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observations</a:t>
            </a:r>
          </a:p>
          <a:p>
            <a:pPr algn="ctr">
              <a:spcBef>
                <a:spcPts val="0"/>
              </a:spcBef>
              <a:spcAft>
                <a:spcPts val="0"/>
              </a:spcAft>
            </a:pPr>
            <a:r>
              <a:rPr sz="900" b="0" i="0">
                <a:solidFill>
                  <a:srgbClr val="FFFFFF"/>
                </a:solidFill>
                <a:latin typeface="Calibri"/>
              </a:rPr>
              <a:t>Delta</a:t>
            </a:r>
          </a:p>
        </p:txBody>
      </p:sp>
      <p:cxnSp>
        <p:nvCxnSpPr>
          <p:cNvPr id="21" name="Connector 20"/>
          <p:cNvCxnSpPr/>
          <p:nvPr/>
        </p:nvCxnSpPr>
        <p:spPr>
          <a:xfrm>
            <a:off x="676943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970601"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04375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Threshold ladder</a:t>
            </a:r>
          </a:p>
          <a:p>
            <a:pPr algn="ctr">
              <a:spcBef>
                <a:spcPts val="0"/>
              </a:spcBef>
              <a:spcAft>
                <a:spcPts val="0"/>
              </a:spcAft>
            </a:pPr>
            <a:r>
              <a:rPr sz="900" b="0" i="0">
                <a:solidFill>
                  <a:srgbClr val="FFFFFF"/>
                </a:solidFill>
                <a:latin typeface="Calibri"/>
              </a:rPr>
              <a:t>per tier</a:t>
            </a:r>
          </a:p>
        </p:txBody>
      </p:sp>
      <p:cxnSp>
        <p:nvCxnSpPr>
          <p:cNvPr id="24" name="Connector 23"/>
          <p:cNvCxnSpPr/>
          <p:nvPr/>
        </p:nvCxnSpPr>
        <p:spPr>
          <a:xfrm>
            <a:off x="831777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518942" y="1444752"/>
            <a:ext cx="1347172"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859209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Correlated finding</a:t>
            </a:r>
          </a:p>
        </p:txBody>
      </p:sp>
      <p:cxnSp>
        <p:nvCxnSpPr>
          <p:cNvPr id="27" name="Connector 26"/>
          <p:cNvCxnSpPr/>
          <p:nvPr/>
        </p:nvCxnSpPr>
        <p:spPr>
          <a:xfrm>
            <a:off x="986611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067282" y="1444752"/>
            <a:ext cx="1347172" cy="7772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1014043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Warrant restriction</a:t>
            </a:r>
          </a:p>
        </p:txBody>
      </p:sp>
      <p:sp>
        <p:nvSpPr>
          <p:cNvPr id="30" name="TextBox 29"/>
          <p:cNvSpPr txBox="1"/>
          <p:nvPr/>
        </p:nvSpPr>
        <p:spPr>
          <a:xfrm>
            <a:off x="777240" y="2450591"/>
            <a:ext cx="4999491" cy="21945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Delayed labels are the hard part</a:t>
            </a:r>
          </a:p>
          <a:p>
            <a:pPr>
              <a:lnSpc>
                <a:spcPct val="126000"/>
              </a:lnSpc>
              <a:spcBef>
                <a:spcPts val="0"/>
              </a:spcBef>
              <a:spcAft>
                <a:spcPts val="800"/>
              </a:spcAft>
            </a:pPr>
            <a:r>
              <a:rPr sz="1150" b="0" i="0">
                <a:solidFill>
                  <a:srgbClr val="4A4F57"/>
                </a:solidFill>
                <a:latin typeface="Calibri"/>
              </a:rPr>
              <a:t>Credit outcomes mature over months. Monitors declare a label_delay; performance metrics are computed on vintage cohorts whose outcome window has closed, and the UI shows both the metric and the maturity of the cohort it came from.</a:t>
            </a:r>
          </a:p>
          <a:p>
            <a:pPr>
              <a:lnSpc>
                <a:spcPct val="126000"/>
              </a:lnSpc>
              <a:spcBef>
                <a:spcPts val="0"/>
              </a:spcBef>
              <a:spcAft>
                <a:spcPts val="600"/>
              </a:spcAft>
            </a:pPr>
            <a:r>
              <a:rPr sz="1150" b="1" i="0">
                <a:solidFill>
                  <a:srgbClr val="1C1C1E"/>
                </a:solidFill>
                <a:latin typeface="Calibri"/>
              </a:rPr>
              <a:t>Reporting an AUC on immature outcomes is worse than reporting nothing</a:t>
            </a:r>
            <a:r>
              <a:rPr sz="1150" b="0" i="0">
                <a:solidFill>
                  <a:srgbClr val="4A4F57"/>
                </a:solidFill>
                <a:latin typeface="Calibri"/>
              </a:rPr>
              <a:t> — it is confidently wrong in a direction nobody checks.</a:t>
            </a:r>
          </a:p>
        </p:txBody>
      </p:sp>
      <p:sp>
        <p:nvSpPr>
          <p:cNvPr id="31" name="TextBox 30"/>
          <p:cNvSpPr txBox="1"/>
          <p:nvPr/>
        </p:nvSpPr>
        <p:spPr>
          <a:xfrm>
            <a:off x="6414964" y="2450591"/>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Metric sets are seeded per trainability class</a:t>
            </a:r>
          </a:p>
        </p:txBody>
      </p:sp>
      <p:graphicFrame>
        <p:nvGraphicFramePr>
          <p:cNvPr id="32" name="Table 31"/>
          <p:cNvGraphicFramePr>
            <a:graphicFrameLocks noGrp="1"/>
          </p:cNvGraphicFramePr>
          <p:nvPr/>
        </p:nvGraphicFramePr>
        <p:xfrm>
          <a:off x="6414964" y="2798064"/>
          <a:ext cx="4999490" cy="2570480"/>
        </p:xfrm>
        <a:graphic>
          <a:graphicData uri="http://schemas.openxmlformats.org/drawingml/2006/table">
            <a:tbl>
              <a:tblPr firstRow="1">
                <a:tableStyleId>{5C22544A-7EE6-4342-B048-85BDC9FD1C3A}</a:tableStyleId>
              </a:tblPr>
              <a:tblGrid>
                <a:gridCol w="1491076"/>
                <a:gridCol w="3508414"/>
              </a:tblGrid>
              <a:tr h="329184">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Default metrics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T1 calibrated</a:t>
                      </a:r>
                    </a:p>
                  </a:txBody>
                  <a:tcPr marL="82296" marR="64008" marT="32004" marB="32004" anchor="ctr">
                    <a:solidFill>
                      <a:srgbClr val="FFFFFF"/>
                    </a:solidFill>
                  </a:tcPr>
                </a:tc>
                <a:tc>
                  <a:txBody>
                    <a:bodyPr wrap="square"/>
                    <a:lstStyle/>
                    <a:p>
                      <a:pPr algn="l"/>
                      <a:r>
                        <a:rPr sz="1000" b="0">
                          <a:solidFill>
                            <a:srgbClr val="1C1C1E"/>
                          </a:solidFill>
                          <a:latin typeface="Calibri"/>
                        </a:rPr>
                        <a:t>Calibration error, arbitrage-free checks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T2 / T3</a:t>
                      </a:r>
                    </a:p>
                  </a:txBody>
                  <a:tcPr marL="82296" marR="64008" marT="32004" marB="32004" anchor="ctr">
                    <a:solidFill>
                      <a:srgbClr val="F6F3EF"/>
                    </a:solidFill>
                  </a:tcPr>
                </a:tc>
                <a:tc>
                  <a:txBody>
                    <a:bodyPr wrap="square"/>
                    <a:lstStyle/>
                    <a:p>
                      <a:pPr algn="l"/>
                      <a:r>
                        <a:rPr sz="1000" b="0">
                          <a:solidFill>
                            <a:srgbClr val="1C1C1E"/>
                          </a:solidFill>
                          <a:latin typeface="Calibri"/>
                        </a:rPr>
                        <a:t>KS, AUC, PSI, Hosmer–Lemeshow</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T4 adaptive</a:t>
                      </a:r>
                    </a:p>
                  </a:txBody>
                  <a:tcPr marL="82296" marR="64008" marT="32004" marB="32004" anchor="ctr">
                    <a:solidFill>
                      <a:srgbClr val="FFFFFF"/>
                    </a:solidFill>
                  </a:tcPr>
                </a:tc>
                <a:tc>
                  <a:txBody>
                    <a:bodyPr wrap="square"/>
                    <a:lstStyle/>
                    <a:p>
                      <a:pPr algn="l"/>
                      <a:r>
                        <a:rPr sz="1000" b="0">
                          <a:solidFill>
                            <a:srgbClr val="1C1C1E"/>
                          </a:solidFill>
                          <a:latin typeface="Calibri"/>
                        </a:rPr>
                        <a:t>Parameter-change magnitude, parallel outcomes analysis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T5 foundation</a:t>
                      </a:r>
                    </a:p>
                  </a:txBody>
                  <a:tcPr marL="82296" marR="64008" marT="32004" marB="32004" anchor="ctr">
                    <a:solidFill>
                      <a:srgbClr val="F6F3EF"/>
                    </a:solidFill>
                  </a:tcPr>
                </a:tc>
                <a:tc>
                  <a:txBody>
                    <a:bodyPr wrap="square"/>
                    <a:lstStyle/>
                    <a:p>
                      <a:pPr algn="l"/>
                      <a:r>
                        <a:rPr sz="1000" b="0">
                          <a:solidFill>
                            <a:srgbClr val="1C1C1E"/>
                          </a:solidFill>
                          <a:latin typeface="Calibri"/>
                        </a:rPr>
                        <a:t>Groundedness, hallucination rate, human edit distance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T6 opaque</a:t>
                      </a:r>
                    </a:p>
                  </a:txBody>
                  <a:tcPr marL="82296" marR="64008" marT="32004" marB="32004" anchor="ctr">
                    <a:solidFill>
                      <a:srgbClr val="FFFFFF"/>
                    </a:solidFill>
                  </a:tcPr>
                </a:tc>
                <a:tc>
                  <a:txBody>
                    <a:bodyPr wrap="square"/>
                    <a:lstStyle/>
                    <a:p>
                      <a:pPr algn="l"/>
                      <a:r>
                        <a:rPr sz="1000" b="0">
                          <a:solidFill>
                            <a:srgbClr val="1C1C1E"/>
                          </a:solidFill>
                          <a:latin typeface="Calibri"/>
                        </a:rPr>
                        <a:t>Own-outcomes divergence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T8 authored</a:t>
                      </a:r>
                    </a:p>
                  </a:txBody>
                  <a:tcPr marL="82296" marR="64008" marT="32004" marB="32004" anchor="ctr">
                    <a:solidFill>
                      <a:srgbClr val="F6F3EF"/>
                    </a:solidFill>
                  </a:tcPr>
                </a:tc>
                <a:tc>
                  <a:txBody>
                    <a:bodyPr wrap="square"/>
                    <a:lstStyle/>
                    <a:p>
                      <a:pPr algn="l"/>
                      <a:r>
                        <a:rPr sz="100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Featuresets — X becomes an object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TextBox 9"/>
          <p:cNvSpPr txBox="1"/>
          <p:nvPr/>
        </p:nvSpPr>
        <p:spPr>
          <a:xfrm>
            <a:off x="777240" y="1353312"/>
            <a:ext cx="5956840"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 featureset declares a schema; a version fills it</a:t>
            </a:r>
          </a:p>
        </p:txBody>
      </p:sp>
      <p:sp>
        <p:nvSpPr>
          <p:cNvPr id="11" name="Rectangle 10"/>
          <p:cNvSpPr/>
          <p:nvPr/>
        </p:nvSpPr>
        <p:spPr>
          <a:xfrm>
            <a:off x="777240" y="1737360"/>
            <a:ext cx="5956840"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inflation   slots: {gb_index, us_index, daily_index}</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the model reads daily_index, and always did.</a:t>
            </a:r>
          </a:p>
          <a:p>
            <a:pPr>
              <a:lnSpc>
                <a:spcPct val="134000"/>
              </a:lnSpc>
              <a:spcBef>
                <a:spcPts val="0"/>
              </a:spcBef>
              <a:spcAft>
                <a:spcPts val="0"/>
              </a:spcAft>
            </a:pPr>
            <a:r>
              <a:rPr sz="950" b="0" i="0">
                <a:solidFill>
                  <a:srgbClr val="7A7F87"/>
                </a:solidFill>
                <a:latin typeface="Consolas"/>
              </a:rPr>
              <a:t># a version that CANNOT fill the schema is refused:</a:t>
            </a:r>
          </a:p>
          <a:p>
            <a:pPr>
              <a:lnSpc>
                <a:spcPct val="134000"/>
              </a:lnSpc>
              <a:spcBef>
                <a:spcPts val="0"/>
              </a:spcBef>
              <a:spcAft>
                <a:spcPts val="0"/>
              </a:spcAft>
            </a:pPr>
            <a:r>
              <a:rPr sz="950" b="0" i="0">
                <a:solidFill>
                  <a:srgbClr val="7A7F87"/>
                </a:solidFill>
                <a:latin typeface="Consolas"/>
              </a:rPr>
              <a:t># it is a different set, or it is a model change.</a:t>
            </a:r>
          </a:p>
        </p:txBody>
      </p:sp>
      <p:sp>
        <p:nvSpPr>
          <p:cNvPr id="14" name="TextBox 13"/>
          <p:cNvSpPr txBox="1"/>
          <p:nvPr/>
        </p:nvSpPr>
        <p:spPr>
          <a:xfrm>
            <a:off x="777240" y="3879067"/>
            <a:ext cx="5956840" cy="1645920"/>
          </a:xfrm>
          <a:prstGeom prst="rect">
            <a:avLst/>
          </a:prstGeom>
          <a:noFill/>
        </p:spPr>
        <p:txBody>
          <a:bodyPr wrap="square" lIns="0" rIns="0" tIns="0" bIns="0" anchor="t">
            <a:spAutoFit/>
          </a:bodyPr>
          <a:lstStyle/>
          <a:p>
            <a:pPr algn="l">
              <a:lnSpc>
                <a:spcPct val="124000"/>
              </a:lnSpc>
              <a:spcBef>
                <a:spcPts val="0"/>
              </a:spcBef>
              <a:spcAft>
                <a:spcPts val="600"/>
              </a:spcAft>
            </a:pPr>
            <a:r>
              <a:rPr sz="1050" b="0" i="0">
                <a:solidFill>
                  <a:srgbClr val="4A4F57"/>
                </a:solidFill>
                <a:latin typeface="Calibri"/>
              </a:rPr>
              <a:t>Every slot pins the feature AND the feature view version supplying it. A set that named views without pinning them would resolve to different bytes next month with its digest unchanged — finding C-2, one level out from the view.</a:t>
            </a:r>
          </a:p>
          <a:p>
            <a:pPr>
              <a:lnSpc>
                <a:spcPct val="124000"/>
              </a:lnSpc>
              <a:spcBef>
                <a:spcPts val="0"/>
              </a:spcBef>
              <a:spcAft>
                <a:spcPts val="0"/>
              </a:spcAft>
            </a:pPr>
            <a:r>
              <a:rPr sz="1050" b="0" i="0">
                <a:solidFill>
                  <a:srgbClr val="4A4F57"/>
                </a:solidFill>
                <a:latin typeface="Calibri"/>
              </a:rPr>
              <a:t>The set owns the shape; the warrant owns the window. Otherwise “same features, 2019–23 vs 2020–24” would be two featuresets.</a:t>
            </a:r>
          </a:p>
        </p:txBody>
      </p:sp>
      <p:sp>
        <p:nvSpPr>
          <p:cNvPr id="15" name="TextBox 14"/>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Derived features: Z = f(X, Y)</a:t>
            </a:r>
          </a:p>
        </p:txBody>
      </p:sp>
      <p:graphicFrame>
        <p:nvGraphicFramePr>
          <p:cNvPr id="16" name="Table 15"/>
          <p:cNvGraphicFramePr>
            <a:graphicFrameLocks noGrp="1"/>
          </p:cNvGraphicFramePr>
          <p:nvPr/>
        </p:nvGraphicFramePr>
        <p:xfrm>
          <a:off x="7159569" y="1737360"/>
          <a:ext cx="4254885" cy="2047784"/>
        </p:xfrm>
        <a:graphic>
          <a:graphicData uri="http://schemas.openxmlformats.org/drawingml/2006/table">
            <a:tbl>
              <a:tblPr firstRow="1">
                <a:tableStyleId>{5C22544A-7EE6-4342-B048-85BDC9FD1C3A}</a:tableStyleId>
              </a:tblPr>
              <a:tblGrid>
                <a:gridCol w="1731639"/>
                <a:gridCol w="2523246"/>
              </a:tblGrid>
              <a:tr h="329184">
                <a:tc>
                  <a:txBody>
                    <a:bodyPr wrap="square"/>
                    <a:lstStyle/>
                    <a:p>
                      <a:pPr algn="l"/>
                      <a:r>
                        <a:rPr sz="950" b="1">
                          <a:solidFill>
                            <a:srgbClr val="FFFFFF"/>
                          </a:solidFill>
                          <a:latin typeface="Calibri"/>
                        </a:rPr>
                        <a:t>Rule</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Lineage is transitive</a:t>
                      </a:r>
                    </a:p>
                  </a:txBody>
                  <a:tcPr marL="82296" marR="64008" marT="32004" marB="32004" anchor="ctr">
                    <a:solidFill>
                      <a:srgbClr val="FFFFFF"/>
                    </a:solidFill>
                  </a:tcPr>
                </a:tc>
                <a:tc>
                  <a:txBody>
                    <a:bodyPr wrap="square"/>
                    <a:lstStyle/>
                    <a:p>
                      <a:pPr algn="l"/>
                      <a:r>
                        <a:rPr sz="950" b="0">
                          <a:solidFill>
                            <a:srgbClr val="1C1C1E"/>
                          </a:solidFill>
                          <a:latin typeface="Calibri"/>
                        </a:rPr>
                        <a:t>A primitive retired under something deriving from it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50" b="0">
                          <a:solidFill>
                            <a:srgbClr val="1C1C1E"/>
                          </a:solidFill>
                          <a:latin typeface="Calibri"/>
                        </a:rPr>
                        <a:t>A value appearing knowable before its inputs were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 slot from the label</a:t>
                      </a:r>
                    </a:p>
                  </a:txBody>
                  <a:tcPr marL="82296" marR="64008" marT="32004" marB="32004" anchor="ctr">
                    <a:solidFill>
                      <a:srgbClr val="FFFFFF"/>
                    </a:solidFill>
                  </a:tcPr>
                </a:tc>
                <a:tc>
                  <a:txBody>
                    <a:bodyPr wrap="square"/>
                    <a:lstStyle/>
                    <a:p>
                      <a:pPr algn="l"/>
                      <a:r>
                        <a:rPr sz="950" b="0">
                          <a:solidFill>
                            <a:srgbClr val="1C1C1E"/>
                          </a:solidFill>
                          <a:latin typeface="Calibri"/>
                        </a:rPr>
                        <a:t>Leakage with a division sign in front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50" b="0">
                          <a:solidFill>
                            <a:srgbClr val="1C1C1E"/>
                          </a:solidFill>
                          <a:latin typeface="Calibri"/>
                        </a:rPr>
                        <a:t>Laundering an uncertified input</a:t>
                      </a:r>
                    </a:p>
                  </a:txBody>
                  <a:tcPr marL="82296" marR="64008" marT="32004" marB="32004" anchor="ctr">
                    <a:solidFill>
                      <a:srgbClr val="F6F3EF"/>
                    </a:solidFill>
                  </a:tcPr>
                </a:tc>
              </a:tr>
            </a:tbl>
          </a:graphicData>
        </a:graphic>
      </p:graphicFrame>
      <p:sp>
        <p:nvSpPr>
          <p:cNvPr id="17" name="Rectangle 16"/>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language is small on purpose. </a:t>
            </a:r>
            <a:r>
              <a:rPr sz="1100" b="0" i="0">
                <a:solidFill>
                  <a:srgbClr val="1C1C1E"/>
                </a:solidFill>
                <a:latin typeface="Calibri"/>
              </a:rPr>
              <a:t>Arithmetic, nine total functions, the row’s own clock — whitelisted at the AST, so what cannot be expressed cannot be smuggled in. MAYA transforms features it holds; </a:t>
            </a:r>
            <a:r>
              <a:rPr sz="1100" b="1" i="0">
                <a:solidFill>
                  <a:srgbClr val="1C1C1E"/>
                </a:solidFill>
                <a:latin typeface="Calibri"/>
              </a:rPr>
              <a:t>it does not run models.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parameter object — an inhabitant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35331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Fitting does not change the kernel</a:t>
            </a:r>
          </a:p>
        </p:txBody>
      </p:sp>
      <p:sp>
        <p:nvSpPr>
          <p:cNvPr id="11" name="Rectangle 10"/>
          <p:cNvSpPr/>
          <p:nvPr/>
        </p:nvSpPr>
        <p:spPr>
          <a:xfrm>
            <a:off x="777240" y="1737360"/>
            <a:ext cx="5531351"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165591"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a fit produces a PARAMETER SET,</a:t>
            </a:r>
          </a:p>
          <a:p>
            <a:pPr>
              <a:lnSpc>
                <a:spcPct val="134000"/>
              </a:lnSpc>
              <a:spcBef>
                <a:spcPts val="0"/>
              </a:spcBef>
              <a:spcAft>
                <a:spcPts val="0"/>
              </a:spcAft>
            </a:pPr>
            <a:r>
              <a:rPr sz="950" b="0" i="0">
                <a:solidFill>
                  <a:srgbClr val="1C1C1E"/>
                </a:solidFill>
                <a:latin typeface="Consolas"/>
              </a:rPr>
              <a:t>  not a model version.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warrant(fit)   model_version × featureset@v × window</a:t>
            </a:r>
          </a:p>
          <a:p>
            <a:pPr>
              <a:lnSpc>
                <a:spcPct val="134000"/>
              </a:lnSpc>
              <a:spcBef>
                <a:spcPts val="0"/>
              </a:spcBef>
              <a:spcAft>
                <a:spcPts val="0"/>
              </a:spcAft>
            </a:pPr>
            <a:r>
              <a:rPr sz="950" b="0" i="0">
                <a:solidFill>
                  <a:srgbClr val="1C1C1E"/>
                </a:solidFill>
                <a:latin typeface="Consolas"/>
              </a:rPr>
              <a:t>warrant(score) model_version × parameter_set@v</a:t>
            </a:r>
          </a:p>
        </p:txBody>
      </p:sp>
      <p:sp>
        <p:nvSpPr>
          <p:cNvPr id="14" name="TextBox 13"/>
          <p:cNvSpPr txBox="1"/>
          <p:nvPr/>
        </p:nvSpPr>
        <p:spPr>
          <a:xfrm>
            <a:off x="777240" y="3879067"/>
            <a:ext cx="5531351"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Minting a model version per retrain would make “the model changed” mean two different things. But a parameter set changes behaviour, so it is immutable, versioned, and cannot be run on until somebody other than whoever recorded it has approved — the gate that governs versions, applied to the other half of the pair.</a:t>
            </a:r>
          </a:p>
        </p:txBody>
      </p:sp>
      <p:sp>
        <p:nvSpPr>
          <p:cNvPr id="15" name="TextBox 14"/>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three depths of governance</a:t>
            </a:r>
          </a:p>
        </p:txBody>
      </p:sp>
      <p:graphicFrame>
        <p:nvGraphicFramePr>
          <p:cNvPr id="16" name="Table 15"/>
          <p:cNvGraphicFramePr>
            <a:graphicFrameLocks noGrp="1"/>
          </p:cNvGraphicFramePr>
          <p:nvPr/>
        </p:nvGraphicFramePr>
        <p:xfrm>
          <a:off x="6840452" y="1737360"/>
          <a:ext cx="4574002" cy="1253832"/>
        </p:xfrm>
        <a:graphic>
          <a:graphicData uri="http://schemas.openxmlformats.org/drawingml/2006/table">
            <a:tbl>
              <a:tblPr firstRow="1">
                <a:tableStyleId>{5C22544A-7EE6-4342-B048-85BDC9FD1C3A}</a:tableStyleId>
              </a:tblPr>
              <a:tblGrid>
                <a:gridCol w="1327936"/>
                <a:gridCol w="1918130"/>
                <a:gridCol w="1327936"/>
              </a:tblGrid>
              <a:tr h="329184">
                <a:tc>
                  <a:txBody>
                    <a:bodyPr wrap="square"/>
                    <a:lstStyle/>
                    <a:p>
                      <a:pPr algn="l"/>
                      <a:r>
                        <a:rPr sz="950" b="1">
                          <a:solidFill>
                            <a:srgbClr val="FFFFFF"/>
                          </a:solidFill>
                          <a:latin typeface="Calibri"/>
                        </a:rPr>
                        <a:t>Provenance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7" name="TextBox 16"/>
          <p:cNvSpPr txBox="1"/>
          <p:nvPr/>
        </p:nvSpPr>
        <p:spPr>
          <a:xfrm>
            <a:off x="6840452" y="3136391"/>
            <a:ext cx="4574002"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The middle row is why provenance is not cosmetic: a Hull–White model recalibrated every morning would drown the register if each day needed a committee. The bottom row is the model that never trains — a closed form arrives with its parameters, and L-W1 refuses it a fit warrant as a type error.</a:t>
            </a:r>
          </a:p>
        </p:txBody>
      </p:sp>
      <p:sp>
        <p:nvSpPr>
          <p:cNvPr id="18" name="Rectangle 17"/>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Accepted only against a warrant we issued. </a:t>
            </a:r>
            <a:r>
              <a:rPr sz="1100" b="0" i="0">
                <a:solidFill>
                  <a:srgbClr val="1C1C1E"/>
                </a:solidFill>
                <a:latin typeface="Calibri"/>
              </a:rPr>
              <a:t>No back door. Without it, </a:t>
            </a:r>
            <a:r>
              <a:rPr sz="1100" b="1" i="0">
                <a:solidFill>
                  <a:srgbClr val="1C1C1E"/>
                </a:solidFill>
                <a:latin typeface="Calibri"/>
              </a:rPr>
              <a:t>“which data produced these numbers” has no answer</a:t>
            </a:r>
            <a:r>
              <a:rPr sz="1100" b="0" i="0">
                <a:solidFill>
                  <a:srgbClr val="1C1C1E"/>
                </a:solidFill>
                <a:latin typeface="Calibri"/>
              </a:rPr>
              <a:t>, and the lineage the pinned versions and bitemporal clocks exist to establish stops one step short of the thing it was for.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Execution and Warrants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How a governed model actually gets run — and stopped.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warrant grammar</a:t>
            </a:r>
          </a:p>
          <a:p>
            <a:pPr>
              <a:lnSpc>
                <a:spcPct val="115000"/>
              </a:lnSpc>
              <a:spcBef>
                <a:spcPts val="0"/>
              </a:spcBef>
              <a:spcAft>
                <a:spcPts val="700"/>
              </a:spcAft>
            </a:pPr>
            <a:r>
              <a:rPr sz="1150" b="0" i="0">
                <a:solidFill>
                  <a:srgbClr val="F6E6E9"/>
                </a:solidFill>
                <a:latin typeface="Calibri"/>
              </a:rPr>
              <a:t>Resolution algorithm</a:t>
            </a:r>
          </a:p>
          <a:p>
            <a:pPr>
              <a:lnSpc>
                <a:spcPct val="115000"/>
              </a:lnSpc>
              <a:spcBef>
                <a:spcPts val="0"/>
              </a:spcBef>
              <a:spcAft>
                <a:spcPts val="700"/>
              </a:spcAft>
            </a:pPr>
            <a:r>
              <a:rPr sz="1150" b="0" i="0">
                <a:solidFill>
                  <a:srgbClr val="F6E6E9"/>
                </a:solidFill>
                <a:latin typeface="Calibri"/>
              </a:rPr>
              <a:t>Caching and stampede control</a:t>
            </a:r>
          </a:p>
          <a:p>
            <a:pPr>
              <a:lnSpc>
                <a:spcPct val="115000"/>
              </a:lnSpc>
              <a:spcBef>
                <a:spcPts val="0"/>
              </a:spcBef>
              <a:spcAft>
                <a:spcPts val="700"/>
              </a:spcAft>
            </a:pPr>
            <a:r>
              <a:rPr sz="1150" b="0" i="0">
                <a:solidFill>
                  <a:srgbClr val="F6E6E9"/>
                </a:solidFill>
                <a:latin typeface="Calibri"/>
              </a:rPr>
              <a:t>Revocation</a:t>
            </a:r>
          </a:p>
          <a:p>
            <a:pPr>
              <a:lnSpc>
                <a:spcPct val="115000"/>
              </a:lnSpc>
              <a:spcBef>
                <a:spcPts val="0"/>
              </a:spcBef>
              <a:spcAft>
                <a:spcPts val="700"/>
              </a:spcAft>
            </a:pPr>
            <a:r>
              <a:rPr sz="1150" b="0" i="0">
                <a:solidFill>
                  <a:srgbClr val="F6E6E9"/>
                </a:solidFill>
                <a:latin typeface="Calibri"/>
              </a:rPr>
              <a:t>Use reconciliation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python.callable · container · sql · spreadsheet · rules · solver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request · feature_namespace · dataset_snapshot · market_data · document_corpus · stream · scenario_set · sql_query</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section, not a new document type, and not a change to anything that already works.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graphicFrame>
        <p:nvGraphicFramePr>
          <p:cNvPr id="10" name="Table 9"/>
          <p:cNvGraphicFramePr>
            <a:graphicFrameLocks noGrp="1"/>
          </p:cNvGraphicFramePr>
          <p:nvPr/>
        </p:nvGraphicFramePr>
        <p:xfrm>
          <a:off x="777240" y="1353312"/>
          <a:ext cx="10637213" cy="3790213"/>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Credit-memo agent</a:t>
                      </a:r>
                    </a:p>
                  </a:txBody>
                  <a:tcPr marL="82296" marR="64008" marT="32004" marB="32004" anchor="ctr">
                    <a:solidFill>
                      <a:srgbClr val="FFFFF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FFFFF"/>
                    </a:solidFill>
                  </a:tcPr>
                </a:tc>
                <a:tc>
                  <a:txBody>
                    <a:bodyPr wrap="square"/>
                    <a:lstStyle/>
                    <a:p>
                      <a:pPr algn="l"/>
                      <a:r>
                        <a:rPr sz="1050" b="0">
                          <a:solidFill>
                            <a:srgbClr val="1C1C1E"/>
                          </a:solidFill>
                          <a:latin typeface="Calibri"/>
                        </a:rPr>
                        <a:t>llm.agent</a:t>
                      </a:r>
                    </a:p>
                  </a:txBody>
                  <a:tcPr marL="82296" marR="64008" marT="32004" marB="32004" anchor="ctr">
                    <a:solidFill>
                      <a:srgbClr val="FFFFFF"/>
                    </a:solidFill>
                  </a:tcPr>
                </a:tc>
                <a:tc>
                  <a:txBody>
                    <a:bodyPr wrap="square"/>
                    <a:lstStyle/>
                    <a:p>
                      <a:pPr algn="l"/>
                      <a:r>
                        <a:rPr sz="1050" b="0">
                          <a:solidFill>
                            <a:srgbClr val="1C1C1E"/>
                          </a:solidFill>
                          <a:latin typeface="Calibri"/>
                        </a:rPr>
                        <a:t>generate</a:t>
                      </a:r>
                    </a:p>
                  </a:txBody>
                  <a:tcPr marL="82296" marR="64008" marT="32004" marB="32004" anchor="ctr">
                    <a:solidFill>
                      <a:srgbClr val="FFFFFF"/>
                    </a:solidFill>
                  </a:tcPr>
                </a:tc>
                <a:tc>
                  <a:txBody>
                    <a:bodyPr wrap="square"/>
                    <a:lstStyle/>
                    <a:p>
                      <a:pPr algn="l"/>
                      <a:r>
                        <a:rPr sz="1050" b="0">
                          <a:solidFill>
                            <a:srgbClr val="1C1C1E"/>
                          </a:solidFill>
                          <a:latin typeface="Calibri"/>
                        </a:rPr>
                        <a:t>document_corpus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Treasury spreadsheet</a:t>
                      </a:r>
                    </a:p>
                  </a:txBody>
                  <a:tcPr marL="82296" marR="64008" marT="32004" marB="32004" anchor="ctr">
                    <a:solidFill>
                      <a:srgbClr val="F6F3EF"/>
                    </a:solidFill>
                  </a:tcPr>
                </a:tc>
                <a:tc>
                  <a:txBody>
                    <a:bodyPr wrap="square"/>
                    <a:lstStyle/>
                    <a:p>
                      <a:pPr algn="l"/>
                      <a:r>
                        <a:rPr sz="1050" b="0">
                          <a:solidFill>
                            <a:srgbClr val="1C1C1E"/>
                          </a:solidFill>
                          <a:latin typeface="Calibri"/>
                        </a:rPr>
                        <a:t>rule_set  (T8)</a:t>
                      </a:r>
                    </a:p>
                  </a:txBody>
                  <a:tcPr marL="82296" marR="64008" marT="32004" marB="32004" anchor="ctr">
                    <a:solidFill>
                      <a:srgbClr val="F6F3EF"/>
                    </a:solidFill>
                  </a:tcPr>
                </a:tc>
                <a:tc>
                  <a:txBody>
                    <a:bodyPr wrap="square"/>
                    <a:lstStyle/>
                    <a:p>
                      <a:pPr algn="l"/>
                      <a:r>
                        <a:rPr sz="1050" b="0">
                          <a:solidFill>
                            <a:srgbClr val="1C1C1E"/>
                          </a:solidFill>
                          <a:latin typeface="Calibri"/>
                        </a:rPr>
                        <a:t>spreadsheet</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request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VaR backtest</a:t>
                      </a:r>
                    </a:p>
                  </a:txBody>
                  <a:tcPr marL="82296" marR="64008" marT="32004" marB="32004" anchor="ctr">
                    <a:solidFill>
                      <a:srgbClr val="FFFFF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FFFFF"/>
                    </a:solidFill>
                  </a:tcPr>
                </a:tc>
                <a:tc>
                  <a:txBody>
                    <a:bodyPr wrap="square"/>
                    <a:lstStyle/>
                    <a:p>
                      <a:pPr algn="l"/>
                      <a:r>
                        <a:rPr sz="1050" b="0">
                          <a:solidFill>
                            <a:srgbClr val="1C1C1E"/>
                          </a:solidFill>
                          <a:latin typeface="Calibri"/>
                        </a:rPr>
                        <a:t>python.callable</a:t>
                      </a:r>
                    </a:p>
                  </a:txBody>
                  <a:tcPr marL="82296" marR="64008" marT="32004" marB="32004" anchor="ctr">
                    <a:solidFill>
                      <a:srgbClr val="FFFFFF"/>
                    </a:solidFill>
                  </a:tcPr>
                </a:tc>
                <a:tc>
                  <a:txBody>
                    <a:bodyPr wrap="square"/>
                    <a:lstStyle/>
                    <a:p>
                      <a:pPr algn="l"/>
                      <a:r>
                        <a:rPr sz="1050" b="0">
                          <a:solidFill>
                            <a:srgbClr val="1C1C1E"/>
                          </a:solidFill>
                          <a:latin typeface="Calibri"/>
                        </a:rPr>
                        <a:t>backtest</a:t>
                      </a:r>
                    </a:p>
                  </a:txBody>
                  <a:tcPr marL="82296" marR="64008" marT="32004" marB="32004" anchor="ctr">
                    <a:solidFill>
                      <a:srgbClr val="FFFFF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FFFFF"/>
                    </a:solidFill>
                  </a:tcPr>
                </a:tc>
              </a:tr>
            </a:tbl>
          </a:graphicData>
        </a:graphic>
      </p:graphicFrame>
      <p:sp>
        <p:nvSpPr>
          <p:cNvPr id="11" name="Rectangle 10"/>
          <p:cNvSpPr/>
          <p:nvPr/>
        </p:nvSpPr>
        <p:spPr>
          <a:xfrm>
            <a:off x="777240" y="5381269"/>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81269"/>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5490997"/>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TextBox 9"/>
          <p:cNvSpPr txBox="1"/>
          <p:nvPr/>
        </p:nvSpPr>
        <p:spPr>
          <a:xfrm>
            <a:off x="777240" y="1353312"/>
            <a:ext cx="10637215" cy="512064"/>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The load-bearing laws are not invented for the grammar. They fall out of the algebra: the trainability class is DERIVED from how the parameter object is inhabited, so what a class admits is what the class means.</a:t>
            </a:r>
          </a:p>
        </p:txBody>
      </p:sp>
      <p:graphicFrame>
        <p:nvGraphicFramePr>
          <p:cNvPr id="11" name="Table 10"/>
          <p:cNvGraphicFramePr>
            <a:graphicFrameLocks noGrp="1"/>
          </p:cNvGraphicFramePr>
          <p:nvPr/>
        </p:nvGraphicFramePr>
        <p:xfrm>
          <a:off x="777240" y="1956816"/>
          <a:ext cx="10637214" cy="3150133"/>
        </p:xfrm>
        <a:graphic>
          <a:graphicData uri="http://schemas.openxmlformats.org/drawingml/2006/table">
            <a:tbl>
              <a:tblPr firstRow="1">
                <a:tableStyleId>{5C22544A-7EE6-4342-B048-85BDC9FD1C3A}</a:tableStyleId>
              </a:tblPr>
              <a:tblGrid>
                <a:gridCol w="1008701"/>
                <a:gridCol w="3301204"/>
                <a:gridCol w="6327309"/>
              </a:tblGrid>
              <a:tr h="333781">
                <a:tc>
                  <a:txBody>
                    <a:bodyPr wrap="square"/>
                    <a:lstStyle/>
                    <a:p>
                      <a:pPr algn="l"/>
                      <a:r>
                        <a:rPr sz="1100" b="1">
                          <a:solidFill>
                            <a:srgbClr val="FFFFFF"/>
                          </a:solidFill>
                          <a:latin typeface="Calibri"/>
                        </a:rPr>
                        <a:t>Law</a:t>
                      </a:r>
                    </a:p>
                  </a:txBody>
                  <a:tcPr marL="82296" marR="64008" marT="32004" marB="32004" anchor="ctr">
                    <a:solidFill>
                      <a:srgbClr val="A51C30"/>
                    </a:solidFill>
                  </a:tcPr>
                </a:tc>
                <a:tc>
                  <a:txBody>
                    <a:bodyPr wrap="square"/>
                    <a:lstStyle/>
                    <a:p>
                      <a:pPr algn="l"/>
                      <a:r>
                        <a:rPr sz="1100" b="1">
                          <a:solidFill>
                            <a:srgbClr val="FFFFFF"/>
                          </a:solidFill>
                          <a:latin typeface="Calibri"/>
                        </a:rPr>
                        <a:t>Refuses</a:t>
                      </a:r>
                    </a:p>
                  </a:txBody>
                  <a:tcPr marL="82296" marR="64008" marT="32004" marB="32004" anchor="ctr">
                    <a:solidFill>
                      <a:srgbClr val="A51C30"/>
                    </a:solidFill>
                  </a:tcPr>
                </a:tc>
                <a:tc>
                  <a:txBody>
                    <a:bodyPr wrap="square"/>
                    <a:lstStyle/>
                    <a:p>
                      <a:pPr algn="l"/>
                      <a:r>
                        <a:rPr sz="1100" b="1">
                          <a:solidFill>
                            <a:srgbClr val="FFFFFF"/>
                          </a:solidFill>
                          <a:latin typeface="Calibri"/>
                        </a:rPr>
                        <a:t>Because</a:t>
                      </a:r>
                    </a:p>
                  </a:txBody>
                  <a:tcPr marL="82296" marR="64008" marT="32004" marB="32004" anchor="ctr">
                    <a:solidFill>
                      <a:srgbClr val="A51C30"/>
                    </a:solidFill>
                  </a:tcPr>
                </a:tc>
              </a:tr>
              <a:tr h="402336">
                <a:tc>
                  <a:txBody>
                    <a:bodyPr wrap="square"/>
                    <a:lstStyle/>
                    <a:p>
                      <a:pPr algn="l"/>
                      <a:r>
                        <a:rPr sz="1050" b="1">
                          <a:solidFill>
                            <a:srgbClr val="A51C30"/>
                          </a:solidFill>
                          <a:latin typeface="Calibri"/>
                        </a:rPr>
                        <a:t>L-W1</a:t>
                      </a:r>
                    </a:p>
                  </a:txBody>
                  <a:tcPr marL="82296" marR="64008" marT="32004" marB="32004" anchor="ctr">
                    <a:solidFill>
                      <a:srgbClr val="FFFFFF"/>
                    </a:solidFill>
                  </a:tcPr>
                </a:tc>
                <a:tc>
                  <a:txBody>
                    <a:bodyPr wrap="square"/>
                    <a:lstStyle/>
                    <a:p>
                      <a:pPr algn="l"/>
                      <a:r>
                        <a:rPr sz="1050" b="0">
                          <a:solidFill>
                            <a:srgbClr val="1C1C1E"/>
                          </a:solidFill>
                          <a:latin typeface="Calibri"/>
                        </a:rPr>
                        <a:t>fit on T0 or T6</a:t>
                      </a:r>
                    </a:p>
                  </a:txBody>
                  <a:tcPr marL="82296" marR="64008" marT="32004" marB="32004" anchor="ctr">
                    <a:solidFill>
                      <a:srgbClr val="FFFFFF"/>
                    </a:solidFill>
                  </a:tcPr>
                </a:tc>
                <a:tc>
                  <a:txBody>
                    <a:bodyPr wrap="square"/>
                    <a:lstStyle/>
                    <a:p>
                      <a:pPr algn="l"/>
                      <a:r>
                        <a:rPr sz="1050" b="0">
                          <a:solidFill>
                            <a:srgbClr val="1C1C1E"/>
                          </a:solidFill>
                          <a:latin typeface="Calibri"/>
                        </a:rPr>
                        <a:t>T0's parameters come from theory; T6's are inside a vendor black box</a:t>
                      </a:r>
                    </a:p>
                  </a:txBody>
                  <a:tcPr marL="82296" marR="64008" marT="32004" marB="32004" anchor="ctr">
                    <a:solidFill>
                      <a:srgbClr val="FFFFFF"/>
                    </a:solidFill>
                  </a:tcPr>
                </a:tc>
              </a:tr>
              <a:tr h="402336">
                <a:tc>
                  <a:txBody>
                    <a:bodyPr wrap="square"/>
                    <a:lstStyle/>
                    <a:p>
                      <a:pPr algn="l"/>
                      <a:r>
                        <a:rPr sz="1050" b="1">
                          <a:solidFill>
                            <a:srgbClr val="A51C30"/>
                          </a:solidFill>
                          <a:latin typeface="Calibri"/>
                        </a:rPr>
                        <a:t>L-W2</a:t>
                      </a:r>
                    </a:p>
                  </a:txBody>
                  <a:tcPr marL="82296" marR="64008" marT="32004" marB="32004" anchor="ctr">
                    <a:solidFill>
                      <a:srgbClr val="F6F3EF"/>
                    </a:solidFill>
                  </a:tcPr>
                </a:tc>
                <a:tc>
                  <a:txBody>
                    <a:bodyPr wrap="square"/>
                    <a:lstStyle/>
                    <a:p>
                      <a:pPr algn="l"/>
                      <a:r>
                        <a:rPr sz="1050" b="0">
                          <a:solidFill>
                            <a:srgbClr val="1C1C1E"/>
                          </a:solidFill>
                          <a:latin typeface="Calibri"/>
                        </a:rPr>
                        <a:t>generate on a non-generative runtime</a:t>
                      </a:r>
                    </a:p>
                  </a:txBody>
                  <a:tcPr marL="82296" marR="64008" marT="32004" marB="32004" anchor="ctr">
                    <a:solidFill>
                      <a:srgbClr val="F6F3EF"/>
                    </a:solidFill>
                  </a:tcPr>
                </a:tc>
                <a:tc>
                  <a:txBody>
                    <a:bodyPr wrap="square"/>
                    <a:lstStyle/>
                    <a:p>
                      <a:pPr algn="l"/>
                      <a:r>
                        <a:rPr sz="1050" b="0">
                          <a:solidFill>
                            <a:srgbClr val="1C1C1E"/>
                          </a:solidFill>
                          <a:latin typeface="Calibri"/>
                        </a:rPr>
                        <a:t>an ONNX graph does not produce prose</a:t>
                      </a:r>
                    </a:p>
                  </a:txBody>
                  <a:tcPr marL="82296" marR="64008" marT="32004" marB="32004" anchor="ctr">
                    <a:solidFill>
                      <a:srgbClr val="F6F3EF"/>
                    </a:solidFill>
                  </a:tcPr>
                </a:tc>
              </a:tr>
              <a:tr h="402336">
                <a:tc>
                  <a:txBody>
                    <a:bodyPr wrap="square"/>
                    <a:lstStyle/>
                    <a:p>
                      <a:pPr algn="l"/>
                      <a:r>
                        <a:rPr sz="1050" b="1">
                          <a:solidFill>
                            <a:srgbClr val="A51C30"/>
                          </a:solidFill>
                          <a:latin typeface="Calibri"/>
                        </a:rPr>
                        <a:t>L-W3</a:t>
                      </a:r>
                    </a:p>
                  </a:txBody>
                  <a:tcPr marL="82296" marR="64008" marT="32004" marB="32004" anchor="ctr">
                    <a:solidFill>
                      <a:srgbClr val="FFFFFF"/>
                    </a:solidFill>
                  </a:tcPr>
                </a:tc>
                <a:tc>
                  <a:txBody>
                    <a:bodyPr wrap="square"/>
                    <a:lstStyle/>
                    <a:p>
                      <a:pPr algn="l"/>
                      <a:r>
                        <a:rPr sz="1050" b="0">
                          <a:solidFill>
                            <a:srgbClr val="1C1C1E"/>
                          </a:solidFill>
                          <a:latin typeface="Calibri"/>
                        </a:rPr>
                        <a:t>training from a non-bitemporal source</a:t>
                      </a:r>
                    </a:p>
                  </a:txBody>
                  <a:tcPr marL="82296" marR="64008" marT="32004" marB="32004" anchor="ctr">
                    <a:solidFill>
                      <a:srgbClr val="FFFFFF"/>
                    </a:solidFill>
                  </a:tcPr>
                </a:tc>
                <a:tc>
                  <a:txBody>
                    <a:bodyPr wrap="square"/>
                    <a:lstStyle/>
                    <a:p>
                      <a:pPr algn="l"/>
                      <a:r>
                        <a:rPr sz="1050" b="0">
                          <a:solidFill>
                            <a:srgbClr val="1C1C1E"/>
                          </a:solidFill>
                          <a:latin typeface="Calibri"/>
                        </a:rPr>
                        <a:t>it cannot be shown point-in-time correct, so not shown leak-free</a:t>
                      </a:r>
                    </a:p>
                  </a:txBody>
                  <a:tcPr marL="82296" marR="64008" marT="32004" marB="32004" anchor="ctr">
                    <a:solidFill>
                      <a:srgbClr val="FFFFFF"/>
                    </a:solidFill>
                  </a:tcPr>
                </a:tc>
              </a:tr>
              <a:tr h="402336">
                <a:tc>
                  <a:txBody>
                    <a:bodyPr wrap="square"/>
                    <a:lstStyle/>
                    <a:p>
                      <a:pPr algn="l"/>
                      <a:r>
                        <a:rPr sz="1050" b="1">
                          <a:solidFill>
                            <a:srgbClr val="A51C30"/>
                          </a:solidFill>
                          <a:latin typeface="Calibri"/>
                        </a:rPr>
                        <a:t>L-W4</a:t>
                      </a:r>
                    </a:p>
                  </a:txBody>
                  <a:tcPr marL="82296" marR="64008" marT="32004" marB="32004" anchor="ctr">
                    <a:solidFill>
                      <a:srgbClr val="F6F3EF"/>
                    </a:solidFill>
                  </a:tcPr>
                </a:tc>
                <a:tc>
                  <a:txBody>
                    <a:bodyPr wrap="square"/>
                    <a:lstStyle/>
                    <a:p>
                      <a:pPr algn="l"/>
                      <a:r>
                        <a:rPr sz="1050" b="0">
                          <a:solidFill>
                            <a:srgbClr val="1C1C1E"/>
                          </a:solidFill>
                          <a:latin typeface="Calibri"/>
                        </a:rPr>
                        <a:t>a fit with no parameter_object sink</a:t>
                      </a:r>
                    </a:p>
                  </a:txBody>
                  <a:tcPr marL="82296" marR="64008" marT="32004" marB="32004" anchor="ctr">
                    <a:solidFill>
                      <a:srgbClr val="F6F3EF"/>
                    </a:solidFill>
                  </a:tcPr>
                </a:tc>
                <a:tc>
                  <a:txBody>
                    <a:bodyPr wrap="square"/>
                    <a:lstStyle/>
                    <a:p>
                      <a:pPr algn="l"/>
                      <a:r>
                        <a:rPr sz="1050" b="0">
                          <a:solidFill>
                            <a:srgbClr val="1C1C1E"/>
                          </a:solidFill>
                          <a:latin typeface="Calibri"/>
                        </a:rPr>
                        <a:t>a fit produces a NEW parameter object, it does not edit the old one</a:t>
                      </a:r>
                    </a:p>
                  </a:txBody>
                  <a:tcPr marL="82296" marR="64008" marT="32004" marB="32004" anchor="ctr">
                    <a:solidFill>
                      <a:srgbClr val="F6F3EF"/>
                    </a:solidFill>
                  </a:tcPr>
                </a:tc>
              </a:tr>
              <a:tr h="402336">
                <a:tc>
                  <a:txBody>
                    <a:bodyPr wrap="square"/>
                    <a:lstStyle/>
                    <a:p>
                      <a:pPr algn="l"/>
                      <a:r>
                        <a:rPr sz="1050" b="1">
                          <a:solidFill>
                            <a:srgbClr val="A51C30"/>
                          </a:solidFill>
                          <a:latin typeface="Calibri"/>
                        </a:rPr>
                        <a:t>L-W5</a:t>
                      </a:r>
                    </a:p>
                  </a:txBody>
                  <a:tcPr marL="82296" marR="64008" marT="32004" marB="32004" anchor="ctr">
                    <a:solidFill>
                      <a:srgbClr val="FFFFFF"/>
                    </a:solidFill>
                  </a:tcPr>
                </a:tc>
                <a:tc>
                  <a:txBody>
                    <a:bodyPr wrap="square"/>
                    <a:lstStyle/>
                    <a:p>
                      <a:pPr algn="l"/>
                      <a:r>
                        <a:rPr sz="1050" b="0">
                          <a:solidFill>
                            <a:srgbClr val="1C1C1E"/>
                          </a:solidFill>
                          <a:latin typeface="Calibri"/>
                        </a:rPr>
                        <a:t>claimed determinism with no seed</a:t>
                      </a:r>
                    </a:p>
                  </a:txBody>
                  <a:tcPr marL="82296" marR="64008" marT="32004" marB="32004" anchor="ctr">
                    <a:solidFill>
                      <a:srgbClr val="FFFFFF"/>
                    </a:solidFill>
                  </a:tcPr>
                </a:tc>
                <a:tc>
                  <a:txBody>
                    <a:bodyPr wrap="square"/>
                    <a:lstStyle/>
                    <a:p>
                      <a:pPr algn="l"/>
                      <a:r>
                        <a:rPr sz="1050" b="0">
                          <a:solidFill>
                            <a:srgbClr val="1C1C1E"/>
                          </a:solidFill>
                          <a:latin typeface="Calibri"/>
                        </a:rPr>
                        <a:t>an LLM at temperature 0.7 is not reproducible, and would be believed</a:t>
                      </a:r>
                    </a:p>
                  </a:txBody>
                  <a:tcPr marL="82296" marR="64008" marT="32004" marB="32004" anchor="ctr">
                    <a:solidFill>
                      <a:srgbClr val="FFFFFF"/>
                    </a:solidFill>
                  </a:tcPr>
                </a:tc>
              </a:tr>
              <a:tr h="402336">
                <a:tc>
                  <a:txBody>
                    <a:bodyPr wrap="square"/>
                    <a:lstStyle/>
                    <a:p>
                      <a:pPr algn="l"/>
                      <a:r>
                        <a:rPr sz="1050" b="1">
                          <a:solidFill>
                            <a:srgbClr val="A51C30"/>
                          </a:solidFill>
                          <a:latin typeface="Calibri"/>
                        </a:rPr>
                        <a:t>L-W6</a:t>
                      </a:r>
                    </a:p>
                  </a:txBody>
                  <a:tcPr marL="82296" marR="64008" marT="32004" marB="32004" anchor="ctr">
                    <a:solidFill>
                      <a:srgbClr val="F6F3EF"/>
                    </a:solidFill>
                  </a:tcPr>
                </a:tc>
                <a:tc>
                  <a:txBody>
                    <a:bodyPr wrap="square"/>
                    <a:lstStyle/>
                    <a:p>
                      <a:pPr algn="l"/>
                      <a:r>
                        <a:rPr sz="1050" b="0">
                          <a:solidFill>
                            <a:srgbClr val="1C1C1E"/>
                          </a:solidFill>
                          <a:latin typeface="Calibri"/>
                        </a:rPr>
                        <a:t>fit on a descriptor-only model</a:t>
                      </a:r>
                    </a:p>
                  </a:txBody>
                  <a:tcPr marL="82296" marR="64008" marT="32004" marB="32004" anchor="ctr">
                    <a:solidFill>
                      <a:srgbClr val="F6F3EF"/>
                    </a:solidFill>
                  </a:tcPr>
                </a:tc>
                <a:tc>
                  <a:txBody>
                    <a:bodyPr wrap="square"/>
                    <a:lstStyle/>
                    <a:p>
                      <a:pPr algn="l"/>
                      <a:r>
                        <a:rPr sz="1050" b="0">
                          <a:solidFill>
                            <a:srgbClr val="1C1C1E"/>
                          </a:solidFill>
                          <a:latin typeface="Calibri"/>
                        </a:rPr>
                        <a:t>you cannot inhabit what nothing on this side can reach</a:t>
                      </a:r>
                    </a:p>
                  </a:txBody>
                  <a:tcPr marL="82296" marR="64008" marT="32004" marB="32004" anchor="ctr">
                    <a:solidFill>
                      <a:srgbClr val="F6F3EF"/>
                    </a:solidFill>
                  </a:tcPr>
                </a:tc>
              </a:tr>
              <a:tr h="402336">
                <a:tc>
                  <a:txBody>
                    <a:bodyPr wrap="square"/>
                    <a:lstStyle/>
                    <a:p>
                      <a:pPr algn="l"/>
                      <a:r>
                        <a:rPr sz="1050" b="1">
                          <a:solidFill>
                            <a:srgbClr val="A51C30"/>
                          </a:solidFill>
                          <a:latin typeface="Calibri"/>
                        </a:rPr>
                        <a:t>L-W7</a:t>
                      </a:r>
                    </a:p>
                  </a:txBody>
                  <a:tcPr marL="82296" marR="64008" marT="32004" marB="32004" anchor="ctr">
                    <a:solidFill>
                      <a:srgbClr val="FFFFFF"/>
                    </a:solidFill>
                  </a:tcPr>
                </a:tc>
                <a:tc>
                  <a:txBody>
                    <a:bodyPr wrap="square"/>
                    <a:lstStyle/>
                    <a:p>
                      <a:pPr algn="l"/>
                      <a:r>
                        <a:rPr sz="1050" b="0">
                          <a:solidFill>
                            <a:srgbClr val="1C1C1E"/>
                          </a:solidFill>
                          <a:latin typeface="Calibri"/>
                        </a:rPr>
                        <a:t>a backtest with no outcomes</a:t>
                      </a:r>
                    </a:p>
                  </a:txBody>
                  <a:tcPr marL="82296" marR="64008" marT="32004" marB="32004" anchor="ctr">
                    <a:solidFill>
                      <a:srgbClr val="FFFFFF"/>
                    </a:solidFill>
                  </a:tcPr>
                </a:tc>
                <a:tc>
                  <a:txBody>
                    <a:bodyPr wrap="square"/>
                    <a:lstStyle/>
                    <a:p>
                      <a:pPr algn="l"/>
                      <a:r>
                        <a:rPr sz="1050" b="0">
                          <a:solidFill>
                            <a:srgbClr val="1C1C1E"/>
                          </a:solidFill>
                          <a:latin typeface="Calibri"/>
                        </a:rPr>
                        <a:t>that is a re-score wearing a backtest's name</a:t>
                      </a:r>
                    </a:p>
                  </a:txBody>
                  <a:tcPr marL="82296" marR="64008" marT="32004" marB="32004" anchor="ctr">
                    <a:solidFill>
                      <a:srgbClr val="FFFFFF"/>
                    </a:solidFill>
                  </a:tcPr>
                </a:tc>
              </a:tr>
            </a:tbl>
          </a:graphicData>
        </a:graphic>
      </p:graphicFrame>
      <p:sp>
        <p:nvSpPr>
          <p:cNvPr id="12" name="Rectangle 11"/>
          <p:cNvSpPr/>
          <p:nvPr/>
        </p:nvSpPr>
        <p:spPr>
          <a:xfrm>
            <a:off x="777240" y="5326405"/>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5326405"/>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51560" y="5436133"/>
            <a:ext cx="10088575" cy="512064"/>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Validated before signed, never after. </a:t>
            </a:r>
            <a:r>
              <a:rPr sz="1150" b="0" i="0">
                <a:solidFill>
                  <a:srgbClr val="1C1C1E"/>
                </a:solidFill>
                <a:latin typeface="Calibri"/>
              </a:rPr>
              <a:t>A signature over a non-conforming document would assure that it is authentic and not that it is usable — and an engine would reasonably read it as both.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HOT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Rectangle 9"/>
          <p:cNvSpPr/>
          <p:nvPr/>
        </p:nvSpPr>
        <p:spPr>
          <a:xfrm>
            <a:off x="777240" y="1353312"/>
            <a:ext cx="6382329" cy="38476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476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maya/warrants/resolver.py</a:t>
            </a:r>
          </a:p>
        </p:txBody>
      </p:sp>
      <p:sp>
        <p:nvSpPr>
          <p:cNvPr id="13" name="TextBox 12"/>
          <p:cNvSpPr txBox="1"/>
          <p:nvPr/>
        </p:nvSpPr>
        <p:spPr>
          <a:xfrm>
            <a:off x="978408" y="1746504"/>
            <a:ext cx="6016569" cy="3372170"/>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def resolve(req) -&gt; WarrantDescriptor:</a:t>
            </a:r>
          </a:p>
          <a:p>
            <a:pPr>
              <a:lnSpc>
                <a:spcPct val="134000"/>
              </a:lnSpc>
              <a:spcBef>
                <a:spcPts val="0"/>
              </a:spcBef>
              <a:spcAft>
                <a:spcPts val="0"/>
              </a:spcAft>
            </a:pPr>
            <a:r>
              <a:rPr sz="900" b="0" i="0">
                <a:solidFill>
                  <a:srgbClr val="1C1C1E"/>
                </a:solidFill>
                <a:latin typeface="Consolas"/>
              </a:rPr>
              <a:t>    principal = authn.verify(req.token)      # workload identity</a:t>
            </a:r>
          </a:p>
          <a:p>
            <a:pPr>
              <a:lnSpc>
                <a:spcPct val="134000"/>
              </a:lnSpc>
              <a:spcBef>
                <a:spcPts val="0"/>
              </a:spcBef>
              <a:spcAft>
                <a:spcPts val="0"/>
              </a:spcAft>
            </a:pPr>
            <a:r>
              <a:rPr sz="900" b="0" i="0">
                <a:solidFill>
                  <a:srgbClr val="1C1C1E"/>
                </a:solidFill>
                <a:latin typeface="Consolas"/>
              </a:rPr>
              <a:t>    key = (req.urn, principal.id, req.environment, req.declared_use_id)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if (d := local_lru.get(key)) and d.fresh(): return d</a:t>
            </a:r>
          </a:p>
          <a:p>
            <a:pPr>
              <a:lnSpc>
                <a:spcPct val="134000"/>
              </a:lnSpc>
              <a:spcBef>
                <a:spcPts val="0"/>
              </a:spcBef>
              <a:spcAft>
                <a:spcPts val="0"/>
              </a:spcAft>
            </a:pPr>
            <a:r>
              <a:rPr sz="900" b="0" i="0">
                <a:solidFill>
                  <a:srgbClr val="1C1C1E"/>
                </a:solidFill>
                <a:latin typeface="Consolas"/>
              </a:rPr>
              <a:t>    if revocations.contains(d): raise Revoked(...)   # floor beats every cache</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with singleflight(key):                  # coalesce concurrent misses</a:t>
            </a:r>
          </a:p>
          <a:p>
            <a:pPr>
              <a:lnSpc>
                <a:spcPct val="134000"/>
              </a:lnSpc>
              <a:spcBef>
                <a:spcPts val="0"/>
              </a:spcBef>
              <a:spcAft>
                <a:spcPts val="0"/>
              </a:spcAft>
            </a:pPr>
            <a:r>
              <a:rPr sz="900" b="0" i="0">
                <a:solidFill>
                  <a:srgbClr val="1C1C1E"/>
                </a:solidFill>
                <a:latin typeface="Consolas"/>
              </a:rPr>
              <a:t>        row = warrant_projection.get(req.urn, req.environment)  # ONLY table read</a:t>
            </a:r>
          </a:p>
          <a:p>
            <a:pPr>
              <a:lnSpc>
                <a:spcPct val="134000"/>
              </a:lnSpc>
              <a:spcBef>
                <a:spcPts val="0"/>
              </a:spcBef>
              <a:spcAft>
                <a:spcPts val="0"/>
              </a:spcAft>
            </a:pPr>
            <a:r>
              <a:rPr sz="900" b="0" i="0">
                <a:solidFill>
                  <a:srgbClr val="1C1C1E"/>
                </a:solidFill>
                <a:latin typeface="Consolas"/>
              </a:rPr>
              <a:t>        if row.revoked:                     raise Revoked(...)</a:t>
            </a:r>
          </a:p>
          <a:p>
            <a:pPr>
              <a:lnSpc>
                <a:spcPct val="134000"/>
              </a:lnSpc>
              <a:spcBef>
                <a:spcPts val="0"/>
              </a:spcBef>
              <a:spcAft>
                <a:spcPts val="0"/>
              </a:spcAft>
            </a:pPr>
            <a:r>
              <a:rPr sz="900" b="0" i="0">
                <a:solidFill>
                  <a:srgbClr val="1C1C1E"/>
                </a:solidFill>
                <a:latin typeface="Consolas"/>
              </a:rPr>
              <a:t>        ent = row.entitlements.get(principal.id)</a:t>
            </a:r>
          </a:p>
          <a:p>
            <a:pPr>
              <a:lnSpc>
                <a:spcPct val="134000"/>
              </a:lnSpc>
              <a:spcBef>
                <a:spcPts val="0"/>
              </a:spcBef>
              <a:spcAft>
                <a:spcPts val="0"/>
              </a:spcAft>
            </a:pPr>
            <a:r>
              <a:rPr sz="900" b="0" i="0">
                <a:solidFill>
                  <a:srgbClr val="1C1C1E"/>
                </a:solidFill>
                <a:latin typeface="Consolas"/>
              </a:rPr>
              <a:t>        if ent is None or ent.model_use_id != req.declared_use_id:</a:t>
            </a:r>
          </a:p>
          <a:p>
            <a:pPr>
              <a:lnSpc>
                <a:spcPct val="134000"/>
              </a:lnSpc>
              <a:spcBef>
                <a:spcPts val="0"/>
              </a:spcBef>
              <a:spcAft>
                <a:spcPts val="0"/>
              </a:spcAft>
            </a:pPr>
            <a:r>
              <a:rPr sz="900" b="0" i="0">
                <a:solidFill>
                  <a:srgbClr val="1C1C1E"/>
                </a:solidFill>
                <a:latin typeface="Consolas"/>
              </a:rPr>
              <a:t>                                            raise NoEntitlement(...)</a:t>
            </a:r>
          </a:p>
          <a:p>
            <a:pPr>
              <a:lnSpc>
                <a:spcPct val="134000"/>
              </a:lnSpc>
              <a:spcBef>
                <a:spcPts val="0"/>
              </a:spcBef>
              <a:spcAft>
                <a:spcPts val="0"/>
              </a:spcAft>
            </a:pPr>
            <a:r>
              <a:rPr sz="900" b="0" i="0">
                <a:solidFill>
                  <a:srgbClr val="1C1C1E"/>
                </a:solidFill>
                <a:latin typeface="Consolas"/>
              </a:rPr>
              <a:t>        if row.governance_snapshot.blocking_findings: raise Restricted(...)</a:t>
            </a:r>
          </a:p>
          <a:p>
            <a:pPr>
              <a:lnSpc>
                <a:spcPct val="134000"/>
              </a:lnSpc>
              <a:spcBef>
                <a:spcPts val="0"/>
              </a:spcBef>
              <a:spcAft>
                <a:spcPts val="0"/>
              </a:spcAft>
            </a:pPr>
            <a:r>
              <a:rPr sz="900" b="0" i="0">
                <a:solidFill>
                  <a:srgbClr val="1C1C1E"/>
                </a:solidFill>
                <a:latin typeface="Consolas"/>
              </a:rPr>
              <a:t>        d = sign(build_descriptor(row, ent, req))</a:t>
            </a:r>
          </a:p>
          <a:p>
            <a:pPr>
              <a:lnSpc>
                <a:spcPct val="134000"/>
              </a:lnSpc>
              <a:spcBef>
                <a:spcPts val="0"/>
              </a:spcBef>
              <a:spcAft>
                <a:spcPts val="0"/>
              </a:spcAft>
            </a:pPr>
            <a:r>
              <a:rPr sz="900" b="0" i="0">
                <a:solidFill>
                  <a:srgbClr val="1C1C1E"/>
                </a:solidFill>
                <a:latin typeface="Consolas"/>
              </a:rPr>
              <a:t>        redis.setex(key, ttl_with_jitter(row.tier), d)</a:t>
            </a:r>
          </a:p>
          <a:p>
            <a:pPr>
              <a:lnSpc>
                <a:spcPct val="134000"/>
              </a:lnSpc>
              <a:spcBef>
                <a:spcPts val="0"/>
              </a:spcBef>
              <a:spcAft>
                <a:spcPts val="0"/>
              </a:spcAft>
            </a:pPr>
            <a:r>
              <a:rPr sz="900" b="0" i="0">
                <a:solidFill>
                  <a:srgbClr val="1C1C1E"/>
                </a:solidFill>
                <a:latin typeface="Consolas"/>
              </a:rPr>
              <a:t>    return d</a:t>
            </a:r>
          </a:p>
        </p:txBody>
      </p:sp>
      <p:sp>
        <p:nvSpPr>
          <p:cNvPr id="14" name="TextBox 13"/>
          <p:cNvSpPr txBox="1"/>
          <p:nvPr/>
        </p:nvSpPr>
        <p:spPr>
          <a:xfrm>
            <a:off x="7585057" y="1353312"/>
            <a:ext cx="3829397" cy="33832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How p99 &lt; 50 ms is met</a:t>
            </a:r>
          </a:p>
          <a:p>
            <a:pPr>
              <a:spcBef>
                <a:spcPts val="700"/>
              </a:spcBef>
              <a:spcAft>
                <a:spcPts val="300"/>
              </a:spcAft>
            </a:pPr>
            <a:r>
              <a:rPr sz="1100" b="1">
                <a:solidFill>
                  <a:srgbClr val="A51C30"/>
                </a:solidFill>
                <a:latin typeface="Calibri"/>
              </a:rPr>
              <a:t>▪  </a:t>
            </a:r>
            <a:r>
              <a:rPr sz="1100" b="1">
                <a:solidFill>
                  <a:srgbClr val="1C1C1E"/>
                </a:solidFill>
                <a:latin typeface="Calibri"/>
              </a:rPr>
              <a:t>Never touch the primary</a:t>
            </a:r>
          </a:p>
          <a:p>
            <a:pPr lvl="1">
              <a:spcBef>
                <a:spcPts val="0"/>
              </a:spcBef>
              <a:spcAft>
                <a:spcPts val="0"/>
              </a:spcAft>
            </a:pPr>
            <a:r>
              <a:rPr sz="950">
                <a:solidFill>
                  <a:srgbClr val="4A4F57"/>
                </a:solidFill>
                <a:latin typeface="Calibri"/>
              </a:rPr>
              <a:t>warrant_projection is served from a read replica — and it is the ONLY table this service knows</a:t>
            </a:r>
          </a:p>
          <a:p>
            <a:pPr>
              <a:spcBef>
                <a:spcPts val="700"/>
              </a:spcBef>
              <a:spcAft>
                <a:spcPts val="300"/>
              </a:spcAft>
            </a:pPr>
            <a:r>
              <a:rPr sz="1100" b="1">
                <a:solidFill>
                  <a:srgbClr val="A51C30"/>
                </a:solidFill>
                <a:latin typeface="Calibri"/>
              </a:rPr>
              <a:t>▪  </a:t>
            </a:r>
            <a:r>
              <a:rPr sz="1100" b="1">
                <a:solidFill>
                  <a:srgbClr val="1C1C1E"/>
                </a:solidFill>
                <a:latin typeface="Calibri"/>
              </a:rPr>
              <a:t>Common case is a Redis GET</a:t>
            </a:r>
          </a:p>
          <a:p>
            <a:pPr lvl="1">
              <a:spcBef>
                <a:spcPts val="0"/>
              </a:spcBef>
              <a:spcAft>
                <a:spcPts val="0"/>
              </a:spcAft>
            </a:pPr>
            <a:r>
              <a:rPr sz="950">
                <a:solidFill>
                  <a:srgbClr val="4A4F57"/>
                </a:solidFill>
                <a:latin typeface="Calibri"/>
              </a:rPr>
              <a:t>plus one Ed25519 verification</a:t>
            </a:r>
          </a:p>
          <a:p>
            <a:pPr>
              <a:spcBef>
                <a:spcPts val="700"/>
              </a:spcBef>
              <a:spcAft>
                <a:spcPts val="300"/>
              </a:spcAft>
            </a:pPr>
            <a:r>
              <a:rPr sz="1100" b="1">
                <a:solidFill>
                  <a:srgbClr val="A51C30"/>
                </a:solidFill>
                <a:latin typeface="Calibri"/>
              </a:rPr>
              <a:t>▪  </a:t>
            </a:r>
            <a:r>
              <a:rPr sz="1100" b="1">
                <a:solidFill>
                  <a:srgbClr val="1C1C1E"/>
                </a:solidFill>
                <a:latin typeface="Calibri"/>
              </a:rPr>
              <a:t>Two cache tiers</a:t>
            </a:r>
          </a:p>
          <a:p>
            <a:pPr lvl="1">
              <a:spcBef>
                <a:spcPts val="0"/>
              </a:spcBef>
              <a:spcAft>
                <a:spcPts val="0"/>
              </a:spcAft>
            </a:pPr>
            <a:r>
              <a:rPr sz="950">
                <a:solidFill>
                  <a:srgbClr val="4A4F57"/>
                </a:solidFill>
                <a:latin typeface="Calibri"/>
              </a:rPr>
              <a:t>in-process LRU in front of Redis</a:t>
            </a:r>
          </a:p>
          <a:p>
            <a:pPr>
              <a:spcBef>
                <a:spcPts val="700"/>
              </a:spcBef>
              <a:spcAft>
                <a:spcPts val="300"/>
              </a:spcAft>
            </a:pPr>
            <a:r>
              <a:rPr sz="1100" b="1">
                <a:solidFill>
                  <a:srgbClr val="A51C30"/>
                </a:solidFill>
                <a:latin typeface="Calibri"/>
              </a:rPr>
              <a:t>▪  </a:t>
            </a:r>
            <a:r>
              <a:rPr sz="1100" b="1">
                <a:solidFill>
                  <a:srgbClr val="1C1C1E"/>
                </a:solidFill>
                <a:latin typeface="Calibri"/>
              </a:rPr>
              <a:t>Schema decoupling</a:t>
            </a:r>
          </a:p>
          <a:p>
            <a:pPr lvl="1">
              <a:spcBef>
                <a:spcPts val="0"/>
              </a:spcBef>
              <a:spcAft>
                <a:spcPts val="0"/>
              </a:spcAft>
            </a:pPr>
            <a:r>
              <a:rPr sz="950">
                <a:solidFill>
                  <a:srgbClr val="4A4F57"/>
                </a:solidFill>
                <a:latin typeface="Calibri"/>
              </a:rPr>
              <a:t>the projection is a published contract with its own version, so a control-plane migration cannot break the one component that must never break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TWO FAILURE MODES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Stampede control and revocation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Stampede — a routine operation, not an incident</a:t>
            </a:r>
          </a:p>
        </p:txBody>
      </p:sp>
      <p:graphicFrame>
        <p:nvGraphicFramePr>
          <p:cNvPr id="11" name="Table 10"/>
          <p:cNvGraphicFramePr>
            <a:graphicFrameLocks noGrp="1"/>
          </p:cNvGraphicFramePr>
          <p:nvPr/>
        </p:nvGraphicFramePr>
        <p:xfrm>
          <a:off x="777240" y="1719072"/>
          <a:ext cx="4999490" cy="1820951"/>
        </p:xfrm>
        <a:graphic>
          <a:graphicData uri="http://schemas.openxmlformats.org/drawingml/2006/table">
            <a:tbl>
              <a:tblPr firstRow="1">
                <a:tableStyleId>{5C22544A-7EE6-4342-B048-85BDC9FD1C3A}</a:tableStyleId>
              </a:tblPr>
              <a:tblGrid>
                <a:gridCol w="1999796"/>
                <a:gridCol w="2999694"/>
              </a:tblGrid>
              <a:tr h="329184">
                <a:tc>
                  <a:txBody>
                    <a:bodyPr wrap="square"/>
                    <a:lstStyle/>
                    <a:p>
                      <a:pPr algn="l"/>
                      <a:r>
                        <a:rPr sz="1050" b="1">
                          <a:solidFill>
                            <a:srgbClr val="FFFFFF"/>
                          </a:solidFill>
                          <a:latin typeface="Calibri"/>
                        </a:rPr>
                        <a:t>Control</a:t>
                      </a:r>
                    </a:p>
                  </a:txBody>
                  <a:tcPr marL="82296" marR="64008" marT="32004" marB="32004" anchor="ctr">
                    <a:solidFill>
                      <a:srgbClr val="A51C30"/>
                    </a:solidFill>
                  </a:tcPr>
                </a:tc>
                <a:tc>
                  <a:txBody>
                    <a:bodyPr wrap="square"/>
                    <a:lstStyle/>
                    <a:p>
                      <a:pPr algn="l"/>
                      <a:r>
                        <a:rPr sz="1050" b="1">
                          <a:solidFill>
                            <a:srgbClr val="FFFFFF"/>
                          </a:solidFill>
                          <a:latin typeface="Calibri"/>
                        </a:rPr>
                        <a:t>What it prevents</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Pre-warm before invalidate</a:t>
                      </a:r>
                    </a:p>
                  </a:txBody>
                  <a:tcPr marL="82296" marR="64008" marT="32004" marB="32004" anchor="ctr">
                    <a:solidFill>
                      <a:srgbClr val="FFFFFF"/>
                    </a:solidFill>
                  </a:tcPr>
                </a:tc>
                <a:tc>
                  <a:txBody>
                    <a:bodyPr wrap="square"/>
                    <a:lstStyle/>
                    <a:p>
                      <a:pPr algn="l"/>
                      <a:r>
                        <a:rPr sz="1050" b="0">
                          <a:solidFill>
                            <a:srgbClr val="1C1C1E"/>
                          </a:solidFill>
                          <a:latin typeface="Calibri"/>
                        </a:rPr>
                        <a:t>The cache is never empty for a hot alias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Single-flight coalescing</a:t>
                      </a:r>
                    </a:p>
                  </a:txBody>
                  <a:tcPr marL="82296" marR="64008" marT="32004" marB="32004" anchor="ctr">
                    <a:solidFill>
                      <a:srgbClr val="F6F3EF"/>
                    </a:solidFill>
                  </a:tcPr>
                </a:tc>
                <a:tc>
                  <a:txBody>
                    <a:bodyPr wrap="square"/>
                    <a:lstStyle/>
                    <a:p>
                      <a:pPr algn="l"/>
                      <a:r>
                        <a:rPr sz="1050" b="0">
                          <a:solidFill>
                            <a:srgbClr val="1C1C1E"/>
                          </a:solidFill>
                          <a:latin typeface="Calibri"/>
                        </a:rPr>
                        <a:t>N concurrent misses become one backend call</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TTL jitter ±20%</a:t>
                      </a:r>
                    </a:p>
                  </a:txBody>
                  <a:tcPr marL="82296" marR="64008" marT="32004" marB="32004" anchor="ctr">
                    <a:solidFill>
                      <a:srgbClr val="FFFFFF"/>
                    </a:solidFill>
                  </a:tcPr>
                </a:tc>
                <a:tc>
                  <a:txBody>
                    <a:bodyPr wrap="square"/>
                    <a:lstStyle/>
                    <a:p>
                      <a:pPr algn="l"/>
                      <a:r>
                        <a:rPr sz="1050" b="0">
                          <a:solidFill>
                            <a:srgbClr val="1C1C1E"/>
                          </a:solidFill>
                          <a:latin typeface="Calibri"/>
                        </a:rPr>
                        <a:t>Synchronised expiry across the fleet</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Stale-while-revalidate 5 s</a:t>
                      </a:r>
                    </a:p>
                  </a:txBody>
                  <a:tcPr marL="82296" marR="64008" marT="32004" marB="32004" anchor="ctr">
                    <a:solidFill>
                      <a:srgbClr val="F6F3EF"/>
                    </a:solidFill>
                  </a:tcPr>
                </a:tc>
                <a:tc>
                  <a:txBody>
                    <a:bodyPr wrap="square"/>
                    <a:lstStyle/>
                    <a:p>
                      <a:pPr algn="l"/>
                      <a:r>
                        <a:rPr sz="1050" b="0">
                          <a:solidFill>
                            <a:srgbClr val="1C1C1E"/>
                          </a:solidFill>
                          <a:latin typeface="Calibri"/>
                        </a:rPr>
                        <a:t>A latency cliff during rebuild</a:t>
                      </a:r>
                    </a:p>
                  </a:txBody>
                  <a:tcPr marL="82296" marR="64008" marT="32004" marB="32004" anchor="ctr">
                    <a:solidFill>
                      <a:srgbClr val="F6F3EF"/>
                    </a:solidFill>
                  </a:tcPr>
                </a:tc>
              </a:tr>
            </a:tbl>
          </a:graphicData>
        </a:graphic>
      </p:graphicFrame>
      <p:sp>
        <p:nvSpPr>
          <p:cNvPr id="12" name="TextBox 11"/>
          <p:cNvSpPr txBox="1"/>
          <p:nvPr/>
        </p:nvSpPr>
        <p:spPr>
          <a:xfrm>
            <a:off x="777240" y="3410712"/>
            <a:ext cx="4999491" cy="12801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Why it matters. </a:t>
            </a:r>
            <a:r>
              <a:rPr sz="1150" b="0" i="0">
                <a:solidFill>
                  <a:srgbClr val="1C1C1E"/>
                </a:solidFill>
                <a:latin typeface="Calibri"/>
              </a:rPr>
              <a:t>An alias move on a model taking 14,000 requests/second causes every in-flight consumer to miss simultaneously. Without pre-warming, a governed, routine operation takes the database down.</a:t>
            </a:r>
          </a:p>
        </p:txBody>
      </p:sp>
      <p:sp>
        <p:nvSpPr>
          <p:cNvPr id="13" name="TextBox 12"/>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Revocation — four propagation paths</a:t>
            </a:r>
          </a:p>
        </p:txBody>
      </p:sp>
      <p:graphicFrame>
        <p:nvGraphicFramePr>
          <p:cNvPr id="14" name="Table 13"/>
          <p:cNvGraphicFramePr>
            <a:graphicFrameLocks noGrp="1"/>
          </p:cNvGraphicFramePr>
          <p:nvPr/>
        </p:nvGraphicFramePr>
        <p:xfrm>
          <a:off x="6414964" y="1719072"/>
          <a:ext cx="4999490" cy="1820951"/>
        </p:xfrm>
        <a:graphic>
          <a:graphicData uri="http://schemas.openxmlformats.org/drawingml/2006/table">
            <a:tbl>
              <a:tblPr firstRow="1">
                <a:tableStyleId>{5C22544A-7EE6-4342-B048-85BDC9FD1C3A}</a:tableStyleId>
              </a:tblPr>
              <a:tblGrid>
                <a:gridCol w="3635993"/>
                <a:gridCol w="1363497"/>
              </a:tblGrid>
              <a:tr h="329184">
                <a:tc>
                  <a:txBody>
                    <a:bodyPr wrap="square"/>
                    <a:lstStyle/>
                    <a:p>
                      <a:pPr algn="l"/>
                      <a:r>
                        <a:rPr sz="1050" b="1">
                          <a:solidFill>
                            <a:srgbClr val="FFFFFF"/>
                          </a:solidFill>
                          <a:latin typeface="Calibri"/>
                        </a:rPr>
                        <a:t>Path</a:t>
                      </a:r>
                    </a:p>
                  </a:txBody>
                  <a:tcPr marL="82296" marR="64008" marT="32004" marB="32004" anchor="ctr">
                    <a:solidFill>
                      <a:srgbClr val="A51C30"/>
                    </a:solidFill>
                  </a:tcPr>
                </a:tc>
                <a:tc>
                  <a:txBody>
                    <a:bodyPr wrap="square"/>
                    <a:lstStyle/>
                    <a:p>
                      <a:pPr algn="l"/>
                      <a:r>
                        <a:rPr sz="1050" b="1">
                          <a:solidFill>
                            <a:srgbClr val="FFFFFF"/>
                          </a:solidFill>
                          <a:latin typeface="Calibri"/>
                        </a:rPr>
                        <a:t>Latency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Redis revocation set → resolvers fail closed</a:t>
                      </a:r>
                    </a:p>
                  </a:txBody>
                  <a:tcPr marL="82296" marR="64008" marT="32004" marB="32004" anchor="ctr">
                    <a:solidFill>
                      <a:srgbClr val="FFFFFF"/>
                    </a:solidFill>
                  </a:tcPr>
                </a:tc>
                <a:tc>
                  <a:txBody>
                    <a:bodyPr wrap="square"/>
                    <a:lstStyle/>
                    <a:p>
                      <a:pPr algn="l"/>
                      <a:r>
                        <a:rPr sz="1050" b="0">
                          <a:solidFill>
                            <a:srgbClr val="1C1C1E"/>
                          </a:solidFill>
                          <a:latin typeface="Calibri"/>
                        </a:rPr>
                        <a:t>immediate</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Kafka event → SDKs drop the descriptor</a:t>
                      </a:r>
                    </a:p>
                  </a:txBody>
                  <a:tcPr marL="82296" marR="64008" marT="32004" marB="32004" anchor="ctr">
                    <a:solidFill>
                      <a:srgbClr val="F6F3EF"/>
                    </a:solidFill>
                  </a:tcPr>
                </a:tc>
                <a:tc>
                  <a:txBody>
                    <a:bodyPr wrap="square"/>
                    <a:lstStyle/>
                    <a:p>
                      <a:pPr algn="l"/>
                      <a:r>
                        <a:rPr sz="1050" b="0">
                          <a:solidFill>
                            <a:srgbClr val="1C1C1E"/>
                          </a:solidFill>
                          <a:latin typeface="Calibri"/>
                        </a:rPr>
                        <a:t>≈ 1 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Epoch on every response → polling engines re-resolve</a:t>
                      </a:r>
                    </a:p>
                  </a:txBody>
                  <a:tcPr marL="82296" marR="64008" marT="32004" marB="32004" anchor="ctr">
                    <a:solidFill>
                      <a:srgbClr val="FFFFFF"/>
                    </a:solidFill>
                  </a:tcPr>
                </a:tc>
                <a:tc>
                  <a:txBody>
                    <a:bodyPr wrap="square"/>
                    <a:lstStyle/>
                    <a:p>
                      <a:pPr algn="l"/>
                      <a:r>
                        <a:rPr sz="1050" b="0">
                          <a:solidFill>
                            <a:srgbClr val="1C1C1E"/>
                          </a:solidFill>
                          <a:latin typeface="Calibri"/>
                        </a:rPr>
                        <a:t>≤ 30 s</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TTL expiry → fully partitioned engine</a:t>
                      </a:r>
                    </a:p>
                  </a:txBody>
                  <a:tcPr marL="82296" marR="64008" marT="32004" marB="32004" anchor="ctr">
                    <a:solidFill>
                      <a:srgbClr val="F6F3EF"/>
                    </a:solidFill>
                  </a:tcPr>
                </a:tc>
                <a:tc>
                  <a:txBody>
                    <a:bodyPr wrap="square"/>
                    <a:lstStyle/>
                    <a:p>
                      <a:pPr algn="l"/>
                      <a:r>
                        <a:rPr sz="1050" b="0">
                          <a:solidFill>
                            <a:srgbClr val="1C1C1E"/>
                          </a:solidFill>
                          <a:latin typeface="Calibri"/>
                        </a:rPr>
                        <a:t>≤ 60 s (Tier 1)</a:t>
                      </a:r>
                    </a:p>
                  </a:txBody>
                  <a:tcPr marL="82296" marR="64008" marT="32004" marB="32004" anchor="ctr">
                    <a:solidFill>
                      <a:srgbClr val="F6F3EF"/>
                    </a:solidFill>
                  </a:tcPr>
                </a:tc>
              </a:tr>
            </a:tbl>
          </a:graphicData>
        </a:graphic>
      </p:graphicFrame>
      <p:sp>
        <p:nvSpPr>
          <p:cNvPr id="15" name="Rectangle 14"/>
          <p:cNvSpPr/>
          <p:nvPr/>
        </p:nvSpPr>
        <p:spPr>
          <a:xfrm>
            <a:off x="6414964" y="3364992"/>
            <a:ext cx="4999491"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364992"/>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493008"/>
            <a:ext cx="4542291" cy="11430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revocation floor. </a:t>
            </a:r>
            <a:r>
              <a:rPr sz="1100" b="0" i="0">
                <a:solidFill>
                  <a:srgbClr val="1C1C1E"/>
                </a:solidFill>
                <a:latin typeface="Calibri"/>
              </a:rPr>
              <a:t>SDKs persist a local revocation list. A descriptor on that list is refused </a:t>
            </a:r>
            <a:r>
              <a:rPr sz="1100" b="1" i="0">
                <a:solidFill>
                  <a:srgbClr val="1C1C1E"/>
                </a:solidFill>
                <a:latin typeface="Calibri"/>
              </a:rPr>
              <a:t>regardless of grace state</a:t>
            </a:r>
            <a:r>
              <a:rPr sz="1100" b="0" i="0">
                <a:solidFill>
                  <a:srgbClr val="1C1C1E"/>
                </a:solidFill>
                <a:latin typeface="Calibri"/>
              </a:rPr>
              <a:t>. Grace extends authorisation currency; it never extends revocation ignorance. Tier 1 default grace is zero.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CAPABILITY NOBODY ELSE HAS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versus actual use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TextBox 9"/>
          <p:cNvSpPr txBox="1"/>
          <p:nvPr/>
        </p:nvSpPr>
        <p:spPr>
          <a:xfrm>
            <a:off x="777240" y="1353312"/>
            <a:ext cx="10637215" cy="41148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SS1/23 asks the inventory to record intended use </a:t>
            </a:r>
            <a:r>
              <a:rPr sz="1250" b="1" i="1">
                <a:solidFill>
                  <a:srgbClr val="A51C30"/>
                </a:solidFill>
                <a:latin typeface="Calibri"/>
              </a:rPr>
              <a:t>compared to actual use</a:t>
            </a:r>
            <a:r>
              <a:rPr sz="1250" b="0" i="0">
                <a:solidFill>
                  <a:srgbClr val="1C1C1E"/>
                </a:solidFill>
                <a:latin typeface="Calibri"/>
              </a:rPr>
              <a:t>. Warrant telemetry makes that observable rather than aspirational. A nightly job compares the observed context distribution against approved model_use rows.</a:t>
            </a:r>
          </a:p>
        </p:txBody>
      </p:sp>
      <p:graphicFrame>
        <p:nvGraphicFramePr>
          <p:cNvPr id="11" name="Table 10"/>
          <p:cNvGraphicFramePr>
            <a:graphicFrameLocks noGrp="1"/>
          </p:cNvGraphicFramePr>
          <p:nvPr/>
        </p:nvGraphicFramePr>
        <p:xfrm>
          <a:off x="777240" y="1920240"/>
          <a:ext cx="10637214" cy="2418613"/>
        </p:xfrm>
        <a:graphic>
          <a:graphicData uri="http://schemas.openxmlformats.org/drawingml/2006/table">
            <a:tbl>
              <a:tblPr firstRow="1">
                <a:tableStyleId>{5C22544A-7EE6-4342-B048-85BDC9FD1C3A}</a:tableStyleId>
              </a:tblPr>
              <a:tblGrid>
                <a:gridCol w="2475903"/>
                <a:gridCol w="5135207"/>
                <a:gridCol w="3026104"/>
              </a:tblGrid>
              <a:tr h="333781">
                <a:tc>
                  <a:txBody>
                    <a:bodyPr wrap="square"/>
                    <a:lstStyle/>
                    <a:p>
                      <a:pPr algn="l"/>
                      <a:r>
                        <a:rPr sz="1100" b="1">
                          <a:solidFill>
                            <a:srgbClr val="FFFFFF"/>
                          </a:solidFill>
                          <a:latin typeface="Calibri"/>
                        </a:rPr>
                        <a:t>Exception</a:t>
                      </a:r>
                    </a:p>
                  </a:txBody>
                  <a:tcPr marL="82296" marR="64008" marT="32004" marB="32004" anchor="ctr">
                    <a:solidFill>
                      <a:srgbClr val="A51C30"/>
                    </a:solidFill>
                  </a:tcPr>
                </a:tc>
                <a:tc>
                  <a:txBody>
                    <a:bodyPr wrap="square"/>
                    <a:lstStyle/>
                    <a:p>
                      <a:pPr algn="l"/>
                      <a:r>
                        <a:rPr sz="1100" b="1">
                          <a:solidFill>
                            <a:srgbClr val="FFFFFF"/>
                          </a:solidFill>
                          <a:latin typeface="Calibri"/>
                        </a:rPr>
                        <a:t>Example</a:t>
                      </a:r>
                    </a:p>
                  </a:txBody>
                  <a:tcPr marL="82296" marR="64008" marT="32004" marB="32004" anchor="ctr">
                    <a:solidFill>
                      <a:srgbClr val="A51C30"/>
                    </a:solidFill>
                  </a:tcPr>
                </a:tc>
                <a:tc>
                  <a:txBody>
                    <a:bodyPr wrap="square"/>
                    <a:lstStyle/>
                    <a:p>
                      <a:pPr algn="l"/>
                      <a:r>
                        <a:rPr sz="1100" b="1">
                          <a:solidFill>
                            <a:srgbClr val="FFFFFF"/>
                          </a:solidFill>
                          <a:latin typeface="Calibri"/>
                        </a:rPr>
                        <a:t>Becomes</a:t>
                      </a:r>
                    </a:p>
                  </a:txBody>
                  <a:tcPr marL="82296" marR="64008" marT="32004" marB="32004" anchor="ctr">
                    <a:solidFill>
                      <a:srgbClr val="A51C30"/>
                    </a:solidFill>
                  </a:tcPr>
                </a:tc>
              </a:tr>
              <a:tr h="347472">
                <a:tc>
                  <a:txBody>
                    <a:bodyPr wrap="square"/>
                    <a:lstStyle/>
                    <a:p>
                      <a:pPr algn="l"/>
                      <a:r>
                        <a:rPr sz="1050" b="1">
                          <a:solidFill>
                            <a:srgbClr val="A51C30"/>
                          </a:solidFill>
                          <a:latin typeface="Calibri"/>
                        </a:rPr>
                        <a:t>Off-label portfolio</a:t>
                      </a:r>
                    </a:p>
                  </a:txBody>
                  <a:tcPr marL="82296" marR="64008" marT="32004" marB="32004" anchor="ctr">
                    <a:solidFill>
                      <a:srgbClr val="FFFFFF"/>
                    </a:solidFill>
                  </a:tcPr>
                </a:tc>
                <a:tc>
                  <a:txBody>
                    <a:bodyPr wrap="square"/>
                    <a:lstStyle/>
                    <a:p>
                      <a:pPr algn="l"/>
                      <a:r>
                        <a:rPr sz="1050" b="0">
                          <a:solidFill>
                            <a:srgbClr val="1C1C1E"/>
                          </a:solidFill>
                          <a:latin typeface="Calibri"/>
                        </a:rPr>
                        <a:t>223 calls for a portfolio that is not an approved use</a:t>
                      </a:r>
                    </a:p>
                  </a:txBody>
                  <a:tcPr marL="82296" marR="64008" marT="32004" marB="32004" anchor="ctr">
                    <a:solidFill>
                      <a:srgbClr val="FFFFFF"/>
                    </a:solidFill>
                  </a:tcPr>
                </a:tc>
                <a:tc>
                  <a:txBody>
                    <a:bodyPr wrap="square"/>
                    <a:lstStyle/>
                    <a:p>
                      <a:pPr algn="l"/>
                      <a:r>
                        <a:rPr sz="1050" b="0">
                          <a:solidFill>
                            <a:srgbClr val="1C1C1E"/>
                          </a:solidFill>
                          <a:latin typeface="Calibri"/>
                        </a:rPr>
                        <a:t>Finding, owner, due date</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Unapproved geography</a:t>
                      </a:r>
                    </a:p>
                  </a:txBody>
                  <a:tcPr marL="82296" marR="64008" marT="32004" marB="32004" anchor="ctr">
                    <a:solidFill>
                      <a:srgbClr val="F6F3EF"/>
                    </a:solidFill>
                  </a:tcPr>
                </a:tc>
                <a:tc>
                  <a:txBody>
                    <a:bodyPr wrap="square"/>
                    <a:lstStyle/>
                    <a:p>
                      <a:pPr algn="l"/>
                      <a:r>
                        <a:rPr sz="1050" b="0">
                          <a:solidFill>
                            <a:srgbClr val="1C1C1E"/>
                          </a:solidFill>
                          <a:latin typeface="Calibri"/>
                        </a:rPr>
                        <a:t>Calls originating outside the approval's scope</a:t>
                      </a:r>
                    </a:p>
                  </a:txBody>
                  <a:tcPr marL="82296" marR="64008" marT="32004" marB="32004" anchor="ctr">
                    <a:solidFill>
                      <a:srgbClr val="F6F3EF"/>
                    </a:solidFill>
                  </a:tcPr>
                </a:tc>
                <a:tc>
                  <a:txBody>
                    <a:bodyPr wrap="square"/>
                    <a:lstStyle/>
                    <a:p>
                      <a:pPr algn="l"/>
                      <a:r>
                        <a:rPr sz="1050" b="0">
                          <a:solidFill>
                            <a:srgbClr val="1C1C1E"/>
                          </a:solidFill>
                          <a:latin typeface="Calibri"/>
                        </a:rPr>
                        <a:t>Finding + scope review</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Volume anomaly</a:t>
                      </a:r>
                    </a:p>
                  </a:txBody>
                  <a:tcPr marL="82296" marR="64008" marT="32004" marB="32004" anchor="ctr">
                    <a:solidFill>
                      <a:srgbClr val="FFFFFF"/>
                    </a:solidFill>
                  </a:tcPr>
                </a:tc>
                <a:tc>
                  <a:txBody>
                    <a:bodyPr wrap="square"/>
                    <a:lstStyle/>
                    <a:p>
                      <a:pPr algn="l"/>
                      <a:r>
                        <a:rPr sz="1050" b="0">
                          <a:solidFill>
                            <a:srgbClr val="1C1C1E"/>
                          </a:solidFill>
                          <a:latin typeface="Calibri"/>
                        </a:rPr>
                        <a:t>40× expected daily volume — suggests a new, unassessed use</a:t>
                      </a:r>
                    </a:p>
                  </a:txBody>
                  <a:tcPr marL="82296" marR="64008" marT="32004" marB="32004" anchor="ctr">
                    <a:solidFill>
                      <a:srgbClr val="FFFFFF"/>
                    </a:solidFill>
                  </a:tcPr>
                </a:tc>
                <a:tc>
                  <a:txBody>
                    <a:bodyPr wrap="square"/>
                    <a:lstStyle/>
                    <a:p>
                      <a:pPr algn="l"/>
                      <a:r>
                        <a:rPr sz="1050" b="0">
                          <a:solidFill>
                            <a:srgbClr val="1C1C1E"/>
                          </a:solidFill>
                          <a:latin typeface="Calibri"/>
                        </a:rPr>
                        <a:t>Investigation task</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Boundary violation rate</a:t>
                      </a:r>
                    </a:p>
                  </a:txBody>
                  <a:tcPr marL="82296" marR="64008" marT="32004" marB="32004" anchor="ctr">
                    <a:solidFill>
                      <a:srgbClr val="F6F3EF"/>
                    </a:solidFill>
                  </a:tcPr>
                </a:tc>
                <a:tc>
                  <a:txBody>
                    <a:bodyPr wrap="square"/>
                    <a:lstStyle/>
                    <a:p>
                      <a:pPr algn="l"/>
                      <a:r>
                        <a:rPr sz="1050" b="0">
                          <a:solidFill>
                            <a:srgbClr val="1C1C1E"/>
                          </a:solidFill>
                          <a:latin typeface="Calibri"/>
                        </a:rPr>
                        <a:t>0.26% of inputs outside declared operating boundaries</a:t>
                      </a:r>
                    </a:p>
                  </a:txBody>
                  <a:tcPr marL="82296" marR="64008" marT="32004" marB="32004" anchor="ctr">
                    <a:solidFill>
                      <a:srgbClr val="F6F3EF"/>
                    </a:solidFill>
                  </a:tcPr>
                </a:tc>
                <a:tc>
                  <a:txBody>
                    <a:bodyPr wrap="square"/>
                    <a:lstStyle/>
                    <a:p>
                      <a:pPr algn="l"/>
                      <a:r>
                        <a:rPr sz="1050" b="0">
                          <a:solidFill>
                            <a:srgbClr val="1C1C1E"/>
                          </a:solidFill>
                          <a:latin typeface="Calibri"/>
                        </a:rPr>
                        <a:t>Contract assumption A is failing</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Dormant approval</a:t>
                      </a:r>
                    </a:p>
                  </a:txBody>
                  <a:tcPr marL="82296" marR="64008" marT="32004" marB="32004" anchor="ctr">
                    <a:solidFill>
                      <a:srgbClr val="FFFFFF"/>
                    </a:solidFill>
                  </a:tcPr>
                </a:tc>
                <a:tc>
                  <a:txBody>
                    <a:bodyPr wrap="square"/>
                    <a:lstStyle/>
                    <a:p>
                      <a:pPr algn="l"/>
                      <a:r>
                        <a:rPr sz="1050" b="0">
                          <a:solidFill>
                            <a:srgbClr val="1C1C1E"/>
                          </a:solidFill>
                          <a:latin typeface="Calibri"/>
                        </a:rPr>
                        <a:t>An approved use with zero calls for 180 days</a:t>
                      </a:r>
                    </a:p>
                  </a:txBody>
                  <a:tcPr marL="82296" marR="64008" marT="32004" marB="32004" anchor="ctr">
                    <a:solidFill>
                      <a:srgbClr val="FFFFFF"/>
                    </a:solidFill>
                  </a:tcPr>
                </a:tc>
                <a:tc>
                  <a:txBody>
                    <a:bodyPr wrap="square"/>
                    <a:lstStyle/>
                    <a:p>
                      <a:pPr algn="l"/>
                      <a:r>
                        <a:rPr sz="1050" b="0">
                          <a:solidFill>
                            <a:srgbClr val="1C1C1E"/>
                          </a:solidFill>
                          <a:latin typeface="Calibri"/>
                        </a:rPr>
                        <a:t>Candidate for withdrawal</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Undeclared consumer</a:t>
                      </a:r>
                    </a:p>
                  </a:txBody>
                  <a:tcPr marL="82296" marR="64008" marT="32004" marB="32004" anchor="ctr">
                    <a:solidFill>
                      <a:srgbClr val="F6F3EF"/>
                    </a:solidFill>
                  </a:tcPr>
                </a:tc>
                <a:tc>
                  <a:txBody>
                    <a:bodyPr wrap="square"/>
                    <a:lstStyle/>
                    <a:p>
                      <a:pPr algn="l"/>
                      <a:r>
                        <a:rPr sz="1050" b="0">
                          <a:solidFill>
                            <a:srgbClr val="1C1C1E"/>
                          </a:solidFill>
                          <a:latin typeface="Calibri"/>
                        </a:rPr>
                        <a:t>A new principal resolving the warrant</a:t>
                      </a:r>
                    </a:p>
                  </a:txBody>
                  <a:tcPr marL="82296" marR="64008" marT="32004" marB="32004" anchor="ctr">
                    <a:solidFill>
                      <a:srgbClr val="F6F3EF"/>
                    </a:solidFill>
                  </a:tcPr>
                </a:tc>
                <a:tc>
                  <a:txBody>
                    <a:bodyPr wrap="square"/>
                    <a:lstStyle/>
                    <a:p>
                      <a:pPr algn="l"/>
                      <a:r>
                        <a:rPr sz="1050" b="0">
                          <a:solidFill>
                            <a:srgbClr val="1C1C1E"/>
                          </a:solidFill>
                          <a:latin typeface="Calibri"/>
                        </a:rPr>
                        <a:t>Entitlement review</a:t>
                      </a:r>
                    </a:p>
                  </a:txBody>
                  <a:tcPr marL="82296" marR="64008" marT="32004" marB="32004" anchor="ctr">
                    <a:solidFill>
                      <a:srgbClr val="F6F3E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Machine Assistance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Where AI does the work, where it may not, and why that is structural.</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capability contract</a:t>
            </a:r>
          </a:p>
          <a:p>
            <a:pPr>
              <a:lnSpc>
                <a:spcPct val="115000"/>
              </a:lnSpc>
              <a:spcBef>
                <a:spcPts val="0"/>
              </a:spcBef>
              <a:spcAft>
                <a:spcPts val="700"/>
              </a:spcAft>
            </a:pPr>
            <a:r>
              <a:rPr sz="1150" b="0" i="0">
                <a:solidFill>
                  <a:srgbClr val="F6E6E9"/>
                </a:solidFill>
                <a:latin typeface="Calibri"/>
              </a:rPr>
              <a:t>The grounding gate</a:t>
            </a:r>
          </a:p>
          <a:p>
            <a:pPr>
              <a:lnSpc>
                <a:spcPct val="115000"/>
              </a:lnSpc>
              <a:spcBef>
                <a:spcPts val="0"/>
              </a:spcBef>
              <a:spcAft>
                <a:spcPts val="700"/>
              </a:spcAft>
            </a:pPr>
            <a:r>
              <a:rPr sz="1150" b="0" i="0">
                <a:solidFill>
                  <a:srgbClr val="F6E6E9"/>
                </a:solidFill>
                <a:latin typeface="Calibri"/>
              </a:rPr>
              <a:t>Structural prohibition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maya/ai/runner.py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Capability(Protocol):</a:t>
            </a:r>
          </a:p>
          <a:p>
            <a:pPr>
              <a:lnSpc>
                <a:spcPct val="134000"/>
              </a:lnSpc>
              <a:spcBef>
                <a:spcPts val="0"/>
              </a:spcBef>
              <a:spcAft>
                <a:spcPts val="0"/>
              </a:spcAft>
            </a:pPr>
            <a:r>
              <a:rPr sz="950" b="0" i="0">
                <a:solidFill>
                  <a:srgbClr val="1C1C1E"/>
                </a:solidFill>
                <a:latin typeface="Consolas"/>
              </a:rPr>
              <a:t>    key: str</a:t>
            </a:r>
          </a:p>
          <a:p>
            <a:pPr>
              <a:lnSpc>
                <a:spcPct val="134000"/>
              </a:lnSpc>
              <a:spcBef>
                <a:spcPts val="0"/>
              </a:spcBef>
              <a:spcAft>
                <a:spcPts val="0"/>
              </a:spcAft>
            </a:pPr>
            <a:r>
              <a:rPr sz="950" b="0" i="0">
                <a:solidFill>
                  <a:srgbClr val="1C1C1E"/>
                </a:solidFill>
                <a:latin typeface="Consolas"/>
              </a:rPr>
              <a:t>    assist_tier: Literal["A", "B"]   # "C" is unrepresentable</a:t>
            </a:r>
          </a:p>
          <a:p>
            <a:pPr>
              <a:lnSpc>
                <a:spcPct val="134000"/>
              </a:lnSpc>
              <a:spcBef>
                <a:spcPts val="0"/>
              </a:spcBef>
              <a:spcAft>
                <a:spcPts val="0"/>
              </a:spcAft>
            </a:pPr>
            <a:r>
              <a:rPr sz="950" b="0" i="0">
                <a:solidFill>
                  <a:srgbClr val="1C1C1E"/>
                </a:solidFill>
                <a:latin typeface="Consolas"/>
              </a:rPr>
              <a:t>    oracle_key: str | None            # required for tier A</a:t>
            </a:r>
          </a:p>
          <a:p>
            <a:pPr>
              <a:lnSpc>
                <a:spcPct val="134000"/>
              </a:lnSpc>
              <a:spcBef>
                <a:spcPts val="0"/>
              </a:spcBef>
              <a:spcAft>
                <a:spcPts val="0"/>
              </a:spcAft>
            </a:pPr>
            <a:r>
              <a:rPr sz="950" b="0" i="0">
                <a:solidFill>
                  <a:srgbClr val="1C1C1E"/>
                </a:solidFill>
                <a:latin typeface="Consolas"/>
              </a:rPr>
              <a:t>    def generate(self, ctx) -&gt; Draft: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run(cap, ctx) -&gt; CapabilityResult:</a:t>
            </a:r>
          </a:p>
          <a:p>
            <a:pPr>
              <a:lnSpc>
                <a:spcPct val="134000"/>
              </a:lnSpc>
              <a:spcBef>
                <a:spcPts val="0"/>
              </a:spcBef>
              <a:spcAft>
                <a:spcPts val="0"/>
              </a:spcAft>
            </a:pPr>
            <a:r>
              <a:rPr sz="950" b="0" i="0">
                <a:solidFill>
                  <a:srgbClr val="1C1C1E"/>
                </a:solidFill>
                <a:latin typeface="Consolas"/>
              </a:rPr>
              <a:t>    draft = cap.generate(ctx)</a:t>
            </a:r>
          </a:p>
          <a:p>
            <a:pPr>
              <a:lnSpc>
                <a:spcPct val="134000"/>
              </a:lnSpc>
              <a:spcBef>
                <a:spcPts val="0"/>
              </a:spcBef>
              <a:spcAft>
                <a:spcPts val="0"/>
              </a:spcAft>
            </a:pPr>
            <a:r>
              <a:rPr sz="950" b="0" i="0">
                <a:solidFill>
                  <a:srgbClr val="1C1C1E"/>
                </a:solidFill>
                <a:latin typeface="Consolas"/>
              </a:rPr>
              <a:t>    if cap.assist_tier == "A":</a:t>
            </a:r>
          </a:p>
          <a:p>
            <a:pPr>
              <a:lnSpc>
                <a:spcPct val="134000"/>
              </a:lnSpc>
              <a:spcBef>
                <a:spcPts val="0"/>
              </a:spcBef>
              <a:spcAft>
                <a:spcPts val="0"/>
              </a:spcAft>
            </a:pPr>
            <a:r>
              <a:rPr sz="950" b="0" i="0">
                <a:solidFill>
                  <a:srgbClr val="1C1C1E"/>
                </a:solidFill>
                <a:latin typeface="Consolas"/>
              </a:rPr>
              <a:t>        ok = oracles.get(cap.oracle_key).check(draft, ctx)</a:t>
            </a:r>
          </a:p>
          <a:p>
            <a:pPr>
              <a:lnSpc>
                <a:spcPct val="134000"/>
              </a:lnSpc>
              <a:spcBef>
                <a:spcPts val="0"/>
              </a:spcBef>
              <a:spcAft>
                <a:spcPts val="0"/>
              </a:spcAft>
            </a:pPr>
            <a:r>
              <a:rPr sz="950" b="0" i="0">
                <a:solidFill>
                  <a:srgbClr val="1C1C1E"/>
                </a:solidFill>
                <a:latin typeface="Consolas"/>
              </a:rPr>
              <a:t>        if not ok.holds:</a:t>
            </a:r>
          </a:p>
          <a:p>
            <a:pPr>
              <a:lnSpc>
                <a:spcPct val="134000"/>
              </a:lnSpc>
              <a:spcBef>
                <a:spcPts val="0"/>
              </a:spcBef>
              <a:spcAft>
                <a:spcPts val="0"/>
              </a:spcAft>
            </a:pPr>
            <a:r>
              <a:rPr sz="950" b="0" i="0">
                <a:solidFill>
                  <a:srgbClr val="1C1C1E"/>
                </a:solidFill>
                <a:latin typeface="Consolas"/>
              </a:rPr>
              <a:t>            return CapabilityResult(rejected=True, reason=ok.detail)</a:t>
            </a:r>
          </a:p>
          <a:p>
            <a:pPr>
              <a:lnSpc>
                <a:spcPct val="134000"/>
              </a:lnSpc>
              <a:spcBef>
                <a:spcPts val="0"/>
              </a:spcBef>
              <a:spcAft>
                <a:spcPts val="0"/>
              </a:spcAft>
            </a:pPr>
            <a:r>
              <a:rPr sz="950" b="0" i="0">
                <a:solidFill>
                  <a:srgbClr val="1C1C1E"/>
                </a:solidFill>
                <a:latin typeface="Consolas"/>
              </a:rPr>
              <a:t>    else:</a:t>
            </a:r>
          </a:p>
          <a:p>
            <a:pPr>
              <a:lnSpc>
                <a:spcPct val="134000"/>
              </a:lnSpc>
              <a:spcBef>
                <a:spcPts val="0"/>
              </a:spcBef>
              <a:spcAft>
                <a:spcPts val="0"/>
              </a:spcAft>
            </a:pPr>
            <a:r>
              <a:rPr sz="950" b="0" i="0">
                <a:solidFill>
                  <a:srgbClr val="1C1C1E"/>
                </a:solidFill>
                <a:latin typeface="Consolas"/>
              </a:rPr>
              <a:t>        draft = grounding_gate(draft, ctx)</a:t>
            </a:r>
          </a:p>
          <a:p>
            <a:pPr>
              <a:lnSpc>
                <a:spcPct val="134000"/>
              </a:lnSpc>
              <a:spcBef>
                <a:spcPts val="0"/>
              </a:spcBef>
              <a:spcAft>
                <a:spcPts val="0"/>
              </a:spcAft>
            </a:pPr>
            <a:r>
              <a:rPr sz="950" b="0" i="0">
                <a:solidFill>
                  <a:srgbClr val="1C1C1E"/>
                </a:solidFill>
                <a:latin typeface="Consolas"/>
              </a:rPr>
              <a:t>    ai_generations.record(cap, draft, ctx)</a:t>
            </a:r>
          </a:p>
          <a:p>
            <a:pPr>
              <a:lnSpc>
                <a:spcPct val="134000"/>
              </a:lnSpc>
              <a:spcBef>
                <a:spcPts val="0"/>
              </a:spcBef>
              <a:spcAft>
                <a:spcPts val="0"/>
              </a:spcAft>
            </a:pPr>
            <a:r>
              <a:rPr sz="950" b="0" i="0">
                <a:solidFill>
                  <a:srgbClr val="1C1C1E"/>
                </a:solidFill>
                <a:latin typeface="Consolas"/>
              </a:rPr>
              <a:t>    return CapabilityResult(draft=draft, requires_attestation=True)</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0"/>
              </a:spcAft>
            </a:pPr>
            <a:r>
              <a:rPr sz="1100" b="0" i="0">
                <a:solidFill>
                  <a:srgbClr val="4A4F57"/>
                </a:solidFill>
                <a:latin typeface="Calibri"/>
              </a:rPr>
              <a:t>The criterion is not the model's capability, nor the task's sensitivity. It is whether the structure supplies a decision procedure.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353312"/>
            <a:ext cx="6169584"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maya/ai/grounding.py</a:t>
            </a:r>
          </a:p>
        </p:txBody>
      </p:sp>
      <p:sp>
        <p:nvSpPr>
          <p:cNvPr id="13" name="TextBox 12"/>
          <p:cNvSpPr txBox="1"/>
          <p:nvPr/>
        </p:nvSpPr>
        <p:spPr>
          <a:xfrm>
            <a:off x="978408" y="1746504"/>
            <a:ext cx="5803824"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grounding_gate(draft, ctx) -&gt; Draft:</a:t>
            </a:r>
          </a:p>
          <a:p>
            <a:pPr>
              <a:lnSpc>
                <a:spcPct val="134000"/>
              </a:lnSpc>
              <a:spcBef>
                <a:spcPts val="0"/>
              </a:spcBef>
              <a:spcAft>
                <a:spcPts val="0"/>
              </a:spcAft>
            </a:pPr>
            <a:r>
              <a:rPr sz="950" b="0" i="0">
                <a:solidFill>
                  <a:srgbClr val="1C1C1E"/>
                </a:solidFill>
                <a:latin typeface="Consolas"/>
              </a:rPr>
              <a:t>    for s in draft.sentences:</a:t>
            </a:r>
          </a:p>
          <a:p>
            <a:pPr>
              <a:lnSpc>
                <a:spcPct val="134000"/>
              </a:lnSpc>
              <a:spcBef>
                <a:spcPts val="0"/>
              </a:spcBef>
              <a:spcAft>
                <a:spcPts val="0"/>
              </a:spcAft>
            </a:pPr>
            <a:r>
              <a:rPr sz="950" b="0" i="0">
                <a:solidFill>
                  <a:srgbClr val="1C1C1E"/>
                </a:solidFill>
                <a:latin typeface="Consolas"/>
              </a:rPr>
              <a:t>        if not s.is_factual_claim: continue</a:t>
            </a:r>
          </a:p>
          <a:p>
            <a:pPr>
              <a:lnSpc>
                <a:spcPct val="134000"/>
              </a:lnSpc>
              <a:spcBef>
                <a:spcPts val="0"/>
              </a:spcBef>
              <a:spcAft>
                <a:spcPts val="0"/>
              </a:spcAft>
            </a:pPr>
            <a:r>
              <a:rPr sz="950" b="0" i="0">
                <a:solidFill>
                  <a:srgbClr val="1C1C1E"/>
                </a:solidFill>
                <a:latin typeface="Consolas"/>
              </a:rPr>
              <a:t>        supported = evidence.evaluate(</a:t>
            </a:r>
          </a:p>
          <a:p>
            <a:pPr>
              <a:lnSpc>
                <a:spcPct val="134000"/>
              </a:lnSpc>
              <a:spcBef>
                <a:spcPts val="0"/>
              </a:spcBef>
              <a:spcAft>
                <a:spcPts val="0"/>
              </a:spcAft>
            </a:pPr>
            <a:r>
              <a:rPr sz="950" b="0" i="0">
                <a:solidFill>
                  <a:srgbClr val="1C1C1E"/>
                </a:solidFill>
                <a:latin typeface="Consolas"/>
              </a:rPr>
              <a:t>            s.claim_ref, BOOLEAN,</a:t>
            </a:r>
          </a:p>
          <a:p>
            <a:pPr>
              <a:lnSpc>
                <a:spcPct val="134000"/>
              </a:lnSpc>
              <a:spcBef>
                <a:spcPts val="0"/>
              </a:spcBef>
              <a:spcAft>
                <a:spcPts val="0"/>
              </a:spcAft>
            </a:pPr>
            <a:r>
              <a:rPr sz="950" b="0" i="0">
                <a:solidFill>
                  <a:srgbClr val="1C1C1E"/>
                </a:solidFill>
                <a:latin typeface="Consolas"/>
              </a:rPr>
              <a:t>            valuation=lambda x: x in s.cited_evidence_ids)</a:t>
            </a:r>
          </a:p>
          <a:p>
            <a:pPr>
              <a:lnSpc>
                <a:spcPct val="134000"/>
              </a:lnSpc>
              <a:spcBef>
                <a:spcPts val="0"/>
              </a:spcBef>
              <a:spcAft>
                <a:spcPts val="0"/>
              </a:spcAft>
            </a:pPr>
            <a:r>
              <a:rPr sz="950" b="0" i="0">
                <a:solidFill>
                  <a:srgbClr val="1C1C1E"/>
                </a:solidFill>
                <a:latin typeface="Consolas"/>
              </a:rPr>
              <a:t>        if not supported:</a:t>
            </a:r>
          </a:p>
          <a:p>
            <a:pPr>
              <a:lnSpc>
                <a:spcPct val="134000"/>
              </a:lnSpc>
              <a:spcBef>
                <a:spcPts val="0"/>
              </a:spcBef>
              <a:spcAft>
                <a:spcPts val="0"/>
              </a:spcAft>
            </a:pPr>
            <a:r>
              <a:rPr sz="950" b="0" i="0">
                <a:solidFill>
                  <a:srgbClr val="1C1C1E"/>
                </a:solidFill>
                <a:latin typeface="Consolas"/>
              </a:rPr>
              <a:t>            draft.reject(s, missing=evidence.evaluate(s.claim_ref, WHY))</a:t>
            </a:r>
          </a:p>
          <a:p>
            <a:pPr>
              <a:lnSpc>
                <a:spcPct val="134000"/>
              </a:lnSpc>
              <a:spcBef>
                <a:spcPts val="0"/>
              </a:spcBef>
              <a:spcAft>
                <a:spcPts val="0"/>
              </a:spcAft>
            </a:pPr>
            <a:r>
              <a:rPr sz="950" b="0" i="0">
                <a:solidFill>
                  <a:srgbClr val="1C1C1E"/>
                </a:solidFill>
                <a:latin typeface="Consolas"/>
              </a:rPr>
              <a:t>    draft.numbers = interpolate_from_evidence(draft.number_slots, ctx)</a:t>
            </a:r>
          </a:p>
          <a:p>
            <a:pPr>
              <a:lnSpc>
                <a:spcPct val="134000"/>
              </a:lnSpc>
              <a:spcBef>
                <a:spcPts val="0"/>
              </a:spcBef>
              <a:spcAft>
                <a:spcPts val="0"/>
              </a:spcAft>
            </a:pPr>
            <a:r>
              <a:rPr sz="950" b="0" i="0">
                <a:solidFill>
                  <a:srgbClr val="1C1C1E"/>
                </a:solidFill>
                <a:latin typeface="Consolas"/>
              </a:rPr>
              <a:t>    draft.mark_unverified(draft.unmapped_sentences)</a:t>
            </a:r>
          </a:p>
          <a:p>
            <a:pPr>
              <a:lnSpc>
                <a:spcPct val="134000"/>
              </a:lnSpc>
              <a:spcBef>
                <a:spcPts val="0"/>
              </a:spcBef>
              <a:spcAft>
                <a:spcPts val="0"/>
              </a:spcAft>
            </a:pPr>
            <a:r>
              <a:rPr sz="950" b="0" i="0">
                <a:solidFill>
                  <a:srgbClr val="1C1C1E"/>
                </a:solidFill>
                <a:latin typeface="Consolas"/>
              </a:rPr>
              <a:t>    return draft</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Verification, not another model call</a:t>
            </a:r>
          </a:p>
          <a:p>
            <a:pPr>
              <a:lnSpc>
                <a:spcPct val="126000"/>
              </a:lnSpc>
              <a:spcBef>
                <a:spcPts val="0"/>
              </a:spcBef>
              <a:spcAft>
                <a:spcPts val="1000"/>
              </a:spcAft>
            </a:pPr>
            <a:r>
              <a:rPr sz="1150" b="0" i="0">
                <a:solidFill>
                  <a:srgbClr val="4A4F57"/>
                </a:solidFill>
                <a:latin typeface="Calibri"/>
              </a:rPr>
              <a:t>Switch on exactly the cited identifiers, evaluate the claim's derivation in Boolean, and see whether it still holds. If it does, the citation is genuine. If not, the sentence is rejected — not flagged.</a:t>
            </a:r>
          </a:p>
          <a:p>
            <a:pPr>
              <a:lnSpc>
                <a:spcPct val="126000"/>
              </a:lnSpc>
              <a:spcBef>
                <a:spcPts val="0"/>
              </a:spcBef>
              <a:spcAft>
                <a:spcPts val="1000"/>
              </a:spcAft>
            </a:pPr>
            <a:r>
              <a:rPr sz="1150" b="1" i="0">
                <a:solidFill>
                  <a:srgbClr val="A51C30"/>
                </a:solidFill>
                <a:latin typeface="Calibri"/>
              </a:rPr>
              <a:t>Numbers are never generated. </a:t>
            </a:r>
            <a:r>
              <a:rPr sz="1150" b="0" i="0">
                <a:solidFill>
                  <a:srgbClr val="1C1C1E"/>
                </a:solidFill>
                <a:latin typeface="Calibri"/>
              </a:rPr>
              <a:t>They are interpolated from evidence, which removes the entire class of hallucinated statistics.</a:t>
            </a:r>
          </a:p>
          <a:p>
            <a:pPr>
              <a:lnSpc>
                <a:spcPct val="126000"/>
              </a:lnSpc>
              <a:spcBef>
                <a:spcPts val="0"/>
              </a:spcBef>
              <a:spcAft>
                <a:spcPts val="600"/>
              </a:spcAft>
            </a:pPr>
            <a:r>
              <a:rPr sz="1150" b="1" i="0">
                <a:solidFill>
                  <a:srgbClr val="A51C30"/>
                </a:solidFill>
                <a:latin typeface="Calibri"/>
              </a:rPr>
              <a:t>Unmapped sentences are marked, not hidden. </a:t>
            </a:r>
            <a:r>
              <a:rPr sz="1150" b="0" i="0">
                <a:solidFill>
                  <a:srgbClr val="1C1C1E"/>
                </a:solidFill>
                <a:latin typeface="Calibri"/>
              </a:rPr>
              <a:t>A quantified claim like “on all monitored slices” has no supporting term at all — and that is exactly the sentence human review reliably waves through.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Structural prohibition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531351" cy="10601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601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TIER C IS UNREPRESENTABLE IN THE SCHEMA</a:t>
            </a:r>
          </a:p>
        </p:txBody>
      </p:sp>
      <p:sp>
        <p:nvSpPr>
          <p:cNvPr id="13" name="TextBox 12"/>
          <p:cNvSpPr txBox="1"/>
          <p:nvPr/>
        </p:nvSpPr>
        <p:spPr>
          <a:xfrm>
            <a:off x="978408" y="1746504"/>
            <a:ext cx="5165591" cy="584621"/>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assist_tier char(1) NOT NULL</a:t>
            </a:r>
          </a:p>
          <a:p>
            <a:pPr>
              <a:lnSpc>
                <a:spcPct val="134000"/>
              </a:lnSpc>
              <a:spcBef>
                <a:spcPts val="0"/>
              </a:spcBef>
              <a:spcAft>
                <a:spcPts val="0"/>
              </a:spcAft>
            </a:pPr>
            <a:r>
              <a:rPr sz="1150" b="0" i="0">
                <a:solidFill>
                  <a:srgbClr val="1C1C1E"/>
                </a:solidFill>
                <a:latin typeface="Consolas"/>
              </a:rPr>
              <a:t>    CHECK (assist_tier IN ('A','B'))</a:t>
            </a:r>
          </a:p>
        </p:txBody>
      </p:sp>
      <p:sp>
        <p:nvSpPr>
          <p:cNvPr id="14" name="TextBox 13"/>
          <p:cNvSpPr txBox="1"/>
          <p:nvPr/>
        </p:nvSpPr>
        <p:spPr>
          <a:xfrm>
            <a:off x="777240" y="2669453"/>
            <a:ext cx="5531351" cy="210312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And no credential exists</a:t>
            </a:r>
          </a:p>
          <a:p>
            <a:pPr>
              <a:lnSpc>
                <a:spcPct val="126000"/>
              </a:lnSpc>
              <a:spcBef>
                <a:spcPts val="0"/>
              </a:spcBef>
              <a:spcAft>
                <a:spcPts val="1000"/>
              </a:spcAft>
            </a:pPr>
            <a:r>
              <a:rPr sz="1150" b="0" i="0">
                <a:solidFill>
                  <a:srgbClr val="4A4F57"/>
                </a:solidFill>
                <a:latin typeface="Calibri"/>
              </a:rPr>
              <a:t>No ai_capability principal is ever granted a lifecycle-transition scope in the IAM model. A capability cannot make a governance decision because it holds no credential to attempt one.</a:t>
            </a:r>
          </a:p>
          <a:p>
            <a:pPr>
              <a:lnSpc>
                <a:spcPct val="126000"/>
              </a:lnSpc>
              <a:spcBef>
                <a:spcPts val="0"/>
              </a:spcBef>
              <a:spcAft>
                <a:spcPts val="600"/>
              </a:spcAft>
            </a:pPr>
            <a:r>
              <a:rPr sz="1150" b="0" i="0">
                <a:solidFill>
                  <a:srgbClr val="4A4F57"/>
                </a:solidFill>
                <a:latin typeface="Calibri"/>
              </a:rPr>
              <a:t>Policy erodes under commercial pressure from sensible people with good reasons. </a:t>
            </a:r>
            <a:r>
              <a:rPr sz="1150" b="1" i="0">
                <a:solidFill>
                  <a:srgbClr val="1C1C1E"/>
                </a:solidFill>
                <a:latin typeface="Calibri"/>
              </a:rPr>
              <a:t>Missing credentials do not.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171907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7</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Interfaces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API, consumed identically by the UI, the SDK and every engine.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API conventions</a:t>
            </a:r>
          </a:p>
          <a:p>
            <a:pPr>
              <a:lnSpc>
                <a:spcPct val="115000"/>
              </a:lnSpc>
              <a:spcBef>
                <a:spcPts val="0"/>
              </a:spcBef>
              <a:spcAft>
                <a:spcPts val="700"/>
              </a:spcAft>
            </a:pPr>
            <a:r>
              <a:rPr sz="1150" b="0" i="0">
                <a:solidFill>
                  <a:srgbClr val="F6E6E9"/>
                </a:solidFill>
                <a:latin typeface="Calibri"/>
              </a:rPr>
              <a:t>Resource surface</a:t>
            </a:r>
          </a:p>
          <a:p>
            <a:pPr>
              <a:lnSpc>
                <a:spcPct val="115000"/>
              </a:lnSpc>
              <a:spcBef>
                <a:spcPts val="0"/>
              </a:spcBef>
              <a:spcAft>
                <a:spcPts val="700"/>
              </a:spcAft>
            </a:pPr>
            <a:r>
              <a:rPr sz="1150" b="0" i="0">
                <a:solidFill>
                  <a:srgbClr val="F6E6E9"/>
                </a:solidFill>
                <a:latin typeface="Calibri"/>
              </a:rPr>
              <a:t>Front-end design</a:t>
            </a:r>
          </a:p>
          <a:p>
            <a:pPr>
              <a:lnSpc>
                <a:spcPct val="115000"/>
              </a:lnSpc>
              <a:spcBef>
                <a:spcPts val="0"/>
              </a:spcBef>
              <a:spcAft>
                <a:spcPts val="700"/>
              </a:spcAft>
            </a:pPr>
            <a:r>
              <a:rPr sz="1150" b="0" i="0">
                <a:solidFill>
                  <a:srgbClr val="F6E6E9"/>
                </a:solidFill>
                <a:latin typeface="Calibri"/>
              </a:rPr>
              <a:t>SDK and events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graphicFrame>
        <p:nvGraphicFramePr>
          <p:cNvPr id="10" name="Table 9"/>
          <p:cNvGraphicFramePr>
            <a:graphicFrameLocks noGrp="1"/>
          </p:cNvGraphicFramePr>
          <p:nvPr/>
        </p:nvGraphicFramePr>
        <p:xfrm>
          <a:off x="777240" y="1353312"/>
          <a:ext cx="10637214" cy="3765327"/>
        </p:xfrm>
        <a:graphic>
          <a:graphicData uri="http://schemas.openxmlformats.org/drawingml/2006/table">
            <a:tbl>
              <a:tblPr firstRow="1">
                <a:tableStyleId>{5C22544A-7EE6-4342-B048-85BDC9FD1C3A}</a:tableStyleId>
              </a:tblPr>
              <a:tblGrid>
                <a:gridCol w="1742302"/>
                <a:gridCol w="4218206"/>
                <a:gridCol w="4676706"/>
              </a:tblGrid>
              <a:tr h="333781">
                <a:tc>
                  <a:txBody>
                    <a:bodyPr wrap="square"/>
                    <a:lstStyle/>
                    <a:p>
                      <a:pPr algn="l"/>
                      <a:r>
                        <a:rPr sz="1100" b="1">
                          <a:solidFill>
                            <a:srgbClr val="FFFFFF"/>
                          </a:solidFill>
                          <a:latin typeface="Calibri"/>
                        </a:rPr>
                        <a:t>Concern</a:t>
                      </a:r>
                    </a:p>
                  </a:txBody>
                  <a:tcPr marL="82296" marR="64008" marT="32004" marB="32004" anchor="ctr">
                    <a:solidFill>
                      <a:srgbClr val="A51C30"/>
                    </a:solidFill>
                  </a:tcPr>
                </a:tc>
                <a:tc>
                  <a:txBody>
                    <a:bodyPr wrap="square"/>
                    <a:lstStyle/>
                    <a:p>
                      <a:pPr algn="l"/>
                      <a:r>
                        <a:rPr sz="1100" b="1">
                          <a:solidFill>
                            <a:srgbClr val="FFFFFF"/>
                          </a:solidFill>
                          <a:latin typeface="Calibri"/>
                        </a:rPr>
                        <a:t>Decision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Base</a:t>
                      </a:r>
                    </a:p>
                  </a:txBody>
                  <a:tcPr marL="82296" marR="64008" marT="32004" marB="32004" anchor="ctr">
                    <a:solidFill>
                      <a:srgbClr val="FFFFFF"/>
                    </a:solidFill>
                  </a:tcPr>
                </a:tc>
                <a:tc>
                  <a:txBody>
                    <a:bodyPr wrap="square"/>
                    <a:lstStyle/>
                    <a:p>
                      <a:pPr algn="l"/>
                      <a:r>
                        <a:rPr sz="1050" b="0">
                          <a:solidFill>
                            <a:srgbClr val="1C1C1E"/>
                          </a:solidFill>
                          <a:latin typeface="Calibri"/>
                        </a:rPr>
                        <a:t>/api/v1, OpenAPI 3.1, JSON</a:t>
                      </a:r>
                    </a:p>
                  </a:txBody>
                  <a:tcPr marL="82296" marR="64008" marT="32004" marB="32004" anchor="ctr">
                    <a:solidFill>
                      <a:srgbClr val="FFFFFF"/>
                    </a:solidFill>
                  </a:tcPr>
                </a:tc>
                <a:tc>
                  <a:txBody>
                    <a:bodyPr wrap="square"/>
                    <a:lstStyle/>
                    <a:p>
                      <a:pPr algn="l"/>
                      <a:r>
                        <a:rPr sz="1050" b="0">
                          <a:solidFill>
                            <a:srgbClr val="1C1C1E"/>
                          </a:solidFill>
                          <a:latin typeface="Calibri"/>
                        </a:rPr>
                        <a:t>One versioned contract; the UI has no privileged path</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Errors</a:t>
                      </a:r>
                    </a:p>
                  </a:txBody>
                  <a:tcPr marL="82296" marR="64008" marT="32004" marB="32004" anchor="ctr">
                    <a:solidFill>
                      <a:srgbClr val="F6F3EF"/>
                    </a:solidFill>
                  </a:tcPr>
                </a:tc>
                <a:tc>
                  <a:txBody>
                    <a:bodyPr wrap="square"/>
                    <a:lstStyle/>
                    <a:p>
                      <a:pPr algn="l"/>
                      <a:r>
                        <a:rPr sz="1050" b="0">
                          <a:solidFill>
                            <a:srgbClr val="1C1C1E"/>
                          </a:solidFill>
                          <a:latin typeface="Calibri"/>
                        </a:rPr>
                        <a:t>RFC 9457 problem+json with code, deny_reason[], remediation_url</a:t>
                      </a:r>
                    </a:p>
                  </a:txBody>
                  <a:tcPr marL="82296" marR="64008" marT="32004" marB="32004" anchor="ctr">
                    <a:solidFill>
                      <a:srgbClr val="F6F3EF"/>
                    </a:solidFill>
                  </a:tcPr>
                </a:tc>
                <a:tc>
                  <a:txBody>
                    <a:bodyPr wrap="square"/>
                    <a:lstStyle/>
                    <a:p>
                      <a:pPr algn="l"/>
                      <a:r>
                        <a:rPr sz="1050" b="0">
                          <a:solidFill>
                            <a:srgbClr val="1C1C1E"/>
                          </a:solidFill>
                          <a:latin typeface="Calibri"/>
                        </a:rPr>
                        <a:t>DR-6 and DR-7 — blocking must always explain</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Pagination</a:t>
                      </a:r>
                    </a:p>
                  </a:txBody>
                  <a:tcPr marL="82296" marR="64008" marT="32004" marB="32004" anchor="ctr">
                    <a:solidFill>
                      <a:srgbClr val="FFFFFF"/>
                    </a:solidFill>
                  </a:tcPr>
                </a:tc>
                <a:tc>
                  <a:txBody>
                    <a:bodyPr wrap="square"/>
                    <a:lstStyle/>
                    <a:p>
                      <a:pPr algn="l"/>
                      <a:r>
                        <a:rPr sz="1050" b="0">
                          <a:solidFill>
                            <a:srgbClr val="1C1C1E"/>
                          </a:solidFill>
                          <a:latin typeface="Calibri"/>
                        </a:rPr>
                        <a:t>Keyset with cursor / next_cursor</a:t>
                      </a:r>
                    </a:p>
                  </a:txBody>
                  <a:tcPr marL="82296" marR="64008" marT="32004" marB="32004" anchor="ctr">
                    <a:solidFill>
                      <a:srgbClr val="FFFFFF"/>
                    </a:solidFill>
                  </a:tcPr>
                </a:tc>
                <a:tc>
                  <a:txBody>
                    <a:bodyPr wrap="square"/>
                    <a:lstStyle/>
                    <a:p>
                      <a:pPr algn="l"/>
                      <a:r>
                        <a:rPr sz="1050" b="0">
                          <a:solidFill>
                            <a:srgbClr val="1C1C1E"/>
                          </a:solidFill>
                          <a:latin typeface="Calibri"/>
                        </a:rPr>
                        <a:t>Stable paging over 50,000 models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Concurrency</a:t>
                      </a:r>
                    </a:p>
                  </a:txBody>
                  <a:tcPr marL="82296" marR="64008" marT="32004" marB="32004" anchor="ctr">
                    <a:solidFill>
                      <a:srgbClr val="F6F3E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6F3EF"/>
                    </a:solidFill>
                  </a:tcPr>
                </a:tc>
                <a:tc>
                  <a:txBody>
                    <a:bodyPr wrap="square"/>
                    <a:lstStyle/>
                    <a:p>
                      <a:pPr algn="l"/>
                      <a:r>
                        <a:rPr sz="1050" b="0">
                          <a:solidFill>
                            <a:srgbClr val="1C1C1E"/>
                          </a:solidFill>
                          <a:latin typeface="Calibri"/>
                        </a:rPr>
                        <a:t>The UI shows a real conflict dialog instead of overwriting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Idempotency</a:t>
                      </a:r>
                    </a:p>
                  </a:txBody>
                  <a:tcPr marL="82296" marR="64008" marT="32004" marB="32004" anchor="ctr">
                    <a:solidFill>
                      <a:srgbClr val="FFFFFF"/>
                    </a:solidFill>
                  </a:tcPr>
                </a:tc>
                <a:tc>
                  <a:txBody>
                    <a:bodyPr wrap="square"/>
                    <a:lstStyle/>
                    <a:p>
                      <a:pPr algn="l"/>
                      <a:r>
                        <a:rPr sz="1050" b="0">
                          <a:solidFill>
                            <a:srgbClr val="1C1C1E"/>
                          </a:solidFill>
                          <a:latin typeface="Calibri"/>
                        </a:rPr>
                        <a:t>Idempotency-Key on POST, 24-hour replay window</a:t>
                      </a:r>
                    </a:p>
                  </a:txBody>
                  <a:tcPr marL="82296" marR="64008" marT="32004" marB="32004" anchor="ctr">
                    <a:solidFill>
                      <a:srgbClr val="FFFFFF"/>
                    </a:solidFill>
                  </a:tcPr>
                </a:tc>
                <a:tc>
                  <a:txBody>
                    <a:bodyPr wrap="square"/>
                    <a:lstStyle/>
                    <a:p>
                      <a:pPr algn="l"/>
                      <a:r>
                        <a:rPr sz="1050" b="0">
                          <a:solidFill>
                            <a:srgbClr val="1C1C1E"/>
                          </a:solidFill>
                          <a:latin typeface="Calibri"/>
                        </a:rPr>
                        <a:t>Safe retry on flaky networks — DR-3</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Shaping</a:t>
                      </a:r>
                    </a:p>
                  </a:txBody>
                  <a:tcPr marL="82296" marR="64008" marT="32004" marB="32004" anchor="ctr">
                    <a:solidFill>
                      <a:srgbClr val="F6F3EF"/>
                    </a:solidFill>
                  </a:tcPr>
                </a:tc>
                <a:tc>
                  <a:txBody>
                    <a:bodyPr wrap="square"/>
                    <a:lstStyle/>
                    <a:p>
                      <a:pPr algn="l"/>
                      <a:r>
                        <a:rPr sz="1050" b="0">
                          <a:solidFill>
                            <a:srgbClr val="1C1C1E"/>
                          </a:solidFill>
                          <a:latin typeface="Calibri"/>
                        </a:rPr>
                        <a:t>?expand= and ?fields=</a:t>
                      </a:r>
                    </a:p>
                  </a:txBody>
                  <a:tcPr marL="82296" marR="64008" marT="32004" marB="32004" anchor="ctr">
                    <a:solidFill>
                      <a:srgbClr val="F6F3EF"/>
                    </a:solidFill>
                  </a:tcPr>
                </a:tc>
                <a:tc>
                  <a:txBody>
                    <a:bodyPr wrap="square"/>
                    <a:lstStyle/>
                    <a:p>
                      <a:pPr algn="l"/>
                      <a:r>
                        <a:rPr sz="1050" b="0">
                          <a:solidFill>
                            <a:srgbClr val="1C1C1E"/>
                          </a:solidFill>
                          <a:latin typeface="Calibri"/>
                        </a:rPr>
                        <a:t>One request per screen instead of N+1 chatter</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Derivations</a:t>
                      </a:r>
                    </a:p>
                  </a:txBody>
                  <a:tcPr marL="82296" marR="64008" marT="32004" marB="32004" anchor="ctr">
                    <a:solidFill>
                      <a:srgbClr val="FFFFFF"/>
                    </a:solidFill>
                  </a:tcPr>
                </a:tc>
                <a:tc>
                  <a:txBody>
                    <a:bodyPr wrap="square"/>
                    <a:lstStyle/>
                    <a:p>
                      <a:pPr algn="l"/>
                      <a:r>
                        <a:rPr sz="1050" b="0">
                          <a:solidFill>
                            <a:srgbClr val="1C1C1E"/>
                          </a:solidFill>
                          <a:latin typeface="Calibri"/>
                        </a:rPr>
                        <a:t>GET /derivations/{id} on every derived value</a:t>
                      </a:r>
                    </a:p>
                  </a:txBody>
                  <a:tcPr marL="82296" marR="64008" marT="32004" marB="32004" anchor="ctr">
                    <a:solidFill>
                      <a:srgbClr val="FFFFFF"/>
                    </a:solidFill>
                  </a:tcPr>
                </a:tc>
                <a:tc>
                  <a:txBody>
                    <a:bodyPr wrap="square"/>
                    <a:lstStyle/>
                    <a:p>
                      <a:pPr algn="l"/>
                      <a:r>
                        <a:rPr sz="1050" b="0">
                          <a:solidFill>
                            <a:srgbClr val="1C1C1E"/>
                          </a:solidFill>
                          <a:latin typeface="Calibri"/>
                        </a:rPr>
                        <a:t>Powers the universal [why?] affordance</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Time travel</a:t>
                      </a:r>
                    </a:p>
                  </a:txBody>
                  <a:tcPr marL="82296" marR="64008" marT="32004" marB="32004" anchor="ctr">
                    <a:solidFill>
                      <a:srgbClr val="F6F3EF"/>
                    </a:solidFill>
                  </a:tcPr>
                </a:tc>
                <a:tc>
                  <a:txBody>
                    <a:bodyPr wrap="square"/>
                    <a:lstStyle/>
                    <a:p>
                      <a:pPr algn="l"/>
                      <a:r>
                        <a:rPr sz="1050" b="0">
                          <a:solidFill>
                            <a:srgbClr val="1C1C1E"/>
                          </a:solidFill>
                          <a:latin typeface="Calibri"/>
                        </a:rPr>
                        <a:t>?as_of= on inventory reads</a:t>
                      </a:r>
                    </a:p>
                  </a:txBody>
                  <a:tcPr marL="82296" marR="64008" marT="32004" marB="32004" anchor="ctr">
                    <a:solidFill>
                      <a:srgbClr val="F6F3EF"/>
                    </a:solidFill>
                  </a:tcPr>
                </a:tc>
                <a:tc>
                  <a:txBody>
                    <a:bodyPr wrap="square"/>
                    <a:lstStyle/>
                    <a:p>
                      <a:pPr algn="l"/>
                      <a:r>
                        <a:rPr sz="1050" b="0">
                          <a:solidFill>
                            <a:srgbClr val="1C1C1E"/>
                          </a:solidFill>
                          <a:latin typeface="Calibri"/>
                        </a:rPr>
                        <a:t>Examiner questions about a past date</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Events</a:t>
                      </a:r>
                    </a:p>
                  </a:txBody>
                  <a:tcPr marL="82296" marR="64008" marT="32004" marB="32004" anchor="ctr">
                    <a:solidFill>
                      <a:srgbClr val="FFFFFF"/>
                    </a:solidFill>
                  </a:tcPr>
                </a:tc>
                <a:tc>
                  <a:txBody>
                    <a:bodyPr wrap="square"/>
                    <a:lstStyle/>
                    <a:p>
                      <a:pPr algn="l"/>
                      <a:r>
                        <a:rPr sz="1050" b="0">
                          <a:solidFill>
                            <a:srgbClr val="1C1C1E"/>
                          </a:solidFill>
                          <a:latin typeface="Calibri"/>
                        </a:rPr>
                        <a:t>GET /events (SSE)</a:t>
                      </a:r>
                    </a:p>
                  </a:txBody>
                  <a:tcPr marL="82296" marR="64008" marT="32004" marB="32004" anchor="ctr">
                    <a:solidFill>
                      <a:srgbClr val="FFFFFF"/>
                    </a:solidFill>
                  </a:tcPr>
                </a:tc>
                <a:tc>
                  <a:txBody>
                    <a:bodyPr wrap="square"/>
                    <a:lstStyle/>
                    <a:p>
                      <a:pPr algn="l"/>
                      <a:r>
                        <a:rPr sz="1050" b="0">
                          <a:solidFill>
                            <a:srgbClr val="1C1C1E"/>
                          </a:solidFill>
                          <a:latin typeface="Calibri"/>
                        </a:rPr>
                        <a:t>Task inbox, breaches, job progress without polling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Deprecation</a:t>
                      </a:r>
                    </a:p>
                  </a:txBody>
                  <a:tcPr marL="82296" marR="64008" marT="32004" marB="32004" anchor="ctr">
                    <a:solidFill>
                      <a:srgbClr val="F6F3EF"/>
                    </a:solidFill>
                  </a:tcPr>
                </a:tc>
                <a:tc>
                  <a:txBody>
                    <a:bodyPr wrap="square"/>
                    <a:lstStyle/>
                    <a:p>
                      <a:pPr algn="l"/>
                      <a:r>
                        <a:rPr sz="1050" b="0">
                          <a:solidFill>
                            <a:srgbClr val="1C1C1E"/>
                          </a:solidFill>
                          <a:latin typeface="Calibri"/>
                        </a:rPr>
                        <a:t>Two minor versions of overlap; Sunset headers</a:t>
                      </a:r>
                    </a:p>
                  </a:txBody>
                  <a:tcPr marL="82296" marR="64008" marT="32004" marB="32004" anchor="ctr">
                    <a:solidFill>
                      <a:srgbClr val="F6F3EF"/>
                    </a:solidFill>
                  </a:tcPr>
                </a:tc>
                <a:tc>
                  <a:txBody>
                    <a:bodyPr wrap="square"/>
                    <a:lstStyle/>
                    <a:p>
                      <a:pPr algn="l"/>
                      <a:r>
                        <a:rPr sz="1050" b="0">
                          <a:solidFill>
                            <a:srgbClr val="1C1C1E"/>
                          </a:solidFill>
                          <a:latin typeface="Calibri"/>
                        </a:rPr>
                        <a:t>Clients are never surprised</a:t>
                      </a:r>
                    </a:p>
                  </a:txBody>
                  <a:tcPr marL="82296" marR="64008" marT="32004" marB="32004" anchor="ctr">
                    <a:solidFill>
                      <a:srgbClr val="F6F3E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ENDPOINTS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Resource surface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graphicFrame>
        <p:nvGraphicFramePr>
          <p:cNvPr id="10" name="Table 9"/>
          <p:cNvGraphicFramePr>
            <a:graphicFrameLocks noGrp="1"/>
          </p:cNvGraphicFramePr>
          <p:nvPr/>
        </p:nvGraphicFramePr>
        <p:xfrm>
          <a:off x="777240" y="1353312"/>
          <a:ext cx="10637214" cy="4763516"/>
        </p:xfrm>
        <a:graphic>
          <a:graphicData uri="http://schemas.openxmlformats.org/drawingml/2006/table">
            <a:tbl>
              <a:tblPr firstRow="1">
                <a:tableStyleId>{5C22544A-7EE6-4342-B048-85BDC9FD1C3A}</a:tableStyleId>
              </a:tblPr>
              <a:tblGrid>
                <a:gridCol w="1650602"/>
                <a:gridCol w="8986612"/>
              </a:tblGrid>
              <a:tr h="329184">
                <a:tc>
                  <a:txBody>
                    <a:bodyPr wrap="square"/>
                    <a:lstStyle/>
                    <a:p>
                      <a:pPr algn="l"/>
                      <a:r>
                        <a:rPr sz="1050" b="1">
                          <a:solidFill>
                            <a:srgbClr val="FFFFFF"/>
                          </a:solidFill>
                          <a:latin typeface="Calibri"/>
                        </a:rPr>
                        <a:t>Group</a:t>
                      </a:r>
                    </a:p>
                  </a:txBody>
                  <a:tcPr marL="82296" marR="64008" marT="32004" marB="32004" anchor="ctr">
                    <a:solidFill>
                      <a:srgbClr val="A51C30"/>
                    </a:solidFill>
                  </a:tcPr>
                </a:tc>
                <a:tc>
                  <a:txBody>
                    <a:bodyPr wrap="square"/>
                    <a:lstStyle/>
                    <a:p>
                      <a:pPr algn="l"/>
                      <a:r>
                        <a:rPr sz="1050" b="1">
                          <a:solidFill>
                            <a:srgbClr val="FFFFFF"/>
                          </a:solidFill>
                          <a:latin typeface="Calibri"/>
                        </a:rPr>
                        <a:t>Endpoints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/models · /models/{urn} · /uses · /assumptions · /limitations · /relationships · /blast-radius · /scope-determinations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/models/{urn}/versions · /versions/{id} · /compare · /contract · /reproducibility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Aliases</a:t>
                      </a:r>
                    </a:p>
                  </a:txBody>
                  <a:tcPr marL="82296" marR="64008" marT="32004" marB="32004" anchor="ctr">
                    <a:solidFill>
                      <a:srgbClr val="FFFFFF"/>
                    </a:solidFill>
                  </a:tcPr>
                </a:tc>
                <a:tc>
                  <a:txBody>
                    <a:bodyPr wrap="square"/>
                    <a:lstStyle/>
                    <a:p>
                      <a:pPr algn="l"/>
                      <a:r>
                        <a:rPr sz="1000" b="0">
                          <a:solidFill>
                            <a:srgbClr val="1C1C1E"/>
                          </a:solidFill>
                          <a:latin typeface="Calibri"/>
                        </a:rPr>
                        <a:t>/models/{urn}/environments/{env}/aliases/{name} · /history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a:t>
                      </a:r>
                    </a:p>
                  </a:txBody>
                  <a:tcPr marL="82296" marR="64008" marT="32004" marB="32004" anchor="ctr">
                    <a:solidFill>
                      <a:srgbClr val="F6F3EF"/>
                    </a:solidFill>
                  </a:tcPr>
                </a:tc>
                <a:tc>
                  <a:txBody>
                    <a:bodyPr wrap="square"/>
                    <a:lstStyle/>
                    <a:p>
                      <a:pPr algn="l"/>
                      <a:r>
                        <a:rPr sz="1000" b="0">
                          <a:solidFill>
                            <a:srgbClr val="1C1C1E"/>
                          </a:solidFill>
                          <a:latin typeface="Calibri"/>
                        </a:rPr>
                        <a:t>/models/{urn}/assessments · /assessments/{id} · /tiering/rulesets · /tiering/simulate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a:t>
                      </a:r>
                    </a:p>
                  </a:txBody>
                  <a:tcPr marL="82296" marR="64008" marT="32004" marB="32004" anchor="ctr">
                    <a:solidFill>
                      <a:srgbClr val="FFFFFF"/>
                    </a:solidFill>
                  </a:tcPr>
                </a:tc>
                <a:tc>
                  <a:txBody>
                    <a:bodyPr wrap="square"/>
                    <a:lstStyle/>
                    <a:p>
                      <a:pPr algn="l"/>
                      <a:r>
                        <a:rPr sz="1000" b="0">
                          <a:solidFill>
                            <a:srgbClr val="1C1C1E"/>
                          </a:solidFill>
                          <a:latin typeface="Calibri"/>
                        </a:rPr>
                        <a:t>/features · /feature-views · /feature-views/{id}/versions · /contracts · /training-sets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Runs</a:t>
                      </a:r>
                    </a:p>
                  </a:txBody>
                  <a:tcPr marL="82296" marR="64008" marT="32004" marB="32004" anchor="ctr">
                    <a:solidFill>
                      <a:srgbClr val="F6F3EF"/>
                    </a:solidFill>
                  </a:tcPr>
                </a:tc>
                <a:tc>
                  <a:txBody>
                    <a:bodyPr wrap="square"/>
                    <a:lstStyle/>
                    <a:p>
                      <a:pPr algn="l"/>
                      <a:r>
                        <a:rPr sz="1000" b="0">
                          <a:solidFill>
                            <a:srgbClr val="1C1C1E"/>
                          </a:solidFill>
                          <a:latin typeface="Calibri"/>
                        </a:rPr>
                        <a:t>/runs · /runs/{id}/metrics · /artifacts · /runs/{id}/replay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/validations · /validations/{id}/tests · /findings · /findings/{id}/remediation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Overlays</a:t>
                      </a:r>
                    </a:p>
                  </a:txBody>
                  <a:tcPr marL="82296" marR="64008" marT="32004" marB="32004" anchor="ctr">
                    <a:solidFill>
                      <a:srgbClr val="F6F3EF"/>
                    </a:solidFill>
                  </a:tcPr>
                </a:tc>
                <a:tc>
                  <a:txBody>
                    <a:bodyPr wrap="square"/>
                    <a:lstStyle/>
                    <a:p>
                      <a:pPr algn="l"/>
                      <a:r>
                        <a:rPr sz="1000" b="0">
                          <a:solidFill>
                            <a:srgbClr val="1C1C1E"/>
                          </a:solidFill>
                          <a:latin typeface="Calibri"/>
                        </a:rPr>
                        <a:t>/overlays · /overlays/{id}/measurements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/monitors · /observations · /breaches · /health/{urn}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Warrants</a:t>
                      </a:r>
                    </a:p>
                  </a:txBody>
                  <a:tcPr marL="82296" marR="64008" marT="32004" marB="32004" anchor="ctr">
                    <a:solidFill>
                      <a:srgbClr val="F6F3EF"/>
                    </a:solidFill>
                  </a:tcPr>
                </a:tc>
                <a:tc>
                  <a:txBody>
                    <a:bodyPr wrap="square"/>
                    <a:lstStyle/>
                    <a:p>
                      <a:pPr algn="l"/>
                      <a:r>
                        <a:rPr sz="1000" b="0">
                          <a:solidFill>
                            <a:srgbClr val="1C1C1E"/>
                          </a:solidFill>
                          <a:latin typeface="Calibri"/>
                        </a:rPr>
                        <a:t>/warrants · /v1/resolve (warrant service) · /warrants/{id}/revoke · /telemetry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/documents/compile · /documents/{id} · /documents/{id}/render · /export-packs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a:t>
                      </a:r>
                    </a:p>
                  </a:txBody>
                  <a:tcPr marL="82296" marR="64008" marT="32004" marB="32004" anchor="ctr">
                    <a:solidFill>
                      <a:srgbClr val="F6F3EF"/>
                    </a:solidFill>
                  </a:tcPr>
                </a:tc>
                <a:tc>
                  <a:txBody>
                    <a:bodyPr wrap="square"/>
                    <a:lstStyle/>
                    <a:p>
                      <a:pPr algn="l"/>
                      <a:r>
                        <a:rPr sz="1000" b="0">
                          <a:solidFill>
                            <a:srgbClr val="1C1C1E"/>
                          </a:solidFill>
                          <a:latin typeface="Calibri"/>
                        </a:rPr>
                        <a:t>/policies · /policies/evaluate · /obligations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Assistance</a:t>
                      </a:r>
                    </a:p>
                  </a:txBody>
                  <a:tcPr marL="82296" marR="64008" marT="32004" marB="32004" anchor="ctr">
                    <a:solidFill>
                      <a:srgbClr val="FFFFFF"/>
                    </a:solidFill>
                  </a:tcPr>
                </a:tc>
                <a:tc>
                  <a:txBody>
                    <a:bodyPr wrap="square"/>
                    <a:lstStyle/>
                    <a:p>
                      <a:pPr algn="l"/>
                      <a:r>
                        <a:rPr sz="1000" b="0">
                          <a:solidFill>
                            <a:srgbClr val="1C1C1E"/>
                          </a:solidFill>
                          <a:latin typeface="Calibri"/>
                        </a:rPr>
                        <a:t>/ai/capabilities · /ai/{capability}/draft · /ai/generations/{id}/attest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Admin</a:t>
                      </a:r>
                    </a:p>
                  </a:txBody>
                  <a:tcPr marL="82296" marR="64008" marT="32004" marB="32004" anchor="ctr">
                    <a:solidFill>
                      <a:srgbClr val="F6F3EF"/>
                    </a:solidFill>
                  </a:tcPr>
                </a:tc>
                <a:tc>
                  <a:txBody>
                    <a:bodyPr wrap="square"/>
                    <a:lstStyle/>
                    <a:p>
                      <a:pPr algn="l"/>
                      <a:r>
                        <a:rPr sz="1000" b="0">
                          <a:solidFill>
                            <a:srgbClr val="1C1C1E"/>
                          </a:solidFill>
                          <a:latin typeface="Calibri"/>
                        </a:rPr>
                        <a:t>/model-classes · /lifecycles · /templates · /regimes · /connectors · /users</a:t>
                      </a:r>
                    </a:p>
                  </a:txBody>
                  <a:tcPr marL="82296" marR="64008" marT="32004" marB="32004" anchor="ctr">
                    <a:solidFill>
                      <a:srgbClr val="F6F3E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maya-web — a separate process</a:t>
            </a:r>
          </a:p>
        </p:txBody>
      </p:sp>
      <p:graphicFrame>
        <p:nvGraphicFramePr>
          <p:cNvPr id="11" name="Table 10"/>
          <p:cNvGraphicFramePr>
            <a:graphicFrameLocks noGrp="1"/>
          </p:cNvGraphicFramePr>
          <p:nvPr/>
        </p:nvGraphicFramePr>
        <p:xfrm>
          <a:off x="777240" y="1719072"/>
          <a:ext cx="4999490" cy="2680208"/>
        </p:xfrm>
        <a:graphic>
          <a:graphicData uri="http://schemas.openxmlformats.org/drawingml/2006/table">
            <a:tbl>
              <a:tblPr firstRow="1">
                <a:tableStyleId>{5C22544A-7EE6-4342-B048-85BDC9FD1C3A}</a:tableStyleId>
              </a:tblPr>
              <a:tblGrid>
                <a:gridCol w="1140234"/>
                <a:gridCol w="3859256"/>
              </a:tblGrid>
              <a:tr h="329184">
                <a:tc>
                  <a:txBody>
                    <a:bodyPr wrap="square"/>
                    <a:lstStyle/>
                    <a:p>
                      <a:pPr algn="l"/>
                      <a:r>
                        <a:rPr sz="1050" b="1">
                          <a:solidFill>
                            <a:srgbClr val="FFFFFF"/>
                          </a:solidFill>
                          <a:latin typeface="Calibri"/>
                        </a:rPr>
                        <a:t>Concern</a:t>
                      </a:r>
                    </a:p>
                  </a:txBody>
                  <a:tcPr marL="82296" marR="64008" marT="32004" marB="32004" anchor="ctr">
                    <a:solidFill>
                      <a:srgbClr val="A51C30"/>
                    </a:solidFill>
                  </a:tcPr>
                </a:tc>
                <a:tc>
                  <a:txBody>
                    <a:bodyPr wrap="square"/>
                    <a:lstStyle/>
                    <a:p>
                      <a:pPr algn="l"/>
                      <a:r>
                        <a:rPr sz="1050" b="1">
                          <a:solidFill>
                            <a:srgbClr val="FFFFFF"/>
                          </a:solidFill>
                          <a:latin typeface="Calibri"/>
                        </a:rPr>
                        <a:t>Design</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Auth</a:t>
                      </a:r>
                    </a:p>
                  </a:txBody>
                  <a:tcPr marL="82296" marR="64008" marT="32004" marB="32004" anchor="ctr">
                    <a:solidFill>
                      <a:srgbClr val="FFFFFF"/>
                    </a:solidFill>
                  </a:tcPr>
                </a:tc>
                <a:tc>
                  <a:txBody>
                    <a:bodyPr wrap="square"/>
                    <a:lstStyle/>
                    <a:p>
                      <a:pPr algn="l"/>
                      <a:r>
                        <a:rPr sz="1000" b="0">
                          <a:solidFill>
                            <a:srgbClr val="1C1C1E"/>
                          </a:solidFill>
                          <a:latin typeface="Calibri"/>
                        </a:rPr>
                        <a:t>OIDC + PKCE; access token in memory only; refresh via __Host- SameSite=Strict cookie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Logic</a:t>
                      </a:r>
                    </a:p>
                  </a:txBody>
                  <a:tcPr marL="82296" marR="64008" marT="32004" marB="32004" anchor="ctr">
                    <a:solidFill>
                      <a:srgbClr val="F6F3EF"/>
                    </a:solidFill>
                  </a:tcPr>
                </a:tc>
                <a:tc>
                  <a:txBody>
                    <a:bodyPr wrap="square"/>
                    <a:lstStyle/>
                    <a:p>
                      <a:pPr algn="l"/>
                      <a:r>
                        <a:rPr sz="1000" b="0">
                          <a:solidFill>
                            <a:srgbClr val="1C1C1E"/>
                          </a:solidFill>
                          <a:latin typeface="Calibri"/>
                        </a:rPr>
                        <a:t>P4′ — the client renders decisions, never derives them</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Client</a:t>
                      </a:r>
                    </a:p>
                  </a:txBody>
                  <a:tcPr marL="82296" marR="64008" marT="32004" marB="32004" anchor="ctr">
                    <a:solidFill>
                      <a:srgbClr val="FFFFFF"/>
                    </a:solidFill>
                  </a:tcPr>
                </a:tc>
                <a:tc>
                  <a:txBody>
                    <a:bodyPr wrap="square"/>
                    <a:lstStyle/>
                    <a:p>
                      <a:pPr algn="l"/>
                      <a:r>
                        <a:rPr sz="1000" b="0">
                          <a:solidFill>
                            <a:srgbClr val="1C1C1E"/>
                          </a:solidFill>
                          <a:latin typeface="Calibri"/>
                        </a:rPr>
                        <a:t>Generated from OpenAPI; pinned by openapi.lock.json; drift fails the build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Forms</a:t>
                      </a:r>
                    </a:p>
                  </a:txBody>
                  <a:tcPr marL="82296" marR="64008" marT="32004" marB="32004" anchor="ctr">
                    <a:solidFill>
                      <a:srgbClr val="F6F3EF"/>
                    </a:solidFill>
                  </a:tcPr>
                </a:tc>
                <a:tc>
                  <a:txBody>
                    <a:bodyPr wrap="square"/>
                    <a:lstStyle/>
                    <a:p>
                      <a:pPr algn="l"/>
                      <a:r>
                        <a:rPr sz="1000" b="0">
                          <a:solidFill>
                            <a:srgbClr val="1C1C1E"/>
                          </a:solidFill>
                          <a:latin typeface="Calibri"/>
                        </a:rPr>
                        <a:t>Generated in-browser from the fibre's JSON Schema — a new model class needs no front-end release</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Fetched as server-rendered HTML/PDF, never assembled client-side</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700"/>
              </a:spcAft>
            </a:pPr>
            <a:r>
              <a:rPr sz="1150" b="1">
                <a:solidFill>
                  <a:srgbClr val="A51C30"/>
                </a:solidFill>
                <a:latin typeface="Calibri"/>
              </a:rPr>
              <a:t>▪  </a:t>
            </a:r>
            <a:r>
              <a:rPr sz="1150">
                <a:solidFill>
                  <a:srgbClr val="1C1C1E"/>
                </a:solidFill>
                <a:latin typeface="Calibri"/>
              </a:rPr>
              <a:t>Resolve and verify the descriptor signature</a:t>
            </a:r>
          </a:p>
          <a:p>
            <a:pPr>
              <a:spcBef>
                <a:spcPts val="0"/>
              </a:spcBef>
              <a:spcAft>
                <a:spcPts val="700"/>
              </a:spcAft>
            </a:pPr>
            <a:r>
              <a:rPr sz="1150" b="1">
                <a:solidFill>
                  <a:srgbClr val="A51C30"/>
                </a:solidFill>
                <a:latin typeface="Calibri"/>
              </a:rPr>
              <a:t>▪  </a:t>
            </a:r>
            <a:r>
              <a:rPr sz="1150">
                <a:solidFill>
                  <a:srgbClr val="1C1C1E"/>
                </a:solidFill>
                <a:latin typeface="Calibri"/>
              </a:rPr>
              <a:t>Fetch features per the contract; check freshness</a:t>
            </a:r>
          </a:p>
          <a:p>
            <a:pPr>
              <a:spcBef>
                <a:spcPts val="0"/>
              </a:spcBef>
              <a:spcAft>
                <a:spcPts val="700"/>
              </a:spcAft>
            </a:pPr>
            <a:r>
              <a:rPr sz="1150" b="1">
                <a:solidFill>
                  <a:srgbClr val="A51C30"/>
                </a:solidFill>
                <a:latin typeface="Calibri"/>
              </a:rPr>
              <a:t>▪  </a:t>
            </a:r>
            <a:r>
              <a:rPr sz="1150">
                <a:solidFill>
                  <a:srgbClr val="1C1C1E"/>
                </a:solidFill>
                <a:latin typeface="Calibri"/>
              </a:rPr>
              <a:t>Check operating boundaries before scoring</a:t>
            </a:r>
          </a:p>
          <a:p>
            <a:pPr>
              <a:spcBef>
                <a:spcPts val="0"/>
              </a:spcBef>
              <a:spcAft>
                <a:spcPts val="700"/>
              </a:spcAft>
            </a:pPr>
            <a:r>
              <a:rPr sz="1150" b="1">
                <a:solidFill>
                  <a:srgbClr val="A51C30"/>
                </a:solidFill>
                <a:latin typeface="Calibri"/>
              </a:rPr>
              <a:t>▪  </a:t>
            </a:r>
            <a:r>
              <a:rPr sz="1150">
                <a:solidFill>
                  <a:srgbClr val="1C1C1E"/>
                </a:solidFill>
                <a:latin typeface="Calibri"/>
              </a:rPr>
              <a:t>Emit signed telemetry</a:t>
            </a:r>
          </a:p>
          <a:p>
            <a:pPr>
              <a:spcBef>
                <a:spcPts val="0"/>
              </a:spcBef>
              <a:spcAft>
                <a:spcPts val="700"/>
              </a:spcAft>
            </a:pPr>
            <a:r>
              <a:rPr sz="1150" b="1">
                <a:solidFill>
                  <a:srgbClr val="A51C30"/>
                </a:solidFill>
                <a:latin typeface="Calibri"/>
              </a:rPr>
              <a:t>▪  </a:t>
            </a:r>
            <a:r>
              <a:rPr sz="1150">
                <a:solidFill>
                  <a:srgbClr val="1C1C1E"/>
                </a:solidFill>
                <a:latin typeface="Calibri"/>
              </a:rPr>
              <a:t>Maintain the local revocation list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design point. </a:t>
            </a:r>
            <a:r>
              <a:rPr sz="1150" b="0" i="0">
                <a:solidFill>
                  <a:srgbClr val="1C1C1E"/>
                </a:solidFill>
                <a:latin typeface="Calibri"/>
              </a:rPr>
              <a:t>A developer who uses the SDK gets governance for free and cannot forget a step. If the compliant path is slower than the non-compliant one, the inventory rots — so the SDK ships in Phase 1, not later.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8</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Cross-cutting and Operations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Transactions, concurrency, errors, SLOs, capacity, testing.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Transactions and the outbox</a:t>
            </a:r>
          </a:p>
          <a:p>
            <a:pPr>
              <a:lnSpc>
                <a:spcPct val="115000"/>
              </a:lnSpc>
              <a:spcBef>
                <a:spcPts val="0"/>
              </a:spcBef>
              <a:spcAft>
                <a:spcPts val="700"/>
              </a:spcAft>
            </a:pPr>
            <a:r>
              <a:rPr sz="1150" b="0" i="0">
                <a:solidFill>
                  <a:srgbClr val="F6E6E9"/>
                </a:solidFill>
                <a:latin typeface="Calibri"/>
              </a:rPr>
              <a:t>Concurrency and idempotency</a:t>
            </a:r>
          </a:p>
          <a:p>
            <a:pPr>
              <a:lnSpc>
                <a:spcPct val="115000"/>
              </a:lnSpc>
              <a:spcBef>
                <a:spcPts val="0"/>
              </a:spcBef>
              <a:spcAft>
                <a:spcPts val="700"/>
              </a:spcAft>
            </a:pPr>
            <a:r>
              <a:rPr sz="1150" b="0" i="0">
                <a:solidFill>
                  <a:srgbClr val="F6E6E9"/>
                </a:solidFill>
                <a:latin typeface="Calibri"/>
              </a:rPr>
              <a:t>Error taxonomy</a:t>
            </a:r>
          </a:p>
          <a:p>
            <a:pPr>
              <a:lnSpc>
                <a:spcPct val="115000"/>
              </a:lnSpc>
              <a:spcBef>
                <a:spcPts val="0"/>
              </a:spcBef>
              <a:spcAft>
                <a:spcPts val="700"/>
              </a:spcAft>
            </a:pPr>
            <a:r>
              <a:rPr sz="1150" b="0" i="0">
                <a:solidFill>
                  <a:srgbClr val="F6E6E9"/>
                </a:solidFill>
                <a:latin typeface="Calibri"/>
              </a:rPr>
              <a:t>SLOs and signals</a:t>
            </a:r>
          </a:p>
          <a:p>
            <a:pPr>
              <a:lnSpc>
                <a:spcPct val="115000"/>
              </a:lnSpc>
              <a:spcBef>
                <a:spcPts val="0"/>
              </a:spcBef>
              <a:spcAft>
                <a:spcPts val="700"/>
              </a:spcAft>
            </a:pPr>
            <a:r>
              <a:rPr sz="1150" b="0" i="0">
                <a:solidFill>
                  <a:srgbClr val="F6E6E9"/>
                </a:solidFill>
                <a:latin typeface="Calibri"/>
              </a:rPr>
              <a:t>Capacity</a:t>
            </a:r>
          </a:p>
          <a:p>
            <a:pPr>
              <a:lnSpc>
                <a:spcPct val="115000"/>
              </a:lnSpc>
              <a:spcBef>
                <a:spcPts val="0"/>
              </a:spcBef>
              <a:spcAft>
                <a:spcPts val="700"/>
              </a:spcAft>
            </a:pPr>
            <a:r>
              <a:rPr sz="1150" b="0" i="0">
                <a:solidFill>
                  <a:srgbClr val="F6E6E9"/>
                </a:solidFill>
                <a:latin typeface="Calibri"/>
              </a:rPr>
              <a:t>Testing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Transactions and the outbox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5531351"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maya/platform/db.py</a:t>
            </a:r>
          </a:p>
        </p:txBody>
      </p:sp>
      <p:sp>
        <p:nvSpPr>
          <p:cNvPr id="13" name="TextBox 12"/>
          <p:cNvSpPr txBox="1"/>
          <p:nvPr/>
        </p:nvSpPr>
        <p:spPr>
          <a:xfrm>
            <a:off x="978408" y="1746504"/>
            <a:ext cx="5165591"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uow.transaction() as tx:      # ONE Postgres transaction</a:t>
            </a:r>
          </a:p>
          <a:p>
            <a:pPr>
              <a:lnSpc>
                <a:spcPct val="134000"/>
              </a:lnSpc>
              <a:spcBef>
                <a:spcPts val="0"/>
              </a:spcBef>
              <a:spcAft>
                <a:spcPts val="0"/>
              </a:spcAft>
            </a:pPr>
            <a:r>
              <a:rPr sz="1000" b="0" i="0">
                <a:solidFill>
                  <a:srgbClr val="1C1C1E"/>
                </a:solidFill>
                <a:latin typeface="Consolas"/>
              </a:rPr>
              <a:t>    ...domain mutations...</a:t>
            </a:r>
          </a:p>
          <a:p>
            <a:pPr>
              <a:lnSpc>
                <a:spcPct val="134000"/>
              </a:lnSpc>
              <a:spcBef>
                <a:spcPts val="0"/>
              </a:spcBef>
              <a:spcAft>
                <a:spcPts val="0"/>
              </a:spcAft>
            </a:pPr>
            <a:r>
              <a:rPr sz="1000" b="0" i="0">
                <a:solidFill>
                  <a:srgbClr val="1C1C1E"/>
                </a:solidFill>
                <a:latin typeface="Consolas"/>
              </a:rPr>
              <a:t>    tx.evidence.append(...)        # same transaction — DR-4</a:t>
            </a:r>
          </a:p>
          <a:p>
            <a:pPr>
              <a:lnSpc>
                <a:spcPct val="134000"/>
              </a:lnSpc>
              <a:spcBef>
                <a:spcPts val="0"/>
              </a:spcBef>
              <a:spcAft>
                <a:spcPts val="0"/>
              </a:spcAft>
            </a:pPr>
            <a:r>
              <a:rPr sz="1000" b="0" i="0">
                <a:solidFill>
                  <a:srgbClr val="1C1C1E"/>
                </a:solidFill>
                <a:latin typeface="Consolas"/>
              </a:rPr>
              <a:t>    tx.audit.write(...)            # same transaction</a:t>
            </a:r>
          </a:p>
          <a:p>
            <a:pPr>
              <a:lnSpc>
                <a:spcPct val="134000"/>
              </a:lnSpc>
              <a:spcBef>
                <a:spcPts val="0"/>
              </a:spcBef>
              <a:spcAft>
                <a:spcPts val="0"/>
              </a:spcAft>
            </a:pPr>
            <a:r>
              <a:rPr sz="1000" b="0" i="0">
                <a:solidFill>
                  <a:srgbClr val="1C1C1E"/>
                </a:solidFill>
                <a:latin typeface="Consolas"/>
              </a:rPr>
              <a:t>    tx.outbox.put(event)           # the only way out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commit → relay → Kafka / Delta / cache invalidation</a:t>
            </a:r>
          </a:p>
        </p:txBody>
      </p:sp>
      <p:sp>
        <p:nvSpPr>
          <p:cNvPr id="14" name="TextBox 13"/>
          <p:cNvSpPr txBox="1"/>
          <p:nvPr/>
        </p:nvSpPr>
        <p:spPr>
          <a:xfrm>
            <a:off x="777240" y="3677259"/>
            <a:ext cx="5531351" cy="20116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Rules that follow</a:t>
            </a:r>
          </a:p>
          <a:p>
            <a:pPr>
              <a:spcBef>
                <a:spcPts val="0"/>
              </a:spcBef>
              <a:spcAft>
                <a:spcPts val="600"/>
              </a:spcAft>
            </a:pPr>
            <a:r>
              <a:rPr sz="1100" b="1">
                <a:solidFill>
                  <a:srgbClr val="A51C30"/>
                </a:solidFill>
                <a:latin typeface="Calibri"/>
              </a:rPr>
              <a:t>▪  </a:t>
            </a:r>
            <a:r>
              <a:rPr sz="1100">
                <a:solidFill>
                  <a:srgbClr val="1C1C1E"/>
                </a:solidFill>
                <a:latin typeface="Calibri"/>
              </a:rPr>
              <a:t>Nothing outside platform/db opens a transaction — components receive a UnitOfWork</a:t>
            </a:r>
          </a:p>
          <a:p>
            <a:pPr>
              <a:spcBef>
                <a:spcPts val="0"/>
              </a:spcBef>
              <a:spcAft>
                <a:spcPts val="600"/>
              </a:spcAft>
            </a:pPr>
            <a:r>
              <a:rPr sz="1100" b="1">
                <a:solidFill>
                  <a:srgbClr val="A51C30"/>
                </a:solidFill>
                <a:latin typeface="Calibri"/>
              </a:rPr>
              <a:t>▪  </a:t>
            </a:r>
            <a:r>
              <a:rPr sz="1100">
                <a:solidFill>
                  <a:srgbClr val="1C1C1E"/>
                </a:solidFill>
                <a:latin typeface="Calibri"/>
              </a:rPr>
              <a:t>A derived value and its derivation record commit together, or neither does</a:t>
            </a:r>
          </a:p>
          <a:p>
            <a:pPr>
              <a:spcBef>
                <a:spcPts val="0"/>
              </a:spcBef>
              <a:spcAft>
                <a:spcPts val="600"/>
              </a:spcAft>
            </a:pPr>
            <a:r>
              <a:rPr sz="1100" b="1">
                <a:solidFill>
                  <a:srgbClr val="A51C30"/>
                </a:solidFill>
                <a:latin typeface="Calibri"/>
              </a:rPr>
              <a:t>▪  </a:t>
            </a:r>
            <a:r>
              <a:rPr sz="1100">
                <a:solidFill>
                  <a:srgbClr val="1C1C1E"/>
                </a:solidFill>
                <a:latin typeface="Calibri"/>
              </a:rPr>
              <a:t>Every Delta write carries outbox_id and MERGEs on it, so at-least-once delivery is safe</a:t>
            </a:r>
          </a:p>
          <a:p>
            <a:pPr>
              <a:spcBef>
                <a:spcPts val="0"/>
              </a:spcBef>
              <a:spcAft>
                <a:spcPts val="600"/>
              </a:spcAft>
            </a:pPr>
            <a:r>
              <a:rPr sz="1100" b="1">
                <a:solidFill>
                  <a:srgbClr val="A51C30"/>
                </a:solidFill>
                <a:latin typeface="Calibri"/>
              </a:rPr>
              <a:t>▪  </a:t>
            </a:r>
            <a:r>
              <a:rPr sz="1100">
                <a:solidFill>
                  <a:srgbClr val="1C1C1E"/>
                </a:solidFill>
                <a:latin typeface="Calibri"/>
              </a:rPr>
              <a:t>Nightly reconciliation compares outbox(done) against Delta counts — with a defined repair action, not merely an alert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Partitioning and retention</a:t>
            </a:r>
          </a:p>
        </p:txBody>
      </p:sp>
      <p:graphicFrame>
        <p:nvGraphicFramePr>
          <p:cNvPr id="16" name="Table 15"/>
          <p:cNvGraphicFramePr>
            <a:graphicFrameLocks noGrp="1"/>
          </p:cNvGraphicFramePr>
          <p:nvPr/>
        </p:nvGraphicFramePr>
        <p:xfrm>
          <a:off x="6734080" y="1719072"/>
          <a:ext cx="4680373" cy="1951456"/>
        </p:xfrm>
        <a:graphic>
          <a:graphicData uri="http://schemas.openxmlformats.org/drawingml/2006/table">
            <a:tbl>
              <a:tblPr firstRow="1">
                <a:tableStyleId>{5C22544A-7EE6-4342-B048-85BDC9FD1C3A}</a:tableStyleId>
              </a:tblPr>
              <a:tblGrid>
                <a:gridCol w="1608878"/>
                <a:gridCol w="1901402"/>
                <a:gridCol w="1170093"/>
              </a:tblGrid>
              <a:tr h="329184">
                <a:tc>
                  <a:txBody>
                    <a:bodyPr wrap="square"/>
                    <a:lstStyle/>
                    <a:p>
                      <a:pPr algn="l"/>
                      <a:r>
                        <a:rPr sz="1000" b="1">
                          <a:solidFill>
                            <a:srgbClr val="FFFFFF"/>
                          </a:solidFill>
                          <a:latin typeface="Calibri"/>
                        </a:rPr>
                        <a:t>Table</a:t>
                      </a:r>
                    </a:p>
                  </a:txBody>
                  <a:tcPr marL="82296" marR="64008" marT="32004" marB="32004" anchor="ctr">
                    <a:solidFill>
                      <a:srgbClr val="A51C30"/>
                    </a:solidFill>
                  </a:tcPr>
                </a:tc>
                <a:tc>
                  <a:txBody>
                    <a:bodyPr wrap="square"/>
                    <a:lstStyle/>
                    <a:p>
                      <a:pPr algn="l"/>
                      <a:r>
                        <a:rPr sz="1000" b="1">
                          <a:solidFill>
                            <a:srgbClr val="FFFFFF"/>
                          </a:solidFill>
                          <a:latin typeface="Calibri"/>
                        </a:rPr>
                        <a:t>Partition</a:t>
                      </a:r>
                    </a:p>
                  </a:txBody>
                  <a:tcPr marL="82296" marR="64008" marT="32004" marB="32004" anchor="ctr">
                    <a:solidFill>
                      <a:srgbClr val="A51C30"/>
                    </a:solidFill>
                  </a:tcPr>
                </a:tc>
                <a:tc>
                  <a:txBody>
                    <a:bodyPr wrap="square"/>
                    <a:lstStyle/>
                    <a:p>
                      <a:pPr algn="l"/>
                      <a:r>
                        <a:rPr sz="1000" b="1">
                          <a:solidFill>
                            <a:srgbClr val="FFFFFF"/>
                          </a:solidFill>
                          <a:latin typeface="Calibri"/>
                        </a:rPr>
                        <a:t>Retention</a:t>
                      </a:r>
                    </a:p>
                  </a:txBody>
                  <a:tcPr marL="82296" marR="64008" marT="32004" marB="32004" anchor="ctr">
                    <a:solidFill>
                      <a:srgbClr val="A51C30"/>
                    </a:solidFill>
                  </a:tcPr>
                </a:tc>
              </a:tr>
              <a:tr h="384048">
                <a:tc>
                  <a:txBody>
                    <a:bodyPr wrap="square"/>
                    <a:lstStyle/>
                    <a:p>
                      <a:pPr algn="l"/>
                      <a:r>
                        <a:rPr sz="950" b="1">
                          <a:solidFill>
                            <a:srgbClr val="A51C30"/>
                          </a:solidFill>
                          <a:latin typeface="Calibri"/>
                        </a:rPr>
                        <a:t>audit_log</a:t>
                      </a:r>
                    </a:p>
                  </a:txBody>
                  <a:tcPr marL="82296" marR="64008" marT="32004" marB="32004" anchor="ctr">
                    <a:solidFill>
                      <a:srgbClr val="FFFFFF"/>
                    </a:solidFill>
                  </a:tcPr>
                </a:tc>
                <a:tc>
                  <a:txBody>
                    <a:bodyPr wrap="square"/>
                    <a:lstStyle/>
                    <a:p>
                      <a:pPr algn="l"/>
                      <a:r>
                        <a:rPr sz="950" b="0">
                          <a:solidFill>
                            <a:srgbClr val="1C1C1E"/>
                          </a:solidFill>
                          <a:latin typeface="Calibri"/>
                        </a:rPr>
                        <a:t>Monthly, separate database</a:t>
                      </a:r>
                    </a:p>
                  </a:txBody>
                  <a:tcPr marL="82296" marR="64008" marT="32004" marB="32004" anchor="ctr">
                    <a:solidFill>
                      <a:srgbClr val="FFFFFF"/>
                    </a:solidFill>
                  </a:tcPr>
                </a:tc>
                <a:tc>
                  <a:txBody>
                    <a:bodyPr wrap="square"/>
                    <a:lstStyle/>
                    <a:p>
                      <a:pPr algn="l"/>
                      <a:r>
                        <a:rPr sz="950" b="0">
                          <a:solidFill>
                            <a:srgbClr val="1C1C1E"/>
                          </a:solidFill>
                          <a:latin typeface="Calibri"/>
                        </a:rPr>
                        <a:t>10 y, WORM</a:t>
                      </a:r>
                    </a:p>
                  </a:txBody>
                  <a:tcPr marL="82296" marR="64008" marT="32004" marB="32004" anchor="ctr">
                    <a:solidFill>
                      <a:srgbClr val="FFFFFF"/>
                    </a:solidFill>
                  </a:tcPr>
                </a:tc>
              </a:tr>
              <a:tr h="384048">
                <a:tc>
                  <a:txBody>
                    <a:bodyPr wrap="square"/>
                    <a:lstStyle/>
                    <a:p>
                      <a:pPr algn="l"/>
                      <a:r>
                        <a:rPr sz="950" b="1">
                          <a:solidFill>
                            <a:srgbClr val="A51C30"/>
                          </a:solidFill>
                          <a:latin typeface="Calibri"/>
                        </a:rPr>
                        <a:t>evidence_node</a:t>
                      </a:r>
                    </a:p>
                  </a:txBody>
                  <a:tcPr marL="82296" marR="64008" marT="32004" marB="32004" anchor="ctr">
                    <a:solidFill>
                      <a:srgbClr val="F6F3EF"/>
                    </a:solidFill>
                  </a:tcPr>
                </a:tc>
                <a:tc>
                  <a:txBody>
                    <a:bodyPr wrap="square"/>
                    <a:lstStyle/>
                    <a:p>
                      <a:pPr algn="l"/>
                      <a:r>
                        <a:rPr sz="950" b="0">
                          <a:solidFill>
                            <a:srgbClr val="1C1C1E"/>
                          </a:solidFill>
                          <a:latin typeface="Calibri"/>
                        </a:rPr>
                        <a:t>Monthly</a:t>
                      </a:r>
                    </a:p>
                  </a:txBody>
                  <a:tcPr marL="82296" marR="64008" marT="32004" marB="32004" anchor="ctr">
                    <a:solidFill>
                      <a:srgbClr val="F6F3EF"/>
                    </a:solidFill>
                  </a:tcPr>
                </a:tc>
                <a:tc>
                  <a:txBody>
                    <a:bodyPr wrap="square"/>
                    <a:lstStyle/>
                    <a:p>
                      <a:pPr algn="l"/>
                      <a:r>
                        <a:rPr sz="950" b="0">
                          <a:solidFill>
                            <a:srgbClr val="1C1C1E"/>
                          </a:solidFill>
                          <a:latin typeface="Calibri"/>
                        </a:rPr>
                        <a:t>Life + 10 y</a:t>
                      </a:r>
                    </a:p>
                  </a:txBody>
                  <a:tcPr marL="82296" marR="64008" marT="32004" marB="32004" anchor="ctr">
                    <a:solidFill>
                      <a:srgbClr val="F6F3EF"/>
                    </a:solidFill>
                  </a:tcPr>
                </a:tc>
              </a:tr>
              <a:tr h="384048">
                <a:tc>
                  <a:txBody>
                    <a:bodyPr wrap="square"/>
                    <a:lstStyle/>
                    <a:p>
                      <a:pPr algn="l"/>
                      <a:r>
                        <a:rPr sz="950" b="1">
                          <a:solidFill>
                            <a:srgbClr val="A51C30"/>
                          </a:solidFill>
                          <a:latin typeface="Calibri"/>
                        </a:rPr>
                        <a:t>ai_generation</a:t>
                      </a:r>
                    </a:p>
                  </a:txBody>
                  <a:tcPr marL="82296" marR="64008" marT="32004" marB="32004" anchor="ctr">
                    <a:solidFill>
                      <a:srgbClr val="FFFFFF"/>
                    </a:solidFill>
                  </a:tcPr>
                </a:tc>
                <a:tc>
                  <a:txBody>
                    <a:bodyPr wrap="square"/>
                    <a:lstStyle/>
                    <a:p>
                      <a:pPr algn="l"/>
                      <a:r>
                        <a:rPr sz="950" b="0">
                          <a:solidFill>
                            <a:srgbClr val="1C1C1E"/>
                          </a:solidFill>
                          <a:latin typeface="Calibri"/>
                        </a:rPr>
                        <a:t>Monthly</a:t>
                      </a:r>
                    </a:p>
                  </a:txBody>
                  <a:tcPr marL="82296" marR="64008" marT="32004" marB="32004" anchor="ctr">
                    <a:solidFill>
                      <a:srgbClr val="FFFFFF"/>
                    </a:solidFill>
                  </a:tcPr>
                </a:tc>
                <a:tc>
                  <a:txBody>
                    <a:bodyPr wrap="square"/>
                    <a:lstStyle/>
                    <a:p>
                      <a:pPr algn="l"/>
                      <a:r>
                        <a:rPr sz="950" b="0">
                          <a:solidFill>
                            <a:srgbClr val="1C1C1E"/>
                          </a:solidFill>
                          <a:latin typeface="Calibri"/>
                        </a:rPr>
                        <a:t>3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inference_log (Delta)</a:t>
                      </a:r>
                    </a:p>
                  </a:txBody>
                  <a:tcPr marL="82296" marR="64008" marT="32004" marB="32004" anchor="ctr">
                    <a:solidFill>
                      <a:srgbClr val="F6F3EF"/>
                    </a:solidFill>
                  </a:tcPr>
                </a:tc>
                <a:tc>
                  <a:txBody>
                    <a:bodyPr wrap="square"/>
                    <a:lstStyle/>
                    <a:p>
                      <a:pPr algn="l"/>
                      <a:r>
                        <a:rPr sz="950" b="0">
                          <a:solidFill>
                            <a:srgbClr val="1C1C1E"/>
                          </a:solidFill>
                          <a:latin typeface="Calibri"/>
                        </a:rPr>
                        <a:t>By date, clustered by model_urn</a:t>
                      </a:r>
                    </a:p>
                  </a:txBody>
                  <a:tcPr marL="82296" marR="64008" marT="32004" marB="32004" anchor="ctr">
                    <a:solidFill>
                      <a:srgbClr val="F6F3EF"/>
                    </a:solidFill>
                  </a:tcPr>
                </a:tc>
                <a:tc>
                  <a:txBody>
                    <a:bodyPr wrap="square"/>
                    <a:lstStyle/>
                    <a:p>
                      <a:pPr algn="l"/>
                      <a:r>
                        <a:rPr sz="950" b="0">
                          <a:solidFill>
                            <a:srgbClr val="1C1C1E"/>
                          </a:solidFill>
                          <a:latin typeface="Calibri"/>
                        </a:rPr>
                        <a:t>Per regulatory class</a:t>
                      </a:r>
                    </a:p>
                  </a:txBody>
                  <a:tcPr marL="82296" marR="64008" marT="32004" marB="32004" anchor="ctr">
                    <a:solidFill>
                      <a:srgbClr val="F6F3EF"/>
                    </a:solidFill>
                  </a:tcPr>
                </a:tc>
              </a:tr>
            </a:tbl>
          </a:graphicData>
        </a:graphic>
      </p:graphicFrame>
      <p:sp>
        <p:nvSpPr>
          <p:cNvPr id="17" name="Rectangle 16"/>
          <p:cNvSpPr/>
          <p:nvPr/>
        </p:nvSpPr>
        <p:spPr>
          <a:xfrm>
            <a:off x="6734080" y="3685031"/>
            <a:ext cx="4680374"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734080" y="36850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971824" y="3813048"/>
            <a:ext cx="4223174" cy="86868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Audit lives on its own database. </a:t>
            </a:r>
            <a:r>
              <a:rPr sz="1100" b="0" i="0">
                <a:solidFill>
                  <a:srgbClr val="1C1C1E"/>
                </a:solidFill>
                <a:latin typeface="Calibri"/>
              </a:rPr>
              <a:t>It is write-heavy and cannot be lost; evidence traversal is read-heavy and recursive. On one primary they compete.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CORRECTNESS UNDER LOAD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Concurrency, idempotency, caching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graphicFrame>
        <p:nvGraphicFramePr>
          <p:cNvPr id="10" name="Table 9"/>
          <p:cNvGraphicFramePr>
            <a:graphicFrameLocks noGrp="1"/>
          </p:cNvGraphicFramePr>
          <p:nvPr/>
        </p:nvGraphicFramePr>
        <p:xfrm>
          <a:off x="777240" y="1353312"/>
          <a:ext cx="5637723" cy="3338193"/>
        </p:xfrm>
        <a:graphic>
          <a:graphicData uri="http://schemas.openxmlformats.org/drawingml/2006/table">
            <a:tbl>
              <a:tblPr firstRow="1">
                <a:tableStyleId>{5C22544A-7EE6-4342-B048-85BDC9FD1C3A}</a:tableStyleId>
              </a:tblPr>
              <a:tblGrid>
                <a:gridCol w="2220921"/>
                <a:gridCol w="3416802"/>
              </a:tblGrid>
              <a:tr h="333781">
                <a:tc>
                  <a:txBody>
                    <a:bodyPr wrap="square"/>
                    <a:lstStyle/>
                    <a:p>
                      <a:pPr algn="l"/>
                      <a:r>
                        <a:rPr sz="1100" b="1">
                          <a:solidFill>
                            <a:srgbClr val="FFFFFF"/>
                          </a:solidFill>
                          <a:latin typeface="Calibri"/>
                        </a:rPr>
                        <a:t>Hazard</a:t>
                      </a:r>
                    </a:p>
                  </a:txBody>
                  <a:tcPr marL="82296" marR="64008" marT="32004" marB="32004" anchor="ctr">
                    <a:solidFill>
                      <a:srgbClr val="A51C30"/>
                    </a:solidFill>
                  </a:tcPr>
                </a:tc>
                <a:tc>
                  <a:txBody>
                    <a:bodyPr wrap="square"/>
                    <a:lstStyle/>
                    <a:p>
                      <a:pPr algn="l"/>
                      <a:r>
                        <a:rPr sz="1100" b="1">
                          <a:solidFill>
                            <a:srgbClr val="FFFFFF"/>
                          </a:solidFill>
                          <a:latin typeface="Calibri"/>
                        </a:rPr>
                        <a:t>Control</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Concurrent alias moves</a:t>
                      </a:r>
                    </a:p>
                  </a:txBody>
                  <a:tcPr marL="82296" marR="64008" marT="32004" marB="32004" anchor="ctr">
                    <a:solidFill>
                      <a:srgbClr val="FFFFFF"/>
                    </a:solidFill>
                  </a:tcPr>
                </a:tc>
                <a:tc>
                  <a:txBody>
                    <a:bodyPr wrap="square"/>
                    <a:lstStyle/>
                    <a:p>
                      <a:pPr algn="l"/>
                      <a:r>
                        <a:rPr sz="1050" b="0">
                          <a:solidFill>
                            <a:srgbClr val="1C1C1E"/>
                          </a:solidFill>
                          <a:latin typeface="Calibri"/>
                        </a:rPr>
                        <a:t>Postgres advisory lock per (model, environment)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Concurrent version creation</a:t>
                      </a:r>
                    </a:p>
                  </a:txBody>
                  <a:tcPr marL="82296" marR="64008" marT="32004" marB="32004" anchor="ctr">
                    <a:solidFill>
                      <a:srgbClr val="F6F3EF"/>
                    </a:solidFill>
                  </a:tcPr>
                </a:tc>
                <a:tc>
                  <a:txBody>
                    <a:bodyPr wrap="square"/>
                    <a:lstStyle/>
                    <a:p>
                      <a:pPr algn="l"/>
                      <a:r>
                        <a:rPr sz="1050" b="0">
                          <a:solidFill>
                            <a:srgbClr val="1C1C1E"/>
                          </a:solidFill>
                          <a:latin typeface="Calibri"/>
                        </a:rPr>
                        <a:t>Unique (model_id, semver); content-addressed artifacts deduplicate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contention</a:t>
                      </a:r>
                    </a:p>
                  </a:txBody>
                  <a:tcPr marL="82296" marR="64008" marT="32004" marB="32004" anchor="ctr">
                    <a:solidFill>
                      <a:srgbClr val="FFFFFF"/>
                    </a:solidFill>
                  </a:tcPr>
                </a:tc>
                <a:tc>
                  <a:txBody>
                    <a:bodyPr wrap="square"/>
                    <a:lstStyle/>
                    <a:p>
                      <a:pPr algn="l"/>
                      <a:r>
                        <a:rPr sz="1050" b="0">
                          <a:solidFill>
                            <a:srgbClr val="1C1C1E"/>
                          </a:solidFill>
                          <a:latin typeface="Calibri"/>
                        </a:rPr>
                        <a:t>Short lock around seq allocation only; append is O(1)</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Duplicate API submissions</a:t>
                      </a:r>
                    </a:p>
                  </a:txBody>
                  <a:tcPr marL="82296" marR="64008" marT="32004" marB="32004" anchor="ctr">
                    <a:solidFill>
                      <a:srgbClr val="F6F3EF"/>
                    </a:solidFill>
                  </a:tcPr>
                </a:tc>
                <a:tc>
                  <a:txBody>
                    <a:bodyPr wrap="square"/>
                    <a:lstStyle/>
                    <a:p>
                      <a:pPr algn="l"/>
                      <a:r>
                        <a:rPr sz="1050" b="0">
                          <a:solidFill>
                            <a:srgbClr val="1C1C1E"/>
                          </a:solidFill>
                          <a:latin typeface="Calibri"/>
                        </a:rPr>
                        <a:t>Idempotency-Key with a 24-hour replay of the original response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Lost updates on inventory edits</a:t>
                      </a:r>
                    </a:p>
                  </a:txBody>
                  <a:tcPr marL="82296" marR="64008" marT="32004" marB="32004" anchor="ctr">
                    <a:solidFill>
                      <a:srgbClr val="FFFFF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Duplicate outbox delivery</a:t>
                      </a:r>
                    </a:p>
                  </a:txBody>
                  <a:tcPr marL="82296" marR="64008" marT="32004" marB="32004" anchor="ctr">
                    <a:solidFill>
                      <a:srgbClr val="F6F3EF"/>
                    </a:solidFill>
                  </a:tcPr>
                </a:tc>
                <a:tc>
                  <a:txBody>
                    <a:bodyPr wrap="square"/>
                    <a:lstStyle/>
                    <a:p>
                      <a:pPr algn="l"/>
                      <a:r>
                        <a:rPr sz="1050" b="0">
                          <a:solidFill>
                            <a:srgbClr val="1C1C1E"/>
                          </a:solidFill>
                          <a:latin typeface="Calibri"/>
                        </a:rPr>
                        <a:t>MERGE on outbox_id</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Concurrent materialisation</a:t>
                      </a:r>
                    </a:p>
                  </a:txBody>
                  <a:tcPr marL="82296" marR="64008" marT="32004" marB="32004" anchor="ctr">
                    <a:solidFill>
                      <a:srgbClr val="FFFFFF"/>
                    </a:solidFill>
                  </a:tcPr>
                </a:tc>
                <a:tc>
                  <a:txBody>
                    <a:bodyPr wrap="square"/>
                    <a:lstStyle/>
                    <a:p>
                      <a:pPr algn="l"/>
                      <a:r>
                        <a:rPr sz="1050" b="0">
                          <a:solidFill>
                            <a:srgbClr val="1C1C1E"/>
                          </a:solidFill>
                          <a:latin typeface="Calibri"/>
                        </a:rPr>
                        <a:t>Delta ACID; view version pinned per job</a:t>
                      </a:r>
                    </a:p>
                  </a:txBody>
                  <a:tcPr marL="82296" marR="64008" marT="32004" marB="32004" anchor="ctr">
                    <a:solidFill>
                      <a:srgbClr val="FFFFFF"/>
                    </a:solidFill>
                  </a:tcPr>
                </a:tc>
              </a:tr>
            </a:tbl>
          </a:graphicData>
        </a:graphic>
      </p:graphicFrame>
      <p:sp>
        <p:nvSpPr>
          <p:cNvPr id="11" name="TextBox 10"/>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Cache inventory</a:t>
            </a:r>
          </a:p>
        </p:txBody>
      </p:sp>
      <p:graphicFrame>
        <p:nvGraphicFramePr>
          <p:cNvPr id="12" name="Table 11"/>
          <p:cNvGraphicFramePr>
            <a:graphicFrameLocks noGrp="1"/>
          </p:cNvGraphicFramePr>
          <p:nvPr/>
        </p:nvGraphicFramePr>
        <p:xfrm>
          <a:off x="6840452" y="1719072"/>
          <a:ext cx="4574000" cy="2513024"/>
        </p:xfrm>
        <a:graphic>
          <a:graphicData uri="http://schemas.openxmlformats.org/drawingml/2006/table">
            <a:tbl>
              <a:tblPr firstRow="1">
                <a:tableStyleId>{5C22544A-7EE6-4342-B048-85BDC9FD1C3A}</a:tableStyleId>
              </a:tblPr>
              <a:tblGrid>
                <a:gridCol w="1783085"/>
                <a:gridCol w="1317932"/>
                <a:gridCol w="1472983"/>
              </a:tblGrid>
              <a:tr h="329184">
                <a:tc>
                  <a:txBody>
                    <a:bodyPr wrap="square"/>
                    <a:lstStyle/>
                    <a:p>
                      <a:pPr algn="l"/>
                      <a:r>
                        <a:rPr sz="1000" b="1">
                          <a:solidFill>
                            <a:srgbClr val="FFFFFF"/>
                          </a:solidFill>
                          <a:latin typeface="Calibri"/>
                        </a:rPr>
                        <a:t>Cache</a:t>
                      </a:r>
                    </a:p>
                  </a:txBody>
                  <a:tcPr marL="82296" marR="64008" marT="32004" marB="32004" anchor="ctr">
                    <a:solidFill>
                      <a:srgbClr val="A51C30"/>
                    </a:solidFill>
                  </a:tcPr>
                </a:tc>
                <a:tc>
                  <a:txBody>
                    <a:bodyPr wrap="square"/>
                    <a:lstStyle/>
                    <a:p>
                      <a:pPr algn="l"/>
                      <a:r>
                        <a:rPr sz="1000" b="1">
                          <a:solidFill>
                            <a:srgbClr val="FFFFFF"/>
                          </a:solidFill>
                          <a:latin typeface="Calibri"/>
                        </a:rPr>
                        <a:t>TTL</a:t>
                      </a:r>
                    </a:p>
                  </a:txBody>
                  <a:tcPr marL="82296" marR="64008" marT="32004" marB="32004" anchor="ctr">
                    <a:solidFill>
                      <a:srgbClr val="A51C30"/>
                    </a:solidFill>
                  </a:tcPr>
                </a:tc>
                <a:tc>
                  <a:txBody>
                    <a:bodyPr wrap="square"/>
                    <a:lstStyle/>
                    <a:p>
                      <a:pPr algn="l"/>
                      <a:r>
                        <a:rPr sz="1000" b="1">
                          <a:solidFill>
                            <a:srgbClr val="FFFFFF"/>
                          </a:solidFill>
                          <a:latin typeface="Calibri"/>
                        </a:rPr>
                        <a:t>Invalidation</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Warrant descriptor (Redis)</a:t>
                      </a:r>
                    </a:p>
                  </a:txBody>
                  <a:tcPr marL="82296" marR="64008" marT="32004" marB="32004" anchor="ctr">
                    <a:solidFill>
                      <a:srgbClr val="FFFFFF"/>
                    </a:solidFill>
                  </a:tcPr>
                </a:tc>
                <a:tc>
                  <a:txBody>
                    <a:bodyPr wrap="square"/>
                    <a:lstStyle/>
                    <a:p>
                      <a:pPr algn="l"/>
                      <a:r>
                        <a:rPr sz="950" b="0">
                          <a:solidFill>
                            <a:srgbClr val="1C1C1E"/>
                          </a:solidFill>
                          <a:latin typeface="Calibri"/>
                        </a:rPr>
                        <a:t>60 s – 1 h by tier</a:t>
                      </a:r>
                    </a:p>
                  </a:txBody>
                  <a:tcPr marL="82296" marR="64008" marT="32004" marB="32004" anchor="ctr">
                    <a:solidFill>
                      <a:srgbClr val="FFFFFF"/>
                    </a:solidFill>
                  </a:tcPr>
                </a:tc>
                <a:tc>
                  <a:txBody>
                    <a:bodyPr wrap="square"/>
                    <a:lstStyle/>
                    <a:p>
                      <a:pPr algn="l"/>
                      <a:r>
                        <a:rPr sz="950" b="0">
                          <a:solidFill>
                            <a:srgbClr val="1C1C1E"/>
                          </a:solidFill>
                          <a:latin typeface="Calibri"/>
                        </a:rPr>
                        <a:t>Pre-warm, then swap</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Warrant descriptor (LRU)</a:t>
                      </a:r>
                    </a:p>
                  </a:txBody>
                  <a:tcPr marL="82296" marR="64008" marT="32004" marB="32004" anchor="ctr">
                    <a:solidFill>
                      <a:srgbClr val="F6F3EF"/>
                    </a:solidFill>
                  </a:tcPr>
                </a:tc>
                <a:tc>
                  <a:txBody>
                    <a:bodyPr wrap="square"/>
                    <a:lstStyle/>
                    <a:p>
                      <a:pPr algn="l"/>
                      <a:r>
                        <a:rPr sz="950" b="0">
                          <a:solidFill>
                            <a:srgbClr val="1C1C1E"/>
                          </a:solidFill>
                          <a:latin typeface="Calibri"/>
                        </a:rPr>
                        <a:t>≤ TTL</a:t>
                      </a:r>
                    </a:p>
                  </a:txBody>
                  <a:tcPr marL="82296" marR="64008" marT="32004" marB="32004" anchor="ctr">
                    <a:solidFill>
                      <a:srgbClr val="F6F3EF"/>
                    </a:solidFill>
                  </a:tcPr>
                </a:tc>
                <a:tc>
                  <a:txBody>
                    <a:bodyPr wrap="square"/>
                    <a:lstStyle/>
                    <a:p>
                      <a:pPr algn="l"/>
                      <a:r>
                        <a:rPr sz="950" b="0">
                          <a:solidFill>
                            <a:srgbClr val="1C1C1E"/>
                          </a:solidFill>
                          <a:latin typeface="Calibri"/>
                        </a:rPr>
                        <a:t>Epoch bump</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Inventory summary</a:t>
                      </a:r>
                    </a:p>
                  </a:txBody>
                  <a:tcPr marL="82296" marR="64008" marT="32004" marB="32004" anchor="ctr">
                    <a:solidFill>
                      <a:srgbClr val="FFFFFF"/>
                    </a:solidFill>
                  </a:tcPr>
                </a:tc>
                <a:tc>
                  <a:txBody>
                    <a:bodyPr wrap="square"/>
                    <a:lstStyle/>
                    <a:p>
                      <a:pPr algn="l"/>
                      <a:r>
                        <a:rPr sz="950" b="0">
                          <a:solidFill>
                            <a:srgbClr val="1C1C1E"/>
                          </a:solidFill>
                          <a:latin typeface="Calibri"/>
                        </a:rPr>
                        <a:t>materialised</a:t>
                      </a:r>
                    </a:p>
                  </a:txBody>
                  <a:tcPr marL="82296" marR="64008" marT="32004" marB="32004" anchor="ctr">
                    <a:solidFill>
                      <a:srgbClr val="FFFFFF"/>
                    </a:solidFill>
                  </a:tcPr>
                </a:tc>
                <a:tc>
                  <a:txBody>
                    <a:bodyPr wrap="square"/>
                    <a:lstStyle/>
                    <a:p>
                      <a:pPr algn="l"/>
                      <a:r>
                        <a:rPr sz="950" b="0">
                          <a:solidFill>
                            <a:srgbClr val="1C1C1E"/>
                          </a:solidFill>
                          <a:latin typeface="Calibri"/>
                        </a:rPr>
                        <a:t>Domain event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Rendered documents</a:t>
                      </a:r>
                    </a:p>
                  </a:txBody>
                  <a:tcPr marL="82296" marR="64008" marT="32004" marB="32004" anchor="ctr">
                    <a:solidFill>
                      <a:srgbClr val="F6F3EF"/>
                    </a:solidFill>
                  </a:tcPr>
                </a:tc>
                <a:tc>
                  <a:txBody>
                    <a:bodyPr wrap="square"/>
                    <a:lstStyle/>
                    <a:p>
                      <a:pPr algn="l"/>
                      <a:r>
                        <a:rPr sz="950" b="0">
                          <a:solidFill>
                            <a:srgbClr val="1C1C1E"/>
                          </a:solidFill>
                          <a:latin typeface="Calibri"/>
                        </a:rPr>
                        <a:t>indefinite</a:t>
                      </a:r>
                    </a:p>
                  </a:txBody>
                  <a:tcPr marL="82296" marR="64008" marT="32004" marB="32004" anchor="ctr">
                    <a:solidFill>
                      <a:srgbClr val="F6F3EF"/>
                    </a:solidFill>
                  </a:tcPr>
                </a:tc>
                <a:tc>
                  <a:txBody>
                    <a:bodyPr wrap="square"/>
                    <a:lstStyle/>
                    <a:p>
                      <a:pPr algn="l"/>
                      <a:r>
                        <a:rPr sz="950" b="0">
                          <a:solidFill>
                            <a:srgbClr val="1C1C1E"/>
                          </a:solidFill>
                          <a:latin typeface="Calibri"/>
                        </a:rPr>
                        <a:t>evidence_digest change</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Blast-radius closure</a:t>
                      </a:r>
                    </a:p>
                  </a:txBody>
                  <a:tcPr marL="82296" marR="64008" marT="32004" marB="32004" anchor="ctr">
                    <a:solidFill>
                      <a:srgbClr val="FFFFFF"/>
                    </a:solidFill>
                  </a:tcPr>
                </a:tc>
                <a:tc>
                  <a:txBody>
                    <a:bodyPr wrap="square"/>
                    <a:lstStyle/>
                    <a:p>
                      <a:pPr algn="l"/>
                      <a:r>
                        <a:rPr sz="950" b="0">
                          <a:solidFill>
                            <a:srgbClr val="1C1C1E"/>
                          </a:solidFill>
                          <a:latin typeface="Calibri"/>
                        </a:rPr>
                        <a:t>24 h</a:t>
                      </a:r>
                    </a:p>
                  </a:txBody>
                  <a:tcPr marL="82296" marR="64008" marT="32004" marB="32004" anchor="ctr">
                    <a:solidFill>
                      <a:srgbClr val="FFFFFF"/>
                    </a:solidFill>
                  </a:tcPr>
                </a:tc>
                <a:tc>
                  <a:txBody>
                    <a:bodyPr wrap="square"/>
                    <a:lstStyle/>
                    <a:p>
                      <a:pPr algn="l"/>
                      <a:r>
                        <a:rPr sz="950" b="0">
                          <a:solidFill>
                            <a:srgbClr val="1C1C1E"/>
                          </a:solidFill>
                          <a:latin typeface="Calibri"/>
                        </a:rPr>
                        <a:t>Edge change</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Policy bundles</a:t>
                      </a:r>
                    </a:p>
                  </a:txBody>
                  <a:tcPr marL="82296" marR="64008" marT="32004" marB="32004" anchor="ctr">
                    <a:solidFill>
                      <a:srgbClr val="F6F3EF"/>
                    </a:solidFill>
                  </a:tcPr>
                </a:tc>
                <a:tc>
                  <a:txBody>
                    <a:bodyPr wrap="square"/>
                    <a:lstStyle/>
                    <a:p>
                      <a:pPr algn="l"/>
                      <a:r>
                        <a:rPr sz="950" b="0">
                          <a:solidFill>
                            <a:srgbClr val="1C1C1E"/>
                          </a:solidFill>
                          <a:latin typeface="Calibri"/>
                        </a:rPr>
                        <a:t>version</a:t>
                      </a:r>
                    </a:p>
                  </a:txBody>
                  <a:tcPr marL="82296" marR="64008" marT="32004" marB="32004" anchor="ctr">
                    <a:solidFill>
                      <a:srgbClr val="F6F3EF"/>
                    </a:solidFill>
                  </a:tcPr>
                </a:tc>
                <a:tc>
                  <a:txBody>
                    <a:bodyPr wrap="square"/>
                    <a:lstStyle/>
                    <a:p>
                      <a:pPr algn="l"/>
                      <a:r>
                        <a:rPr sz="950" b="0">
                          <a:solidFill>
                            <a:srgbClr val="1C1C1E"/>
                          </a:solidFill>
                          <a:latin typeface="Calibri"/>
                        </a:rPr>
                        <a:t>On publish</a:t>
                      </a:r>
                    </a:p>
                  </a:txBody>
                  <a:tcPr marL="82296" marR="64008" marT="32004" marB="32004" anchor="ctr">
                    <a:solidFill>
                      <a:srgbClr val="F6F3EF"/>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Error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graphicFrame>
        <p:nvGraphicFramePr>
          <p:cNvPr id="10" name="Table 9"/>
          <p:cNvGraphicFramePr>
            <a:graphicFrameLocks noGrp="1"/>
          </p:cNvGraphicFramePr>
          <p:nvPr/>
        </p:nvGraphicFramePr>
        <p:xfrm>
          <a:off x="777240" y="1353312"/>
          <a:ext cx="10637213" cy="4130040"/>
        </p:xfrm>
        <a:graphic>
          <a:graphicData uri="http://schemas.openxmlformats.org/drawingml/2006/table">
            <a:tbl>
              <a:tblPr firstRow="1">
                <a:tableStyleId>{5C22544A-7EE6-4342-B048-85BDC9FD1C3A}</a:tableStyleId>
              </a:tblPr>
              <a:tblGrid>
                <a:gridCol w="2292503"/>
                <a:gridCol w="1100401"/>
                <a:gridCol w="3851405"/>
                <a:gridCol w="3392904"/>
              </a:tblGrid>
              <a:tr h="329184">
                <a:tc>
                  <a:txBody>
                    <a:bodyPr wrap="square"/>
                    <a:lstStyle/>
                    <a:p>
                      <a:pPr algn="l"/>
                      <a:r>
                        <a:rPr sz="1050" b="1">
                          <a:solidFill>
                            <a:srgbClr val="FFFFFF"/>
                          </a:solidFill>
                          <a:latin typeface="Calibri"/>
                        </a:rPr>
                        <a:t>Code</a:t>
                      </a:r>
                    </a:p>
                  </a:txBody>
                  <a:tcPr marL="82296" marR="64008" marT="32004" marB="32004" anchor="ctr">
                    <a:solidFill>
                      <a:srgbClr val="A51C30"/>
                    </a:solidFill>
                  </a:tcPr>
                </a:tc>
                <a:tc>
                  <a:txBody>
                    <a:bodyPr wrap="square"/>
                    <a:lstStyle/>
                    <a:p>
                      <a:pPr algn="l"/>
                      <a:r>
                        <a:rPr sz="1050" b="1">
                          <a:solidFill>
                            <a:srgbClr val="FFFFFF"/>
                          </a:solidFill>
                          <a:latin typeface="Calibri"/>
                        </a:rPr>
                        <a:t>HTTP</a:t>
                      </a:r>
                    </a:p>
                  </a:txBody>
                  <a:tcPr marL="82296" marR="64008" marT="32004" marB="32004" anchor="ctr">
                    <a:solidFill>
                      <a:srgbClr val="A51C30"/>
                    </a:solidFill>
                  </a:tcPr>
                </a:tc>
                <a:tc>
                  <a:txBody>
                    <a:bodyPr wrap="square"/>
                    <a:lstStyle/>
                    <a:p>
                      <a:pPr algn="l"/>
                      <a:r>
                        <a:rPr sz="1050" b="1">
                          <a:solidFill>
                            <a:srgbClr val="FFFFFF"/>
                          </a:solidFill>
                          <a:latin typeface="Calibri"/>
                        </a:rPr>
                        <a:t>Meaning</a:t>
                      </a:r>
                    </a:p>
                  </a:txBody>
                  <a:tcPr marL="82296" marR="64008" marT="32004" marB="32004" anchor="ctr">
                    <a:solidFill>
                      <a:srgbClr val="A51C30"/>
                    </a:solidFill>
                  </a:tcPr>
                </a:tc>
                <a:tc>
                  <a:txBody>
                    <a:bodyPr wrap="square"/>
                    <a:lstStyle/>
                    <a:p>
                      <a:pPr algn="l"/>
                      <a:r>
                        <a:rPr sz="1050" b="1">
                          <a:solidFill>
                            <a:srgbClr val="FFFFFF"/>
                          </a:solidFill>
                          <a:latin typeface="Calibri"/>
                        </a:rPr>
                        <a:t>Client action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1000" b="0">
                          <a:solidFill>
                            <a:srgbClr val="1C1C1E"/>
                          </a:solidFill>
                          <a:latin typeface="Calibri"/>
                        </a:rPr>
                        <a:t>422</a:t>
                      </a:r>
                    </a:p>
                  </a:txBody>
                  <a:tcPr marL="82296" marR="64008" marT="32004" marB="32004" anchor="ctr">
                    <a:solidFill>
                      <a:srgbClr val="FFFFFF"/>
                    </a:solidFill>
                  </a:tcPr>
                </a:tc>
                <a:tc>
                  <a:txBody>
                    <a:bodyPr wrap="square"/>
                    <a:lstStyle/>
                    <a:p>
                      <a:pPr algn="l"/>
                      <a:r>
                        <a:rPr sz="100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1000" b="0">
                          <a:solidFill>
                            <a:srgbClr val="1C1C1E"/>
                          </a:solidFill>
                          <a:latin typeface="Calibri"/>
                        </a:rPr>
                        <a:t>Fix and retry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artifact_rejected</a:t>
                      </a:r>
                    </a:p>
                  </a:txBody>
                  <a:tcPr marL="82296" marR="64008" marT="32004" marB="32004" anchor="ctr">
                    <a:solidFill>
                      <a:srgbClr val="F6F3EF"/>
                    </a:solidFill>
                  </a:tcPr>
                </a:tc>
                <a:tc>
                  <a:txBody>
                    <a:bodyPr wrap="square"/>
                    <a:lstStyle/>
                    <a:p>
                      <a:pPr algn="l"/>
                      <a:r>
                        <a:rPr sz="1000" b="0">
                          <a:solidFill>
                            <a:srgbClr val="1C1C1E"/>
                          </a:solidFill>
                          <a:latin typeface="Calibri"/>
                        </a:rPr>
                        <a:t>422</a:t>
                      </a:r>
                    </a:p>
                  </a:txBody>
                  <a:tcPr marL="82296" marR="64008" marT="32004" marB="32004" anchor="ctr">
                    <a:solidFill>
                      <a:srgbClr val="F6F3EF"/>
                    </a:solidFill>
                  </a:tcPr>
                </a:tc>
                <a:tc>
                  <a:txBody>
                    <a:bodyPr wrap="square"/>
                    <a:lstStyle/>
                    <a:p>
                      <a:pPr algn="l"/>
                      <a:r>
                        <a:rPr sz="1000" b="0">
                          <a:solidFill>
                            <a:srgbClr val="1C1C1E"/>
                          </a:solidFill>
                          <a:latin typeface="Calibri"/>
                        </a:rPr>
                        <a:t>Scan or format policy refused it</a:t>
                      </a:r>
                    </a:p>
                  </a:txBody>
                  <a:tcPr marL="82296" marR="64008" marT="32004" marB="32004" anchor="ctr">
                    <a:solidFill>
                      <a:srgbClr val="F6F3EF"/>
                    </a:solidFill>
                  </a:tcPr>
                </a:tc>
                <a:tc>
                  <a:txBody>
                    <a:bodyPr wrap="square"/>
                    <a:lstStyle/>
                    <a:p>
                      <a:pPr algn="l"/>
                      <a:r>
                        <a:rPr sz="1000" b="0">
                          <a:solidFill>
                            <a:srgbClr val="1C1C1E"/>
                          </a:solidFill>
                          <a:latin typeface="Calibri"/>
                        </a:rPr>
                        <a:t>Convert format, or request an expiring exception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transition_blocked</a:t>
                      </a:r>
                    </a:p>
                  </a:txBody>
                  <a:tcPr marL="82296" marR="64008" marT="32004" marB="32004" anchor="ctr">
                    <a:solidFill>
                      <a:srgbClr val="FFFFFF"/>
                    </a:solidFill>
                  </a:tcPr>
                </a:tc>
                <a:tc>
                  <a:txBody>
                    <a:bodyPr wrap="square"/>
                    <a:lstStyle/>
                    <a:p>
                      <a:pPr algn="l"/>
                      <a:r>
                        <a:rPr sz="1000" b="0">
                          <a:solidFill>
                            <a:srgbClr val="1C1C1E"/>
                          </a:solidFill>
                          <a:latin typeface="Calibri"/>
                        </a:rPr>
                        <a:t>409</a:t>
                      </a:r>
                    </a:p>
                  </a:txBody>
                  <a:tcPr marL="82296" marR="64008" marT="32004" marB="32004" anchor="ctr">
                    <a:solidFill>
                      <a:srgbClr val="FFFFFF"/>
                    </a:solidFill>
                  </a:tcPr>
                </a:tc>
                <a:tc>
                  <a:txBody>
                    <a:bodyPr wrap="square"/>
                    <a:lstStyle/>
                    <a:p>
                      <a:pPr algn="l"/>
                      <a:r>
                        <a:rPr sz="1000" b="0">
                          <a:solidFill>
                            <a:srgbClr val="1C1C1E"/>
                          </a:solidFill>
                          <a:latin typeface="Calibri"/>
                        </a:rPr>
                        <a:t>Lifecycle guards unmet</a:t>
                      </a:r>
                    </a:p>
                  </a:txBody>
                  <a:tcPr marL="82296" marR="64008" marT="32004" marB="32004" anchor="ctr">
                    <a:solidFill>
                      <a:srgbClr val="FFFFFF"/>
                    </a:solidFill>
                  </a:tcPr>
                </a:tc>
                <a:tc>
                  <a:txBody>
                    <a:bodyPr wrap="square"/>
                    <a:lstStyle/>
                    <a:p>
                      <a:pPr algn="l"/>
                      <a:r>
                        <a:rPr sz="1000" b="0">
                          <a:solidFill>
                            <a:srgbClr val="1C1C1E"/>
                          </a:solidFill>
                          <a:latin typeface="Calibri"/>
                        </a:rPr>
                        <a:t>Follow deny_reason[].remediation_url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policy_denied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A gate refused</a:t>
                      </a:r>
                    </a:p>
                  </a:txBody>
                  <a:tcPr marL="82296" marR="64008" marT="32004" marB="32004" anchor="ctr">
                    <a:solidFill>
                      <a:srgbClr val="F6F3EF"/>
                    </a:solidFill>
                  </a:tcPr>
                </a:tc>
                <a:tc>
                  <a:txBody>
                    <a:bodyPr wrap="square"/>
                    <a:lstStyle/>
                    <a:p>
                      <a:pPr algn="l"/>
                      <a:r>
                        <a:rPr sz="1000" b="0">
                          <a:solidFill>
                            <a:srgbClr val="1C1C1E"/>
                          </a:solidFill>
                          <a:latin typeface="Calibri"/>
                        </a:rPr>
                        <a:t>As above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no_entitlement</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1000" b="0">
                          <a:solidFill>
                            <a:srgbClr val="1C1C1E"/>
                          </a:solidFill>
                          <a:latin typeface="Calibri"/>
                        </a:rPr>
                        <a:t>Request a grant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use_not_approved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Declared use is not an approved use</a:t>
                      </a:r>
                    </a:p>
                  </a:txBody>
                  <a:tcPr marL="82296" marR="64008" marT="32004" marB="32004" anchor="ctr">
                    <a:solidFill>
                      <a:srgbClr val="F6F3EF"/>
                    </a:solidFill>
                  </a:tcPr>
                </a:tc>
                <a:tc>
                  <a:txBody>
                    <a:bodyPr wrap="square"/>
                    <a:lstStyle/>
                    <a:p>
                      <a:pPr algn="l"/>
                      <a:r>
                        <a:rPr sz="1000" b="0">
                          <a:solidFill>
                            <a:srgbClr val="1C1C1E"/>
                          </a:solidFill>
                          <a:latin typeface="Calibri"/>
                        </a:rPr>
                        <a:t>Seek approval</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restricted</a:t>
                      </a:r>
                    </a:p>
                  </a:txBody>
                  <a:tcPr marL="82296" marR="64008" marT="32004" marB="32004" anchor="ctr">
                    <a:solidFill>
                      <a:srgbClr val="FFFFFF"/>
                    </a:solidFill>
                  </a:tcPr>
                </a:tc>
                <a:tc>
                  <a:txBody>
                    <a:bodyPr wrap="square"/>
                    <a:lstStyle/>
                    <a:p>
                      <a:pPr algn="l"/>
                      <a:r>
                        <a:rPr sz="1000" b="0">
                          <a:solidFill>
                            <a:srgbClr val="1C1C1E"/>
                          </a:solidFill>
                          <a:latin typeface="Calibri"/>
                        </a:rPr>
                        <a:t>423</a:t>
                      </a:r>
                    </a:p>
                  </a:txBody>
                  <a:tcPr marL="82296" marR="64008" marT="32004" marB="32004" anchor="ctr">
                    <a:solidFill>
                      <a:srgbClr val="FFFFFF"/>
                    </a:solidFill>
                  </a:tcPr>
                </a:tc>
                <a:tc>
                  <a:txBody>
                    <a:bodyPr wrap="square"/>
                    <a:lstStyle/>
                    <a:p>
                      <a:pPr algn="l"/>
                      <a:r>
                        <a:rPr sz="1000" b="0">
                          <a:solidFill>
                            <a:srgbClr val="1C1C1E"/>
                          </a:solidFill>
                          <a:latin typeface="Calibri"/>
                        </a:rPr>
                        <a:t>Blocking finding or suspension</a:t>
                      </a:r>
                    </a:p>
                  </a:txBody>
                  <a:tcPr marL="82296" marR="64008" marT="32004" marB="32004" anchor="ctr">
                    <a:solidFill>
                      <a:srgbClr val="FFFFFF"/>
                    </a:solidFill>
                  </a:tcPr>
                </a:tc>
                <a:tc>
                  <a:txBody>
                    <a:bodyPr wrap="square"/>
                    <a:lstStyle/>
                    <a:p>
                      <a:pPr algn="l"/>
                      <a:r>
                        <a:rPr sz="1000" b="0">
                          <a:solidFill>
                            <a:srgbClr val="1C1C1E"/>
                          </a:solidFill>
                          <a:latin typeface="Calibri"/>
                        </a:rPr>
                        <a:t>Remediate, or break-glass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revoked</a:t>
                      </a:r>
                    </a:p>
                  </a:txBody>
                  <a:tcPr marL="82296" marR="64008" marT="32004" marB="32004" anchor="ctr">
                    <a:solidFill>
                      <a:srgbClr val="F6F3EF"/>
                    </a:solidFill>
                  </a:tcPr>
                </a:tc>
                <a:tc>
                  <a:txBody>
                    <a:bodyPr wrap="square"/>
                    <a:lstStyle/>
                    <a:p>
                      <a:pPr algn="l"/>
                      <a:r>
                        <a:rPr sz="1000" b="0">
                          <a:solidFill>
                            <a:srgbClr val="1C1C1E"/>
                          </a:solidFill>
                          <a:latin typeface="Calibri"/>
                        </a:rPr>
                        <a:t>410</a:t>
                      </a:r>
                    </a:p>
                  </a:txBody>
                  <a:tcPr marL="82296" marR="64008" marT="32004" marB="32004" anchor="ctr">
                    <a:solidFill>
                      <a:srgbClr val="F6F3EF"/>
                    </a:solidFill>
                  </a:tcPr>
                </a:tc>
                <a:tc>
                  <a:txBody>
                    <a:bodyPr wrap="square"/>
                    <a:lstStyle/>
                    <a:p>
                      <a:pPr algn="l"/>
                      <a:r>
                        <a:rPr sz="1000" b="0">
                          <a:solidFill>
                            <a:srgbClr val="1C1C1E"/>
                          </a:solidFill>
                          <a:latin typeface="Calibri"/>
                        </a:rPr>
                        <a:t>Warrant revoked</a:t>
                      </a:r>
                    </a:p>
                  </a:txBody>
                  <a:tcPr marL="82296" marR="64008" marT="32004" marB="32004" anchor="ctr">
                    <a:solidFill>
                      <a:srgbClr val="F6F3EF"/>
                    </a:solidFill>
                  </a:tcPr>
                </a:tc>
                <a:tc>
                  <a:txBody>
                    <a:bodyPr wrap="square"/>
                    <a:lstStyle/>
                    <a:p>
                      <a:pPr algn="l"/>
                      <a:r>
                        <a:rPr sz="1000" b="0">
                          <a:solidFill>
                            <a:srgbClr val="1C1C1E"/>
                          </a:solidFill>
                          <a:latin typeface="Calibri"/>
                        </a:rPr>
                        <a:t>Stop — do not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step_up_required</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Re-authentication needed</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Re-authenticate with intent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precondition_failed</a:t>
                      </a:r>
                    </a:p>
                  </a:txBody>
                  <a:tcPr marL="82296" marR="64008" marT="32004" marB="32004" anchor="ctr">
                    <a:solidFill>
                      <a:srgbClr val="F6F3EF"/>
                    </a:solidFill>
                  </a:tcPr>
                </a:tc>
                <a:tc>
                  <a:txBody>
                    <a:bodyPr wrap="square"/>
                    <a:lstStyle/>
                    <a:p>
                      <a:pPr algn="l"/>
                      <a:r>
                        <a:rPr sz="1000" b="0">
                          <a:solidFill>
                            <a:srgbClr val="1C1C1E"/>
                          </a:solidFill>
                          <a:latin typeface="Calibri"/>
                        </a:rPr>
                        <a:t>412</a:t>
                      </a:r>
                    </a:p>
                  </a:txBody>
                  <a:tcPr marL="82296" marR="64008" marT="32004" marB="32004" anchor="ctr">
                    <a:solidFill>
                      <a:srgbClr val="F6F3EF"/>
                    </a:solidFill>
                  </a:tcPr>
                </a:tc>
                <a:tc>
                  <a:txBody>
                    <a:bodyPr wrap="square"/>
                    <a:lstStyle/>
                    <a:p>
                      <a:pPr algn="l"/>
                      <a:r>
                        <a:rPr sz="1000" b="0">
                          <a:solidFill>
                            <a:srgbClr val="1C1C1E"/>
                          </a:solidFill>
                          <a:latin typeface="Calibri"/>
                        </a:rPr>
                        <a:t>ETag mismatch</a:t>
                      </a:r>
                    </a:p>
                  </a:txBody>
                  <a:tcPr marL="82296" marR="64008" marT="32004" marB="32004" anchor="ctr">
                    <a:solidFill>
                      <a:srgbClr val="F6F3EF"/>
                    </a:solidFill>
                  </a:tcPr>
                </a:tc>
                <a:tc>
                  <a:txBody>
                    <a:bodyPr wrap="square"/>
                    <a:lstStyle/>
                    <a:p>
                      <a:pPr algn="l"/>
                      <a:r>
                        <a:rPr sz="1000" b="0">
                          <a:solidFill>
                            <a:srgbClr val="1C1C1E"/>
                          </a:solidFill>
                          <a:latin typeface="Calibri"/>
                        </a:rPr>
                        <a:t>Refetch, merge,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quota_exceeded</a:t>
                      </a:r>
                    </a:p>
                  </a:txBody>
                  <a:tcPr marL="82296" marR="64008" marT="32004" marB="32004" anchor="ctr">
                    <a:solidFill>
                      <a:srgbClr val="FFFFFF"/>
                    </a:solidFill>
                  </a:tcPr>
                </a:tc>
                <a:tc>
                  <a:txBody>
                    <a:bodyPr wrap="square"/>
                    <a:lstStyle/>
                    <a:p>
                      <a:pPr algn="l"/>
                      <a:r>
                        <a:rPr sz="1000" b="0">
                          <a:solidFill>
                            <a:srgbClr val="1C1C1E"/>
                          </a:solidFill>
                          <a:latin typeface="Calibri"/>
                        </a:rPr>
                        <a:t>429</a:t>
                      </a:r>
                    </a:p>
                  </a:txBody>
                  <a:tcPr marL="82296" marR="64008" marT="32004" marB="32004" anchor="ctr">
                    <a:solidFill>
                      <a:srgbClr val="FFFFFF"/>
                    </a:solidFill>
                  </a:tcPr>
                </a:tc>
                <a:tc>
                  <a:txBody>
                    <a:bodyPr wrap="square"/>
                    <a:lstStyle/>
                    <a:p>
                      <a:pPr algn="l"/>
                      <a:r>
                        <a:rPr sz="1000" b="0">
                          <a:solidFill>
                            <a:srgbClr val="1C1C1E"/>
                          </a:solidFill>
                          <a:latin typeface="Calibri"/>
                        </a:rPr>
                        <a:t>Rate, quota or cost budget</a:t>
                      </a:r>
                    </a:p>
                  </a:txBody>
                  <a:tcPr marL="82296" marR="64008" marT="32004" marB="32004" anchor="ctr">
                    <a:solidFill>
                      <a:srgbClr val="FFFFFF"/>
                    </a:solidFill>
                  </a:tcPr>
                </a:tc>
                <a:tc>
                  <a:txBody>
                    <a:bodyPr wrap="square"/>
                    <a:lstStyle/>
                    <a:p>
                      <a:pPr algn="l"/>
                      <a:r>
                        <a:rPr sz="1000" b="0">
                          <a:solidFill>
                            <a:srgbClr val="1C1C1E"/>
                          </a:solidFill>
                          <a:latin typeface="Calibri"/>
                        </a:rPr>
                        <a:t>Back off</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evidence_truncated</a:t>
                      </a:r>
                    </a:p>
                  </a:txBody>
                  <a:tcPr marL="82296" marR="64008" marT="32004" marB="32004" anchor="ctr">
                    <a:solidFill>
                      <a:srgbClr val="F6F3EF"/>
                    </a:solidFill>
                  </a:tcPr>
                </a:tc>
                <a:tc>
                  <a:txBody>
                    <a:bodyPr wrap="square"/>
                    <a:lstStyle/>
                    <a:p>
                      <a:pPr algn="l"/>
                      <a:r>
                        <a:rPr sz="1000" b="0">
                          <a:solidFill>
                            <a:srgbClr val="1C1C1E"/>
                          </a:solidFill>
                          <a:latin typeface="Calibri"/>
                        </a:rPr>
                        <a:t>200 + flag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term cap reached</a:t>
                      </a:r>
                    </a:p>
                  </a:txBody>
                  <a:tcPr marL="82296" marR="64008" marT="32004" marB="32004" anchor="ctr">
                    <a:solidFill>
                      <a:srgbClr val="F6F3EF"/>
                    </a:solidFill>
                  </a:tcPr>
                </a:tc>
                <a:tc>
                  <a:txBody>
                    <a:bodyPr wrap="square"/>
                    <a:lstStyle/>
                    <a:p>
                      <a:pPr algn="l"/>
                      <a:r>
                        <a:rPr sz="1000" b="0">
                          <a:solidFill>
                            <a:srgbClr val="1C1C1E"/>
                          </a:solidFill>
                          <a:latin typeface="Calibri"/>
                        </a:rPr>
                        <a:t>Narrow the query</a:t>
                      </a:r>
                    </a:p>
                  </a:txBody>
                  <a:tcPr marL="82296" marR="64008" marT="32004" marB="32004" anchor="ctr">
                    <a:solidFill>
                      <a:srgbClr val="F6F3EF"/>
                    </a:solidFill>
                  </a:tcPr>
                </a:tc>
              </a:tr>
            </a:tbl>
          </a:graphicData>
        </a:graphic>
      </p:graphicFrame>
      <p:sp>
        <p:nvSpPr>
          <p:cNvPr id="11" name="TextBox 10"/>
          <p:cNvSpPr txBox="1"/>
          <p:nvPr/>
        </p:nvSpPr>
        <p:spPr>
          <a:xfrm>
            <a:off x="777240" y="5702808"/>
            <a:ext cx="10637215" cy="457200"/>
          </a:xfrm>
          <a:prstGeom prst="rect">
            <a:avLst/>
          </a:prstGeom>
          <a:noFill/>
        </p:spPr>
        <p:txBody>
          <a:bodyPr wrap="square" lIns="0" rIns="0" tIns="0" bIns="0" anchor="t">
            <a:spAutoFit/>
          </a:bodyPr>
          <a:lstStyle/>
          <a:p>
            <a:pPr algn="l">
              <a:spcBef>
                <a:spcPts val="0"/>
              </a:spcBef>
              <a:spcAft>
                <a:spcPts val="0"/>
              </a:spcAft>
            </a:pPr>
            <a:r>
              <a:rPr sz="1150" b="0" i="0">
                <a:solidFill>
                  <a:srgbClr val="1C1C1E"/>
                </a:solidFill>
                <a:latin typeface="Calibri"/>
              </a:rPr>
              <a:t>Anything unmapped </a:t>
            </a:r>
            <a:r>
              <a:rPr sz="1150" b="1" i="0">
                <a:solidFill>
                  <a:srgbClr val="1C1C1E"/>
                </a:solidFill>
                <a:latin typeface="Calibri"/>
              </a:rPr>
              <a:t>is logged with a correlation id and returned as internal_error carrying that id</a:t>
            </a:r>
            <a:r>
              <a:rPr sz="1150" b="0" i="0">
                <a:solidFill>
                  <a:srgbClr val="1C1C1E"/>
                </a:solidFill>
                <a:latin typeface="Calibri"/>
              </a:rPr>
              <a:t> — so the user and support are looking at the same event, not two different ones.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SLOs and golden signals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graphicFrame>
        <p:nvGraphicFramePr>
          <p:cNvPr id="10" name="Table 9"/>
          <p:cNvGraphicFramePr>
            <a:graphicFrameLocks noGrp="1"/>
          </p:cNvGraphicFramePr>
          <p:nvPr/>
        </p:nvGraphicFramePr>
        <p:xfrm>
          <a:off x="777240" y="1353312"/>
          <a:ext cx="5318606" cy="2813100"/>
        </p:xfrm>
        <a:graphic>
          <a:graphicData uri="http://schemas.openxmlformats.org/drawingml/2006/table">
            <a:tbl>
              <a:tblPr firstRow="1">
                <a:tableStyleId>{5C22544A-7EE6-4342-B048-85BDC9FD1C3A}</a:tableStyleId>
              </a:tblPr>
              <a:tblGrid>
                <a:gridCol w="2532670"/>
                <a:gridCol w="1350757"/>
                <a:gridCol w="1435179"/>
              </a:tblGrid>
              <a:tr h="333781">
                <a:tc>
                  <a:txBody>
                    <a:bodyPr wrap="square"/>
                    <a:lstStyle/>
                    <a:p>
                      <a:pPr algn="l"/>
                      <a:r>
                        <a:rPr sz="1100" b="1">
                          <a:solidFill>
                            <a:srgbClr val="FFFFFF"/>
                          </a:solidFill>
                          <a:latin typeface="Calibri"/>
                        </a:rPr>
                        <a:t>SLO</a:t>
                      </a:r>
                    </a:p>
                  </a:txBody>
                  <a:tcPr marL="82296" marR="64008" marT="32004" marB="32004" anchor="ctr">
                    <a:solidFill>
                      <a:srgbClr val="A51C30"/>
                    </a:solidFill>
                  </a:tcPr>
                </a:tc>
                <a:tc>
                  <a:txBody>
                    <a:bodyPr wrap="square"/>
                    <a:lstStyle/>
                    <a:p>
                      <a:pPr algn="l"/>
                      <a:r>
                        <a:rPr sz="1100" b="1">
                          <a:solidFill>
                            <a:srgbClr val="FFFFFF"/>
                          </a:solidFill>
                          <a:latin typeface="Calibri"/>
                        </a:rPr>
                        <a:t>Target</a:t>
                      </a:r>
                    </a:p>
                  </a:txBody>
                  <a:tcPr marL="82296" marR="64008" marT="32004" marB="32004" anchor="ctr">
                    <a:solidFill>
                      <a:srgbClr val="A51C30"/>
                    </a:solidFill>
                  </a:tcPr>
                </a:tc>
                <a:tc>
                  <a:txBody>
                    <a:bodyPr wrap="square"/>
                    <a:lstStyle/>
                    <a:p>
                      <a:pPr algn="l"/>
                      <a:r>
                        <a:rPr sz="1100" b="1">
                          <a:solidFill>
                            <a:srgbClr val="FFFFFF"/>
                          </a:solidFill>
                          <a:latin typeface="Calibri"/>
                        </a:rPr>
                        <a:t>Error budget</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Warrant resolution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Warrant resolution p99 (cached)</a:t>
                      </a:r>
                    </a:p>
                  </a:txBody>
                  <a:tcPr marL="82296" marR="64008" marT="32004" marB="32004" anchor="ctr">
                    <a:solidFill>
                      <a:srgbClr val="F6F3EF"/>
                    </a:solidFill>
                  </a:tcPr>
                </a:tc>
                <a:tc>
                  <a:txBody>
                    <a:bodyPr wrap="square"/>
                    <a:lstStyle/>
                    <a:p>
                      <a:pPr algn="l"/>
                      <a:r>
                        <a:rPr sz="1050" b="0">
                          <a:solidFill>
                            <a:srgbClr val="1C1C1E"/>
                          </a:solidFill>
                          <a:latin typeface="Calibri"/>
                        </a:rPr>
                        <a:t>&lt; 50 ms</a:t>
                      </a:r>
                    </a:p>
                  </a:txBody>
                  <a:tcPr marL="82296" marR="64008" marT="32004" marB="32004" anchor="ctr">
                    <a:solidFill>
                      <a:srgbClr val="F6F3EF"/>
                    </a:solidFill>
                  </a:tcPr>
                </a:tc>
                <a:tc>
                  <a:txBody>
                    <a:bodyPr wrap="square"/>
                    <a:lstStyle/>
                    <a:p>
                      <a:pPr algn="l"/>
                      <a:r>
                        <a:rPr sz="1050" b="0">
                          <a:solidFill>
                            <a:srgbClr val="1C1C1E"/>
                          </a:solidFill>
                          <a:latin typeface="Calibri"/>
                        </a:rPr>
                        <a:t>1% of requests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Control plane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Inventory read p95</a:t>
                      </a:r>
                    </a:p>
                  </a:txBody>
                  <a:tcPr marL="82296" marR="64008" marT="32004" marB="32004" anchor="ctr">
                    <a:solidFill>
                      <a:srgbClr val="F6F3EF"/>
                    </a:solidFill>
                  </a:tcPr>
                </a:tc>
                <a:tc>
                  <a:txBody>
                    <a:bodyPr wrap="square"/>
                    <a:lstStyle/>
                    <a:p>
                      <a:pPr algn="l"/>
                      <a:r>
                        <a:rPr sz="1050" b="0">
                          <a:solidFill>
                            <a:srgbClr val="1C1C1E"/>
                          </a:solidFill>
                          <a:latin typeface="Calibri"/>
                        </a:rPr>
                        <a:t>&lt; 500 ms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Training-set build (1B × 500)</a:t>
                      </a:r>
                    </a:p>
                  </a:txBody>
                  <a:tcPr marL="82296" marR="64008" marT="32004" marB="32004" anchor="ctr">
                    <a:solidFill>
                      <a:srgbClr val="FFFFFF"/>
                    </a:solidFill>
                  </a:tcPr>
                </a:tc>
                <a:tc>
                  <a:txBody>
                    <a:bodyPr wrap="square"/>
                    <a:lstStyle/>
                    <a:p>
                      <a:pPr algn="l"/>
                      <a:r>
                        <a:rPr sz="1050" b="0">
                          <a:solidFill>
                            <a:srgbClr val="1C1C1E"/>
                          </a:solidFill>
                          <a:latin typeface="Calibri"/>
                        </a:rPr>
                        <a:t>&lt; 30 min</a:t>
                      </a:r>
                    </a:p>
                  </a:txBody>
                  <a:tcPr marL="82296" marR="64008" marT="32004" marB="32004" anchor="ctr">
                    <a:solidFill>
                      <a:srgbClr val="FFFFFF"/>
                    </a:solidFill>
                  </a:tcPr>
                </a:tc>
                <a:tc>
                  <a:txBody>
                    <a:bodyPr wrap="square"/>
                    <a:lstStyle/>
                    <a:p>
                      <a:pPr algn="l"/>
                      <a:r>
                        <a:rPr sz="1050" b="0">
                          <a:solidFill>
                            <a:srgbClr val="1C1C1E"/>
                          </a:solidFill>
                          <a:latin typeface="Calibri"/>
                        </a:rPr>
                        <a:t>10%</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Document compile p95</a:t>
                      </a:r>
                    </a:p>
                  </a:txBody>
                  <a:tcPr marL="82296" marR="64008" marT="32004" marB="32004" anchor="ctr">
                    <a:solidFill>
                      <a:srgbClr val="F6F3EF"/>
                    </a:solidFill>
                  </a:tcPr>
                </a:tc>
                <a:tc>
                  <a:txBody>
                    <a:bodyPr wrap="square"/>
                    <a:lstStyle/>
                    <a:p>
                      <a:pPr algn="l"/>
                      <a:r>
                        <a:rPr sz="1050" b="0">
                          <a:solidFill>
                            <a:srgbClr val="1C1C1E"/>
                          </a:solidFill>
                          <a:latin typeface="Calibri"/>
                        </a:rPr>
                        <a:t>&lt; 60 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verification</a:t>
                      </a:r>
                    </a:p>
                  </a:txBody>
                  <a:tcPr marL="82296" marR="64008" marT="32004" marB="32004" anchor="ctr">
                    <a:solidFill>
                      <a:srgbClr val="FFFFFF"/>
                    </a:solidFill>
                  </a:tcPr>
                </a:tc>
                <a:tc>
                  <a:txBody>
                    <a:bodyPr wrap="square"/>
                    <a:lstStyle/>
                    <a:p>
                      <a:pPr algn="l"/>
                      <a:r>
                        <a:rPr sz="1050" b="0">
                          <a:solidFill>
                            <a:srgbClr val="1C1C1E"/>
                          </a:solidFill>
                          <a:latin typeface="Calibri"/>
                        </a:rPr>
                        <a:t>Daily, zero breaks</a:t>
                      </a:r>
                    </a:p>
                  </a:txBody>
                  <a:tcPr marL="82296" marR="64008" marT="32004" marB="32004" anchor="ctr">
                    <a:solidFill>
                      <a:srgbClr val="FFFFFF"/>
                    </a:solidFill>
                  </a:tcPr>
                </a:tc>
                <a:tc>
                  <a:txBody>
                    <a:bodyPr wrap="square"/>
                    <a:lstStyle/>
                    <a:p>
                      <a:pPr algn="l"/>
                      <a:r>
                        <a:rPr sz="1050" b="0">
                          <a:solidFill>
                            <a:srgbClr val="1C1C1E"/>
                          </a:solidFill>
                          <a:latin typeface="Calibri"/>
                        </a:rPr>
                        <a:t>Zero tolerance</a:t>
                      </a:r>
                    </a:p>
                  </a:txBody>
                  <a:tcPr marL="82296" marR="64008" marT="32004" marB="32004" anchor="ctr">
                    <a:solidFill>
                      <a:srgbClr val="FFFFFF"/>
                    </a:solidFill>
                  </a:tcPr>
                </a:tc>
              </a:tr>
            </a:tbl>
          </a:graphicData>
        </a:graphic>
      </p:graphicFrame>
      <p:sp>
        <p:nvSpPr>
          <p:cNvPr id="11" name="TextBox 10"/>
          <p:cNvSpPr txBox="1"/>
          <p:nvPr/>
        </p:nvSpPr>
        <p:spPr>
          <a:xfrm>
            <a:off x="6521336" y="1353312"/>
            <a:ext cx="4893118"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Golden signals, per component</a:t>
            </a:r>
          </a:p>
        </p:txBody>
      </p:sp>
      <p:sp>
        <p:nvSpPr>
          <p:cNvPr id="12" name="TextBox 11"/>
          <p:cNvSpPr txBox="1"/>
          <p:nvPr/>
        </p:nvSpPr>
        <p:spPr>
          <a:xfrm>
            <a:off x="6521336" y="1737360"/>
            <a:ext cx="4893118" cy="2377440"/>
          </a:xfrm>
          <a:prstGeom prst="rect">
            <a:avLst/>
          </a:prstGeom>
          <a:noFill/>
        </p:spPr>
        <p:txBody>
          <a:bodyPr wrap="square" lIns="0" rIns="0" tIns="0" bIns="0" anchor="t">
            <a:spAutoFit/>
          </a:bodyPr>
          <a:lstStyle/>
          <a:p>
            <a:pPr algn="l"/>
          </a:p>
          <a:p>
            <a:pPr>
              <a:spcBef>
                <a:spcPts val="600"/>
              </a:spcBef>
              <a:spcAft>
                <a:spcPts val="300"/>
              </a:spcAft>
            </a:pPr>
            <a:r>
              <a:rPr sz="1100" b="1">
                <a:solidFill>
                  <a:srgbClr val="A51C30"/>
                </a:solidFill>
                <a:latin typeface="Calibri"/>
              </a:rPr>
              <a:t>▪  </a:t>
            </a:r>
            <a:r>
              <a:rPr sz="1100" b="1">
                <a:solidFill>
                  <a:srgbClr val="1C1C1E"/>
                </a:solidFill>
                <a:latin typeface="Calibri"/>
              </a:rPr>
              <a:t>Warrant service</a:t>
            </a:r>
          </a:p>
          <a:p>
            <a:pPr lvl="1">
              <a:spcBef>
                <a:spcPts val="0"/>
              </a:spcBef>
              <a:spcAft>
                <a:spcPts val="0"/>
              </a:spcAft>
            </a:pPr>
            <a:r>
              <a:rPr sz="950">
                <a:solidFill>
                  <a:srgbClr val="4A4F57"/>
                </a:solidFill>
                <a:latin typeface="Calibri"/>
              </a:rPr>
              <a:t>resolutions/s · cache hit ratio · p50/p99 · denial rate · revocation lag · degraded-mode volume</a:t>
            </a:r>
          </a:p>
          <a:p>
            <a:pPr>
              <a:spcBef>
                <a:spcPts val="600"/>
              </a:spcBef>
              <a:spcAft>
                <a:spcPts val="300"/>
              </a:spcAft>
            </a:pPr>
            <a:r>
              <a:rPr sz="1100" b="1">
                <a:solidFill>
                  <a:srgbClr val="A51C30"/>
                </a:solidFill>
                <a:latin typeface="Calibri"/>
              </a:rPr>
              <a:t>▪  </a:t>
            </a:r>
            <a:r>
              <a:rPr sz="1100" b="1">
                <a:solidFill>
                  <a:srgbClr val="1C1C1E"/>
                </a:solidFill>
                <a:latin typeface="Calibri"/>
              </a:rPr>
              <a:t>Control plane</a:t>
            </a:r>
          </a:p>
          <a:p>
            <a:pPr lvl="1">
              <a:spcBef>
                <a:spcPts val="0"/>
              </a:spcBef>
              <a:spcAft>
                <a:spcPts val="0"/>
              </a:spcAft>
            </a:pPr>
            <a:r>
              <a:rPr sz="950">
                <a:solidFill>
                  <a:srgbClr val="4A4F57"/>
                </a:solidFill>
                <a:latin typeface="Calibri"/>
              </a:rPr>
              <a:t>request rate · latency · error rate by taxonomy code · transaction duration · outbox lag</a:t>
            </a:r>
          </a:p>
          <a:p>
            <a:pPr>
              <a:spcBef>
                <a:spcPts val="600"/>
              </a:spcBef>
              <a:spcAft>
                <a:spcPts val="300"/>
              </a:spcAft>
            </a:pPr>
            <a:r>
              <a:rPr sz="1100" b="1">
                <a:solidFill>
                  <a:srgbClr val="A51C30"/>
                </a:solidFill>
                <a:latin typeface="Calibri"/>
              </a:rPr>
              <a:t>▪  </a:t>
            </a:r>
            <a:r>
              <a:rPr sz="1100" b="1">
                <a:solidFill>
                  <a:srgbClr val="1C1C1E"/>
                </a:solidFill>
                <a:latin typeface="Calibri"/>
              </a:rPr>
              <a:t>Workers</a:t>
            </a:r>
          </a:p>
          <a:p>
            <a:pPr lvl="1">
              <a:spcBef>
                <a:spcPts val="0"/>
              </a:spcBef>
              <a:spcAft>
                <a:spcPts val="0"/>
              </a:spcAft>
            </a:pPr>
            <a:r>
              <a:rPr sz="950">
                <a:solidFill>
                  <a:srgbClr val="4A4F57"/>
                </a:solidFill>
                <a:latin typeface="Calibri"/>
              </a:rPr>
              <a:t>queue depth · job duration · retry rate · sandbox failures</a:t>
            </a:r>
          </a:p>
          <a:p>
            <a:pPr>
              <a:spcBef>
                <a:spcPts val="600"/>
              </a:spcBef>
              <a:spcAft>
                <a:spcPts val="300"/>
              </a:spcAft>
            </a:pPr>
            <a:r>
              <a:rPr sz="1100" b="1">
                <a:solidFill>
                  <a:srgbClr val="A51C30"/>
                </a:solidFill>
                <a:latin typeface="Calibri"/>
              </a:rPr>
              <a:t>▪  </a:t>
            </a:r>
            <a:r>
              <a:rPr sz="1100" b="1">
                <a:solidFill>
                  <a:srgbClr val="1C1C1E"/>
                </a:solidFill>
                <a:latin typeface="Calibri"/>
              </a:rPr>
              <a:t>Data plane</a:t>
            </a:r>
          </a:p>
          <a:p>
            <a:pPr lvl="1">
              <a:spcBef>
                <a:spcPts val="0"/>
              </a:spcBef>
              <a:spcAft>
                <a:spcPts val="0"/>
              </a:spcAft>
            </a:pPr>
            <a:r>
              <a:rPr sz="950">
                <a:solidFill>
                  <a:srgbClr val="4A4F57"/>
                </a:solidFill>
                <a:latin typeface="Calibri"/>
              </a:rPr>
              <a:t>job duration · rows processed · small-file count · skew divergence · PIT rejections</a:t>
            </a:r>
          </a:p>
        </p:txBody>
      </p:sp>
      <p:sp>
        <p:nvSpPr>
          <p:cNvPr id="13" name="Rectangle 12"/>
          <p:cNvSpPr/>
          <p:nvPr/>
        </p:nvSpPr>
        <p:spPr>
          <a:xfrm>
            <a:off x="6521336" y="4187952"/>
            <a:ext cx="4893118"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521336" y="4187952"/>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759080" y="4306824"/>
            <a:ext cx="4435918" cy="640080"/>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C1C1E"/>
                </a:solidFill>
                <a:latin typeface="Calibri"/>
              </a:rPr>
              <a:t>Ten runbooks: chain verification failure · outbox lag · stampede · Delta small files · sandbox escape · policy gridlock · revocation failure · base-model drift · key rotation · regional failover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SIZING AND ASSURANCE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Capacity and testing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Capacity model</a:t>
            </a:r>
          </a:p>
        </p:txBody>
      </p:sp>
      <p:graphicFrame>
        <p:nvGraphicFramePr>
          <p:cNvPr id="11" name="Table 10"/>
          <p:cNvGraphicFramePr>
            <a:graphicFrameLocks noGrp="1"/>
          </p:cNvGraphicFramePr>
          <p:nvPr/>
        </p:nvGraphicFramePr>
        <p:xfrm>
          <a:off x="777240" y="1719072"/>
          <a:ext cx="4999490" cy="2863088"/>
        </p:xfrm>
        <a:graphic>
          <a:graphicData uri="http://schemas.openxmlformats.org/drawingml/2006/table">
            <a:tbl>
              <a:tblPr firstRow="1">
                <a:tableStyleId>{5C22544A-7EE6-4342-B048-85BDC9FD1C3A}</a:tableStyleId>
              </a:tblPr>
              <a:tblGrid>
                <a:gridCol w="2543600"/>
                <a:gridCol w="1227945"/>
                <a:gridCol w="1227945"/>
              </a:tblGrid>
              <a:tr h="329184">
                <a:tc>
                  <a:txBody>
                    <a:bodyPr wrap="square"/>
                    <a:lstStyle/>
                    <a:p>
                      <a:pPr algn="l"/>
                      <a:r>
                        <a:rPr sz="1000" b="1">
                          <a:solidFill>
                            <a:srgbClr val="FFFFFF"/>
                          </a:solidFill>
                          <a:latin typeface="Calibri"/>
                        </a:rPr>
                        <a:t>Dimension</a:t>
                      </a:r>
                    </a:p>
                  </a:txBody>
                  <a:tcPr marL="82296" marR="64008" marT="32004" marB="32004" anchor="ctr">
                    <a:solidFill>
                      <a:srgbClr val="A51C30"/>
                    </a:solidFill>
                  </a:tcPr>
                </a:tc>
                <a:tc>
                  <a:txBody>
                    <a:bodyPr wrap="square"/>
                    <a:lstStyle/>
                    <a:p>
                      <a:pPr algn="l"/>
                      <a:r>
                        <a:rPr sz="1000" b="1">
                          <a:solidFill>
                            <a:srgbClr val="FFFFFF"/>
                          </a:solidFill>
                          <a:latin typeface="Calibri"/>
                        </a:rPr>
                        <a:t>Year 1</a:t>
                      </a:r>
                    </a:p>
                  </a:txBody>
                  <a:tcPr marL="82296" marR="64008" marT="32004" marB="32004" anchor="ctr">
                    <a:solidFill>
                      <a:srgbClr val="A51C30"/>
                    </a:solidFill>
                  </a:tcPr>
                </a:tc>
                <a:tc>
                  <a:txBody>
                    <a:bodyPr wrap="square"/>
                    <a:lstStyle/>
                    <a:p>
                      <a:pPr algn="l"/>
                      <a:r>
                        <a:rPr sz="1000" b="1">
                          <a:solidFill>
                            <a:srgbClr val="FFFFFF"/>
                          </a:solidFill>
                          <a:latin typeface="Calibri"/>
                        </a:rPr>
                        <a:t>Year 3</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1,500</a:t>
                      </a:r>
                    </a:p>
                  </a:txBody>
                  <a:tcPr marL="82296" marR="64008" marT="32004" marB="32004" anchor="ctr">
                    <a:solidFill>
                      <a:srgbClr val="FFFFFF"/>
                    </a:solidFill>
                  </a:tcPr>
                </a:tc>
                <a:tc>
                  <a:txBody>
                    <a:bodyPr wrap="square"/>
                    <a:lstStyle/>
                    <a:p>
                      <a:pPr algn="l"/>
                      <a:r>
                        <a:rPr sz="1000" b="0">
                          <a:solidFill>
                            <a:srgbClr val="1C1C1E"/>
                          </a:solidFill>
                          <a:latin typeface="Calibri"/>
                        </a:rPr>
                        <a:t>5,000</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8,000</a:t>
                      </a:r>
                    </a:p>
                  </a:txBody>
                  <a:tcPr marL="82296" marR="64008" marT="32004" marB="32004" anchor="ctr">
                    <a:solidFill>
                      <a:srgbClr val="F6F3EF"/>
                    </a:solidFill>
                  </a:tcPr>
                </a:tc>
                <a:tc>
                  <a:txBody>
                    <a:bodyPr wrap="square"/>
                    <a:lstStyle/>
                    <a:p>
                      <a:pPr algn="l"/>
                      <a:r>
                        <a:rPr sz="1000" b="0">
                          <a:solidFill>
                            <a:srgbClr val="1C1C1E"/>
                          </a:solidFill>
                          <a:latin typeface="Calibri"/>
                        </a:rPr>
                        <a:t>40,000</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nodes</a:t>
                      </a:r>
                    </a:p>
                  </a:txBody>
                  <a:tcPr marL="82296" marR="64008" marT="32004" marB="32004" anchor="ctr">
                    <a:solidFill>
                      <a:srgbClr val="FFFFFF"/>
                    </a:solidFill>
                  </a:tcPr>
                </a:tc>
                <a:tc>
                  <a:txBody>
                    <a:bodyPr wrap="square"/>
                    <a:lstStyle/>
                    <a:p>
                      <a:pPr algn="l"/>
                      <a:r>
                        <a:rPr sz="1000" b="0">
                          <a:solidFill>
                            <a:srgbClr val="1C1C1E"/>
                          </a:solidFill>
                          <a:latin typeface="Calibri"/>
                        </a:rPr>
                        <a:t>4 M</a:t>
                      </a:r>
                    </a:p>
                  </a:txBody>
                  <a:tcPr marL="82296" marR="64008" marT="32004" marB="32004" anchor="ctr">
                    <a:solidFill>
                      <a:srgbClr val="FFFFFF"/>
                    </a:solidFill>
                  </a:tcPr>
                </a:tc>
                <a:tc>
                  <a:txBody>
                    <a:bodyPr wrap="square"/>
                    <a:lstStyle/>
                    <a:p>
                      <a:pPr algn="l"/>
                      <a:r>
                        <a:rPr sz="1000" b="0">
                          <a:solidFill>
                            <a:srgbClr val="1C1C1E"/>
                          </a:solidFill>
                          <a:latin typeface="Calibri"/>
                        </a:rPr>
                        <a:t>25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Postgres (ex-audit)</a:t>
                      </a:r>
                    </a:p>
                  </a:txBody>
                  <a:tcPr marL="82296" marR="64008" marT="32004" marB="32004" anchor="ctr">
                    <a:solidFill>
                      <a:srgbClr val="F6F3EF"/>
                    </a:solidFill>
                  </a:tcPr>
                </a:tc>
                <a:tc>
                  <a:txBody>
                    <a:bodyPr wrap="square"/>
                    <a:lstStyle/>
                    <a:p>
                      <a:pPr algn="l"/>
                      <a:r>
                        <a:rPr sz="1000" b="0">
                          <a:solidFill>
                            <a:srgbClr val="1C1C1E"/>
                          </a:solidFill>
                          <a:latin typeface="Calibri"/>
                        </a:rPr>
                        <a:t>120 GB</a:t>
                      </a:r>
                    </a:p>
                  </a:txBody>
                  <a:tcPr marL="82296" marR="64008" marT="32004" marB="32004" anchor="ctr">
                    <a:solidFill>
                      <a:srgbClr val="F6F3EF"/>
                    </a:solidFill>
                  </a:tcPr>
                </a:tc>
                <a:tc>
                  <a:txBody>
                    <a:bodyPr wrap="square"/>
                    <a:lstStyle/>
                    <a:p>
                      <a:pPr algn="l"/>
                      <a:r>
                        <a:rPr sz="1000" b="0">
                          <a:solidFill>
                            <a:srgbClr val="1C1C1E"/>
                          </a:solidFill>
                          <a:latin typeface="Calibri"/>
                        </a:rPr>
                        <a:t>600 GB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Audit rows</a:t>
                      </a:r>
                    </a:p>
                  </a:txBody>
                  <a:tcPr marL="82296" marR="64008" marT="32004" marB="32004" anchor="ctr">
                    <a:solidFill>
                      <a:srgbClr val="FFFFFF"/>
                    </a:solidFill>
                  </a:tcPr>
                </a:tc>
                <a:tc>
                  <a:txBody>
                    <a:bodyPr wrap="square"/>
                    <a:lstStyle/>
                    <a:p>
                      <a:pPr algn="l"/>
                      <a:r>
                        <a:rPr sz="1000" b="0">
                          <a:solidFill>
                            <a:srgbClr val="1C1C1E"/>
                          </a:solidFill>
                          <a:latin typeface="Calibri"/>
                        </a:rPr>
                        <a:t>60 M</a:t>
                      </a:r>
                    </a:p>
                  </a:txBody>
                  <a:tcPr marL="82296" marR="64008" marT="32004" marB="32004" anchor="ctr">
                    <a:solidFill>
                      <a:srgbClr val="FFFFFF"/>
                    </a:solidFill>
                  </a:tcPr>
                </a:tc>
                <a:tc>
                  <a:txBody>
                    <a:bodyPr wrap="square"/>
                    <a:lstStyle/>
                    <a:p>
                      <a:pPr algn="l"/>
                      <a:r>
                        <a:rPr sz="1000" b="0">
                          <a:solidFill>
                            <a:srgbClr val="1C1C1E"/>
                          </a:solidFill>
                          <a:latin typeface="Calibri"/>
                        </a:rPr>
                        <a:t>400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Delta features</a:t>
                      </a:r>
                    </a:p>
                  </a:txBody>
                  <a:tcPr marL="82296" marR="64008" marT="32004" marB="32004" anchor="ctr">
                    <a:solidFill>
                      <a:srgbClr val="F6F3EF"/>
                    </a:solidFill>
                  </a:tcPr>
                </a:tc>
                <a:tc>
                  <a:txBody>
                    <a:bodyPr wrap="square"/>
                    <a:lstStyle/>
                    <a:p>
                      <a:pPr algn="l"/>
                      <a:r>
                        <a:rPr sz="1000" b="0">
                          <a:solidFill>
                            <a:srgbClr val="1C1C1E"/>
                          </a:solidFill>
                          <a:latin typeface="Calibri"/>
                        </a:rPr>
                        <a:t>15 TB</a:t>
                      </a:r>
                    </a:p>
                  </a:txBody>
                  <a:tcPr marL="82296" marR="64008" marT="32004" marB="32004" anchor="ctr">
                    <a:solidFill>
                      <a:srgbClr val="F6F3EF"/>
                    </a:solidFill>
                  </a:tcPr>
                </a:tc>
                <a:tc>
                  <a:txBody>
                    <a:bodyPr wrap="square"/>
                    <a:lstStyle/>
                    <a:p>
                      <a:pPr algn="l"/>
                      <a:r>
                        <a:rPr sz="1000" b="0">
                          <a:solidFill>
                            <a:srgbClr val="1C1C1E"/>
                          </a:solidFill>
                          <a:latin typeface="Calibri"/>
                        </a:rPr>
                        <a:t>80 TB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Inference log rows</a:t>
                      </a:r>
                    </a:p>
                  </a:txBody>
                  <a:tcPr marL="82296" marR="64008" marT="32004" marB="32004" anchor="ctr">
                    <a:solidFill>
                      <a:srgbClr val="FFFFFF"/>
                    </a:solidFill>
                  </a:tcPr>
                </a:tc>
                <a:tc>
                  <a:txBody>
                    <a:bodyPr wrap="square"/>
                    <a:lstStyle/>
                    <a:p>
                      <a:pPr algn="l"/>
                      <a:r>
                        <a:rPr sz="1000" b="0">
                          <a:solidFill>
                            <a:srgbClr val="1C1C1E"/>
                          </a:solidFill>
                          <a:latin typeface="Calibri"/>
                        </a:rPr>
                        <a:t>8 B</a:t>
                      </a:r>
                    </a:p>
                  </a:txBody>
                  <a:tcPr marL="82296" marR="64008" marT="32004" marB="32004" anchor="ctr">
                    <a:solidFill>
                      <a:srgbClr val="FFFFFF"/>
                    </a:solidFill>
                  </a:tcPr>
                </a:tc>
                <a:tc>
                  <a:txBody>
                    <a:bodyPr wrap="square"/>
                    <a:lstStyle/>
                    <a:p>
                      <a:pPr algn="l"/>
                      <a:r>
                        <a:rPr sz="1000" b="0">
                          <a:solidFill>
                            <a:srgbClr val="1C1C1E"/>
                          </a:solidFill>
                          <a:latin typeface="Calibri"/>
                        </a:rPr>
                        <a:t>60 B</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resolutions, peak</a:t>
                      </a:r>
                    </a:p>
                  </a:txBody>
                  <a:tcPr marL="82296" marR="64008" marT="32004" marB="32004" anchor="ctr">
                    <a:solidFill>
                      <a:srgbClr val="F6F3EF"/>
                    </a:solidFill>
                  </a:tcPr>
                </a:tc>
                <a:tc>
                  <a:txBody>
                    <a:bodyPr wrap="square"/>
                    <a:lstStyle/>
                    <a:p>
                      <a:pPr algn="l"/>
                      <a:r>
                        <a:rPr sz="1000" b="0">
                          <a:solidFill>
                            <a:srgbClr val="1C1C1E"/>
                          </a:solidFill>
                          <a:latin typeface="Calibri"/>
                        </a:rPr>
                        <a:t>400/s</a:t>
                      </a:r>
                    </a:p>
                  </a:txBody>
                  <a:tcPr marL="82296" marR="64008" marT="32004" marB="32004" anchor="ctr">
                    <a:solidFill>
                      <a:srgbClr val="F6F3EF"/>
                    </a:solidFill>
                  </a:tcPr>
                </a:tc>
                <a:tc>
                  <a:txBody>
                    <a:bodyPr wrap="square"/>
                    <a:lstStyle/>
                    <a:p>
                      <a:pPr algn="l"/>
                      <a:r>
                        <a:rPr sz="1000" b="0">
                          <a:solidFill>
                            <a:srgbClr val="1C1C1E"/>
                          </a:solidFill>
                          <a:latin typeface="Calibri"/>
                        </a:rPr>
                        <a:t>2,500/s</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Test suites and what each proves</a:t>
            </a:r>
          </a:p>
        </p:txBody>
      </p:sp>
      <p:graphicFrame>
        <p:nvGraphicFramePr>
          <p:cNvPr id="13" name="Table 12"/>
          <p:cNvGraphicFramePr>
            <a:graphicFrameLocks noGrp="1"/>
          </p:cNvGraphicFramePr>
          <p:nvPr/>
        </p:nvGraphicFramePr>
        <p:xfrm>
          <a:off x="6414964" y="1719072"/>
          <a:ext cx="4999490" cy="2949448"/>
        </p:xfrm>
        <a:graphic>
          <a:graphicData uri="http://schemas.openxmlformats.org/drawingml/2006/table">
            <a:tbl>
              <a:tblPr firstRow="1">
                <a:tableStyleId>{5C22544A-7EE6-4342-B048-85BDC9FD1C3A}</a:tableStyleId>
              </a:tblPr>
              <a:tblGrid>
                <a:gridCol w="1551566"/>
                <a:gridCol w="3447924"/>
              </a:tblGrid>
              <a:tr h="329184">
                <a:tc>
                  <a:txBody>
                    <a:bodyPr wrap="square"/>
                    <a:lstStyle/>
                    <a:p>
                      <a:pPr algn="l"/>
                      <a:r>
                        <a:rPr sz="1000" b="1">
                          <a:solidFill>
                            <a:srgbClr val="FFFFFF"/>
                          </a:solidFill>
                          <a:latin typeface="Calibri"/>
                        </a:rPr>
                        <a:t>Suite</a:t>
                      </a:r>
                    </a:p>
                  </a:txBody>
                  <a:tcPr marL="82296" marR="64008" marT="32004" marB="32004" anchor="ctr">
                    <a:solidFill>
                      <a:srgbClr val="A51C30"/>
                    </a:solidFill>
                  </a:tcPr>
                </a:tc>
                <a:tc>
                  <a:txBody>
                    <a:bodyPr wrap="square"/>
                    <a:lstStyle/>
                    <a:p>
                      <a:pPr algn="l"/>
                      <a:r>
                        <a:rPr sz="1000" b="1">
                          <a:solidFill>
                            <a:srgbClr val="FFFFFF"/>
                          </a:solidFill>
                          <a:latin typeface="Calibri"/>
                        </a:rPr>
                        <a:t>Proves</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Unit</a:t>
                      </a:r>
                    </a:p>
                  </a:txBody>
                  <a:tcPr marL="82296" marR="64008" marT="32004" marB="32004" anchor="ctr">
                    <a:solidFill>
                      <a:srgbClr val="FFFFFF"/>
                    </a:solidFill>
                  </a:tcPr>
                </a:tc>
                <a:tc>
                  <a:txBody>
                    <a:bodyPr wrap="square"/>
                    <a:lstStyle/>
                    <a:p>
                      <a:pPr algn="l"/>
                      <a:r>
                        <a:rPr sz="1000" b="0">
                          <a:solidFill>
                            <a:srgbClr val="1C1C1E"/>
                          </a:solidFill>
                          <a:latin typeface="Calibri"/>
                        </a:rPr>
                        <a:t>Domain algebra correctness (≥90% on domain/)</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Laws L-1…L-18</a:t>
                      </a:r>
                    </a:p>
                  </a:txBody>
                  <a:tcPr marL="82296" marR="64008" marT="32004" marB="32004" anchor="ctr">
                    <a:solidFill>
                      <a:srgbClr val="F6F3EF"/>
                    </a:solidFill>
                  </a:tcPr>
                </a:tc>
                <a:tc>
                  <a:txBody>
                    <a:bodyPr wrap="square"/>
                    <a:lstStyle/>
                    <a:p>
                      <a:pPr algn="l"/>
                      <a:r>
                        <a:rPr sz="1000" b="0">
                          <a:solidFill>
                            <a:srgbClr val="1C1C1E"/>
                          </a:solidFill>
                          <a:latin typeface="Calibri"/>
                        </a:rPr>
                        <a:t>The formal properties hold under generated inputs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Integration</a:t>
                      </a:r>
                    </a:p>
                  </a:txBody>
                  <a:tcPr marL="82296" marR="64008" marT="32004" marB="32004" anchor="ctr">
                    <a:solidFill>
                      <a:srgbClr val="FFFFFF"/>
                    </a:solidFill>
                  </a:tcPr>
                </a:tc>
                <a:tc>
                  <a:txBody>
                    <a:bodyPr wrap="square"/>
                    <a:lstStyle/>
                    <a:p>
                      <a:pPr algn="l"/>
                      <a:r>
                        <a:rPr sz="1000" b="0">
                          <a:solidFill>
                            <a:srgbClr val="1C1C1E"/>
                          </a:solidFill>
                          <a:latin typeface="Calibri"/>
                        </a:rPr>
                        <a:t>Repository and service paths against real infrastructure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Contract</a:t>
                      </a:r>
                    </a:p>
                  </a:txBody>
                  <a:tcPr marL="82296" marR="64008" marT="32004" marB="32004" anchor="ctr">
                    <a:solidFill>
                      <a:srgbClr val="F6F3EF"/>
                    </a:solidFill>
                  </a:tcPr>
                </a:tc>
                <a:tc>
                  <a:txBody>
                    <a:bodyPr wrap="square"/>
                    <a:lstStyle/>
                    <a:p>
                      <a:pPr algn="l"/>
                      <a:r>
                        <a:rPr sz="1000" b="0">
                          <a:solidFill>
                            <a:srgbClr val="1C1C1E"/>
                          </a:solidFill>
                          <a:latin typeface="Calibri"/>
                        </a:rPr>
                        <a:t>API matches the spec; SDK round-trips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Adversarial</a:t>
                      </a:r>
                    </a:p>
                  </a:txBody>
                  <a:tcPr marL="82296" marR="64008" marT="32004" marB="32004" anchor="ctr">
                    <a:solidFill>
                      <a:srgbClr val="FFFFFF"/>
                    </a:solidFill>
                  </a:tcPr>
                </a:tc>
                <a:tc>
                  <a:txBody>
                    <a:bodyPr wrap="square"/>
                    <a:lstStyle/>
                    <a:p>
                      <a:pPr algn="l"/>
                      <a:r>
                        <a:rPr sz="1000" b="0">
                          <a:solidFill>
                            <a:srgbClr val="1C1C1E"/>
                          </a:solidFill>
                          <a:latin typeface="Calibri"/>
                        </a:rPr>
                        <a:t>Leakage injection · RLS negative tests · stampede load · malicious artifacts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Migration</a:t>
                      </a:r>
                    </a:p>
                  </a:txBody>
                  <a:tcPr marL="82296" marR="64008" marT="32004" marB="32004" anchor="ctr">
                    <a:solidFill>
                      <a:srgbClr val="F6F3EF"/>
                    </a:solidFill>
                  </a:tcPr>
                </a:tc>
                <a:tc>
                  <a:txBody>
                    <a:bodyPr wrap="square"/>
                    <a:lstStyle/>
                    <a:p>
                      <a:pPr algn="l"/>
                      <a:r>
                        <a:rPr sz="1000" b="0">
                          <a:solidFill>
                            <a:srgbClr val="1C1C1E"/>
                          </a:solidFill>
                          <a:latin typeface="Calibri"/>
                        </a:rPr>
                        <a:t>Up and down against production-shaped data</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Performance</a:t>
                      </a:r>
                    </a:p>
                  </a:txBody>
                  <a:tcPr marL="82296" marR="64008" marT="32004" marB="32004" anchor="ctr">
                    <a:solidFill>
                      <a:srgbClr val="FFFFFF"/>
                    </a:solidFill>
                  </a:tcPr>
                </a:tc>
                <a:tc>
                  <a:txBody>
                    <a:bodyPr wrap="square"/>
                    <a:lstStyle/>
                    <a:p>
                      <a:pPr algn="l"/>
                      <a:r>
                        <a:rPr sz="1000" b="0">
                          <a:solidFill>
                            <a:srgbClr val="1C1C1E"/>
                          </a:solidFill>
                          <a:latin typeface="Calibri"/>
                        </a:rPr>
                        <a:t>The SLOs, or the build fails</a:t>
                      </a:r>
                    </a:p>
                  </a:txBody>
                  <a:tcPr marL="82296" marR="64008" marT="32004" marB="32004" anchor="ctr">
                    <a:solidFill>
                      <a:srgbClr val="FFFFFF"/>
                    </a:solidFill>
                  </a:tcPr>
                </a:tc>
              </a:tr>
            </a:tbl>
          </a:graphicData>
        </a:graphic>
      </p:graphicFrame>
      <p:sp>
        <p:nvSpPr>
          <p:cNvPr id="14" name="TextBox 13"/>
          <p:cNvSpPr txBox="1"/>
          <p:nvPr/>
        </p:nvSpPr>
        <p:spPr>
          <a:xfrm>
            <a:off x="6414964" y="4187952"/>
            <a:ext cx="4999491" cy="82296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adversarial tests are not optional. </a:t>
            </a:r>
            <a:r>
              <a:rPr sz="1050" b="0" i="0">
                <a:solidFill>
                  <a:srgbClr val="1C1C1E"/>
                </a:solidFill>
                <a:latin typeface="Calibri"/>
              </a:rPr>
              <a:t>A PIT verifier that silently stops detecting leakage, or an RLS policy that silently stops isolating, is a catastrophic invisible regression. Both are tested by injecting the failure they must catch.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design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Immutability is enforced, not asserted</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Triggers that raise, append-only database roles, a chain anchored outside the system. Silence is never an acceptable enforcement mechanism.</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Every derived value carries its derivation</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status, scope, health — each written with its inputs, rule version and rationale, in the same transaction.</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Extension without migration</a:t>
            </a:r>
          </a:p>
        </p:txBody>
      </p:sp>
      <p:sp>
        <p:nvSpPr>
          <p:cNvPr id="24" name="TextBox 23"/>
          <p:cNvSpPr txBox="1"/>
          <p:nvPr/>
        </p:nvSpPr>
        <p:spPr>
          <a:xfrm>
            <a:off x="8271052"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Model classes are fibres, regulators are institutions. Nine plugin points. A new kind of model needs no DDL and no front-end release.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not a single point of failure</a:t>
            </a:r>
          </a:p>
        </p:txBody>
      </p:sp>
      <p:sp>
        <p:nvSpPr>
          <p:cNvPr id="29" name="TextBox 28"/>
          <p:cNvSpPr txBox="1"/>
          <p:nvPr/>
        </p:nvSpPr>
        <p:spPr>
          <a:xfrm>
            <a:off x="996695"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the control plane is down, authorised scoring continues. Only new issuance and changes stop.</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SDK-first, schema-generated forms, compiled documentation. If governance is slower than the workaround, the inventory rots.</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theory is tested</a:t>
            </a:r>
          </a:p>
        </p:txBody>
      </p:sp>
      <p:sp>
        <p:nvSpPr>
          <p:cNvPr id="39" name="TextBox 38"/>
          <p:cNvSpPr txBox="1"/>
          <p:nvPr/>
        </p:nvSpPr>
        <p:spPr>
          <a:xfrm>
            <a:off x="8271052"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Eighteen laws as property tests. A failing law fails the build — which is what stops a foundation decaying into decoration.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4" name="Picture 3" descr="maya-mark-white.png"/>
          <p:cNvPicPr>
            <a:picLocks noChangeAspect="1"/>
          </p:cNvPicPr>
          <p:nvPr/>
        </p:nvPicPr>
        <p:blipFill>
          <a:blip r:embed="rId2"/>
          <a:stretch>
            <a:fillRect/>
          </a:stretch>
        </p:blipFill>
        <p:spPr>
          <a:xfrm>
            <a:off x="1124712" y="1481328"/>
            <a:ext cx="841248" cy="841248"/>
          </a:xfrm>
          <a:prstGeom prst="rect">
            <a:avLst/>
          </a:prstGeom>
        </p:spPr>
      </p:pic>
      <p:sp>
        <p:nvSpPr>
          <p:cNvPr id="5" name="TextBox 4"/>
          <p:cNvSpPr txBox="1"/>
          <p:nvPr/>
        </p:nvSpPr>
        <p:spPr>
          <a:xfrm>
            <a:off x="1143000" y="2468880"/>
            <a:ext cx="8722516" cy="1463040"/>
          </a:xfrm>
          <a:prstGeom prst="rect">
            <a:avLst/>
          </a:prstGeom>
          <a:noFill/>
        </p:spPr>
        <p:txBody>
          <a:bodyPr wrap="square" lIns="0" rIns="0" tIns="0" bIns="0" anchor="t">
            <a:spAutoFit/>
          </a:bodyPr>
          <a:lstStyle/>
          <a:p>
            <a:pPr algn="l">
              <a:spcBef>
                <a:spcPts val="0"/>
              </a:spcBef>
              <a:spcAft>
                <a:spcPts val="600"/>
              </a:spcAft>
            </a:pPr>
            <a:r>
              <a:rPr sz="3800" b="0" i="0">
                <a:solidFill>
                  <a:srgbClr val="FFFFFF"/>
                </a:solidFill>
                <a:latin typeface="Georgia"/>
              </a:rPr>
              <a:t>Detailed System Design</a:t>
            </a:r>
          </a:p>
          <a:p>
            <a:pPr>
              <a:spcBef>
                <a:spcPts val="0"/>
              </a:spcBef>
              <a:spcAft>
                <a:spcPts val="800"/>
              </a:spcAft>
            </a:pPr>
            <a:r>
              <a:rPr sz="1700" b="0" i="1">
                <a:solidFill>
                  <a:srgbClr val="F2D8DC"/>
                </a:solidFill>
                <a:latin typeface="Georgia"/>
              </a:rPr>
              <a:t>Evidence, not assertion.</a:t>
            </a:r>
          </a:p>
        </p:txBody>
      </p:sp>
      <p:sp>
        <p:nvSpPr>
          <p:cNvPr id="6" name="Rectangle 5"/>
          <p:cNvSpPr/>
          <p:nvPr/>
        </p:nvSpPr>
        <p:spPr>
          <a:xfrm>
            <a:off x="1143000" y="3675887"/>
            <a:ext cx="146304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143000" y="3931920"/>
            <a:ext cx="7871539" cy="137160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Full document: docs/14-detailed-design.md   ·   Architecture: docs/04-architecture.md   ·   Adversarial review: docs/11-adversarial-review.md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