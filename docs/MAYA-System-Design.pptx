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400" b="0" i="0">
                <a:solidFill>
                  <a:srgbClr val="FFFFFF"/>
                </a:solidFill>
                <a:latin typeface="Georgia"/>
              </a:rPr>
              <a:t>Detailed System Design</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722516"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Component interfaces, algorithms, transaction boundaries, error semantics and operations — the level below the architecture</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written to be sufficient to start coding from</a:t>
            </a:r>
          </a:p>
        </p:txBody>
      </p:sp>
      <p:sp>
        <p:nvSpPr>
          <p:cNvPr id="12" name="TextBox 11"/>
          <p:cNvSpPr txBox="1"/>
          <p:nvPr/>
        </p:nvSpPr>
        <p:spPr>
          <a:xfrm>
            <a:off x="6627708" y="4407408"/>
            <a:ext cx="4786746" cy="205740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Overview and design rules</a:t>
            </a:r>
          </a:p>
          <a:p>
            <a:pPr>
              <a:spcBef>
                <a:spcPts val="0"/>
              </a:spcBef>
              <a:spcAft>
                <a:spcPts val="300"/>
              </a:spcAft>
            </a:pPr>
            <a:r>
              <a:rPr sz="1050" b="1" i="0">
                <a:solidFill>
                  <a:srgbClr val="A51C30"/>
                </a:solidFill>
                <a:latin typeface="Calibri"/>
              </a:rPr>
              <a:t>2   </a:t>
            </a:r>
            <a:r>
              <a:rPr sz="1050" b="0" i="0">
                <a:solidFill>
                  <a:srgbClr val="4A4F57"/>
                </a:solidFill>
                <a:latin typeface="Calibri"/>
              </a:rPr>
              <a:t>Core domain and registry</a:t>
            </a:r>
          </a:p>
          <a:p>
            <a:pPr>
              <a:spcBef>
                <a:spcPts val="0"/>
              </a:spcBef>
              <a:spcAft>
                <a:spcPts val="300"/>
              </a:spcAft>
            </a:pPr>
            <a:r>
              <a:rPr sz="1050" b="1" i="0">
                <a:solidFill>
                  <a:srgbClr val="A51C30"/>
                </a:solidFill>
                <a:latin typeface="Calibri"/>
              </a:rPr>
              <a:t>3   </a:t>
            </a:r>
            <a:r>
              <a:rPr sz="1050" b="0" i="0">
                <a:solidFill>
                  <a:srgbClr val="4A4F57"/>
                </a:solidFill>
                <a:latin typeface="Calibri"/>
              </a:rPr>
              <a:t>Governance subsystems</a:t>
            </a:r>
          </a:p>
          <a:p>
            <a:pPr>
              <a:spcBef>
                <a:spcPts val="0"/>
              </a:spcBef>
              <a:spcAft>
                <a:spcPts val="300"/>
              </a:spcAft>
            </a:pPr>
            <a:r>
              <a:rPr sz="1050" b="1" i="0">
                <a:solidFill>
                  <a:srgbClr val="A51C30"/>
                </a:solidFill>
                <a:latin typeface="Calibri"/>
              </a:rPr>
              <a:t>4   </a:t>
            </a:r>
            <a:r>
              <a:rPr sz="1050" b="0" i="0">
                <a:solidFill>
                  <a:srgbClr val="4A4F57"/>
                </a:solidFill>
                <a:latin typeface="Calibri"/>
              </a:rPr>
              <a:t>Data and features</a:t>
            </a:r>
          </a:p>
          <a:p>
            <a:pPr>
              <a:spcBef>
                <a:spcPts val="0"/>
              </a:spcBef>
              <a:spcAft>
                <a:spcPts val="300"/>
              </a:spcAft>
            </a:pPr>
            <a:r>
              <a:rPr sz="1050" b="1" i="0">
                <a:solidFill>
                  <a:srgbClr val="A51C30"/>
                </a:solidFill>
                <a:latin typeface="Calibri"/>
              </a:rPr>
              <a:t>5   </a:t>
            </a:r>
            <a:r>
              <a:rPr sz="1050" b="0" i="0">
                <a:solidFill>
                  <a:srgbClr val="4A4F57"/>
                </a:solidFill>
                <a:latin typeface="Calibri"/>
              </a:rPr>
              <a:t>Execution and warrants</a:t>
            </a:r>
          </a:p>
          <a:p>
            <a:pPr>
              <a:spcBef>
                <a:spcPts val="0"/>
              </a:spcBef>
              <a:spcAft>
                <a:spcPts val="300"/>
              </a:spcAft>
            </a:pPr>
            <a:r>
              <a:rPr sz="1050" b="1" i="0">
                <a:solidFill>
                  <a:srgbClr val="A51C30"/>
                </a:solidFill>
                <a:latin typeface="Calibri"/>
              </a:rPr>
              <a:t>6   </a:t>
            </a:r>
            <a:r>
              <a:rPr sz="1050" b="0" i="0">
                <a:solidFill>
                  <a:srgbClr val="4A4F57"/>
                </a:solidFill>
                <a:latin typeface="Calibri"/>
              </a:rPr>
              <a:t>Machine assistance</a:t>
            </a:r>
          </a:p>
          <a:p>
            <a:pPr>
              <a:spcBef>
                <a:spcPts val="0"/>
              </a:spcBef>
              <a:spcAft>
                <a:spcPts val="300"/>
              </a:spcAft>
            </a:pPr>
            <a:r>
              <a:rPr sz="1050" b="1" i="0">
                <a:solidFill>
                  <a:srgbClr val="A51C30"/>
                </a:solidFill>
                <a:latin typeface="Calibri"/>
              </a:rPr>
              <a:t>7   </a:t>
            </a:r>
            <a:r>
              <a:rPr sz="1050" b="0" i="0">
                <a:solidFill>
                  <a:srgbClr val="4A4F57"/>
                </a:solidFill>
                <a:latin typeface="Calibri"/>
              </a:rPr>
              <a:t>Interfaces</a:t>
            </a:r>
          </a:p>
          <a:p>
            <a:pPr>
              <a:spcBef>
                <a:spcPts val="0"/>
              </a:spcBef>
              <a:spcAft>
                <a:spcPts val="300"/>
              </a:spcAft>
            </a:pPr>
            <a:r>
              <a:rPr sz="1050" b="1" i="0">
                <a:solidFill>
                  <a:srgbClr val="A51C30"/>
                </a:solidFill>
                <a:latin typeface="Calibri"/>
              </a:rPr>
              <a:t>8   </a:t>
            </a:r>
            <a:r>
              <a:rPr sz="1050" b="0" i="0">
                <a:solidFill>
                  <a:srgbClr val="4A4F57"/>
                </a:solidFill>
                <a:latin typeface="Calibri"/>
              </a:rPr>
              <a:t>Cross-cutting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537535"/>
        </p:xfrm>
        <a:graphic>
          <a:graphicData uri="http://schemas.openxmlformats.org/drawingml/2006/table">
            <a:tbl>
              <a:tblPr firstRow="1">
                <a:tableStyleId>{5C22544A-7EE6-4342-B048-85BDC9FD1C3A}</a:tableStyleId>
              </a:tblPr>
              <a:tblGrid>
                <a:gridCol w="3026104"/>
                <a:gridCol w="2751003"/>
                <a:gridCol w="4860106"/>
              </a:tblGrid>
              <a:tr h="333781">
                <a:tc>
                  <a:txBody>
                    <a:bodyPr wrap="square"/>
                    <a:lstStyle/>
                    <a:p>
                      <a:pPr algn="l"/>
                      <a:r>
                        <a:rPr sz="1100" b="1">
                          <a:solidFill>
                            <a:srgbClr val="FFFFFF"/>
                          </a:solidFill>
                          <a:latin typeface="Calibri"/>
                        </a:rPr>
                        <a:t>Document</a:t>
                      </a:r>
                    </a:p>
                  </a:txBody>
                  <a:tcPr marL="82296" marR="64008" marT="32004" marB="32004" anchor="ctr">
                    <a:solidFill>
                      <a:srgbClr val="A51C30"/>
                    </a:solidFill>
                  </a:tcPr>
                </a:tc>
                <a:tc>
                  <a:txBody>
                    <a:bodyPr wrap="square"/>
                    <a:lstStyle/>
                    <a:p>
                      <a:pPr algn="l"/>
                      <a:r>
                        <a:rPr sz="1100" b="1">
                          <a:solidFill>
                            <a:srgbClr val="FFFFFF"/>
                          </a:solidFill>
                          <a:latin typeface="Calibri"/>
                        </a:rPr>
                        <a:t>Level</a:t>
                      </a:r>
                    </a:p>
                  </a:txBody>
                  <a:tcPr marL="82296" marR="64008" marT="32004" marB="32004" anchor="ctr">
                    <a:solidFill>
                      <a:srgbClr val="A51C30"/>
                    </a:solidFill>
                  </a:tcPr>
                </a:tc>
                <a:tc>
                  <a:txBody>
                    <a:bodyPr wrap="square"/>
                    <a:lstStyle/>
                    <a:p>
                      <a:pPr algn="l"/>
                      <a:r>
                        <a:rPr sz="1100" b="1">
                          <a:solidFill>
                            <a:srgbClr val="FFFFFF"/>
                          </a:solidFill>
                          <a:latin typeface="Calibri"/>
                        </a:rPr>
                        <a:t>Answers</a:t>
                      </a:r>
                    </a:p>
                  </a:txBody>
                  <a:tcPr marL="82296" marR="64008" marT="32004" marB="32004" anchor="ctr">
                    <a:solidFill>
                      <a:srgbClr val="A51C30"/>
                    </a:solidFill>
                  </a:tcPr>
                </a:tc>
              </a:tr>
              <a:tr h="420624">
                <a:tc>
                  <a:txBody>
                    <a:bodyPr wrap="square"/>
                    <a:lstStyle/>
                    <a:p>
                      <a:pPr algn="l"/>
                      <a:r>
                        <a:rPr sz="110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10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100" b="0">
                          <a:solidFill>
                            <a:srgbClr val="1C1C1E"/>
                          </a:solidFill>
                          <a:latin typeface="Calibri"/>
                        </a:rPr>
                        <a:t>~200 numbered requirements, personas, regulatory traceability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10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100" b="0">
                          <a:solidFill>
                            <a:srgbClr val="1C1C1E"/>
                          </a:solidFill>
                          <a:latin typeface="Calibri"/>
                        </a:rPr>
                        <a:t>Deployable units, bounded contexts, extensibility, failure modes</a:t>
                      </a:r>
                    </a:p>
                  </a:txBody>
                  <a:tcPr marL="82296" marR="64008" marT="32004" marB="32004" anchor="ctr">
                    <a:solidFill>
                      <a:srgbClr val="F6F3EF"/>
                    </a:solidFill>
                  </a:tcPr>
                </a:tc>
              </a:tr>
              <a:tr h="521258">
                <a:tc>
                  <a:txBody>
                    <a:bodyPr wrap="square"/>
                    <a:lstStyle/>
                    <a:p>
                      <a:pPr algn="l"/>
                      <a:r>
                        <a:rPr sz="1100" b="1">
                          <a:solidFill>
                            <a:srgbClr val="A51C30"/>
                          </a:solidFill>
                          <a:latin typeface="Calibri"/>
                        </a:rPr>
                        <a:t>14 — Detailed design  ← this deck</a:t>
                      </a:r>
                    </a:p>
                  </a:txBody>
                  <a:tcPr marL="82296" marR="64008" marT="32004" marB="32004" anchor="ctr">
                    <a:solidFill>
                      <a:srgbClr val="FFFFFF"/>
                    </a:solidFill>
                  </a:tcPr>
                </a:tc>
                <a:tc>
                  <a:txBody>
                    <a:bodyPr wrap="square"/>
                    <a:lstStyle/>
                    <a:p>
                      <a:pPr algn="l"/>
                      <a:r>
                        <a:rPr sz="1100" b="0">
                          <a:solidFill>
                            <a:srgbClr val="1C1C1E"/>
                          </a:solidFill>
                          <a:latin typeface="Calibri"/>
                        </a:rPr>
                        <a:t>What each component does internally</a:t>
                      </a:r>
                    </a:p>
                  </a:txBody>
                  <a:tcPr marL="82296" marR="64008" marT="32004" marB="32004" anchor="ctr">
                    <a:solidFill>
                      <a:srgbClr val="FFFFFF"/>
                    </a:solidFill>
                  </a:tcPr>
                </a:tc>
                <a:tc>
                  <a:txBody>
                    <a:bodyPr wrap="square"/>
                    <a:lstStyle/>
                    <a:p>
                      <a:pPr algn="l"/>
                      <a:r>
                        <a:rPr sz="1100" b="0">
                          <a:solidFill>
                            <a:srgbClr val="1C1C1E"/>
                          </a:solidFill>
                          <a:latin typeface="Calibri"/>
                        </a:rPr>
                        <a:t>Interfaces, algorithms, transaction boundaries, concurrency, error taxonomy, SLOs, capacity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05–09 — Annexes</a:t>
                      </a:r>
                    </a:p>
                  </a:txBody>
                  <a:tcPr marL="82296" marR="64008" marT="32004" marB="32004" anchor="ctr">
                    <a:solidFill>
                      <a:srgbClr val="F6F3EF"/>
                    </a:solidFill>
                  </a:tcPr>
                </a:tc>
                <a:tc>
                  <a:txBody>
                    <a:bodyPr wrap="square"/>
                    <a:lstStyle/>
                    <a:p>
                      <a:pPr algn="l"/>
                      <a:r>
                        <a:rPr sz="1100" b="0">
                          <a:solidFill>
                            <a:srgbClr val="1C1C1E"/>
                          </a:solidFill>
                          <a:latin typeface="Calibri"/>
                        </a:rPr>
                        <a:t>Specific surfaces in depth</a:t>
                      </a:r>
                    </a:p>
                  </a:txBody>
                  <a:tcPr marL="82296" marR="64008" marT="32004" marB="32004" anchor="ctr">
                    <a:solidFill>
                      <a:srgbClr val="F6F3EF"/>
                    </a:solidFill>
                  </a:tcPr>
                </a:tc>
                <a:tc>
                  <a:txBody>
                    <a:bodyPr wrap="square"/>
                    <a:lstStyle/>
                    <a:p>
                      <a:pPr algn="l"/>
                      <a:r>
                        <a:rPr sz="1100" b="0">
                          <a:solidFill>
                            <a:srgbClr val="1C1C1E"/>
                          </a:solidFill>
                          <a:latin typeface="Calibri"/>
                        </a:rPr>
                        <a:t>Data model, warrants, features, UI, security</a:t>
                      </a:r>
                    </a:p>
                  </a:txBody>
                  <a:tcPr marL="82296" marR="64008" marT="32004" marB="32004" anchor="ctr">
                    <a:solidFill>
                      <a:srgbClr val="F6F3EF"/>
                    </a:solidFill>
                  </a:tcPr>
                </a:tc>
              </a:tr>
              <a:tr h="420624">
                <a:tc>
                  <a:txBody>
                    <a:bodyPr wrap="square"/>
                    <a:lstStyle/>
                    <a:p>
                      <a:pPr algn="l"/>
                      <a:r>
                        <a:rPr sz="1100" b="1">
                          <a:solidFill>
                            <a:srgbClr val="A51C30"/>
                          </a:solidFill>
                          <a:latin typeface="Calibri"/>
                        </a:rPr>
                        <a:t>11 — Adversarial review</a:t>
                      </a:r>
                    </a:p>
                  </a:txBody>
                  <a:tcPr marL="82296" marR="64008" marT="32004" marB="32004" anchor="ctr">
                    <a:solidFill>
                      <a:srgbClr val="FFFFFF"/>
                    </a:solidFill>
                  </a:tcPr>
                </a:tc>
                <a:tc>
                  <a:txBody>
                    <a:bodyPr wrap="square"/>
                    <a:lstStyle/>
                    <a:p>
                      <a:pPr algn="l"/>
                      <a:r>
                        <a:rPr sz="1100" b="0">
                          <a:solidFill>
                            <a:srgbClr val="1C1C1E"/>
                          </a:solidFill>
                          <a:latin typeface="Calibri"/>
                        </a:rPr>
                        <a:t>What was wrong with all of it</a:t>
                      </a:r>
                    </a:p>
                  </a:txBody>
                  <a:tcPr marL="82296" marR="64008" marT="32004" marB="32004" anchor="ctr">
                    <a:solidFill>
                      <a:srgbClr val="FFFFFF"/>
                    </a:solidFill>
                  </a:tcPr>
                </a:tc>
                <a:tc>
                  <a:txBody>
                    <a:bodyPr wrap="square"/>
                    <a:lstStyle/>
                    <a:p>
                      <a:pPr algn="l"/>
                      <a:r>
                        <a:rPr sz="1100" b="0">
                          <a:solidFill>
                            <a:srgbClr val="1C1C1E"/>
                          </a:solidFill>
                          <a:latin typeface="Calibri"/>
                        </a:rPr>
                        <a:t>27 findings; 17 required redesign — folded in here</a:t>
                      </a:r>
                    </a:p>
                  </a:txBody>
                  <a:tcPr marL="82296" marR="64008" marT="32004" marB="32004" anchor="ctr">
                    <a:solidFill>
                      <a:srgbClr val="FFFFFF"/>
                    </a:solidFill>
                  </a:tcPr>
                </a:tc>
              </a:tr>
            </a:tbl>
          </a:graphicData>
        </a:graphic>
      </p:graphicFrame>
      <p:sp>
        <p:nvSpPr>
          <p:cNvPr id="11" name="Rectangle 10"/>
          <p:cNvSpPr/>
          <p:nvPr/>
        </p:nvSpPr>
        <p:spPr>
          <a:xfrm>
            <a:off x="777240" y="416516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6516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293184"/>
            <a:ext cx="10088575" cy="68580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Test of adequacy. </a:t>
            </a:r>
            <a:r>
              <a:rPr sz="1200" b="0" i="0">
                <a:solidFill>
                  <a:srgbClr val="1C1C1E"/>
                </a:solidFill>
                <a:latin typeface="Calibri"/>
              </a:rPr>
              <a:t>An engineer who has read the architecture should be able to open this document and begin implementing a component without inventing an interface, guessing a transaction boundary, or deciding an error code. Where that is not yet true, it is a gap in this document rather than a decision left to the reader.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Overview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120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a:p>
            <a:pPr>
              <a:lnSpc>
                <a:spcPct val="126000"/>
              </a:lnSpc>
              <a:spcBef>
                <a:spcPts val="0"/>
              </a:spcBef>
              <a:spcAft>
                <a:spcPts val="0"/>
              </a:spcAft>
            </a:pPr>
            <a:r>
              <a:rPr sz="1050" b="1" i="0">
                <a:solidFill>
                  <a:srgbClr val="A51C30"/>
                </a:solidFill>
                <a:latin typeface="Calibri"/>
              </a:rPr>
              <a:t>Not built. </a:t>
            </a:r>
            <a:r>
              <a:rPr sz="1050" b="0" i="0">
                <a:solidFill>
                  <a:srgbClr val="1C1C1E"/>
                </a:solidFill>
                <a:latin typeface="Calibri"/>
              </a:rPr>
              <a:t>A model class is a string on the register today; there is no plugin loader and no totality check, so L-15 is stated and not enforced. The extensibility that </a:t>
            </a:r>
            <a:r>
              <a:rPr sz="1050" b="1" i="0">
                <a:solidFill>
                  <a:srgbClr val="1C1C1E"/>
                </a:solidFill>
                <a:latin typeface="Calibri"/>
              </a:rPr>
              <a:t>is</a:t>
            </a:r>
            <a:r>
              <a:rPr sz="1050" b="0" i="0">
                <a:solidFill>
                  <a:srgbClr val="1C1C1E"/>
                </a:solidFill>
                <a:latin typeface="Calibri"/>
              </a:rPr>
              <a:t> built is the warrant grammar's: a new model technology is a new value in one vocabulary, not a new document type.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 documentation.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546350"/>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 not built —</a:t>
                      </a:r>
                    </a:p>
                  </a:txBody>
                  <a:tcPr marL="82296" marR="64008" marT="32004" marB="32004" anchor="ctr">
                    <a:solidFill>
                      <a:srgbClr val="FFFFFF"/>
                    </a:solidFill>
                  </a:tcPr>
                </a:tc>
                <a:tc>
                  <a:txBody>
                    <a:bodyPr wrap="square"/>
                    <a:lstStyle/>
                    <a:p>
                      <a:pPr algn="l"/>
                      <a:r>
                        <a:rPr sz="1000" b="0">
                          <a:solidFill>
                            <a:srgbClr val="1C1C1E"/>
                          </a:solidFill>
                          <a:latin typeface="Calibri"/>
                        </a:rPr>
                        <a:t>ℕ[X], classification, regime admissibility</a:t>
                      </a:r>
                    </a:p>
                  </a:txBody>
                  <a:tcPr marL="82296" marR="64008" marT="32004" marB="32004" anchor="ctr">
                    <a:solidFill>
                      <a:srgbClr val="FFFFFF"/>
                    </a:solidFill>
                  </a:tcPr>
                </a:tc>
              </a:tr>
            </a:tbl>
          </a:graphicData>
        </a:graphic>
      </p:graphicFrame>
      <p:sp>
        <p:nvSpPr>
          <p:cNvPr id="15" name="TextBox 14"/>
          <p:cNvSpPr txBox="1"/>
          <p:nvPr/>
        </p:nvSpPr>
        <p:spPr>
          <a:xfrm>
            <a:off x="7053196" y="4100829"/>
            <a:ext cx="4361258" cy="86868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Without ℕ[X] there is no universal object, </a:t>
            </a:r>
            <a:r>
              <a:rPr sz="1000" b="0" i="0">
                <a:solidFill>
                  <a:srgbClr val="1C1C1E"/>
                </a:solidFill>
                <a:latin typeface="Calibri"/>
              </a:rPr>
              <a:t>so each semiring is its own traversal of the same memoised DAG rather than a homomorphic image of one. Six questions, one implementation — and the honest count.</a:t>
            </a:r>
          </a:p>
        </p:txBody>
      </p:sp>
      <p:sp>
        <p:nvSpPr>
          <p:cNvPr id="16" name="Rectangle 15"/>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51560" y="4748753"/>
            <a:ext cx="10088575" cy="6858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Complexity, stated honestly. </a:t>
            </a:r>
            <a:r>
              <a:rPr sz="110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a:t>
            </a:r>
            <a:r>
              <a:rPr sz="1100" b="1" i="0">
                <a:solidFill>
                  <a:srgbClr val="A51C30"/>
                </a:solidFill>
                <a:latin typeface="Calibri"/>
              </a:rPr>
              <a:t>It marks the answer partial — it does not fall back to a cheaper semiring. The marker is the control.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A rule may name the payload field carrying the identity it is about — a finding is raised against the model, while the act concerns one finding. Without that, raiser ≠ closer was </a:t>
            </a:r>
            <a:r>
              <a:rPr sz="1050" b="1" i="0">
                <a:solidFill>
                  <a:srgbClr val="1C1C1E"/>
                </a:solidFill>
                <a:latin typeface="Calibri"/>
              </a:rPr>
              <a:t>inert over HTTP</a:t>
            </a:r>
            <a:r>
              <a:rPr sz="1050" b="0" i="0">
                <a:solidFill>
                  <a:srgbClr val="4A4F57"/>
                </a:solidFill>
                <a:latin typeface="Calibri"/>
              </a:rPr>
              <a:t>: it searched under the finding's own id, found nothing, and permitted everything.</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TextBox 9"/>
          <p:cNvSpPr txBox="1"/>
          <p:nvPr/>
        </p:nvSpPr>
        <p:spPr>
          <a:xfrm>
            <a:off x="777240" y="1764792"/>
            <a:ext cx="10637215" cy="475488"/>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A gate that cannot change without a release is a gate people work around. A gate that </a:t>
            </a:r>
            <a:r>
              <a:rPr sz="1200" b="1" i="0">
                <a:solidFill>
                  <a:srgbClr val="1C1C1E"/>
                </a:solidFill>
                <a:latin typeface="Calibri"/>
              </a:rPr>
              <a:t>can</a:t>
            </a:r>
            <a:r>
              <a:rPr sz="1200" b="0" i="0">
                <a:solidFill>
                  <a:srgbClr val="1C1C1E"/>
                </a:solidFill>
                <a:latin typeface="Calibri"/>
              </a:rPr>
              <a:t> change without one is a gate that can be </a:t>
            </a:r>
            <a:r>
              <a:rPr sz="1200" b="1" i="0">
                <a:solidFill>
                  <a:srgbClr val="A51C30"/>
                </a:solidFill>
                <a:latin typeface="Calibri"/>
              </a:rPr>
              <a:t>weakened</a:t>
            </a:r>
            <a:r>
              <a:rPr sz="1200" b="0" i="0">
                <a:solidFill>
                  <a:srgbClr val="1C1C1E"/>
                </a:solidFill>
                <a:latin typeface="Calibri"/>
              </a:rPr>
              <a:t> without one, which is worse. Everything here makes the first possible without making the second silent.</a:t>
            </a:r>
          </a:p>
        </p:txBody>
      </p:sp>
      <p:sp>
        <p:nvSpPr>
          <p:cNvPr id="11" name="Rectangle 10"/>
          <p:cNvSpPr/>
          <p:nvPr/>
        </p:nvSpPr>
        <p:spPr>
          <a:xfrm>
            <a:off x="777240" y="2331720"/>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331720"/>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423160"/>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4" name="TextBox 13"/>
          <p:cNvSpPr txBox="1"/>
          <p:nvPr/>
        </p:nvSpPr>
        <p:spPr>
          <a:xfrm>
            <a:off x="978408" y="2724911"/>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5" name="TextBox 14"/>
          <p:cNvSpPr txBox="1"/>
          <p:nvPr/>
        </p:nvSpPr>
        <p:spPr>
          <a:xfrm>
            <a:off x="777240" y="4643688"/>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Rego was the obvious answer and was not taken. </a:t>
            </a:r>
            <a:r>
              <a:rPr sz="1050" b="0" i="0">
                <a:solidFill>
                  <a:srgbClr val="1C1C1E"/>
                </a:solidFill>
                <a:latin typeface="Calibri"/>
              </a:rPr>
              <a:t>A gate written in a general language is a program, and a reviewer signing off a governance control would have to run it to know what it does.</a:t>
            </a:r>
          </a:p>
        </p:txBody>
      </p:sp>
      <p:graphicFrame>
        <p:nvGraphicFramePr>
          <p:cNvPr id="16" name="Table 15"/>
          <p:cNvGraphicFramePr>
            <a:graphicFrameLocks noGrp="1"/>
          </p:cNvGraphicFramePr>
          <p:nvPr/>
        </p:nvGraphicFramePr>
        <p:xfrm>
          <a:off x="6840452" y="2331720"/>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7" name="Rectangle 16"/>
          <p:cNvSpPr/>
          <p:nvPr/>
        </p:nvSpPr>
        <p:spPr>
          <a:xfrm>
            <a:off x="777240" y="5440679"/>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69848" y="5541264"/>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Data and Features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INGESTION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Telemetry — monitoring's missing half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Monitors could always be evaluated. They had to be </a:t>
            </a:r>
            <a:r>
              <a:rPr sz="1250" b="1" i="0">
                <a:solidFill>
                  <a:srgbClr val="1C1C1E"/>
                </a:solidFill>
                <a:latin typeface="Calibri"/>
              </a:rPr>
              <a:t>handed</a:t>
            </a:r>
            <a:r>
              <a:rPr sz="1250" b="0" i="0">
                <a:solidFill>
                  <a:srgbClr val="1C1C1E"/>
                </a:solidFill>
                <a:latin typeface="Calibri"/>
              </a:rPr>
              <a:t> their rows — which made monitoring something somebody remembered to do, and left the scheduler able only to record that a monitor had stopped.</a:t>
            </a:r>
          </a:p>
        </p:txBody>
      </p:sp>
      <p:sp>
        <p:nvSpPr>
          <p:cNvPr id="11" name="Rectangle 10"/>
          <p:cNvSpPr/>
          <p:nvPr/>
        </p:nvSpPr>
        <p:spPr>
          <a:xfrm>
            <a:off x="777240"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4" name="Rectangle 13"/>
          <p:cNvSpPr/>
          <p:nvPr/>
        </p:nvSpPr>
        <p:spPr>
          <a:xfrm>
            <a:off x="6324447"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324447" y="1920240"/>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562191"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sp>
        <p:nvSpPr>
          <p:cNvPr id="17" name="TextBox 16"/>
          <p:cNvSpPr txBox="1"/>
          <p:nvPr/>
        </p:nvSpPr>
        <p:spPr>
          <a:xfrm>
            <a:off x="777240" y="3090672"/>
            <a:ext cx="10637215" cy="38404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streams, never one. </a:t>
            </a:r>
            <a:r>
              <a:rPr sz="1150" b="0" i="0">
                <a:solidFill>
                  <a:srgbClr val="1C1C1E"/>
                </a:solidFill>
                <a:latin typeface="Calibri"/>
              </a:rPr>
              <a:t>The gap between them is precisely what the delayed-label discipline reasons about, so flattening them would take that reasoning away before it started.</a:t>
            </a:r>
          </a:p>
        </p:txBody>
      </p:sp>
      <p:graphicFrame>
        <p:nvGraphicFramePr>
          <p:cNvPr id="18" name="Table 17"/>
          <p:cNvGraphicFramePr>
            <a:graphicFrameLocks noGrp="1"/>
          </p:cNvGraphicFramePr>
          <p:nvPr/>
        </p:nvGraphicFramePr>
        <p:xfrm>
          <a:off x="777240" y="3547872"/>
          <a:ext cx="10637214" cy="2845562"/>
        </p:xfrm>
        <a:graphic>
          <a:graphicData uri="http://schemas.openxmlformats.org/drawingml/2006/table">
            <a:tbl>
              <a:tblPr firstRow="1">
                <a:tableStyleId>{5C22544A-7EE6-4342-B048-85BDC9FD1C3A}</a:tableStyleId>
              </a:tblPr>
              <a:tblGrid>
                <a:gridCol w="3301204"/>
                <a:gridCol w="7336010"/>
              </a:tblGrid>
              <a:tr h="329184">
                <a:tc>
                  <a:txBody>
                    <a:bodyPr wrap="square"/>
                    <a:lstStyle/>
                    <a:p>
                      <a:pPr algn="l"/>
                      <a:r>
                        <a:rPr sz="1050" b="1">
                          <a:solidFill>
                            <a:srgbClr val="FFFFFF"/>
                          </a:solidFill>
                          <a:latin typeface="Calibri"/>
                        </a:rPr>
                        <a:t>Rule</a:t>
                      </a:r>
                    </a:p>
                  </a:txBody>
                  <a:tcPr marL="82296" marR="64008" marT="32004" marB="32004" anchor="ctr">
                    <a:solidFill>
                      <a:srgbClr val="A51C30"/>
                    </a:solidFill>
                  </a:tcPr>
                </a:tc>
                <a:tc>
                  <a:txBody>
                    <a:bodyPr wrap="square"/>
                    <a:lstStyle/>
                    <a:p>
                      <a:pPr algn="l"/>
                      <a:r>
                        <a:rPr sz="1050" b="1">
                          <a:solidFill>
                            <a:srgbClr val="FFFFFF"/>
                          </a:solidFill>
                          <a:latin typeface="Calibri"/>
                        </a:rPr>
                        <a:t>The failure it prevents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1000" b="0">
                          <a:solidFill>
                            <a:srgbClr val="1C1C1E"/>
                          </a:solidFill>
                          <a:latin typeface="Calibri"/>
                        </a:rPr>
                        <a:t>Real collectors deliver at least once. A monitor that double-counts a redelivered batch reports a population that never existed</a:t>
                      </a:r>
                    </a:p>
                  </a:txBody>
                  <a:tcPr marL="82296" marR="64008" marT="32004" marB="32004" anchor="ctr">
                    <a:solidFill>
                      <a:srgbClr val="FFFFFF"/>
                    </a:solidFill>
                  </a:tcPr>
                </a:tc>
              </a:tr>
              <a:tr h="457200">
                <a:tc>
                  <a:txBody>
                    <a:bodyPr wrap="square"/>
                    <a:lstStyle/>
                    <a:p>
                      <a:pPr algn="l"/>
                      <a:r>
                        <a:rPr sz="100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100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1000" b="0">
                          <a:solidFill>
                            <a:srgbClr val="1C1C1E"/>
                          </a:solidFill>
                          <a:latin typeface="Calibri"/>
                        </a:rPr>
                        <a:t>A statistic that cannot say what population it speaks for</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The join happens at READ time against a stated moment, and unlabelled rows come back unlabelled</a:t>
                      </a:r>
                    </a:p>
                  </a:txBody>
                  <a:tcPr marL="82296" marR="64008" marT="32004" marB="32004" anchor="ctr">
                    <a:solidFill>
                      <a:srgbClr val="F6F3EF"/>
                    </a:solidFill>
                  </a:tcPr>
                </a:tc>
                <a:tc>
                  <a:txBody>
                    <a:bodyPr wrap="square"/>
                    <a:lstStyle/>
                    <a:p>
                      <a:pPr algn="l"/>
                      <a:r>
                        <a:rPr sz="1000" b="0">
                          <a:solidFill>
                            <a:srgbClr val="1C1C1E"/>
                          </a:solidFill>
                          <a:latin typeface="Calibri"/>
                        </a:rPr>
                        <a:t>A cohort that looks complete and is not — the monitor decides maturity per row, and a join that dropped the unlabelled would decide for it</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1000" b="0">
                          <a:solidFill>
                            <a:srgbClr val="1C1C1E"/>
                          </a:solidFill>
                          <a:latin typeface="Calibri"/>
                        </a:rPr>
                        <a:t>“What is this drifting from” being part of whoever ran it rather than part of the record</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The model </a:t>
            </a:r>
            <a:r>
              <a:rPr sz="1250" b="1" i="0">
                <a:solidFill>
                  <a:srgbClr val="1C1C1E"/>
                </a:solidFill>
                <a:latin typeface="Calibri"/>
              </a:rPr>
              <a:t>record</a:t>
            </a:r>
            <a:r>
              <a:rPr sz="1250" b="0" i="0">
                <a:solidFill>
                  <a:srgbClr val="1C1C1E"/>
                </a:solidFill>
                <a:latin typeface="Calibri"/>
              </a:rPr>
              <a:t> was attested by several people while the </a:t>
            </a:r>
            <a:r>
              <a:rPr sz="1250" b="1" i="0">
                <a:solidFill>
                  <a:srgbClr val="1C1C1E"/>
                </a:solidFill>
                <a:latin typeface="Calibri"/>
              </a:rPr>
              <a:t>version</a:t>
            </a:r>
            <a:r>
              <a:rPr sz="1250" b="0" i="0">
                <a:solidFill>
                  <a:srgbClr val="1C1C1E"/>
                </a:solidFill>
                <a:latin typeface="Calibri"/>
              </a:rPr>
              <a:t> — the thing that actually runs — was approved by one.</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adjunction (L-5) that decides every other control set. Depth of control follows materiality</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would be a way of choosing your own control depth, and it is the obvious way to game a rule like this one</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58893"/>
            <a:ext cx="4542291" cy="1115568"/>
          </a:xfrm>
          <a:prstGeom prst="rect">
            <a:avLst/>
          </a:prstGeom>
          <a:noFill/>
        </p:spPr>
        <p:txBody>
          <a:bodyPr wrap="square" lIns="0" rIns="0" tIns="0" bIns="0" anchor="t">
            <a:spAutoFit/>
          </a:bodyPr>
          <a:lstStyle/>
          <a:p>
            <a:pPr algn="l">
              <a:lnSpc>
                <a:spcPct val="122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a:t>
            </a:r>
            <a:r>
              <a:rPr sz="1050" b="1" i="0">
                <a:solidFill>
                  <a:srgbClr val="1C1C1E"/>
                </a:solidFill>
                <a:latin typeface="Calibri"/>
              </a:rPr>
              <a:t>cannot be a constraint</a:t>
            </a:r>
            <a:r>
              <a:rPr sz="1050" b="0" i="0">
                <a:solidFill>
                  <a:srgbClr val="1C1C1E"/>
                </a:solidFill>
                <a:latin typeface="Calibri"/>
              </a:rPr>
              <a:t> and lives in the service, because it is about people rather than about rows.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Featuresets — X becomes an object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TextBox 9"/>
          <p:cNvSpPr txBox="1"/>
          <p:nvPr/>
        </p:nvSpPr>
        <p:spPr>
          <a:xfrm>
            <a:off x="777240" y="1353312"/>
            <a:ext cx="5956840"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 featureset declares a schema; a version fills it</a:t>
            </a:r>
          </a:p>
        </p:txBody>
      </p:sp>
      <p:sp>
        <p:nvSpPr>
          <p:cNvPr id="11" name="Rectangle 10"/>
          <p:cNvSpPr/>
          <p:nvPr/>
        </p:nvSpPr>
        <p:spPr>
          <a:xfrm>
            <a:off x="777240" y="1737360"/>
            <a:ext cx="5956840"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inflation   slots: {gb_index, us_index, daily_index}</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the model reads daily_index, and always did.</a:t>
            </a:r>
          </a:p>
          <a:p>
            <a:pPr>
              <a:lnSpc>
                <a:spcPct val="134000"/>
              </a:lnSpc>
              <a:spcBef>
                <a:spcPts val="0"/>
              </a:spcBef>
              <a:spcAft>
                <a:spcPts val="0"/>
              </a:spcAft>
            </a:pPr>
            <a:r>
              <a:rPr sz="950" b="0" i="0">
                <a:solidFill>
                  <a:srgbClr val="7A7F87"/>
                </a:solidFill>
                <a:latin typeface="Consolas"/>
              </a:rPr>
              <a:t># a version that CANNOT fill the schema is refused:</a:t>
            </a:r>
          </a:p>
          <a:p>
            <a:pPr>
              <a:lnSpc>
                <a:spcPct val="134000"/>
              </a:lnSpc>
              <a:spcBef>
                <a:spcPts val="0"/>
              </a:spcBef>
              <a:spcAft>
                <a:spcPts val="0"/>
              </a:spcAft>
            </a:pPr>
            <a:r>
              <a:rPr sz="950" b="0" i="0">
                <a:solidFill>
                  <a:srgbClr val="7A7F87"/>
                </a:solidFill>
                <a:latin typeface="Consolas"/>
              </a:rPr>
              <a:t># it is a different set, or it is a model change.</a:t>
            </a:r>
          </a:p>
        </p:txBody>
      </p:sp>
      <p:sp>
        <p:nvSpPr>
          <p:cNvPr id="14" name="TextBox 13"/>
          <p:cNvSpPr txBox="1"/>
          <p:nvPr/>
        </p:nvSpPr>
        <p:spPr>
          <a:xfrm>
            <a:off x="777240" y="3879067"/>
            <a:ext cx="5956840" cy="1645920"/>
          </a:xfrm>
          <a:prstGeom prst="rect">
            <a:avLst/>
          </a:prstGeom>
          <a:noFill/>
        </p:spPr>
        <p:txBody>
          <a:bodyPr wrap="square" lIns="0" rIns="0" tIns="0" bIns="0" anchor="t">
            <a:spAutoFit/>
          </a:bodyPr>
          <a:lstStyle/>
          <a:p>
            <a:pPr algn="l">
              <a:lnSpc>
                <a:spcPct val="124000"/>
              </a:lnSpc>
              <a:spcBef>
                <a:spcPts val="0"/>
              </a:spcBef>
              <a:spcAft>
                <a:spcPts val="600"/>
              </a:spcAft>
            </a:pPr>
            <a:r>
              <a:rPr sz="1050" b="0" i="0">
                <a:solidFill>
                  <a:srgbClr val="4A4F57"/>
                </a:solidFill>
                <a:latin typeface="Calibri"/>
              </a:rPr>
              <a:t>Every slot pins the feature AND the feature view version supplying it. A set that named views without pinning them would resolve to different bytes next month with its digest unchanged — finding C-2, one level out from the view.</a:t>
            </a:r>
          </a:p>
          <a:p>
            <a:pPr>
              <a:lnSpc>
                <a:spcPct val="124000"/>
              </a:lnSpc>
              <a:spcBef>
                <a:spcPts val="0"/>
              </a:spcBef>
              <a:spcAft>
                <a:spcPts val="0"/>
              </a:spcAft>
            </a:pPr>
            <a:r>
              <a:rPr sz="1050" b="0" i="0">
                <a:solidFill>
                  <a:srgbClr val="4A4F57"/>
                </a:solidFill>
                <a:latin typeface="Calibri"/>
              </a:rPr>
              <a:t>The set owns the shape; the warrant owns the window. Otherwise “same features, 2019–23 vs 2020–24” would be two featuresets.</a:t>
            </a:r>
          </a:p>
        </p:txBody>
      </p:sp>
      <p:sp>
        <p:nvSpPr>
          <p:cNvPr id="15" name="TextBox 14"/>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Derived features: Z = f(X, Y)</a:t>
            </a:r>
          </a:p>
        </p:txBody>
      </p:sp>
      <p:graphicFrame>
        <p:nvGraphicFramePr>
          <p:cNvPr id="16" name="Table 15"/>
          <p:cNvGraphicFramePr>
            <a:graphicFrameLocks noGrp="1"/>
          </p:cNvGraphicFramePr>
          <p:nvPr/>
        </p:nvGraphicFramePr>
        <p:xfrm>
          <a:off x="7159569" y="1737360"/>
          <a:ext cx="4254885" cy="2047784"/>
        </p:xfrm>
        <a:graphic>
          <a:graphicData uri="http://schemas.openxmlformats.org/drawingml/2006/table">
            <a:tbl>
              <a:tblPr firstRow="1">
                <a:tableStyleId>{5C22544A-7EE6-4342-B048-85BDC9FD1C3A}</a:tableStyleId>
              </a:tblPr>
              <a:tblGrid>
                <a:gridCol w="1731639"/>
                <a:gridCol w="2523246"/>
              </a:tblGrid>
              <a:tr h="329184">
                <a:tc>
                  <a:txBody>
                    <a:bodyPr wrap="square"/>
                    <a:lstStyle/>
                    <a:p>
                      <a:pPr algn="l"/>
                      <a:r>
                        <a:rPr sz="950" b="1">
                          <a:solidFill>
                            <a:srgbClr val="FFFFFF"/>
                          </a:solidFill>
                          <a:latin typeface="Calibri"/>
                        </a:rPr>
                        <a:t>Rule</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Lineage is transitive</a:t>
                      </a:r>
                    </a:p>
                  </a:txBody>
                  <a:tcPr marL="82296" marR="64008" marT="32004" marB="32004" anchor="ctr">
                    <a:solidFill>
                      <a:srgbClr val="FFFFFF"/>
                    </a:solidFill>
                  </a:tcPr>
                </a:tc>
                <a:tc>
                  <a:txBody>
                    <a:bodyPr wrap="square"/>
                    <a:lstStyle/>
                    <a:p>
                      <a:pPr algn="l"/>
                      <a:r>
                        <a:rPr sz="950" b="0">
                          <a:solidFill>
                            <a:srgbClr val="1C1C1E"/>
                          </a:solidFill>
                          <a:latin typeface="Calibri"/>
                        </a:rPr>
                        <a:t>A primitive retired under something deriving from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50" b="0">
                          <a:solidFill>
                            <a:srgbClr val="1C1C1E"/>
                          </a:solidFill>
                          <a:latin typeface="Calibri"/>
                        </a:rPr>
                        <a:t>A value appearing knowable before its inputs were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 slot from the label</a:t>
                      </a:r>
                    </a:p>
                  </a:txBody>
                  <a:tcPr marL="82296" marR="64008" marT="32004" marB="32004" anchor="ctr">
                    <a:solidFill>
                      <a:srgbClr val="FFFFFF"/>
                    </a:solidFill>
                  </a:tcPr>
                </a:tc>
                <a:tc>
                  <a:txBody>
                    <a:bodyPr wrap="square"/>
                    <a:lstStyle/>
                    <a:p>
                      <a:pPr algn="l"/>
                      <a:r>
                        <a:rPr sz="950" b="0">
                          <a:solidFill>
                            <a:srgbClr val="1C1C1E"/>
                          </a:solidFill>
                          <a:latin typeface="Calibri"/>
                        </a:rPr>
                        <a:t>Leakage with a division sign in front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50" b="0">
                          <a:solidFill>
                            <a:srgbClr val="1C1C1E"/>
                          </a:solidFill>
                          <a:latin typeface="Calibri"/>
                        </a:rPr>
                        <a:t>Laundering an uncertified input</a:t>
                      </a:r>
                    </a:p>
                  </a:txBody>
                  <a:tcPr marL="82296" marR="64008" marT="32004" marB="32004" anchor="ctr">
                    <a:solidFill>
                      <a:srgbClr val="F6F3EF"/>
                    </a:solidFill>
                  </a:tcPr>
                </a:tc>
              </a:tr>
            </a:tbl>
          </a:graphicData>
        </a:graphic>
      </p:graphicFrame>
      <p:sp>
        <p:nvSpPr>
          <p:cNvPr id="17" name="Rectangle 16"/>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language is small on purpose. </a:t>
            </a:r>
            <a:r>
              <a:rPr sz="1100" b="0" i="0">
                <a:solidFill>
                  <a:srgbClr val="1C1C1E"/>
                </a:solidFill>
                <a:latin typeface="Calibri"/>
              </a:rPr>
              <a:t>Arithmetic, nine total functions, the row’s own clock — whitelisted at the AST, so what cannot be expressed cannot be smuggled in. MAYA transforms features it holds; </a:t>
            </a:r>
            <a:r>
              <a:rPr sz="1100" b="1" i="0">
                <a:solidFill>
                  <a:srgbClr val="1C1C1E"/>
                </a:solidFill>
                <a:latin typeface="Calibri"/>
              </a:rPr>
              <a:t>it does not run models.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parameter object — an inhabitant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TextBox 9"/>
          <p:cNvSpPr txBox="1"/>
          <p:nvPr/>
        </p:nvSpPr>
        <p:spPr>
          <a:xfrm>
            <a:off x="777240" y="135331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Fitting does not change the kernel</a:t>
            </a:r>
          </a:p>
        </p:txBody>
      </p:sp>
      <p:sp>
        <p:nvSpPr>
          <p:cNvPr id="11" name="Rectangle 10"/>
          <p:cNvSpPr/>
          <p:nvPr/>
        </p:nvSpPr>
        <p:spPr>
          <a:xfrm>
            <a:off x="777240" y="1737360"/>
            <a:ext cx="5531351"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165591"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a fit produces a PARAMETER SET,</a:t>
            </a:r>
          </a:p>
          <a:p>
            <a:pPr>
              <a:lnSpc>
                <a:spcPct val="134000"/>
              </a:lnSpc>
              <a:spcBef>
                <a:spcPts val="0"/>
              </a:spcBef>
              <a:spcAft>
                <a:spcPts val="0"/>
              </a:spcAft>
            </a:pPr>
            <a:r>
              <a:rPr sz="950" b="0" i="0">
                <a:solidFill>
                  <a:srgbClr val="1C1C1E"/>
                </a:solidFill>
                <a:latin typeface="Consolas"/>
              </a:rPr>
              <a:t>  not a model version.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warrant(fit)   model_version × featureset@v × window</a:t>
            </a:r>
          </a:p>
          <a:p>
            <a:pPr>
              <a:lnSpc>
                <a:spcPct val="134000"/>
              </a:lnSpc>
              <a:spcBef>
                <a:spcPts val="0"/>
              </a:spcBef>
              <a:spcAft>
                <a:spcPts val="0"/>
              </a:spcAft>
            </a:pPr>
            <a:r>
              <a:rPr sz="950" b="0" i="0">
                <a:solidFill>
                  <a:srgbClr val="1C1C1E"/>
                </a:solidFill>
                <a:latin typeface="Consolas"/>
              </a:rPr>
              <a:t>warrant(score) model_version × parameter_set@v</a:t>
            </a:r>
          </a:p>
        </p:txBody>
      </p:sp>
      <p:sp>
        <p:nvSpPr>
          <p:cNvPr id="14" name="TextBox 13"/>
          <p:cNvSpPr txBox="1"/>
          <p:nvPr/>
        </p:nvSpPr>
        <p:spPr>
          <a:xfrm>
            <a:off x="777240" y="3879067"/>
            <a:ext cx="5531351"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Minting a model version per retrain would make “the model changed” mean two different things. But a parameter set changes behaviour, so it is immutable, versioned, and cannot be run on until somebody other than whoever recorded it has approved — the gate that governs versions, applied to the other half of the pair.</a:t>
            </a:r>
          </a:p>
        </p:txBody>
      </p:sp>
      <p:sp>
        <p:nvSpPr>
          <p:cNvPr id="15" name="TextBox 14"/>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three depths of governance</a:t>
            </a:r>
          </a:p>
        </p:txBody>
      </p:sp>
      <p:graphicFrame>
        <p:nvGraphicFramePr>
          <p:cNvPr id="16" name="Table 15"/>
          <p:cNvGraphicFramePr>
            <a:graphicFrameLocks noGrp="1"/>
          </p:cNvGraphicFramePr>
          <p:nvPr/>
        </p:nvGraphicFramePr>
        <p:xfrm>
          <a:off x="6840452" y="1737360"/>
          <a:ext cx="4574002" cy="1253832"/>
        </p:xfrm>
        <a:graphic>
          <a:graphicData uri="http://schemas.openxmlformats.org/drawingml/2006/table">
            <a:tbl>
              <a:tblPr firstRow="1">
                <a:tableStyleId>{5C22544A-7EE6-4342-B048-85BDC9FD1C3A}</a:tableStyleId>
              </a:tblPr>
              <a:tblGrid>
                <a:gridCol w="1327936"/>
                <a:gridCol w="1918130"/>
                <a:gridCol w="1327936"/>
              </a:tblGrid>
              <a:tr h="329184">
                <a:tc>
                  <a:txBody>
                    <a:bodyPr wrap="square"/>
                    <a:lstStyle/>
                    <a:p>
                      <a:pPr algn="l"/>
                      <a:r>
                        <a:rPr sz="950" b="1">
                          <a:solidFill>
                            <a:srgbClr val="FFFFFF"/>
                          </a:solidFill>
                          <a:latin typeface="Calibri"/>
                        </a:rPr>
                        <a:t>Provenance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7" name="TextBox 16"/>
          <p:cNvSpPr txBox="1"/>
          <p:nvPr/>
        </p:nvSpPr>
        <p:spPr>
          <a:xfrm>
            <a:off x="6840452" y="3136391"/>
            <a:ext cx="4574002"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The middle row is why provenance is not cosmetic: a Hull–White model recalibrated every morning would drown the register if each day needed a committee. The bottom row is the model that never trains — a closed form arrives with its parameters, and L-W1 refuses it a fit warrant as a type error.</a:t>
            </a:r>
          </a:p>
        </p:txBody>
      </p:sp>
      <p:sp>
        <p:nvSpPr>
          <p:cNvPr id="18" name="Rectangle 17"/>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Accepted only against a warrant we issued. </a:t>
            </a:r>
            <a:r>
              <a:rPr sz="1100" b="0" i="0">
                <a:solidFill>
                  <a:srgbClr val="1C1C1E"/>
                </a:solidFill>
                <a:latin typeface="Calibri"/>
              </a:rPr>
              <a:t>No back door. Without it, </a:t>
            </a:r>
            <a:r>
              <a:rPr sz="1100" b="1" i="0">
                <a:solidFill>
                  <a:srgbClr val="1C1C1E"/>
                </a:solidFill>
                <a:latin typeface="Calibri"/>
              </a:rPr>
              <a:t>“which data produced these numbers” has no answer</a:t>
            </a:r>
            <a:r>
              <a:rPr sz="1100" b="0" i="0">
                <a:solidFill>
                  <a:srgbClr val="1C1C1E"/>
                </a:solidFill>
                <a:latin typeface="Calibri"/>
              </a:rPr>
              <a:t>, and the lineage the pinned versions and bitemporal clocks exist to establish stops one step short of the thing it was for.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Execution and Warrants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17</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python.callable · container · rest · sql · spreadsheet · rules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4A4F57"/>
                </a:solidFill>
                <a:latin typeface="Calibri"/>
              </a:rPr>
              <a:t>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755648"/>
          <a:ext cx="10637214" cy="3966683"/>
        </p:xfrm>
        <a:graphic>
          <a:graphicData uri="http://schemas.openxmlformats.org/drawingml/2006/table">
            <a:tbl>
              <a:tblPr firstRow="1">
                <a:tableStyleId>{5C22544A-7EE6-4342-B048-85BDC9FD1C3A}</a:tableStyleId>
              </a:tblPr>
              <a:tblGrid>
                <a:gridCol w="779451"/>
                <a:gridCol w="2888554"/>
                <a:gridCol w="69692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not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temperature 0.7 is not reproducible, and would be believed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training does not change the kernel, so a run declining to say which inhabitant it runs at produces a number attributable to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featureset read for training,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does not provide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it needs the register, not the document</a:t>
                      </a:r>
                    </a:p>
                  </a:txBody>
                  <a:tcPr marL="82296" marR="64008" marT="32004" marB="32004" anchor="ctr">
                    <a:solidFill>
                      <a:srgbClr val="FFFFFF"/>
                    </a:solidFill>
                  </a:tcPr>
                </a:tc>
              </a:tr>
            </a:tbl>
          </a:graphicData>
        </a:graphic>
      </p:graphicFrame>
      <p:sp>
        <p:nvSpPr>
          <p:cNvPr id="12" name="TextBox 11"/>
          <p:cNvSpPr txBox="1"/>
          <p:nvPr/>
        </p:nvSpPr>
        <p:spPr>
          <a:xfrm>
            <a:off x="777240" y="5777204"/>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A51C30"/>
                </a:solidFill>
                <a:latin typeface="Calibri"/>
              </a:rPr>
              <a:t>Validated before signed, never after. </a:t>
            </a:r>
            <a:r>
              <a:rPr sz="950" b="0" i="0">
                <a:solidFill>
                  <a:srgbClr val="1C1C1E"/>
                </a:solidFill>
                <a:latin typeface="Calibri"/>
              </a:rPr>
              <a:t>A signature over a non-conforming document would assure it is authentic and not that it is usable, and an engine would read it as both. </a:t>
            </a:r>
            <a:r>
              <a:rPr sz="950" b="1" i="0">
                <a:solidFill>
                  <a:srgbClr val="1C1C1E"/>
                </a:solidFill>
                <a:latin typeface="Calibri"/>
              </a:rPr>
              <a:t>L-W8 caught a real error in a shipped example the day it was written.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signature check — HMAC-SHA256 today, Ed25519 the production target</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722903"/>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722903"/>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722903"/>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850919"/>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Interfaces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UI,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828800"/>
          </a:xfrm>
          <a:prstGeom prst="rect">
            <a:avLst/>
          </a:prstGeom>
          <a:noFill/>
        </p:spPr>
        <p:txBody>
          <a:bodyPr wrap="square" lIns="0" rIns="0" tIns="0" bIns="0" anchor="t">
            <a:spAutoFit/>
          </a:bodyPr>
          <a:lstStyle/>
          <a:p>
            <a:pPr algn="l"/>
          </a:p>
          <a:p>
            <a:pPr>
              <a:spcBef>
                <a:spcPts val="700"/>
              </a:spcBef>
              <a:spcAft>
                <a:spcPts val="300"/>
              </a:spcAft>
            </a:pPr>
            <a:r>
              <a:rPr sz="1050" b="1">
                <a:solidFill>
                  <a:srgbClr val="A51C30"/>
                </a:solidFill>
                <a:latin typeface="Calibri"/>
              </a:rPr>
              <a:t>▪  </a:t>
            </a:r>
            <a:r>
              <a:rPr sz="1050" b="1">
                <a:solidFill>
                  <a:srgbClr val="1C1C1E"/>
                </a:solidFill>
                <a:latin typeface="Calibri"/>
              </a:rPr>
              <a:t>CONSTRUCT the padded block, never parse what you recover</a:t>
            </a:r>
          </a:p>
          <a:p>
            <a:pPr lvl="1">
              <a:spcBef>
                <a:spcPts val="0"/>
              </a:spcBef>
              <a:spcAft>
                <a:spcPts val="0"/>
              </a:spcAft>
            </a:pPr>
            <a:r>
              <a:rPr sz="950">
                <a:solidFill>
                  <a:srgbClr val="4A4F57"/>
                </a:solidFill>
                <a:latin typeface="Calibri"/>
              </a:rPr>
              <a:t>that is the difference between correct PKCS#1 v1.5 and the Bleichenbacher forgery, which works precisely against verifiers that parse</a:t>
            </a:r>
          </a:p>
          <a:p>
            <a:pPr>
              <a:spcBef>
                <a:spcPts val="700"/>
              </a:spcBef>
              <a:spcAft>
                <a:spcPts val="300"/>
              </a:spcAft>
            </a:pPr>
            <a:r>
              <a:rPr sz="1050" b="1">
                <a:solidFill>
                  <a:srgbClr val="A51C30"/>
                </a:solidFill>
                <a:latin typeface="Calibri"/>
              </a:rPr>
              <a:t>▪  </a:t>
            </a:r>
            <a:r>
              <a:rPr sz="1050" b="1">
                <a:solidFill>
                  <a:srgbClr val="1C1C1E"/>
                </a:solidFill>
                <a:latin typeface="Calibri"/>
              </a:rPr>
              <a:t>Decide the algorithm; do not read alg from the token</a:t>
            </a:r>
          </a:p>
          <a:p>
            <a:pPr lvl="1">
              <a:spcBef>
                <a:spcPts val="0"/>
              </a:spcBef>
              <a:spcAft>
                <a:spcPts val="0"/>
              </a:spcAft>
            </a:pPr>
            <a:r>
              <a:rPr sz="950">
                <a:solidFill>
                  <a:srgbClr val="4A4F57"/>
                </a:solidFill>
                <a:latin typeface="Calibri"/>
              </a:rPr>
              <a:t>the other famous way a JWT is accepted with no signature at all</a:t>
            </a:r>
          </a:p>
          <a:p>
            <a:pPr>
              <a:spcBef>
                <a:spcPts val="700"/>
              </a:spcBef>
              <a:spcAft>
                <a:spcPts val="300"/>
              </a:spcAft>
            </a:pPr>
            <a:r>
              <a:rPr sz="1050" b="1">
                <a:solidFill>
                  <a:srgbClr val="A51C30"/>
                </a:solidFill>
                <a:latin typeface="Calibri"/>
              </a:rPr>
              <a:t>▪  </a:t>
            </a:r>
            <a:r>
              <a:rPr sz="1050" b="1">
                <a:solidFill>
                  <a:srgbClr val="1C1C1E"/>
                </a:solidFill>
                <a:latin typeface="Calibri"/>
              </a:rPr>
              <a:t>No crypto dependency, by design</a:t>
            </a:r>
          </a:p>
          <a:p>
            <a:pPr lvl="1">
              <a:spcBef>
                <a:spcPts val="0"/>
              </a:spcBef>
              <a:spcAft>
                <a:spcPts val="0"/>
              </a:spcAft>
            </a:pPr>
            <a:r>
              <a:rPr sz="950">
                <a:solidFill>
                  <a:srgbClr val="4A4F57"/>
                </a:solidFill>
                <a:latin typeface="Calibri"/>
              </a:rPr>
              <a:t>a governance system that cannot be deployed air-gapped is one somebody works around — the same reason every front-end asset is vendored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3277870"/>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Laws — the executable ones</a:t>
                      </a:r>
                    </a:p>
                  </a:txBody>
                  <a:tcPr marL="82296" marR="64008" marT="32004" marB="32004" anchor="ctr">
                    <a:solidFill>
                      <a:srgbClr val="F6F3EF"/>
                    </a:solidFill>
                  </a:tcPr>
                </a:tc>
                <a:tc>
                  <a:txBody>
                    <a:bodyPr wrap="square"/>
                    <a:lstStyle/>
                    <a:p>
                      <a:pPr algn="l"/>
                      <a:r>
                        <a:rPr sz="1000" b="0">
                          <a:solidFill>
                            <a:srgbClr val="1C1C1E"/>
                          </a:solidFill>
                          <a:latin typeface="Calibri"/>
                        </a:rPr>
                        <a:t>L-4, L-5, L-7, L-12, L-18, L-19 and the eleven warrant laws. The rest are stated and not yet executable, and 00 §12 says which</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517982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Seventeen laws run today and a failing one fails the build. The remaining twelve are stated and marked as not yet executable — because a document claiming all of them run is the decay it was written to prevent.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