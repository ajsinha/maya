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31920"/>
            <a:ext cx="12191695" cy="54864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82880" cy="393192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82296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8C0"/>
                </a:solidFill>
                <a:latin typeface="Calibri"/>
              </a:rPr>
              <a:t>SYSTEM DESIGN  ·  FOR WHOEVER BUILDS OR OPERATES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280160"/>
            <a:ext cx="9573493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Features, feature sets, models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and the warrants that bind them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971800"/>
            <a:ext cx="155448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154680"/>
            <a:ext cx="90416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MAYA — Model &amp; AI Lifecycle Assurance.  How it is built, and what proves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343400"/>
            <a:ext cx="531860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C1C1E"/>
                </a:solidFill>
                <a:latin typeface="Georgia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A51C30"/>
                </a:solidFill>
                <a:latin typeface="Calibri"/>
              </a:rPr>
              <a:t>September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MAYA 0.3.0 · specification revision 2.3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4080" y="4297680"/>
            <a:ext cx="468037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A51C30"/>
                </a:solidFill>
                <a:latin typeface="Calibri"/>
              </a:rPr>
              <a:t>IN THIS DECK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1   </a:t>
            </a:r>
            <a:r>
              <a:rPr sz="1200" b="0">
                <a:solidFill>
                  <a:srgbClr val="4A4F57"/>
                </a:solidFill>
                <a:latin typeface="Calibri"/>
              </a:rPr>
              <a:t>The shape of the thing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2   </a:t>
            </a:r>
            <a:r>
              <a:rPr sz="1200" b="0">
                <a:solidFill>
                  <a:srgbClr val="4A4F57"/>
                </a:solidFill>
                <a:latin typeface="Calibri"/>
              </a:rPr>
              <a:t>Features and feature sets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3   </a:t>
            </a:r>
            <a:r>
              <a:rPr sz="1200" b="0">
                <a:solidFill>
                  <a:srgbClr val="4A4F57"/>
                </a:solidFill>
                <a:latin typeface="Calibri"/>
              </a:rPr>
              <a:t>Storage and the hash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4   </a:t>
            </a:r>
            <a:r>
              <a:rPr sz="1200" b="0">
                <a:solidFill>
                  <a:srgbClr val="4A4F57"/>
                </a:solidFill>
                <a:latin typeface="Calibri"/>
              </a:rPr>
              <a:t>Models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5   </a:t>
            </a:r>
            <a:r>
              <a:rPr sz="1200" b="0">
                <a:solidFill>
                  <a:srgbClr val="4A4F57"/>
                </a:solidFill>
                <a:latin typeface="Calibri"/>
              </a:rPr>
              <a:t>Warrants and evidence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6   </a:t>
            </a:r>
            <a:r>
              <a:rPr sz="1200" b="0">
                <a:solidFill>
                  <a:srgbClr val="4A4F57"/>
                </a:solidFill>
                <a:latin typeface="Calibri"/>
              </a:rPr>
              <a:t>Governance, platform and what is not built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System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The shape of the 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Three kinds of object, one spine, and eight rules that decide every design choice after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B8C0"/>
                </a:solidFill>
                <a:latin typeface="Calibri"/>
              </a:rPr>
              <a:t>IN THIS 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Definition, version, pin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The spine end to end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Eight principles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DOMAIN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Every object is a definition, a version or a pin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1 · The shape of the 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§4. A version freezes how; a pin freezes what. A bare name resolves to the latest approved version and MAYA records that resolution, so “latest” never hides inside an audit trail.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3" cy="222218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54661"/>
                <a:gridCol w="5818647"/>
                <a:gridCol w="3363905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Addressed as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Definition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named description of how something is produced, editable while it is in draft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maya://feature/adj_close_yhoo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Version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An immutable snapshot, minted when the definition hash changes, and classified breaking, behavioral or additive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maya://feature/adj_close_yhoo@v3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7844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Pin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An immutable materialization of a version: values computed, sealed by a content hash, never recomputed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maya://feature/adj_close_yhoo#eom_2026_03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SPINE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Source to bundle, and every surface walks all of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1 · The shape of the 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README, “The shape of the thing”; tests/test_web.py::test_web_imports_only_the_sdk and tools/ci/import_boundaries.py.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155950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1551559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900047"/>
            <a:ext cx="119374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Files, read-only SQL, a reviewed Python producer, or derived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92781" y="1386967"/>
            <a:ext cx="155950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92781" y="1386967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75661" y="1551559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5661" y="1900047"/>
            <a:ext cx="119374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4F57"/>
                </a:solidFill>
                <a:latin typeface="Calibri"/>
              </a:rPr>
              <a:t>A definition, its versions, and pins in the lake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364181" y="225564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408322" y="1386967"/>
            <a:ext cx="155950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8322" y="1386967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1202" y="1551559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Feature set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1202" y="2157095"/>
            <a:ext cx="1193749" cy="839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Attributes mapped from members onto one grid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179722" y="225564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223863" y="1386967"/>
            <a:ext cx="155950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3863" y="1386967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6743" y="1551559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6743" y="1900047"/>
            <a:ext cx="119374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4F57"/>
                </a:solidFill>
                <a:latin typeface="Calibri"/>
              </a:rPr>
              <a:t>Formula IR, code artifact, parameters, document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995263" y="225564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8039404" y="1386967"/>
            <a:ext cx="155950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39404" y="1386967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2284" y="1551559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Warrants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2284" y="1900047"/>
            <a:ext cx="119374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4F57"/>
                </a:solidFill>
                <a:latin typeface="Calibri"/>
              </a:rPr>
              <a:t>Training, then parameter set, then execution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810804" y="225564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854946" y="1386967"/>
            <a:ext cx="155950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854946" y="1386967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37826" y="1551559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Bundle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7826" y="1900047"/>
            <a:ext cx="119374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Signed; verifies and re-executes offline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626346" y="225564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77240" y="3334639"/>
            <a:ext cx="10637215" cy="25449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Four surfaces, one spine: maya/web (itself an SDK client), maya/api, maya/sdk and maya/cli. Nothing under maya.web imports anything but maya.sdk, and a gate fails the build if it does.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Features and feature sets are closed under their operators, so a derived object re-enters the flow as an ordinary object rather than as a special case.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A composite model is an ordinary model: one warrant over one feature set, however many members it holds.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Eight rules that bind every design 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1 · The shape of the 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§1. Principles 6 and 7 are held by gates in tools/ci/ rather than by review, because a rule that is merely written down holds until the first deadline.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2535859" cy="2063432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25358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1551559"/>
            <a:ext cx="21700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807591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Definitions are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413127"/>
            <a:ext cx="2170099" cy="909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Data is a consequence, materialized only when asked.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7691" y="1386967"/>
            <a:ext cx="2535859" cy="2063432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7691" y="1386967"/>
            <a:ext cx="25358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60571" y="1551559"/>
            <a:ext cx="21700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60571" y="1807591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Immutability is earned by pinning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60571" y="2413127"/>
            <a:ext cx="2170099" cy="909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Anything pinned is frozen; nothing else claims to be reproducible.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86967"/>
            <a:ext cx="2535859" cy="2063432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86967"/>
            <a:ext cx="25358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51559"/>
            <a:ext cx="21700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807591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Everything meaningful is versioned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549683"/>
            <a:ext cx="2170099" cy="772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Features, sets, models, parameters, warrants, policies, documents.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78595" y="1386967"/>
            <a:ext cx="2535859" cy="2063432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78595" y="1386967"/>
            <a:ext cx="25358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61475" y="1551559"/>
            <a:ext cx="21700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61475" y="1807591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Resolution is deterministic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61475" y="2413127"/>
            <a:ext cx="2170099" cy="909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Byte-identical output, or MAYA reports why it cannot produce one.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614991"/>
            <a:ext cx="2535859" cy="2063432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614991"/>
            <a:ext cx="25358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3779583"/>
            <a:ext cx="21700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035615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Authorization is on objects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641151"/>
            <a:ext cx="2170099" cy="909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 role opens a door; an access list decides which rooms.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7691" y="3614991"/>
            <a:ext cx="2535859" cy="2063432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77691" y="3614991"/>
            <a:ext cx="25358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60571" y="3779583"/>
            <a:ext cx="21700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60571" y="4035615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One door to the database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60571" y="4641151"/>
            <a:ext cx="2170099" cy="909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No SQLAlchemy import outside maya.persistence; a gate fails the build.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8143" y="3614991"/>
            <a:ext cx="2535859" cy="2063432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78143" y="3614991"/>
            <a:ext cx="25358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61023" y="3779583"/>
            <a:ext cx="21700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61023" y="4035615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Small, replaceable parts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61023" y="4641151"/>
            <a:ext cx="2170099" cy="909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No non-UI source file over 1,500 code lines.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78595" y="3614991"/>
            <a:ext cx="2535859" cy="2063432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78595" y="3614991"/>
            <a:ext cx="25358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61475" y="3779583"/>
            <a:ext cx="21700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61475" y="4035615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C1E"/>
                </a:solidFill>
                <a:latin typeface="Georgia"/>
              </a:rPr>
              <a:t>The platform never silently guesses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61475" y="4625085"/>
            <a:ext cx="2170099" cy="925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Missing data, ambiguous joins and drift raise typed, explainable errors.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Features and feature 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A feature is a governed bitemporal dataset from one source. A feature set is a view over features that stores nothing of its own until it is pinned.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B8C0"/>
                </a:solidFill>
                <a:latin typeface="Calibri"/>
              </a:rPr>
              <a:t>IN THIS 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Anatomy and the two clocks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Sources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Resolution rules and the fill report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The feature algebra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Feature sets: mapping, alignment, precedence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Pinning, cascade and materialization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Grant conditions on every path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A feature version, and its two clocks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Features and feature 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641848"/>
            <a:ext cx="41148" cy="6035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641848"/>
            <a:ext cx="10362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maya/resolution/resolver.py: bitemporal_cut drops rows known after the cutoff, then keeps the latest knowledge per index key, then builds the grid, then applies the rules. The ingest log is the append-only lake table raw/&lt;namespace&gt;/&lt;name&gt; (maya/storage/lake.py).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Anatomy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578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Identity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Name, namespace, owner, tags, description.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Schema and index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Typed attributes with units and semantic tags; the index is required and immutable within a lineage.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Source binding, resolution policy, transformation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How rows arrive, how gaps are filled, what is computed on top.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Quality contract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Checks that run on every resolution and always on pin; a failure blocks the pin rather than warning.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Bitemporal by construction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578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C1C1E"/>
                </a:solidFill>
                <a:latin typeface="Calibri"/>
              </a:rPr>
              <a:t>Event time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F57"/>
                </a:solidFill>
                <a:latin typeface="Calibri"/>
              </a:rPr>
              <a:t>The date a value is about — the first column of the index.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C1C1E"/>
                </a:solidFill>
                <a:latin typeface="Calibri"/>
              </a:rPr>
              <a:t>Knowledge time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F57"/>
                </a:solidFill>
                <a:latin typeface="Calibri"/>
              </a:rPr>
              <a:t>The instant MAYA could first have known it, carried as _knowledge_time.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C1C1E"/>
                </a:solidFill>
                <a:latin typeface="Calibri"/>
              </a:rPr>
              <a:t>A restatement is an append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F57"/>
                </a:solidFill>
                <a:latin typeface="Calibri"/>
              </a:rPr>
              <a:t>Never an overwrite, so “what did we know on 31 March” is a filter rather than an archaeology project.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C1C1E"/>
                </a:solidFill>
                <a:latin typeface="Calibri"/>
              </a:rPr>
              <a:t>Proved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F57"/>
                </a:solidFill>
                <a:latin typeface="Calibri"/>
              </a:rPr>
              <a:t>tests/test_features.py::test_sc11_point_in_time_after_restatement; tests/test_properties.py::test_a_restatement_never_overwrites.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Where a feature's rows come from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Features and feature 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641848"/>
            <a:ext cx="41148" cy="6035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641848"/>
            <a:ext cx="10362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maya/services/sources.py and maya/services/feature_data.py. Uploads and pulls land in the bitemporal ingest log with a knowledge time. A delta source is also accepted, read through at resolution time; no test in the suite exercises it, and the README says so.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7911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7202"/>
                <a:gridCol w="5135207"/>
                <a:gridCol w="4034805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How it behaves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Proved by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7844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csv, parquet, json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Uploaded files, content-addressed; the inferred schema is a proposal the designer confirms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tests/test_features.py, tests/test_cli.py::test_quick_upload_and_restatement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sql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read-only query on an admin-managed connection, with typed parameters bound rather than interpolated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tests/test_sql_source.py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python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reviewed producer function run in the sandbox on every pull: the escape hatch, and it needs approval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tests/test_python_source.py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7844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derived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An algebra expression over other feature versions or pins, kept in lineage rather than flattened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tests/test_features.py::test_derived_union_and_inheritance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7844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unsupported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Anything else is refused by name, never approximated with the nearest thing that parses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tests/test_features.py::test_unsupported_source_is_refused_by_name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Declarative gap filling, bounded and reported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Features and feature 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maya/resolution/rules.py. custom(fn) is in the grammar and refused in this build — no sandboxed rule function is registered — which is the platform's habit: a name it cannot honour is a refusal, not a silent no-op.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Grid and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Grid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as_is, or a shipped calendar: NYSE, LSE, TARGET, ISO business days, natural days.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Ten rules per attribute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none, forward_fill, backward_fill, linear_interp, spline_interp, constant, mean_of_window, last_known_as_of, zero, previous_period.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Bounded, and refused when unbounded is meant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forward_fill takes limit and max_age; beyond either the value stays null. A negative lag is rejected as look-ahead.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Non-causal rules are named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backward_fill and both interpolations consume the future; inside a training set they need a written justification.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What every run emits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 fill report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Rows filled per rule and the longest fill run, stored with the pin so nobody has to guess later.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Grouped rules, vectorised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maya/resolution/grouped.py, shown equal to the per-group path on randomised cases (tests/test_resolution_grouped.py).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 blocked pin on a contract failure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tests/test_features.py::test_quality_contract_blocks_the_pin.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Measured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Warm p95 0.98 s with no rules; 6.1 s with forward_fill(limit=3) on all fifty attributes (docs/BENCHMARKS.md).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FEATURE ALGEBRA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1C1E"/>
                </a:solidFill>
                <a:latin typeface="Georgia"/>
              </a:rPr>
              <a:t>Fifteen operators, each yielding a definition rather than a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Features and feature 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641848"/>
            <a:ext cx="41148" cy="6035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641848"/>
            <a:ext cx="10362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maya/resolution/algebra.py: typed at definition time with no data read, each operator declaring its change class; non-causality propagates, and a canonical derivation hash lets MAYA refuse an algebraically identical near-copy. Inheritance stores a diff, not a copy, so a fix to a parent reaches every child.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06639"/>
          <a:ext cx="10637214" cy="344557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45578"/>
                <a:gridCol w="3773029"/>
                <a:gridCol w="1545578"/>
                <a:gridCol w="3773029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Operator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Produces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Operator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Produces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project  π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subset of attributes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aggregate  γ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coarser index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rename  ρ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same data, renamed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lag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Values shifted by n periods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transform  τ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derived feature by pipeline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resample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new frequency: W, M or Q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union  ∪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Rows of both, collisions by policy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case  σ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Row-wise choice between inputs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intersect  ∩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Rows whose index is in both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Long to wide, a breaking change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difference  ∖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Rows of the first absent from the second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unpivot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Wide to long, a breaking change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compose  ⋈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Attributes of both, aligned on the index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sample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deterministic seeded subset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coalesce  ⊕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First non-null across ordered inputs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FEATURE SETS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A view: attributes mapped from members, on one grid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Features and feature 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440680"/>
            <a:ext cx="41148" cy="80467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44068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maya/resolution/featureset.py (choose_rule) and maya/services/featuresets.py; tests/test_resolution_algebra.py::test_featureset_precedence_layers_and_broadcast and ::test_featureset_refuses_unaggregated_extra_index. Which layer decided an attribute is shown in the plan, not inferred by the reader.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Mapping and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3770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1">
                <a:solidFill>
                  <a:srgbClr val="1C1C1E"/>
                </a:solidFill>
                <a:latin typeface="Calibri"/>
              </a:rPr>
              <a:t>Attribute mapping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Calibri"/>
              </a:rPr>
              <a:t>Each attribute names its member, the source attribute, an optional cast and its overrides.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1">
                <a:solidFill>
                  <a:srgbClr val="1C1C1E"/>
                </a:solidFill>
                <a:latin typeface="Calibri"/>
              </a:rPr>
              <a:t>Alignment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Calibri"/>
              </a:rPr>
              <a:t>inner, outer, left(member), or asof with a tolerance and a direction.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1">
                <a:solidFill>
                  <a:srgbClr val="1C1C1E"/>
                </a:solidFill>
                <a:latin typeface="Calibri"/>
              </a:rPr>
              <a:t>Broadcast, stated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Calibri"/>
              </a:rPr>
              <a:t>A narrower member index is broadcast and the plan says so.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1">
                <a:solidFill>
                  <a:srgbClr val="1C1C1E"/>
                </a:solidFill>
                <a:latin typeface="Calibri"/>
              </a:rPr>
              <a:t>Refused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Calibri"/>
              </a:rPr>
              <a:t>A member index carrying columns the set lacks, unless an aggregation is declared for them.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1">
                <a:solidFill>
                  <a:srgbClr val="1C1C1E"/>
                </a:solidFill>
                <a:latin typeface="Calibri"/>
              </a:rPr>
              <a:t>Set operators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Calibri"/>
              </a:rPr>
              <a:t>union, intersect, difference, join, project, override, pivot, unpivot, sample; nesting capped at eight.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Precedence, shown per attribute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3770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1  The attribute's own override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2  A member-group override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3  The set's global policy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4  Inherited policy, nearest ancestor first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5  The member feature's own policy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6  System default: leave it null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PINNING A FEATURE 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Every member pinned, or none of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Features and feature 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641848"/>
            <a:ext cx="41148" cy="6035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641848"/>
            <a:ext cx="10362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maya/services/featuresets.py. Under on_demand or never a pin is only as readable as its replay: a later MAYA that resolved the inputs differently by one byte would fail the read with integrity_error rather than serve different numbers — safe, but unavailable (README, “Not yet”).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386967"/>
            <a:ext cx="10637215" cy="40902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C1C1E"/>
                </a:solidFill>
                <a:latin typeface="Calibri"/>
              </a:rPr>
              <a:t>A set refuses to pin while any member is unpinned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A4F57"/>
                </a:solidFill>
                <a:latin typeface="Calibri"/>
              </a:rPr>
              <a:t>Cascade pin pins each unpinned member under one shared name and as-of date in one job, and rolls the whole cascade back if any member fails its quality contract (tests/test_warrants.py::test_cascade_rolls_back_entirely_on_a_member_failure).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C1C1E"/>
                </a:solidFill>
                <a:latin typeface="Calibri"/>
              </a:rPr>
              <a:t>Materialization is the namespace's choice of three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A4F57"/>
                </a:solidFill>
                <a:latin typeface="Calibri"/>
              </a:rPr>
              <a:t>always, the default, writes the resolved frame. on_demand and never seal the pin by the hash of its output and replay it from the member pins; under on_demand the first replay is written back, so later reads come from the lake. All three seal by the same hash (tests/test_materialization.py).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C1C1E"/>
                </a:solidFill>
                <a:latin typeface="Calibri"/>
              </a:rPr>
              <a:t>Withheld, never quietly dropped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A4F57"/>
                </a:solidFill>
                <a:latin typeface="Calibri"/>
              </a:rPr>
              <a:t>A set resolved by somebody who cannot read a member returns that attribute named and null, so the shape of the answer does not depend on who asked.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C1C1E"/>
                </a:solidFill>
                <a:latin typeface="Calibri"/>
              </a:rPr>
              <a:t>An algebraically identical set is detected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A4F57"/>
                </a:solidFill>
                <a:latin typeface="Calibri"/>
              </a:rPr>
              <a:t>project(extend(S)) and the same set written directly hash alike, and the second is refused as a near-copy rather than accepted as a second truth.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GRANT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Three conditions, applied on live and pinned data alike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Features and feature 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maya/security/conditions.py and maya/services/featuresets.py; tests/test_conditions.py. Conditions narrow a grant; they are never a way to widen 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What a grant may carry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row_filter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An expression over the row, with the asking principal substituted, so one grant serves a desk.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column_mask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null, or hash — the SHA-256 of the value's text, so a join still works and the value does not leave.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time_bound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cutoff date; any row whose event date is later is dropped before the caller sees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When several grants apply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Row filters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Combined with AND: the narrowest wins.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Column masks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Unioned, and null beats hash on a conflict.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Time bounds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earliest cutoff wins.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Applied everywhere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Member-level and set-level conditions are applied inside feature-set resolution, so no read path escapes a mask.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Storage and the hash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Three stores, each with one job, and a content hash computed over MAYA's own canonical form so that it means the same thing on every machine that computes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B8C0"/>
                </a:solidFill>
                <a:latin typeface="Calibri"/>
              </a:rPr>
              <a:t>IN THIS 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Content-defined fragments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The canonical hash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Pinning as a saga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The lakehouse layer and its two backends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Dependency seams: three polarities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CONTENT-ADDRESSED MATERIALIZATION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A pin is a manifest of fragments, not a copy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Storage and the hash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tests/test_features.py::test_sc1_repin_is_byte_identical_and_changed_data_is_not and ::test_sc12_unchanged_month_costs_under_five_percent; tests/test_canonical_fast.py; tests/test_properties.py.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Fragments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Boundaries chosen by content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row ends a fragment when its canonical digest, read as an integer, divides by the target — so one inserted row leaves every earlier fragment untouched.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In rows, not bytes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Target 512 rows, never fewer than 32 and never more than 8,192 (maya/core/chunker.py).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Shared across pins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Pinning writes only the fragments the store has never seen; an unchanged month costs under 5% of a full pin.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The canonical hash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Over values, never over file bytes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Column order is ignored, every changed value is noticed, and two pins of the same data agree across engine versions.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SHA-256, domain-separated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Row digests, then a fragment hash over the run, then the content hash over the schema digest and the fragment hashes in order.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MAYA's encoder is authoritative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maya/core/canonical.py is the specification of the hash; canonical_fast.py computes it a column at a time and is tested equal to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PINNING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A saga, because two stores cannot commit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Storage and the hash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maya/services/feature_data.py (materialize) and maya/storage/lake.py (write_pin, verify_pin); specification §15.3.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3375050" cy="15544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337505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1551559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Write fragments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900047"/>
            <a:ext cx="3009290" cy="913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Only those the store has never seen, into the pin's Delta table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8322" y="1386967"/>
            <a:ext cx="3375050" cy="15544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8322" y="1386967"/>
            <a:ext cx="337505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1202" y="1551559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Re-read and verify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1202" y="1900047"/>
            <a:ext cx="3009290" cy="913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The content hash is recomputed from what was actually written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79722" y="216420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039404" y="1386967"/>
            <a:ext cx="3375050" cy="15544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9404" y="1386967"/>
            <a:ext cx="337505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2284" y="1551559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Commit metadata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2284" y="1900047"/>
            <a:ext cx="3009290" cy="913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Only now is the pin sealed and usable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10804" y="216420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77240" y="3151759"/>
            <a:ext cx="10637215" cy="2727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Nothing is usable until the metadata commit succeeds: a pin moves materializing → sealed, or materializing → failed, and a reaper makes a half-written pin invisible.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Impossible is not claimed, only invisible: two-store consistency on pin is one of the four accepted risks, stated in the specification rather than waved away (§28.11).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The resolved backend set and the chunk parameters are written into every pin's provenance, so a pin says what produced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LAKEHOUSE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One API over two interchangeable backends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Storage and the hash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641848"/>
            <a:ext cx="41148" cy="6035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641848"/>
            <a:ext cx="10362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maya_delta/ sits beside maya/ with no MAYA domain knowledge: conformance/suite.py, native.py, pure/. tests/test_maya_delta.py (test_conformance over both backends, test_cross_backend_round_trip, test_backend_selection_is_reported); the active backend is reported on the health page and recorded in every pin's provenance.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00666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58902"/>
                <a:gridCol w="4126505"/>
                <a:gridCol w="4951807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native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pure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delta-rs through the deltalake wheel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MAYA's own implementation of a declared subset of the Delta transaction-log protocol over pyarrow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Chosen by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select_backend("auto") prefers it when the wheel imports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fallback: absence costs throughput, not capability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100939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Proved equal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One conformance suite run once per backend, plus cross-backend round trips: a table written by one is read by the other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same suite, the same cases, no exemptions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Refusals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protocol feature outside the declared subset is refused by name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same, and vacuum below the 168-hour retention floor is refused unless explicitly overridden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DEPENDENCY SEAMS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C1C1E"/>
                </a:solidFill>
                <a:latin typeface="Georgia"/>
              </a:rPr>
              <a:t>Three polarities, so an absent library is never a surprise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Storage and the hash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maya/core/backends.py settles every seam once at startup and reports the resolved set. The gate ladder's --fallback run has passed the whole suite with every Type A seam pinned to its fallback, so the fallback is a tested path rather than a hope.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54836"/>
          <a:ext cx="10637214" cy="26720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491"/>
                <a:gridCol w="3636654"/>
                <a:gridCol w="4273069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Polarity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Examples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7844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Type A — native preferred, pure fallback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Absence costs throughput, not capability; both sides are tested against one contract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lakehouse layer, JSON, frames, predicate pushdown, compression, the time-zone 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7844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Type B — MAYA's implementation authoritative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An accelerator that disagrees by one byte is a defect in the accelerator, not a variant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canonical encoder and the fragment chunker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7844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Type C — substitutable, never downgraded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Absence is a refusal with a named reason, never a quiet substitution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Signing, the sandbox, single sign-on (SAML without xmlsec fails at startup), object store, job queue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A model is a compute kernel with four faces versioned together: its mathematics, its code, its parameters and its specification document.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B8C0"/>
                </a:solidFill>
                <a:latin typeface="Calibri"/>
              </a:rPr>
              <a:t>IN THIS 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The formula IR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The compute-kernel wizard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Code artifacts and the sandbox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Specification documents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Conformance, and declared black boxes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Composite models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Spreadsheets and vendor models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FORMULA 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Mathematics as a typed expression tree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641848"/>
            <a:ext cx="41148" cy="6035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641848"/>
            <a:ext cx="10362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maya/formula/: ir.py, parse.py, latex.py, evaluate.py, diff.py, codegen.py, specdoc.py. A model version is minted when the IR hash, the artifact hash or the input contract changes. Joint constraints such as a GARCH model's alpha + beta &lt; 1 live on the IR and each must carry the reason it exists.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Written three ways, stored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578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C1C1E"/>
                </a:solidFill>
                <a:latin typeface="Calibri"/>
              </a:rPr>
              <a:t>Parsed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F57"/>
                </a:solidFill>
                <a:latin typeface="Calibri"/>
              </a:rPr>
              <a:t>One parser reads both LaTeX and Python-ish text, including LaTeX's implicit multiplication; anything it cannot read is refused with the position named.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C1C1E"/>
                </a:solidFill>
                <a:latin typeface="Calibri"/>
              </a:rPr>
              <a:t>Lifted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F57"/>
                </a:solidFill>
                <a:latin typeface="Calibri"/>
              </a:rPr>
              <a:t>From an uploaded Python function by AST analysis, or from a workbook's formula graph.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C1C1E"/>
                </a:solidFill>
                <a:latin typeface="Calibri"/>
              </a:rPr>
              <a:t>Four node kinds, three roles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F57"/>
                </a:solidFill>
                <a:latin typeface="Calibri"/>
              </a:rPr>
              <a:t>op, ref, const, param — and every input is a feature, a parameter or a constant. The parameters are exactly what training fills.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C1C1E"/>
                </a:solidFill>
                <a:latin typeface="Calibri"/>
              </a:rPr>
              <a:t>Declared black box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F57"/>
                </a:solidFill>
                <a:latin typeface="Calibri"/>
              </a:rPr>
              <a:t>Where there is no closed form the IR carries an opaque node that must state what the model estimates and its architecture, or it is refused.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And then made to do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578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Rendered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Back to LaTeX, for the specification document.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Diffed mathematically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“The discount factor changed from continuous to simple compounding”, rather than a text diff (tests/test_formula.py::test_diff_detects_compounding_change).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Evaluated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By MAYA's own evaluator over twenty-three typed operators, and by emitted reference code tested equal to it.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Hashed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hash ignores LaTeX spelling and notices mathematics (test_hash_ignores_latex_but_not_math).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COMPUTE-KERNEL WIZARD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Translate the mathematics before anything is committed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641848"/>
            <a:ext cx="41148" cy="6035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641848"/>
            <a:ext cx="10362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Web page /models/kernel; API POST /formula/kernel; SDK client.models.kernel; maya/services/models.py (kernel) and maya/formula/codegen.py (to_python_kernel, to_python). Worked examples ship with the page: Black–Scholes, a logistic probability of default, and a Nelson–Siegel curve.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2467279" cy="182880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900047"/>
            <a:ext cx="2101519" cy="1187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The formula as LaTeX or as plain text, and say which symbols are parameters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00551" y="1386967"/>
            <a:ext cx="2467279" cy="182880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0551" y="138696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83431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Translate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3431" y="1900047"/>
            <a:ext cx="2101519" cy="1187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MAYA parses it into the typed tree, or refuses with the position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71951" y="230136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223863" y="1386967"/>
            <a:ext cx="2467279" cy="182880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3863" y="138696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6743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Read 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43" y="1900047"/>
            <a:ext cx="2101519" cy="1187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4F57"/>
                </a:solidFill>
                <a:latin typeface="Calibri"/>
              </a:rPr>
              <a:t>The tree, the LaTeX MAYA renders it as, the inputs with the role each was given, and the intermediates in order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995263" y="230136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8947175" y="1386967"/>
            <a:ext cx="2467279" cy="182880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47175" y="138696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30055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Take the function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0055" y="1900047"/>
            <a:ext cx="2101519" cy="1187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One portable function, or the full reference module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718575" y="230136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77240" y="3426079"/>
            <a:ext cx="10637215" cy="2051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0">
                <a:solidFill>
                  <a:srgbClr val="1C1C1E"/>
                </a:solidFill>
                <a:latin typeface="Calibri"/>
              </a:rPr>
              <a:t>Stateless by design: it reads nothing and writes nothing, so whoever wrote the mathematics can see what MAYA made of it before a model version exists to attach it to. The alternative is finding out at registration.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0">
                <a:solidFill>
                  <a:srgbClr val="1C1C1E"/>
                </a:solidFill>
                <a:latin typeface="Calibri"/>
              </a:rPr>
              <a:t>The emitted kernel is one self-contained function, def compute(X, params), returning one entry per row. Imports and any helper live inside the function body, and it depends on numpy alone unless the formula uses a normal distribution.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0">
                <a:solidFill>
                  <a:srgbClr val="1C1C1E"/>
                </a:solidFill>
                <a:latin typeface="Calibri"/>
              </a:rPr>
              <a:t>The same parser and the same generator serve the registration path, so what the wizard shows is what a registered version would hold, not a preview of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CODE ARTIFACTS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C1C1E"/>
                </a:solidFill>
                <a:latin typeface="Georgia"/>
              </a:rPr>
              <a:t>Six rungs, one refusal each, then a declared sandbox tier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440680"/>
            <a:ext cx="41148" cy="80467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44068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maya/formula/artifact.py and maya/security/sandbox.py. The ladder stops at the first failing rung and records the rest as not run, so a report never implies a check it did not perform; only rungs 1–5 gate the verdict. The tier is strong on Linux only when a probe child fails to escape a bubblewrap jail with seccomp and a cgroup v2 scope, and it is recorded on every artifact validated under it (tests/test_sandbox.py, tests/test_sandbox_linux.py).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70901"/>
          <a:ext cx="10637214" cy="345103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42302"/>
                <a:gridCol w="8894912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Rung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checks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1  parse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source parses; a linter runs where it is installed, and whether it ran is recorded rather than assumed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2  entry point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declared class implements the interface: fit(self, X, y, ctx) and predict(self, X, params, ctx)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3  import allowlist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Numeric and data libraries only — math, statistics, itertools, numpy, pandas, polars, pyarrow, scipy, scikit-learn, statsmodels and a few more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4  static ban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No open, eval, exec, compile, dynamic import, dunder attribute access; no os, sys, subprocess, socket, pathlib, pickle, threading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5  smoke run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One run in the sandbox against a sample, under CPU, memory and wall-clock caps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6  determinism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smoke run twice with the same seed, outputs compared — a mismatch is recorded as a warning, not a refusal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SPECIFICATION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A LaTeX document per model version, bound to the IR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maya/formula/specdoc.py. The document is a version of the model, governed like the rest of it: versioned, diffed, approved, audited.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386967"/>
            <a:ext cx="10637215" cy="4291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Nine required sections, and submission is blocked while one is empty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Purpose; scope and limitations; mathematical formulation; assumptions; data and features used; calibration methodology; validation evidence; known weaknesses; change log (tests/test_warrants.py::test_model_submission_is_blocked_by_an_incomplete_spec).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Formula blocks are pulled from the IR, not retyped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The \mayaformula macro renders the mathematics from the tree and \mayaref pulls catalog content, so the document cannot drift from the implementation it describes.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True builds with Tectonic, labelled drafts without it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Without Tectonic MAYA renders a watermarked draft, and typeset.require_true_build forbids approval on a draft outside dev (maya/core/typeset.py, tests/test_typeset.py).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Air-gapped sites need one extra step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Tectonic downloads its TeX bundle on first use, so an air-gapped server must be given a cached bundle.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IS THE CODE THE MATHEMATICS?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Conformance testing, and what a black box forfeits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641848"/>
            <a:ext cx="41148" cy="6035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641848"/>
            <a:ext cx="10362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maya/formula/conformance.py and maya/services/models.py; ADR-007 states the one runtime exception MAYA concedes and no more. An undeclared parameter is placed off-centre inside its bounds for a differential run, so a comparison cannot miss a bug by landing on a round number.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Differential testing against the document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578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1">
                <a:solidFill>
                  <a:srgbClr val="1C1C1E"/>
                </a:solidFill>
                <a:latin typeface="Calibri"/>
              </a:rPr>
              <a:t>The comparison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Calibri"/>
              </a:rPr>
              <a:t>The uploaded artifact's predict is run against MAYA's own evaluation of the documented IR on sampled inputs, to a relative tolerance of 1e-9.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1">
                <a:solidFill>
                  <a:srgbClr val="1C1C1E"/>
                </a:solidFill>
                <a:latin typeface="Calibri"/>
              </a:rPr>
              <a:t>Counterexamples, not a verdict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Calibri"/>
              </a:rPr>
              <a:t>Up to ten disagreeing rows are reported with the expected and actual value, so the argument is about numbers rather than opinions.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1">
                <a:solidFill>
                  <a:srgbClr val="1C1C1E"/>
                </a:solidFill>
                <a:latin typeface="Calibri"/>
              </a:rPr>
              <a:t>Tied to the artifact hash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Calibri"/>
              </a:rPr>
              <a:t>A version with code cannot advance until conformance has run against that exact artifact and agreed everywhere sampled.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1">
                <a:solidFill>
                  <a:srgbClr val="1C1C1E"/>
                </a:solidFill>
                <a:latin typeface="Calibri"/>
              </a:rPr>
              <a:t>Honest about what it is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Calibri"/>
              </a:rPr>
              <a:t>The report says so itself: sampled agreement is not proof, and MAYA cannot know whether a feature set is representative.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Declared black boxes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578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C1C1E"/>
                </a:solidFill>
                <a:latin typeface="Calibri"/>
              </a:rPr>
              <a:t>Registered, not excluded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F57"/>
                </a:solidFill>
                <a:latin typeface="Calibri"/>
              </a:rPr>
              <a:t>A model kind of its own, with the estimate and the architecture declared and the input contract enforced as usual.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C1C1E"/>
                </a:solidFill>
                <a:latin typeface="Calibri"/>
              </a:rPr>
              <a:t>Conformance is skipped, and says so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F57"/>
                </a:solidFill>
                <a:latin typeface="Calibri"/>
              </a:rPr>
              <a:t>There is no documented closed form to test against, and the report states that rather than passing quietly.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C1C1E"/>
                </a:solidFill>
                <a:latin typeface="Calibri"/>
              </a:rPr>
              <a:t>Blind scoring is refused by name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F57"/>
                </a:solidFill>
                <a:latin typeface="Calibri"/>
              </a:rPr>
              <a:t>“A declared black box cannot be scored by MAYA”: scoring evaluates the formula IR in process, never the uploaded artifact.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C1C1E"/>
                </a:solidFill>
                <a:latin typeface="Calibri"/>
              </a:rPr>
              <a:t>Covenants become the control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F57"/>
                </a:solidFill>
                <a:latin typeface="Calibri"/>
              </a:rPr>
              <a:t>For an opaque model they are the only one available, so they are where the review effort goes.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COMPOSITE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A graph of member models, governed as one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641848"/>
            <a:ext cx="41148" cy="6035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641848"/>
            <a:ext cx="10362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maya/formula/composite.py and maya/formula/evaluate.py; tests/test_formula.py::test_composite_union_maturity_seeds_and_eval, tests/test_sdk_modes.py::test_a_composite_model_is_re_executed_by_the_bundle_verifier. One parameter set per composite is a recorded decision, not an accident.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67595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42302"/>
                <a:gridCol w="8894912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How it behaves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Kinds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ensemble, pipeline, router, residual, hierarchical; trained sequentially, in parallel or jointly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One contract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union of the members' contracts and the combiner's own inputs; two members wanting one name at different types is refused, naming the attribute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One parameter set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Namespaced by member alias — base.sigma — with the combiner's own parameters bare; a member may borrow an approved set, frozen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Maturity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Capped at the least mature member's, and the members blocking a promotion are named rather than left to be inferred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member is bound pinned or tracking; nesting is capped at four; cycles are refused; opacity propagates from any black-box member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Reproducible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Per-member seeds derived from one seed; a bundle re-executes the whole composite, or states why it cannot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MODELS THAT ALREADY EXIST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Spreadsheets and vendor models, under the same wrapper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maya/formula/xlsx.py (tests/test_spreadsheet.py, tests/test_spreadsheet_libreoffice.py) and maya/services/models.py (tests/test_vendor_models.py). Spreadsheet import is v1 scope and the README says where it stops.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Spreadsheets as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Lifted into the IR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Arithmetic, standard functions, named cells and ranges, and VLOOKUP or HLOOKUP over constant tables.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Everything else refused by cell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Named, never approximated with the nearest thing that parses.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Checked twice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Against the workbook's own cached results, and against LibreOffice Calc recalculating it headless.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Not checked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Workbooks saved by Microsoft Excel.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Vendor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 kind of its own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declared input contract, plus the vendor's name, product, version and supplied documentation.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same review and the same warrants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Contract validation, leakage certificate, checksum cycle, sealing.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What cannot be verified is marked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bundle says it cannot re-execute, rather than omitting the model from the inventory.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Why bother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Completeness is what an examiner asks for, and the firm stays accountable for a model it bought.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PART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Warrants and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A warrant is a named, versioned, permissioned licence to compute. The evidence around it is built to survive leaving the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B8C0"/>
                </a:solidFill>
                <a:latin typeface="Calibri"/>
              </a:rPr>
              <a:t>IN THIS 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The training warrant and the checksum cycle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The leakage certificate and the escrowed holdout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Execution warrants, covenants and limits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Bundles, and the verifier inside them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Custody anchoring and the licence algebra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TRAINING WARRANT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The checksum cycle that turns paperwork into a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5 · Warrants and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maya/services/warrants.py. A warrant's read-time status — sealed, expired, revoked — is computed from its dates, so nobody has to remember to move a state.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1922617" cy="19202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1551559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Draw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900047"/>
            <a:ext cx="1556857" cy="1279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An approved model version against a pinned feature set; the input contract is checked and every miss is listed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55889" y="1386967"/>
            <a:ext cx="1922617" cy="19202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55889" y="1386967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38769" y="1551559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Certify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8769" y="1900047"/>
            <a:ext cx="1556857" cy="1279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 signed leakage certificate is issued with the warrant, or refuses it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27289" y="2347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134538" y="1386967"/>
            <a:ext cx="1922617" cy="19202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34538" y="1386967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17418" y="1551559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Download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7418" y="1900047"/>
            <a:ext cx="1556857" cy="1279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Train and validation only; who, when, and the content hash are recorded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05938" y="2347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313188" y="1386967"/>
            <a:ext cx="1922617" cy="19202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3188" y="1386967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6068" y="1551559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Upload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6068" y="1900047"/>
            <a:ext cx="1556857" cy="1279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Parameters checked against that hash, their declared bounds, and any joint constraint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084588" y="2347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491837" y="1386967"/>
            <a:ext cx="1922617" cy="19202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91837" y="1386967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74717" y="1551559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Seal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4717" y="1900047"/>
            <a:ext cx="1556857" cy="1279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Approval by policy; every referenced object becomes undeletable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263237" y="2347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77240" y="3517519"/>
            <a:ext cx="10637215" cy="2160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A51C30"/>
                </a:solidFill>
                <a:latin typeface="Calibri"/>
              </a:rPr>
              <a:t>▪  </a:t>
            </a:r>
            <a:r>
              <a:rPr sz="1250" b="0">
                <a:solidFill>
                  <a:srgbClr val="1C1C1E"/>
                </a:solidFill>
                <a:latin typeface="Calibri"/>
              </a:rPr>
              <a:t>Parameters fitted on data that does not match a checksum MAYA issued are flagged unverified_data and cannot be approved without an explicit written justification — which is how a judgement, as opposed to a fit, gets recorded honestly.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1">
                <a:solidFill>
                  <a:srgbClr val="A51C30"/>
                </a:solidFill>
                <a:latin typeface="Calibri"/>
              </a:rPr>
              <a:t>▪  </a:t>
            </a:r>
            <a:r>
              <a:rPr sz="1250" b="0">
                <a:solidFill>
                  <a:srgbClr val="1C1C1E"/>
                </a:solidFill>
                <a:latin typeface="Calibri"/>
              </a:rPr>
              <a:t>Joint constraints catch what per-parameter bounds cannot: a violation is reported as the terms, their values, the computed total, and the reason the constraint exists.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1">
                <a:solidFill>
                  <a:srgbClr val="A51C30"/>
                </a:solidFill>
                <a:latin typeface="Calibri"/>
              </a:rPr>
              <a:t>▪  </a:t>
            </a:r>
            <a:r>
              <a:rPr sz="1250" b="0">
                <a:solidFill>
                  <a:srgbClr val="1C1C1E"/>
                </a:solidFill>
                <a:latin typeface="Calibri"/>
              </a:rPr>
              <a:t>A warrant defaults to a 70 / 15 / 15 split, seed 42, an escrowed holdout and a year's expiry, all of them overridable and all of them recorded.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1">
                <a:solidFill>
                  <a:srgbClr val="A51C30"/>
                </a:solidFill>
                <a:latin typeface="Calibri"/>
              </a:rPr>
              <a:t>▪  </a:t>
            </a:r>
            <a:r>
              <a:rPr sz="1250" b="0">
                <a:solidFill>
                  <a:srgbClr val="1C1C1E"/>
                </a:solidFill>
                <a:latin typeface="Calibri"/>
              </a:rPr>
              <a:t>Proved by tests/test_warrants.py::test_the_checksum_cycle_seal_score_execute_and_bundle and ::test_contract_mismatch_is_refused_listing_every_attribute.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LOOK-AHEAD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The leakage certificate and the escrowed holdout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5 · Warrants and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maya/services/warrants.py. The certificate examines the rows the resolved frame carries a knowledge time for; a row with none is not examined, and the certificate says how many it read.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Leakage certificate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rule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Every row's knowledge time is at or before its event date plus the declared lag, one day by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Three verdicts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certified; certified_with_exceptions, where every exception carries a justification; refused.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Signed, with examples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Rows examined, the violations with up to twenty example rows, and each exception's reason. Without a signing backend it says it is unsigned and why.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Proved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tests/test_warrants.py::test_leakage_certificate_refuses_late_knowledge.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Escrowed holdout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default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test partition is hashed and its row count fixed when the warrant is drawn, and it is not included in a download.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Blind scoring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MAYA re-derives the split, refuses if the escrowed set has moved, evaluates the formula IR and returns metrics only.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Counted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Every attempt is numbered on the warrant, because “scored forty times, best reported” is a fact a reviewer should be able to see.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one runtime exception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ADR-007: MAYA does not run models, except to score — and it scores the mathematics, not the artifact.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EXECUTION WARRANTS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A live instrument, not a perpetual document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5 · Warrants and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641848"/>
            <a:ext cx="41148" cy="6035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641848"/>
            <a:ext cx="10362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maya/services/execution.py; tests/test_security_regressions.py::test_each_covenant and ::test_execution_limits. A covenant on a model with more than one output must name the output it watches, or the warrant is refused: a covenant with nothing to compare against is worse than none.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78567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34002"/>
                <a:gridCol w="8803212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Drawn from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training warrant and an approved parameter set, or straight from a model that takes no parameters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Environments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dev, uat, prod — each permitted explicitly, and an approval may be required only for prod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Covenants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input_null_rate, input_range, input_psi, output_range, max_rows_per_day, staleness_days. A breach suspends the warrant at once, records a custody event and notifies the owner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Population drift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input_psi computes a population stability index against a baseline fixed when the warrant was drawn, so the baseline cannot move later. Default ceiling 0.25 over ten bins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Limits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max_calls_per_day, max_rows_per_call, max_rows_per_day — these throttle and record overage; they do not suspend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Reinstatement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By the model owner or an administrator, with a written reason. Expiry and revocation fail every consuming call closed, naming the covenant or the contact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Offline use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Permitted, and both the copy and the warrant are labelled unattested for good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EVIDENCE THAT LEAVES THE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The bundle, and the verifier inside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5 · Warrants and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440680"/>
            <a:ext cx="41148" cy="80467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44068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maya/services/bundle.py and maya/sdk/offline.py; tests/test_sdk_modes.py::test_a_tampered_bundle_is_refused_before_anything_is_read, tests/test_sc2_aged_warrant.py. Opening a bundle through the SDK evaluates the signed IR and never imports the reference code the bundle carries; anything the bundle does not hold is refused by name.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What is in the archive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3770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A51C30"/>
                </a:solidFill>
                <a:latin typeface="Calibri"/>
              </a:rPr>
              <a:t>▪  </a:t>
            </a:r>
            <a:r>
              <a:rPr sz="1250" b="1">
                <a:solidFill>
                  <a:srgbClr val="1C1C1E"/>
                </a:solidFill>
                <a:latin typeface="Calibri"/>
              </a:rPr>
              <a:t>The subject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4F57"/>
                </a:solidFill>
                <a:latin typeface="Calibri"/>
              </a:rPr>
              <a:t>Warrant, model version, formula IR and member IRs, the specification source, the code artifact and its report, parameters, the leakage certificate.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250" b="1">
                <a:solidFill>
                  <a:srgbClr val="A51C30"/>
                </a:solidFill>
                <a:latin typeface="Calibri"/>
              </a:rPr>
              <a:t>▪  </a:t>
            </a:r>
            <a:r>
              <a:rPr sz="1250" b="1">
                <a:solidFill>
                  <a:srgbClr val="1C1C1E"/>
                </a:solidFill>
                <a:latin typeface="Calibri"/>
              </a:rPr>
              <a:t>The data and the environment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4F57"/>
                </a:solidFill>
                <a:latin typeface="Calibri"/>
              </a:rPr>
              <a:t>The training frame as Parquet, the feature-set definition and the pin's manifest with its member pins, the Python version and the resolved backends.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250" b="1">
                <a:solidFill>
                  <a:srgbClr val="A51C30"/>
                </a:solidFill>
                <a:latin typeface="Calibri"/>
              </a:rPr>
              <a:t>▪  </a:t>
            </a:r>
            <a:r>
              <a:rPr sz="1250" b="1">
                <a:solidFill>
                  <a:srgbClr val="1C1C1E"/>
                </a:solidFill>
                <a:latin typeface="Calibri"/>
              </a:rPr>
              <a:t>The definition of the hash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4F57"/>
                </a:solidFill>
                <a:latin typeface="Calibri"/>
              </a:rPr>
              <a:t>MAYA's own canonical encoder and fragment chunker ship inside the bundle, because they are the definition and not a description of it.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250" b="1">
                <a:solidFill>
                  <a:srgbClr val="A51C30"/>
                </a:solidFill>
                <a:latin typeface="Calibri"/>
              </a:rPr>
              <a:t>▪  </a:t>
            </a:r>
            <a:r>
              <a:rPr sz="1250" b="1">
                <a:solidFill>
                  <a:srgbClr val="1C1C1E"/>
                </a:solidFill>
                <a:latin typeface="Calibri"/>
              </a:rPr>
              <a:t>A signed manifest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4F57"/>
                </a:solidFill>
                <a:latin typeface="Calibri"/>
              </a:rPr>
              <a:t>Every file's digest, the data's content hash, the expected output hash, and whether re-execution is possible — with the reason when it is not.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What verify.py does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3770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Needs Python, pyarrow and numpy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Nothing from MAYA, and no network.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Bounds the archive first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Entry count, expanded size, compression ratio and path traversal are checked before a byte is read.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Recomputes, then re-executes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Every file digest, the signature where a crypto library is present, the data's content hash from the shipped encoder, and the model's outputs against the expected hash.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Refuses on one changed byte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tampered bundle is refused before anything is served, not partly served.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CUSTODY AND TERMS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C1C1E"/>
                </a:solidFill>
                <a:latin typeface="Georgia"/>
              </a:rPr>
              <a:t>An audit chain that anchors, and vendor terms that propagate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5 · Warrants and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maya/persistence/repositories/special.py (the chain), maya/services/custody.py (the anchors), maya/security/licence.py (the algebra). On PostgreSQL an advisory lock serialises appends, so two writers cannot fork the chain.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54836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54836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27988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The audit chain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66899"/>
            <a:ext cx="5135727" cy="38115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A51C30"/>
                </a:solidFill>
                <a:latin typeface="Calibri"/>
              </a:rPr>
              <a:t>▪  </a:t>
            </a:r>
            <a:r>
              <a:rPr sz="1450" b="1">
                <a:solidFill>
                  <a:srgbClr val="1C1C1E"/>
                </a:solidFill>
                <a:latin typeface="Calibri"/>
              </a:rPr>
              <a:t>Hash-chained per entry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4F57"/>
                </a:solidFill>
                <a:latin typeface="Calibri"/>
              </a:rPr>
              <a:t>Each row's digest covers the previous digest and the entry's own fields, so a rewritten row breaks every row after it.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50" b="1">
                <a:solidFill>
                  <a:srgbClr val="A51C30"/>
                </a:solidFill>
                <a:latin typeface="Calibri"/>
              </a:rPr>
              <a:t>▪  </a:t>
            </a:r>
            <a:r>
              <a:rPr sz="1450" b="1">
                <a:solidFill>
                  <a:srgbClr val="1C1C1E"/>
                </a:solidFill>
                <a:latin typeface="Calibri"/>
              </a:rPr>
              <a:t>Anchored out of the database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4F57"/>
                </a:solidFill>
                <a:latin typeface="Calibri"/>
              </a:rPr>
              <a:t>The chain head is signed, appended to a file and emitted as an event, hourly. RFC 3161 timestamping is opt-in because it sends the head to a third party.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50" b="1">
                <a:solidFill>
                  <a:srgbClr val="A51C30"/>
                </a:solidFill>
                <a:latin typeface="Calibri"/>
              </a:rPr>
              <a:t>▪  </a:t>
            </a:r>
            <a:r>
              <a:rPr sz="1450" b="1">
                <a:solidFill>
                  <a:srgbClr val="1C1C1E"/>
                </a:solidFill>
                <a:latin typeface="Calibri"/>
              </a:rPr>
              <a:t>A timestamp is only as good as its check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4F57"/>
                </a:solidFill>
                <a:latin typeface="Calibri"/>
              </a:rPr>
              <a:t>The authority's own signature is verified against its CA certificate when one is configured, and left to the operator when it is not.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50" b="1">
                <a:solidFill>
                  <a:srgbClr val="A51C30"/>
                </a:solidFill>
                <a:latin typeface="Calibri"/>
              </a:rPr>
              <a:t>▪  </a:t>
            </a:r>
            <a:r>
              <a:rPr sz="1450" b="1">
                <a:solidFill>
                  <a:srgbClr val="1C1C1E"/>
                </a:solidFill>
                <a:latin typeface="Calibri"/>
              </a:rPr>
              <a:t>It refuses to certify tampering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4F57"/>
                </a:solidFill>
                <a:latin typeface="Calibri"/>
              </a:rPr>
              <a:t>A chain that does not verify is not anchored. Verification names the sequence number where it broke.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54836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54836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27988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The licence algebra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66899"/>
            <a:ext cx="5135727" cy="38115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A51C30"/>
                </a:solidFill>
                <a:latin typeface="Calibri"/>
              </a:rPr>
              <a:t>▪  </a:t>
            </a:r>
            <a:r>
              <a:rPr sz="1450" b="1">
                <a:solidFill>
                  <a:srgbClr val="1C1C1E"/>
                </a:solidFill>
                <a:latin typeface="Calibri"/>
              </a:rPr>
              <a:t>Terms travel with derivations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4F57"/>
                </a:solidFill>
                <a:latin typeface="Calibri"/>
              </a:rPr>
              <a:t>A derived object inherits the most restrictive of its sources' terms rather than the nearest one to hand.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50" b="1">
                <a:solidFill>
                  <a:srgbClr val="A51C30"/>
                </a:solidFill>
                <a:latin typeface="Calibri"/>
              </a:rPr>
              <a:t>▪  </a:t>
            </a:r>
            <a:r>
              <a:rPr sz="1450" b="1">
                <a:solidFill>
                  <a:srgbClr val="1C1C1E"/>
                </a:solidFill>
                <a:latin typeface="Calibri"/>
              </a:rPr>
              <a:t>A breach is a refusal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4F57"/>
                </a:solidFill>
                <a:latin typeface="Calibri"/>
              </a:rPr>
              <a:t>Named: which source, and which clause.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50" b="1">
                <a:solidFill>
                  <a:srgbClr val="A51C30"/>
                </a:solidFill>
                <a:latin typeface="Calibri"/>
              </a:rPr>
              <a:t>▪  </a:t>
            </a:r>
            <a:r>
              <a:rPr sz="1450" b="1">
                <a:solidFill>
                  <a:srgbClr val="1C1C1E"/>
                </a:solidFill>
                <a:latin typeface="Calibri"/>
              </a:rPr>
              <a:t>Proved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4F57"/>
                </a:solidFill>
                <a:latin typeface="Calibri"/>
              </a:rPr>
              <a:t>tests/test_custody.py::test_an_anchor_catches_a_rechained_rewrite and ::test_a_real_tsa_signature_is_verified_against_its_ca.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50" b="1">
                <a:solidFill>
                  <a:srgbClr val="A51C30"/>
                </a:solidFill>
                <a:latin typeface="Calibri"/>
              </a:rPr>
              <a:t>▪  </a:t>
            </a:r>
            <a:r>
              <a:rPr sz="1450" b="1">
                <a:solidFill>
                  <a:srgbClr val="1C1C1E"/>
                </a:solidFill>
                <a:latin typeface="Calibri"/>
              </a:rPr>
              <a:t>The honest limit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4F57"/>
                </a:solidFill>
                <a:latin typeface="Calibri"/>
              </a:rPr>
              <a:t>An anchor is only as external as the file it is written to; point it at off-host or write-once storage.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PART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FFFFFF"/>
                </a:solidFill>
                <a:latin typeface="Georgia"/>
              </a:rPr>
              <a:t>Governance and 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Workflow as data, one authorization function, one door to the database, one client library — each held by a gate rather than by good intentions.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B8C0"/>
                </a:solidFill>
                <a:latin typeface="Calibri"/>
              </a:rPr>
              <a:t>IN THIS 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Workflow policy, and break-glass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Workspaces and shadow replay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Authorization and authentication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Architecture, held by gates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Persistence without migrations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The gate ladder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What is not built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Where to read 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Policy is data, and governed like everything else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6 · Governance and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maya/workflow/ (engine.py, policy.py, default_policies.yaml), maya/security/roles.py, maya/jobs/scheduler.py; tests/test_workflow_and_estate.py, tests/test_workflow_matrix.py, tests/test_delegation.py.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The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1">
                <a:solidFill>
                  <a:srgbClr val="1C1C1E"/>
                </a:solidFill>
                <a:latin typeface="Calibri"/>
              </a:rPr>
              <a:t>One state machine, six object types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Calibri"/>
              </a:rPr>
              <a:t>draft, in_review, changes_requested, approved, published, deprecated, retired, withdrawn — over feature, feature-set and model versions, parameter sets and both warrants.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1">
                <a:solidFill>
                  <a:srgbClr val="1C1C1E"/>
                </a:solidFill>
                <a:latin typeface="Calibri"/>
              </a:rPr>
              <a:t>A transition is a record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Calibri"/>
              </a:rPr>
              <a:t>Which states it leaves, the capability it needs, the roles allowed, the named checks to pass, and the approvals required as role and count.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1">
                <a:solidFill>
                  <a:srgbClr val="1C1C1E"/>
                </a:solidFill>
                <a:latin typeface="Calibri"/>
              </a:rPr>
              <a:t>Validated when it is edited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Calibri"/>
              </a:rPr>
              <a:t>An unreachable state, an unsatisfiable approval or an unknown condition is refused at edit time, so nothing fails open at approval time.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1">
                <a:solidFill>
                  <a:srgbClr val="1C1C1E"/>
                </a:solidFill>
                <a:latin typeface="Calibri"/>
              </a:rPr>
              <a:t>Governed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Calibri"/>
              </a:rPr>
              <a:t>A policy edit is versioned, diffed and approved, and its YAML projection round-trips byte-identically for whoever wants it in a repository.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The awkward cases, handled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1">
                <a:solidFill>
                  <a:srgbClr val="1C1C1E"/>
                </a:solidFill>
                <a:latin typeface="Calibri"/>
              </a:rPr>
              <a:t>Segregation of duties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Calibri"/>
              </a:rPr>
              <a:t>Three levels — none, two_person, strict — shipped as the small_team, standard and regulated namespace presets. Under strict nobody who created, submitted or updated an object may approve it.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1">
                <a:solidFill>
                  <a:srgbClr val="1C1C1E"/>
                </a:solidFill>
                <a:latin typeface="Calibri"/>
              </a:rPr>
              <a:t>Break-glass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Calibri"/>
              </a:rPr>
              <a:t>Administrators only, a written reason of real length, the event marked forced, audited as its own action, and the owner notified whether or not they subscribed.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1">
                <a:solidFill>
                  <a:srgbClr val="1C1C1E"/>
                </a:solidFill>
                <a:latin typeface="Calibri"/>
              </a:rPr>
              <a:t>Delegation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Calibri"/>
              </a:rPr>
              <a:t>Only an approver may delegate, never to themselves, within dates and optionally by object type; the approval records who it was made on behalf of.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1">
                <a:solidFill>
                  <a:srgbClr val="1C1C1E"/>
                </a:solidFill>
                <a:latin typeface="Calibri"/>
              </a:rPr>
              <a:t>Escalation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Calibri"/>
              </a:rPr>
              <a:t>Five days in review is the shipped service level; an hourly sweep notifies the namespace owner once per overdue item, and warns thirty days before a warrant expires.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REHEARSING A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Workspaces, and a replay that reports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6 · Governance and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maya/services/workspaces.py and maya/assistant/; tests/test_workspaces.py, tests/test_assistant.py. Study 03 in case_studies/ is this slide as a worked example: 60% of a mortgage book moves, priced before anyone approves the change.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Workspaces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Copy-on-write over the catalog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Staging a change stores a proposed definition and copies nothing else; resolution inside the workspace reads the proposal in place of the version it would replace.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Approval is the merge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And a base that moved underneath is a conflict, not a surprise.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recorded challenger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non-binding memo attached to the review, which never approves, never blocks and never writes to a sealed object; the reviewer records whether they agreed.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Shadow replay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C1C1E"/>
                </a:solidFill>
                <a:latin typeface="Calibri"/>
              </a:rPr>
              <a:t>Every dependent warrant, re-scored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F57"/>
                </a:solidFill>
                <a:latin typeface="Calibri"/>
              </a:rPr>
              <a:t>The feature set is resolved twice — as it is, and as proposed — and scored with the warrant's own model and parameters.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C1C1E"/>
                </a:solidFill>
                <a:latin typeface="Calibri"/>
              </a:rPr>
              <a:t>Numbers, not a list of names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F57"/>
                </a:solidFill>
                <a:latin typeface="Calibri"/>
              </a:rPr>
              <a:t>Rows added and removed, coverage, median, p95 and worst absolute shift, the worst row, and how much of the book moves past materiality.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C1C1E"/>
                </a:solidFill>
                <a:latin typeface="Calibri"/>
              </a:rPr>
              <a:t>Bounded and stated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F57"/>
                </a:solidFill>
                <a:latin typeface="Calibri"/>
              </a:rPr>
              <a:t>5,000 sampled rows, materiality from the model, the namespace or the default, and a daily row-comparison budget per namespace.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C1C1E"/>
                </a:solidFill>
                <a:latin typeface="Calibri"/>
              </a:rPr>
              <a:t>A ceiling never says “nothing moved”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F57"/>
                </a:solidFill>
                <a:latin typeface="Calibri"/>
              </a:rPr>
              <a:t>A namespace over budget gets an entry naming the shortfall, and the budget is spent against the audit log.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One authorization function, and who you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6 · Governance and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641848"/>
            <a:ext cx="41148" cy="6035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641848"/>
            <a:ext cx="10362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maya/security/authz.py, roles.py, conditions.py; maya/services/auth.py, sso.py. Checked as a full role × action × state matrix, and every route is exercised as anonymous, as no-role and as administrator (tests/test_authz_matrix.py, tests/test_api_contract.py).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Authorization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578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can(principal, action, object)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Nothing in the UI, the API, the SDK or the CLI goes around it.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Roles are a ceiling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An access list cannot grant what the role does not permit.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List order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Deny wins, then the most specific grant; separation of duties comes from the namespace preset.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Grant conditions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Row filters, column masks and time bounds, applied on live and pinned data alike.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Authentication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578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C1C1E"/>
                </a:solidFill>
                <a:latin typeface="Calibri"/>
              </a:rPr>
              <a:t>Passwords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F57"/>
                </a:solidFill>
                <a:latin typeface="Calibri"/>
              </a:rPr>
              <a:t>The derivation function and its parameters are stored with each hash and rehash upward on sign-in; lockout after repeated failures.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C1C1E"/>
                </a:solidFill>
                <a:latin typeface="Calibri"/>
              </a:rPr>
              <a:t>API keys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F57"/>
                </a:solidFill>
                <a:latin typeface="Calibri"/>
              </a:rPr>
              <a:t>Scoped, bound to an environment, expiring, revocable.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C1C1E"/>
                </a:solidFill>
                <a:latin typeface="Calibri"/>
              </a:rPr>
              <a:t>Single sign-on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F57"/>
                </a:solidFill>
                <a:latin typeface="Calibri"/>
              </a:rPr>
              <a:t>OIDC or SAML 2.0 with signed requests, logout in both directions; TOTP codes and WebAuthn keys as second factors.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C1C1E"/>
                </a:solidFill>
                <a:latin typeface="Calibri"/>
              </a:rPr>
              <a:t>Principal cache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F57"/>
                </a:solidFill>
                <a:latin typeface="Calibri"/>
              </a:rPr>
              <a:t>A session's principal is reused for two seconds, because one page makes several internal calls; a revocation applies at once locally and within that window elsewhere.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C1C1E"/>
                </a:solidFill>
                <a:latin typeface="Georgia"/>
              </a:rPr>
              <a:t>A layered modular monolith, with its boundaries enforced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6 · Governance and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maya/: core, config, persistence, security, resolution, formula, workflow, storage, services, jobs, assistant, observability, api, sdk, web, cli, testing. maya_delta/ sits beside it with no MAYA domain knowledge at all.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70901"/>
          <a:ext cx="10637215" cy="367595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00803"/>
                <a:gridCol w="8436412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How it holds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The UI is an SDK client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Nothing under maya.web imports anything but maya.sdk, and a gate plants a violation to prove it fails (tests/test_web.py::test_web_imports_only_the_sdk)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One door to the database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No sqlalchemy import outside maya.persistence (tools/ci/import_boundaries.py)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SDK and API in parity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Every one of 215 endpoints has an SDK method and every method an endpoint, checked both ways (tools/ci/sdk_parity.py)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Every table from one macro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Paginated, searchable, sortable, exportable; a crawler gate refuses any other table (tools/ci/table_contract.py)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One startup script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run_maya_web.py; several web processes on one node require PostgreSQL, and MAYA refuses them over SQLite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Jobs live in the database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SKIP LOCKED on PostgreSQL, an in-process queue on SQLite; idempotent, cancellable, retried, and the same code either way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PERSISTENCE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Two generated schema files, and no migrations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6 · Governance and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maya/persistence/; tools/ci/gen_schema.py. No migration tool means no half-applied migration, and it means the upgrade is a procedure somebody has to run — the trade is stated, not hidden.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386967"/>
            <a:ext cx="10637215" cy="4291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One typed metadata, two DDL files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maya/persistence/schema/sqlite.sql and postgresql.sql are generated from the SQLAlchemy models; a gate regenerates both and fails on any diff, and a planted hand-edit is shown to trip it.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A mismatched database is refused at startup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It is never upgraded in place (tests/test_workflow_and_estate.py::test_schema_mismatch_refuses_to_start).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The upgrade path is export, recreate, import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The estate export reads the database as it is, so it still works across the schema change that made it necessary; a column it cannot fill is named rather than defaulted.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SQLite in the shipped configuration, PostgreSQL by setting one key, never mixed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The whole suite has run on both; PostgreSQL 16, 17 and 18 so far, and not 14 or 15, which is the documented floor.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GATE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One command, and never a remembered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6 · Governance and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tools/ci/gates.py. Each rung is shown to catch a planted fault (tests/test_api_and_gates.py, tests/test_gate_ladder.py). The ladder runs locally and in the pre-commit hook; there is no hosted CI, by decision.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266655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58902"/>
                <a:gridCol w="9078312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Gates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100939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Static, every run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Lint; strict typing of maya/services; file size; both import boundaries; import cycles; public names per module; seam imports; SDK public symbols; version single source; no secrets; table contract; colour contrast; SDK↔API parity; UI↔SDK parity; the API contract snapshot; protocol literals; a security linter; schema drift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--tests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whole suite under a 90% line-coverage floor; 92.9% at this release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--fallback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suite again with every Type A seam pinned to its pure fallback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--security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dependency audit, and the sandbox escape tests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--bench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benchmark regression of more than 10% needs a written note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IS NOT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Known gaps, named here rather than found later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6 · Governance and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README “Status”, the plan's milestone notes and docs/audit/ state each of these where it was promised. Of about 540 specification requirements, 195 are built and tested, 28 built but untested, 123 partly built and 84 not built.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386967"/>
            <a:ext cx="10637215" cy="4291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Only Linux is exercised, by decision, so SC-14 is not met and the Windows and macOS code paths have never run.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SC-3, 200 users on one node, is not met reliably: three runs gave p95 0.34 s, 0.22 s and 0.43 s against 0.3 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Feature-set operators beyond extend, subscriptions, enforced quotas, upload size limits, the SDK's object handles and the review screen's semantic diff are partly built or not built; the specification audit ranks every gap by what it costs a user.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Resolution, search and the capacity targets were measured on SQLite only; nothing in §24.3 has been run on PostgreSQL and the per-pod figure has not been measured.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A delta source is accepted by the catalog and no test in the suite exercises it.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The assistant's hosted provider is tested against a stub of its client only; SAML back-channel logout is not supported.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SC-9 has not been timed with a real person, there has been no external security review, and the restore drill has been performed on a small estate only.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TO READ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Everything on these slides has a source you can open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6 · Governance and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Every claim in this deck names a module or a test. Where a claim has neither, it is in the “what is not built” slide instead.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386967"/>
            <a:ext cx="10637215" cy="4492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Specification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docs/MAYA_Requirements_and_Design.md — the authority for every §.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Plan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docs/IMPLEMENTATION_PLAN.md — each milestone with what it delivered and what it did not.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Measurements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docs/BENCHMARKS.md, from the unedited result files in docs/benchmarks/.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Decisions and procedures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docs/adr/ and docs/runbooks/, including the restore drill as performed.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Worked models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case_studies/ — nine complete studies, each with its theory, its mathematics and the numbers from a recorded run.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Run it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python run_maya_web.py, then python -m maya.cli feature quick prices.csv.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MAYA — System Design</dc:title>
  <dc:subject>How MAYA is built: features, feature sets, models, warrants, and the platform</dc:subject>
  <dc:creator>Ashutosh Sinha</dc:creator>
  <cp:keywords>MAYA; model risk; governance</cp:keywords>
  <dc:description>Copyright (c) 2026 Ashutosh Sinha. All rights reserved.</dc:description>
  <cp:lastModifiedBy>Ashutosh Sinha</cp:lastModifiedBy>
  <cp:revision>1</cp:revision>
  <dcterms:created xsi:type="dcterms:W3CDTF">2026-09-19T12:00:00Z</dcterms:created>
  <dcterms:modified xsi:type="dcterms:W3CDTF">2026-09-19T12:00:00Z</dcterms:modified>
  <cp:category/>
</cp:coreProperties>
</file>