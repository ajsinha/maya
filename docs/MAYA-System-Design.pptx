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6" name="Picture 5" descr="maya-mark-white.png"/>
          <p:cNvPicPr>
            <a:picLocks noChangeAspect="1"/>
          </p:cNvPicPr>
          <p:nvPr/>
        </p:nvPicPr>
        <p:blipFill>
          <a:blip r:embed="rId2"/>
          <a:stretch>
            <a:fillRect/>
          </a:stretch>
        </p:blipFill>
        <p:spPr>
          <a:xfrm>
            <a:off x="1051560" y="640080"/>
            <a:ext cx="731520" cy="731520"/>
          </a:xfrm>
          <a:prstGeom prst="rect">
            <a:avLst/>
          </a:prstGeom>
        </p:spPr>
      </p:pic>
      <p:sp>
        <p:nvSpPr>
          <p:cNvPr id="7" name="TextBox 6"/>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MAYA  ·  MODEL &amp; AI LIFECYCLE ASSURANCE PLATFORM</a:t>
            </a:r>
          </a:p>
        </p:txBody>
      </p:sp>
      <p:sp>
        <p:nvSpPr>
          <p:cNvPr id="8" name="TextBox 7"/>
          <p:cNvSpPr txBox="1"/>
          <p:nvPr/>
        </p:nvSpPr>
        <p:spPr>
          <a:xfrm>
            <a:off x="1051560" y="1481328"/>
            <a:ext cx="9360749" cy="1828800"/>
          </a:xfrm>
          <a:prstGeom prst="rect">
            <a:avLst/>
          </a:prstGeom>
          <a:noFill/>
        </p:spPr>
        <p:txBody>
          <a:bodyPr wrap="square" lIns="0" rIns="0" tIns="0" bIns="0" anchor="t">
            <a:spAutoFit/>
          </a:bodyPr>
          <a:lstStyle/>
          <a:p>
            <a:pPr algn="l">
              <a:spcBef>
                <a:spcPts val="0"/>
              </a:spcBef>
              <a:spcAft>
                <a:spcPts val="400"/>
              </a:spcAft>
            </a:pPr>
            <a:r>
              <a:rPr sz="4400" b="0" i="0">
                <a:solidFill>
                  <a:srgbClr val="FFFFFF"/>
                </a:solidFill>
                <a:latin typeface="Georgia"/>
              </a:rPr>
              <a:t>Detailed System Design</a:t>
            </a:r>
          </a:p>
        </p:txBody>
      </p:sp>
      <p:sp>
        <p:nvSpPr>
          <p:cNvPr id="9" name="Rectangle 8"/>
          <p:cNvSpPr/>
          <p:nvPr/>
        </p:nvSpPr>
        <p:spPr>
          <a:xfrm>
            <a:off x="1051560" y="2999232"/>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 name="TextBox 9"/>
          <p:cNvSpPr txBox="1"/>
          <p:nvPr/>
        </p:nvSpPr>
        <p:spPr>
          <a:xfrm>
            <a:off x="1051560" y="3236976"/>
            <a:ext cx="8722516" cy="731520"/>
          </a:xfrm>
          <a:prstGeom prst="rect">
            <a:avLst/>
          </a:prstGeom>
          <a:noFill/>
        </p:spPr>
        <p:txBody>
          <a:bodyPr wrap="square" lIns="0" rIns="0" tIns="0" bIns="0" anchor="t">
            <a:spAutoFit/>
          </a:bodyPr>
          <a:lstStyle/>
          <a:p>
            <a:pPr algn="l">
              <a:lnSpc>
                <a:spcPct val="125000"/>
              </a:lnSpc>
              <a:spcBef>
                <a:spcPts val="0"/>
              </a:spcBef>
              <a:spcAft>
                <a:spcPts val="0"/>
              </a:spcAft>
            </a:pPr>
            <a:r>
              <a:rPr sz="1400" b="0" i="1">
                <a:solidFill>
                  <a:srgbClr val="F4DFE3"/>
                </a:solidFill>
                <a:latin typeface="Calibri"/>
              </a:rPr>
              <a:t>Component interfaces, algorithms, transaction boundaries, error semantics and operations — the level below the architecture</a:t>
            </a:r>
          </a:p>
        </p:txBody>
      </p:sp>
      <p:sp>
        <p:nvSpPr>
          <p:cNvPr id="11" name="TextBox 10"/>
          <p:cNvSpPr txBox="1"/>
          <p:nvPr/>
        </p:nvSpPr>
        <p:spPr>
          <a:xfrm>
            <a:off x="1051560" y="4480560"/>
            <a:ext cx="5850468" cy="91440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Independent Researcher</a:t>
            </a:r>
          </a:p>
          <a:p>
            <a:pPr>
              <a:spcBef>
                <a:spcPts val="0"/>
              </a:spcBef>
              <a:spcAft>
                <a:spcPts val="600"/>
              </a:spcAft>
            </a:pPr>
            <a:r>
              <a:rPr sz="1050" b="0" i="0">
                <a:solidFill>
                  <a:srgbClr val="7A7F87"/>
                </a:solidFill>
                <a:latin typeface="Calibri"/>
              </a:rPr>
              <a:t>September 2026   ·   written to be sufficient to start coding from</a:t>
            </a:r>
          </a:p>
        </p:txBody>
      </p:sp>
      <p:sp>
        <p:nvSpPr>
          <p:cNvPr id="12" name="TextBox 11"/>
          <p:cNvSpPr txBox="1"/>
          <p:nvPr/>
        </p:nvSpPr>
        <p:spPr>
          <a:xfrm>
            <a:off x="6627708" y="4407408"/>
            <a:ext cx="4786746" cy="2057400"/>
          </a:xfrm>
          <a:prstGeom prst="rect">
            <a:avLst/>
          </a:prstGeom>
          <a:noFill/>
        </p:spPr>
        <p:txBody>
          <a:bodyPr wrap="square" lIns="0" rIns="0" tIns="0" bIns="0" anchor="t">
            <a:spAutoFit/>
          </a:bodyPr>
          <a:lstStyle/>
          <a:p>
            <a:pPr algn="l">
              <a:spcBef>
                <a:spcPts val="0"/>
              </a:spcBef>
              <a:spcAft>
                <a:spcPts val="600"/>
              </a:spcAft>
            </a:pPr>
            <a:r>
              <a:rPr sz="950" b="1" i="0">
                <a:solidFill>
                  <a:srgbClr val="A51C30"/>
                </a:solidFill>
                <a:latin typeface="Calibri"/>
              </a:rPr>
              <a:t>CHAPTERS</a:t>
            </a:r>
          </a:p>
          <a:p>
            <a:pPr>
              <a:spcBef>
                <a:spcPts val="0"/>
              </a:spcBef>
              <a:spcAft>
                <a:spcPts val="300"/>
              </a:spcAft>
            </a:pPr>
            <a:r>
              <a:rPr sz="1050" b="1" i="0">
                <a:solidFill>
                  <a:srgbClr val="A51C30"/>
                </a:solidFill>
                <a:latin typeface="Calibri"/>
              </a:rPr>
              <a:t>1   </a:t>
            </a:r>
            <a:r>
              <a:rPr sz="1050" b="0" i="0">
                <a:solidFill>
                  <a:srgbClr val="4A4F57"/>
                </a:solidFill>
                <a:latin typeface="Calibri"/>
              </a:rPr>
              <a:t>Overview and design rules</a:t>
            </a:r>
          </a:p>
          <a:p>
            <a:pPr>
              <a:spcBef>
                <a:spcPts val="0"/>
              </a:spcBef>
              <a:spcAft>
                <a:spcPts val="300"/>
              </a:spcAft>
            </a:pPr>
            <a:r>
              <a:rPr sz="1050" b="1" i="0">
                <a:solidFill>
                  <a:srgbClr val="A51C30"/>
                </a:solidFill>
                <a:latin typeface="Calibri"/>
              </a:rPr>
              <a:t>2   </a:t>
            </a:r>
            <a:r>
              <a:rPr sz="1050" b="0" i="0">
                <a:solidFill>
                  <a:srgbClr val="4A4F57"/>
                </a:solidFill>
                <a:latin typeface="Calibri"/>
              </a:rPr>
              <a:t>Core domain and registry</a:t>
            </a:r>
          </a:p>
          <a:p>
            <a:pPr>
              <a:spcBef>
                <a:spcPts val="0"/>
              </a:spcBef>
              <a:spcAft>
                <a:spcPts val="300"/>
              </a:spcAft>
            </a:pPr>
            <a:r>
              <a:rPr sz="1050" b="1" i="0">
                <a:solidFill>
                  <a:srgbClr val="A51C30"/>
                </a:solidFill>
                <a:latin typeface="Calibri"/>
              </a:rPr>
              <a:t>3   </a:t>
            </a:r>
            <a:r>
              <a:rPr sz="1050" b="0" i="0">
                <a:solidFill>
                  <a:srgbClr val="4A4F57"/>
                </a:solidFill>
                <a:latin typeface="Calibri"/>
              </a:rPr>
              <a:t>Governance subsystems</a:t>
            </a:r>
          </a:p>
          <a:p>
            <a:pPr>
              <a:spcBef>
                <a:spcPts val="0"/>
              </a:spcBef>
              <a:spcAft>
                <a:spcPts val="300"/>
              </a:spcAft>
            </a:pPr>
            <a:r>
              <a:rPr sz="1050" b="1" i="0">
                <a:solidFill>
                  <a:srgbClr val="A51C30"/>
                </a:solidFill>
                <a:latin typeface="Calibri"/>
              </a:rPr>
              <a:t>4   </a:t>
            </a:r>
            <a:r>
              <a:rPr sz="1050" b="0" i="0">
                <a:solidFill>
                  <a:srgbClr val="4A4F57"/>
                </a:solidFill>
                <a:latin typeface="Calibri"/>
              </a:rPr>
              <a:t>Data and features</a:t>
            </a:r>
          </a:p>
          <a:p>
            <a:pPr>
              <a:spcBef>
                <a:spcPts val="0"/>
              </a:spcBef>
              <a:spcAft>
                <a:spcPts val="300"/>
              </a:spcAft>
            </a:pPr>
            <a:r>
              <a:rPr sz="1050" b="1" i="0">
                <a:solidFill>
                  <a:srgbClr val="A51C30"/>
                </a:solidFill>
                <a:latin typeface="Calibri"/>
              </a:rPr>
              <a:t>5   </a:t>
            </a:r>
            <a:r>
              <a:rPr sz="1050" b="0" i="0">
                <a:solidFill>
                  <a:srgbClr val="4A4F57"/>
                </a:solidFill>
                <a:latin typeface="Calibri"/>
              </a:rPr>
              <a:t>Execution and hooks</a:t>
            </a:r>
          </a:p>
          <a:p>
            <a:pPr>
              <a:spcBef>
                <a:spcPts val="0"/>
              </a:spcBef>
              <a:spcAft>
                <a:spcPts val="300"/>
              </a:spcAft>
            </a:pPr>
            <a:r>
              <a:rPr sz="1050" b="1" i="0">
                <a:solidFill>
                  <a:srgbClr val="A51C30"/>
                </a:solidFill>
                <a:latin typeface="Calibri"/>
              </a:rPr>
              <a:t>6   </a:t>
            </a:r>
            <a:r>
              <a:rPr sz="1050" b="0" i="0">
                <a:solidFill>
                  <a:srgbClr val="4A4F57"/>
                </a:solidFill>
                <a:latin typeface="Calibri"/>
              </a:rPr>
              <a:t>Machine assistance</a:t>
            </a:r>
          </a:p>
          <a:p>
            <a:pPr>
              <a:spcBef>
                <a:spcPts val="0"/>
              </a:spcBef>
              <a:spcAft>
                <a:spcPts val="300"/>
              </a:spcAft>
            </a:pPr>
            <a:r>
              <a:rPr sz="1050" b="1" i="0">
                <a:solidFill>
                  <a:srgbClr val="A51C30"/>
                </a:solidFill>
                <a:latin typeface="Calibri"/>
              </a:rPr>
              <a:t>7   </a:t>
            </a:r>
            <a:r>
              <a:rPr sz="1050" b="0" i="0">
                <a:solidFill>
                  <a:srgbClr val="4A4F57"/>
                </a:solidFill>
                <a:latin typeface="Calibri"/>
              </a:rPr>
              <a:t>Interfaces</a:t>
            </a:r>
          </a:p>
          <a:p>
            <a:pPr>
              <a:spcBef>
                <a:spcPts val="0"/>
              </a:spcBef>
              <a:spcAft>
                <a:spcPts val="300"/>
              </a:spcAft>
            </a:pPr>
            <a:r>
              <a:rPr sz="1050" b="1" i="0">
                <a:solidFill>
                  <a:srgbClr val="A51C30"/>
                </a:solidFill>
                <a:latin typeface="Calibri"/>
              </a:rPr>
              <a:t>8   </a:t>
            </a:r>
            <a:r>
              <a:rPr sz="1050" b="0" i="0">
                <a:solidFill>
                  <a:srgbClr val="4A4F57"/>
                </a:solidFill>
                <a:latin typeface="Calibri"/>
              </a:rPr>
              <a:t>Cross-cutting and operations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document is, and what it is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a:t>
            </a:r>
          </a:p>
        </p:txBody>
      </p:sp>
      <p:graphicFrame>
        <p:nvGraphicFramePr>
          <p:cNvPr id="10" name="Table 9"/>
          <p:cNvGraphicFramePr>
            <a:graphicFrameLocks noGrp="1"/>
          </p:cNvGraphicFramePr>
          <p:nvPr/>
        </p:nvGraphicFramePr>
        <p:xfrm>
          <a:off x="777240" y="1353312"/>
          <a:ext cx="10637213" cy="2537535"/>
        </p:xfrm>
        <a:graphic>
          <a:graphicData uri="http://schemas.openxmlformats.org/drawingml/2006/table">
            <a:tbl>
              <a:tblPr firstRow="1">
                <a:tableStyleId>{5C22544A-7EE6-4342-B048-85BDC9FD1C3A}</a:tableStyleId>
              </a:tblPr>
              <a:tblGrid>
                <a:gridCol w="3026104"/>
                <a:gridCol w="2751003"/>
                <a:gridCol w="4860106"/>
              </a:tblGrid>
              <a:tr h="333781">
                <a:tc>
                  <a:txBody>
                    <a:bodyPr wrap="square"/>
                    <a:lstStyle/>
                    <a:p>
                      <a:pPr algn="l"/>
                      <a:r>
                        <a:rPr sz="1100" b="1">
                          <a:solidFill>
                            <a:srgbClr val="FFFFFF"/>
                          </a:solidFill>
                          <a:latin typeface="Calibri"/>
                        </a:rPr>
                        <a:t>Document</a:t>
                      </a:r>
                    </a:p>
                  </a:txBody>
                  <a:tcPr marL="82296" marR="64008" marT="32004" marB="32004" anchor="ctr">
                    <a:solidFill>
                      <a:srgbClr val="A51C30"/>
                    </a:solidFill>
                  </a:tcPr>
                </a:tc>
                <a:tc>
                  <a:txBody>
                    <a:bodyPr wrap="square"/>
                    <a:lstStyle/>
                    <a:p>
                      <a:pPr algn="l"/>
                      <a:r>
                        <a:rPr sz="1100" b="1">
                          <a:solidFill>
                            <a:srgbClr val="FFFFFF"/>
                          </a:solidFill>
                          <a:latin typeface="Calibri"/>
                        </a:rPr>
                        <a:t>Level</a:t>
                      </a:r>
                    </a:p>
                  </a:txBody>
                  <a:tcPr marL="82296" marR="64008" marT="32004" marB="32004" anchor="ctr">
                    <a:solidFill>
                      <a:srgbClr val="A51C30"/>
                    </a:solidFill>
                  </a:tcPr>
                </a:tc>
                <a:tc>
                  <a:txBody>
                    <a:bodyPr wrap="square"/>
                    <a:lstStyle/>
                    <a:p>
                      <a:pPr algn="l"/>
                      <a:r>
                        <a:rPr sz="1100" b="1">
                          <a:solidFill>
                            <a:srgbClr val="FFFFFF"/>
                          </a:solidFill>
                          <a:latin typeface="Calibri"/>
                        </a:rPr>
                        <a:t>Answers</a:t>
                      </a:r>
                    </a:p>
                  </a:txBody>
                  <a:tcPr marL="82296" marR="64008" marT="32004" marB="32004" anchor="ctr">
                    <a:solidFill>
                      <a:srgbClr val="A51C30"/>
                    </a:solidFill>
                  </a:tcPr>
                </a:tc>
              </a:tr>
              <a:tr h="420624">
                <a:tc>
                  <a:txBody>
                    <a:bodyPr wrap="square"/>
                    <a:lstStyle/>
                    <a:p>
                      <a:pPr algn="l"/>
                      <a:r>
                        <a:rPr sz="1100" b="1">
                          <a:solidFill>
                            <a:srgbClr val="A51C30"/>
                          </a:solidFill>
                          <a:latin typeface="Calibri"/>
                        </a:rPr>
                        <a:t>03 — Requirements</a:t>
                      </a:r>
                    </a:p>
                  </a:txBody>
                  <a:tcPr marL="82296" marR="64008" marT="32004" marB="32004" anchor="ctr">
                    <a:solidFill>
                      <a:srgbClr val="FFFFFF"/>
                    </a:solidFill>
                  </a:tcPr>
                </a:tc>
                <a:tc>
                  <a:txBody>
                    <a:bodyPr wrap="square"/>
                    <a:lstStyle/>
                    <a:p>
                      <a:pPr algn="l"/>
                      <a:r>
                        <a:rPr sz="1100" b="0">
                          <a:solidFill>
                            <a:srgbClr val="1C1C1E"/>
                          </a:solidFill>
                          <a:latin typeface="Calibri"/>
                        </a:rPr>
                        <a:t>What must be true</a:t>
                      </a:r>
                    </a:p>
                  </a:txBody>
                  <a:tcPr marL="82296" marR="64008" marT="32004" marB="32004" anchor="ctr">
                    <a:solidFill>
                      <a:srgbClr val="FFFFFF"/>
                    </a:solidFill>
                  </a:tcPr>
                </a:tc>
                <a:tc>
                  <a:txBody>
                    <a:bodyPr wrap="square"/>
                    <a:lstStyle/>
                    <a:p>
                      <a:pPr algn="l"/>
                      <a:r>
                        <a:rPr sz="1100" b="0">
                          <a:solidFill>
                            <a:srgbClr val="1C1C1E"/>
                          </a:solidFill>
                          <a:latin typeface="Calibri"/>
                        </a:rPr>
                        <a:t>~200 numbered requirements, personas, regulatory traceability</a:t>
                      </a:r>
                    </a:p>
                  </a:txBody>
                  <a:tcPr marL="82296" marR="64008" marT="32004" marB="32004" anchor="ctr">
                    <a:solidFill>
                      <a:srgbClr val="FFFFFF"/>
                    </a:solidFill>
                  </a:tcPr>
                </a:tc>
              </a:tr>
              <a:tr h="420624">
                <a:tc>
                  <a:txBody>
                    <a:bodyPr wrap="square"/>
                    <a:lstStyle/>
                    <a:p>
                      <a:pPr algn="l"/>
                      <a:r>
                        <a:rPr sz="1100" b="1">
                          <a:solidFill>
                            <a:srgbClr val="A51C30"/>
                          </a:solidFill>
                          <a:latin typeface="Calibri"/>
                        </a:rPr>
                        <a:t>04 — Architecture</a:t>
                      </a:r>
                    </a:p>
                  </a:txBody>
                  <a:tcPr marL="82296" marR="64008" marT="32004" marB="32004" anchor="ctr">
                    <a:solidFill>
                      <a:srgbClr val="F6F3EF"/>
                    </a:solidFill>
                  </a:tcPr>
                </a:tc>
                <a:tc>
                  <a:txBody>
                    <a:bodyPr wrap="square"/>
                    <a:lstStyle/>
                    <a:p>
                      <a:pPr algn="l"/>
                      <a:r>
                        <a:rPr sz="1100" b="0">
                          <a:solidFill>
                            <a:srgbClr val="1C1C1E"/>
                          </a:solidFill>
                          <a:latin typeface="Calibri"/>
                        </a:rPr>
                        <a:t>What the containers are, and why</a:t>
                      </a:r>
                    </a:p>
                  </a:txBody>
                  <a:tcPr marL="82296" marR="64008" marT="32004" marB="32004" anchor="ctr">
                    <a:solidFill>
                      <a:srgbClr val="F6F3EF"/>
                    </a:solidFill>
                  </a:tcPr>
                </a:tc>
                <a:tc>
                  <a:txBody>
                    <a:bodyPr wrap="square"/>
                    <a:lstStyle/>
                    <a:p>
                      <a:pPr algn="l"/>
                      <a:r>
                        <a:rPr sz="1100" b="0">
                          <a:solidFill>
                            <a:srgbClr val="1C1C1E"/>
                          </a:solidFill>
                          <a:latin typeface="Calibri"/>
                        </a:rPr>
                        <a:t>Deployable units, bounded contexts, extensibility, failure modes</a:t>
                      </a:r>
                    </a:p>
                  </a:txBody>
                  <a:tcPr marL="82296" marR="64008" marT="32004" marB="32004" anchor="ctr">
                    <a:solidFill>
                      <a:srgbClr val="F6F3EF"/>
                    </a:solidFill>
                  </a:tcPr>
                </a:tc>
              </a:tr>
              <a:tr h="521258">
                <a:tc>
                  <a:txBody>
                    <a:bodyPr wrap="square"/>
                    <a:lstStyle/>
                    <a:p>
                      <a:pPr algn="l"/>
                      <a:r>
                        <a:rPr sz="1100" b="1">
                          <a:solidFill>
                            <a:srgbClr val="A51C30"/>
                          </a:solidFill>
                          <a:latin typeface="Calibri"/>
                        </a:rPr>
                        <a:t>14 — Detailed design  ← this deck</a:t>
                      </a:r>
                    </a:p>
                  </a:txBody>
                  <a:tcPr marL="82296" marR="64008" marT="32004" marB="32004" anchor="ctr">
                    <a:solidFill>
                      <a:srgbClr val="FFFFFF"/>
                    </a:solidFill>
                  </a:tcPr>
                </a:tc>
                <a:tc>
                  <a:txBody>
                    <a:bodyPr wrap="square"/>
                    <a:lstStyle/>
                    <a:p>
                      <a:pPr algn="l"/>
                      <a:r>
                        <a:rPr sz="1100" b="0">
                          <a:solidFill>
                            <a:srgbClr val="1C1C1E"/>
                          </a:solidFill>
                          <a:latin typeface="Calibri"/>
                        </a:rPr>
                        <a:t>What each component does internally</a:t>
                      </a:r>
                    </a:p>
                  </a:txBody>
                  <a:tcPr marL="82296" marR="64008" marT="32004" marB="32004" anchor="ctr">
                    <a:solidFill>
                      <a:srgbClr val="FFFFFF"/>
                    </a:solidFill>
                  </a:tcPr>
                </a:tc>
                <a:tc>
                  <a:txBody>
                    <a:bodyPr wrap="square"/>
                    <a:lstStyle/>
                    <a:p>
                      <a:pPr algn="l"/>
                      <a:r>
                        <a:rPr sz="1100" b="0">
                          <a:solidFill>
                            <a:srgbClr val="1C1C1E"/>
                          </a:solidFill>
                          <a:latin typeface="Calibri"/>
                        </a:rPr>
                        <a:t>Interfaces, algorithms, transaction boundaries, concurrency, error taxonomy, SLOs, capacity</a:t>
                      </a:r>
                    </a:p>
                  </a:txBody>
                  <a:tcPr marL="82296" marR="64008" marT="32004" marB="32004" anchor="ctr">
                    <a:solidFill>
                      <a:srgbClr val="FFFFFF"/>
                    </a:solidFill>
                  </a:tcPr>
                </a:tc>
              </a:tr>
              <a:tr h="420624">
                <a:tc>
                  <a:txBody>
                    <a:bodyPr wrap="square"/>
                    <a:lstStyle/>
                    <a:p>
                      <a:pPr algn="l"/>
                      <a:r>
                        <a:rPr sz="1100" b="1">
                          <a:solidFill>
                            <a:srgbClr val="A51C30"/>
                          </a:solidFill>
                          <a:latin typeface="Calibri"/>
                        </a:rPr>
                        <a:t>05–09 — Annexes</a:t>
                      </a:r>
                    </a:p>
                  </a:txBody>
                  <a:tcPr marL="82296" marR="64008" marT="32004" marB="32004" anchor="ctr">
                    <a:solidFill>
                      <a:srgbClr val="F6F3EF"/>
                    </a:solidFill>
                  </a:tcPr>
                </a:tc>
                <a:tc>
                  <a:txBody>
                    <a:bodyPr wrap="square"/>
                    <a:lstStyle/>
                    <a:p>
                      <a:pPr algn="l"/>
                      <a:r>
                        <a:rPr sz="1100" b="0">
                          <a:solidFill>
                            <a:srgbClr val="1C1C1E"/>
                          </a:solidFill>
                          <a:latin typeface="Calibri"/>
                        </a:rPr>
                        <a:t>Specific surfaces in depth</a:t>
                      </a:r>
                    </a:p>
                  </a:txBody>
                  <a:tcPr marL="82296" marR="64008" marT="32004" marB="32004" anchor="ctr">
                    <a:solidFill>
                      <a:srgbClr val="F6F3EF"/>
                    </a:solidFill>
                  </a:tcPr>
                </a:tc>
                <a:tc>
                  <a:txBody>
                    <a:bodyPr wrap="square"/>
                    <a:lstStyle/>
                    <a:p>
                      <a:pPr algn="l"/>
                      <a:r>
                        <a:rPr sz="1100" b="0">
                          <a:solidFill>
                            <a:srgbClr val="1C1C1E"/>
                          </a:solidFill>
                          <a:latin typeface="Calibri"/>
                        </a:rPr>
                        <a:t>Data model, hooks, features, UI, security</a:t>
                      </a:r>
                    </a:p>
                  </a:txBody>
                  <a:tcPr marL="82296" marR="64008" marT="32004" marB="32004" anchor="ctr">
                    <a:solidFill>
                      <a:srgbClr val="F6F3EF"/>
                    </a:solidFill>
                  </a:tcPr>
                </a:tc>
              </a:tr>
              <a:tr h="420624">
                <a:tc>
                  <a:txBody>
                    <a:bodyPr wrap="square"/>
                    <a:lstStyle/>
                    <a:p>
                      <a:pPr algn="l"/>
                      <a:r>
                        <a:rPr sz="1100" b="1">
                          <a:solidFill>
                            <a:srgbClr val="A51C30"/>
                          </a:solidFill>
                          <a:latin typeface="Calibri"/>
                        </a:rPr>
                        <a:t>11 — Adversarial review</a:t>
                      </a:r>
                    </a:p>
                  </a:txBody>
                  <a:tcPr marL="82296" marR="64008" marT="32004" marB="32004" anchor="ctr">
                    <a:solidFill>
                      <a:srgbClr val="FFFFFF"/>
                    </a:solidFill>
                  </a:tcPr>
                </a:tc>
                <a:tc>
                  <a:txBody>
                    <a:bodyPr wrap="square"/>
                    <a:lstStyle/>
                    <a:p>
                      <a:pPr algn="l"/>
                      <a:r>
                        <a:rPr sz="1100" b="0">
                          <a:solidFill>
                            <a:srgbClr val="1C1C1E"/>
                          </a:solidFill>
                          <a:latin typeface="Calibri"/>
                        </a:rPr>
                        <a:t>What was wrong with all of it</a:t>
                      </a:r>
                    </a:p>
                  </a:txBody>
                  <a:tcPr marL="82296" marR="64008" marT="32004" marB="32004" anchor="ctr">
                    <a:solidFill>
                      <a:srgbClr val="FFFFFF"/>
                    </a:solidFill>
                  </a:tcPr>
                </a:tc>
                <a:tc>
                  <a:txBody>
                    <a:bodyPr wrap="square"/>
                    <a:lstStyle/>
                    <a:p>
                      <a:pPr algn="l"/>
                      <a:r>
                        <a:rPr sz="1100" b="0">
                          <a:solidFill>
                            <a:srgbClr val="1C1C1E"/>
                          </a:solidFill>
                          <a:latin typeface="Calibri"/>
                        </a:rPr>
                        <a:t>27 findings; 17 required redesign — folded in here</a:t>
                      </a:r>
                    </a:p>
                  </a:txBody>
                  <a:tcPr marL="82296" marR="64008" marT="32004" marB="32004" anchor="ctr">
                    <a:solidFill>
                      <a:srgbClr val="FFFFFF"/>
                    </a:solidFill>
                  </a:tcPr>
                </a:tc>
              </a:tr>
            </a:tbl>
          </a:graphicData>
        </a:graphic>
      </p:graphicFrame>
      <p:sp>
        <p:nvSpPr>
          <p:cNvPr id="11" name="Rectangle 10"/>
          <p:cNvSpPr/>
          <p:nvPr/>
        </p:nvSpPr>
        <p:spPr>
          <a:xfrm>
            <a:off x="777240" y="4165168"/>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165168"/>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4293184"/>
            <a:ext cx="10088575" cy="68580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Test of adequacy. </a:t>
            </a:r>
            <a:r>
              <a:rPr sz="1200" b="0" i="0">
                <a:solidFill>
                  <a:srgbClr val="1C1C1E"/>
                </a:solidFill>
                <a:latin typeface="Calibri"/>
              </a:rPr>
              <a:t>An engineer who has read the architecture should be able to open this document and begin implementing a component without inventing an interface, guessing a transaction boundary, or deciding an error code. Where that is not yet true, it is a gap in this document rather than a decision left to the reader.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a:t>
            </a:r>
          </a:p>
        </p:txBody>
      </p:sp>
      <p:sp>
        <p:nvSpPr>
          <p:cNvPr id="5" name="TextBox 4"/>
          <p:cNvSpPr txBox="1"/>
          <p:nvPr/>
        </p:nvSpPr>
        <p:spPr>
          <a:xfrm>
            <a:off x="1005840" y="2434132"/>
            <a:ext cx="6169584" cy="1188720"/>
          </a:xfrm>
          <a:prstGeom prst="rect">
            <a:avLst/>
          </a:prstGeom>
          <a:noFill/>
        </p:spPr>
        <p:txBody>
          <a:bodyPr wrap="square" lIns="0" rIns="0" tIns="0" bIns="0" anchor="t">
            <a:spAutoFit/>
          </a:bodyPr>
          <a:lstStyle/>
          <a:p>
            <a:pPr algn="l">
              <a:spcBef>
                <a:spcPts val="0"/>
              </a:spcBef>
              <a:spcAft>
                <a:spcPts val="0"/>
              </a:spcAft>
            </a:pPr>
            <a:r>
              <a:rPr sz="3200" b="0" i="0">
                <a:solidFill>
                  <a:srgbClr val="FFFFFF"/>
                </a:solidFill>
                <a:latin typeface="Georgia"/>
              </a:rPr>
              <a:t>Overview and Design Rules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Components, responsibilities, and the seven rules that bind them.</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Component inventory</a:t>
            </a:r>
          </a:p>
          <a:p>
            <a:pPr>
              <a:lnSpc>
                <a:spcPct val="115000"/>
              </a:lnSpc>
              <a:spcBef>
                <a:spcPts val="0"/>
              </a:spcBef>
              <a:spcAft>
                <a:spcPts val="700"/>
              </a:spcAft>
            </a:pPr>
            <a:r>
              <a:rPr sz="1150" b="0" i="0">
                <a:solidFill>
                  <a:srgbClr val="F6E6E9"/>
                </a:solidFill>
                <a:latin typeface="Calibri"/>
              </a:rPr>
              <a:t>Responsibility boundaries</a:t>
            </a:r>
          </a:p>
          <a:p>
            <a:pPr>
              <a:lnSpc>
                <a:spcPct val="115000"/>
              </a:lnSpc>
              <a:spcBef>
                <a:spcPts val="0"/>
              </a:spcBef>
              <a:spcAft>
                <a:spcPts val="700"/>
              </a:spcAft>
            </a:pPr>
            <a:r>
              <a:rPr sz="1150" b="0" i="0">
                <a:solidFill>
                  <a:srgbClr val="F6E6E9"/>
                </a:solidFill>
                <a:latin typeface="Calibri"/>
              </a:rPr>
              <a:t>Seven design rules</a:t>
            </a:r>
          </a:p>
          <a:p>
            <a:pPr>
              <a:lnSpc>
                <a:spcPct val="115000"/>
              </a:lnSpc>
              <a:spcBef>
                <a:spcPts val="0"/>
              </a:spcBef>
              <a:spcAft>
                <a:spcPts val="700"/>
              </a:spcAft>
            </a:pPr>
            <a:r>
              <a:rPr sz="1150" b="0" i="0">
                <a:solidFill>
                  <a:srgbClr val="F6E6E9"/>
                </a:solidFill>
                <a:latin typeface="Calibri"/>
              </a:rPr>
              <a:t>Process model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STRUCTURE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Component inventory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Overview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sp>
        <p:nvSpPr>
          <p:cNvPr id="10" name="Rectangle 9"/>
          <p:cNvSpPr/>
          <p:nvPr/>
        </p:nvSpPr>
        <p:spPr>
          <a:xfrm>
            <a:off x="777240" y="1371600"/>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71600"/>
            <a:ext cx="45720" cy="566928"/>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463040"/>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E4057"/>
                </a:solidFill>
                <a:latin typeface="Calibri"/>
              </a:rPr>
              <a:t>Interfaces</a:t>
            </a:r>
          </a:p>
        </p:txBody>
      </p:sp>
      <p:sp>
        <p:nvSpPr>
          <p:cNvPr id="13" name="Rectangle 12"/>
          <p:cNvSpPr/>
          <p:nvPr/>
        </p:nvSpPr>
        <p:spPr>
          <a:xfrm>
            <a:off x="3794759"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3794759"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maya-web (static)</a:t>
            </a:r>
          </a:p>
        </p:txBody>
      </p:sp>
      <p:sp>
        <p:nvSpPr>
          <p:cNvPr id="15" name="Rectangle 14"/>
          <p:cNvSpPr/>
          <p:nvPr/>
        </p:nvSpPr>
        <p:spPr>
          <a:xfrm>
            <a:off x="5665393"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5665393"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REST API v1</a:t>
            </a:r>
          </a:p>
        </p:txBody>
      </p:sp>
      <p:sp>
        <p:nvSpPr>
          <p:cNvPr id="17" name="Rectangle 16"/>
          <p:cNvSpPr/>
          <p:nvPr/>
        </p:nvSpPr>
        <p:spPr>
          <a:xfrm>
            <a:off x="7536027"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536027"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SDK / CLI</a:t>
            </a:r>
          </a:p>
        </p:txBody>
      </p:sp>
      <p:sp>
        <p:nvSpPr>
          <p:cNvPr id="19" name="Rectangle 18"/>
          <p:cNvSpPr/>
          <p:nvPr/>
        </p:nvSpPr>
        <p:spPr>
          <a:xfrm>
            <a:off x="9406661"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406661"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Event stream</a:t>
            </a:r>
          </a:p>
        </p:txBody>
      </p:sp>
      <p:sp>
        <p:nvSpPr>
          <p:cNvPr id="21" name="Rectangle 20"/>
          <p:cNvSpPr/>
          <p:nvPr/>
        </p:nvSpPr>
        <p:spPr>
          <a:xfrm>
            <a:off x="777240" y="2057400"/>
            <a:ext cx="10637215" cy="7315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777240" y="20574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996695" y="2148840"/>
            <a:ext cx="2651760" cy="548640"/>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A51C30"/>
                </a:solidFill>
                <a:latin typeface="Calibri"/>
              </a:rPr>
              <a:t>Governance subsystems</a:t>
            </a:r>
          </a:p>
        </p:txBody>
      </p:sp>
      <p:sp>
        <p:nvSpPr>
          <p:cNvPr id="24" name="Rectangle 23"/>
          <p:cNvSpPr/>
          <p:nvPr/>
        </p:nvSpPr>
        <p:spPr>
          <a:xfrm>
            <a:off x="3794759"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3794759"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Registry</a:t>
            </a:r>
          </a:p>
        </p:txBody>
      </p:sp>
      <p:sp>
        <p:nvSpPr>
          <p:cNvPr id="26" name="Rectangle 25"/>
          <p:cNvSpPr/>
          <p:nvPr/>
        </p:nvSpPr>
        <p:spPr>
          <a:xfrm>
            <a:off x="5665393"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5665393"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Evidence engine</a:t>
            </a:r>
          </a:p>
        </p:txBody>
      </p:sp>
      <p:sp>
        <p:nvSpPr>
          <p:cNvPr id="28" name="Rectangle 27"/>
          <p:cNvSpPr/>
          <p:nvPr/>
        </p:nvSpPr>
        <p:spPr>
          <a:xfrm>
            <a:off x="7536027"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7536027"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Risk &amp; tiering</a:t>
            </a:r>
          </a:p>
        </p:txBody>
      </p:sp>
      <p:sp>
        <p:nvSpPr>
          <p:cNvPr id="30" name="Rectangle 29"/>
          <p:cNvSpPr/>
          <p:nvPr/>
        </p:nvSpPr>
        <p:spPr>
          <a:xfrm>
            <a:off x="9406661"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9406661"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Regimes &amp; policy</a:t>
            </a:r>
          </a:p>
        </p:txBody>
      </p:sp>
      <p:sp>
        <p:nvSpPr>
          <p:cNvPr id="32" name="Rectangle 31"/>
          <p:cNvSpPr/>
          <p:nvPr/>
        </p:nvSpPr>
        <p:spPr>
          <a:xfrm>
            <a:off x="3794759"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3794759"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Lifecycle</a:t>
            </a:r>
          </a:p>
        </p:txBody>
      </p:sp>
      <p:sp>
        <p:nvSpPr>
          <p:cNvPr id="34" name="Rectangle 33"/>
          <p:cNvSpPr/>
          <p:nvPr/>
        </p:nvSpPr>
        <p:spPr>
          <a:xfrm>
            <a:off x="5665393"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5" name="TextBox 34"/>
          <p:cNvSpPr txBox="1"/>
          <p:nvPr/>
        </p:nvSpPr>
        <p:spPr>
          <a:xfrm>
            <a:off x="5665393"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Validation</a:t>
            </a:r>
          </a:p>
        </p:txBody>
      </p:sp>
      <p:sp>
        <p:nvSpPr>
          <p:cNvPr id="36" name="Rectangle 35"/>
          <p:cNvSpPr/>
          <p:nvPr/>
        </p:nvSpPr>
        <p:spPr>
          <a:xfrm>
            <a:off x="7536027"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7536027"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Doc compiler</a:t>
            </a:r>
          </a:p>
        </p:txBody>
      </p:sp>
      <p:sp>
        <p:nvSpPr>
          <p:cNvPr id="38" name="Rectangle 37"/>
          <p:cNvSpPr/>
          <p:nvPr/>
        </p:nvSpPr>
        <p:spPr>
          <a:xfrm>
            <a:off x="9406661"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406661"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Overlays</a:t>
            </a:r>
          </a:p>
        </p:txBody>
      </p:sp>
      <p:sp>
        <p:nvSpPr>
          <p:cNvPr id="40" name="Rectangle 39"/>
          <p:cNvSpPr/>
          <p:nvPr/>
        </p:nvSpPr>
        <p:spPr>
          <a:xfrm>
            <a:off x="777240" y="29077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2907792"/>
            <a:ext cx="45720" cy="566928"/>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996695" y="29992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D5016"/>
                </a:solidFill>
                <a:latin typeface="Calibri"/>
              </a:rPr>
              <a:t>Data &amp; execution</a:t>
            </a:r>
          </a:p>
        </p:txBody>
      </p:sp>
      <p:sp>
        <p:nvSpPr>
          <p:cNvPr id="43" name="Rectangle 42"/>
          <p:cNvSpPr/>
          <p:nvPr/>
        </p:nvSpPr>
        <p:spPr>
          <a:xfrm>
            <a:off x="3794759"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4" name="TextBox 43"/>
          <p:cNvSpPr txBox="1"/>
          <p:nvPr/>
        </p:nvSpPr>
        <p:spPr>
          <a:xfrm>
            <a:off x="3794759"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Feature platform</a:t>
            </a:r>
          </a:p>
        </p:txBody>
      </p:sp>
      <p:sp>
        <p:nvSpPr>
          <p:cNvPr id="45" name="Rectangle 44"/>
          <p:cNvSpPr/>
          <p:nvPr/>
        </p:nvSpPr>
        <p:spPr>
          <a:xfrm>
            <a:off x="5665393"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TextBox 45"/>
          <p:cNvSpPr txBox="1"/>
          <p:nvPr/>
        </p:nvSpPr>
        <p:spPr>
          <a:xfrm>
            <a:off x="5665393"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Monitoring</a:t>
            </a:r>
          </a:p>
        </p:txBody>
      </p:sp>
      <p:sp>
        <p:nvSpPr>
          <p:cNvPr id="47" name="Rectangle 46"/>
          <p:cNvSpPr/>
          <p:nvPr/>
        </p:nvSpPr>
        <p:spPr>
          <a:xfrm>
            <a:off x="7536027"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8" name="TextBox 47"/>
          <p:cNvSpPr txBox="1"/>
          <p:nvPr/>
        </p:nvSpPr>
        <p:spPr>
          <a:xfrm>
            <a:off x="7536027"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Hook service</a:t>
            </a:r>
          </a:p>
        </p:txBody>
      </p:sp>
      <p:sp>
        <p:nvSpPr>
          <p:cNvPr id="49" name="Rectangle 48"/>
          <p:cNvSpPr/>
          <p:nvPr/>
        </p:nvSpPr>
        <p:spPr>
          <a:xfrm>
            <a:off x="9406661"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0" name="TextBox 49"/>
          <p:cNvSpPr txBox="1"/>
          <p:nvPr/>
        </p:nvSpPr>
        <p:spPr>
          <a:xfrm>
            <a:off x="9406661"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Machine assistance</a:t>
            </a:r>
          </a:p>
        </p:txBody>
      </p:sp>
      <p:sp>
        <p:nvSpPr>
          <p:cNvPr id="51" name="Rectangle 50"/>
          <p:cNvSpPr/>
          <p:nvPr/>
        </p:nvSpPr>
        <p:spPr>
          <a:xfrm>
            <a:off x="777240" y="35935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2" name="Rectangle 51"/>
          <p:cNvSpPr/>
          <p:nvPr/>
        </p:nvSpPr>
        <p:spPr>
          <a:xfrm>
            <a:off x="777240" y="3593592"/>
            <a:ext cx="45720"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3" name="TextBox 52"/>
          <p:cNvSpPr txBox="1"/>
          <p:nvPr/>
        </p:nvSpPr>
        <p:spPr>
          <a:xfrm>
            <a:off x="996695" y="36850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1F3A5F"/>
                </a:solidFill>
                <a:latin typeface="Calibri"/>
              </a:rPr>
              <a:t>Core domain — no I/O, no framework</a:t>
            </a:r>
          </a:p>
        </p:txBody>
      </p:sp>
      <p:sp>
        <p:nvSpPr>
          <p:cNvPr id="54" name="Rectangle 53"/>
          <p:cNvSpPr/>
          <p:nvPr/>
        </p:nvSpPr>
        <p:spPr>
          <a:xfrm>
            <a:off x="3794759"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5" name="TextBox 54"/>
          <p:cNvSpPr txBox="1"/>
          <p:nvPr/>
        </p:nvSpPr>
        <p:spPr>
          <a:xfrm>
            <a:off x="3794759"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model_algebra</a:t>
            </a:r>
          </a:p>
        </p:txBody>
      </p:sp>
      <p:sp>
        <p:nvSpPr>
          <p:cNvPr id="56" name="Rectangle 55"/>
          <p:cNvSpPr/>
          <p:nvPr/>
        </p:nvSpPr>
        <p:spPr>
          <a:xfrm>
            <a:off x="5665393"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7" name="TextBox 56"/>
          <p:cNvSpPr txBox="1"/>
          <p:nvPr/>
        </p:nvSpPr>
        <p:spPr>
          <a:xfrm>
            <a:off x="5665393"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contracts</a:t>
            </a:r>
          </a:p>
        </p:txBody>
      </p:sp>
      <p:sp>
        <p:nvSpPr>
          <p:cNvPr id="58" name="Rectangle 57"/>
          <p:cNvSpPr/>
          <p:nvPr/>
        </p:nvSpPr>
        <p:spPr>
          <a:xfrm>
            <a:off x="7536027"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9" name="TextBox 58"/>
          <p:cNvSpPr txBox="1"/>
          <p:nvPr/>
        </p:nvSpPr>
        <p:spPr>
          <a:xfrm>
            <a:off x="7536027"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schemas</a:t>
            </a:r>
          </a:p>
        </p:txBody>
      </p:sp>
      <p:sp>
        <p:nvSpPr>
          <p:cNvPr id="60" name="Rectangle 59"/>
          <p:cNvSpPr/>
          <p:nvPr/>
        </p:nvSpPr>
        <p:spPr>
          <a:xfrm>
            <a:off x="9406661"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1" name="TextBox 60"/>
          <p:cNvSpPr txBox="1"/>
          <p:nvPr/>
        </p:nvSpPr>
        <p:spPr>
          <a:xfrm>
            <a:off x="9406661"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identity</a:t>
            </a:r>
          </a:p>
        </p:txBody>
      </p:sp>
      <p:sp>
        <p:nvSpPr>
          <p:cNvPr id="62" name="Rectangle 61"/>
          <p:cNvSpPr/>
          <p:nvPr/>
        </p:nvSpPr>
        <p:spPr>
          <a:xfrm>
            <a:off x="3794759" y="39867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3" name="TextBox 62"/>
          <p:cNvSpPr txBox="1"/>
          <p:nvPr/>
        </p:nvSpPr>
        <p:spPr>
          <a:xfrm>
            <a:off x="3794759" y="40279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composition</a:t>
            </a:r>
          </a:p>
        </p:txBody>
      </p:sp>
      <p:sp>
        <p:nvSpPr>
          <p:cNvPr id="64" name="Rectangle 63"/>
          <p:cNvSpPr/>
          <p:nvPr/>
        </p:nvSpPr>
        <p:spPr>
          <a:xfrm>
            <a:off x="777240" y="42793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5" name="Rectangle 64"/>
          <p:cNvSpPr/>
          <p:nvPr/>
        </p:nvSpPr>
        <p:spPr>
          <a:xfrm>
            <a:off x="777240" y="4279392"/>
            <a:ext cx="45720" cy="566928"/>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6" name="TextBox 65"/>
          <p:cNvSpPr txBox="1"/>
          <p:nvPr/>
        </p:nvSpPr>
        <p:spPr>
          <a:xfrm>
            <a:off x="996695" y="4370831"/>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4A3A1F"/>
                </a:solidFill>
                <a:latin typeface="Calibri"/>
              </a:rPr>
              <a:t>Platform</a:t>
            </a:r>
          </a:p>
        </p:txBody>
      </p:sp>
      <p:sp>
        <p:nvSpPr>
          <p:cNvPr id="67" name="Rectangle 66"/>
          <p:cNvSpPr/>
          <p:nvPr/>
        </p:nvSpPr>
        <p:spPr>
          <a:xfrm>
            <a:off x="3794759"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8" name="TextBox 67"/>
          <p:cNvSpPr txBox="1"/>
          <p:nvPr/>
        </p:nvSpPr>
        <p:spPr>
          <a:xfrm>
            <a:off x="3794759"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config</a:t>
            </a:r>
          </a:p>
        </p:txBody>
      </p:sp>
      <p:sp>
        <p:nvSpPr>
          <p:cNvPr id="69" name="Rectangle 68"/>
          <p:cNvSpPr/>
          <p:nvPr/>
        </p:nvSpPr>
        <p:spPr>
          <a:xfrm>
            <a:off x="5665393"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0" name="TextBox 69"/>
          <p:cNvSpPr txBox="1"/>
          <p:nvPr/>
        </p:nvSpPr>
        <p:spPr>
          <a:xfrm>
            <a:off x="5665393"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db &amp; outbox</a:t>
            </a:r>
          </a:p>
        </p:txBody>
      </p:sp>
      <p:sp>
        <p:nvSpPr>
          <p:cNvPr id="71" name="Rectangle 70"/>
          <p:cNvSpPr/>
          <p:nvPr/>
        </p:nvSpPr>
        <p:spPr>
          <a:xfrm>
            <a:off x="7536027"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2" name="TextBox 71"/>
          <p:cNvSpPr txBox="1"/>
          <p:nvPr/>
        </p:nvSpPr>
        <p:spPr>
          <a:xfrm>
            <a:off x="7536027"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telemetry</a:t>
            </a:r>
          </a:p>
        </p:txBody>
      </p:sp>
      <p:sp>
        <p:nvSpPr>
          <p:cNvPr id="73" name="Rectangle 72"/>
          <p:cNvSpPr/>
          <p:nvPr/>
        </p:nvSpPr>
        <p:spPr>
          <a:xfrm>
            <a:off x="9406661"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4" name="TextBox 73"/>
          <p:cNvSpPr txBox="1"/>
          <p:nvPr/>
        </p:nvSpPr>
        <p:spPr>
          <a:xfrm>
            <a:off x="9406661"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plugin loader</a:t>
            </a:r>
          </a:p>
        </p:txBody>
      </p:sp>
      <p:sp>
        <p:nvSpPr>
          <p:cNvPr id="75" name="Rectangle 74"/>
          <p:cNvSpPr/>
          <p:nvPr/>
        </p:nvSpPr>
        <p:spPr>
          <a:xfrm>
            <a:off x="3794759" y="46725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6" name="TextBox 75"/>
          <p:cNvSpPr txBox="1"/>
          <p:nvPr/>
        </p:nvSpPr>
        <p:spPr>
          <a:xfrm>
            <a:off x="3794759" y="47137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sandbox client</a:t>
            </a:r>
          </a:p>
        </p:txBody>
      </p:sp>
      <p:sp>
        <p:nvSpPr>
          <p:cNvPr id="77" name="TextBox 76"/>
          <p:cNvSpPr txBox="1"/>
          <p:nvPr/>
        </p:nvSpPr>
        <p:spPr>
          <a:xfrm>
            <a:off x="777240" y="5020055"/>
            <a:ext cx="10637215" cy="365760"/>
          </a:xfrm>
          <a:prstGeom prst="rect">
            <a:avLst/>
          </a:prstGeom>
          <a:noFill/>
        </p:spPr>
        <p:txBody>
          <a:bodyPr wrap="square" lIns="0" rIns="0" tIns="0" bIns="0" anchor="t">
            <a:spAutoFit/>
          </a:bodyPr>
          <a:lstStyle/>
          <a:p>
            <a:pPr algn="l">
              <a:spcBef>
                <a:spcPts val="0"/>
              </a:spcBef>
              <a:spcAft>
                <a:spcPts val="0"/>
              </a:spcAft>
            </a:pPr>
            <a:r>
              <a:rPr sz="1150" b="1" i="0">
                <a:solidFill>
                  <a:srgbClr val="A51C30"/>
                </a:solidFill>
                <a:latin typeface="Calibri"/>
              </a:rPr>
              <a:t>Dependency rule, enforced in CI. </a:t>
            </a:r>
            <a:r>
              <a:rPr sz="1150" b="0" i="0">
                <a:solidFill>
                  <a:srgbClr val="1C1C1E"/>
                </a:solidFill>
                <a:latin typeface="Calibri"/>
              </a:rPr>
              <a:t>Arrows point downward only. The core domain imports nothing from MAYA; interfaces import everything and are imported by nothing.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EACH COMPONENT DOES NOT OWN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Responsibility boundaries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Overview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a:t>
            </a:r>
          </a:p>
        </p:txBody>
      </p:sp>
      <p:graphicFrame>
        <p:nvGraphicFramePr>
          <p:cNvPr id="10" name="Table 9"/>
          <p:cNvGraphicFramePr>
            <a:graphicFrameLocks noGrp="1"/>
          </p:cNvGraphicFramePr>
          <p:nvPr/>
        </p:nvGraphicFramePr>
        <p:xfrm>
          <a:off x="777240" y="1353312"/>
          <a:ext cx="10637214" cy="3813302"/>
        </p:xfrm>
        <a:graphic>
          <a:graphicData uri="http://schemas.openxmlformats.org/drawingml/2006/table">
            <a:tbl>
              <a:tblPr firstRow="1">
                <a:tableStyleId>{5C22544A-7EE6-4342-B048-85BDC9FD1C3A}</a:tableStyleId>
              </a:tblPr>
              <a:tblGrid>
                <a:gridCol w="2200803"/>
                <a:gridCol w="4493306"/>
                <a:gridCol w="3943105"/>
              </a:tblGrid>
              <a:tr h="329184">
                <a:tc>
                  <a:txBody>
                    <a:bodyPr wrap="square"/>
                    <a:lstStyle/>
                    <a:p>
                      <a:pPr algn="l"/>
                      <a:r>
                        <a:rPr sz="1050" b="1">
                          <a:solidFill>
                            <a:srgbClr val="FFFFFF"/>
                          </a:solidFill>
                          <a:latin typeface="Calibri"/>
                        </a:rPr>
                        <a:t>Component</a:t>
                      </a:r>
                    </a:p>
                  </a:txBody>
                  <a:tcPr marL="82296" marR="64008" marT="32004" marB="32004" anchor="ctr">
                    <a:solidFill>
                      <a:srgbClr val="A51C30"/>
                    </a:solidFill>
                  </a:tcPr>
                </a:tc>
                <a:tc>
                  <a:txBody>
                    <a:bodyPr wrap="square"/>
                    <a:lstStyle/>
                    <a:p>
                      <a:pPr algn="l"/>
                      <a:r>
                        <a:rPr sz="1050" b="1">
                          <a:solidFill>
                            <a:srgbClr val="FFFFFF"/>
                          </a:solidFill>
                          <a:latin typeface="Calibri"/>
                        </a:rPr>
                        <a:t>Owns</a:t>
                      </a:r>
                    </a:p>
                  </a:txBody>
                  <a:tcPr marL="82296" marR="64008" marT="32004" marB="32004" anchor="ctr">
                    <a:solidFill>
                      <a:srgbClr val="A51C30"/>
                    </a:solidFill>
                  </a:tcPr>
                </a:tc>
                <a:tc>
                  <a:txBody>
                    <a:bodyPr wrap="square"/>
                    <a:lstStyle/>
                    <a:p>
                      <a:pPr algn="l"/>
                      <a:r>
                        <a:rPr sz="1050" b="1">
                          <a:solidFill>
                            <a:srgbClr val="FFFFFF"/>
                          </a:solidFill>
                          <a:latin typeface="Calibri"/>
                        </a:rPr>
                        <a:t>Does NOT own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Core domain</a:t>
                      </a:r>
                    </a:p>
                  </a:txBody>
                  <a:tcPr marL="82296" marR="64008" marT="32004" marB="32004" anchor="ctr">
                    <a:solidFill>
                      <a:srgbClr val="FFFFFF"/>
                    </a:solidFill>
                  </a:tcPr>
                </a:tc>
                <a:tc>
                  <a:txBody>
                    <a:bodyPr wrap="square"/>
                    <a:lstStyle/>
                    <a:p>
                      <a:pPr algn="l"/>
                      <a:r>
                        <a:rPr sz="1000" b="0">
                          <a:solidFill>
                            <a:srgbClr val="1C1C1E"/>
                          </a:solidFill>
                          <a:latin typeface="Calibri"/>
                        </a:rPr>
                        <a:t>The algebra: kernels, contracts, schema lattice, probe equivalence</a:t>
                      </a:r>
                    </a:p>
                  </a:txBody>
                  <a:tcPr marL="82296" marR="64008" marT="32004" marB="32004" anchor="ctr">
                    <a:solidFill>
                      <a:srgbClr val="FFFFFF"/>
                    </a:solidFill>
                  </a:tcPr>
                </a:tc>
                <a:tc>
                  <a:txBody>
                    <a:bodyPr wrap="square"/>
                    <a:lstStyle/>
                    <a:p>
                      <a:pPr algn="l"/>
                      <a:r>
                        <a:rPr sz="1000" b="0">
                          <a:solidFill>
                            <a:srgbClr val="1C1C1E"/>
                          </a:solidFill>
                          <a:latin typeface="Calibri"/>
                        </a:rPr>
                        <a:t>Persistence, HTTP, orchestration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Registry</a:t>
                      </a:r>
                    </a:p>
                  </a:txBody>
                  <a:tcPr marL="82296" marR="64008" marT="32004" marB="32004" anchor="ctr">
                    <a:solidFill>
                      <a:srgbClr val="F6F3EF"/>
                    </a:solidFill>
                  </a:tcPr>
                </a:tc>
                <a:tc>
                  <a:txBody>
                    <a:bodyPr wrap="square"/>
                    <a:lstStyle/>
                    <a:p>
                      <a:pPr algn="l"/>
                      <a:r>
                        <a:rPr sz="1000" b="0">
                          <a:solidFill>
                            <a:srgbClr val="1C1C1E"/>
                          </a:solidFill>
                          <a:latin typeface="Calibri"/>
                        </a:rPr>
                        <a:t>Models, versions, artifacts, aliases, fibres, introspection</a:t>
                      </a:r>
                    </a:p>
                  </a:txBody>
                  <a:tcPr marL="82296" marR="64008" marT="32004" marB="32004" anchor="ctr">
                    <a:solidFill>
                      <a:srgbClr val="F6F3EF"/>
                    </a:solidFill>
                  </a:tcPr>
                </a:tc>
                <a:tc>
                  <a:txBody>
                    <a:bodyPr wrap="square"/>
                    <a:lstStyle/>
                    <a:p>
                      <a:pPr algn="l"/>
                      <a:r>
                        <a:rPr sz="1000" b="0">
                          <a:solidFill>
                            <a:srgbClr val="1C1C1E"/>
                          </a:solidFill>
                          <a:latin typeface="Calibri"/>
                        </a:rPr>
                        <a:t>Whether a version may be promoted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engine</a:t>
                      </a:r>
                    </a:p>
                  </a:txBody>
                  <a:tcPr marL="82296" marR="64008" marT="32004" marB="32004" anchor="ctr">
                    <a:solidFill>
                      <a:srgbClr val="FFFFFF"/>
                    </a:solidFill>
                  </a:tcPr>
                </a:tc>
                <a:tc>
                  <a:txBody>
                    <a:bodyPr wrap="square"/>
                    <a:lstStyle/>
                    <a:p>
                      <a:pPr algn="l"/>
                      <a:r>
                        <a:rPr sz="1000" b="0">
                          <a:solidFill>
                            <a:srgbClr val="1C1C1E"/>
                          </a:solidFill>
                          <a:latin typeface="Calibri"/>
                        </a:rPr>
                        <a:t>Append chain, semiring evaluation, gluing</a:t>
                      </a:r>
                    </a:p>
                  </a:txBody>
                  <a:tcPr marL="82296" marR="64008" marT="32004" marB="32004" anchor="ctr">
                    <a:solidFill>
                      <a:srgbClr val="FFFFFF"/>
                    </a:solidFill>
                  </a:tcPr>
                </a:tc>
                <a:tc>
                  <a:txBody>
                    <a:bodyPr wrap="square"/>
                    <a:lstStyle/>
                    <a:p>
                      <a:pPr algn="l"/>
                      <a:r>
                        <a:rPr sz="1000" b="0">
                          <a:solidFill>
                            <a:srgbClr val="1C1C1E"/>
                          </a:solidFill>
                          <a:latin typeface="Calibri"/>
                        </a:rPr>
                        <a:t>What evidence means for a gate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 &amp; tiering</a:t>
                      </a:r>
                    </a:p>
                  </a:txBody>
                  <a:tcPr marL="82296" marR="64008" marT="32004" marB="32004" anchor="ctr">
                    <a:solidFill>
                      <a:srgbClr val="F6F3EF"/>
                    </a:solidFill>
                  </a:tcPr>
                </a:tc>
                <a:tc>
                  <a:txBody>
                    <a:bodyPr wrap="square"/>
                    <a:lstStyle/>
                    <a:p>
                      <a:pPr algn="l"/>
                      <a:r>
                        <a:rPr sz="1000" b="0">
                          <a:solidFill>
                            <a:srgbClr val="1C1C1E"/>
                          </a:solidFill>
                          <a:latin typeface="Calibri"/>
                        </a:rPr>
                        <a:t>Lattices, τ, control adequacy, derivation traces</a:t>
                      </a:r>
                    </a:p>
                  </a:txBody>
                  <a:tcPr marL="82296" marR="64008" marT="32004" marB="32004" anchor="ctr">
                    <a:solidFill>
                      <a:srgbClr val="F6F3EF"/>
                    </a:solidFill>
                  </a:tcPr>
                </a:tc>
                <a:tc>
                  <a:txBody>
                    <a:bodyPr wrap="square"/>
                    <a:lstStyle/>
                    <a:p>
                      <a:pPr algn="l"/>
                      <a:r>
                        <a:rPr sz="1000" b="0">
                          <a:solidFill>
                            <a:srgbClr val="1C1C1E"/>
                          </a:solidFill>
                          <a:latin typeface="Calibri"/>
                        </a:rPr>
                        <a:t>Overriding a tier — that is workflow</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Regimes &amp; policy</a:t>
                      </a:r>
                    </a:p>
                  </a:txBody>
                  <a:tcPr marL="82296" marR="64008" marT="32004" marB="32004" anchor="ctr">
                    <a:solidFill>
                      <a:srgbClr val="FFFFFF"/>
                    </a:solidFill>
                  </a:tcPr>
                </a:tc>
                <a:tc>
                  <a:txBody>
                    <a:bodyPr wrap="square"/>
                    <a:lstStyle/>
                    <a:p>
                      <a:pPr algn="l"/>
                      <a:r>
                        <a:rPr sz="1000" b="0">
                          <a:solidFill>
                            <a:srgbClr val="1C1C1E"/>
                          </a:solidFill>
                          <a:latin typeface="Calibri"/>
                        </a:rPr>
                        <a:t>Institutions, comorphisms, Rego gates, MTL obligations</a:t>
                      </a:r>
                    </a:p>
                  </a:txBody>
                  <a:tcPr marL="82296" marR="64008" marT="32004" marB="32004" anchor="ctr">
                    <a:solidFill>
                      <a:srgbClr val="FFFFFF"/>
                    </a:solidFill>
                  </a:tcPr>
                </a:tc>
                <a:tc>
                  <a:txBody>
                    <a:bodyPr wrap="square"/>
                    <a:lstStyle/>
                    <a:p>
                      <a:pPr algn="l"/>
                      <a:r>
                        <a:rPr sz="1000" b="0">
                          <a:solidFill>
                            <a:srgbClr val="1C1C1E"/>
                          </a:solidFill>
                          <a:latin typeface="Calibri"/>
                        </a:rPr>
                        <a:t>Executing a transition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Lifecycle</a:t>
                      </a:r>
                    </a:p>
                  </a:txBody>
                  <a:tcPr marL="82296" marR="64008" marT="32004" marB="32004" anchor="ctr">
                    <a:solidFill>
                      <a:srgbClr val="F6F3EF"/>
                    </a:solidFill>
                  </a:tcPr>
                </a:tc>
                <a:tc>
                  <a:txBody>
                    <a:bodyPr wrap="square"/>
                    <a:lstStyle/>
                    <a:p>
                      <a:pPr algn="l"/>
                      <a:r>
                        <a:rPr sz="1000" b="0">
                          <a:solidFill>
                            <a:srgbClr val="1C1C1E"/>
                          </a:solidFill>
                          <a:latin typeface="Calibri"/>
                        </a:rPr>
                        <a:t>State machines, transitions, approvals, segregation of duties</a:t>
                      </a:r>
                    </a:p>
                  </a:txBody>
                  <a:tcPr marL="82296" marR="64008" marT="32004" marB="32004" anchor="ctr">
                    <a:solidFill>
                      <a:srgbClr val="F6F3EF"/>
                    </a:solidFill>
                  </a:tcPr>
                </a:tc>
                <a:tc>
                  <a:txBody>
                    <a:bodyPr wrap="square"/>
                    <a:lstStyle/>
                    <a:p>
                      <a:pPr algn="l"/>
                      <a:r>
                        <a:rPr sz="1000" b="0">
                          <a:solidFill>
                            <a:srgbClr val="1C1C1E"/>
                          </a:solidFill>
                          <a:latin typeface="Calibri"/>
                        </a:rPr>
                        <a:t>Guard content — that is policy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Plans, test execution, findings, remediation</a:t>
                      </a:r>
                    </a:p>
                  </a:txBody>
                  <a:tcPr marL="82296" marR="64008" marT="32004" marB="32004" anchor="ctr">
                    <a:solidFill>
                      <a:srgbClr val="FFFFFF"/>
                    </a:solidFill>
                  </a:tcPr>
                </a:tc>
                <a:tc>
                  <a:txBody>
                    <a:bodyPr wrap="square"/>
                    <a:lstStyle/>
                    <a:p>
                      <a:pPr algn="l"/>
                      <a:r>
                        <a:rPr sz="1000" b="0">
                          <a:solidFill>
                            <a:srgbClr val="1C1C1E"/>
                          </a:solidFill>
                          <a:latin typeface="Calibri"/>
                        </a:rPr>
                        <a:t>Computing metrics at scale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platform</a:t>
                      </a:r>
                    </a:p>
                  </a:txBody>
                  <a:tcPr marL="82296" marR="64008" marT="32004" marB="32004" anchor="ctr">
                    <a:solidFill>
                      <a:srgbClr val="F6F3EF"/>
                    </a:solidFill>
                  </a:tcPr>
                </a:tc>
                <a:tc>
                  <a:txBody>
                    <a:bodyPr wrap="square"/>
                    <a:lstStyle/>
                    <a:p>
                      <a:pPr algn="l"/>
                      <a:r>
                        <a:rPr sz="1000" b="0">
                          <a:solidFill>
                            <a:srgbClr val="1C1C1E"/>
                          </a:solidFill>
                          <a:latin typeface="Calibri"/>
                        </a:rPr>
                        <a:t>Registry, materialisation, PIT, contracts, skew</a:t>
                      </a:r>
                    </a:p>
                  </a:txBody>
                  <a:tcPr marL="82296" marR="64008" marT="32004" marB="32004" anchor="ctr">
                    <a:solidFill>
                      <a:srgbClr val="F6F3EF"/>
                    </a:solidFill>
                  </a:tcPr>
                </a:tc>
                <a:tc>
                  <a:txBody>
                    <a:bodyPr wrap="square"/>
                    <a:lstStyle/>
                    <a:p>
                      <a:pPr algn="l"/>
                      <a:r>
                        <a:rPr sz="1000" b="0">
                          <a:solidFill>
                            <a:srgbClr val="1C1C1E"/>
                          </a:solidFill>
                          <a:latin typeface="Calibri"/>
                        </a:rPr>
                        <a:t>Model semantics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 definitions, evaluation, breaches, health</a:t>
                      </a:r>
                    </a:p>
                  </a:txBody>
                  <a:tcPr marL="82296" marR="64008" marT="32004" marB="32004" anchor="ctr">
                    <a:solidFill>
                      <a:srgbClr val="FFFFFF"/>
                    </a:solidFill>
                  </a:tcPr>
                </a:tc>
                <a:tc>
                  <a:txBody>
                    <a:bodyPr wrap="square"/>
                    <a:lstStyle/>
                    <a:p>
                      <a:pPr algn="l"/>
                      <a:r>
                        <a:rPr sz="1000" b="0">
                          <a:solidFill>
                            <a:srgbClr val="1C1C1E"/>
                          </a:solidFill>
                          <a:latin typeface="Calibri"/>
                        </a:rPr>
                        <a:t>Deciding consequences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Hook service</a:t>
                      </a:r>
                    </a:p>
                  </a:txBody>
                  <a:tcPr marL="82296" marR="64008" marT="32004" marB="32004" anchor="ctr">
                    <a:solidFill>
                      <a:srgbClr val="F6F3EF"/>
                    </a:solidFill>
                  </a:tcPr>
                </a:tc>
                <a:tc>
                  <a:txBody>
                    <a:bodyPr wrap="square"/>
                    <a:lstStyle/>
                    <a:p>
                      <a:pPr algn="l"/>
                      <a:r>
                        <a:rPr sz="1000" b="0">
                          <a:solidFill>
                            <a:srgbClr val="1C1C1E"/>
                          </a:solidFill>
                          <a:latin typeface="Calibri"/>
                        </a:rPr>
                        <a:t>Resolution, signing, revocation, telemetry ingest</a:t>
                      </a:r>
                    </a:p>
                  </a:txBody>
                  <a:tcPr marL="82296" marR="64008" marT="32004" marB="32004" anchor="ctr">
                    <a:solidFill>
                      <a:srgbClr val="F6F3EF"/>
                    </a:solidFill>
                  </a:tcPr>
                </a:tc>
                <a:tc>
                  <a:txBody>
                    <a:bodyPr wrap="square"/>
                    <a:lstStyle/>
                    <a:p>
                      <a:pPr algn="l"/>
                      <a:r>
                        <a:rPr sz="1000" b="0">
                          <a:solidFill>
                            <a:srgbClr val="1C1C1E"/>
                          </a:solidFill>
                          <a:latin typeface="Calibri"/>
                        </a:rPr>
                        <a:t>Any governance decision — it reads a projection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Machine assistance</a:t>
                      </a:r>
                    </a:p>
                  </a:txBody>
                  <a:tcPr marL="82296" marR="64008" marT="32004" marB="32004" anchor="ctr">
                    <a:solidFill>
                      <a:srgbClr val="FFFFFF"/>
                    </a:solidFill>
                  </a:tcPr>
                </a:tc>
                <a:tc>
                  <a:txBody>
                    <a:bodyPr wrap="square"/>
                    <a:lstStyle/>
                    <a:p>
                      <a:pPr algn="l"/>
                      <a:r>
                        <a:rPr sz="1000" b="0">
                          <a:solidFill>
                            <a:srgbClr val="1C1C1E"/>
                          </a:solidFill>
                          <a:latin typeface="Calibri"/>
                        </a:rPr>
                        <a:t>Capabilities, grounding, citation checking, oracles</a:t>
                      </a:r>
                    </a:p>
                  </a:txBody>
                  <a:tcPr marL="82296" marR="64008" marT="32004" marB="32004" anchor="ctr">
                    <a:solidFill>
                      <a:srgbClr val="FFFFFF"/>
                    </a:solidFill>
                  </a:tcPr>
                </a:tc>
                <a:tc>
                  <a:txBody>
                    <a:bodyPr wrap="square"/>
                    <a:lstStyle/>
                    <a:p>
                      <a:pPr algn="l"/>
                      <a:r>
                        <a:rPr sz="1000" b="0">
                          <a:solidFill>
                            <a:srgbClr val="1C1C1E"/>
                          </a:solidFill>
                          <a:latin typeface="Calibri"/>
                        </a:rPr>
                        <a:t>Any governance state transition</a:t>
                      </a:r>
                    </a:p>
                  </a:txBody>
                  <a:tcPr marL="82296" marR="64008" marT="32004" marB="32004"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BINDS EVERY COMPONENT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design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Overview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sp>
        <p:nvSpPr>
          <p:cNvPr id="10" name="Rectangle 9"/>
          <p:cNvSpPr/>
          <p:nvPr/>
        </p:nvSpPr>
        <p:spPr>
          <a:xfrm>
            <a:off x="777240"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DR-1</a:t>
            </a:r>
          </a:p>
        </p:txBody>
      </p:sp>
      <p:sp>
        <p:nvSpPr>
          <p:cNvPr id="13" name="TextBox 12"/>
          <p:cNvSpPr txBox="1"/>
          <p:nvPr/>
        </p:nvSpPr>
        <p:spPr>
          <a:xfrm>
            <a:off x="99669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Ports, not internals</a:t>
            </a:r>
          </a:p>
        </p:txBody>
      </p:sp>
      <p:sp>
        <p:nvSpPr>
          <p:cNvPr id="14" name="TextBox 13"/>
          <p:cNvSpPr txBox="1"/>
          <p:nvPr/>
        </p:nvSpPr>
        <p:spPr>
          <a:xfrm>
            <a:off x="996695" y="2350008"/>
            <a:ext cx="2042083" cy="786383"/>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component exposes a Protocol and is consumed only through it. No cross-component imports of internals.</a:t>
            </a:r>
          </a:p>
        </p:txBody>
      </p:sp>
      <p:sp>
        <p:nvSpPr>
          <p:cNvPr id="15" name="Rectangle 14"/>
          <p:cNvSpPr/>
          <p:nvPr/>
        </p:nvSpPr>
        <p:spPr>
          <a:xfrm>
            <a:off x="3495979"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9597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1543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DR-2</a:t>
            </a:r>
          </a:p>
        </p:txBody>
      </p:sp>
      <p:sp>
        <p:nvSpPr>
          <p:cNvPr id="18" name="TextBox 17"/>
          <p:cNvSpPr txBox="1"/>
          <p:nvPr/>
        </p:nvSpPr>
        <p:spPr>
          <a:xfrm>
            <a:off x="371543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Domain is pure</a:t>
            </a:r>
          </a:p>
        </p:txBody>
      </p:sp>
      <p:sp>
        <p:nvSpPr>
          <p:cNvPr id="19" name="TextBox 18"/>
          <p:cNvSpPr txBox="1"/>
          <p:nvPr/>
        </p:nvSpPr>
        <p:spPr>
          <a:xfrm>
            <a:off x="3715435" y="2157984"/>
            <a:ext cx="2042083"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Domain logic is synchronous and side-effect free. I/O lives in adapters at the component edge.</a:t>
            </a:r>
          </a:p>
        </p:txBody>
      </p:sp>
      <p:sp>
        <p:nvSpPr>
          <p:cNvPr id="20" name="Rectangle 19"/>
          <p:cNvSpPr/>
          <p:nvPr/>
        </p:nvSpPr>
        <p:spPr>
          <a:xfrm>
            <a:off x="6214719"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21471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3417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DR-3</a:t>
            </a:r>
          </a:p>
        </p:txBody>
      </p:sp>
      <p:sp>
        <p:nvSpPr>
          <p:cNvPr id="23" name="TextBox 22"/>
          <p:cNvSpPr txBox="1"/>
          <p:nvPr/>
        </p:nvSpPr>
        <p:spPr>
          <a:xfrm>
            <a:off x="643417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Idempotent writes</a:t>
            </a:r>
          </a:p>
        </p:txBody>
      </p:sp>
      <p:sp>
        <p:nvSpPr>
          <p:cNvPr id="24" name="TextBox 23"/>
          <p:cNvSpPr txBox="1"/>
          <p:nvPr/>
        </p:nvSpPr>
        <p:spPr>
          <a:xfrm>
            <a:off x="6434175" y="2157984"/>
            <a:ext cx="2042083"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write path is idempotent given an Idempotency-Key or a natural key.</a:t>
            </a:r>
          </a:p>
        </p:txBody>
      </p:sp>
      <p:sp>
        <p:nvSpPr>
          <p:cNvPr id="25" name="Rectangle 24"/>
          <p:cNvSpPr/>
          <p:nvPr/>
        </p:nvSpPr>
        <p:spPr>
          <a:xfrm>
            <a:off x="8933459"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3345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5291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DR-4</a:t>
            </a:r>
          </a:p>
        </p:txBody>
      </p:sp>
      <p:sp>
        <p:nvSpPr>
          <p:cNvPr id="28" name="TextBox 27"/>
          <p:cNvSpPr txBox="1"/>
          <p:nvPr/>
        </p:nvSpPr>
        <p:spPr>
          <a:xfrm>
            <a:off x="915291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Derivations are written</a:t>
            </a:r>
          </a:p>
        </p:txBody>
      </p:sp>
      <p:sp>
        <p:nvSpPr>
          <p:cNvPr id="29" name="TextBox 28"/>
          <p:cNvSpPr txBox="1"/>
          <p:nvPr/>
        </p:nvSpPr>
        <p:spPr>
          <a:xfrm>
            <a:off x="9152915" y="2350008"/>
            <a:ext cx="2042083" cy="786383"/>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derived value is persisted with its derivation record, in the same transaction.</a:t>
            </a:r>
          </a:p>
        </p:txBody>
      </p:sp>
      <p:sp>
        <p:nvSpPr>
          <p:cNvPr id="30" name="Rectangle 29"/>
          <p:cNvSpPr/>
          <p:nvPr/>
        </p:nvSpPr>
        <p:spPr>
          <a:xfrm>
            <a:off x="777240" y="350215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350215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996695" y="372160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DR-5</a:t>
            </a:r>
          </a:p>
        </p:txBody>
      </p:sp>
      <p:sp>
        <p:nvSpPr>
          <p:cNvPr id="33" name="TextBox 32"/>
          <p:cNvSpPr txBox="1"/>
          <p:nvPr/>
        </p:nvSpPr>
        <p:spPr>
          <a:xfrm>
            <a:off x="996695" y="399592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One transaction owner</a:t>
            </a:r>
          </a:p>
        </p:txBody>
      </p:sp>
      <p:sp>
        <p:nvSpPr>
          <p:cNvPr id="34" name="TextBox 33"/>
          <p:cNvSpPr txBox="1"/>
          <p:nvPr/>
        </p:nvSpPr>
        <p:spPr>
          <a:xfrm>
            <a:off x="996695" y="4498848"/>
            <a:ext cx="2042083"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Nothing outside platform/db opens a transaction. Components receive a UnitOfWork.</a:t>
            </a:r>
          </a:p>
        </p:txBody>
      </p:sp>
      <p:sp>
        <p:nvSpPr>
          <p:cNvPr id="35" name="Rectangle 34"/>
          <p:cNvSpPr/>
          <p:nvPr/>
        </p:nvSpPr>
        <p:spPr>
          <a:xfrm>
            <a:off x="3495979" y="350215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3495979" y="350215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3715435" y="372160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DR-6</a:t>
            </a:r>
          </a:p>
        </p:txBody>
      </p:sp>
      <p:sp>
        <p:nvSpPr>
          <p:cNvPr id="38" name="TextBox 37"/>
          <p:cNvSpPr txBox="1"/>
          <p:nvPr/>
        </p:nvSpPr>
        <p:spPr>
          <a:xfrm>
            <a:off x="3715435" y="399592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 bare failures</a:t>
            </a:r>
          </a:p>
        </p:txBody>
      </p:sp>
      <p:sp>
        <p:nvSpPr>
          <p:cNvPr id="39" name="TextBox 38"/>
          <p:cNvSpPr txBox="1"/>
          <p:nvPr/>
        </p:nvSpPr>
        <p:spPr>
          <a:xfrm>
            <a:off x="3715435" y="4306824"/>
            <a:ext cx="2042083"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externally visible failure maps to the error taxonomy. Never an unmapped 500.</a:t>
            </a:r>
          </a:p>
        </p:txBody>
      </p:sp>
      <p:sp>
        <p:nvSpPr>
          <p:cNvPr id="40" name="Rectangle 39"/>
          <p:cNvSpPr/>
          <p:nvPr/>
        </p:nvSpPr>
        <p:spPr>
          <a:xfrm>
            <a:off x="6214719" y="350215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6214719" y="350215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6434175" y="372160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DR-7</a:t>
            </a:r>
          </a:p>
        </p:txBody>
      </p:sp>
      <p:sp>
        <p:nvSpPr>
          <p:cNvPr id="43" name="TextBox 42"/>
          <p:cNvSpPr txBox="1"/>
          <p:nvPr/>
        </p:nvSpPr>
        <p:spPr>
          <a:xfrm>
            <a:off x="6434175" y="399592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Blocking must explain</a:t>
            </a:r>
          </a:p>
        </p:txBody>
      </p:sp>
      <p:sp>
        <p:nvSpPr>
          <p:cNvPr id="44" name="TextBox 43"/>
          <p:cNvSpPr txBox="1"/>
          <p:nvPr/>
        </p:nvSpPr>
        <p:spPr>
          <a:xfrm>
            <a:off x="6434175" y="4498848"/>
            <a:ext cx="2042083"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Anything that blocks a user returns why, and a link to remediate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DEPLOYABLE UNITS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Process model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Overview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a:t>
            </a:r>
          </a:p>
        </p:txBody>
      </p:sp>
      <p:graphicFrame>
        <p:nvGraphicFramePr>
          <p:cNvPr id="10" name="Table 9"/>
          <p:cNvGraphicFramePr>
            <a:graphicFrameLocks noGrp="1"/>
          </p:cNvGraphicFramePr>
          <p:nvPr/>
        </p:nvGraphicFramePr>
        <p:xfrm>
          <a:off x="777240" y="1353312"/>
          <a:ext cx="10637214" cy="2998570"/>
        </p:xfrm>
        <a:graphic>
          <a:graphicData uri="http://schemas.openxmlformats.org/drawingml/2006/table">
            <a:tbl>
              <a:tblPr firstRow="1">
                <a:tableStyleId>{5C22544A-7EE6-4342-B048-85BDC9FD1C3A}</a:tableStyleId>
              </a:tblPr>
              <a:tblGrid>
                <a:gridCol w="1918186"/>
                <a:gridCol w="2005376"/>
                <a:gridCol w="4533895"/>
                <a:gridCol w="2179757"/>
              </a:tblGrid>
              <a:tr h="333781">
                <a:tc>
                  <a:txBody>
                    <a:bodyPr wrap="square"/>
                    <a:lstStyle/>
                    <a:p>
                      <a:pPr algn="l"/>
                      <a:r>
                        <a:rPr sz="1100" b="1">
                          <a:solidFill>
                            <a:srgbClr val="FFFFFF"/>
                          </a:solidFill>
                          <a:latin typeface="Calibri"/>
                        </a:rPr>
                        <a:t>Unit</a:t>
                      </a:r>
                    </a:p>
                  </a:txBody>
                  <a:tcPr marL="82296" marR="64008" marT="32004" marB="32004" anchor="ctr">
                    <a:solidFill>
                      <a:srgbClr val="A51C30"/>
                    </a:solidFill>
                  </a:tcPr>
                </a:tc>
                <a:tc>
                  <a:txBody>
                    <a:bodyPr wrap="square"/>
                    <a:lstStyle/>
                    <a:p>
                      <a:pPr algn="l"/>
                      <a:r>
                        <a:rPr sz="1100" b="1">
                          <a:solidFill>
                            <a:srgbClr val="FFFFFF"/>
                          </a:solidFill>
                          <a:latin typeface="Calibri"/>
                        </a:rPr>
                        <a:t>Scaling</a:t>
                      </a:r>
                    </a:p>
                  </a:txBody>
                  <a:tcPr marL="82296" marR="64008" marT="32004" marB="32004" anchor="ctr">
                    <a:solidFill>
                      <a:srgbClr val="A51C30"/>
                    </a:solidFill>
                  </a:tcPr>
                </a:tc>
                <a:tc>
                  <a:txBody>
                    <a:bodyPr wrap="square"/>
                    <a:lstStyle/>
                    <a:p>
                      <a:pPr algn="l"/>
                      <a:r>
                        <a:rPr sz="1100" b="1">
                          <a:solidFill>
                            <a:srgbClr val="FFFFFF"/>
                          </a:solidFill>
                          <a:latin typeface="Calibri"/>
                        </a:rPr>
                        <a:t>Why it is separate</a:t>
                      </a:r>
                    </a:p>
                  </a:txBody>
                  <a:tcPr marL="82296" marR="64008" marT="32004" marB="32004" anchor="ctr">
                    <a:solidFill>
                      <a:srgbClr val="A51C30"/>
                    </a:solidFill>
                  </a:tcPr>
                </a:tc>
                <a:tc>
                  <a:txBody>
                    <a:bodyPr wrap="square"/>
                    <a:lstStyle/>
                    <a:p>
                      <a:pPr algn="l"/>
                      <a:r>
                        <a:rPr sz="1100" b="1">
                          <a:solidFill>
                            <a:srgbClr val="FFFFFF"/>
                          </a:solidFill>
                          <a:latin typeface="Calibri"/>
                        </a:rPr>
                        <a:t>Fails independently?</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maya-web</a:t>
                      </a:r>
                    </a:p>
                  </a:txBody>
                  <a:tcPr marL="82296" marR="64008" marT="32004" marB="32004" anchor="ctr">
                    <a:solidFill>
                      <a:srgbClr val="FFFFFF"/>
                    </a:solidFill>
                  </a:tcPr>
                </a:tc>
                <a:tc>
                  <a:txBody>
                    <a:bodyPr wrap="square"/>
                    <a:lstStyle/>
                    <a:p>
                      <a:pPr algn="l"/>
                      <a:r>
                        <a:rPr sz="1050" b="0">
                          <a:solidFill>
                            <a:srgbClr val="1C1C1E"/>
                          </a:solidFill>
                          <a:latin typeface="Calibri"/>
                        </a:rPr>
                        <a:t>Static, CDN + 2 pods</a:t>
                      </a:r>
                    </a:p>
                  </a:txBody>
                  <a:tcPr marL="82296" marR="64008" marT="32004" marB="32004" anchor="ctr">
                    <a:solidFill>
                      <a:srgbClr val="FFFFFF"/>
                    </a:solidFill>
                  </a:tcPr>
                </a:tc>
                <a:tc>
                  <a:txBody>
                    <a:bodyPr wrap="square"/>
                    <a:lstStyle/>
                    <a:p>
                      <a:pPr algn="l"/>
                      <a:r>
                        <a:rPr sz="1050" b="0">
                          <a:solidFill>
                            <a:srgbClr val="1C1C1E"/>
                          </a:solidFill>
                          <a:latin typeface="Calibri"/>
                        </a:rPr>
                        <a:t>Separate process and pipeline (ADR-011); the API is the only interface</a:t>
                      </a:r>
                    </a:p>
                  </a:txBody>
                  <a:tcPr marL="82296" marR="64008" marT="32004" marB="32004" anchor="ctr">
                    <a:solidFill>
                      <a:srgbClr val="FFFFFF"/>
                    </a:solidFill>
                  </a:tcPr>
                </a:tc>
                <a:tc>
                  <a:txBody>
                    <a:bodyPr wrap="square"/>
                    <a:lstStyle/>
                    <a:p>
                      <a:pPr algn="l"/>
                      <a:r>
                        <a:rPr sz="1050" b="0">
                          <a:solidFill>
                            <a:srgbClr val="1C1C1E"/>
                          </a:solidFill>
                          <a:latin typeface="Calibri"/>
                        </a:rPr>
                        <a:t>Yes — stops human review only</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maya-api</a:t>
                      </a:r>
                    </a:p>
                  </a:txBody>
                  <a:tcPr marL="82296" marR="64008" marT="32004" marB="32004" anchor="ctr">
                    <a:solidFill>
                      <a:srgbClr val="F6F3EF"/>
                    </a:solidFill>
                  </a:tcPr>
                </a:tc>
                <a:tc>
                  <a:txBody>
                    <a:bodyPr wrap="square"/>
                    <a:lstStyle/>
                    <a:p>
                      <a:pPr algn="l"/>
                      <a:r>
                        <a:rPr sz="1050" b="0">
                          <a:solidFill>
                            <a:srgbClr val="1C1C1E"/>
                          </a:solidFill>
                          <a:latin typeface="Calibri"/>
                        </a:rPr>
                        <a:t>3–10 pods, CPU-bound</a:t>
                      </a:r>
                    </a:p>
                  </a:txBody>
                  <a:tcPr marL="82296" marR="64008" marT="32004" marB="32004" anchor="ctr">
                    <a:solidFill>
                      <a:srgbClr val="F6F3EF"/>
                    </a:solidFill>
                  </a:tcPr>
                </a:tc>
                <a:tc>
                  <a:txBody>
                    <a:bodyPr wrap="square"/>
                    <a:lstStyle/>
                    <a:p>
                      <a:pPr algn="l"/>
                      <a:r>
                        <a:rPr sz="1050" b="0">
                          <a:solidFill>
                            <a:srgbClr val="1C1C1E"/>
                          </a:solidFill>
                          <a:latin typeface="Calibri"/>
                        </a:rPr>
                        <a:t>The bulk of the domain; deploys together for transactional integrity</a:t>
                      </a:r>
                    </a:p>
                  </a:txBody>
                  <a:tcPr marL="82296" marR="64008" marT="32004" marB="32004" anchor="ctr">
                    <a:solidFill>
                      <a:srgbClr val="F6F3EF"/>
                    </a:solidFill>
                  </a:tcPr>
                </a:tc>
                <a:tc>
                  <a:txBody>
                    <a:bodyPr wrap="square"/>
                    <a:lstStyle/>
                    <a:p>
                      <a:pPr algn="l"/>
                      <a:r>
                        <a:rPr sz="1050" b="0">
                          <a:solidFill>
                            <a:srgbClr val="1C1C1E"/>
                          </a:solidFill>
                          <a:latin typeface="Calibri"/>
                        </a:rPr>
                        <a: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maya-hooks</a:t>
                      </a:r>
                    </a:p>
                  </a:txBody>
                  <a:tcPr marL="82296" marR="64008" marT="32004" marB="32004" anchor="ctr">
                    <a:solidFill>
                      <a:srgbClr val="FFFFFF"/>
                    </a:solidFill>
                  </a:tcPr>
                </a:tc>
                <a:tc>
                  <a:txBody>
                    <a:bodyPr wrap="square"/>
                    <a:lstStyle/>
                    <a:p>
                      <a:pPr algn="l"/>
                      <a:r>
                        <a:rPr sz="1050" b="0">
                          <a:solidFill>
                            <a:srgbClr val="1C1C1E"/>
                          </a:solidFill>
                          <a:latin typeface="Calibri"/>
                        </a:rPr>
                        <a:t>10–100 pods, regional</a:t>
                      </a:r>
                    </a:p>
                  </a:txBody>
                  <a:tcPr marL="82296" marR="64008" marT="32004" marB="32004" anchor="ctr">
                    <a:solidFill>
                      <a:srgbClr val="FFFFFF"/>
                    </a:solidFill>
                  </a:tcPr>
                </a:tc>
                <a:tc>
                  <a:txBody>
                    <a:bodyPr wrap="square"/>
                    <a:lstStyle/>
                    <a:p>
                      <a:pPr algn="l"/>
                      <a:r>
                        <a:rPr sz="1050" b="0">
                          <a:solidFill>
                            <a:srgbClr val="1C1C1E"/>
                          </a:solidFill>
                          <a:latin typeface="Calibri"/>
                        </a:rPr>
                        <a:t>10× tighter SLA; reads only the hook projection; survives control-plane outage</a:t>
                      </a:r>
                    </a:p>
                  </a:txBody>
                  <a:tcPr marL="82296" marR="64008" marT="32004" marB="32004" anchor="ctr">
                    <a:solidFill>
                      <a:srgbClr val="FFFFFF"/>
                    </a:solidFill>
                  </a:tcPr>
                </a:tc>
                <a:tc>
                  <a:txBody>
                    <a:bodyPr wrap="square"/>
                    <a:lstStyle/>
                    <a:p>
                      <a:pPr algn="l"/>
                      <a:r>
                        <a:rPr sz="1050" b="0">
                          <a:solidFill>
                            <a:srgbClr val="1C1C1E"/>
                          </a:solidFill>
                          <a:latin typeface="Calibri"/>
                        </a:rPr>
                        <a:t>Yes — by design</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maya-worker</a:t>
                      </a:r>
                    </a:p>
                  </a:txBody>
                  <a:tcPr marL="82296" marR="64008" marT="32004" marB="32004" anchor="ctr">
                    <a:solidFill>
                      <a:srgbClr val="F6F3EF"/>
                    </a:solidFill>
                  </a:tcPr>
                </a:tc>
                <a:tc>
                  <a:txBody>
                    <a:bodyPr wrap="square"/>
                    <a:lstStyle/>
                    <a:p>
                      <a:pPr algn="l"/>
                      <a:r>
                        <a:rPr sz="1050" b="0">
                          <a:solidFill>
                            <a:srgbClr val="1C1C1E"/>
                          </a:solidFill>
                          <a:latin typeface="Calibri"/>
                        </a:rPr>
                        <a:t>Queue-depth autoscaled</a:t>
                      </a:r>
                    </a:p>
                  </a:txBody>
                  <a:tcPr marL="82296" marR="64008" marT="32004" marB="32004" anchor="ctr">
                    <a:solidFill>
                      <a:srgbClr val="F6F3EF"/>
                    </a:solidFill>
                  </a:tcPr>
                </a:tc>
                <a:tc>
                  <a:txBody>
                    <a:bodyPr wrap="square"/>
                    <a:lstStyle/>
                    <a:p>
                      <a:pPr algn="l"/>
                      <a:r>
                        <a:rPr sz="1050" b="0">
                          <a:solidFill>
                            <a:srgbClr val="1C1C1E"/>
                          </a:solidFill>
                          <a:latin typeface="Calibri"/>
                        </a:rPr>
                        <a:t>Long-running, retryable, at-least-once</a:t>
                      </a:r>
                    </a:p>
                  </a:txBody>
                  <a:tcPr marL="82296" marR="64008" marT="32004" marB="32004" anchor="ctr">
                    <a:solidFill>
                      <a:srgbClr val="F6F3EF"/>
                    </a:solidFill>
                  </a:tcPr>
                </a:tc>
                <a:tc>
                  <a:txBody>
                    <a:bodyPr wrap="square"/>
                    <a:lstStyle/>
                    <a:p>
                      <a:pPr algn="l"/>
                      <a:r>
                        <a:rPr sz="1050" b="0">
                          <a:solidFill>
                            <a:srgbClr val="1C1C1E"/>
                          </a:solidFill>
                          <a:latin typeface="Calibri"/>
                        </a:rPr>
                        <a:t>Yes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maya-sandbox</a:t>
                      </a:r>
                    </a:p>
                  </a:txBody>
                  <a:tcPr marL="82296" marR="64008" marT="32004" marB="32004" anchor="ctr">
                    <a:solidFill>
                      <a:srgbClr val="FFFFFF"/>
                    </a:solidFill>
                  </a:tcPr>
                </a:tc>
                <a:tc>
                  <a:txBody>
                    <a:bodyPr wrap="square"/>
                    <a:lstStyle/>
                    <a:p>
                      <a:pPr algn="l"/>
                      <a:r>
                        <a:rPr sz="1050" b="0">
                          <a:solidFill>
                            <a:srgbClr val="1C1C1E"/>
                          </a:solidFill>
                          <a:latin typeface="Calibri"/>
                        </a:rPr>
                        <a:t>Job per task, gVisor</a:t>
                      </a:r>
                    </a:p>
                  </a:txBody>
                  <a:tcPr marL="82296" marR="64008" marT="32004" marB="32004" anchor="ctr">
                    <a:solidFill>
                      <a:srgbClr val="FFFFFF"/>
                    </a:solidFill>
                  </a:tcPr>
                </a:tc>
                <a:tc>
                  <a:txBody>
                    <a:bodyPr wrap="square"/>
                    <a:lstStyle/>
                    <a:p>
                      <a:pPr algn="l"/>
                      <a:r>
                        <a:rPr sz="1050" b="0">
                          <a:solidFill>
                            <a:srgbClr val="1C1C1E"/>
                          </a:solidFill>
                          <a:latin typeface="Calibri"/>
                        </a:rPr>
                        <a:t>Never runs untrusted code in-process with the control plane</a:t>
                      </a:r>
                    </a:p>
                  </a:txBody>
                  <a:tcPr marL="82296" marR="64008" marT="32004" marB="32004" anchor="ctr">
                    <a:solidFill>
                      <a:srgbClr val="FFFFFF"/>
                    </a:solidFill>
                  </a:tcPr>
                </a:tc>
                <a:tc>
                  <a:txBody>
                    <a:bodyPr wrap="square"/>
                    <a:lstStyle/>
                    <a:p>
                      <a:pPr algn="l"/>
                      <a:r>
                        <a:rPr sz="1050" b="0">
                          <a:solidFill>
                            <a:srgbClr val="1C1C1E"/>
                          </a:solidFill>
                          <a:latin typeface="Calibri"/>
                        </a:rPr>
                        <a:t>Yes</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Spark / Databricks</a:t>
                      </a:r>
                    </a:p>
                  </a:txBody>
                  <a:tcPr marL="82296" marR="64008" marT="32004" marB="32004" anchor="ctr">
                    <a:solidFill>
                      <a:srgbClr val="F6F3EF"/>
                    </a:solidFill>
                  </a:tcPr>
                </a:tc>
                <a:tc>
                  <a:txBody>
                    <a:bodyPr wrap="square"/>
                    <a:lstStyle/>
                    <a:p>
                      <a:pPr algn="l"/>
                      <a:r>
                        <a:rPr sz="1050" b="0">
                          <a:solidFill>
                            <a:srgbClr val="1C1C1E"/>
                          </a:solidFill>
                          <a:latin typeface="Calibri"/>
                        </a:rPr>
                        <a:t>Cluster-managed</a:t>
                      </a:r>
                    </a:p>
                  </a:txBody>
                  <a:tcPr marL="82296" marR="64008" marT="32004" marB="32004" anchor="ctr">
                    <a:solidFill>
                      <a:srgbClr val="F6F3EF"/>
                    </a:solidFill>
                  </a:tcPr>
                </a:tc>
                <a:tc>
                  <a:txBody>
                    <a:bodyPr wrap="square"/>
                    <a:lstStyle/>
                    <a:p>
                      <a:pPr algn="l"/>
                      <a:r>
                        <a:rPr sz="1050" b="0">
                          <a:solidFill>
                            <a:srgbClr val="1C1C1E"/>
                          </a:solidFill>
                          <a:latin typeface="Calibri"/>
                        </a:rPr>
                        <a:t>Data-plane compute: PIT joins, materialisation, monitoring</a:t>
                      </a:r>
                    </a:p>
                  </a:txBody>
                  <a:tcPr marL="82296" marR="64008" marT="32004" marB="32004" anchor="ctr">
                    <a:solidFill>
                      <a:srgbClr val="F6F3EF"/>
                    </a:solidFill>
                  </a:tcPr>
                </a:tc>
                <a:tc>
                  <a:txBody>
                    <a:bodyPr wrap="square"/>
                    <a:lstStyle/>
                    <a:p>
                      <a:pPr algn="l"/>
                      <a:r>
                        <a:rPr sz="1050" b="0">
                          <a:solidFill>
                            <a:srgbClr val="1C1C1E"/>
                          </a:solidFill>
                          <a:latin typeface="Calibri"/>
                        </a:rPr>
                        <a:t>Yes</a:t>
                      </a:r>
                    </a:p>
                  </a:txBody>
                  <a:tcPr marL="82296" marR="64008" marT="32004" marB="32004" anchor="ctr">
                    <a:solidFill>
                      <a:srgbClr val="F6F3EF"/>
                    </a:solidFill>
                  </a:tcPr>
                </a:tc>
              </a:tr>
            </a:tbl>
          </a:graphicData>
        </a:graphic>
      </p:graphicFrame>
      <p:sp>
        <p:nvSpPr>
          <p:cNvPr id="11" name="Rectangle 10"/>
          <p:cNvSpPr/>
          <p:nvPr/>
        </p:nvSpPr>
        <p:spPr>
          <a:xfrm>
            <a:off x="777240" y="4607915"/>
            <a:ext cx="10637215" cy="8229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07915"/>
            <a:ext cx="41148" cy="8229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4735931"/>
            <a:ext cx="10088575" cy="64008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The one asymmetry. </a:t>
            </a:r>
            <a:r>
              <a:rPr sz="1200" b="0" i="0">
                <a:solidFill>
                  <a:srgbClr val="1C1C1E"/>
                </a:solidFill>
                <a:latin typeface="Calibri"/>
              </a:rPr>
              <a:t>Governance must not become the bank's single point of failure. If the control plane is down, already-authorised production scoring continues; only new issuance and governance changes stop.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a:t>
            </a:r>
          </a:p>
        </p:txBody>
      </p:sp>
      <p:sp>
        <p:nvSpPr>
          <p:cNvPr id="5" name="TextBox 4"/>
          <p:cNvSpPr txBox="1"/>
          <p:nvPr/>
        </p:nvSpPr>
        <p:spPr>
          <a:xfrm>
            <a:off x="1005840" y="2419502"/>
            <a:ext cx="6169584" cy="1188720"/>
          </a:xfrm>
          <a:prstGeom prst="rect">
            <a:avLst/>
          </a:prstGeom>
          <a:noFill/>
        </p:spPr>
        <p:txBody>
          <a:bodyPr wrap="square" lIns="0" rIns="0" tIns="0" bIns="0" anchor="t">
            <a:spAutoFit/>
          </a:bodyPr>
          <a:lstStyle/>
          <a:p>
            <a:pPr algn="l">
              <a:spcBef>
                <a:spcPts val="0"/>
              </a:spcBef>
              <a:spcAft>
                <a:spcPts val="0"/>
              </a:spcAft>
            </a:pPr>
            <a:r>
              <a:rPr sz="3400" b="0" i="0">
                <a:solidFill>
                  <a:srgbClr val="FFFFFF"/>
                </a:solidFill>
                <a:latin typeface="Georgia"/>
              </a:rPr>
              <a:t>Core Domain and Registry</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The algebra in code, and the registry that indexes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model algebra</a:t>
            </a:r>
          </a:p>
          <a:p>
            <a:pPr>
              <a:lnSpc>
                <a:spcPct val="115000"/>
              </a:lnSpc>
              <a:spcBef>
                <a:spcPts val="0"/>
              </a:spcBef>
              <a:spcAft>
                <a:spcPts val="700"/>
              </a:spcAft>
            </a:pPr>
            <a:r>
              <a:rPr sz="1150" b="0" i="0">
                <a:solidFill>
                  <a:srgbClr val="F6E6E9"/>
                </a:solidFill>
                <a:latin typeface="Calibri"/>
              </a:rPr>
              <a:t>Trainability is derived</a:t>
            </a:r>
          </a:p>
          <a:p>
            <a:pPr>
              <a:lnSpc>
                <a:spcPct val="115000"/>
              </a:lnSpc>
              <a:spcBef>
                <a:spcPts val="0"/>
              </a:spcBef>
              <a:spcAft>
                <a:spcPts val="700"/>
              </a:spcAft>
            </a:pPr>
            <a:r>
              <a:rPr sz="1150" b="0" i="0">
                <a:solidFill>
                  <a:srgbClr val="F6E6E9"/>
                </a:solidFill>
                <a:latin typeface="Calibri"/>
              </a:rPr>
              <a:t>Contract algebra</a:t>
            </a:r>
          </a:p>
          <a:p>
            <a:pPr>
              <a:lnSpc>
                <a:spcPct val="115000"/>
              </a:lnSpc>
              <a:spcBef>
                <a:spcPts val="0"/>
              </a:spcBef>
              <a:spcAft>
                <a:spcPts val="700"/>
              </a:spcAft>
            </a:pPr>
            <a:r>
              <a:rPr sz="1150" b="0" i="0">
                <a:solidFill>
                  <a:srgbClr val="F6E6E9"/>
                </a:solidFill>
                <a:latin typeface="Calibri"/>
              </a:rPr>
              <a:t>The fibre registry</a:t>
            </a:r>
          </a:p>
          <a:p>
            <a:pPr>
              <a:lnSpc>
                <a:spcPct val="115000"/>
              </a:lnSpc>
              <a:spcBef>
                <a:spcPts val="0"/>
              </a:spcBef>
              <a:spcAft>
                <a:spcPts val="700"/>
              </a:spcAft>
            </a:pPr>
            <a:r>
              <a:rPr sz="1150" b="0" i="0">
                <a:solidFill>
                  <a:srgbClr val="F6E6E9"/>
                </a:solidFill>
                <a:latin typeface="Calibri"/>
              </a:rPr>
              <a:t>Version creation</a:t>
            </a:r>
          </a:p>
          <a:p>
            <a:pPr>
              <a:lnSpc>
                <a:spcPct val="115000"/>
              </a:lnSpc>
              <a:spcBef>
                <a:spcPts val="0"/>
              </a:spcBef>
              <a:spcAft>
                <a:spcPts val="700"/>
              </a:spcAft>
            </a:pPr>
            <a:r>
              <a:rPr sz="1150" b="0" i="0">
                <a:solidFill>
                  <a:srgbClr val="F6E6E9"/>
                </a:solidFill>
                <a:latin typeface="Calibri"/>
              </a:rPr>
              <a:t>Alias moves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MAYA/DOMAIN/MODEL_ALGEBRA.PY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model algebra</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sp>
        <p:nvSpPr>
          <p:cNvPr id="10" name="Rectangle 9"/>
          <p:cNvSpPr/>
          <p:nvPr/>
        </p:nvSpPr>
        <p:spPr>
          <a:xfrm>
            <a:off x="777240" y="1353312"/>
            <a:ext cx="5956840" cy="464103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464103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DEFINITION, AS A TYPE</a:t>
            </a:r>
          </a:p>
        </p:txBody>
      </p:sp>
      <p:sp>
        <p:nvSpPr>
          <p:cNvPr id="13" name="TextBox 12"/>
          <p:cNvSpPr txBox="1"/>
          <p:nvPr/>
        </p:nvSpPr>
        <p:spPr>
          <a:xfrm>
            <a:off x="978408" y="1746504"/>
            <a:ext cx="5591080" cy="416554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ParameterObject:</a:t>
            </a:r>
          </a:p>
          <a:p>
            <a:pPr>
              <a:lnSpc>
                <a:spcPct val="134000"/>
              </a:lnSpc>
              <a:spcBef>
                <a:spcPts val="0"/>
              </a:spcBef>
              <a:spcAft>
                <a:spcPts val="0"/>
              </a:spcAft>
            </a:pPr>
            <a:r>
              <a:rPr sz="950" b="0" i="0">
                <a:solidFill>
                  <a:srgbClr val="1C1C1E"/>
                </a:solidFill>
                <a:latin typeface="Consolas"/>
              </a:rPr>
              <a:t>    kind: ParameterKind          # none | calibration_set | learned_weights |</a:t>
            </a:r>
          </a:p>
          <a:p>
            <a:pPr>
              <a:lnSpc>
                <a:spcPct val="134000"/>
              </a:lnSpc>
              <a:spcBef>
                <a:spcPts val="0"/>
              </a:spcBef>
              <a:spcAft>
                <a:spcPts val="0"/>
              </a:spcAft>
            </a:pPr>
            <a:r>
              <a:rPr sz="950" b="0" i="0">
                <a:solidFill>
                  <a:srgbClr val="7A7F87"/>
                </a:solidFill>
                <a:latin typeface="Consolas"/>
              </a:rPr>
              <a:t>                                 # llm_configuration | rule_set | opaque | ...</a:t>
            </a:r>
          </a:p>
          <a:p>
            <a:pPr>
              <a:lnSpc>
                <a:spcPct val="134000"/>
              </a:lnSpc>
              <a:spcBef>
                <a:spcPts val="0"/>
              </a:spcBef>
              <a:spcAft>
                <a:spcPts val="0"/>
              </a:spcAft>
            </a:pPr>
            <a:r>
              <a:rPr sz="950" b="0" i="0">
                <a:solidFill>
                  <a:srgbClr val="1C1C1E"/>
                </a:solidFill>
                <a:latin typeface="Consolas"/>
              </a:rPr>
              <a:t>    artifact_digest: str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is_terminal(self) -&gt; bool:      # P ≅ I  — the T0 case</a:t>
            </a:r>
          </a:p>
          <a:p>
            <a:pPr>
              <a:lnSpc>
                <a:spcPct val="134000"/>
              </a:lnSpc>
              <a:spcBef>
                <a:spcPts val="0"/>
              </a:spcBef>
              <a:spcAft>
                <a:spcPts val="0"/>
              </a:spcAft>
            </a:pPr>
            <a:r>
              <a:rPr sz="950" b="0" i="0">
                <a:solidFill>
                  <a:srgbClr val="1C1C1E"/>
                </a:solidFill>
                <a:latin typeface="Consolas"/>
              </a:rPr>
              <a:t>        return self.kind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is_accessible(self) -&gt; bool:    # False for vendor black boxes</a:t>
            </a:r>
          </a:p>
          <a:p>
            <a:pPr>
              <a:lnSpc>
                <a:spcPct val="134000"/>
              </a:lnSpc>
              <a:spcBef>
                <a:spcPts val="0"/>
              </a:spcBef>
              <a:spcAft>
                <a:spcPts val="0"/>
              </a:spcAft>
            </a:pPr>
            <a:r>
              <a:rPr sz="950" b="0" i="0">
                <a:solidFill>
                  <a:srgbClr val="1C1C1E"/>
                </a:solidFill>
                <a:latin typeface="Consolas"/>
              </a:rPr>
              <a:t>        return self.kind != "opaque"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ParametricKernel:              # a model:  f : P ⊗ X → Y</a:t>
            </a:r>
          </a:p>
          <a:p>
            <a:pPr>
              <a:lnSpc>
                <a:spcPct val="134000"/>
              </a:lnSpc>
              <a:spcBef>
                <a:spcPts val="0"/>
              </a:spcBef>
              <a:spcAft>
                <a:spcPts val="0"/>
              </a:spcAft>
            </a:pPr>
            <a:r>
              <a:rPr sz="950" b="0" i="0">
                <a:solidFill>
                  <a:srgbClr val="1C1C1E"/>
                </a:solidFill>
                <a:latin typeface="Consolas"/>
              </a:rPr>
              <a:t>    parameters: ParameterObject</a:t>
            </a:r>
          </a:p>
          <a:p>
            <a:pPr>
              <a:lnSpc>
                <a:spcPct val="134000"/>
              </a:lnSpc>
              <a:spcBef>
                <a:spcPts val="0"/>
              </a:spcBef>
              <a:spcAft>
                <a:spcPts val="0"/>
              </a:spcAft>
            </a:pPr>
            <a:r>
              <a:rPr sz="950" b="0" i="0">
                <a:solidFill>
                  <a:srgbClr val="1C1C1E"/>
                </a:solidFill>
                <a:latin typeface="Consolas"/>
              </a:rPr>
              <a:t>    input:  ObjectSpec</a:t>
            </a:r>
          </a:p>
          <a:p>
            <a:pPr>
              <a:lnSpc>
                <a:spcPct val="134000"/>
              </a:lnSpc>
              <a:spcBef>
                <a:spcPts val="0"/>
              </a:spcBef>
              <a:spcAft>
                <a:spcPts val="0"/>
              </a:spcAft>
            </a:pPr>
            <a:r>
              <a:rPr sz="950" b="0" i="0">
                <a:solidFill>
                  <a:srgbClr val="1C1C1E"/>
                </a:solidFill>
                <a:latin typeface="Consolas"/>
              </a:rPr>
              <a:t>    output: ObjectSpec</a:t>
            </a:r>
          </a:p>
          <a:p>
            <a:pPr>
              <a:lnSpc>
                <a:spcPct val="134000"/>
              </a:lnSpc>
              <a:spcBef>
                <a:spcPts val="0"/>
              </a:spcBef>
              <a:spcAft>
                <a:spcPts val="0"/>
              </a:spcAft>
            </a:pPr>
            <a:r>
              <a:rPr sz="950" b="0" i="0">
                <a:solidFill>
                  <a:srgbClr val="1C1C1E"/>
                </a:solidFill>
                <a:latin typeface="Consolas"/>
              </a:rPr>
              <a:t>    deterministic: bool              # law L-3</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300" b="1" i="0">
                <a:solidFill>
                  <a:srgbClr val="1C1C1E"/>
                </a:solidFill>
                <a:latin typeface="Georgia"/>
              </a:rPr>
              <a:t>Why it is shaped this way</a:t>
            </a:r>
          </a:p>
          <a:p>
            <a:pPr>
              <a:spcBef>
                <a:spcPts val="800"/>
              </a:spcBef>
              <a:spcAft>
                <a:spcPts val="300"/>
              </a:spcAft>
            </a:pPr>
            <a:r>
              <a:rPr sz="1150" b="1">
                <a:solidFill>
                  <a:srgbClr val="A51C30"/>
                </a:solidFill>
                <a:latin typeface="Calibri"/>
              </a:rPr>
              <a:t>▪  </a:t>
            </a:r>
            <a:r>
              <a:rPr sz="1150" b="1">
                <a:solidFill>
                  <a:srgbClr val="1C1C1E"/>
                </a:solidFill>
                <a:latin typeface="Calibri"/>
              </a:rPr>
              <a:t>Parameters are an object, not a blob</a:t>
            </a:r>
          </a:p>
          <a:p>
            <a:pPr lvl="1">
              <a:spcBef>
                <a:spcPts val="0"/>
              </a:spcBef>
              <a:spcAft>
                <a:spcPts val="0"/>
              </a:spcAft>
            </a:pPr>
            <a:r>
              <a:rPr sz="1000">
                <a:solidFill>
                  <a:srgbClr val="4A4F57"/>
                </a:solidFill>
                <a:latin typeface="Calibri"/>
              </a:rPr>
              <a:t>P is first-class, so “no parameters” and “inaccessible parameters” are expressible states rather than nulls</a:t>
            </a:r>
          </a:p>
          <a:p>
            <a:pPr>
              <a:spcBef>
                <a:spcPts val="800"/>
              </a:spcBef>
              <a:spcAft>
                <a:spcPts val="300"/>
              </a:spcAft>
            </a:pPr>
            <a:r>
              <a:rPr sz="1150" b="1">
                <a:solidFill>
                  <a:srgbClr val="A51C30"/>
                </a:solidFill>
                <a:latin typeface="Calibri"/>
              </a:rPr>
              <a:t>▪  </a:t>
            </a:r>
            <a:r>
              <a:rPr sz="1150" b="1">
                <a:solidFill>
                  <a:srgbClr val="1C1C1E"/>
                </a:solidFill>
                <a:latin typeface="Calibri"/>
              </a:rPr>
              <a:t>Determinism is stored and tested</a:t>
            </a:r>
          </a:p>
          <a:p>
            <a:pPr lvl="1">
              <a:spcBef>
                <a:spcPts val="0"/>
              </a:spcBef>
              <a:spcAft>
                <a:spcPts val="0"/>
              </a:spcAft>
            </a:pPr>
            <a:r>
              <a:rPr sz="1000">
                <a:solidFill>
                  <a:srgbClr val="4A4F57"/>
                </a:solidFill>
                <a:latin typeface="Calibri"/>
              </a:rPr>
              <a:t>f commutes with copy — which is exactly the reproducibility replay in §8.2</a:t>
            </a:r>
          </a:p>
          <a:p>
            <a:pPr>
              <a:spcBef>
                <a:spcPts val="800"/>
              </a:spcBef>
              <a:spcAft>
                <a:spcPts val="300"/>
              </a:spcAft>
            </a:pPr>
            <a:r>
              <a:rPr sz="1150" b="1">
                <a:solidFill>
                  <a:srgbClr val="A51C30"/>
                </a:solidFill>
                <a:latin typeface="Calibri"/>
              </a:rPr>
              <a:t>▪  </a:t>
            </a:r>
            <a:r>
              <a:rPr sz="1150" b="1">
                <a:solidFill>
                  <a:srgbClr val="1C1C1E"/>
                </a:solidFill>
                <a:latin typeface="Calibri"/>
              </a:rPr>
              <a:t>No framework, no I/O</a:t>
            </a:r>
          </a:p>
          <a:p>
            <a:pPr lvl="1">
              <a:spcBef>
                <a:spcPts val="0"/>
              </a:spcBef>
              <a:spcAft>
                <a:spcPts val="0"/>
              </a:spcAft>
            </a:pPr>
            <a:r>
              <a:rPr sz="1000">
                <a:solidFill>
                  <a:srgbClr val="4A4F57"/>
                </a:solidFill>
                <a:latin typeface="Calibri"/>
              </a:rPr>
              <a:t>Fully unit-testable; the laws run in milliseconds over generated inputs</a:t>
            </a:r>
          </a:p>
          <a:p>
            <a:pPr>
              <a:spcBef>
                <a:spcPts val="800"/>
              </a:spcBef>
              <a:spcAft>
                <a:spcPts val="300"/>
              </a:spcAft>
            </a:pPr>
            <a:r>
              <a:rPr sz="1150" b="1">
                <a:solidFill>
                  <a:srgbClr val="A51C30"/>
                </a:solidFill>
                <a:latin typeface="Calibri"/>
              </a:rPr>
              <a:t>▪  </a:t>
            </a:r>
            <a:r>
              <a:rPr sz="1150" b="1">
                <a:solidFill>
                  <a:srgbClr val="1C1C1E"/>
                </a:solidFill>
                <a:latin typeface="Calibri"/>
              </a:rPr>
              <a:t>Frozen dataclasses</a:t>
            </a:r>
          </a:p>
          <a:p>
            <a:pPr lvl="1">
              <a:spcBef>
                <a:spcPts val="0"/>
              </a:spcBef>
              <a:spcAft>
                <a:spcPts val="0"/>
              </a:spcAft>
            </a:pPr>
            <a:r>
              <a:rPr sz="1000">
                <a:solidFill>
                  <a:srgbClr val="4A4F57"/>
                </a:solidFill>
                <a:latin typeface="Calibri"/>
              </a:rPr>
              <a:t>Immutability at the type level mirrors immutability at the storage level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THE CLASSIFICATION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Trainability is derived, never declared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sp>
        <p:nvSpPr>
          <p:cNvPr id="10" name="Rectangle 9"/>
          <p:cNvSpPr/>
          <p:nvPr/>
        </p:nvSpPr>
        <p:spPr>
          <a:xfrm>
            <a:off x="777240" y="1353312"/>
            <a:ext cx="10637215" cy="191781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91781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maya/domain/model_algebra.py</a:t>
            </a:r>
          </a:p>
        </p:txBody>
      </p:sp>
      <p:sp>
        <p:nvSpPr>
          <p:cNvPr id="13" name="TextBox 12"/>
          <p:cNvSpPr txBox="1"/>
          <p:nvPr/>
        </p:nvSpPr>
        <p:spPr>
          <a:xfrm>
            <a:off x="978408" y="1746504"/>
            <a:ext cx="10271455" cy="1442328"/>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def trainability_class(self, fit: FitProcedure, adaptive: bool) -&gt; str:</a:t>
            </a:r>
          </a:p>
          <a:p>
            <a:pPr>
              <a:lnSpc>
                <a:spcPct val="134000"/>
              </a:lnSpc>
              <a:spcBef>
                <a:spcPts val="0"/>
              </a:spcBef>
              <a:spcAft>
                <a:spcPts val="0"/>
              </a:spcAft>
            </a:pPr>
            <a:r>
              <a:rPr sz="1050" b="0" i="0">
                <a:solidFill>
                  <a:srgbClr val="1C1C1E"/>
                </a:solidFill>
                <a:latin typeface="Consolas"/>
              </a:rPr>
              <a:t>    if not self.parameters.is_accessible:   return "T6"    # vendor black box</a:t>
            </a:r>
          </a:p>
          <a:p>
            <a:pPr>
              <a:lnSpc>
                <a:spcPct val="134000"/>
              </a:lnSpc>
              <a:spcBef>
                <a:spcPts val="0"/>
              </a:spcBef>
              <a:spcAft>
                <a:spcPts val="0"/>
              </a:spcAft>
            </a:pPr>
            <a:r>
              <a:rPr sz="1050" b="0" i="0">
                <a:solidFill>
                  <a:srgbClr val="1C1C1E"/>
                </a:solidFill>
                <a:latin typeface="Consolas"/>
              </a:rPr>
              <a:t>    if self.parameters.is_terminal:         return "T0"    # analytic — P ≅ I</a:t>
            </a:r>
          </a:p>
          <a:p>
            <a:pPr>
              <a:lnSpc>
                <a:spcPct val="134000"/>
              </a:lnSpc>
              <a:spcBef>
                <a:spcPts val="0"/>
              </a:spcBef>
              <a:spcAft>
                <a:spcPts val="0"/>
              </a:spcAft>
            </a:pPr>
            <a:r>
              <a:rPr sz="1050" b="0" i="0">
                <a:solidFill>
                  <a:srgbClr val="1C1C1E"/>
                </a:solidFill>
                <a:latin typeface="Consolas"/>
              </a:rPr>
              <a:t>    return {"calibrate": "T1", "estimate": "T2",</a:t>
            </a:r>
          </a:p>
          <a:p>
            <a:pPr>
              <a:lnSpc>
                <a:spcPct val="134000"/>
              </a:lnSpc>
              <a:spcBef>
                <a:spcPts val="0"/>
              </a:spcBef>
              <a:spcAft>
                <a:spcPts val="0"/>
              </a:spcAft>
            </a:pPr>
            <a:r>
              <a:rPr sz="1050" b="0" i="0">
                <a:solidFill>
                  <a:srgbClr val="1C1C1E"/>
                </a:solidFill>
                <a:latin typeface="Consolas"/>
              </a:rPr>
              <a:t>            "train": "T4" if adaptive else "T3",</a:t>
            </a:r>
          </a:p>
          <a:p>
            <a:pPr>
              <a:lnSpc>
                <a:spcPct val="134000"/>
              </a:lnSpc>
              <a:spcBef>
                <a:spcPts val="0"/>
              </a:spcBef>
              <a:spcAft>
                <a:spcPts val="0"/>
              </a:spcAft>
            </a:pPr>
            <a:r>
              <a:rPr sz="1050" b="0" i="0">
                <a:solidFill>
                  <a:srgbClr val="1C1C1E"/>
                </a:solidFill>
                <a:latin typeface="Consolas"/>
              </a:rPr>
              <a:t>            "configure": "T5", "elicit": "T7", "author": "T8"}[fit]</a:t>
            </a:r>
          </a:p>
        </p:txBody>
      </p:sp>
      <p:sp>
        <p:nvSpPr>
          <p:cNvPr id="14" name="TextBox 13"/>
          <p:cNvSpPr txBox="1"/>
          <p:nvPr/>
        </p:nvSpPr>
        <p:spPr>
          <a:xfrm>
            <a:off x="777240" y="3545448"/>
            <a:ext cx="4999491" cy="2194560"/>
          </a:xfrm>
          <a:prstGeom prst="rect">
            <a:avLst/>
          </a:prstGeom>
          <a:noFill/>
        </p:spPr>
        <p:txBody>
          <a:bodyPr wrap="square" lIns="0" rIns="0" tIns="0" bIns="0" anchor="t">
            <a:spAutoFit/>
          </a:bodyPr>
          <a:lstStyle/>
          <a:p>
            <a:pPr algn="l">
              <a:spcBef>
                <a:spcPts val="0"/>
              </a:spcBef>
              <a:spcAft>
                <a:spcPts val="800"/>
              </a:spcAft>
            </a:pPr>
            <a:r>
              <a:rPr sz="1300" b="1" i="0">
                <a:solidFill>
                  <a:srgbClr val="1C1C1E"/>
                </a:solidFill>
                <a:latin typeface="Georgia"/>
              </a:rPr>
              <a:t>What this buys</a:t>
            </a:r>
          </a:p>
          <a:p>
            <a:pPr>
              <a:spcBef>
                <a:spcPts val="0"/>
              </a:spcBef>
              <a:spcAft>
                <a:spcPts val="700"/>
              </a:spcAft>
            </a:pPr>
            <a:r>
              <a:rPr sz="1150" b="1">
                <a:solidFill>
                  <a:srgbClr val="A51C30"/>
                </a:solidFill>
                <a:latin typeface="Calibri"/>
              </a:rPr>
              <a:t>▪  </a:t>
            </a:r>
            <a:r>
              <a:rPr sz="1150">
                <a:solidFill>
                  <a:srgbClr val="1C1C1E"/>
                </a:solidFill>
                <a:latin typeface="Calibri"/>
              </a:rPr>
              <a:t>The class is a function of the parameter object and the fitting procedure — never an enum a user picks</a:t>
            </a:r>
          </a:p>
          <a:p>
            <a:pPr>
              <a:spcBef>
                <a:spcPts val="0"/>
              </a:spcBef>
              <a:spcAft>
                <a:spcPts val="700"/>
              </a:spcAft>
            </a:pPr>
            <a:r>
              <a:rPr sz="1150" b="1">
                <a:solidFill>
                  <a:srgbClr val="A51C30"/>
                </a:solidFill>
                <a:latin typeface="Calibri"/>
              </a:rPr>
              <a:t>▪  </a:t>
            </a:r>
            <a:r>
              <a:rPr sz="1150">
                <a:solidFill>
                  <a:srgbClr val="1C1C1E"/>
                </a:solidFill>
                <a:latin typeface="Calibri"/>
              </a:rPr>
              <a:t>Mislabelled records become impossible, so the estate cannot quietly drift</a:t>
            </a:r>
          </a:p>
          <a:p>
            <a:pPr>
              <a:spcBef>
                <a:spcPts val="0"/>
              </a:spcBef>
              <a:spcAft>
                <a:spcPts val="700"/>
              </a:spcAft>
            </a:pPr>
            <a:r>
              <a:rPr sz="1150" b="1">
                <a:solidFill>
                  <a:srgbClr val="A51C30"/>
                </a:solidFill>
                <a:latin typeface="Calibri"/>
              </a:rPr>
              <a:t>▪  </a:t>
            </a:r>
            <a:r>
              <a:rPr sz="1150">
                <a:solidFill>
                  <a:srgbClr val="1C1C1E"/>
                </a:solidFill>
                <a:latin typeface="Calibri"/>
              </a:rPr>
              <a:t>T0 and T6 are the two extremal cases and both fall out, rather than being special-cased</a:t>
            </a:r>
          </a:p>
        </p:txBody>
      </p:sp>
      <p:sp>
        <p:nvSpPr>
          <p:cNvPr id="15" name="Rectangle 14"/>
          <p:cNvSpPr/>
          <p:nvPr/>
        </p:nvSpPr>
        <p:spPr>
          <a:xfrm>
            <a:off x="6414964" y="3545448"/>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414964" y="3545448"/>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652708" y="3673464"/>
            <a:ext cx="4542291" cy="118872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The consequence that matters. </a:t>
            </a:r>
            <a:r>
              <a:rPr sz="1150" b="0" i="0">
                <a:solidFill>
                  <a:srgbClr val="1C1C1E"/>
                </a:solidFill>
                <a:latin typeface="Calibri"/>
              </a:rPr>
              <a:t>Asking a closed-form pricer for its training set is a type error, and the system can say so precisely. Every mandatory-field workaround that fills an inventory with meaningless records disappears at this 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REASONING ABOUT BLACK BOXES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Contract algebra</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sp>
        <p:nvSpPr>
          <p:cNvPr id="10" name="Rectangle 9"/>
          <p:cNvSpPr/>
          <p:nvPr/>
        </p:nvSpPr>
        <p:spPr>
          <a:xfrm>
            <a:off x="777240" y="1353312"/>
            <a:ext cx="5850468"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DECIDABLE SUBSTITUTABILITY</a:t>
            </a:r>
          </a:p>
        </p:txBody>
      </p:sp>
      <p:sp>
        <p:nvSpPr>
          <p:cNvPr id="13" name="TextBox 12"/>
          <p:cNvSpPr txBox="1"/>
          <p:nvPr/>
        </p:nvSpPr>
        <p:spPr>
          <a:xfrm>
            <a:off x="978408" y="1746504"/>
            <a:ext cx="5484708"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refines(self, other: Contract) -&gt; RefinementResult:</a:t>
            </a:r>
          </a:p>
          <a:p>
            <a:pPr>
              <a:lnSpc>
                <a:spcPct val="134000"/>
              </a:lnSpc>
              <a:spcBef>
                <a:spcPts val="0"/>
              </a:spcBef>
              <a:spcAft>
                <a:spcPts val="0"/>
              </a:spcAft>
            </a:pPr>
            <a:r>
              <a:rPr sz="950" b="0" i="0">
                <a:solidFill>
                  <a:srgbClr val="1C1C1E"/>
                </a:solidFill>
                <a:latin typeface="Consolas"/>
              </a:rPr>
              <a:t>    """C' ⪯ C  iff  A ⊆ A'  and  (A ∧ G') ⊆ G."""</a:t>
            </a:r>
          </a:p>
          <a:p>
            <a:pPr>
              <a:lnSpc>
                <a:spcPct val="134000"/>
              </a:lnSpc>
              <a:spcBef>
                <a:spcPts val="0"/>
              </a:spcBef>
              <a:spcAft>
                <a:spcPts val="0"/>
              </a:spcAft>
            </a:pPr>
            <a:r>
              <a:rPr sz="950" b="0" i="0">
                <a:solidFill>
                  <a:srgbClr val="1C1C1E"/>
                </a:solidFill>
                <a:latin typeface="Consolas"/>
              </a:rPr>
              <a:t>    weaker_assumption  = other.assumptions.implies(self.assumptions)</a:t>
            </a:r>
          </a:p>
          <a:p>
            <a:pPr>
              <a:lnSpc>
                <a:spcPct val="134000"/>
              </a:lnSpc>
              <a:spcBef>
                <a:spcPts val="0"/>
              </a:spcBef>
              <a:spcAft>
                <a:spcPts val="0"/>
              </a:spcAft>
            </a:pPr>
            <a:r>
              <a:rPr sz="950" b="0" i="0">
                <a:solidFill>
                  <a:srgbClr val="1C1C1E"/>
                </a:solidFill>
                <a:latin typeface="Consolas"/>
              </a:rPr>
              <a:t>    stronger_guarantee = (other.assumptions &amp; self.guarantees) \</a:t>
            </a:r>
          </a:p>
          <a:p>
            <a:pPr>
              <a:lnSpc>
                <a:spcPct val="134000"/>
              </a:lnSpc>
              <a:spcBef>
                <a:spcPts val="0"/>
              </a:spcBef>
              <a:spcAft>
                <a:spcPts val="0"/>
              </a:spcAft>
            </a:pPr>
            <a:r>
              <a:rPr sz="950" b="0" i="0">
                <a:solidFill>
                  <a:srgbClr val="1C1C1E"/>
                </a:solidFill>
                <a:latin typeface="Consolas"/>
              </a:rPr>
              <a:t>                            .implies(other.guarantees)</a:t>
            </a:r>
          </a:p>
          <a:p>
            <a:pPr>
              <a:lnSpc>
                <a:spcPct val="134000"/>
              </a:lnSpc>
              <a:spcBef>
                <a:spcPts val="0"/>
              </a:spcBef>
              <a:spcAft>
                <a:spcPts val="0"/>
              </a:spcAft>
            </a:pPr>
            <a:r>
              <a:rPr sz="950" b="0" i="0">
                <a:solidFill>
                  <a:srgbClr val="1C1C1E"/>
                </a:solidFill>
                <a:latin typeface="Consolas"/>
              </a:rPr>
              <a:t>    return RefinementResult(</a:t>
            </a:r>
          </a:p>
          <a:p>
            <a:pPr>
              <a:lnSpc>
                <a:spcPct val="134000"/>
              </a:lnSpc>
              <a:spcBef>
                <a:spcPts val="0"/>
              </a:spcBef>
              <a:spcAft>
                <a:spcPts val="0"/>
              </a:spcAft>
            </a:pPr>
            <a:r>
              <a:rPr sz="950" b="0" i="0">
                <a:solidFill>
                  <a:srgbClr val="1C1C1E"/>
                </a:solidFill>
                <a:latin typeface="Consolas"/>
              </a:rPr>
              <a:t>        holds = weaker_assumption and stronger_guarantee,</a:t>
            </a:r>
          </a:p>
          <a:p>
            <a:pPr>
              <a:lnSpc>
                <a:spcPct val="134000"/>
              </a:lnSpc>
              <a:spcBef>
                <a:spcPts val="0"/>
              </a:spcBef>
              <a:spcAft>
                <a:spcPts val="0"/>
              </a:spcAft>
            </a:pPr>
            <a:r>
              <a:rPr sz="950" b="0" i="0">
                <a:solidFill>
                  <a:srgbClr val="1C1C1E"/>
                </a:solidFill>
                <a:latin typeface="Consolas"/>
              </a:rPr>
              <a:t>        failing_clauses = [...],   # DR-7: always name what failed</a:t>
            </a:r>
          </a:p>
          <a:p>
            <a:pPr>
              <a:lnSpc>
                <a:spcPct val="134000"/>
              </a:lnSpc>
              <a:spcBef>
                <a:spcPts val="0"/>
              </a:spcBef>
              <a:spcAft>
                <a:spcPts val="0"/>
              </a:spcAft>
            </a:pPr>
            <a:r>
              <a:rPr sz="950" b="0" i="0">
                <a:solidFill>
                  <a:srgbClr val="1C1C1E"/>
                </a:solidFill>
                <a:latin typeface="Consolas"/>
              </a:rPr>
              <a:t>    )</a:t>
            </a:r>
          </a:p>
        </p:txBody>
      </p:sp>
      <p:sp>
        <p:nvSpPr>
          <p:cNvPr id="14" name="TextBox 13"/>
          <p:cNvSpPr txBox="1"/>
          <p:nvPr/>
        </p:nvSpPr>
        <p:spPr>
          <a:xfrm>
            <a:off x="7053196" y="1353312"/>
            <a:ext cx="4361258" cy="164592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A deliberately restricted predicate language</a:t>
            </a:r>
          </a:p>
          <a:p>
            <a:pPr>
              <a:lnSpc>
                <a:spcPct val="125000"/>
              </a:lnSpc>
              <a:spcBef>
                <a:spcPts val="0"/>
              </a:spcBef>
              <a:spcAft>
                <a:spcPts val="700"/>
              </a:spcAft>
            </a:pPr>
            <a:r>
              <a:rPr sz="1100" b="0" i="0">
                <a:solidFill>
                  <a:srgbClr val="4A4F57"/>
                </a:solidFill>
                <a:latin typeface="Calibri"/>
              </a:rPr>
              <a:t>Conjunctions of interval constraints, set membership, metric comparisons and freshness bounds — chosen so refinement stays decidable.</a:t>
            </a:r>
          </a:p>
          <a:p>
            <a:pPr>
              <a:lnSpc>
                <a:spcPct val="125000"/>
              </a:lnSpc>
              <a:spcBef>
                <a:spcPts val="0"/>
              </a:spcBef>
              <a:spcAft>
                <a:spcPts val="600"/>
              </a:spcAft>
            </a:pPr>
            <a:r>
              <a:rPr sz="1100" b="0" i="0">
                <a:solidFill>
                  <a:srgbClr val="4A4F57"/>
                </a:solidFill>
                <a:latin typeface="Calibri"/>
              </a:rPr>
              <a:t>Richer assumptions are recorded as </a:t>
            </a:r>
            <a:r>
              <a:rPr sz="1100" b="1" i="1">
                <a:solidFill>
                  <a:srgbClr val="1C1C1E"/>
                </a:solidFill>
                <a:latin typeface="Calibri"/>
              </a:rPr>
              <a:t>narrative</a:t>
            </a:r>
            <a:r>
              <a:rPr sz="1100" b="0" i="0">
                <a:solidFill>
                  <a:srgbClr val="4A4F57"/>
                </a:solidFill>
                <a:latin typeface="Calibri"/>
              </a:rPr>
              <a:t> and explicitly excluded from automated refinement — so nobody believes a check happened that did not.</a:t>
            </a:r>
          </a:p>
        </p:txBody>
      </p:sp>
      <p:sp>
        <p:nvSpPr>
          <p:cNvPr id="15" name="TextBox 14"/>
          <p:cNvSpPr txBox="1"/>
          <p:nvPr/>
        </p:nvSpPr>
        <p:spPr>
          <a:xfrm>
            <a:off x="777240" y="4046197"/>
            <a:ext cx="10637215" cy="365760"/>
          </a:xfrm>
          <a:prstGeom prst="rect">
            <a:avLst/>
          </a:prstGeom>
          <a:noFill/>
        </p:spPr>
        <p:txBody>
          <a:bodyPr wrap="square" lIns="0" rIns="0" tIns="0" bIns="0" anchor="t">
            <a:spAutoFit/>
          </a:bodyPr>
          <a:lstStyle/>
          <a:p>
            <a:pPr algn="l">
              <a:spcBef>
                <a:spcPts val="0"/>
              </a:spcBef>
              <a:spcAft>
                <a:spcPts val="0"/>
              </a:spcAft>
            </a:pPr>
            <a:r>
              <a:rPr sz="1300" b="1" i="0">
                <a:solidFill>
                  <a:srgbClr val="1C1C1E"/>
                </a:solidFill>
                <a:latin typeface="Georgia"/>
              </a:rPr>
              <a:t>Where the four operations are used</a:t>
            </a:r>
          </a:p>
        </p:txBody>
      </p:sp>
      <p:graphicFrame>
        <p:nvGraphicFramePr>
          <p:cNvPr id="16" name="Table 15"/>
          <p:cNvGraphicFramePr>
            <a:graphicFrameLocks noGrp="1"/>
          </p:cNvGraphicFramePr>
          <p:nvPr/>
        </p:nvGraphicFramePr>
        <p:xfrm>
          <a:off x="777240" y="4411957"/>
          <a:ext cx="10637214" cy="1813773"/>
        </p:xfrm>
        <a:graphic>
          <a:graphicData uri="http://schemas.openxmlformats.org/drawingml/2006/table">
            <a:tbl>
              <a:tblPr firstRow="1">
                <a:tableStyleId>{5C22544A-7EE6-4342-B048-85BDC9FD1C3A}</a:tableStyleId>
              </a:tblPr>
              <a:tblGrid>
                <a:gridCol w="1834002"/>
                <a:gridCol w="4218206"/>
                <a:gridCol w="4585006"/>
              </a:tblGrid>
              <a:tr h="333781">
                <a:tc>
                  <a:txBody>
                    <a:bodyPr wrap="square"/>
                    <a:lstStyle/>
                    <a:p>
                      <a:pPr algn="l"/>
                      <a:r>
                        <a:rPr sz="1100" b="1">
                          <a:solidFill>
                            <a:srgbClr val="FFFFFF"/>
                          </a:solidFill>
                          <a:latin typeface="Calibri"/>
                        </a:rPr>
                        <a:t>Operation</a:t>
                      </a:r>
                    </a:p>
                  </a:txBody>
                  <a:tcPr marL="82296" marR="64008" marT="32004" marB="32004" anchor="ctr">
                    <a:solidFill>
                      <a:srgbClr val="A51C30"/>
                    </a:solidFill>
                  </a:tcPr>
                </a:tc>
                <a:tc>
                  <a:txBody>
                    <a:bodyPr wrap="square"/>
                    <a:lstStyle/>
                    <a:p>
                      <a:pPr algn="l"/>
                      <a:r>
                        <a:rPr sz="1100" b="1">
                          <a:solidFill>
                            <a:srgbClr val="FFFFFF"/>
                          </a:solidFill>
                          <a:latin typeface="Calibri"/>
                        </a:rPr>
                        <a:t>Question it answers</a:t>
                      </a:r>
                    </a:p>
                  </a:txBody>
                  <a:tcPr marL="82296" marR="64008" marT="32004" marB="32004" anchor="ctr">
                    <a:solidFill>
                      <a:srgbClr val="A51C30"/>
                    </a:solidFill>
                  </a:tcPr>
                </a:tc>
                <a:tc>
                  <a:txBody>
                    <a:bodyPr wrap="square"/>
                    <a:lstStyle/>
                    <a:p>
                      <a:pPr algn="l"/>
                      <a:r>
                        <a:rPr sz="1100" b="1">
                          <a:solidFill>
                            <a:srgbClr val="FFFFFF"/>
                          </a:solidFill>
                          <a:latin typeface="Calibri"/>
                        </a:rPr>
                        <a:t>Used at</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Refinement  ⪯</a:t>
                      </a:r>
                    </a:p>
                  </a:txBody>
                  <a:tcPr marL="82296" marR="64008" marT="32004" marB="32004" anchor="ctr">
                    <a:solidFill>
                      <a:srgbClr val="FFFFFF"/>
                    </a:solidFill>
                  </a:tcPr>
                </a:tc>
                <a:tc>
                  <a:txBody>
                    <a:bodyPr wrap="square"/>
                    <a:lstStyle/>
                    <a:p>
                      <a:pPr algn="l"/>
                      <a:r>
                        <a:rPr sz="1050" b="0">
                          <a:solidFill>
                            <a:srgbClr val="1C1C1E"/>
                          </a:solidFill>
                          <a:latin typeface="Calibri"/>
                        </a:rPr>
                        <a:t>May version B replace version A?</a:t>
                      </a:r>
                    </a:p>
                  </a:txBody>
                  <a:tcPr marL="82296" marR="64008" marT="32004" marB="32004" anchor="ctr">
                    <a:solidFill>
                      <a:srgbClr val="FFFFFF"/>
                    </a:solidFill>
                  </a:tcPr>
                </a:tc>
                <a:tc>
                  <a:txBody>
                    <a:bodyPr wrap="square"/>
                    <a:lstStyle/>
                    <a:p>
                      <a:pPr algn="l"/>
                      <a:r>
                        <a:rPr sz="1050" b="0">
                          <a:solidFill>
                            <a:srgbClr val="1C1C1E"/>
                          </a:solidFill>
                          <a:latin typeface="Calibri"/>
                        </a:rPr>
                        <a:t>Every alias move — a proof obligation, not a meeting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Composition  ⊗</a:t>
                      </a:r>
                    </a:p>
                  </a:txBody>
                  <a:tcPr marL="82296" marR="64008" marT="32004" marB="32004" anchor="ctr">
                    <a:solidFill>
                      <a:srgbClr val="F6F3EF"/>
                    </a:solidFill>
                  </a:tcPr>
                </a:tc>
                <a:tc>
                  <a:txBody>
                    <a:bodyPr wrap="square"/>
                    <a:lstStyle/>
                    <a:p>
                      <a:pPr algn="l"/>
                      <a:r>
                        <a:rPr sz="1050" b="0">
                          <a:solidFill>
                            <a:srgbClr val="1C1C1E"/>
                          </a:solidFill>
                          <a:latin typeface="Calibri"/>
                        </a:rPr>
                        <a:t>What does this model chain promise end to end?</a:t>
                      </a:r>
                    </a:p>
                  </a:txBody>
                  <a:tcPr marL="82296" marR="64008" marT="32004" marB="32004" anchor="ctr">
                    <a:solidFill>
                      <a:srgbClr val="F6F3EF"/>
                    </a:solidFill>
                  </a:tcPr>
                </a:tc>
                <a:tc>
                  <a:txBody>
                    <a:bodyPr wrap="square"/>
                    <a:lstStyle/>
                    <a:p>
                      <a:pPr algn="l"/>
                      <a:r>
                        <a:rPr sz="1050" b="0">
                          <a:solidFill>
                            <a:srgbClr val="1C1C1E"/>
                          </a:solidFill>
                          <a:latin typeface="Calibri"/>
                        </a:rPr>
                        <a:t>Composite hooks</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Conjunction  ∧</a:t>
                      </a:r>
                    </a:p>
                  </a:txBody>
                  <a:tcPr marL="82296" marR="64008" marT="32004" marB="32004" anchor="ctr">
                    <a:solidFill>
                      <a:srgbClr val="FFFFFF"/>
                    </a:solidFill>
                  </a:tcPr>
                </a:tc>
                <a:tc>
                  <a:txBody>
                    <a:bodyPr wrap="square"/>
                    <a:lstStyle/>
                    <a:p>
                      <a:pPr algn="l"/>
                      <a:r>
                        <a:rPr sz="1050" b="0">
                          <a:solidFill>
                            <a:srgbClr val="1C1C1E"/>
                          </a:solidFill>
                          <a:latin typeface="Calibri"/>
                        </a:rPr>
                        <a:t>Satisfy performance and fairness and latency together</a:t>
                      </a:r>
                    </a:p>
                  </a:txBody>
                  <a:tcPr marL="82296" marR="64008" marT="32004" marB="32004" anchor="ctr">
                    <a:solidFill>
                      <a:srgbClr val="FFFFFF"/>
                    </a:solidFill>
                  </a:tcPr>
                </a:tc>
                <a:tc>
                  <a:txBody>
                    <a:bodyPr wrap="square"/>
                    <a:lstStyle/>
                    <a:p>
                      <a:pPr algn="l"/>
                      <a:r>
                        <a:rPr sz="1050" b="0">
                          <a:solidFill>
                            <a:srgbClr val="1C1C1E"/>
                          </a:solidFill>
                          <a:latin typeface="Calibri"/>
                        </a:rPr>
                        <a:t>Merging viewpoints on one model</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Quotient  /</a:t>
                      </a:r>
                    </a:p>
                  </a:txBody>
                  <a:tcPr marL="82296" marR="64008" marT="32004" marB="32004" anchor="ctr">
                    <a:solidFill>
                      <a:srgbClr val="F6F3EF"/>
                    </a:solidFill>
                  </a:tcPr>
                </a:tc>
                <a:tc>
                  <a:txBody>
                    <a:bodyPr wrap="square"/>
                    <a:lstStyle/>
                    <a:p>
                      <a:pPr algn="l"/>
                      <a:r>
                        <a:rPr sz="1050" b="0">
                          <a:solidFill>
                            <a:srgbClr val="1C1C1E"/>
                          </a:solidFill>
                          <a:latin typeface="Calibri"/>
                        </a:rPr>
                        <a:t>Given the target and what we have, what must the missing piece guarantee?</a:t>
                      </a:r>
                    </a:p>
                  </a:txBody>
                  <a:tcPr marL="82296" marR="64008" marT="32004" marB="32004" anchor="ctr">
                    <a:solidFill>
                      <a:srgbClr val="F6F3EF"/>
                    </a:solidFill>
                  </a:tcPr>
                </a:tc>
                <a:tc>
                  <a:txBody>
                    <a:bodyPr wrap="square"/>
                    <a:lstStyle/>
                    <a:p>
                      <a:pPr algn="l"/>
                      <a:r>
                        <a:rPr sz="1050" b="0">
                          <a:solidFill>
                            <a:srgbClr val="1C1C1E"/>
                          </a:solidFill>
                          <a:latin typeface="Calibri"/>
                        </a:rPr>
                        <a:t>Turns a validation gap into a specification</a:t>
                      </a:r>
                    </a:p>
                  </a:txBody>
                  <a:tcPr marL="82296" marR="64008" marT="32004" marB="32004" anchor="ctr">
                    <a:solidFill>
                      <a:srgbClr val="F6F3E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EXTENSIBILITY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fibre registry, and why it fails at startup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a:t>
            </a:r>
          </a:p>
        </p:txBody>
      </p:sp>
      <p:sp>
        <p:nvSpPr>
          <p:cNvPr id="10" name="Rectangle 9"/>
          <p:cNvSpPr/>
          <p:nvPr/>
        </p:nvSpPr>
        <p:spPr>
          <a:xfrm>
            <a:off x="777240" y="1353312"/>
            <a:ext cx="6169584" cy="341880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41880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STARTUP TOTALITY CHECK</a:t>
            </a:r>
          </a:p>
        </p:txBody>
      </p:sp>
      <p:sp>
        <p:nvSpPr>
          <p:cNvPr id="13" name="TextBox 12"/>
          <p:cNvSpPr txBox="1"/>
          <p:nvPr/>
        </p:nvSpPr>
        <p:spPr>
          <a:xfrm>
            <a:off x="978408" y="1746504"/>
            <a:ext cx="5803824" cy="2943316"/>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class FibreRegistry:</a:t>
            </a:r>
          </a:p>
          <a:p>
            <a:pPr>
              <a:lnSpc>
                <a:spcPct val="134000"/>
              </a:lnSpc>
              <a:spcBef>
                <a:spcPts val="0"/>
              </a:spcBef>
              <a:spcAft>
                <a:spcPts val="0"/>
              </a:spcAft>
            </a:pPr>
            <a:r>
              <a:rPr sz="950" b="0" i="0">
                <a:solidFill>
                  <a:srgbClr val="1C1C1E"/>
                </a:solidFill>
                <a:latin typeface="Consolas"/>
              </a:rPr>
              <a:t>    def __init__(self, plugins: PluginLoader):</a:t>
            </a:r>
          </a:p>
          <a:p>
            <a:pPr>
              <a:lnSpc>
                <a:spcPct val="134000"/>
              </a:lnSpc>
              <a:spcBef>
                <a:spcPts val="0"/>
              </a:spcBef>
              <a:spcAft>
                <a:spcPts val="0"/>
              </a:spcAft>
            </a:pPr>
            <a:r>
              <a:rPr sz="950" b="0" i="0">
                <a:solidFill>
                  <a:srgbClr val="1C1C1E"/>
                </a:solidFill>
                <a:latin typeface="Consolas"/>
              </a:rPr>
              <a:t>        for ep in plugins.entry_points("maya.model_class"):</a:t>
            </a:r>
          </a:p>
          <a:p>
            <a:pPr>
              <a:lnSpc>
                <a:spcPct val="134000"/>
              </a:lnSpc>
              <a:spcBef>
                <a:spcPts val="0"/>
              </a:spcBef>
              <a:spcAft>
                <a:spcPts val="0"/>
              </a:spcAft>
            </a:pPr>
            <a:r>
              <a:rPr sz="950" b="0" i="0">
                <a:solidFill>
                  <a:srgbClr val="1C1C1E"/>
                </a:solidFill>
                <a:latin typeface="Consolas"/>
              </a:rPr>
              <a:t>            f = ep.load()()</a:t>
            </a:r>
          </a:p>
          <a:p>
            <a:pPr>
              <a:lnSpc>
                <a:spcPct val="134000"/>
              </a:lnSpc>
              <a:spcBef>
                <a:spcPts val="0"/>
              </a:spcBef>
              <a:spcAft>
                <a:spcPts val="0"/>
              </a:spcAft>
            </a:pPr>
            <a:r>
              <a:rPr sz="950" b="0" i="0">
                <a:solidFill>
                  <a:srgbClr val="1C1C1E"/>
                </a:solidFill>
                <a:latin typeface="Consolas"/>
              </a:rPr>
              <a:t>            self._validate_total(f)      # law L-15</a:t>
            </a:r>
          </a:p>
          <a:p>
            <a:pPr>
              <a:lnSpc>
                <a:spcPct val="134000"/>
              </a:lnSpc>
              <a:spcBef>
                <a:spcPts val="0"/>
              </a:spcBef>
              <a:spcAft>
                <a:spcPts val="0"/>
              </a:spcAft>
            </a:pPr>
            <a:r>
              <a:rPr sz="950" b="0" i="0">
                <a:solidFill>
                  <a:srgbClr val="1C1C1E"/>
                </a:solidFill>
                <a:latin typeface="Consolas"/>
              </a:rPr>
              <a:t>            self._fibres[f.key] = f</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def _validate_total(self, f) -&gt; None:</a:t>
            </a:r>
          </a:p>
          <a:p>
            <a:pPr>
              <a:lnSpc>
                <a:spcPct val="134000"/>
              </a:lnSpc>
              <a:spcBef>
                <a:spcPts val="0"/>
              </a:spcBef>
              <a:spcAft>
                <a:spcPts val="0"/>
              </a:spcAft>
            </a:pPr>
            <a:r>
              <a:rPr sz="950" b="0" i="0">
                <a:solidFill>
                  <a:srgbClr val="1C1C1E"/>
                </a:solidFill>
                <a:latin typeface="Consolas"/>
              </a:rPr>
              <a:t>        missing = [n for n in ("evidence_schema", "lifecycle",</a:t>
            </a:r>
          </a:p>
          <a:p>
            <a:pPr>
              <a:lnSpc>
                <a:spcPct val="134000"/>
              </a:lnSpc>
              <a:spcBef>
                <a:spcPts val="0"/>
              </a:spcBef>
              <a:spcAft>
                <a:spcPts val="0"/>
              </a:spcAft>
            </a:pPr>
            <a:r>
              <a:rPr sz="950" b="0" i="0">
                <a:solidFill>
                  <a:srgbClr val="1C1C1E"/>
                </a:solidFill>
                <a:latin typeface="Consolas"/>
              </a:rPr>
              <a:t>                   "default_monitors", "document_templates",</a:t>
            </a:r>
          </a:p>
          <a:p>
            <a:pPr>
              <a:lnSpc>
                <a:spcPct val="134000"/>
              </a:lnSpc>
              <a:spcBef>
                <a:spcPts val="0"/>
              </a:spcBef>
              <a:spcAft>
                <a:spcPts val="0"/>
              </a:spcAft>
            </a:pPr>
            <a:r>
              <a:rPr sz="950" b="0" i="0">
                <a:solidFill>
                  <a:srgbClr val="1C1C1E"/>
                </a:solidFill>
                <a:latin typeface="Consolas"/>
              </a:rPr>
              <a:t>                   "tiering_hints", "contract_template")</a:t>
            </a:r>
          </a:p>
          <a:p>
            <a:pPr>
              <a:lnSpc>
                <a:spcPct val="134000"/>
              </a:lnSpc>
              <a:spcBef>
                <a:spcPts val="0"/>
              </a:spcBef>
              <a:spcAft>
                <a:spcPts val="0"/>
              </a:spcAft>
            </a:pPr>
            <a:r>
              <a:rPr sz="950" b="0" i="0">
                <a:solidFill>
                  <a:srgbClr val="1C1C1E"/>
                </a:solidFill>
                <a:latin typeface="Consolas"/>
              </a:rPr>
              <a:t>                   if not getattr(f, n)()]</a:t>
            </a:r>
          </a:p>
          <a:p>
            <a:pPr>
              <a:lnSpc>
                <a:spcPct val="134000"/>
              </a:lnSpc>
              <a:spcBef>
                <a:spcPts val="0"/>
              </a:spcBef>
              <a:spcAft>
                <a:spcPts val="0"/>
              </a:spcAft>
            </a:pPr>
            <a:r>
              <a:rPr sz="950" b="0" i="0">
                <a:solidFill>
                  <a:srgbClr val="1C1C1E"/>
                </a:solidFill>
                <a:latin typeface="Consolas"/>
              </a:rPr>
              <a:t>        if missing:</a:t>
            </a:r>
          </a:p>
          <a:p>
            <a:pPr>
              <a:lnSpc>
                <a:spcPct val="134000"/>
              </a:lnSpc>
              <a:spcBef>
                <a:spcPts val="0"/>
              </a:spcBef>
              <a:spcAft>
                <a:spcPts val="0"/>
              </a:spcAft>
            </a:pPr>
            <a:r>
              <a:rPr sz="950" b="0" i="0">
                <a:solidFill>
                  <a:srgbClr val="1C1C1E"/>
                </a:solidFill>
                <a:latin typeface="Consolas"/>
              </a:rPr>
              <a:t>            raise FibreIncomplete(f.key, missing)  # refuse to boot</a:t>
            </a:r>
          </a:p>
        </p:txBody>
      </p:sp>
      <p:sp>
        <p:nvSpPr>
          <p:cNvPr id="14" name="TextBox 13"/>
          <p:cNvSpPr txBox="1"/>
          <p:nvPr/>
        </p:nvSpPr>
        <p:spPr>
          <a:xfrm>
            <a:off x="7372313" y="1353312"/>
            <a:ext cx="4042141" cy="310896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Nine extension points</a:t>
            </a:r>
          </a:p>
          <a:p>
            <a:pPr>
              <a:lnSpc>
                <a:spcPct val="130000"/>
              </a:lnSpc>
              <a:spcBef>
                <a:spcPts val="0"/>
              </a:spcBef>
              <a:spcAft>
                <a:spcPts val="1200"/>
              </a:spcAft>
            </a:pPr>
            <a:r>
              <a:rPr sz="1100" b="0" i="0">
                <a:solidFill>
                  <a:srgbClr val="4A4F57"/>
                </a:solidFill>
                <a:latin typeface="Calibri"/>
              </a:rPr>
              <a:t>model class · regime · semiring · artifact format · validation test · metric · document template · hook flavour · connector</a:t>
            </a:r>
          </a:p>
          <a:p>
            <a:pPr>
              <a:spcBef>
                <a:spcPts val="0"/>
              </a:spcBef>
              <a:spcAft>
                <a:spcPts val="700"/>
              </a:spcAft>
            </a:pPr>
            <a:r>
              <a:rPr sz="1250" b="1" i="0">
                <a:solidFill>
                  <a:srgbClr val="1C1C1E"/>
                </a:solidFill>
                <a:latin typeface="Georgia"/>
              </a:rPr>
              <a:t>Why refuse to boot?</a:t>
            </a:r>
          </a:p>
          <a:p>
            <a:pPr>
              <a:lnSpc>
                <a:spcPct val="130000"/>
              </a:lnSpc>
              <a:spcBef>
                <a:spcPts val="0"/>
              </a:spcBef>
              <a:spcAft>
                <a:spcPts val="0"/>
              </a:spcAft>
            </a:pPr>
            <a:r>
              <a:rPr sz="1100" b="0" i="0">
                <a:solidFill>
                  <a:srgbClr val="4A4F57"/>
                </a:solidFill>
                <a:latin typeface="Calibri"/>
              </a:rPr>
              <a:t>A half-registered fibre would otherwise surface as a confusing runtime error weeks later, in the one place the platform has to be trustworthy. Failing loudly at startup is the cheaper failure.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creation — the full path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sp>
        <p:nvSpPr>
          <p:cNvPr id="10" name="Rectangle 9"/>
          <p:cNvSpPr/>
          <p:nvPr/>
        </p:nvSpPr>
        <p:spPr>
          <a:xfrm>
            <a:off x="777240"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Validate</a:t>
            </a:r>
          </a:p>
          <a:p>
            <a:pPr>
              <a:lnSpc>
                <a:spcPct val="115000"/>
              </a:lnSpc>
              <a:spcBef>
                <a:spcPts val="0"/>
              </a:spcBef>
              <a:spcAft>
                <a:spcPts val="600"/>
              </a:spcAft>
            </a:pPr>
            <a:r>
              <a:rPr sz="850" b="0" i="0">
                <a:solidFill>
                  <a:srgbClr val="4A4F57"/>
                </a:solidFill>
                <a:latin typeface="Calibri"/>
              </a:rPr>
              <a:t>Manifest checked against the fibre's JSON Schema</a:t>
            </a:r>
          </a:p>
        </p:txBody>
      </p:sp>
      <p:sp>
        <p:nvSpPr>
          <p:cNvPr id="13" name="Rectangle 12"/>
          <p:cNvSpPr/>
          <p:nvPr/>
        </p:nvSpPr>
        <p:spPr>
          <a:xfrm>
            <a:off x="2322967"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2322967"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2469271"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Quarantine</a:t>
            </a:r>
          </a:p>
          <a:p>
            <a:pPr>
              <a:lnSpc>
                <a:spcPct val="115000"/>
              </a:lnSpc>
              <a:spcBef>
                <a:spcPts val="0"/>
              </a:spcBef>
              <a:spcAft>
                <a:spcPts val="600"/>
              </a:spcAft>
            </a:pPr>
            <a:r>
              <a:rPr sz="850" b="0" i="0">
                <a:solidFill>
                  <a:srgbClr val="4A4F57"/>
                </a:solidFill>
                <a:latin typeface="Calibri"/>
              </a:rPr>
              <a:t>Artifact streamed to a no-execute, content-addressed store</a:t>
            </a:r>
          </a:p>
        </p:txBody>
      </p:sp>
      <p:sp>
        <p:nvSpPr>
          <p:cNvPr id="16" name="Rectangle 15"/>
          <p:cNvSpPr/>
          <p:nvPr/>
        </p:nvSpPr>
        <p:spPr>
          <a:xfrm>
            <a:off x="3868695"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3868695"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014999"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Sandbox</a:t>
            </a:r>
          </a:p>
          <a:p>
            <a:pPr>
              <a:lnSpc>
                <a:spcPct val="115000"/>
              </a:lnSpc>
              <a:spcBef>
                <a:spcPts val="0"/>
              </a:spcBef>
              <a:spcAft>
                <a:spcPts val="600"/>
              </a:spcAft>
            </a:pPr>
            <a:r>
              <a:rPr sz="850" b="0" i="0">
                <a:solidFill>
                  <a:srgbClr val="4A4F57"/>
                </a:solidFill>
                <a:latin typeface="Calibri"/>
              </a:rPr>
              <a:t>Malware, pickle opcodes, SCA, secrets, licence; then graph parse</a:t>
            </a:r>
          </a:p>
        </p:txBody>
      </p:sp>
      <p:sp>
        <p:nvSpPr>
          <p:cNvPr id="19" name="Rectangle 18"/>
          <p:cNvSpPr/>
          <p:nvPr/>
        </p:nvSpPr>
        <p:spPr>
          <a:xfrm>
            <a:off x="5414423"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5414423"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5560727"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Policy</a:t>
            </a:r>
          </a:p>
          <a:p>
            <a:pPr>
              <a:lnSpc>
                <a:spcPct val="115000"/>
              </a:lnSpc>
              <a:spcBef>
                <a:spcPts val="0"/>
              </a:spcBef>
              <a:spcAft>
                <a:spcPts val="600"/>
              </a:spcAft>
            </a:pPr>
            <a:r>
              <a:rPr sz="850" b="0" i="0">
                <a:solidFill>
                  <a:srgbClr val="4A4F57"/>
                </a:solidFill>
                <a:latin typeface="Calibri"/>
              </a:rPr>
              <a:t>Format policy for the target environment; reject with an exception path</a:t>
            </a:r>
          </a:p>
        </p:txBody>
      </p:sp>
      <p:sp>
        <p:nvSpPr>
          <p:cNvPr id="22" name="Rectangle 21"/>
          <p:cNvSpPr/>
          <p:nvPr/>
        </p:nvSpPr>
        <p:spPr>
          <a:xfrm>
            <a:off x="6960151"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6960151"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7106455"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5</a:t>
            </a:r>
          </a:p>
          <a:p>
            <a:pPr>
              <a:spcBef>
                <a:spcPts val="0"/>
              </a:spcBef>
              <a:spcAft>
                <a:spcPts val="400"/>
              </a:spcAft>
            </a:pPr>
            <a:r>
              <a:rPr sz="1100" b="1" i="0">
                <a:solidFill>
                  <a:srgbClr val="1C1C1E"/>
                </a:solidFill>
                <a:latin typeface="Calibri"/>
              </a:rPr>
              <a:t>Features</a:t>
            </a:r>
          </a:p>
          <a:p>
            <a:pPr>
              <a:lnSpc>
                <a:spcPct val="115000"/>
              </a:lnSpc>
              <a:spcBef>
                <a:spcPts val="0"/>
              </a:spcBef>
              <a:spcAft>
                <a:spcPts val="600"/>
              </a:spcAft>
            </a:pPr>
            <a:r>
              <a:rPr sz="850" b="0" i="0">
                <a:solidFill>
                  <a:srgbClr val="4A4F57"/>
                </a:solidFill>
                <a:latin typeface="Calibri"/>
              </a:rPr>
              <a:t>Declared inputs reconciled against the feature registry</a:t>
            </a:r>
          </a:p>
        </p:txBody>
      </p:sp>
      <p:sp>
        <p:nvSpPr>
          <p:cNvPr id="25" name="Rectangle 24"/>
          <p:cNvSpPr/>
          <p:nvPr/>
        </p:nvSpPr>
        <p:spPr>
          <a:xfrm>
            <a:off x="8505879"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505879"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8652183"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6</a:t>
            </a:r>
          </a:p>
          <a:p>
            <a:pPr>
              <a:spcBef>
                <a:spcPts val="0"/>
              </a:spcBef>
              <a:spcAft>
                <a:spcPts val="400"/>
              </a:spcAft>
            </a:pPr>
            <a:r>
              <a:rPr sz="1100" b="1" i="0">
                <a:solidFill>
                  <a:srgbClr val="1C1C1E"/>
                </a:solidFill>
                <a:latin typeface="Calibri"/>
              </a:rPr>
              <a:t>Commit</a:t>
            </a:r>
          </a:p>
          <a:p>
            <a:pPr>
              <a:lnSpc>
                <a:spcPct val="115000"/>
              </a:lnSpc>
              <a:spcBef>
                <a:spcPts val="0"/>
              </a:spcBef>
              <a:spcAft>
                <a:spcPts val="600"/>
              </a:spcAft>
            </a:pPr>
            <a:r>
              <a:rPr sz="850" b="0" i="0">
                <a:solidFill>
                  <a:srgbClr val="4A4F57"/>
                </a:solidFill>
                <a:latin typeface="Calibri"/>
              </a:rPr>
              <a:t>Version created immutable; artifact promoted, signed, attested</a:t>
            </a:r>
          </a:p>
        </p:txBody>
      </p:sp>
      <p:sp>
        <p:nvSpPr>
          <p:cNvPr id="28" name="Rectangle 27"/>
          <p:cNvSpPr/>
          <p:nvPr/>
        </p:nvSpPr>
        <p:spPr>
          <a:xfrm>
            <a:off x="10051607"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Rectangle 28"/>
          <p:cNvSpPr/>
          <p:nvPr/>
        </p:nvSpPr>
        <p:spPr>
          <a:xfrm>
            <a:off x="10051607"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0" name="TextBox 29"/>
          <p:cNvSpPr txBox="1"/>
          <p:nvPr/>
        </p:nvSpPr>
        <p:spPr>
          <a:xfrm>
            <a:off x="10197911"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7</a:t>
            </a:r>
          </a:p>
          <a:p>
            <a:pPr>
              <a:spcBef>
                <a:spcPts val="0"/>
              </a:spcBef>
              <a:spcAft>
                <a:spcPts val="400"/>
              </a:spcAft>
            </a:pPr>
            <a:r>
              <a:rPr sz="1100" b="1" i="0">
                <a:solidFill>
                  <a:srgbClr val="1C1C1E"/>
                </a:solidFill>
                <a:latin typeface="Calibri"/>
              </a:rPr>
              <a:t>Evidence</a:t>
            </a:r>
          </a:p>
          <a:p>
            <a:pPr>
              <a:lnSpc>
                <a:spcPct val="115000"/>
              </a:lnSpc>
              <a:spcBef>
                <a:spcPts val="0"/>
              </a:spcBef>
              <a:spcAft>
                <a:spcPts val="600"/>
              </a:spcAft>
            </a:pPr>
            <a:r>
              <a:rPr sz="850" b="0" i="0">
                <a:solidFill>
                  <a:srgbClr val="4A4F57"/>
                </a:solidFill>
                <a:latin typeface="Calibri"/>
              </a:rPr>
              <a:t>Nodes appended: artifact, introspection, scans, contract, manifest</a:t>
            </a:r>
          </a:p>
        </p:txBody>
      </p:sp>
      <p:sp>
        <p:nvSpPr>
          <p:cNvPr id="31" name="Rectangle 30"/>
          <p:cNvSpPr/>
          <p:nvPr/>
        </p:nvSpPr>
        <p:spPr>
          <a:xfrm>
            <a:off x="777240" y="3108960"/>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Rectangle 31"/>
          <p:cNvSpPr/>
          <p:nvPr/>
        </p:nvSpPr>
        <p:spPr>
          <a:xfrm>
            <a:off x="777240" y="3108960"/>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1051560" y="3236976"/>
            <a:ext cx="10088575" cy="77724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Transaction boundary. </a:t>
            </a:r>
            <a:r>
              <a:rPr sz="1200" b="0" i="0">
                <a:solidFill>
                  <a:srgbClr val="1C1C1E"/>
                </a:solidFill>
                <a:latin typeface="Calibri"/>
              </a:rPr>
              <a:t>Steps 6–7 are one Postgres transaction plus an outbox row for the object-store promotion. If promotion fails the outbox retries; the version exists but is marked artifact_pending and cannot be aliased. </a:t>
            </a:r>
            <a:r>
              <a:rPr sz="1200" b="1" i="0">
                <a:solidFill>
                  <a:srgbClr val="A51C30"/>
                </a:solidFill>
                <a:latin typeface="Calibri"/>
              </a:rPr>
              <a:t>Partial visibility is preferable to a lost write.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Alias moves — the most dangerous operation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sp>
        <p:nvSpPr>
          <p:cNvPr id="10" name="Rectangle 9"/>
          <p:cNvSpPr/>
          <p:nvPr/>
        </p:nvSpPr>
        <p:spPr>
          <a:xfrm>
            <a:off x="777240" y="1353312"/>
            <a:ext cx="10637215"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maya/registry/aliases.py</a:t>
            </a:r>
          </a:p>
        </p:txBody>
      </p:sp>
      <p:sp>
        <p:nvSpPr>
          <p:cNvPr id="13" name="TextBox 12"/>
          <p:cNvSpPr txBox="1"/>
          <p:nvPr/>
        </p:nvSpPr>
        <p:spPr>
          <a:xfrm>
            <a:off x="978408" y="1746504"/>
            <a:ext cx="10271455"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uow.transaction():</a:t>
            </a:r>
          </a:p>
          <a:p>
            <a:pPr>
              <a:lnSpc>
                <a:spcPct val="134000"/>
              </a:lnSpc>
              <a:spcBef>
                <a:spcPts val="0"/>
              </a:spcBef>
              <a:spcAft>
                <a:spcPts val="0"/>
              </a:spcAft>
            </a:pPr>
            <a:r>
              <a:rPr sz="950" b="0" i="0">
                <a:solidFill>
                  <a:srgbClr val="1C1C1E"/>
                </a:solidFill>
                <a:latin typeface="Consolas"/>
              </a:rPr>
              <a:t>    lock = advisory_lock(f"alias:{model_id}:{env}")     # serialise per (model, env)</a:t>
            </a:r>
          </a:p>
          <a:p>
            <a:pPr>
              <a:lnSpc>
                <a:spcPct val="134000"/>
              </a:lnSpc>
              <a:spcBef>
                <a:spcPts val="0"/>
              </a:spcBef>
              <a:spcAft>
                <a:spcPts val="0"/>
              </a:spcAft>
            </a:pPr>
            <a:r>
              <a:rPr sz="950" b="0" i="0">
                <a:solidFill>
                  <a:srgbClr val="1C1C1E"/>
                </a:solidFill>
                <a:latin typeface="Consolas"/>
              </a:rPr>
              <a:t>    ref  = new.contract.refines(cur.contract)            # law L-7</a:t>
            </a:r>
          </a:p>
          <a:p>
            <a:pPr>
              <a:lnSpc>
                <a:spcPct val="134000"/>
              </a:lnSpc>
              <a:spcBef>
                <a:spcPts val="0"/>
              </a:spcBef>
              <a:spcAft>
                <a:spcPts val="0"/>
              </a:spcAft>
            </a:pPr>
            <a:r>
              <a:rPr sz="950" b="0" i="0">
                <a:solidFill>
                  <a:srgbClr val="1C1C1E"/>
                </a:solidFill>
                <a:latin typeface="Consolas"/>
              </a:rPr>
              <a:t>    var  = substitutable(new.schema, cur.schema)         # law L-12</a:t>
            </a:r>
          </a:p>
          <a:p>
            <a:pPr>
              <a:lnSpc>
                <a:spcPct val="134000"/>
              </a:lnSpc>
              <a:spcBef>
                <a:spcPts val="0"/>
              </a:spcBef>
              <a:spcAft>
                <a:spcPts val="0"/>
              </a:spcAft>
            </a:pPr>
            <a:r>
              <a:rPr sz="950" b="0" i="0">
                <a:solidFill>
                  <a:srgbClr val="1C1C1E"/>
                </a:solidFill>
                <a:latin typeface="Consolas"/>
              </a:rPr>
              <a:t>    if not (ref.holds and var.ok):</a:t>
            </a:r>
          </a:p>
          <a:p>
            <a:pPr>
              <a:lnSpc>
                <a:spcPct val="134000"/>
              </a:lnSpc>
              <a:spcBef>
                <a:spcPts val="0"/>
              </a:spcBef>
              <a:spcAft>
                <a:spcPts val="0"/>
              </a:spcAft>
            </a:pPr>
            <a:r>
              <a:rPr sz="950" b="0" i="0">
                <a:solidFill>
                  <a:srgbClr val="1C1C1E"/>
                </a:solidFill>
                <a:latin typeface="Consolas"/>
              </a:rPr>
              <a:t>        raise AliasMoveRefused(ref, var, consumers=hooks.consumers_of(...))</a:t>
            </a:r>
          </a:p>
          <a:p>
            <a:pPr>
              <a:lnSpc>
                <a:spcPct val="134000"/>
              </a:lnSpc>
              <a:spcBef>
                <a:spcPts val="0"/>
              </a:spcBef>
              <a:spcAft>
                <a:spcPts val="0"/>
              </a:spcAft>
            </a:pPr>
            <a:r>
              <a:rPr sz="950" b="0" i="0">
                <a:solidFill>
                  <a:srgbClr val="1C1C1E"/>
                </a:solidFill>
                <a:latin typeface="Consolas"/>
              </a:rPr>
              <a:t>    if not policy.evaluate("gates.alias_move", ctx).allow: raise PolicyDenied(...)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hook_projection.rebuild(model_id, env, name, new)    # PRE-WARM before invalidate</a:t>
            </a:r>
          </a:p>
          <a:p>
            <a:pPr>
              <a:lnSpc>
                <a:spcPct val="134000"/>
              </a:lnSpc>
              <a:spcBef>
                <a:spcPts val="0"/>
              </a:spcBef>
              <a:spcAft>
                <a:spcPts val="0"/>
              </a:spcAft>
            </a:pPr>
            <a:r>
              <a:rPr sz="950" b="0" i="0">
                <a:solidFill>
                  <a:srgbClr val="1C1C1E"/>
                </a:solidFill>
                <a:latin typeface="Consolas"/>
              </a:rPr>
              <a:t>    aliases.point(model_id, env, name, new)</a:t>
            </a:r>
          </a:p>
          <a:p>
            <a:pPr>
              <a:lnSpc>
                <a:spcPct val="134000"/>
              </a:lnSpc>
              <a:spcBef>
                <a:spcPts val="0"/>
              </a:spcBef>
              <a:spcAft>
                <a:spcPts val="0"/>
              </a:spcAft>
            </a:pPr>
            <a:r>
              <a:rPr sz="950" b="0" i="0">
                <a:solidFill>
                  <a:srgbClr val="1C1C1E"/>
                </a:solidFill>
                <a:latin typeface="Consolas"/>
              </a:rPr>
              <a:t>    alias_history.append(cur, new, ref, var, actor, justification)</a:t>
            </a:r>
          </a:p>
          <a:p>
            <a:pPr>
              <a:lnSpc>
                <a:spcPct val="134000"/>
              </a:lnSpc>
              <a:spcBef>
                <a:spcPts val="0"/>
              </a:spcBef>
              <a:spcAft>
                <a:spcPts val="0"/>
              </a:spcAft>
            </a:pPr>
            <a:r>
              <a:rPr sz="950" b="0" i="0">
                <a:solidFill>
                  <a:srgbClr val="1C1C1E"/>
                </a:solidFill>
                <a:latin typeface="Consolas"/>
              </a:rPr>
              <a:t>    outbox.put(CacheInvalidate(...), AliasMoved(...))</a:t>
            </a:r>
          </a:p>
          <a:p>
            <a:pPr>
              <a:lnSpc>
                <a:spcPct val="134000"/>
              </a:lnSpc>
              <a:spcBef>
                <a:spcPts val="0"/>
              </a:spcBef>
              <a:spcAft>
                <a:spcPts val="0"/>
              </a:spcAft>
            </a:pPr>
            <a:r>
              <a:rPr sz="950" b="0" i="0">
                <a:solidFill>
                  <a:srgbClr val="1C1C1E"/>
                </a:solidFill>
                <a:latin typeface="Consolas"/>
              </a:rPr>
              <a:t>monitoring.schedule_post_move_comparison(model_id, env, window="P7D")</a:t>
            </a:r>
          </a:p>
        </p:txBody>
      </p:sp>
      <p:sp>
        <p:nvSpPr>
          <p:cNvPr id="14" name="TextBox 13"/>
          <p:cNvSpPr txBox="1"/>
          <p:nvPr/>
        </p:nvSpPr>
        <p:spPr>
          <a:xfrm>
            <a:off x="777240" y="4842730"/>
            <a:ext cx="10637215" cy="1005840"/>
          </a:xfrm>
          <a:prstGeom prst="rect">
            <a:avLst/>
          </a:prstGeom>
          <a:noFill/>
        </p:spPr>
        <p:txBody>
          <a:bodyPr wrap="square" lIns="0" rIns="0" tIns="0" bIns="0" anchor="t">
            <a:spAutoFit/>
          </a:bodyPr>
          <a:lstStyle/>
          <a:p>
            <a:pPr algn="l">
              <a:lnSpc>
                <a:spcPct val="130000"/>
              </a:lnSpc>
              <a:spcBef>
                <a:spcPts val="0"/>
              </a:spcBef>
              <a:spcAft>
                <a:spcPts val="0"/>
              </a:spcAft>
            </a:pPr>
            <a:r>
              <a:rPr sz="1200" b="1" i="0">
                <a:solidFill>
                  <a:srgbClr val="A51C30"/>
                </a:solidFill>
                <a:latin typeface="Calibri"/>
              </a:rPr>
              <a:t>Three things are happening. </a:t>
            </a:r>
            <a:r>
              <a:rPr sz="1200" b="0" i="0">
                <a:solidFill>
                  <a:srgbClr val="1C1C1E"/>
                </a:solidFill>
                <a:latin typeface="Calibri"/>
              </a:rPr>
              <a:t>Substitutability is a </a:t>
            </a:r>
            <a:r>
              <a:rPr sz="1200" b="1" i="0">
                <a:solidFill>
                  <a:srgbClr val="1C1C1E"/>
                </a:solidFill>
                <a:latin typeface="Calibri"/>
              </a:rPr>
              <a:t>proof</a:t>
            </a:r>
            <a:r>
              <a:rPr sz="1200" b="0" i="0">
                <a:solidFill>
                  <a:srgbClr val="1C1C1E"/>
                </a:solidFill>
                <a:latin typeface="Calibri"/>
              </a:rPr>
              <a:t> — consumers cannot be broken and are not redeployed. Pre-warming before invalidating is the fix for the cache stampede found in adversarial review, so a hot alias is never served from an empty cache. And the automatic seven-day post-move comparison is SS1/23's parallel outcomes analysis, performed as infrastructure rather than as a project.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3</a:t>
            </a:r>
          </a:p>
        </p:txBody>
      </p:sp>
      <p:sp>
        <p:nvSpPr>
          <p:cNvPr id="5" name="TextBox 4"/>
          <p:cNvSpPr txBox="1"/>
          <p:nvPr/>
        </p:nvSpPr>
        <p:spPr>
          <a:xfrm>
            <a:off x="1005840" y="2390241"/>
            <a:ext cx="6169584" cy="1188720"/>
          </a:xfrm>
          <a:prstGeom prst="rect">
            <a:avLst/>
          </a:prstGeom>
          <a:noFill/>
        </p:spPr>
        <p:txBody>
          <a:bodyPr wrap="square" lIns="0" rIns="0" tIns="0" bIns="0" anchor="t">
            <a:spAutoFit/>
          </a:bodyPr>
          <a:lstStyle/>
          <a:p>
            <a:pPr algn="l">
              <a:spcBef>
                <a:spcPts val="0"/>
              </a:spcBef>
              <a:spcAft>
                <a:spcPts val="0"/>
              </a:spcAft>
            </a:pPr>
            <a:r>
              <a:rPr sz="3800" b="0" i="0">
                <a:solidFill>
                  <a:srgbClr val="FFFFFF"/>
                </a:solidFill>
                <a:latin typeface="Georgia"/>
              </a:rPr>
              <a:t>Governance Subsystems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Evidence, risk, regimes, lifecycle, validation, documentation.</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Evidence append and chain</a:t>
            </a:r>
          </a:p>
          <a:p>
            <a:pPr>
              <a:lnSpc>
                <a:spcPct val="115000"/>
              </a:lnSpc>
              <a:spcBef>
                <a:spcPts val="0"/>
              </a:spcBef>
              <a:spcAft>
                <a:spcPts val="700"/>
              </a:spcAft>
            </a:pPr>
            <a:r>
              <a:rPr sz="1150" b="0" i="0">
                <a:solidFill>
                  <a:srgbClr val="F6E6E9"/>
                </a:solidFill>
                <a:latin typeface="Calibri"/>
              </a:rPr>
              <a:t>Semiring evaluation</a:t>
            </a:r>
          </a:p>
          <a:p>
            <a:pPr>
              <a:lnSpc>
                <a:spcPct val="115000"/>
              </a:lnSpc>
              <a:spcBef>
                <a:spcPts val="0"/>
              </a:spcBef>
              <a:spcAft>
                <a:spcPts val="700"/>
              </a:spcAft>
            </a:pPr>
            <a:r>
              <a:rPr sz="1150" b="0" i="0">
                <a:solidFill>
                  <a:srgbClr val="F6E6E9"/>
                </a:solidFill>
                <a:latin typeface="Calibri"/>
              </a:rPr>
              <a:t>The tiering algorithm</a:t>
            </a:r>
          </a:p>
          <a:p>
            <a:pPr>
              <a:lnSpc>
                <a:spcPct val="115000"/>
              </a:lnSpc>
              <a:spcBef>
                <a:spcPts val="0"/>
              </a:spcBef>
              <a:spcAft>
                <a:spcPts val="700"/>
              </a:spcAft>
            </a:pPr>
            <a:r>
              <a:rPr sz="1150" b="0" i="0">
                <a:solidFill>
                  <a:srgbClr val="F6E6E9"/>
                </a:solidFill>
                <a:latin typeface="Calibri"/>
              </a:rPr>
              <a:t>Anti-gaming</a:t>
            </a:r>
          </a:p>
          <a:p>
            <a:pPr>
              <a:lnSpc>
                <a:spcPct val="115000"/>
              </a:lnSpc>
              <a:spcBef>
                <a:spcPts val="0"/>
              </a:spcBef>
              <a:spcAft>
                <a:spcPts val="700"/>
              </a:spcAft>
            </a:pPr>
            <a:r>
              <a:rPr sz="1150" b="0" i="0">
                <a:solidFill>
                  <a:srgbClr val="F6E6E9"/>
                </a:solidFill>
                <a:latin typeface="Calibri"/>
              </a:rPr>
              <a:t>Institutions in code</a:t>
            </a:r>
          </a:p>
          <a:p>
            <a:pPr>
              <a:lnSpc>
                <a:spcPct val="115000"/>
              </a:lnSpc>
              <a:spcBef>
                <a:spcPts val="0"/>
              </a:spcBef>
              <a:spcAft>
                <a:spcPts val="700"/>
              </a:spcAft>
            </a:pPr>
            <a:r>
              <a:rPr sz="1150" b="0" i="0">
                <a:solidFill>
                  <a:srgbClr val="F6E6E9"/>
                </a:solidFill>
                <a:latin typeface="Calibri"/>
              </a:rPr>
              <a:t>Lifecycle and baseline import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EVIDENCE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Evidence engine — append and chain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sp>
        <p:nvSpPr>
          <p:cNvPr id="10" name="Rectangle 9"/>
          <p:cNvSpPr/>
          <p:nvPr/>
        </p:nvSpPr>
        <p:spPr>
          <a:xfrm>
            <a:off x="777240" y="1353312"/>
            <a:ext cx="6382329"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APPEND PATH</a:t>
            </a:r>
          </a:p>
        </p:txBody>
      </p:sp>
      <p:sp>
        <p:nvSpPr>
          <p:cNvPr id="13" name="TextBox 12"/>
          <p:cNvSpPr txBox="1"/>
          <p:nvPr/>
        </p:nvSpPr>
        <p:spPr>
          <a:xfrm>
            <a:off x="978408" y="1746504"/>
            <a:ext cx="6016569"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uow.lock("evidence_chain"):        # serialises seq only</a:t>
            </a:r>
          </a:p>
          <a:p>
            <a:pPr>
              <a:lnSpc>
                <a:spcPct val="134000"/>
              </a:lnSpc>
              <a:spcBef>
                <a:spcPts val="0"/>
              </a:spcBef>
              <a:spcAft>
                <a:spcPts val="0"/>
              </a:spcAft>
            </a:pPr>
            <a:r>
              <a:rPr sz="950" b="0" i="0">
                <a:solidFill>
                  <a:srgbClr val="1C1C1E"/>
                </a:solidFill>
                <a:latin typeface="Consolas"/>
              </a:rPr>
              <a:t>    prev = evidence.head()</a:t>
            </a:r>
          </a:p>
          <a:p>
            <a:pPr>
              <a:lnSpc>
                <a:spcPct val="134000"/>
              </a:lnSpc>
              <a:spcBef>
                <a:spcPts val="0"/>
              </a:spcBef>
              <a:spcAft>
                <a:spcPts val="0"/>
              </a:spcAft>
            </a:pPr>
            <a:r>
              <a:rPr sz="950" b="0" i="0">
                <a:solidFill>
                  <a:srgbClr val="1C1C1E"/>
                </a:solidFill>
                <a:latin typeface="Consolas"/>
              </a:rPr>
              <a:t>    node = EvidenceNode(</a:t>
            </a:r>
          </a:p>
          <a:p>
            <a:pPr>
              <a:lnSpc>
                <a:spcPct val="134000"/>
              </a:lnSpc>
              <a:spcBef>
                <a:spcPts val="0"/>
              </a:spcBef>
              <a:spcAft>
                <a:spcPts val="0"/>
              </a:spcAft>
            </a:pPr>
            <a:r>
              <a:rPr sz="950" b="0" i="0">
                <a:solidFill>
                  <a:srgbClr val="1C1C1E"/>
                </a:solidFill>
                <a:latin typeface="Consolas"/>
              </a:rPr>
              <a:t>        seq = prev.seq + 1,</a:t>
            </a:r>
          </a:p>
          <a:p>
            <a:pPr>
              <a:lnSpc>
                <a:spcPct val="134000"/>
              </a:lnSpc>
              <a:spcBef>
                <a:spcPts val="0"/>
              </a:spcBef>
              <a:spcAft>
                <a:spcPts val="0"/>
              </a:spcAft>
            </a:pPr>
            <a:r>
              <a:rPr sz="950" b="0" i="0">
                <a:solidFill>
                  <a:srgbClr val="1C1C1E"/>
                </a:solidFill>
                <a:latin typeface="Consolas"/>
              </a:rPr>
              <a:t>        payload = {} if personal_data else payload,     # law L-18</a:t>
            </a:r>
          </a:p>
          <a:p>
            <a:pPr>
              <a:lnSpc>
                <a:spcPct val="134000"/>
              </a:lnSpc>
              <a:spcBef>
                <a:spcPts val="0"/>
              </a:spcBef>
              <a:spcAft>
                <a:spcPts val="0"/>
              </a:spcAft>
            </a:pPr>
            <a:r>
              <a:rPr sz="950" b="0" i="0">
                <a:solidFill>
                  <a:srgbClr val="1C1C1E"/>
                </a:solidFill>
                <a:latin typeface="Consolas"/>
              </a:rPr>
              <a:t>        payload_uri = delta.put(payload) if personal_data else None,</a:t>
            </a:r>
          </a:p>
          <a:p>
            <a:pPr>
              <a:lnSpc>
                <a:spcPct val="134000"/>
              </a:lnSpc>
              <a:spcBef>
                <a:spcPts val="0"/>
              </a:spcBef>
              <a:spcAft>
                <a:spcPts val="0"/>
              </a:spcAft>
            </a:pPr>
            <a:r>
              <a:rPr sz="950" b="0" i="0">
                <a:solidFill>
                  <a:srgbClr val="1C1C1E"/>
                </a:solidFill>
                <a:latin typeface="Consolas"/>
              </a:rPr>
              <a:t>        content_hash = sha256(canonical_json(...)),</a:t>
            </a:r>
          </a:p>
          <a:p>
            <a:pPr>
              <a:lnSpc>
                <a:spcPct val="134000"/>
              </a:lnSpc>
              <a:spcBef>
                <a:spcPts val="0"/>
              </a:spcBef>
              <a:spcAft>
                <a:spcPts val="0"/>
              </a:spcAft>
            </a:pPr>
            <a:r>
              <a:rPr sz="950" b="0" i="0">
                <a:solidFill>
                  <a:srgbClr val="1C1C1E"/>
                </a:solidFill>
                <a:latin typeface="Consolas"/>
              </a:rPr>
              <a:t>        prev_hash    = prev.chain_hash,</a:t>
            </a:r>
          </a:p>
          <a:p>
            <a:pPr>
              <a:lnSpc>
                <a:spcPct val="134000"/>
              </a:lnSpc>
              <a:spcBef>
                <a:spcPts val="0"/>
              </a:spcBef>
              <a:spcAft>
                <a:spcPts val="0"/>
              </a:spcAft>
            </a:pPr>
            <a:r>
              <a:rPr sz="950" b="0" i="0">
                <a:solidFill>
                  <a:srgbClr val="1C1C1E"/>
                </a:solidFill>
                <a:latin typeface="Consolas"/>
              </a:rPr>
              <a:t>        chain_hash   = sha256(f"{seq}|{prev_hash}|{content_hash}|"</a:t>
            </a:r>
          </a:p>
          <a:p>
            <a:pPr>
              <a:lnSpc>
                <a:spcPct val="134000"/>
              </a:lnSpc>
              <a:spcBef>
                <a:spcPts val="0"/>
              </a:spcBef>
              <a:spcAft>
                <a:spcPts val="0"/>
              </a:spcAft>
            </a:pPr>
            <a:r>
              <a:rPr sz="950" b="0" i="0">
                <a:solidFill>
                  <a:srgbClr val="1C1C1E"/>
                </a:solidFill>
                <a:latin typeface="Consolas"/>
              </a:rPr>
              <a:t>                              f"{sorted(parent.chain_hash)}"),</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evidence.insert(node)                # INSERT-only database role</a:t>
            </a:r>
          </a:p>
        </p:txBody>
      </p:sp>
      <p:sp>
        <p:nvSpPr>
          <p:cNvPr id="14" name="TextBox 13"/>
          <p:cNvSpPr txBox="1"/>
          <p:nvPr/>
        </p:nvSpPr>
        <p:spPr>
          <a:xfrm>
            <a:off x="7585057" y="1353312"/>
            <a:ext cx="3829397" cy="320040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Chain over DAG — why both</a:t>
            </a:r>
          </a:p>
          <a:p>
            <a:pPr>
              <a:spcBef>
                <a:spcPts val="700"/>
              </a:spcBef>
              <a:spcAft>
                <a:spcPts val="300"/>
              </a:spcAft>
            </a:pPr>
            <a:r>
              <a:rPr sz="1100" b="1">
                <a:solidFill>
                  <a:srgbClr val="A51C30"/>
                </a:solidFill>
                <a:latin typeface="Calibri"/>
              </a:rPr>
              <a:t>▪  </a:t>
            </a:r>
            <a:r>
              <a:rPr sz="1100" b="1">
                <a:solidFill>
                  <a:srgbClr val="1C1C1E"/>
                </a:solidFill>
                <a:latin typeface="Calibri"/>
              </a:rPr>
              <a:t>The DAG expresses derivation</a:t>
            </a:r>
          </a:p>
          <a:p>
            <a:pPr lvl="1">
              <a:spcBef>
                <a:spcPts val="0"/>
              </a:spcBef>
              <a:spcAft>
                <a:spcPts val="0"/>
              </a:spcAft>
            </a:pPr>
            <a:r>
              <a:rPr sz="950">
                <a:solidFill>
                  <a:srgbClr val="4A4F57"/>
                </a:solidFill>
                <a:latin typeface="Calibri"/>
              </a:rPr>
              <a:t>what supports what</a:t>
            </a:r>
          </a:p>
          <a:p>
            <a:pPr>
              <a:spcBef>
                <a:spcPts val="700"/>
              </a:spcBef>
              <a:spcAft>
                <a:spcPts val="300"/>
              </a:spcAft>
            </a:pPr>
            <a:r>
              <a:rPr sz="1100" b="1">
                <a:solidFill>
                  <a:srgbClr val="A51C30"/>
                </a:solidFill>
                <a:latin typeface="Calibri"/>
              </a:rPr>
              <a:t>▪  </a:t>
            </a:r>
            <a:r>
              <a:rPr sz="1100" b="1">
                <a:solidFill>
                  <a:srgbClr val="1C1C1E"/>
                </a:solidFill>
                <a:latin typeface="Calibri"/>
              </a:rPr>
              <a:t>The linear chain expresses order</a:t>
            </a:r>
          </a:p>
          <a:p>
            <a:pPr lvl="1">
              <a:spcBef>
                <a:spcPts val="0"/>
              </a:spcBef>
              <a:spcAft>
                <a:spcPts val="0"/>
              </a:spcAft>
            </a:pPr>
            <a:r>
              <a:rPr sz="950">
                <a:solidFill>
                  <a:srgbClr val="4A4F57"/>
                </a:solidFill>
                <a:latin typeface="Calibri"/>
              </a:rPr>
              <a:t>so deletion of a leaf and insertion into the past become detectable</a:t>
            </a:r>
          </a:p>
          <a:p>
            <a:pPr>
              <a:spcBef>
                <a:spcPts val="700"/>
              </a:spcBef>
              <a:spcAft>
                <a:spcPts val="300"/>
              </a:spcAft>
            </a:pPr>
            <a:r>
              <a:rPr sz="1100" b="1">
                <a:solidFill>
                  <a:srgbClr val="A51C30"/>
                </a:solidFill>
                <a:latin typeface="Calibri"/>
              </a:rPr>
              <a:t>▪  </a:t>
            </a:r>
            <a:r>
              <a:rPr sz="1100" b="1">
                <a:solidFill>
                  <a:srgbClr val="1C1C1E"/>
                </a:solidFill>
                <a:latin typeface="Calibri"/>
              </a:rPr>
              <a:t>Anchored daily</a:t>
            </a:r>
          </a:p>
          <a:p>
            <a:pPr lvl="1">
              <a:spcBef>
                <a:spcPts val="0"/>
              </a:spcBef>
              <a:spcAft>
                <a:spcPts val="0"/>
              </a:spcAft>
            </a:pPr>
            <a:r>
              <a:rPr sz="950">
                <a:solidFill>
                  <a:srgbClr val="4A4F57"/>
                </a:solidFill>
                <a:latin typeface="Calibri"/>
              </a:rPr>
              <a:t>chain head written to WORM and an RFC-3161 timestamp — self-consistency of a chain an attacker controls proves nothing</a:t>
            </a:r>
          </a:p>
          <a:p>
            <a:pPr>
              <a:spcBef>
                <a:spcPts val="700"/>
              </a:spcBef>
              <a:spcAft>
                <a:spcPts val="300"/>
              </a:spcAft>
            </a:pPr>
            <a:r>
              <a:rPr sz="1100" b="1">
                <a:solidFill>
                  <a:srgbClr val="A51C30"/>
                </a:solidFill>
                <a:latin typeface="Calibri"/>
              </a:rPr>
              <a:t>▪  </a:t>
            </a:r>
            <a:r>
              <a:rPr sz="1100" b="1">
                <a:solidFill>
                  <a:srgbClr val="1C1C1E"/>
                </a:solidFill>
                <a:latin typeface="Calibri"/>
              </a:rPr>
              <a:t>Personal data is never inline</a:t>
            </a:r>
          </a:p>
          <a:p>
            <a:pPr lvl="1">
              <a:spcBef>
                <a:spcPts val="0"/>
              </a:spcBef>
              <a:spcAft>
                <a:spcPts val="0"/>
              </a:spcAft>
            </a:pPr>
            <a:r>
              <a:rPr sz="950">
                <a:solidFill>
                  <a:srgbClr val="4A4F57"/>
                </a:solidFill>
                <a:latin typeface="Calibri"/>
              </a:rPr>
              <a:t>only an erasable pointer, so crypto-shredding leaves the chain valid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SEMIRING EVALUATION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engine, nine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16</a:t>
            </a:r>
          </a:p>
        </p:txBody>
      </p:sp>
      <p:sp>
        <p:nvSpPr>
          <p:cNvPr id="10" name="Rectangle 9"/>
          <p:cNvSpPr/>
          <p:nvPr/>
        </p:nvSpPr>
        <p:spPr>
          <a:xfrm>
            <a:off x="777240" y="1353312"/>
            <a:ext cx="5850468"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maya/evidence/query.py</a:t>
            </a:r>
          </a:p>
        </p:txBody>
      </p:sp>
      <p:sp>
        <p:nvSpPr>
          <p:cNvPr id="13" name="TextBox 12"/>
          <p:cNvSpPr txBox="1"/>
          <p:nvPr/>
        </p:nvSpPr>
        <p:spPr>
          <a:xfrm>
            <a:off x="978408" y="1746504"/>
            <a:ext cx="5484708"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evaluate(claim, K: Semiring[T], valuation) -&gt; T:</a:t>
            </a:r>
          </a:p>
          <a:p>
            <a:pPr>
              <a:lnSpc>
                <a:spcPct val="134000"/>
              </a:lnSpc>
              <a:spcBef>
                <a:spcPts val="0"/>
              </a:spcBef>
              <a:spcAft>
                <a:spcPts val="0"/>
              </a:spcAft>
            </a:pPr>
            <a:r>
              <a:rPr sz="950" b="0" i="0">
                <a:solidFill>
                  <a:srgbClr val="1C1C1E"/>
                </a:solidFill>
                <a:latin typeface="Consolas"/>
              </a:rPr>
              <a:t>    def go(node):</a:t>
            </a:r>
          </a:p>
          <a:p>
            <a:pPr>
              <a:lnSpc>
                <a:spcPct val="134000"/>
              </a:lnSpc>
              <a:spcBef>
                <a:spcPts val="0"/>
              </a:spcBef>
              <a:spcAft>
                <a:spcPts val="0"/>
              </a:spcAft>
            </a:pPr>
            <a:r>
              <a:rPr sz="950" b="0" i="0">
                <a:solidFill>
                  <a:srgbClr val="1C1C1E"/>
                </a:solidFill>
                <a:latin typeface="Consolas"/>
              </a:rPr>
              <a:t>        d = derivations[node]</a:t>
            </a:r>
          </a:p>
          <a:p>
            <a:pPr>
              <a:lnSpc>
                <a:spcPct val="134000"/>
              </a:lnSpc>
              <a:spcBef>
                <a:spcPts val="0"/>
              </a:spcBef>
              <a:spcAft>
                <a:spcPts val="0"/>
              </a:spcAft>
            </a:pPr>
            <a:r>
              <a:rPr sz="950" b="0" i="0">
                <a:solidFill>
                  <a:srgbClr val="1C1C1E"/>
                </a:solidFill>
                <a:latin typeface="Consolas"/>
              </a:rPr>
              <a:t>        if d.is_leaf: return valuation(node)</a:t>
            </a:r>
          </a:p>
          <a:p>
            <a:pPr>
              <a:lnSpc>
                <a:spcPct val="134000"/>
              </a:lnSpc>
              <a:spcBef>
                <a:spcPts val="0"/>
              </a:spcBef>
              <a:spcAft>
                <a:spcPts val="0"/>
              </a:spcAft>
            </a:pPr>
            <a:r>
              <a:rPr sz="950" b="0" i="0">
                <a:solidFill>
                  <a:srgbClr val="1C1C1E"/>
                </a:solidFill>
                <a:latin typeface="Consolas"/>
              </a:rPr>
              <a:t>        r = K.zero</a:t>
            </a:r>
          </a:p>
          <a:p>
            <a:pPr>
              <a:lnSpc>
                <a:spcPct val="134000"/>
              </a:lnSpc>
              <a:spcBef>
                <a:spcPts val="0"/>
              </a:spcBef>
              <a:spcAft>
                <a:spcPts val="0"/>
              </a:spcAft>
            </a:pPr>
            <a:r>
              <a:rPr sz="950" b="0" i="0">
                <a:solidFill>
                  <a:srgbClr val="1C1C1E"/>
                </a:solidFill>
                <a:latin typeface="Consolas"/>
              </a:rPr>
              <a:t>        for alt in d.alternatives:            # OR</a:t>
            </a:r>
          </a:p>
          <a:p>
            <a:pPr>
              <a:lnSpc>
                <a:spcPct val="134000"/>
              </a:lnSpc>
              <a:spcBef>
                <a:spcPts val="0"/>
              </a:spcBef>
              <a:spcAft>
                <a:spcPts val="0"/>
              </a:spcAft>
            </a:pPr>
            <a:r>
              <a:rPr sz="950" b="0" i="0">
                <a:solidFill>
                  <a:srgbClr val="1C1C1E"/>
                </a:solidFill>
                <a:latin typeface="Consolas"/>
              </a:rPr>
              <a:t>            t = K.one</a:t>
            </a:r>
          </a:p>
          <a:p>
            <a:pPr>
              <a:lnSpc>
                <a:spcPct val="134000"/>
              </a:lnSpc>
              <a:spcBef>
                <a:spcPts val="0"/>
              </a:spcBef>
              <a:spcAft>
                <a:spcPts val="0"/>
              </a:spcAft>
            </a:pPr>
            <a:r>
              <a:rPr sz="950" b="0" i="0">
                <a:solidFill>
                  <a:srgbClr val="1C1C1E"/>
                </a:solidFill>
                <a:latin typeface="Consolas"/>
              </a:rPr>
              <a:t>            for dep in alt.requires:          # AND</a:t>
            </a:r>
          </a:p>
          <a:p>
            <a:pPr>
              <a:lnSpc>
                <a:spcPct val="134000"/>
              </a:lnSpc>
              <a:spcBef>
                <a:spcPts val="0"/>
              </a:spcBef>
              <a:spcAft>
                <a:spcPts val="0"/>
              </a:spcAft>
            </a:pPr>
            <a:r>
              <a:rPr sz="950" b="0" i="0">
                <a:solidFill>
                  <a:srgbClr val="1C1C1E"/>
                </a:solidFill>
                <a:latin typeface="Consolas"/>
              </a:rPr>
              <a:t>                t = K.times(t, go(dep))</a:t>
            </a:r>
          </a:p>
          <a:p>
            <a:pPr>
              <a:lnSpc>
                <a:spcPct val="134000"/>
              </a:lnSpc>
              <a:spcBef>
                <a:spcPts val="0"/>
              </a:spcBef>
              <a:spcAft>
                <a:spcPts val="0"/>
              </a:spcAft>
            </a:pPr>
            <a:r>
              <a:rPr sz="950" b="0" i="0">
                <a:solidFill>
                  <a:srgbClr val="1C1C1E"/>
                </a:solidFill>
                <a:latin typeface="Consolas"/>
              </a:rPr>
              <a:t>            r = K.plus(r, t)</a:t>
            </a:r>
          </a:p>
          <a:p>
            <a:pPr>
              <a:lnSpc>
                <a:spcPct val="134000"/>
              </a:lnSpc>
              <a:spcBef>
                <a:spcPts val="0"/>
              </a:spcBef>
              <a:spcAft>
                <a:spcPts val="0"/>
              </a:spcAft>
            </a:pPr>
            <a:r>
              <a:rPr sz="950" b="0" i="0">
                <a:solidFill>
                  <a:srgbClr val="1C1C1E"/>
                </a:solidFill>
                <a:latin typeface="Consolas"/>
              </a:rPr>
              <a:t>        return r</a:t>
            </a:r>
          </a:p>
          <a:p>
            <a:pPr>
              <a:lnSpc>
                <a:spcPct val="134000"/>
              </a:lnSpc>
              <a:spcBef>
                <a:spcPts val="0"/>
              </a:spcBef>
              <a:spcAft>
                <a:spcPts val="0"/>
              </a:spcAft>
            </a:pPr>
            <a:r>
              <a:rPr sz="950" b="0" i="0">
                <a:solidFill>
                  <a:srgbClr val="1C1C1E"/>
                </a:solidFill>
                <a:latin typeface="Consolas"/>
              </a:rPr>
              <a:t>    return go(claim.root)                     # memoised</a:t>
            </a:r>
          </a:p>
        </p:txBody>
      </p:sp>
      <p:graphicFrame>
        <p:nvGraphicFramePr>
          <p:cNvPr id="14" name="Table 13"/>
          <p:cNvGraphicFramePr>
            <a:graphicFrameLocks noGrp="1"/>
          </p:cNvGraphicFramePr>
          <p:nvPr/>
        </p:nvGraphicFramePr>
        <p:xfrm>
          <a:off x="7053196" y="1353312"/>
          <a:ext cx="4361257" cy="2863088"/>
        </p:xfrm>
        <a:graphic>
          <a:graphicData uri="http://schemas.openxmlformats.org/drawingml/2006/table">
            <a:tbl>
              <a:tblPr firstRow="1">
                <a:tableStyleId>{5C22544A-7EE6-4342-B048-85BDC9FD1C3A}</a:tableStyleId>
              </a:tblPr>
              <a:tblGrid>
                <a:gridCol w="1453752"/>
                <a:gridCol w="2907505"/>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Used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Lifecycle gates, hook resolution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Why(X)</a:t>
                      </a:r>
                    </a:p>
                  </a:txBody>
                  <a:tcPr marL="82296" marR="64008" marT="32004" marB="32004" anchor="ctr">
                    <a:solidFill>
                      <a:srgbClr val="F6F3EF"/>
                    </a:solidFill>
                  </a:tcPr>
                </a:tc>
                <a:tc>
                  <a:txBody>
                    <a:bodyPr wrap="square"/>
                    <a:lstStyle/>
                    <a:p>
                      <a:pPr algn="l"/>
                      <a:r>
                        <a:rPr sz="1000" b="0">
                          <a:solidFill>
                            <a:srgbClr val="1C1C1E"/>
                          </a:solidFill>
                          <a:latin typeface="Calibri"/>
                        </a:rPr>
                        <a:t>Examiner packs — what must be shown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ℕ[X]</a:t>
                      </a:r>
                    </a:p>
                  </a:txBody>
                  <a:tcPr marL="82296" marR="64008" marT="32004" marB="32004" anchor="ctr">
                    <a:solidFill>
                      <a:srgbClr val="FFFFFF"/>
                    </a:solidFill>
                  </a:tcPr>
                </a:tc>
                <a:tc>
                  <a:txBody>
                    <a:bodyPr wrap="square"/>
                    <a:lstStyle/>
                    <a:p>
                      <a:pPr algn="l"/>
                      <a:r>
                        <a:rPr sz="1000" b="0">
                          <a:solidFill>
                            <a:srgbClr val="1C1C1E"/>
                          </a:solidFill>
                          <a:latin typeface="Calibri"/>
                        </a:rPr>
                        <a:t>Tier 1 audit reconstruction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Health score, AI-draft discounting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Tropical</a:t>
                      </a:r>
                    </a:p>
                  </a:txBody>
                  <a:tcPr marL="82296" marR="64008" marT="32004" marB="32004" anchor="ctr">
                    <a:solidFill>
                      <a:srgbClr val="FFFFFF"/>
                    </a:solidFill>
                  </a:tcPr>
                </a:tc>
                <a:tc>
                  <a:txBody>
                    <a:bodyPr wrap="square"/>
                    <a:lstStyle/>
                    <a:p>
                      <a:pPr algn="l"/>
                      <a:r>
                        <a:rPr sz="1000" b="0">
                          <a:solidFill>
                            <a:srgbClr val="1C1C1E"/>
                          </a:solidFill>
                          <a:latin typeface="Calibri"/>
                        </a:rPr>
                        <a:t>Remediation planning, capacity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Classification</a:t>
                      </a:r>
                    </a:p>
                  </a:txBody>
                  <a:tcPr marL="82296" marR="64008" marT="32004" marB="32004" anchor="ctr">
                    <a:solidFill>
                      <a:srgbClr val="F6F3EF"/>
                    </a:solidFill>
                  </a:tcPr>
                </a:tc>
                <a:tc>
                  <a:txBody>
                    <a:bodyPr wrap="square"/>
                    <a:lstStyle/>
                    <a:p>
                      <a:pPr algn="l"/>
                      <a:r>
                        <a:rPr sz="1000" b="0">
                          <a:solidFill>
                            <a:srgbClr val="1C1C1E"/>
                          </a:solidFill>
                          <a:latin typeface="Calibri"/>
                        </a:rPr>
                        <a:t>PII propagation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Admissibility</a:t>
                      </a:r>
                    </a:p>
                  </a:txBody>
                  <a:tcPr marL="82296" marR="64008" marT="32004" marB="32004" anchor="ctr">
                    <a:solidFill>
                      <a:srgbClr val="FFFFFF"/>
                    </a:solidFill>
                  </a:tcPr>
                </a:tc>
                <a:tc>
                  <a:txBody>
                    <a:bodyPr wrap="square"/>
                    <a:lstStyle/>
                    <a:p>
                      <a:pPr algn="l"/>
                      <a:r>
                        <a:rPr sz="1000" b="0">
                          <a:solidFill>
                            <a:srgbClr val="1C1C1E"/>
                          </a:solidFill>
                          <a:latin typeface="Calibri"/>
                        </a:rPr>
                        <a:t>Which regulators accept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Document staleness</a:t>
                      </a:r>
                    </a:p>
                  </a:txBody>
                  <a:tcPr marL="82296" marR="64008" marT="32004" marB="32004" anchor="ctr">
                    <a:solidFill>
                      <a:srgbClr val="F6F3EF"/>
                    </a:solidFill>
                  </a:tcPr>
                </a:tc>
              </a:tr>
            </a:tbl>
          </a:graphicData>
        </a:graphic>
      </p:graphicFrame>
      <p:sp>
        <p:nvSpPr>
          <p:cNvPr id="15" name="Rectangle 14"/>
          <p:cNvSpPr/>
          <p:nvPr/>
        </p:nvSpPr>
        <p:spPr>
          <a:xfrm>
            <a:off x="777240" y="4620737"/>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4620737"/>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51560" y="4748753"/>
            <a:ext cx="10088575" cy="68580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Complexity, stated honestly. </a:t>
            </a:r>
            <a:r>
              <a:rPr sz="1150" b="0" i="0">
                <a:solidFill>
                  <a:srgbClr val="1C1C1E"/>
                </a:solidFill>
                <a:latin typeface="Calibri"/>
              </a:rPr>
              <a:t>Why-provenance is worst-case exponential in the number of alternatives. Controls: canonical form with absorption, memoisation, depth cap, and a hard 4,096-term cap beyond which evaluation degrades to Boolean ⊕ Trust and emits truncated=true. </a:t>
            </a:r>
            <a:r>
              <a:rPr sz="1150" b="1" i="0">
                <a:solidFill>
                  <a:srgbClr val="A51C30"/>
                </a:solidFill>
                <a:latin typeface="Calibri"/>
              </a:rPr>
              <a:t>A silently partial answer is never returned.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tiering algorithm</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17</a:t>
            </a:r>
          </a:p>
        </p:txBody>
      </p:sp>
      <p:sp>
        <p:nvSpPr>
          <p:cNvPr id="10" name="Rectangle 9"/>
          <p:cNvSpPr/>
          <p:nvPr/>
        </p:nvSpPr>
        <p:spPr>
          <a:xfrm>
            <a:off x="777240" y="1353312"/>
            <a:ext cx="6169584" cy="38262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8262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maya/risk/tiering.py</a:t>
            </a:r>
          </a:p>
        </p:txBody>
      </p:sp>
      <p:sp>
        <p:nvSpPr>
          <p:cNvPr id="13" name="TextBox 12"/>
          <p:cNvSpPr txBox="1"/>
          <p:nvPr/>
        </p:nvSpPr>
        <p:spPr>
          <a:xfrm>
            <a:off x="978408" y="1746504"/>
            <a:ext cx="5803824" cy="335072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facts = FactCollector(model_id).collect()      # sourced where possible</a:t>
            </a:r>
          </a:p>
          <a:p>
            <a:pPr>
              <a:lnSpc>
                <a:spcPct val="134000"/>
              </a:lnSpc>
              <a:spcBef>
                <a:spcPts val="0"/>
              </a:spcBef>
              <a:spcAft>
                <a:spcPts val="0"/>
              </a:spcAft>
            </a:pPr>
            <a:r>
              <a:rPr sz="950" b="0" i="0">
                <a:solidFill>
                  <a:srgbClr val="1C1C1E"/>
                </a:solidFill>
                <a:latin typeface="Consolas"/>
              </a:rPr>
              <a:t>rules = rulesets.get(ruleset_version)          # immutable, versioned, tested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m = Materiality(quantitative = rules.exposure_band(...),</a:t>
            </a:r>
          </a:p>
          <a:p>
            <a:pPr>
              <a:lnSpc>
                <a:spcPct val="134000"/>
              </a:lnSpc>
              <a:spcBef>
                <a:spcPts val="0"/>
              </a:spcBef>
              <a:spcAft>
                <a:spcPts val="0"/>
              </a:spcAft>
            </a:pPr>
            <a:r>
              <a:rPr sz="950" b="0" i="0">
                <a:solidFill>
                  <a:srgbClr val="1C1C1E"/>
                </a:solidFill>
                <a:latin typeface="Consolas"/>
              </a:rPr>
              <a:t>                qualitative  = rules.purpose_class(...)).join()</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c = Complexity.meet(data=..., methodology=..., implementation=...,</a:t>
            </a:r>
          </a:p>
          <a:p>
            <a:pPr>
              <a:lnSpc>
                <a:spcPct val="134000"/>
              </a:lnSpc>
              <a:spcBef>
                <a:spcPts val="0"/>
              </a:spcBef>
              <a:spcAft>
                <a:spcPts val="0"/>
              </a:spcAft>
            </a:pPr>
            <a:r>
              <a:rPr sz="950" b="0" i="0">
                <a:solidFill>
                  <a:srgbClr val="1C1C1E"/>
                </a:solidFill>
                <a:latin typeface="Consolas"/>
              </a:rPr>
              <a:t>                    use_intensity=..., interpretability=...,</a:t>
            </a:r>
          </a:p>
          <a:p>
            <a:pPr>
              <a:lnSpc>
                <a:spcPct val="134000"/>
              </a:lnSpc>
              <a:spcBef>
                <a:spcPts val="0"/>
              </a:spcBef>
              <a:spcAft>
                <a:spcPts val="0"/>
              </a:spcAft>
            </a:pPr>
            <a:r>
              <a:rPr sz="950" b="0" i="0">
                <a:solidFill>
                  <a:srgbClr val="1C1C1E"/>
                </a:solidFill>
                <a:latin typeface="Consolas"/>
              </a:rPr>
              <a:t>                    transparency=..., bias_potential=...)</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tier     = rules.tau(m, c)      # monotone — law L-4</a:t>
            </a:r>
          </a:p>
          <a:p>
            <a:pPr>
              <a:lnSpc>
                <a:spcPct val="134000"/>
              </a:lnSpc>
              <a:spcBef>
                <a:spcPts val="0"/>
              </a:spcBef>
              <a:spcAft>
                <a:spcPts val="0"/>
              </a:spcAft>
            </a:pPr>
            <a:r>
              <a:rPr sz="950" b="0" i="0">
                <a:solidFill>
                  <a:srgbClr val="1C1C1E"/>
                </a:solidFill>
                <a:latin typeface="Consolas"/>
              </a:rPr>
              <a:t>controls = rules.req(tier)      # Galois adjoint — law L-5</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return RiskAssessment(fact_snapshot=..., ruleset_version=...,</a:t>
            </a:r>
          </a:p>
          <a:p>
            <a:pPr>
              <a:lnSpc>
                <a:spcPct val="134000"/>
              </a:lnSpc>
              <a:spcBef>
                <a:spcPts val="0"/>
              </a:spcBef>
              <a:spcAft>
                <a:spcPts val="0"/>
              </a:spcAft>
            </a:pPr>
            <a:r>
              <a:rPr sz="950" b="0" i="0">
                <a:solidFill>
                  <a:srgbClr val="1C1C1E"/>
                </a:solidFill>
                <a:latin typeface="Consolas"/>
              </a:rPr>
              <a:t>                      rationale=rules.explain(m, c, tier),   # DR-4</a:t>
            </a:r>
          </a:p>
          <a:p>
            <a:pPr>
              <a:lnSpc>
                <a:spcPct val="134000"/>
              </a:lnSpc>
              <a:spcBef>
                <a:spcPts val="0"/>
              </a:spcBef>
              <a:spcAft>
                <a:spcPts val="0"/>
              </a:spcAft>
            </a:pPr>
            <a:r>
              <a:rPr sz="950" b="0" i="0">
                <a:solidFill>
                  <a:srgbClr val="1C1C1E"/>
                </a:solidFill>
                <a:latin typeface="Consolas"/>
              </a:rPr>
              <a:t>                      next_review_due=..., triggers=...)</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axes, never one score</a:t>
            </a:r>
          </a:p>
          <a:p>
            <a:pPr>
              <a:lnSpc>
                <a:spcPct val="126000"/>
              </a:lnSpc>
              <a:spcBef>
                <a:spcPts val="0"/>
              </a:spcBef>
              <a:spcAft>
                <a:spcPts val="1000"/>
              </a:spcAft>
            </a:pPr>
            <a:r>
              <a:rPr sz="1100" b="0" i="0">
                <a:solidFill>
                  <a:srgbClr val="4A4F57"/>
                </a:solidFill>
                <a:latin typeface="Calibri"/>
              </a:rPr>
              <a:t>Materiality and complexity are separate lattices. Collapsing them into a product lets a very complex model with modest exposure land beside a simple model with enormous exposure.</a:t>
            </a:r>
          </a:p>
          <a:p>
            <a:pPr>
              <a:spcBef>
                <a:spcPts val="0"/>
              </a:spcBef>
              <a:spcAft>
                <a:spcPts val="700"/>
              </a:spcAft>
            </a:pPr>
            <a:r>
              <a:rPr sz="1250" b="1" i="0">
                <a:solidFill>
                  <a:srgbClr val="1C1C1E"/>
                </a:solidFill>
                <a:latin typeface="Georgia"/>
              </a:rPr>
              <a:t>The guarantee</a:t>
            </a:r>
          </a:p>
          <a:p>
            <a:pPr>
              <a:lnSpc>
                <a:spcPct val="126000"/>
              </a:lnSpc>
              <a:spcBef>
                <a:spcPts val="0"/>
              </a:spcBef>
              <a:spcAft>
                <a:spcPts val="600"/>
              </a:spcAft>
            </a:pPr>
            <a:r>
              <a:rPr sz="1100" b="0" i="0">
                <a:solidFill>
                  <a:srgbClr val="4A4F57"/>
                </a:solidFill>
                <a:latin typeface="Calibri"/>
              </a:rPr>
              <a:t>τ is monotone, so </a:t>
            </a:r>
            <a:r>
              <a:rPr sz="1100" b="1" i="0">
                <a:solidFill>
                  <a:srgbClr val="1C1C1E"/>
                </a:solidFill>
                <a:latin typeface="Calibri"/>
              </a:rPr>
              <a:t>nothing we can learn about a model that makes it more consequential or more complicated will ever move it into a lighter control regime.</a:t>
            </a:r>
            <a:r>
              <a:rPr sz="1100" b="0" i="0">
                <a:solidFill>
                  <a:srgbClr val="4A4F57"/>
                </a:solidFill>
                <a:latin typeface="Calibri"/>
              </a:rPr>
              <a:t> An unconstrained scoring formula cannot make that promise, and typically cannot even be checked.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Anti-gaming: where the facts come from</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graphicFrame>
        <p:nvGraphicFramePr>
          <p:cNvPr id="10" name="Table 9"/>
          <p:cNvGraphicFramePr>
            <a:graphicFrameLocks noGrp="1"/>
          </p:cNvGraphicFramePr>
          <p:nvPr/>
        </p:nvGraphicFramePr>
        <p:xfrm>
          <a:off x="777240" y="1353312"/>
          <a:ext cx="10637214" cy="1846426"/>
        </p:xfrm>
        <a:graphic>
          <a:graphicData uri="http://schemas.openxmlformats.org/drawingml/2006/table">
            <a:tbl>
              <a:tblPr firstRow="1">
                <a:tableStyleId>{5C22544A-7EE6-4342-B048-85BDC9FD1C3A}</a:tableStyleId>
              </a:tblPr>
              <a:tblGrid>
                <a:gridCol w="2200803"/>
                <a:gridCol w="4951807"/>
                <a:gridCol w="3484604"/>
              </a:tblGrid>
              <a:tr h="333781">
                <a:tc>
                  <a:txBody>
                    <a:bodyPr wrap="square"/>
                    <a:lstStyle/>
                    <a:p>
                      <a:pPr algn="l"/>
                      <a:r>
                        <a:rPr sz="1100" b="1">
                          <a:solidFill>
                            <a:srgbClr val="FFFFFF"/>
                          </a:solidFill>
                          <a:latin typeface="Calibri"/>
                        </a:rPr>
                        <a:t>Fact</a:t>
                      </a:r>
                    </a:p>
                  </a:txBody>
                  <a:tcPr marL="82296" marR="64008" marT="32004" marB="32004" anchor="ctr">
                    <a:solidFill>
                      <a:srgbClr val="A51C30"/>
                    </a:solidFill>
                  </a:tcPr>
                </a:tc>
                <a:tc>
                  <a:txBody>
                    <a:bodyPr wrap="square"/>
                    <a:lstStyle/>
                    <a:p>
                      <a:pPr algn="l"/>
                      <a:r>
                        <a:rPr sz="1100" b="1">
                          <a:solidFill>
                            <a:srgbClr val="FFFFFF"/>
                          </a:solidFill>
                          <a:latin typeface="Calibri"/>
                        </a:rPr>
                        <a:t>Source</a:t>
                      </a:r>
                    </a:p>
                  </a:txBody>
                  <a:tcPr marL="82296" marR="64008" marT="32004" marB="32004" anchor="ctr">
                    <a:solidFill>
                      <a:srgbClr val="A51C30"/>
                    </a:solidFill>
                  </a:tcPr>
                </a:tc>
                <a:tc>
                  <a:txBody>
                    <a:bodyPr wrap="square"/>
                    <a:lstStyle/>
                    <a:p>
                      <a:pPr algn="l"/>
                      <a:r>
                        <a:rPr sz="1100" b="1">
                          <a:solidFill>
                            <a:srgbClr val="FFFFFF"/>
                          </a:solidFill>
                          <a:latin typeface="Calibri"/>
                        </a:rPr>
                        <a:t>If unavailable</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exposure_measure</a:t>
                      </a:r>
                    </a:p>
                  </a:txBody>
                  <a:tcPr marL="82296" marR="64008" marT="32004" marB="32004" anchor="ctr">
                    <a:solidFill>
                      <a:srgbClr val="FFFFFF"/>
                    </a:solidFill>
                  </a:tcPr>
                </a:tc>
                <a:tc>
                  <a:txBody>
                    <a:bodyPr wrap="square"/>
                    <a:lstStyle/>
                    <a:p>
                      <a:pPr algn="l"/>
                      <a:r>
                        <a:rPr sz="1050" b="0">
                          <a:solidFill>
                            <a:srgbClr val="1C1C1E"/>
                          </a:solidFill>
                          <a:latin typeface="Calibri"/>
                        </a:rPr>
                        <a:t>Bound to a system of record — risk data mart, GL, portfolio system — with nightly reconciliation</a:t>
                      </a:r>
                    </a:p>
                  </a:txBody>
                  <a:tcPr marL="82296" marR="64008" marT="32004" marB="32004" anchor="ctr">
                    <a:solidFill>
                      <a:srgbClr val="FFFFFF"/>
                    </a:solidFill>
                  </a:tcPr>
                </a:tc>
                <a:tc>
                  <a:txBody>
                    <a:bodyPr wrap="square"/>
                    <a:lstStyle/>
                    <a:p>
                      <a:pPr algn="l"/>
                      <a:r>
                        <a:rPr sz="1050" b="0">
                          <a:solidFill>
                            <a:srgbClr val="1C1C1E"/>
                          </a:solidFill>
                          <a:latin typeface="Calibri"/>
                        </a:rPr>
                        <a:t>Marked unsourced; peer-cohort outlier detection applies; flagged on the model page</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purpose_class</a:t>
                      </a:r>
                    </a:p>
                  </a:txBody>
                  <a:tcPr marL="82296" marR="64008" marT="32004" marB="32004" anchor="ctr">
                    <a:solidFill>
                      <a:srgbClr val="F6F3EF"/>
                    </a:solidFill>
                  </a:tcPr>
                </a:tc>
                <a:tc>
                  <a:txBody>
                    <a:bodyPr wrap="square"/>
                    <a:lstStyle/>
                    <a:p>
                      <a:pPr algn="l"/>
                      <a:r>
                        <a:rPr sz="1050" b="0">
                          <a:solidFill>
                            <a:srgbClr val="1C1C1E"/>
                          </a:solidFill>
                          <a:latin typeface="Calibri"/>
                        </a:rPr>
                        <a:t>Human — but a change requires approval at the tier being LEFT, not the tier being entered</a:t>
                      </a:r>
                    </a:p>
                  </a:txBody>
                  <a:tcPr marL="82296" marR="64008" marT="32004" marB="32004" anchor="ctr">
                    <a:solidFill>
                      <a:srgbClr val="F6F3EF"/>
                    </a:solidFill>
                  </a:tcPr>
                </a:tc>
                <a:tc>
                  <a:txBody>
                    <a:bodyPr wrap="square"/>
                    <a:lstStyle/>
                    <a:p>
                      <a:pPr algn="l"/>
                      <a:r>
                        <a:rPr sz="1050" b="0">
                          <a:solidFill>
                            <a:srgbClr val="1C1C1E"/>
                          </a:solidFill>
                          <a:latin typeface="Calibri"/>
                        </a:rPr>
                        <a: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complexity components</a:t>
                      </a:r>
                    </a:p>
                  </a:txBody>
                  <a:tcPr marL="82296" marR="64008" marT="32004" marB="32004" anchor="ctr">
                    <a:solidFill>
                      <a:srgbClr val="FFFFFF"/>
                    </a:solidFill>
                  </a:tcPr>
                </a:tc>
                <a:tc>
                  <a:txBody>
                    <a:bodyPr wrap="square"/>
                    <a:lstStyle/>
                    <a:p>
                      <a:pPr algn="l"/>
                      <a:r>
                        <a:rPr sz="1050" b="0">
                          <a:solidFill>
                            <a:srgbClr val="1C1C1E"/>
                          </a:solidFill>
                          <a:latin typeface="Calibri"/>
                        </a:rPr>
                        <a:t>Derived from artifact introspection, feature contract and lineage where possible</a:t>
                      </a:r>
                    </a:p>
                  </a:txBody>
                  <a:tcPr marL="82296" marR="64008" marT="32004" marB="32004" anchor="ctr">
                    <a:solidFill>
                      <a:srgbClr val="FFFFFF"/>
                    </a:solidFill>
                  </a:tcPr>
                </a:tc>
                <a:tc>
                  <a:txBody>
                    <a:bodyPr wrap="square"/>
                    <a:lstStyle/>
                    <a:p>
                      <a:pPr algn="l"/>
                      <a:r>
                        <a:rPr sz="1050" b="0">
                          <a:solidFill>
                            <a:srgbClr val="1C1C1E"/>
                          </a:solidFill>
                          <a:latin typeface="Calibri"/>
                        </a:rPr>
                        <a:t>Human, with recorded rationale</a:t>
                      </a:r>
                    </a:p>
                  </a:txBody>
                  <a:tcPr marL="82296" marR="64008" marT="32004" marB="32004" anchor="ctr">
                    <a:solidFill>
                      <a:srgbClr val="FFFFFF"/>
                    </a:solidFill>
                  </a:tcPr>
                </a:tc>
              </a:tr>
            </a:tbl>
          </a:graphicData>
        </a:graphic>
      </p:graphicFrame>
      <p:sp>
        <p:nvSpPr>
          <p:cNvPr id="11" name="TextBox 10"/>
          <p:cNvSpPr txBox="1"/>
          <p:nvPr/>
        </p:nvSpPr>
        <p:spPr>
          <a:xfrm>
            <a:off x="777240" y="3474059"/>
            <a:ext cx="5105863" cy="173736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The attack the obvious control misses</a:t>
            </a:r>
          </a:p>
          <a:p>
            <a:pPr>
              <a:lnSpc>
                <a:spcPct val="126000"/>
              </a:lnSpc>
              <a:spcBef>
                <a:spcPts val="0"/>
              </a:spcBef>
              <a:spcAft>
                <a:spcPts val="0"/>
              </a:spcAft>
            </a:pPr>
            <a:r>
              <a:rPr sz="1150" b="0" i="0">
                <a:solidFill>
                  <a:srgbClr val="4A4F57"/>
                </a:solidFill>
                <a:latin typeface="Calibri"/>
              </a:rPr>
              <a:t>Tier is derived, traced and monotone — so overriding it is visible. But it is derived from facts, and understating an exposure lowers the tier through a perfectly valid, fully audited derivation.</a:t>
            </a:r>
          </a:p>
        </p:txBody>
      </p:sp>
      <p:sp>
        <p:nvSpPr>
          <p:cNvPr id="12" name="Rectangle 11"/>
          <p:cNvSpPr/>
          <p:nvPr/>
        </p:nvSpPr>
        <p:spPr>
          <a:xfrm>
            <a:off x="6521336" y="3474059"/>
            <a:ext cx="4893118"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521336" y="3474059"/>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759080" y="3602075"/>
            <a:ext cx="4435918" cy="137160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Retrospective calibration</a:t>
            </a:r>
          </a:p>
          <a:p>
            <a:pPr>
              <a:lnSpc>
                <a:spcPct val="126000"/>
              </a:lnSpc>
              <a:spcBef>
                <a:spcPts val="0"/>
              </a:spcBef>
              <a:spcAft>
                <a:spcPts val="0"/>
              </a:spcAft>
            </a:pPr>
            <a:r>
              <a:rPr sz="1150" b="0" i="0">
                <a:solidFill>
                  <a:srgbClr val="1C1C1E"/>
                </a:solidFill>
                <a:latin typeface="Calibri"/>
              </a:rPr>
              <a:t>Annually, tier assignments are back-tested against realised incidents, findings and losses. </a:t>
            </a:r>
            <a:r>
              <a:rPr sz="1150" b="1" i="0">
                <a:solidFill>
                  <a:srgbClr val="1C1C1E"/>
                </a:solidFill>
                <a:latin typeface="Calibri"/>
              </a:rPr>
              <a:t>A tier that never predicts anything is evidence of systematic understatement — not of a quiet portfolio.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REGIMES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Institutions in code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19</a:t>
            </a:r>
          </a:p>
        </p:txBody>
      </p:sp>
      <p:sp>
        <p:nvSpPr>
          <p:cNvPr id="10" name="Rectangle 9"/>
          <p:cNvSpPr/>
          <p:nvPr/>
        </p:nvSpPr>
        <p:spPr>
          <a:xfrm>
            <a:off x="777240" y="1353312"/>
            <a:ext cx="10637215"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maya/regimes/engine.py</a:t>
            </a:r>
          </a:p>
        </p:txBody>
      </p:sp>
      <p:sp>
        <p:nvSpPr>
          <p:cNvPr id="13" name="TextBox 12"/>
          <p:cNvSpPr txBox="1"/>
          <p:nvPr/>
        </p:nvSpPr>
        <p:spPr>
          <a:xfrm>
            <a:off x="978408" y="1746504"/>
            <a:ext cx="10271455"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determine(model_id: str, inst: Institution) -&gt; ScopeDetermination:</a:t>
            </a:r>
          </a:p>
          <a:p>
            <a:pPr>
              <a:lnSpc>
                <a:spcPct val="134000"/>
              </a:lnSpc>
              <a:spcBef>
                <a:spcPts val="0"/>
              </a:spcBef>
              <a:spcAft>
                <a:spcPts val="0"/>
              </a:spcAft>
            </a:pPr>
            <a:r>
              <a:rPr sz="950" b="0" i="0">
                <a:solidFill>
                  <a:srgbClr val="1C1C1E"/>
                </a:solidFill>
                <a:latin typeface="Consolas"/>
              </a:rPr>
              <a:t>    core   = CoreFacts.for_model(model_id)</a:t>
            </a:r>
          </a:p>
          <a:p>
            <a:pPr>
              <a:lnSpc>
                <a:spcPct val="134000"/>
              </a:lnSpc>
              <a:spcBef>
                <a:spcPts val="0"/>
              </a:spcBef>
              <a:spcAft>
                <a:spcPts val="0"/>
              </a:spcAft>
            </a:pPr>
            <a:r>
              <a:rPr sz="950" b="0" i="0">
                <a:solidFill>
                  <a:srgbClr val="1C1C1E"/>
                </a:solidFill>
                <a:latin typeface="Consolas"/>
              </a:rPr>
              <a:t>    local  = inst.translate(core)                    # the comorphism component</a:t>
            </a:r>
          </a:p>
          <a:p>
            <a:pPr>
              <a:lnSpc>
                <a:spcPct val="134000"/>
              </a:lnSpc>
              <a:spcBef>
                <a:spcPts val="0"/>
              </a:spcBef>
              <a:spcAft>
                <a:spcPts val="0"/>
              </a:spcAft>
            </a:pPr>
            <a:r>
              <a:rPr sz="950" b="0" i="0">
                <a:solidFill>
                  <a:srgbClr val="1C1C1E"/>
                </a:solidFill>
                <a:latin typeface="Consolas"/>
              </a:rPr>
              <a:t>    result = inst.sentences["is_model"].evaluate(local)</a:t>
            </a:r>
          </a:p>
          <a:p>
            <a:pPr>
              <a:lnSpc>
                <a:spcPct val="134000"/>
              </a:lnSpc>
              <a:spcBef>
                <a:spcPts val="0"/>
              </a:spcBef>
              <a:spcAft>
                <a:spcPts val="0"/>
              </a:spcAft>
            </a:pPr>
            <a:r>
              <a:rPr sz="950" b="0" i="0">
                <a:solidFill>
                  <a:srgbClr val="1C1C1E"/>
                </a:solidFill>
                <a:latin typeface="Consolas"/>
              </a:rPr>
              <a:t>    return ScopeDetermination(</a:t>
            </a:r>
          </a:p>
          <a:p>
            <a:pPr>
              <a:lnSpc>
                <a:spcPct val="134000"/>
              </a:lnSpc>
              <a:spcBef>
                <a:spcPts val="0"/>
              </a:spcBef>
              <a:spcAft>
                <a:spcPts val="0"/>
              </a:spcAft>
            </a:pPr>
            <a:r>
              <a:rPr sz="950" b="0" i="0">
                <a:solidFill>
                  <a:srgbClr val="1C1C1E"/>
                </a:solidFill>
                <a:latin typeface="Consolas"/>
              </a:rPr>
              <a:t>        regime_key=inst.key, regime_version=inst.version,</a:t>
            </a:r>
          </a:p>
          <a:p>
            <a:pPr>
              <a:lnSpc>
                <a:spcPct val="134000"/>
              </a:lnSpc>
              <a:spcBef>
                <a:spcPts val="0"/>
              </a:spcBef>
              <a:spcAft>
                <a:spcPts val="0"/>
              </a:spcAft>
            </a:pPr>
            <a:r>
              <a:rPr sz="950" b="0" i="0">
                <a:solidFill>
                  <a:srgbClr val="1C1C1E"/>
                </a:solidFill>
                <a:latin typeface="Consolas"/>
              </a:rPr>
              <a:t>        determination = "in_scope" if result.value else "out_of_scope",</a:t>
            </a:r>
          </a:p>
          <a:p>
            <a:pPr>
              <a:lnSpc>
                <a:spcPct val="134000"/>
              </a:lnSpc>
              <a:spcBef>
                <a:spcPts val="0"/>
              </a:spcBef>
              <a:spcAft>
                <a:spcPts val="0"/>
              </a:spcAft>
            </a:pPr>
            <a:r>
              <a:rPr sz="950" b="0" i="0">
                <a:solidFill>
                  <a:srgbClr val="1C1C1E"/>
                </a:solidFill>
                <a:latin typeface="Consolas"/>
              </a:rPr>
              <a:t>        derivation = {"sentence": "is_model", "evaluated": result.value,</a:t>
            </a:r>
          </a:p>
          <a:p>
            <a:pPr>
              <a:lnSpc>
                <a:spcPct val="134000"/>
              </a:lnSpc>
              <a:spcBef>
                <a:spcPts val="0"/>
              </a:spcBef>
              <a:spcAft>
                <a:spcPts val="0"/>
              </a:spcAft>
            </a:pPr>
            <a:r>
              <a:rPr sz="950" b="0" i="0">
                <a:solidFill>
                  <a:srgbClr val="1C1C1E"/>
                </a:solidFill>
                <a:latin typeface="Consolas"/>
              </a:rPr>
              <a:t>                      "failing_conjunct": result.first_false_conjunct,</a:t>
            </a:r>
          </a:p>
          <a:p>
            <a:pPr>
              <a:lnSpc>
                <a:spcPct val="134000"/>
              </a:lnSpc>
              <a:spcBef>
                <a:spcPts val="0"/>
              </a:spcBef>
              <a:spcAft>
                <a:spcPts val="0"/>
              </a:spcAft>
            </a:pPr>
            <a:r>
              <a:rPr sz="950" b="0" i="0">
                <a:solidFill>
                  <a:srgbClr val="1C1C1E"/>
                </a:solidFill>
                <a:latin typeface="Consolas"/>
              </a:rPr>
              <a:t>                      "facts": local.as_dict(), "citation": result.citation},</a:t>
            </a:r>
          </a:p>
          <a:p>
            <a:pPr>
              <a:lnSpc>
                <a:spcPct val="134000"/>
              </a:lnSpc>
              <a:spcBef>
                <a:spcPts val="0"/>
              </a:spcBef>
              <a:spcAft>
                <a:spcPts val="0"/>
              </a:spcAft>
            </a:pPr>
            <a:r>
              <a:rPr sz="950" b="0" i="0">
                <a:solidFill>
                  <a:srgbClr val="1C1C1E"/>
                </a:solidFill>
                <a:latin typeface="Consolas"/>
              </a:rPr>
              <a:t>        obligations = [s.key for s in inst.sentences if s.is_obligation and s.evaluate(local).value])</a:t>
            </a:r>
          </a:p>
        </p:txBody>
      </p:sp>
      <p:sp>
        <p:nvSpPr>
          <p:cNvPr id="14" name="TextBox 13"/>
          <p:cNvSpPr txBox="1"/>
          <p:nvPr/>
        </p:nvSpPr>
        <p:spPr>
          <a:xfrm>
            <a:off x="777240" y="4417032"/>
            <a:ext cx="5531351" cy="173736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 determination is a derivation, not a flag</a:t>
            </a:r>
          </a:p>
          <a:p>
            <a:pPr>
              <a:lnSpc>
                <a:spcPct val="126000"/>
              </a:lnSpc>
              <a:spcBef>
                <a:spcPts val="0"/>
              </a:spcBef>
              <a:spcAft>
                <a:spcPts val="0"/>
              </a:spcAft>
            </a:pPr>
            <a:r>
              <a:rPr sz="1150" b="0" i="0">
                <a:solidFill>
                  <a:srgbClr val="4A4F57"/>
                </a:solidFill>
                <a:latin typeface="Calibri"/>
              </a:rPr>
              <a:t>“Why is this out of scope?” is answered by the failing conjunct and a clause citation — the same answer, every time it is asked, including in five years by someone who was not there.</a:t>
            </a:r>
          </a:p>
        </p:txBody>
      </p:sp>
      <p:sp>
        <p:nvSpPr>
          <p:cNvPr id="15" name="Rectangle 14"/>
          <p:cNvSpPr/>
          <p:nvPr/>
        </p:nvSpPr>
        <p:spPr>
          <a:xfrm>
            <a:off x="6734080" y="4417032"/>
            <a:ext cx="4680374"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4417032"/>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971824" y="4545048"/>
            <a:ext cx="4223174" cy="137160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Law L-8 runs in CI</a:t>
            </a:r>
          </a:p>
          <a:p>
            <a:pPr>
              <a:lnSpc>
                <a:spcPct val="126000"/>
              </a:lnSpc>
              <a:spcBef>
                <a:spcPts val="0"/>
              </a:spcBef>
              <a:spcAft>
                <a:spcPts val="0"/>
              </a:spcAft>
            </a:pPr>
            <a:r>
              <a:rPr sz="1100" b="0" i="0">
                <a:solidFill>
                  <a:srgbClr val="1C1C1E"/>
                </a:solidFill>
                <a:latin typeface="Calibri"/>
              </a:rPr>
              <a:t>Hypothesis generates inventory states. For each regime and sentence, evaluating natively and evaluating the translation must agree. </a:t>
            </a:r>
            <a:r>
              <a:rPr sz="1100" b="1" i="0">
                <a:solidFill>
                  <a:srgbClr val="1C1C1E"/>
                </a:solidFill>
                <a:latin typeface="Calibri"/>
              </a:rPr>
              <a:t>A disagreement is a defective encoding — exactly the bug that produces an indefensible scope determination.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WORKFLOW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Lifecycle, segregation of duties, and day one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20</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Transitions are guarded, and guards explain</a:t>
            </a:r>
          </a:p>
        </p:txBody>
      </p:sp>
      <p:sp>
        <p:nvSpPr>
          <p:cNvPr id="11" name="Rectangle 10"/>
          <p:cNvSpPr/>
          <p:nvPr/>
        </p:nvSpPr>
        <p:spPr>
          <a:xfrm>
            <a:off x="777240" y="1719072"/>
            <a:ext cx="499949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1907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19656"/>
            <a:ext cx="463373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unmet = [g for g in t.guards</a:t>
            </a:r>
          </a:p>
          <a:p>
            <a:pPr>
              <a:lnSpc>
                <a:spcPct val="134000"/>
              </a:lnSpc>
              <a:spcBef>
                <a:spcPts val="0"/>
              </a:spcBef>
              <a:spcAft>
                <a:spcPts val="0"/>
              </a:spcAft>
            </a:pPr>
            <a:r>
              <a:rPr sz="950" b="0" i="0">
                <a:solidFill>
                  <a:srgbClr val="1C1C1E"/>
                </a:solidFill>
                <a:latin typeface="Consolas"/>
              </a:rPr>
              <a:t>         if not policy.evaluate(g, ctx).allow]</a:t>
            </a:r>
          </a:p>
          <a:p>
            <a:pPr>
              <a:lnSpc>
                <a:spcPct val="134000"/>
              </a:lnSpc>
              <a:spcBef>
                <a:spcPts val="0"/>
              </a:spcBef>
              <a:spcAft>
                <a:spcPts val="0"/>
              </a:spcAft>
            </a:pPr>
            <a:r>
              <a:rPr sz="950" b="0" i="0">
                <a:solidFill>
                  <a:srgbClr val="1C1C1E"/>
                </a:solidFill>
                <a:latin typeface="Consolas"/>
              </a:rPr>
              <a:t>sod   = sod_engine.violations(actor, t, m)</a:t>
            </a:r>
          </a:p>
          <a:p>
            <a:pPr>
              <a:lnSpc>
                <a:spcPct val="134000"/>
              </a:lnSpc>
              <a:spcBef>
                <a:spcPts val="0"/>
              </a:spcBef>
              <a:spcAft>
                <a:spcPts val="0"/>
              </a:spcAft>
            </a:pPr>
            <a:r>
              <a:rPr sz="950" b="0" i="0">
                <a:solidFill>
                  <a:srgbClr val="1C1C1E"/>
                </a:solidFill>
                <a:latin typeface="Consolas"/>
              </a:rPr>
              <a:t>if unmet or sod:</a:t>
            </a:r>
          </a:p>
          <a:p>
            <a:pPr>
              <a:lnSpc>
                <a:spcPct val="134000"/>
              </a:lnSpc>
              <a:spcBef>
                <a:spcPts val="0"/>
              </a:spcBef>
              <a:spcAft>
                <a:spcPts val="0"/>
              </a:spcAft>
            </a:pPr>
            <a:r>
              <a:rPr sz="950" b="0" i="0">
                <a:solidFill>
                  <a:srgbClr val="1C1C1E"/>
                </a:solidFill>
                <a:latin typeface="Consolas"/>
              </a:rPr>
              <a:t>    raise TransitionBlocked(unmet, sod)</a:t>
            </a:r>
          </a:p>
          <a:p>
            <a:pPr>
              <a:lnSpc>
                <a:spcPct val="134000"/>
              </a:lnSpc>
              <a:spcBef>
                <a:spcPts val="0"/>
              </a:spcBef>
              <a:spcAft>
                <a:spcPts val="0"/>
              </a:spcAft>
            </a:pPr>
            <a:r>
              <a:rPr sz="950" b="0" i="0">
                <a:solidFill>
                  <a:srgbClr val="7A7F87"/>
                </a:solidFill>
                <a:latin typeface="Consolas"/>
              </a:rPr>
              <a:t>    # each entry carries a remediation link — DR-7</a:t>
            </a:r>
          </a:p>
        </p:txBody>
      </p:sp>
      <p:sp>
        <p:nvSpPr>
          <p:cNvPr id="14" name="TextBox 13"/>
          <p:cNvSpPr txBox="1"/>
          <p:nvPr/>
        </p:nvSpPr>
        <p:spPr>
          <a:xfrm>
            <a:off x="777240" y="3453368"/>
            <a:ext cx="4999491" cy="146304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Six SoD rules, checked twice</a:t>
            </a:r>
          </a:p>
          <a:p>
            <a:pPr>
              <a:lnSpc>
                <a:spcPct val="124000"/>
              </a:lnSpc>
              <a:spcBef>
                <a:spcPts val="0"/>
              </a:spcBef>
              <a:spcAft>
                <a:spcPts val="600"/>
              </a:spcAft>
            </a:pPr>
            <a:r>
              <a:rPr sz="1050" b="0" i="0">
                <a:solidFill>
                  <a:srgbClr val="4A4F57"/>
                </a:solidFill>
                <a:latin typeface="Calibri"/>
              </a:rPr>
              <a:t>developer ≠ validator · owner not sole approver · no self-closure of findings · policy author ≠ publisher · overlay proposer ≠ approver · platform admin has no governance rights</a:t>
            </a:r>
          </a:p>
          <a:p>
            <a:pPr>
              <a:lnSpc>
                <a:spcPct val="124000"/>
              </a:lnSpc>
              <a:spcBef>
                <a:spcPts val="0"/>
              </a:spcBef>
              <a:spcAft>
                <a:spcPts val="0"/>
              </a:spcAft>
            </a:pPr>
            <a:r>
              <a:rPr sz="1050" b="0" i="0">
                <a:solidFill>
                  <a:srgbClr val="4A4F57"/>
                </a:solidFill>
                <a:latin typeface="Calibri"/>
              </a:rPr>
              <a:t>Checked at the API and re-checked nightly — a role change creates a retrospective conflict the point-in-time check never sees.</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Baseline import — the day-one problem</a:t>
            </a:r>
          </a:p>
        </p:txBody>
      </p:sp>
      <p:sp>
        <p:nvSpPr>
          <p:cNvPr id="16" name="Rectangle 15"/>
          <p:cNvSpPr/>
          <p:nvPr/>
        </p:nvSpPr>
        <p:spPr>
          <a:xfrm>
            <a:off x="6414964"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561268"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Imported</a:t>
            </a:r>
          </a:p>
          <a:p>
            <a:pPr>
              <a:lnSpc>
                <a:spcPct val="115000"/>
              </a:lnSpc>
              <a:spcBef>
                <a:spcPts val="0"/>
              </a:spcBef>
              <a:spcAft>
                <a:spcPts val="600"/>
              </a:spcAft>
            </a:pPr>
            <a:r>
              <a:rPr sz="850" b="0" i="0">
                <a:solidFill>
                  <a:srgbClr val="4A4F57"/>
                </a:solidFill>
                <a:latin typeface="Calibri"/>
              </a:rPr>
              <a:t>Bulk / connector</a:t>
            </a:r>
          </a:p>
        </p:txBody>
      </p:sp>
      <p:sp>
        <p:nvSpPr>
          <p:cNvPr id="19" name="Rectangle 18"/>
          <p:cNvSpPr/>
          <p:nvPr/>
        </p:nvSpPr>
        <p:spPr>
          <a:xfrm>
            <a:off x="8142421"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142421"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8288725"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Baselined</a:t>
            </a:r>
          </a:p>
          <a:p>
            <a:pPr>
              <a:lnSpc>
                <a:spcPct val="115000"/>
              </a:lnSpc>
              <a:spcBef>
                <a:spcPts val="0"/>
              </a:spcBef>
              <a:spcAft>
                <a:spcPts val="600"/>
              </a:spcAft>
            </a:pPr>
            <a:r>
              <a:rPr sz="850" b="0" i="0">
                <a:solidFill>
                  <a:srgbClr val="4A4F57"/>
                </a:solidFill>
                <a:latin typeface="Calibri"/>
              </a:rPr>
              <a:t>Tiered, owner confirmed, debt recorded</a:t>
            </a:r>
          </a:p>
        </p:txBody>
      </p:sp>
      <p:sp>
        <p:nvSpPr>
          <p:cNvPr id="22" name="Rectangle 21"/>
          <p:cNvSpPr/>
          <p:nvPr/>
        </p:nvSpPr>
        <p:spPr>
          <a:xfrm>
            <a:off x="9869878"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9869878"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016182"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Gate bites</a:t>
            </a:r>
          </a:p>
          <a:p>
            <a:pPr>
              <a:lnSpc>
                <a:spcPct val="115000"/>
              </a:lnSpc>
              <a:spcBef>
                <a:spcPts val="0"/>
              </a:spcBef>
              <a:spcAft>
                <a:spcPts val="600"/>
              </a:spcAft>
            </a:pPr>
            <a:r>
              <a:rPr sz="850" b="0" i="0">
                <a:solidFill>
                  <a:srgbClr val="4A4F57"/>
                </a:solidFill>
                <a:latin typeface="Calibri"/>
              </a:rPr>
              <a:t>On the next MATERIAL change</a:t>
            </a:r>
          </a:p>
        </p:txBody>
      </p:sp>
      <p:sp>
        <p:nvSpPr>
          <p:cNvPr id="25" name="Rectangle 24"/>
          <p:cNvSpPr/>
          <p:nvPr/>
        </p:nvSpPr>
        <p:spPr>
          <a:xfrm>
            <a:off x="6414964" y="3182112"/>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414964" y="318211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652708" y="3310128"/>
            <a:ext cx="4542291" cy="118872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Why this exists. </a:t>
            </a:r>
            <a:r>
              <a:rPr sz="1100" b="0" i="0">
                <a:solidFill>
                  <a:srgbClr val="1C1C1E"/>
                </a:solidFill>
                <a:latin typeface="Calibri"/>
              </a:rPr>
              <a:t>On import, 1,200 legacy models arrive with no evidence. Without a baseline path every gate fails, every dashboard is red, and the programme dies by month seven. Debt is a tracked burn-down with a board-approved expiry — </a:t>
            </a:r>
            <a:r>
              <a:rPr sz="1100" b="1" i="0">
                <a:solidFill>
                  <a:srgbClr val="1C1C1E"/>
                </a:solidFill>
                <a:latin typeface="Calibri"/>
              </a:rPr>
              <a:t>never rendered in the same colour as a breach.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4</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Data and Features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Point-in-time correctness, version-namespaced serving, monitoring at scale.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PIT assembly</a:t>
            </a:r>
          </a:p>
          <a:p>
            <a:pPr>
              <a:lnSpc>
                <a:spcPct val="115000"/>
              </a:lnSpc>
              <a:spcBef>
                <a:spcPts val="0"/>
              </a:spcBef>
              <a:spcAft>
                <a:spcPts val="700"/>
              </a:spcAft>
            </a:pPr>
            <a:r>
              <a:rPr sz="1150" b="0" i="0">
                <a:solidFill>
                  <a:srgbClr val="F6E6E9"/>
                </a:solidFill>
                <a:latin typeface="Calibri"/>
              </a:rPr>
              <a:t>Three-layer verification</a:t>
            </a:r>
          </a:p>
          <a:p>
            <a:pPr>
              <a:lnSpc>
                <a:spcPct val="115000"/>
              </a:lnSpc>
              <a:spcBef>
                <a:spcPts val="0"/>
              </a:spcBef>
              <a:spcAft>
                <a:spcPts val="700"/>
              </a:spcAft>
            </a:pPr>
            <a:r>
              <a:rPr sz="1150" b="0" i="0">
                <a:solidFill>
                  <a:srgbClr val="F6E6E9"/>
                </a:solidFill>
                <a:latin typeface="Calibri"/>
              </a:rPr>
              <a:t>Online store namespacing</a:t>
            </a:r>
          </a:p>
          <a:p>
            <a:pPr>
              <a:lnSpc>
                <a:spcPct val="115000"/>
              </a:lnSpc>
              <a:spcBef>
                <a:spcPts val="0"/>
              </a:spcBef>
              <a:spcAft>
                <a:spcPts val="700"/>
              </a:spcAft>
            </a:pPr>
            <a:r>
              <a:rPr sz="1150" b="0" i="0">
                <a:solidFill>
                  <a:srgbClr val="F6E6E9"/>
                </a:solidFill>
                <a:latin typeface="Calibri"/>
              </a:rPr>
              <a:t>Monitoring pipeline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FEATURE PLATFORM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Point-in-time assembly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22</a:t>
            </a:r>
          </a:p>
        </p:txBody>
      </p:sp>
      <p:sp>
        <p:nvSpPr>
          <p:cNvPr id="10" name="Rectangle 9"/>
          <p:cNvSpPr/>
          <p:nvPr/>
        </p:nvSpPr>
        <p:spPr>
          <a:xfrm>
            <a:off x="777240" y="1353312"/>
            <a:ext cx="5956840"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maya/features/assembly.py</a:t>
            </a:r>
          </a:p>
        </p:txBody>
      </p:sp>
      <p:sp>
        <p:nvSpPr>
          <p:cNvPr id="13" name="TextBox 12"/>
          <p:cNvSpPr txBox="1"/>
          <p:nvPr/>
        </p:nvSpPr>
        <p:spPr>
          <a:xfrm>
            <a:off x="978408" y="1746504"/>
            <a:ext cx="5591080"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static = analyse_temporal_predicates(spine, views)   # LAYER 1</a:t>
            </a:r>
          </a:p>
          <a:p>
            <a:pPr>
              <a:lnSpc>
                <a:spcPct val="134000"/>
              </a:lnSpc>
              <a:spcBef>
                <a:spcPts val="0"/>
              </a:spcBef>
              <a:spcAft>
                <a:spcPts val="0"/>
              </a:spcAft>
            </a:pPr>
            <a:r>
              <a:rPr sz="950" b="0" i="0">
                <a:solidFill>
                  <a:srgbClr val="1C1C1E"/>
                </a:solidFill>
                <a:latin typeface="Consolas"/>
              </a:rPr>
              <a:t>if not (static.has_valid_time_bound and</a:t>
            </a:r>
          </a:p>
          <a:p>
            <a:pPr>
              <a:lnSpc>
                <a:spcPct val="134000"/>
              </a:lnSpc>
              <a:spcBef>
                <a:spcPts val="0"/>
              </a:spcBef>
              <a:spcAft>
                <a:spcPts val="0"/>
              </a:spcAft>
            </a:pPr>
            <a:r>
              <a:rPr sz="950" b="0" i="0">
                <a:solidFill>
                  <a:srgbClr val="1C1C1E"/>
                </a:solidFill>
                <a:latin typeface="Consolas"/>
              </a:rPr>
              <a:t>        static.has_transaction_time_bound):</a:t>
            </a:r>
          </a:p>
          <a:p>
            <a:pPr>
              <a:lnSpc>
                <a:spcPct val="134000"/>
              </a:lnSpc>
              <a:spcBef>
                <a:spcPts val="0"/>
              </a:spcBef>
              <a:spcAft>
                <a:spcPts val="0"/>
              </a:spcAft>
            </a:pPr>
            <a:r>
              <a:rPr sz="950" b="0" i="0">
                <a:solidFill>
                  <a:srgbClr val="1C1C1E"/>
                </a:solidFill>
                <a:latin typeface="Consolas"/>
              </a:rPr>
              <a:t>    raise AssemblyRejected(static.missing)   # rejected, not sampled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df = spark.read(spine)</a:t>
            </a:r>
          </a:p>
          <a:p>
            <a:pPr>
              <a:lnSpc>
                <a:spcPct val="134000"/>
              </a:lnSpc>
              <a:spcBef>
                <a:spcPts val="0"/>
              </a:spcBef>
              <a:spcAft>
                <a:spcPts val="0"/>
              </a:spcAft>
            </a:pPr>
            <a:r>
              <a:rPr sz="950" b="0" i="0">
                <a:solidFill>
                  <a:srgbClr val="1C1C1E"/>
                </a:solidFill>
                <a:latin typeface="Consolas"/>
              </a:rPr>
              <a:t>for v in views:</a:t>
            </a:r>
          </a:p>
          <a:p>
            <a:pPr>
              <a:lnSpc>
                <a:spcPct val="134000"/>
              </a:lnSpc>
              <a:spcBef>
                <a:spcPts val="0"/>
              </a:spcBef>
              <a:spcAft>
                <a:spcPts val="0"/>
              </a:spcAft>
            </a:pPr>
            <a:r>
              <a:rPr sz="950" b="0" i="0">
                <a:solidFill>
                  <a:srgbClr val="1C1C1E"/>
                </a:solidFill>
                <a:latin typeface="Consolas"/>
              </a:rPr>
              <a:t>    df = df.join(pit_lateral(v, as_of), on=["entity_id"], how="left")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snap   = delta.write(df, name=name)</a:t>
            </a:r>
          </a:p>
          <a:p>
            <a:pPr>
              <a:lnSpc>
                <a:spcPct val="134000"/>
              </a:lnSpc>
              <a:spcBef>
                <a:spcPts val="0"/>
              </a:spcBef>
              <a:spcAft>
                <a:spcPts val="0"/>
              </a:spcAft>
            </a:pPr>
            <a:r>
              <a:rPr sz="950" b="0" i="0">
                <a:solidFill>
                  <a:srgbClr val="1C1C1E"/>
                </a:solidFill>
                <a:latin typeface="Consolas"/>
              </a:rPr>
              <a:t>report = verify_pit(snap, spine, views, as_of)       # LAYER 2</a:t>
            </a:r>
          </a:p>
          <a:p>
            <a:pPr>
              <a:lnSpc>
                <a:spcPct val="134000"/>
              </a:lnSpc>
              <a:spcBef>
                <a:spcPts val="0"/>
              </a:spcBef>
              <a:spcAft>
                <a:spcPts val="0"/>
              </a:spcAft>
            </a:pPr>
            <a:r>
              <a:rPr sz="950" b="0" i="0">
                <a:solidFill>
                  <a:srgbClr val="1C1C1E"/>
                </a:solidFill>
                <a:latin typeface="Consolas"/>
              </a:rPr>
              <a:t>if not report.passed:</a:t>
            </a:r>
          </a:p>
          <a:p>
            <a:pPr>
              <a:lnSpc>
                <a:spcPct val="134000"/>
              </a:lnSpc>
              <a:spcBef>
                <a:spcPts val="0"/>
              </a:spcBef>
              <a:spcAft>
                <a:spcPts val="0"/>
              </a:spcAft>
            </a:pPr>
            <a:r>
              <a:rPr sz="950" b="0" i="0">
                <a:solidFill>
                  <a:srgbClr val="1C1C1E"/>
                </a:solidFill>
                <a:latin typeface="Consolas"/>
              </a:rPr>
              <a:t>    findings.raise_(severity="Critical", category="leakage", ...)</a:t>
            </a:r>
          </a:p>
        </p:txBody>
      </p:sp>
      <p:sp>
        <p:nvSpPr>
          <p:cNvPr id="14" name="Rectangle 13"/>
          <p:cNvSpPr/>
          <p:nvPr/>
        </p:nvSpPr>
        <p:spPr>
          <a:xfrm>
            <a:off x="7159569" y="1353312"/>
            <a:ext cx="4254886" cy="230378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159569" y="1353312"/>
            <a:ext cx="41148" cy="230378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360737" y="1444752"/>
            <a:ext cx="388912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GENERATED JOIN</a:t>
            </a:r>
          </a:p>
        </p:txBody>
      </p:sp>
      <p:sp>
        <p:nvSpPr>
          <p:cNvPr id="17" name="TextBox 16"/>
          <p:cNvSpPr txBox="1"/>
          <p:nvPr/>
        </p:nvSpPr>
        <p:spPr>
          <a:xfrm>
            <a:off x="7360737" y="1746504"/>
            <a:ext cx="3889126"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LEFT JOIN LATERAL (</a:t>
            </a:r>
          </a:p>
          <a:p>
            <a:pPr>
              <a:lnSpc>
                <a:spcPct val="134000"/>
              </a:lnSpc>
              <a:spcBef>
                <a:spcPts val="0"/>
              </a:spcBef>
              <a:spcAft>
                <a:spcPts val="0"/>
              </a:spcAft>
            </a:pPr>
            <a:r>
              <a:rPr sz="900" b="0" i="0">
                <a:solidFill>
                  <a:srgbClr val="1C1C1E"/>
                </a:solidFill>
                <a:latin typeface="Consolas"/>
              </a:rPr>
              <a:t>  SELECT &lt;features&gt;</a:t>
            </a:r>
          </a:p>
          <a:p>
            <a:pPr>
              <a:lnSpc>
                <a:spcPct val="134000"/>
              </a:lnSpc>
              <a:spcBef>
                <a:spcPts val="0"/>
              </a:spcBef>
              <a:spcAft>
                <a:spcPts val="0"/>
              </a:spcAft>
            </a:pPr>
            <a:r>
              <a:rPr sz="900" b="0" i="0">
                <a:solidFill>
                  <a:srgbClr val="1C1C1E"/>
                </a:solidFill>
                <a:latin typeface="Consolas"/>
              </a:rPr>
              <a:t>  FROM   &lt;view&gt; VERSION AS OF :dv   -- txn time</a:t>
            </a:r>
          </a:p>
          <a:p>
            <a:pPr>
              <a:lnSpc>
                <a:spcPct val="134000"/>
              </a:lnSpc>
              <a:spcBef>
                <a:spcPts val="0"/>
              </a:spcBef>
              <a:spcAft>
                <a:spcPts val="0"/>
              </a:spcAft>
            </a:pPr>
            <a:r>
              <a:rPr sz="900" b="0" i="0">
                <a:solidFill>
                  <a:srgbClr val="1C1C1E"/>
                </a:solidFill>
                <a:latin typeface="Consolas"/>
              </a:rPr>
              <a:t>  WHERE  entity_id  = s.entity_id</a:t>
            </a:r>
          </a:p>
          <a:p>
            <a:pPr>
              <a:lnSpc>
                <a:spcPct val="134000"/>
              </a:lnSpc>
              <a:spcBef>
                <a:spcPts val="0"/>
              </a:spcBef>
              <a:spcAft>
                <a:spcPts val="0"/>
              </a:spcAft>
            </a:pPr>
            <a:r>
              <a:rPr sz="900" b="0" i="0">
                <a:solidFill>
                  <a:srgbClr val="1C1C1E"/>
                </a:solidFill>
                <a:latin typeface="Consolas"/>
              </a:rPr>
              <a:t>    AND  event_ts  &lt;= s.label_ts    -- valid time</a:t>
            </a:r>
          </a:p>
          <a:p>
            <a:pPr>
              <a:lnSpc>
                <a:spcPct val="134000"/>
              </a:lnSpc>
              <a:spcBef>
                <a:spcPts val="0"/>
              </a:spcBef>
              <a:spcAft>
                <a:spcPts val="0"/>
              </a:spcAft>
            </a:pPr>
            <a:r>
              <a:rPr sz="900" b="0" i="0">
                <a:solidFill>
                  <a:srgbClr val="1C1C1E"/>
                </a:solidFill>
                <a:latin typeface="Consolas"/>
              </a:rPr>
              <a:t>    AND  ingest_ts &lt;= :as_of        -- txn time</a:t>
            </a:r>
          </a:p>
          <a:p>
            <a:pPr>
              <a:lnSpc>
                <a:spcPct val="134000"/>
              </a:lnSpc>
              <a:spcBef>
                <a:spcPts val="0"/>
              </a:spcBef>
              <a:spcAft>
                <a:spcPts val="0"/>
              </a:spcAft>
            </a:pPr>
            <a:r>
              <a:rPr sz="900" b="0" i="0">
                <a:solidFill>
                  <a:srgbClr val="1C1C1E"/>
                </a:solidFill>
                <a:latin typeface="Consolas"/>
              </a:rPr>
              <a:t>  ORDER BY event_ts DESC, ingest_ts DESC</a:t>
            </a:r>
          </a:p>
          <a:p>
            <a:pPr>
              <a:lnSpc>
                <a:spcPct val="134000"/>
              </a:lnSpc>
              <a:spcBef>
                <a:spcPts val="0"/>
              </a:spcBef>
              <a:spcAft>
                <a:spcPts val="0"/>
              </a:spcAft>
            </a:pPr>
            <a:r>
              <a:rPr sz="900" b="0" i="0">
                <a:solidFill>
                  <a:srgbClr val="1C1C1E"/>
                </a:solidFill>
                <a:latin typeface="Consolas"/>
              </a:rPr>
              <a:t>  LIMIT 1</a:t>
            </a:r>
          </a:p>
          <a:p>
            <a:pPr>
              <a:lnSpc>
                <a:spcPct val="134000"/>
              </a:lnSpc>
              <a:spcBef>
                <a:spcPts val="0"/>
              </a:spcBef>
              <a:spcAft>
                <a:spcPts val="0"/>
              </a:spcAft>
            </a:pPr>
            <a:r>
              <a:rPr sz="900" b="0" i="0">
                <a:solidFill>
                  <a:srgbClr val="1C1C1E"/>
                </a:solidFill>
                <a:latin typeface="Consolas"/>
              </a:rPr>
              <a:t>) f ON true</a:t>
            </a:r>
          </a:p>
        </p:txBody>
      </p:sp>
      <p:sp>
        <p:nvSpPr>
          <p:cNvPr id="18" name="TextBox 17"/>
          <p:cNvSpPr txBox="1"/>
          <p:nvPr/>
        </p:nvSpPr>
        <p:spPr>
          <a:xfrm>
            <a:off x="777240" y="4842730"/>
            <a:ext cx="10637215" cy="100584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Delta supplies the second clock. </a:t>
            </a:r>
            <a:r>
              <a:rPr sz="1200" b="0" i="0">
                <a:solidFill>
                  <a:srgbClr val="1C1C1E"/>
                </a:solidFill>
                <a:latin typeface="Calibri"/>
              </a:rPr>
              <a:t>VERSION AS OF gives the transaction-time axis natively — which is why Delta rather than a plain warehouse table is the right substrate for a regulated feature store. Because both clocks are recorded, the platform can also answer the question that arises when a source is restated: </a:t>
            </a:r>
            <a:r>
              <a:rPr sz="1200" b="1" i="0">
                <a:solidFill>
                  <a:srgbClr val="1C1C1E"/>
                </a:solidFill>
                <a:latin typeface="Calibri"/>
              </a:rPr>
              <a:t>which historical training sets, model versions and decisions used the superseded values?</a:t>
            </a:r>
            <a:r>
              <a:rPr sz="1200" b="0" i="0">
                <a:solidFill>
                  <a:srgbClr val="1C1C1E"/>
                </a:solidFill>
                <a:latin typeface="Calibri"/>
              </a:rPr>
              <a:t> With one clock, that question is unanswerable.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LEAKAGE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Three layers, and what each actually proves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23</a:t>
            </a:r>
          </a:p>
        </p:txBody>
      </p:sp>
      <p:graphicFrame>
        <p:nvGraphicFramePr>
          <p:cNvPr id="10" name="Table 9"/>
          <p:cNvGraphicFramePr>
            <a:graphicFrameLocks noGrp="1"/>
          </p:cNvGraphicFramePr>
          <p:nvPr/>
        </p:nvGraphicFramePr>
        <p:xfrm>
          <a:off x="777240" y="1353312"/>
          <a:ext cx="10637214" cy="2150808"/>
        </p:xfrm>
        <a:graphic>
          <a:graphicData uri="http://schemas.openxmlformats.org/drawingml/2006/table">
            <a:tbl>
              <a:tblPr firstRow="1">
                <a:tableStyleId>{5C22544A-7EE6-4342-B048-85BDC9FD1C3A}</a:tableStyleId>
              </a:tblPr>
              <a:tblGrid>
                <a:gridCol w="2109103"/>
                <a:gridCol w="4585006"/>
                <a:gridCol w="3943105"/>
              </a:tblGrid>
              <a:tr h="333781">
                <a:tc>
                  <a:txBody>
                    <a:bodyPr wrap="square"/>
                    <a:lstStyle/>
                    <a:p>
                      <a:pPr algn="l"/>
                      <a:r>
                        <a:rPr sz="1100" b="1">
                          <a:solidFill>
                            <a:srgbClr val="FFFFFF"/>
                          </a:solidFill>
                          <a:latin typeface="Calibri"/>
                        </a:rPr>
                        <a:t>Layer</a:t>
                      </a:r>
                    </a:p>
                  </a:txBody>
                  <a:tcPr marL="82296" marR="64008" marT="32004" marB="32004" anchor="ctr">
                    <a:solidFill>
                      <a:srgbClr val="A51C30"/>
                    </a:solidFill>
                  </a:tcPr>
                </a:tc>
                <a:tc>
                  <a:txBody>
                    <a:bodyPr wrap="square"/>
                    <a:lstStyle/>
                    <a:p>
                      <a:pPr algn="l"/>
                      <a:r>
                        <a:rPr sz="1100" b="1">
                          <a:solidFill>
                            <a:srgbClr val="FFFFFF"/>
                          </a:solidFill>
                          <a:latin typeface="Calibri"/>
                        </a:rPr>
                        <a:t>What it does</a:t>
                      </a:r>
                    </a:p>
                  </a:txBody>
                  <a:tcPr marL="82296" marR="64008" marT="32004" marB="32004" anchor="ctr">
                    <a:solidFill>
                      <a:srgbClr val="A51C30"/>
                    </a:solidFill>
                  </a:tcPr>
                </a:tc>
                <a:tc>
                  <a:txBody>
                    <a:bodyPr wrap="square"/>
                    <a:lstStyle/>
                    <a:p>
                      <a:pPr algn="l"/>
                      <a:r>
                        <a:rPr sz="1100" b="1">
                          <a:solidFill>
                            <a:srgbClr val="FFFFFF"/>
                          </a:solidFill>
                          <a:latin typeface="Calibri"/>
                        </a:rPr>
                        <a:t>What it proves</a:t>
                      </a:r>
                    </a:p>
                  </a:txBody>
                  <a:tcPr marL="82296" marR="64008" marT="32004" marB="32004" anchor="ctr">
                    <a:solidFill>
                      <a:srgbClr val="A51C30"/>
                    </a:solidFill>
                  </a:tcPr>
                </a:tc>
              </a:tr>
              <a:tr h="683171">
                <a:tc>
                  <a:txBody>
                    <a:bodyPr wrap="square"/>
                    <a:lstStyle/>
                    <a:p>
                      <a:pPr algn="l"/>
                      <a:r>
                        <a:rPr sz="1050" b="1">
                          <a:solidFill>
                            <a:srgbClr val="A51C30"/>
                          </a:solidFill>
                          <a:latin typeface="Calibri"/>
                        </a:rPr>
                        <a:t>1 · Static analysis</a:t>
                      </a:r>
                    </a:p>
                  </a:txBody>
                  <a:tcPr marL="82296" marR="64008" marT="32004" marB="32004" anchor="ctr">
                    <a:solidFill>
                      <a:srgbClr val="FFFFFF"/>
                    </a:solidFill>
                  </a:tcPr>
                </a:tc>
                <a:tc>
                  <a:txBody>
                    <a:bodyPr wrap="square"/>
                    <a:lstStyle/>
                    <a:p>
                      <a:pPr algn="l"/>
                      <a:r>
                        <a:rPr sz="1050" b="0">
                          <a:solidFill>
                            <a:srgbClr val="1C1C1E"/>
                          </a:solidFill>
                          <a:latin typeface="Calibri"/>
                        </a:rPr>
                        <a:t>Parses the assembly query and requires BOTH a valid-time and a transaction-time bound. An assembly lacking either is rejected outright</a:t>
                      </a:r>
                    </a:p>
                  </a:txBody>
                  <a:tcPr marL="82296" marR="64008" marT="32004" marB="32004" anchor="ctr">
                    <a:solidFill>
                      <a:srgbClr val="FFFFFF"/>
                    </a:solidFill>
                  </a:tcPr>
                </a:tc>
                <a:tc>
                  <a:txBody>
                    <a:bodyPr wrap="square"/>
                    <a:lstStyle/>
                    <a:p>
                      <a:pPr algn="l"/>
                      <a:r>
                        <a:rPr sz="1050" b="0">
                          <a:solidFill>
                            <a:srgbClr val="1C1C1E"/>
                          </a:solidFill>
                          <a:latin typeface="Calibri"/>
                        </a:rPr>
                        <a:t>A genuine proof for the dominant leakage class. This is the strong check</a:t>
                      </a:r>
                    </a:p>
                  </a:txBody>
                  <a:tcPr marL="82296" marR="64008" marT="32004" marB="32004" anchor="ctr">
                    <a:solidFill>
                      <a:srgbClr val="FFFFFF"/>
                    </a:solidFill>
                  </a:tcPr>
                </a:tc>
              </a:tr>
              <a:tr h="566928">
                <a:tc>
                  <a:txBody>
                    <a:bodyPr wrap="square"/>
                    <a:lstStyle/>
                    <a:p>
                      <a:pPr algn="l"/>
                      <a:r>
                        <a:rPr sz="1050" b="1">
                          <a:solidFill>
                            <a:srgbClr val="A51C30"/>
                          </a:solidFill>
                          <a:latin typeface="Calibri"/>
                        </a:rPr>
                        <a:t>2 · Stratified sampling</a:t>
                      </a:r>
                    </a:p>
                  </a:txBody>
                  <a:tcPr marL="82296" marR="64008" marT="32004" marB="32004" anchor="ctr">
                    <a:solidFill>
                      <a:srgbClr val="F6F3EF"/>
                    </a:solidFill>
                  </a:tcPr>
                </a:tc>
                <a:tc>
                  <a:txBody>
                    <a:bodyPr wrap="square"/>
                    <a:lstStyle/>
                    <a:p>
                      <a:pPr algn="l"/>
                      <a:r>
                        <a:rPr sz="1050" b="0">
                          <a:solidFill>
                            <a:srgbClr val="1C1C1E"/>
                          </a:solidFill>
                          <a:latin typeface="Calibri"/>
                        </a:rPr>
                        <a:t>Independent recomputation over strata across label period, entity type and label value</a:t>
                      </a:r>
                    </a:p>
                  </a:txBody>
                  <a:tcPr marL="82296" marR="64008" marT="32004" marB="32004" anchor="ctr">
                    <a:solidFill>
                      <a:srgbClr val="F6F3EF"/>
                    </a:solidFill>
                  </a:tcPr>
                </a:tc>
                <a:tc>
                  <a:txBody>
                    <a:bodyPr wrap="square"/>
                    <a:lstStyle/>
                    <a:p>
                      <a:pPr algn="l"/>
                      <a:r>
                        <a:rPr sz="1050" b="0">
                          <a:solidFill>
                            <a:srgbClr val="1C1C1E"/>
                          </a:solidFill>
                          <a:latin typeface="Calibri"/>
                        </a:rPr>
                        <a:t>Detects systematic violations at a stated statistical power. Does not prove absence</a:t>
                      </a:r>
                    </a:p>
                  </a:txBody>
                  <a:tcPr marL="82296" marR="64008" marT="32004" marB="32004" anchor="ctr">
                    <a:solidFill>
                      <a:srgbClr val="F6F3EF"/>
                    </a:solidFill>
                  </a:tcPr>
                </a:tc>
              </a:tr>
              <a:tr h="566928">
                <a:tc>
                  <a:txBody>
                    <a:bodyPr wrap="square"/>
                    <a:lstStyle/>
                    <a:p>
                      <a:pPr algn="l"/>
                      <a:r>
                        <a:rPr sz="1050" b="1">
                          <a:solidFill>
                            <a:srgbClr val="A51C30"/>
                          </a:solidFill>
                          <a:latin typeface="Calibri"/>
                        </a:rPr>
                        <a:t>3 · Adversarial injection</a:t>
                      </a:r>
                    </a:p>
                  </a:txBody>
                  <a:tcPr marL="82296" marR="64008" marT="32004" marB="32004" anchor="ctr">
                    <a:solidFill>
                      <a:srgbClr val="FFFFFF"/>
                    </a:solidFill>
                  </a:tcPr>
                </a:tc>
                <a:tc>
                  <a:txBody>
                    <a:bodyPr wrap="square"/>
                    <a:lstStyle/>
                    <a:p>
                      <a:pPr algn="l"/>
                      <a:r>
                        <a:rPr sz="1050" b="0">
                          <a:solidFill>
                            <a:srgbClr val="1C1C1E"/>
                          </a:solidFill>
                          <a:latin typeface="Calibri"/>
                        </a:rPr>
                        <a:t>CI injects a deliberately leaky feature the verifier must catch</a:t>
                      </a:r>
                    </a:p>
                  </a:txBody>
                  <a:tcPr marL="82296" marR="64008" marT="32004" marB="32004" anchor="ctr">
                    <a:solidFill>
                      <a:srgbClr val="FFFFFF"/>
                    </a:solidFill>
                  </a:tcPr>
                </a:tc>
                <a:tc>
                  <a:txBody>
                    <a:bodyPr wrap="square"/>
                    <a:lstStyle/>
                    <a:p>
                      <a:pPr algn="l"/>
                      <a:r>
                        <a:rPr sz="1050" b="0">
                          <a:solidFill>
                            <a:srgbClr val="1C1C1E"/>
                          </a:solidFill>
                          <a:latin typeface="Calibri"/>
                        </a:rPr>
                        <a:t>Proves the verifier still works — the failure mode that would otherwise be silent and catastrophic</a:t>
                      </a:r>
                    </a:p>
                  </a:txBody>
                  <a:tcPr marL="82296" marR="64008" marT="32004" marB="32004" anchor="ctr">
                    <a:solidFill>
                      <a:srgbClr val="FFFFFF"/>
                    </a:solidFill>
                  </a:tcPr>
                </a:tc>
              </a:tr>
            </a:tbl>
          </a:graphicData>
        </a:graphic>
      </p:graphicFrame>
      <p:sp>
        <p:nvSpPr>
          <p:cNvPr id="11" name="Rectangle 10"/>
          <p:cNvSpPr/>
          <p:nvPr/>
        </p:nvSpPr>
        <p:spPr>
          <a:xfrm>
            <a:off x="777240" y="3778440"/>
            <a:ext cx="10637215"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3906456"/>
            <a:ext cx="9997135" cy="868680"/>
          </a:xfrm>
          <a:prstGeom prst="rect">
            <a:avLst/>
          </a:prstGeom>
          <a:noFill/>
        </p:spPr>
        <p:txBody>
          <a:bodyPr wrap="square" lIns="0" rIns="0" tIns="0" bIns="0" anchor="t">
            <a:spAutoFit/>
          </a:bodyPr>
          <a:lstStyle/>
          <a:p>
            <a:pPr algn="l">
              <a:spcBef>
                <a:spcPts val="0"/>
              </a:spcBef>
              <a:spcAft>
                <a:spcPts val="600"/>
              </a:spcAft>
            </a:pPr>
            <a:r>
              <a:rPr sz="1350" b="1" i="0">
                <a:solidFill>
                  <a:srgbClr val="FFFFFF"/>
                </a:solidFill>
                <a:latin typeface="Georgia"/>
              </a:rPr>
              <a:t>Law L-10, restated honestly</a:t>
            </a:r>
          </a:p>
          <a:p>
            <a:pPr>
              <a:lnSpc>
                <a:spcPct val="126000"/>
              </a:lnSpc>
              <a:spcBef>
                <a:spcPts val="0"/>
              </a:spcBef>
              <a:spcAft>
                <a:spcPts val="0"/>
              </a:spcAft>
            </a:pPr>
            <a:r>
              <a:rPr sz="1150" b="1" i="0">
                <a:solidFill>
                  <a:srgbClr val="FFFFFF"/>
                </a:solidFill>
                <a:latin typeface="Calibri"/>
              </a:rPr>
              <a:t>“No assembly passes without a static temporal bound, and sampling detects systematic violations at stated power.”  </a:t>
            </a:r>
            <a:r>
              <a:rPr sz="1150" b="0" i="0">
                <a:solidFill>
                  <a:srgbClr val="F6E0E4"/>
                </a:solidFill>
                <a:latin typeface="Calibri"/>
              </a:rPr>
              <a:t>Weaker than the original wording — and true. Adversarial review rejected the single-layer claim, because a leak confined to a rare, high-value segment is exactly where sampling fails and where the damage is greatest.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DEFECT THAT REPORTED GREEN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online store must be version-namespaced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24</a:t>
            </a:r>
          </a:p>
        </p:txBody>
      </p:sp>
      <p:sp>
        <p:nvSpPr>
          <p:cNvPr id="10" name="Rectangle 9"/>
          <p:cNvSpPr/>
          <p:nvPr/>
        </p:nvSpPr>
        <p:spPr>
          <a:xfrm>
            <a:off x="777240" y="1353312"/>
            <a:ext cx="10637215" cy="1188720"/>
          </a:xfrm>
          <a:prstGeom prst="rect">
            <a:avLst/>
          </a:prstGeom>
          <a:solidFill>
            <a:srgbClr val="8B2F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1097280" y="1499616"/>
            <a:ext cx="9997135" cy="960120"/>
          </a:xfrm>
          <a:prstGeom prst="rect">
            <a:avLst/>
          </a:prstGeom>
          <a:noFill/>
        </p:spPr>
        <p:txBody>
          <a:bodyPr wrap="square" lIns="0" rIns="0" tIns="0" bIns="0" anchor="t">
            <a:spAutoFit/>
          </a:bodyPr>
          <a:lstStyle/>
          <a:p>
            <a:pPr algn="l">
              <a:spcBef>
                <a:spcPts val="0"/>
              </a:spcBef>
              <a:spcAft>
                <a:spcPts val="600"/>
              </a:spcAft>
            </a:pPr>
            <a:r>
              <a:rPr sz="1350" b="1" i="0">
                <a:solidFill>
                  <a:srgbClr val="FFFFFF"/>
                </a:solidFill>
                <a:latin typeface="Georgia"/>
              </a:rPr>
              <a:t>Finding C-2 — the most serious defect adversarial review found</a:t>
            </a:r>
          </a:p>
          <a:p>
            <a:pPr>
              <a:lnSpc>
                <a:spcPct val="126000"/>
              </a:lnSpc>
              <a:spcBef>
                <a:spcPts val="0"/>
              </a:spcBef>
              <a:spcAft>
                <a:spcPts val="0"/>
              </a:spcAft>
            </a:pPr>
            <a:r>
              <a:rPr sz="1150" b="0" i="0">
                <a:solidFill>
                  <a:srgbClr val="F6E0E4"/>
                </a:solidFill>
                <a:latin typeface="Calibri"/>
              </a:rPr>
              <a:t>Contracts pinned feature view v7. The online store served whatever was latest. On a transformation change, a model would be served features it was never fitted on — </a:t>
            </a:r>
            <a:r>
              <a:rPr sz="1150" b="1" i="0">
                <a:solidFill>
                  <a:srgbClr val="FFFFFF"/>
                </a:solidFill>
                <a:latin typeface="Calibri"/>
              </a:rPr>
              <a:t>with the contract digest still matching and every monitor green.</a:t>
            </a:r>
            <a:r>
              <a:rPr sz="1150" b="0" i="0">
                <a:solidFill>
                  <a:srgbClr val="F6E0E4"/>
                </a:solidFill>
                <a:latin typeface="Calibri"/>
              </a:rPr>
              <a:t>  Silently wrong production scoring, introduced by the very platform that exists to prevent it.</a:t>
            </a:r>
          </a:p>
        </p:txBody>
      </p:sp>
      <p:sp>
        <p:nvSpPr>
          <p:cNvPr id="12" name="Rectangle 11"/>
          <p:cNvSpPr/>
          <p:nvPr/>
        </p:nvSpPr>
        <p:spPr>
          <a:xfrm>
            <a:off x="777240" y="2770632"/>
            <a:ext cx="4893118" cy="80279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2770632"/>
            <a:ext cx="41148" cy="80279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978408" y="2862072"/>
            <a:ext cx="452735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FIX — VERSION IS PART OF THE KEY</a:t>
            </a:r>
          </a:p>
        </p:txBody>
      </p:sp>
      <p:sp>
        <p:nvSpPr>
          <p:cNvPr id="15" name="TextBox 14"/>
          <p:cNvSpPr txBox="1"/>
          <p:nvPr/>
        </p:nvSpPr>
        <p:spPr>
          <a:xfrm>
            <a:off x="978408" y="3163824"/>
            <a:ext cx="4527358" cy="327309"/>
          </a:xfrm>
          <a:prstGeom prst="rect">
            <a:avLst/>
          </a:prstGeom>
          <a:noFill/>
        </p:spPr>
        <p:txBody>
          <a:bodyPr wrap="square" lIns="0" rIns="0" tIns="0" bIns="0" anchor="t">
            <a:spAutoFit/>
          </a:bodyPr>
          <a:lstStyle/>
          <a:p>
            <a:pPr algn="l">
              <a:lnSpc>
                <a:spcPct val="134000"/>
              </a:lnSpc>
              <a:spcBef>
                <a:spcPts val="0"/>
              </a:spcBef>
              <a:spcAft>
                <a:spcPts val="0"/>
              </a:spcAft>
            </a:pPr>
            <a:r>
              <a:rPr sz="1100" b="0" i="0">
                <a:solidFill>
                  <a:srgbClr val="1C1C1E"/>
                </a:solidFill>
                <a:latin typeface="Consolas"/>
              </a:rPr>
              <a:t>key = f"fv:{feature_view_id}:v{version}:{entity_id}"</a:t>
            </a:r>
          </a:p>
        </p:txBody>
      </p:sp>
      <p:graphicFrame>
        <p:nvGraphicFramePr>
          <p:cNvPr id="16" name="Table 15"/>
          <p:cNvGraphicFramePr>
            <a:graphicFrameLocks noGrp="1"/>
          </p:cNvGraphicFramePr>
          <p:nvPr/>
        </p:nvGraphicFramePr>
        <p:xfrm>
          <a:off x="6095847" y="2724912"/>
          <a:ext cx="5318606" cy="1703374"/>
        </p:xfrm>
        <a:graphic>
          <a:graphicData uri="http://schemas.openxmlformats.org/drawingml/2006/table">
            <a:tbl>
              <a:tblPr firstRow="1">
                <a:tableStyleId>{5C22544A-7EE6-4342-B048-85BDC9FD1C3A}</a:tableStyleId>
              </a:tblPr>
              <a:tblGrid>
                <a:gridCol w="1506938"/>
                <a:gridCol w="3811668"/>
              </a:tblGrid>
              <a:tr h="329184">
                <a:tc>
                  <a:txBody>
                    <a:bodyPr wrap="square"/>
                    <a:lstStyle/>
                    <a:p>
                      <a:pPr algn="l"/>
                      <a:r>
                        <a:rPr sz="1050" b="1">
                          <a:solidFill>
                            <a:srgbClr val="FFFFFF"/>
                          </a:solidFill>
                          <a:latin typeface="Calibri"/>
                        </a:rPr>
                        <a:t>Phase</a:t>
                      </a:r>
                    </a:p>
                  </a:txBody>
                  <a:tcPr marL="82296" marR="64008" marT="32004" marB="32004" anchor="ctr">
                    <a:solidFill>
                      <a:srgbClr val="A51C30"/>
                    </a:solidFill>
                  </a:tcPr>
                </a:tc>
                <a:tc>
                  <a:txBody>
                    <a:bodyPr wrap="square"/>
                    <a:lstStyle/>
                    <a:p>
                      <a:pPr algn="l"/>
                      <a:r>
                        <a:rPr sz="1050" b="1">
                          <a:solidFill>
                            <a:srgbClr val="FFFFFF"/>
                          </a:solidFill>
                          <a:latin typeface="Calibri"/>
                        </a:rPr>
                        <a:t>Behaviour</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Publish v(n+1)</a:t>
                      </a:r>
                    </a:p>
                  </a:txBody>
                  <a:tcPr marL="82296" marR="64008" marT="32004" marB="32004" anchor="ctr">
                    <a:solidFill>
                      <a:srgbClr val="FFFFFF"/>
                    </a:solidFill>
                  </a:tcPr>
                </a:tc>
                <a:tc>
                  <a:txBody>
                    <a:bodyPr wrap="square"/>
                    <a:lstStyle/>
                    <a:p>
                      <a:pPr algn="l"/>
                      <a:r>
                        <a:rPr sz="1050" b="0">
                          <a:solidFill>
                            <a:srgbClr val="1C1C1E"/>
                          </a:solidFill>
                          <a:latin typeface="Calibri"/>
                        </a:rPr>
                        <a:t>Begin dual-write to both namespaces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Steady state</a:t>
                      </a:r>
                    </a:p>
                  </a:txBody>
                  <a:tcPr marL="82296" marR="64008" marT="32004" marB="32004" anchor="ctr">
                    <a:solidFill>
                      <a:srgbClr val="F6F3EF"/>
                    </a:solidFill>
                  </a:tcPr>
                </a:tc>
                <a:tc>
                  <a:txBody>
                    <a:bodyPr wrap="square"/>
                    <a:lstStyle/>
                    <a:p>
                      <a:pPr algn="l"/>
                      <a:r>
                        <a:rPr sz="1050" b="0">
                          <a:solidFill>
                            <a:srgbClr val="1C1C1E"/>
                          </a:solidFill>
                          <a:latin typeface="Calibri"/>
                        </a:rPr>
                        <a:t>Serving reads the namespace PINNED BY THE CONTRACT, never “latest”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Retire v(n)</a:t>
                      </a:r>
                    </a:p>
                  </a:txBody>
                  <a:tcPr marL="82296" marR="64008" marT="32004" marB="32004" anchor="ctr">
                    <a:solidFill>
                      <a:srgbClr val="FFFFFF"/>
                    </a:solidFill>
                  </a:tcPr>
                </a:tc>
                <a:tc>
                  <a:txBody>
                    <a:bodyPr wrap="square"/>
                    <a:lstStyle/>
                    <a:p>
                      <a:pPr algn="l"/>
                      <a:r>
                        <a:rPr sz="1050" b="0">
                          <a:solidFill>
                            <a:srgbClr val="1C1C1E"/>
                          </a:solidFill>
                          <a:latin typeface="Calibri"/>
                        </a:rPr>
                        <a:t>Only when zero active contracts reference it — a governed action with consumer-impact check</a:t>
                      </a:r>
                    </a:p>
                  </a:txBody>
                  <a:tcPr marL="82296" marR="64008" marT="32004" marB="32004" anchor="ctr">
                    <a:solidFill>
                      <a:srgbClr val="FFFFFF"/>
                    </a:solidFill>
                  </a:tcPr>
                </a:tc>
              </a:tr>
            </a:tbl>
          </a:graphicData>
        </a:graphic>
      </p:graphicFrame>
      <p:sp>
        <p:nvSpPr>
          <p:cNvPr id="17" name="TextBox 16"/>
          <p:cNvSpPr txBox="1"/>
          <p:nvPr/>
        </p:nvSpPr>
        <p:spPr>
          <a:xfrm>
            <a:off x="777240" y="3822191"/>
            <a:ext cx="4893118" cy="118872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Law L-17 checks this in production, continuously. </a:t>
            </a:r>
            <a:r>
              <a:rPr sz="1150" b="0" i="0">
                <a:solidFill>
                  <a:srgbClr val="1C1C1E"/>
                </a:solidFill>
                <a:latin typeface="Calibri"/>
              </a:rPr>
              <a:t>The namespace served must equal the namespace pinned. C-2 was invisible to every design-time check, so its guard is a runtime one.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EVALUATION AT SCALE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Monitoring pipeline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25</a:t>
            </a:r>
          </a:p>
        </p:txBody>
      </p:sp>
      <p:sp>
        <p:nvSpPr>
          <p:cNvPr id="10" name="Rectangle 9"/>
          <p:cNvSpPr/>
          <p:nvPr/>
        </p:nvSpPr>
        <p:spPr>
          <a:xfrm>
            <a:off x="777240" y="1444752"/>
            <a:ext cx="1347172" cy="777240"/>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850392"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inference_log</a:t>
            </a:r>
          </a:p>
          <a:p>
            <a:pPr algn="ctr">
              <a:spcBef>
                <a:spcPts val="0"/>
              </a:spcBef>
              <a:spcAft>
                <a:spcPts val="0"/>
              </a:spcAft>
            </a:pPr>
            <a:r>
              <a:rPr sz="900" b="0" i="0">
                <a:solidFill>
                  <a:srgbClr val="FFFFFF"/>
                </a:solidFill>
                <a:latin typeface="Calibri"/>
              </a:rPr>
              <a:t>Delta + CDF</a:t>
            </a:r>
          </a:p>
        </p:txBody>
      </p:sp>
      <p:cxnSp>
        <p:nvCxnSpPr>
          <p:cNvPr id="12" name="Connector 11"/>
          <p:cNvCxnSpPr/>
          <p:nvPr/>
        </p:nvCxnSpPr>
        <p:spPr>
          <a:xfrm>
            <a:off x="2124412"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2325580" y="1444752"/>
            <a:ext cx="1347172" cy="77724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2398732"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Incremental reader</a:t>
            </a:r>
          </a:p>
          <a:p>
            <a:pPr algn="ctr">
              <a:spcBef>
                <a:spcPts val="0"/>
              </a:spcBef>
              <a:spcAft>
                <a:spcPts val="0"/>
              </a:spcAft>
            </a:pPr>
            <a:r>
              <a:rPr sz="900" b="0" i="0">
                <a:solidFill>
                  <a:srgbClr val="FFFFFF"/>
                </a:solidFill>
                <a:latin typeface="Calibri"/>
              </a:rPr>
              <a:t>changed partitions only</a:t>
            </a:r>
          </a:p>
        </p:txBody>
      </p:sp>
      <p:cxnSp>
        <p:nvCxnSpPr>
          <p:cNvPr id="15" name="Connector 14"/>
          <p:cNvCxnSpPr/>
          <p:nvPr/>
        </p:nvCxnSpPr>
        <p:spPr>
          <a:xfrm>
            <a:off x="3672752"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3873920" y="1444752"/>
            <a:ext cx="1347172" cy="77724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947072"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Metric compute</a:t>
            </a:r>
          </a:p>
          <a:p>
            <a:pPr algn="ctr">
              <a:spcBef>
                <a:spcPts val="0"/>
              </a:spcBef>
              <a:spcAft>
                <a:spcPts val="0"/>
              </a:spcAft>
            </a:pPr>
            <a:r>
              <a:rPr sz="900" b="0" i="0">
                <a:solidFill>
                  <a:srgbClr val="FFFFFF"/>
                </a:solidFill>
                <a:latin typeface="Calibri"/>
              </a:rPr>
              <a:t>Spark · per monitor × slice</a:t>
            </a:r>
          </a:p>
        </p:txBody>
      </p:sp>
      <p:cxnSp>
        <p:nvCxnSpPr>
          <p:cNvPr id="18" name="Connector 17"/>
          <p:cNvCxnSpPr/>
          <p:nvPr/>
        </p:nvCxnSpPr>
        <p:spPr>
          <a:xfrm>
            <a:off x="5221093"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422261" y="1444752"/>
            <a:ext cx="1347172" cy="777240"/>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5495413"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observations</a:t>
            </a:r>
          </a:p>
          <a:p>
            <a:pPr algn="ctr">
              <a:spcBef>
                <a:spcPts val="0"/>
              </a:spcBef>
              <a:spcAft>
                <a:spcPts val="0"/>
              </a:spcAft>
            </a:pPr>
            <a:r>
              <a:rPr sz="900" b="0" i="0">
                <a:solidFill>
                  <a:srgbClr val="FFFFFF"/>
                </a:solidFill>
                <a:latin typeface="Calibri"/>
              </a:rPr>
              <a:t>Delta</a:t>
            </a:r>
          </a:p>
        </p:txBody>
      </p:sp>
      <p:cxnSp>
        <p:nvCxnSpPr>
          <p:cNvPr id="21" name="Connector 20"/>
          <p:cNvCxnSpPr/>
          <p:nvPr/>
        </p:nvCxnSpPr>
        <p:spPr>
          <a:xfrm>
            <a:off x="6769433"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6970601" y="1444752"/>
            <a:ext cx="1347172" cy="77724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7043753"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Threshold ladder</a:t>
            </a:r>
          </a:p>
          <a:p>
            <a:pPr algn="ctr">
              <a:spcBef>
                <a:spcPts val="0"/>
              </a:spcBef>
              <a:spcAft>
                <a:spcPts val="0"/>
              </a:spcAft>
            </a:pPr>
            <a:r>
              <a:rPr sz="900" b="0" i="0">
                <a:solidFill>
                  <a:srgbClr val="FFFFFF"/>
                </a:solidFill>
                <a:latin typeface="Calibri"/>
              </a:rPr>
              <a:t>per tier</a:t>
            </a:r>
          </a:p>
        </p:txBody>
      </p:sp>
      <p:cxnSp>
        <p:nvCxnSpPr>
          <p:cNvPr id="24" name="Connector 23"/>
          <p:cNvCxnSpPr/>
          <p:nvPr/>
        </p:nvCxnSpPr>
        <p:spPr>
          <a:xfrm>
            <a:off x="8317774"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8518942" y="1444752"/>
            <a:ext cx="1347172"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8592094"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Correlated finding</a:t>
            </a:r>
          </a:p>
        </p:txBody>
      </p:sp>
      <p:cxnSp>
        <p:nvCxnSpPr>
          <p:cNvPr id="27" name="Connector 26"/>
          <p:cNvCxnSpPr/>
          <p:nvPr/>
        </p:nvCxnSpPr>
        <p:spPr>
          <a:xfrm>
            <a:off x="9866114"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10067282" y="1444752"/>
            <a:ext cx="1347172" cy="777240"/>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10140434"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Hook restriction</a:t>
            </a:r>
          </a:p>
        </p:txBody>
      </p:sp>
      <p:sp>
        <p:nvSpPr>
          <p:cNvPr id="30" name="TextBox 29"/>
          <p:cNvSpPr txBox="1"/>
          <p:nvPr/>
        </p:nvSpPr>
        <p:spPr>
          <a:xfrm>
            <a:off x="777240" y="2450591"/>
            <a:ext cx="4999491" cy="219456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Delayed labels are the hard part</a:t>
            </a:r>
          </a:p>
          <a:p>
            <a:pPr>
              <a:lnSpc>
                <a:spcPct val="126000"/>
              </a:lnSpc>
              <a:spcBef>
                <a:spcPts val="0"/>
              </a:spcBef>
              <a:spcAft>
                <a:spcPts val="800"/>
              </a:spcAft>
            </a:pPr>
            <a:r>
              <a:rPr sz="1150" b="0" i="0">
                <a:solidFill>
                  <a:srgbClr val="4A4F57"/>
                </a:solidFill>
                <a:latin typeface="Calibri"/>
              </a:rPr>
              <a:t>Credit outcomes mature over months. Monitors declare a label_delay; performance metrics are computed on vintage cohorts whose outcome window has closed, and the UI shows both the metric and the maturity of the cohort it came from.</a:t>
            </a:r>
          </a:p>
          <a:p>
            <a:pPr>
              <a:lnSpc>
                <a:spcPct val="126000"/>
              </a:lnSpc>
              <a:spcBef>
                <a:spcPts val="0"/>
              </a:spcBef>
              <a:spcAft>
                <a:spcPts val="600"/>
              </a:spcAft>
            </a:pPr>
            <a:r>
              <a:rPr sz="1150" b="1" i="0">
                <a:solidFill>
                  <a:srgbClr val="1C1C1E"/>
                </a:solidFill>
                <a:latin typeface="Calibri"/>
              </a:rPr>
              <a:t>Reporting an AUC on immature outcomes is worse than reporting nothing</a:t>
            </a:r>
            <a:r>
              <a:rPr sz="1150" b="0" i="0">
                <a:solidFill>
                  <a:srgbClr val="4A4F57"/>
                </a:solidFill>
                <a:latin typeface="Calibri"/>
              </a:rPr>
              <a:t> — it is confidently wrong in a direction nobody checks.</a:t>
            </a:r>
          </a:p>
        </p:txBody>
      </p:sp>
      <p:sp>
        <p:nvSpPr>
          <p:cNvPr id="31" name="TextBox 30"/>
          <p:cNvSpPr txBox="1"/>
          <p:nvPr/>
        </p:nvSpPr>
        <p:spPr>
          <a:xfrm>
            <a:off x="6414964" y="2450591"/>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Metric sets are seeded per trainability class</a:t>
            </a:r>
          </a:p>
        </p:txBody>
      </p:sp>
      <p:graphicFrame>
        <p:nvGraphicFramePr>
          <p:cNvPr id="32" name="Table 31"/>
          <p:cNvGraphicFramePr>
            <a:graphicFrameLocks noGrp="1"/>
          </p:cNvGraphicFramePr>
          <p:nvPr/>
        </p:nvGraphicFramePr>
        <p:xfrm>
          <a:off x="6414964" y="2798064"/>
          <a:ext cx="4999490" cy="2570480"/>
        </p:xfrm>
        <a:graphic>
          <a:graphicData uri="http://schemas.openxmlformats.org/drawingml/2006/table">
            <a:tbl>
              <a:tblPr firstRow="1">
                <a:tableStyleId>{5C22544A-7EE6-4342-B048-85BDC9FD1C3A}</a:tableStyleId>
              </a:tblPr>
              <a:tblGrid>
                <a:gridCol w="1491076"/>
                <a:gridCol w="3508414"/>
              </a:tblGrid>
              <a:tr h="329184">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Default metrics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T1 calibrated</a:t>
                      </a:r>
                    </a:p>
                  </a:txBody>
                  <a:tcPr marL="82296" marR="64008" marT="32004" marB="32004" anchor="ctr">
                    <a:solidFill>
                      <a:srgbClr val="FFFFFF"/>
                    </a:solidFill>
                  </a:tcPr>
                </a:tc>
                <a:tc>
                  <a:txBody>
                    <a:bodyPr wrap="square"/>
                    <a:lstStyle/>
                    <a:p>
                      <a:pPr algn="l"/>
                      <a:r>
                        <a:rPr sz="1000" b="0">
                          <a:solidFill>
                            <a:srgbClr val="1C1C1E"/>
                          </a:solidFill>
                          <a:latin typeface="Calibri"/>
                        </a:rPr>
                        <a:t>Calibration error, arbitrage-free checks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T2 / T3</a:t>
                      </a:r>
                    </a:p>
                  </a:txBody>
                  <a:tcPr marL="82296" marR="64008" marT="32004" marB="32004" anchor="ctr">
                    <a:solidFill>
                      <a:srgbClr val="F6F3EF"/>
                    </a:solidFill>
                  </a:tcPr>
                </a:tc>
                <a:tc>
                  <a:txBody>
                    <a:bodyPr wrap="square"/>
                    <a:lstStyle/>
                    <a:p>
                      <a:pPr algn="l"/>
                      <a:r>
                        <a:rPr sz="1000" b="0">
                          <a:solidFill>
                            <a:srgbClr val="1C1C1E"/>
                          </a:solidFill>
                          <a:latin typeface="Calibri"/>
                        </a:rPr>
                        <a:t>KS, AUC, PSI, Hosmer–Lemeshow</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T4 adaptive</a:t>
                      </a:r>
                    </a:p>
                  </a:txBody>
                  <a:tcPr marL="82296" marR="64008" marT="32004" marB="32004" anchor="ctr">
                    <a:solidFill>
                      <a:srgbClr val="FFFFFF"/>
                    </a:solidFill>
                  </a:tcPr>
                </a:tc>
                <a:tc>
                  <a:txBody>
                    <a:bodyPr wrap="square"/>
                    <a:lstStyle/>
                    <a:p>
                      <a:pPr algn="l"/>
                      <a:r>
                        <a:rPr sz="1000" b="0">
                          <a:solidFill>
                            <a:srgbClr val="1C1C1E"/>
                          </a:solidFill>
                          <a:latin typeface="Calibri"/>
                        </a:rPr>
                        <a:t>Parameter-change magnitude, parallel outcomes analysis</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T5 foundation</a:t>
                      </a:r>
                    </a:p>
                  </a:txBody>
                  <a:tcPr marL="82296" marR="64008" marT="32004" marB="32004" anchor="ctr">
                    <a:solidFill>
                      <a:srgbClr val="F6F3EF"/>
                    </a:solidFill>
                  </a:tcPr>
                </a:tc>
                <a:tc>
                  <a:txBody>
                    <a:bodyPr wrap="square"/>
                    <a:lstStyle/>
                    <a:p>
                      <a:pPr algn="l"/>
                      <a:r>
                        <a:rPr sz="1000" b="0">
                          <a:solidFill>
                            <a:srgbClr val="1C1C1E"/>
                          </a:solidFill>
                          <a:latin typeface="Calibri"/>
                        </a:rPr>
                        <a:t>Groundedness, hallucination rate, human edit distance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T6 opaque</a:t>
                      </a:r>
                    </a:p>
                  </a:txBody>
                  <a:tcPr marL="82296" marR="64008" marT="32004" marB="32004" anchor="ctr">
                    <a:solidFill>
                      <a:srgbClr val="FFFFFF"/>
                    </a:solidFill>
                  </a:tcPr>
                </a:tc>
                <a:tc>
                  <a:txBody>
                    <a:bodyPr wrap="square"/>
                    <a:lstStyle/>
                    <a:p>
                      <a:pPr algn="l"/>
                      <a:r>
                        <a:rPr sz="1000" b="0">
                          <a:solidFill>
                            <a:srgbClr val="1C1C1E"/>
                          </a:solidFill>
                          <a:latin typeface="Calibri"/>
                        </a:rPr>
                        <a:t>Own-outcomes divergence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T8 authored</a:t>
                      </a:r>
                    </a:p>
                  </a:txBody>
                  <a:tcPr marL="82296" marR="64008" marT="32004" marB="32004" anchor="ctr">
                    <a:solidFill>
                      <a:srgbClr val="F6F3EF"/>
                    </a:solidFill>
                  </a:tcPr>
                </a:tc>
                <a:tc>
                  <a:txBody>
                    <a:bodyPr wrap="square"/>
                    <a:lstStyle/>
                    <a:p>
                      <a:pPr algn="l"/>
                      <a:r>
                        <a:rPr sz="1000" b="0">
                          <a:solidFill>
                            <a:srgbClr val="1C1C1E"/>
                          </a:solidFill>
                          <a:latin typeface="Calibri"/>
                        </a:rPr>
                        <a:t>Rule-fire distribution, exception rate</a:t>
                      </a:r>
                    </a:p>
                  </a:txBody>
                  <a:tcPr marL="82296" marR="64008" marT="32004" marB="32004" anchor="ctr">
                    <a:solidFill>
                      <a:srgbClr val="F6F3E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5</a:t>
            </a:r>
          </a:p>
        </p:txBody>
      </p:sp>
      <p:sp>
        <p:nvSpPr>
          <p:cNvPr id="5" name="TextBox 4"/>
          <p:cNvSpPr txBox="1"/>
          <p:nvPr/>
        </p:nvSpPr>
        <p:spPr>
          <a:xfrm>
            <a:off x="1005840" y="2346350"/>
            <a:ext cx="6169584" cy="1188720"/>
          </a:xfrm>
          <a:prstGeom prst="rect">
            <a:avLst/>
          </a:prstGeom>
          <a:noFill/>
        </p:spPr>
        <p:txBody>
          <a:bodyPr wrap="square" lIns="0" rIns="0" tIns="0" bIns="0" anchor="t">
            <a:spAutoFit/>
          </a:bodyPr>
          <a:lstStyle/>
          <a:p>
            <a:pPr algn="l">
              <a:spcBef>
                <a:spcPts val="0"/>
              </a:spcBef>
              <a:spcAft>
                <a:spcPts val="0"/>
              </a:spcAft>
            </a:pPr>
            <a:r>
              <a:rPr sz="4400" b="0" i="0">
                <a:solidFill>
                  <a:srgbClr val="FFFFFF"/>
                </a:solidFill>
                <a:latin typeface="Georgia"/>
              </a:rPr>
              <a:t>Execution and Hooks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How a governed model actually gets run — and stopped.</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Resolution algorithm</a:t>
            </a:r>
          </a:p>
          <a:p>
            <a:pPr>
              <a:lnSpc>
                <a:spcPct val="115000"/>
              </a:lnSpc>
              <a:spcBef>
                <a:spcPts val="0"/>
              </a:spcBef>
              <a:spcAft>
                <a:spcPts val="700"/>
              </a:spcAft>
            </a:pPr>
            <a:r>
              <a:rPr sz="1150" b="0" i="0">
                <a:solidFill>
                  <a:srgbClr val="F6E6E9"/>
                </a:solidFill>
                <a:latin typeface="Calibri"/>
              </a:rPr>
              <a:t>Caching and stampede control</a:t>
            </a:r>
          </a:p>
          <a:p>
            <a:pPr>
              <a:lnSpc>
                <a:spcPct val="115000"/>
              </a:lnSpc>
              <a:spcBef>
                <a:spcPts val="0"/>
              </a:spcBef>
              <a:spcAft>
                <a:spcPts val="700"/>
              </a:spcAft>
            </a:pPr>
            <a:r>
              <a:rPr sz="1150" b="0" i="0">
                <a:solidFill>
                  <a:srgbClr val="F6E6E9"/>
                </a:solidFill>
                <a:latin typeface="Calibri"/>
              </a:rPr>
              <a:t>Revocation</a:t>
            </a:r>
          </a:p>
          <a:p>
            <a:pPr>
              <a:lnSpc>
                <a:spcPct val="115000"/>
              </a:lnSpc>
              <a:spcBef>
                <a:spcPts val="0"/>
              </a:spcBef>
              <a:spcAft>
                <a:spcPts val="700"/>
              </a:spcAft>
            </a:pPr>
            <a:r>
              <a:rPr sz="1150" b="0" i="0">
                <a:solidFill>
                  <a:srgbClr val="F6E6E9"/>
                </a:solidFill>
                <a:latin typeface="Calibri"/>
              </a:rPr>
              <a:t>Use reconciliation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HOT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Hook resolution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Hooks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27</a:t>
            </a:r>
          </a:p>
        </p:txBody>
      </p:sp>
      <p:sp>
        <p:nvSpPr>
          <p:cNvPr id="10" name="Rectangle 9"/>
          <p:cNvSpPr/>
          <p:nvPr/>
        </p:nvSpPr>
        <p:spPr>
          <a:xfrm>
            <a:off x="777240" y="1353312"/>
            <a:ext cx="6382329" cy="384765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84765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maya/hooks/resolver.py</a:t>
            </a:r>
          </a:p>
        </p:txBody>
      </p:sp>
      <p:sp>
        <p:nvSpPr>
          <p:cNvPr id="13" name="TextBox 12"/>
          <p:cNvSpPr txBox="1"/>
          <p:nvPr/>
        </p:nvSpPr>
        <p:spPr>
          <a:xfrm>
            <a:off x="978408" y="1746504"/>
            <a:ext cx="6016569" cy="3372170"/>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def resolve(req) -&gt; HookDescriptor:</a:t>
            </a:r>
          </a:p>
          <a:p>
            <a:pPr>
              <a:lnSpc>
                <a:spcPct val="134000"/>
              </a:lnSpc>
              <a:spcBef>
                <a:spcPts val="0"/>
              </a:spcBef>
              <a:spcAft>
                <a:spcPts val="0"/>
              </a:spcAft>
            </a:pPr>
            <a:r>
              <a:rPr sz="900" b="0" i="0">
                <a:solidFill>
                  <a:srgbClr val="1C1C1E"/>
                </a:solidFill>
                <a:latin typeface="Consolas"/>
              </a:rPr>
              <a:t>    principal = authn.verify(req.token)      # workload identity</a:t>
            </a:r>
          </a:p>
          <a:p>
            <a:pPr>
              <a:lnSpc>
                <a:spcPct val="134000"/>
              </a:lnSpc>
              <a:spcBef>
                <a:spcPts val="0"/>
              </a:spcBef>
              <a:spcAft>
                <a:spcPts val="0"/>
              </a:spcAft>
            </a:pPr>
            <a:r>
              <a:rPr sz="900" b="0" i="0">
                <a:solidFill>
                  <a:srgbClr val="1C1C1E"/>
                </a:solidFill>
                <a:latin typeface="Consolas"/>
              </a:rPr>
              <a:t>    key = (req.urn, principal.id, req.environment, req.declared_use_id)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if (d := local_lru.get(key)) and d.fresh(): return d</a:t>
            </a:r>
          </a:p>
          <a:p>
            <a:pPr>
              <a:lnSpc>
                <a:spcPct val="134000"/>
              </a:lnSpc>
              <a:spcBef>
                <a:spcPts val="0"/>
              </a:spcBef>
              <a:spcAft>
                <a:spcPts val="0"/>
              </a:spcAft>
            </a:pPr>
            <a:r>
              <a:rPr sz="900" b="0" i="0">
                <a:solidFill>
                  <a:srgbClr val="1C1C1E"/>
                </a:solidFill>
                <a:latin typeface="Consolas"/>
              </a:rPr>
              <a:t>    if revocations.contains(d): raise Revoked(...)   # floor beats every cache</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with singleflight(key):                  # coalesce concurrent misses</a:t>
            </a:r>
          </a:p>
          <a:p>
            <a:pPr>
              <a:lnSpc>
                <a:spcPct val="134000"/>
              </a:lnSpc>
              <a:spcBef>
                <a:spcPts val="0"/>
              </a:spcBef>
              <a:spcAft>
                <a:spcPts val="0"/>
              </a:spcAft>
            </a:pPr>
            <a:r>
              <a:rPr sz="900" b="0" i="0">
                <a:solidFill>
                  <a:srgbClr val="1C1C1E"/>
                </a:solidFill>
                <a:latin typeface="Consolas"/>
              </a:rPr>
              <a:t>        row = hook_projection.get(req.urn, req.environment)  # ONLY table read</a:t>
            </a:r>
          </a:p>
          <a:p>
            <a:pPr>
              <a:lnSpc>
                <a:spcPct val="134000"/>
              </a:lnSpc>
              <a:spcBef>
                <a:spcPts val="0"/>
              </a:spcBef>
              <a:spcAft>
                <a:spcPts val="0"/>
              </a:spcAft>
            </a:pPr>
            <a:r>
              <a:rPr sz="900" b="0" i="0">
                <a:solidFill>
                  <a:srgbClr val="1C1C1E"/>
                </a:solidFill>
                <a:latin typeface="Consolas"/>
              </a:rPr>
              <a:t>        if row.revoked:                     raise Revoked(...)</a:t>
            </a:r>
          </a:p>
          <a:p>
            <a:pPr>
              <a:lnSpc>
                <a:spcPct val="134000"/>
              </a:lnSpc>
              <a:spcBef>
                <a:spcPts val="0"/>
              </a:spcBef>
              <a:spcAft>
                <a:spcPts val="0"/>
              </a:spcAft>
            </a:pPr>
            <a:r>
              <a:rPr sz="900" b="0" i="0">
                <a:solidFill>
                  <a:srgbClr val="1C1C1E"/>
                </a:solidFill>
                <a:latin typeface="Consolas"/>
              </a:rPr>
              <a:t>        ent = row.entitlements.get(principal.id)</a:t>
            </a:r>
          </a:p>
          <a:p>
            <a:pPr>
              <a:lnSpc>
                <a:spcPct val="134000"/>
              </a:lnSpc>
              <a:spcBef>
                <a:spcPts val="0"/>
              </a:spcBef>
              <a:spcAft>
                <a:spcPts val="0"/>
              </a:spcAft>
            </a:pPr>
            <a:r>
              <a:rPr sz="900" b="0" i="0">
                <a:solidFill>
                  <a:srgbClr val="1C1C1E"/>
                </a:solidFill>
                <a:latin typeface="Consolas"/>
              </a:rPr>
              <a:t>        if ent is None or ent.model_use_id != req.declared_use_id:</a:t>
            </a:r>
          </a:p>
          <a:p>
            <a:pPr>
              <a:lnSpc>
                <a:spcPct val="134000"/>
              </a:lnSpc>
              <a:spcBef>
                <a:spcPts val="0"/>
              </a:spcBef>
              <a:spcAft>
                <a:spcPts val="0"/>
              </a:spcAft>
            </a:pPr>
            <a:r>
              <a:rPr sz="900" b="0" i="0">
                <a:solidFill>
                  <a:srgbClr val="1C1C1E"/>
                </a:solidFill>
                <a:latin typeface="Consolas"/>
              </a:rPr>
              <a:t>                                            raise NoEntitlement(...)</a:t>
            </a:r>
          </a:p>
          <a:p>
            <a:pPr>
              <a:lnSpc>
                <a:spcPct val="134000"/>
              </a:lnSpc>
              <a:spcBef>
                <a:spcPts val="0"/>
              </a:spcBef>
              <a:spcAft>
                <a:spcPts val="0"/>
              </a:spcAft>
            </a:pPr>
            <a:r>
              <a:rPr sz="900" b="0" i="0">
                <a:solidFill>
                  <a:srgbClr val="1C1C1E"/>
                </a:solidFill>
                <a:latin typeface="Consolas"/>
              </a:rPr>
              <a:t>        if row.governance_snapshot.blocking_findings: raise Restricted(...)</a:t>
            </a:r>
          </a:p>
          <a:p>
            <a:pPr>
              <a:lnSpc>
                <a:spcPct val="134000"/>
              </a:lnSpc>
              <a:spcBef>
                <a:spcPts val="0"/>
              </a:spcBef>
              <a:spcAft>
                <a:spcPts val="0"/>
              </a:spcAft>
            </a:pPr>
            <a:r>
              <a:rPr sz="900" b="0" i="0">
                <a:solidFill>
                  <a:srgbClr val="1C1C1E"/>
                </a:solidFill>
                <a:latin typeface="Consolas"/>
              </a:rPr>
              <a:t>        d = sign(build_descriptor(row, ent, req))</a:t>
            </a:r>
          </a:p>
          <a:p>
            <a:pPr>
              <a:lnSpc>
                <a:spcPct val="134000"/>
              </a:lnSpc>
              <a:spcBef>
                <a:spcPts val="0"/>
              </a:spcBef>
              <a:spcAft>
                <a:spcPts val="0"/>
              </a:spcAft>
            </a:pPr>
            <a:r>
              <a:rPr sz="900" b="0" i="0">
                <a:solidFill>
                  <a:srgbClr val="1C1C1E"/>
                </a:solidFill>
                <a:latin typeface="Consolas"/>
              </a:rPr>
              <a:t>        redis.setex(key, ttl_with_jitter(row.tier), d)</a:t>
            </a:r>
          </a:p>
          <a:p>
            <a:pPr>
              <a:lnSpc>
                <a:spcPct val="134000"/>
              </a:lnSpc>
              <a:spcBef>
                <a:spcPts val="0"/>
              </a:spcBef>
              <a:spcAft>
                <a:spcPts val="0"/>
              </a:spcAft>
            </a:pPr>
            <a:r>
              <a:rPr sz="900" b="0" i="0">
                <a:solidFill>
                  <a:srgbClr val="1C1C1E"/>
                </a:solidFill>
                <a:latin typeface="Consolas"/>
              </a:rPr>
              <a:t>    return d</a:t>
            </a:r>
          </a:p>
        </p:txBody>
      </p:sp>
      <p:sp>
        <p:nvSpPr>
          <p:cNvPr id="14" name="TextBox 13"/>
          <p:cNvSpPr txBox="1"/>
          <p:nvPr/>
        </p:nvSpPr>
        <p:spPr>
          <a:xfrm>
            <a:off x="7585057" y="1353312"/>
            <a:ext cx="3829397" cy="338328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How p99 &lt; 50 ms is met</a:t>
            </a:r>
          </a:p>
          <a:p>
            <a:pPr>
              <a:spcBef>
                <a:spcPts val="700"/>
              </a:spcBef>
              <a:spcAft>
                <a:spcPts val="300"/>
              </a:spcAft>
            </a:pPr>
            <a:r>
              <a:rPr sz="1100" b="1">
                <a:solidFill>
                  <a:srgbClr val="A51C30"/>
                </a:solidFill>
                <a:latin typeface="Calibri"/>
              </a:rPr>
              <a:t>▪  </a:t>
            </a:r>
            <a:r>
              <a:rPr sz="1100" b="1">
                <a:solidFill>
                  <a:srgbClr val="1C1C1E"/>
                </a:solidFill>
                <a:latin typeface="Calibri"/>
              </a:rPr>
              <a:t>Never touch the primary</a:t>
            </a:r>
          </a:p>
          <a:p>
            <a:pPr lvl="1">
              <a:spcBef>
                <a:spcPts val="0"/>
              </a:spcBef>
              <a:spcAft>
                <a:spcPts val="0"/>
              </a:spcAft>
            </a:pPr>
            <a:r>
              <a:rPr sz="950">
                <a:solidFill>
                  <a:srgbClr val="4A4F57"/>
                </a:solidFill>
                <a:latin typeface="Calibri"/>
              </a:rPr>
              <a:t>hook_projection is served from a read replica — and it is the ONLY table this service knows</a:t>
            </a:r>
          </a:p>
          <a:p>
            <a:pPr>
              <a:spcBef>
                <a:spcPts val="700"/>
              </a:spcBef>
              <a:spcAft>
                <a:spcPts val="300"/>
              </a:spcAft>
            </a:pPr>
            <a:r>
              <a:rPr sz="1100" b="1">
                <a:solidFill>
                  <a:srgbClr val="A51C30"/>
                </a:solidFill>
                <a:latin typeface="Calibri"/>
              </a:rPr>
              <a:t>▪  </a:t>
            </a:r>
            <a:r>
              <a:rPr sz="1100" b="1">
                <a:solidFill>
                  <a:srgbClr val="1C1C1E"/>
                </a:solidFill>
                <a:latin typeface="Calibri"/>
              </a:rPr>
              <a:t>Common case is a Redis GET</a:t>
            </a:r>
          </a:p>
          <a:p>
            <a:pPr lvl="1">
              <a:spcBef>
                <a:spcPts val="0"/>
              </a:spcBef>
              <a:spcAft>
                <a:spcPts val="0"/>
              </a:spcAft>
            </a:pPr>
            <a:r>
              <a:rPr sz="950">
                <a:solidFill>
                  <a:srgbClr val="4A4F57"/>
                </a:solidFill>
                <a:latin typeface="Calibri"/>
              </a:rPr>
              <a:t>plus one Ed25519 verification</a:t>
            </a:r>
          </a:p>
          <a:p>
            <a:pPr>
              <a:spcBef>
                <a:spcPts val="700"/>
              </a:spcBef>
              <a:spcAft>
                <a:spcPts val="300"/>
              </a:spcAft>
            </a:pPr>
            <a:r>
              <a:rPr sz="1100" b="1">
                <a:solidFill>
                  <a:srgbClr val="A51C30"/>
                </a:solidFill>
                <a:latin typeface="Calibri"/>
              </a:rPr>
              <a:t>▪  </a:t>
            </a:r>
            <a:r>
              <a:rPr sz="1100" b="1">
                <a:solidFill>
                  <a:srgbClr val="1C1C1E"/>
                </a:solidFill>
                <a:latin typeface="Calibri"/>
              </a:rPr>
              <a:t>Two cache tiers</a:t>
            </a:r>
          </a:p>
          <a:p>
            <a:pPr lvl="1">
              <a:spcBef>
                <a:spcPts val="0"/>
              </a:spcBef>
              <a:spcAft>
                <a:spcPts val="0"/>
              </a:spcAft>
            </a:pPr>
            <a:r>
              <a:rPr sz="950">
                <a:solidFill>
                  <a:srgbClr val="4A4F57"/>
                </a:solidFill>
                <a:latin typeface="Calibri"/>
              </a:rPr>
              <a:t>in-process LRU in front of Redis</a:t>
            </a:r>
          </a:p>
          <a:p>
            <a:pPr>
              <a:spcBef>
                <a:spcPts val="700"/>
              </a:spcBef>
              <a:spcAft>
                <a:spcPts val="300"/>
              </a:spcAft>
            </a:pPr>
            <a:r>
              <a:rPr sz="1100" b="1">
                <a:solidFill>
                  <a:srgbClr val="A51C30"/>
                </a:solidFill>
                <a:latin typeface="Calibri"/>
              </a:rPr>
              <a:t>▪  </a:t>
            </a:r>
            <a:r>
              <a:rPr sz="1100" b="1">
                <a:solidFill>
                  <a:srgbClr val="1C1C1E"/>
                </a:solidFill>
                <a:latin typeface="Calibri"/>
              </a:rPr>
              <a:t>Schema decoupling</a:t>
            </a:r>
          </a:p>
          <a:p>
            <a:pPr lvl="1">
              <a:spcBef>
                <a:spcPts val="0"/>
              </a:spcBef>
              <a:spcAft>
                <a:spcPts val="0"/>
              </a:spcAft>
            </a:pPr>
            <a:r>
              <a:rPr sz="950">
                <a:solidFill>
                  <a:srgbClr val="4A4F57"/>
                </a:solidFill>
                <a:latin typeface="Calibri"/>
              </a:rPr>
              <a:t>the projection is a published contract with its own version, so a control-plane migration cannot break the one component that must never break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TWO FAILURE MODES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Stampede control and revocation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Hooks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28</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Stampede — a routine operation, not an incident</a:t>
            </a:r>
          </a:p>
        </p:txBody>
      </p:sp>
      <p:graphicFrame>
        <p:nvGraphicFramePr>
          <p:cNvPr id="11" name="Table 10"/>
          <p:cNvGraphicFramePr>
            <a:graphicFrameLocks noGrp="1"/>
          </p:cNvGraphicFramePr>
          <p:nvPr/>
        </p:nvGraphicFramePr>
        <p:xfrm>
          <a:off x="777240" y="1719072"/>
          <a:ext cx="4999490" cy="1820951"/>
        </p:xfrm>
        <a:graphic>
          <a:graphicData uri="http://schemas.openxmlformats.org/drawingml/2006/table">
            <a:tbl>
              <a:tblPr firstRow="1">
                <a:tableStyleId>{5C22544A-7EE6-4342-B048-85BDC9FD1C3A}</a:tableStyleId>
              </a:tblPr>
              <a:tblGrid>
                <a:gridCol w="1999796"/>
                <a:gridCol w="2999694"/>
              </a:tblGrid>
              <a:tr h="329184">
                <a:tc>
                  <a:txBody>
                    <a:bodyPr wrap="square"/>
                    <a:lstStyle/>
                    <a:p>
                      <a:pPr algn="l"/>
                      <a:r>
                        <a:rPr sz="1050" b="1">
                          <a:solidFill>
                            <a:srgbClr val="FFFFFF"/>
                          </a:solidFill>
                          <a:latin typeface="Calibri"/>
                        </a:rPr>
                        <a:t>Control</a:t>
                      </a:r>
                    </a:p>
                  </a:txBody>
                  <a:tcPr marL="82296" marR="64008" marT="32004" marB="32004" anchor="ctr">
                    <a:solidFill>
                      <a:srgbClr val="A51C30"/>
                    </a:solidFill>
                  </a:tcPr>
                </a:tc>
                <a:tc>
                  <a:txBody>
                    <a:bodyPr wrap="square"/>
                    <a:lstStyle/>
                    <a:p>
                      <a:pPr algn="l"/>
                      <a:r>
                        <a:rPr sz="1050" b="1">
                          <a:solidFill>
                            <a:srgbClr val="FFFFFF"/>
                          </a:solidFill>
                          <a:latin typeface="Calibri"/>
                        </a:rPr>
                        <a:t>What it prevents</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Pre-warm before invalidate</a:t>
                      </a:r>
                    </a:p>
                  </a:txBody>
                  <a:tcPr marL="82296" marR="64008" marT="32004" marB="32004" anchor="ctr">
                    <a:solidFill>
                      <a:srgbClr val="FFFFFF"/>
                    </a:solidFill>
                  </a:tcPr>
                </a:tc>
                <a:tc>
                  <a:txBody>
                    <a:bodyPr wrap="square"/>
                    <a:lstStyle/>
                    <a:p>
                      <a:pPr algn="l"/>
                      <a:r>
                        <a:rPr sz="1050" b="0">
                          <a:solidFill>
                            <a:srgbClr val="1C1C1E"/>
                          </a:solidFill>
                          <a:latin typeface="Calibri"/>
                        </a:rPr>
                        <a:t>The cache is never empty for a hot alias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Single-flight coalescing</a:t>
                      </a:r>
                    </a:p>
                  </a:txBody>
                  <a:tcPr marL="82296" marR="64008" marT="32004" marB="32004" anchor="ctr">
                    <a:solidFill>
                      <a:srgbClr val="F6F3EF"/>
                    </a:solidFill>
                  </a:tcPr>
                </a:tc>
                <a:tc>
                  <a:txBody>
                    <a:bodyPr wrap="square"/>
                    <a:lstStyle/>
                    <a:p>
                      <a:pPr algn="l"/>
                      <a:r>
                        <a:rPr sz="1050" b="0">
                          <a:solidFill>
                            <a:srgbClr val="1C1C1E"/>
                          </a:solidFill>
                          <a:latin typeface="Calibri"/>
                        </a:rPr>
                        <a:t>N concurrent misses become one backend call</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TTL jitter ±20%</a:t>
                      </a:r>
                    </a:p>
                  </a:txBody>
                  <a:tcPr marL="82296" marR="64008" marT="32004" marB="32004" anchor="ctr">
                    <a:solidFill>
                      <a:srgbClr val="FFFFFF"/>
                    </a:solidFill>
                  </a:tcPr>
                </a:tc>
                <a:tc>
                  <a:txBody>
                    <a:bodyPr wrap="square"/>
                    <a:lstStyle/>
                    <a:p>
                      <a:pPr algn="l"/>
                      <a:r>
                        <a:rPr sz="1050" b="0">
                          <a:solidFill>
                            <a:srgbClr val="1C1C1E"/>
                          </a:solidFill>
                          <a:latin typeface="Calibri"/>
                        </a:rPr>
                        <a:t>Synchronised expiry across the fleet</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Stale-while-revalidate 5 s</a:t>
                      </a:r>
                    </a:p>
                  </a:txBody>
                  <a:tcPr marL="82296" marR="64008" marT="32004" marB="32004" anchor="ctr">
                    <a:solidFill>
                      <a:srgbClr val="F6F3EF"/>
                    </a:solidFill>
                  </a:tcPr>
                </a:tc>
                <a:tc>
                  <a:txBody>
                    <a:bodyPr wrap="square"/>
                    <a:lstStyle/>
                    <a:p>
                      <a:pPr algn="l"/>
                      <a:r>
                        <a:rPr sz="1050" b="0">
                          <a:solidFill>
                            <a:srgbClr val="1C1C1E"/>
                          </a:solidFill>
                          <a:latin typeface="Calibri"/>
                        </a:rPr>
                        <a:t>A latency cliff during rebuild</a:t>
                      </a:r>
                    </a:p>
                  </a:txBody>
                  <a:tcPr marL="82296" marR="64008" marT="32004" marB="32004" anchor="ctr">
                    <a:solidFill>
                      <a:srgbClr val="F6F3EF"/>
                    </a:solidFill>
                  </a:tcPr>
                </a:tc>
              </a:tr>
            </a:tbl>
          </a:graphicData>
        </a:graphic>
      </p:graphicFrame>
      <p:sp>
        <p:nvSpPr>
          <p:cNvPr id="12" name="TextBox 11"/>
          <p:cNvSpPr txBox="1"/>
          <p:nvPr/>
        </p:nvSpPr>
        <p:spPr>
          <a:xfrm>
            <a:off x="777240" y="3410712"/>
            <a:ext cx="4999491" cy="128016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Why it matters. </a:t>
            </a:r>
            <a:r>
              <a:rPr sz="1150" b="0" i="0">
                <a:solidFill>
                  <a:srgbClr val="1C1C1E"/>
                </a:solidFill>
                <a:latin typeface="Calibri"/>
              </a:rPr>
              <a:t>An alias move on a model taking 14,000 requests/second causes every in-flight consumer to miss simultaneously. Without pre-warming, a governed, routine operation takes the database down.</a:t>
            </a:r>
          </a:p>
        </p:txBody>
      </p:sp>
      <p:sp>
        <p:nvSpPr>
          <p:cNvPr id="13" name="TextBox 12"/>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Revocation — four propagation paths</a:t>
            </a:r>
          </a:p>
        </p:txBody>
      </p:sp>
      <p:graphicFrame>
        <p:nvGraphicFramePr>
          <p:cNvPr id="14" name="Table 13"/>
          <p:cNvGraphicFramePr>
            <a:graphicFrameLocks noGrp="1"/>
          </p:cNvGraphicFramePr>
          <p:nvPr/>
        </p:nvGraphicFramePr>
        <p:xfrm>
          <a:off x="6414964" y="1719072"/>
          <a:ext cx="4999490" cy="1820951"/>
        </p:xfrm>
        <a:graphic>
          <a:graphicData uri="http://schemas.openxmlformats.org/drawingml/2006/table">
            <a:tbl>
              <a:tblPr firstRow="1">
                <a:tableStyleId>{5C22544A-7EE6-4342-B048-85BDC9FD1C3A}</a:tableStyleId>
              </a:tblPr>
              <a:tblGrid>
                <a:gridCol w="3635993"/>
                <a:gridCol w="1363497"/>
              </a:tblGrid>
              <a:tr h="329184">
                <a:tc>
                  <a:txBody>
                    <a:bodyPr wrap="square"/>
                    <a:lstStyle/>
                    <a:p>
                      <a:pPr algn="l"/>
                      <a:r>
                        <a:rPr sz="1050" b="1">
                          <a:solidFill>
                            <a:srgbClr val="FFFFFF"/>
                          </a:solidFill>
                          <a:latin typeface="Calibri"/>
                        </a:rPr>
                        <a:t>Path</a:t>
                      </a:r>
                    </a:p>
                  </a:txBody>
                  <a:tcPr marL="82296" marR="64008" marT="32004" marB="32004" anchor="ctr">
                    <a:solidFill>
                      <a:srgbClr val="A51C30"/>
                    </a:solidFill>
                  </a:tcPr>
                </a:tc>
                <a:tc>
                  <a:txBody>
                    <a:bodyPr wrap="square"/>
                    <a:lstStyle/>
                    <a:p>
                      <a:pPr algn="l"/>
                      <a:r>
                        <a:rPr sz="1050" b="1">
                          <a:solidFill>
                            <a:srgbClr val="FFFFFF"/>
                          </a:solidFill>
                          <a:latin typeface="Calibri"/>
                        </a:rPr>
                        <a:t>Latency</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Redis revocation set → resolvers fail closed</a:t>
                      </a:r>
                    </a:p>
                  </a:txBody>
                  <a:tcPr marL="82296" marR="64008" marT="32004" marB="32004" anchor="ctr">
                    <a:solidFill>
                      <a:srgbClr val="FFFFFF"/>
                    </a:solidFill>
                  </a:tcPr>
                </a:tc>
                <a:tc>
                  <a:txBody>
                    <a:bodyPr wrap="square"/>
                    <a:lstStyle/>
                    <a:p>
                      <a:pPr algn="l"/>
                      <a:r>
                        <a:rPr sz="1050" b="0">
                          <a:solidFill>
                            <a:srgbClr val="1C1C1E"/>
                          </a:solidFill>
                          <a:latin typeface="Calibri"/>
                        </a:rPr>
                        <a:t>immediate</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Kafka event → SDKs drop the descriptor</a:t>
                      </a:r>
                    </a:p>
                  </a:txBody>
                  <a:tcPr marL="82296" marR="64008" marT="32004" marB="32004" anchor="ctr">
                    <a:solidFill>
                      <a:srgbClr val="F6F3EF"/>
                    </a:solidFill>
                  </a:tcPr>
                </a:tc>
                <a:tc>
                  <a:txBody>
                    <a:bodyPr wrap="square"/>
                    <a:lstStyle/>
                    <a:p>
                      <a:pPr algn="l"/>
                      <a:r>
                        <a:rPr sz="1050" b="0">
                          <a:solidFill>
                            <a:srgbClr val="1C1C1E"/>
                          </a:solidFill>
                          <a:latin typeface="Calibri"/>
                        </a:rPr>
                        <a:t>≈ 1 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Epoch on every response → polling engines re-resolve</a:t>
                      </a:r>
                    </a:p>
                  </a:txBody>
                  <a:tcPr marL="82296" marR="64008" marT="32004" marB="32004" anchor="ctr">
                    <a:solidFill>
                      <a:srgbClr val="FFFFFF"/>
                    </a:solidFill>
                  </a:tcPr>
                </a:tc>
                <a:tc>
                  <a:txBody>
                    <a:bodyPr wrap="square"/>
                    <a:lstStyle/>
                    <a:p>
                      <a:pPr algn="l"/>
                      <a:r>
                        <a:rPr sz="1050" b="0">
                          <a:solidFill>
                            <a:srgbClr val="1C1C1E"/>
                          </a:solidFill>
                          <a:latin typeface="Calibri"/>
                        </a:rPr>
                        <a:t>≤ 30 s</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TTL expiry → fully partitioned engine</a:t>
                      </a:r>
                    </a:p>
                  </a:txBody>
                  <a:tcPr marL="82296" marR="64008" marT="32004" marB="32004" anchor="ctr">
                    <a:solidFill>
                      <a:srgbClr val="F6F3EF"/>
                    </a:solidFill>
                  </a:tcPr>
                </a:tc>
                <a:tc>
                  <a:txBody>
                    <a:bodyPr wrap="square"/>
                    <a:lstStyle/>
                    <a:p>
                      <a:pPr algn="l"/>
                      <a:r>
                        <a:rPr sz="1050" b="0">
                          <a:solidFill>
                            <a:srgbClr val="1C1C1E"/>
                          </a:solidFill>
                          <a:latin typeface="Calibri"/>
                        </a:rPr>
                        <a:t>≤ 60 s (Tier 1)</a:t>
                      </a:r>
                    </a:p>
                  </a:txBody>
                  <a:tcPr marL="82296" marR="64008" marT="32004" marB="32004" anchor="ctr">
                    <a:solidFill>
                      <a:srgbClr val="F6F3EF"/>
                    </a:solidFill>
                  </a:tcPr>
                </a:tc>
              </a:tr>
            </a:tbl>
          </a:graphicData>
        </a:graphic>
      </p:graphicFrame>
      <p:sp>
        <p:nvSpPr>
          <p:cNvPr id="15" name="Rectangle 14"/>
          <p:cNvSpPr/>
          <p:nvPr/>
        </p:nvSpPr>
        <p:spPr>
          <a:xfrm>
            <a:off x="6414964" y="3364992"/>
            <a:ext cx="4999491"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414964" y="3364992"/>
            <a:ext cx="41148"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652708" y="3493008"/>
            <a:ext cx="4542291" cy="11430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The revocation floor. </a:t>
            </a:r>
            <a:r>
              <a:rPr sz="1100" b="0" i="0">
                <a:solidFill>
                  <a:srgbClr val="1C1C1E"/>
                </a:solidFill>
                <a:latin typeface="Calibri"/>
              </a:rPr>
              <a:t>SDKs persist a local revocation list. A descriptor on that list is refused </a:t>
            </a:r>
            <a:r>
              <a:rPr sz="1100" b="1" i="0">
                <a:solidFill>
                  <a:srgbClr val="1C1C1E"/>
                </a:solidFill>
                <a:latin typeface="Calibri"/>
              </a:rPr>
              <a:t>regardless of grace state</a:t>
            </a:r>
            <a:r>
              <a:rPr sz="1100" b="0" i="0">
                <a:solidFill>
                  <a:srgbClr val="1C1C1E"/>
                </a:solidFill>
                <a:latin typeface="Calibri"/>
              </a:rPr>
              <a:t>. Grace extends authorisation currency; it never extends revocation ignorance. Tier 1 default grace is zero.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CAPABILITY NOBODY ELSE HAS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Approved use versus actual use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Hooks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29</a:t>
            </a:r>
          </a:p>
        </p:txBody>
      </p:sp>
      <p:sp>
        <p:nvSpPr>
          <p:cNvPr id="10" name="TextBox 9"/>
          <p:cNvSpPr txBox="1"/>
          <p:nvPr/>
        </p:nvSpPr>
        <p:spPr>
          <a:xfrm>
            <a:off x="777240" y="1353312"/>
            <a:ext cx="10637215" cy="411480"/>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SS1/23 asks the inventory to record intended use </a:t>
            </a:r>
            <a:r>
              <a:rPr sz="1250" b="1" i="1">
                <a:solidFill>
                  <a:srgbClr val="A51C30"/>
                </a:solidFill>
                <a:latin typeface="Calibri"/>
              </a:rPr>
              <a:t>compared to actual use</a:t>
            </a:r>
            <a:r>
              <a:rPr sz="1250" b="0" i="0">
                <a:solidFill>
                  <a:srgbClr val="1C1C1E"/>
                </a:solidFill>
                <a:latin typeface="Calibri"/>
              </a:rPr>
              <a:t>. Hook telemetry makes that observable rather than aspirational. A nightly job compares the observed context distribution against approved model_use rows.</a:t>
            </a:r>
          </a:p>
        </p:txBody>
      </p:sp>
      <p:graphicFrame>
        <p:nvGraphicFramePr>
          <p:cNvPr id="11" name="Table 10"/>
          <p:cNvGraphicFramePr>
            <a:graphicFrameLocks noGrp="1"/>
          </p:cNvGraphicFramePr>
          <p:nvPr/>
        </p:nvGraphicFramePr>
        <p:xfrm>
          <a:off x="777240" y="1920240"/>
          <a:ext cx="10637214" cy="2418613"/>
        </p:xfrm>
        <a:graphic>
          <a:graphicData uri="http://schemas.openxmlformats.org/drawingml/2006/table">
            <a:tbl>
              <a:tblPr firstRow="1">
                <a:tableStyleId>{5C22544A-7EE6-4342-B048-85BDC9FD1C3A}</a:tableStyleId>
              </a:tblPr>
              <a:tblGrid>
                <a:gridCol w="2475903"/>
                <a:gridCol w="5135207"/>
                <a:gridCol w="3026104"/>
              </a:tblGrid>
              <a:tr h="333781">
                <a:tc>
                  <a:txBody>
                    <a:bodyPr wrap="square"/>
                    <a:lstStyle/>
                    <a:p>
                      <a:pPr algn="l"/>
                      <a:r>
                        <a:rPr sz="1100" b="1">
                          <a:solidFill>
                            <a:srgbClr val="FFFFFF"/>
                          </a:solidFill>
                          <a:latin typeface="Calibri"/>
                        </a:rPr>
                        <a:t>Exception</a:t>
                      </a:r>
                    </a:p>
                  </a:txBody>
                  <a:tcPr marL="82296" marR="64008" marT="32004" marB="32004" anchor="ctr">
                    <a:solidFill>
                      <a:srgbClr val="A51C30"/>
                    </a:solidFill>
                  </a:tcPr>
                </a:tc>
                <a:tc>
                  <a:txBody>
                    <a:bodyPr wrap="square"/>
                    <a:lstStyle/>
                    <a:p>
                      <a:pPr algn="l"/>
                      <a:r>
                        <a:rPr sz="1100" b="1">
                          <a:solidFill>
                            <a:srgbClr val="FFFFFF"/>
                          </a:solidFill>
                          <a:latin typeface="Calibri"/>
                        </a:rPr>
                        <a:t>Example</a:t>
                      </a:r>
                    </a:p>
                  </a:txBody>
                  <a:tcPr marL="82296" marR="64008" marT="32004" marB="32004" anchor="ctr">
                    <a:solidFill>
                      <a:srgbClr val="A51C30"/>
                    </a:solidFill>
                  </a:tcPr>
                </a:tc>
                <a:tc>
                  <a:txBody>
                    <a:bodyPr wrap="square"/>
                    <a:lstStyle/>
                    <a:p>
                      <a:pPr algn="l"/>
                      <a:r>
                        <a:rPr sz="1100" b="1">
                          <a:solidFill>
                            <a:srgbClr val="FFFFFF"/>
                          </a:solidFill>
                          <a:latin typeface="Calibri"/>
                        </a:rPr>
                        <a:t>Becomes</a:t>
                      </a:r>
                    </a:p>
                  </a:txBody>
                  <a:tcPr marL="82296" marR="64008" marT="32004" marB="32004" anchor="ctr">
                    <a:solidFill>
                      <a:srgbClr val="A51C30"/>
                    </a:solidFill>
                  </a:tcPr>
                </a:tc>
              </a:tr>
              <a:tr h="347472">
                <a:tc>
                  <a:txBody>
                    <a:bodyPr wrap="square"/>
                    <a:lstStyle/>
                    <a:p>
                      <a:pPr algn="l"/>
                      <a:r>
                        <a:rPr sz="1050" b="1">
                          <a:solidFill>
                            <a:srgbClr val="A51C30"/>
                          </a:solidFill>
                          <a:latin typeface="Calibri"/>
                        </a:rPr>
                        <a:t>Off-label portfolio</a:t>
                      </a:r>
                    </a:p>
                  </a:txBody>
                  <a:tcPr marL="82296" marR="64008" marT="32004" marB="32004" anchor="ctr">
                    <a:solidFill>
                      <a:srgbClr val="FFFFFF"/>
                    </a:solidFill>
                  </a:tcPr>
                </a:tc>
                <a:tc>
                  <a:txBody>
                    <a:bodyPr wrap="square"/>
                    <a:lstStyle/>
                    <a:p>
                      <a:pPr algn="l"/>
                      <a:r>
                        <a:rPr sz="1050" b="0">
                          <a:solidFill>
                            <a:srgbClr val="1C1C1E"/>
                          </a:solidFill>
                          <a:latin typeface="Calibri"/>
                        </a:rPr>
                        <a:t>223 calls for a portfolio that is not an approved use</a:t>
                      </a:r>
                    </a:p>
                  </a:txBody>
                  <a:tcPr marL="82296" marR="64008" marT="32004" marB="32004" anchor="ctr">
                    <a:solidFill>
                      <a:srgbClr val="FFFFFF"/>
                    </a:solidFill>
                  </a:tcPr>
                </a:tc>
                <a:tc>
                  <a:txBody>
                    <a:bodyPr wrap="square"/>
                    <a:lstStyle/>
                    <a:p>
                      <a:pPr algn="l"/>
                      <a:r>
                        <a:rPr sz="1050" b="0">
                          <a:solidFill>
                            <a:srgbClr val="1C1C1E"/>
                          </a:solidFill>
                          <a:latin typeface="Calibri"/>
                        </a:rPr>
                        <a:t>Finding, owner, due date</a:t>
                      </a:r>
                    </a:p>
                  </a:txBody>
                  <a:tcPr marL="82296" marR="64008" marT="32004" marB="32004" anchor="ctr">
                    <a:solidFill>
                      <a:srgbClr val="FFFFFF"/>
                    </a:solidFill>
                  </a:tcPr>
                </a:tc>
              </a:tr>
              <a:tr h="347472">
                <a:tc>
                  <a:txBody>
                    <a:bodyPr wrap="square"/>
                    <a:lstStyle/>
                    <a:p>
                      <a:pPr algn="l"/>
                      <a:r>
                        <a:rPr sz="1050" b="1">
                          <a:solidFill>
                            <a:srgbClr val="A51C30"/>
                          </a:solidFill>
                          <a:latin typeface="Calibri"/>
                        </a:rPr>
                        <a:t>Unapproved geography</a:t>
                      </a:r>
                    </a:p>
                  </a:txBody>
                  <a:tcPr marL="82296" marR="64008" marT="32004" marB="32004" anchor="ctr">
                    <a:solidFill>
                      <a:srgbClr val="F6F3EF"/>
                    </a:solidFill>
                  </a:tcPr>
                </a:tc>
                <a:tc>
                  <a:txBody>
                    <a:bodyPr wrap="square"/>
                    <a:lstStyle/>
                    <a:p>
                      <a:pPr algn="l"/>
                      <a:r>
                        <a:rPr sz="1050" b="0">
                          <a:solidFill>
                            <a:srgbClr val="1C1C1E"/>
                          </a:solidFill>
                          <a:latin typeface="Calibri"/>
                        </a:rPr>
                        <a:t>Calls originating outside the approval's scope</a:t>
                      </a:r>
                    </a:p>
                  </a:txBody>
                  <a:tcPr marL="82296" marR="64008" marT="32004" marB="32004" anchor="ctr">
                    <a:solidFill>
                      <a:srgbClr val="F6F3EF"/>
                    </a:solidFill>
                  </a:tcPr>
                </a:tc>
                <a:tc>
                  <a:txBody>
                    <a:bodyPr wrap="square"/>
                    <a:lstStyle/>
                    <a:p>
                      <a:pPr algn="l"/>
                      <a:r>
                        <a:rPr sz="1050" b="0">
                          <a:solidFill>
                            <a:srgbClr val="1C1C1E"/>
                          </a:solidFill>
                          <a:latin typeface="Calibri"/>
                        </a:rPr>
                        <a:t>Finding + scope review</a:t>
                      </a:r>
                    </a:p>
                  </a:txBody>
                  <a:tcPr marL="82296" marR="64008" marT="32004" marB="32004" anchor="ctr">
                    <a:solidFill>
                      <a:srgbClr val="F6F3EF"/>
                    </a:solidFill>
                  </a:tcPr>
                </a:tc>
              </a:tr>
              <a:tr h="347472">
                <a:tc>
                  <a:txBody>
                    <a:bodyPr wrap="square"/>
                    <a:lstStyle/>
                    <a:p>
                      <a:pPr algn="l"/>
                      <a:r>
                        <a:rPr sz="1050" b="1">
                          <a:solidFill>
                            <a:srgbClr val="A51C30"/>
                          </a:solidFill>
                          <a:latin typeface="Calibri"/>
                        </a:rPr>
                        <a:t>Volume anomaly</a:t>
                      </a:r>
                    </a:p>
                  </a:txBody>
                  <a:tcPr marL="82296" marR="64008" marT="32004" marB="32004" anchor="ctr">
                    <a:solidFill>
                      <a:srgbClr val="FFFFFF"/>
                    </a:solidFill>
                  </a:tcPr>
                </a:tc>
                <a:tc>
                  <a:txBody>
                    <a:bodyPr wrap="square"/>
                    <a:lstStyle/>
                    <a:p>
                      <a:pPr algn="l"/>
                      <a:r>
                        <a:rPr sz="1050" b="0">
                          <a:solidFill>
                            <a:srgbClr val="1C1C1E"/>
                          </a:solidFill>
                          <a:latin typeface="Calibri"/>
                        </a:rPr>
                        <a:t>40× expected daily volume — suggests a new, unassessed use</a:t>
                      </a:r>
                    </a:p>
                  </a:txBody>
                  <a:tcPr marL="82296" marR="64008" marT="32004" marB="32004" anchor="ctr">
                    <a:solidFill>
                      <a:srgbClr val="FFFFFF"/>
                    </a:solidFill>
                  </a:tcPr>
                </a:tc>
                <a:tc>
                  <a:txBody>
                    <a:bodyPr wrap="square"/>
                    <a:lstStyle/>
                    <a:p>
                      <a:pPr algn="l"/>
                      <a:r>
                        <a:rPr sz="1050" b="0">
                          <a:solidFill>
                            <a:srgbClr val="1C1C1E"/>
                          </a:solidFill>
                          <a:latin typeface="Calibri"/>
                        </a:rPr>
                        <a:t>Investigation task</a:t>
                      </a:r>
                    </a:p>
                  </a:txBody>
                  <a:tcPr marL="82296" marR="64008" marT="32004" marB="32004" anchor="ctr">
                    <a:solidFill>
                      <a:srgbClr val="FFFFFF"/>
                    </a:solidFill>
                  </a:tcPr>
                </a:tc>
              </a:tr>
              <a:tr h="347472">
                <a:tc>
                  <a:txBody>
                    <a:bodyPr wrap="square"/>
                    <a:lstStyle/>
                    <a:p>
                      <a:pPr algn="l"/>
                      <a:r>
                        <a:rPr sz="1050" b="1">
                          <a:solidFill>
                            <a:srgbClr val="A51C30"/>
                          </a:solidFill>
                          <a:latin typeface="Calibri"/>
                        </a:rPr>
                        <a:t>Boundary violation rate</a:t>
                      </a:r>
                    </a:p>
                  </a:txBody>
                  <a:tcPr marL="82296" marR="64008" marT="32004" marB="32004" anchor="ctr">
                    <a:solidFill>
                      <a:srgbClr val="F6F3EF"/>
                    </a:solidFill>
                  </a:tcPr>
                </a:tc>
                <a:tc>
                  <a:txBody>
                    <a:bodyPr wrap="square"/>
                    <a:lstStyle/>
                    <a:p>
                      <a:pPr algn="l"/>
                      <a:r>
                        <a:rPr sz="1050" b="0">
                          <a:solidFill>
                            <a:srgbClr val="1C1C1E"/>
                          </a:solidFill>
                          <a:latin typeface="Calibri"/>
                        </a:rPr>
                        <a:t>0.26% of inputs outside declared operating boundaries</a:t>
                      </a:r>
                    </a:p>
                  </a:txBody>
                  <a:tcPr marL="82296" marR="64008" marT="32004" marB="32004" anchor="ctr">
                    <a:solidFill>
                      <a:srgbClr val="F6F3EF"/>
                    </a:solidFill>
                  </a:tcPr>
                </a:tc>
                <a:tc>
                  <a:txBody>
                    <a:bodyPr wrap="square"/>
                    <a:lstStyle/>
                    <a:p>
                      <a:pPr algn="l"/>
                      <a:r>
                        <a:rPr sz="1050" b="0">
                          <a:solidFill>
                            <a:srgbClr val="1C1C1E"/>
                          </a:solidFill>
                          <a:latin typeface="Calibri"/>
                        </a:rPr>
                        <a:t>Contract assumption A is failing</a:t>
                      </a:r>
                    </a:p>
                  </a:txBody>
                  <a:tcPr marL="82296" marR="64008" marT="32004" marB="32004" anchor="ctr">
                    <a:solidFill>
                      <a:srgbClr val="F6F3EF"/>
                    </a:solidFill>
                  </a:tcPr>
                </a:tc>
              </a:tr>
              <a:tr h="347472">
                <a:tc>
                  <a:txBody>
                    <a:bodyPr wrap="square"/>
                    <a:lstStyle/>
                    <a:p>
                      <a:pPr algn="l"/>
                      <a:r>
                        <a:rPr sz="1050" b="1">
                          <a:solidFill>
                            <a:srgbClr val="A51C30"/>
                          </a:solidFill>
                          <a:latin typeface="Calibri"/>
                        </a:rPr>
                        <a:t>Dormant approval</a:t>
                      </a:r>
                    </a:p>
                  </a:txBody>
                  <a:tcPr marL="82296" marR="64008" marT="32004" marB="32004" anchor="ctr">
                    <a:solidFill>
                      <a:srgbClr val="FFFFFF"/>
                    </a:solidFill>
                  </a:tcPr>
                </a:tc>
                <a:tc>
                  <a:txBody>
                    <a:bodyPr wrap="square"/>
                    <a:lstStyle/>
                    <a:p>
                      <a:pPr algn="l"/>
                      <a:r>
                        <a:rPr sz="1050" b="0">
                          <a:solidFill>
                            <a:srgbClr val="1C1C1E"/>
                          </a:solidFill>
                          <a:latin typeface="Calibri"/>
                        </a:rPr>
                        <a:t>An approved use with zero calls for 180 days</a:t>
                      </a:r>
                    </a:p>
                  </a:txBody>
                  <a:tcPr marL="82296" marR="64008" marT="32004" marB="32004" anchor="ctr">
                    <a:solidFill>
                      <a:srgbClr val="FFFFFF"/>
                    </a:solidFill>
                  </a:tcPr>
                </a:tc>
                <a:tc>
                  <a:txBody>
                    <a:bodyPr wrap="square"/>
                    <a:lstStyle/>
                    <a:p>
                      <a:pPr algn="l"/>
                      <a:r>
                        <a:rPr sz="1050" b="0">
                          <a:solidFill>
                            <a:srgbClr val="1C1C1E"/>
                          </a:solidFill>
                          <a:latin typeface="Calibri"/>
                        </a:rPr>
                        <a:t>Candidate for withdrawal</a:t>
                      </a:r>
                    </a:p>
                  </a:txBody>
                  <a:tcPr marL="82296" marR="64008" marT="32004" marB="32004" anchor="ctr">
                    <a:solidFill>
                      <a:srgbClr val="FFFFFF"/>
                    </a:solidFill>
                  </a:tcPr>
                </a:tc>
              </a:tr>
              <a:tr h="347472">
                <a:tc>
                  <a:txBody>
                    <a:bodyPr wrap="square"/>
                    <a:lstStyle/>
                    <a:p>
                      <a:pPr algn="l"/>
                      <a:r>
                        <a:rPr sz="1050" b="1">
                          <a:solidFill>
                            <a:srgbClr val="A51C30"/>
                          </a:solidFill>
                          <a:latin typeface="Calibri"/>
                        </a:rPr>
                        <a:t>Undeclared consumer</a:t>
                      </a:r>
                    </a:p>
                  </a:txBody>
                  <a:tcPr marL="82296" marR="64008" marT="32004" marB="32004" anchor="ctr">
                    <a:solidFill>
                      <a:srgbClr val="F6F3EF"/>
                    </a:solidFill>
                  </a:tcPr>
                </a:tc>
                <a:tc>
                  <a:txBody>
                    <a:bodyPr wrap="square"/>
                    <a:lstStyle/>
                    <a:p>
                      <a:pPr algn="l"/>
                      <a:r>
                        <a:rPr sz="1050" b="0">
                          <a:solidFill>
                            <a:srgbClr val="1C1C1E"/>
                          </a:solidFill>
                          <a:latin typeface="Calibri"/>
                        </a:rPr>
                        <a:t>A new principal resolving the hook</a:t>
                      </a:r>
                    </a:p>
                  </a:txBody>
                  <a:tcPr marL="82296" marR="64008" marT="32004" marB="32004" anchor="ctr">
                    <a:solidFill>
                      <a:srgbClr val="F6F3EF"/>
                    </a:solidFill>
                  </a:tcPr>
                </a:tc>
                <a:tc>
                  <a:txBody>
                    <a:bodyPr wrap="square"/>
                    <a:lstStyle/>
                    <a:p>
                      <a:pPr algn="l"/>
                      <a:r>
                        <a:rPr sz="1050" b="0">
                          <a:solidFill>
                            <a:srgbClr val="1C1C1E"/>
                          </a:solidFill>
                          <a:latin typeface="Calibri"/>
                        </a:rPr>
                        <a:t>Entitlement review</a:t>
                      </a:r>
                    </a:p>
                  </a:txBody>
                  <a:tcPr marL="82296" marR="64008" marT="32004" marB="32004" anchor="ctr">
                    <a:solidFill>
                      <a:srgbClr val="F6F3E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6</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Machine Assistance</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Where AI does the work, where it may not, and why that is structural.</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capability contract</a:t>
            </a:r>
          </a:p>
          <a:p>
            <a:pPr>
              <a:lnSpc>
                <a:spcPct val="115000"/>
              </a:lnSpc>
              <a:spcBef>
                <a:spcPts val="0"/>
              </a:spcBef>
              <a:spcAft>
                <a:spcPts val="700"/>
              </a:spcAft>
            </a:pPr>
            <a:r>
              <a:rPr sz="1150" b="0" i="0">
                <a:solidFill>
                  <a:srgbClr val="F6E6E9"/>
                </a:solidFill>
                <a:latin typeface="Calibri"/>
              </a:rPr>
              <a:t>The grounding gate</a:t>
            </a:r>
          </a:p>
          <a:p>
            <a:pPr>
              <a:lnSpc>
                <a:spcPct val="115000"/>
              </a:lnSpc>
              <a:spcBef>
                <a:spcPts val="0"/>
              </a:spcBef>
              <a:spcAft>
                <a:spcPts val="700"/>
              </a:spcAft>
            </a:pPr>
            <a:r>
              <a:rPr sz="1150" b="0" i="0">
                <a:solidFill>
                  <a:srgbClr val="F6E6E9"/>
                </a:solidFill>
                <a:latin typeface="Calibri"/>
              </a:rPr>
              <a:t>Structural prohibition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DESIGN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capability contract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31</a:t>
            </a:r>
          </a:p>
        </p:txBody>
      </p:sp>
      <p:sp>
        <p:nvSpPr>
          <p:cNvPr id="10" name="Rectangle 9"/>
          <p:cNvSpPr/>
          <p:nvPr/>
        </p:nvSpPr>
        <p:spPr>
          <a:xfrm>
            <a:off x="777240" y="1353312"/>
            <a:ext cx="6169584" cy="38262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8262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maya/ai/runner.py</a:t>
            </a:r>
          </a:p>
        </p:txBody>
      </p:sp>
      <p:sp>
        <p:nvSpPr>
          <p:cNvPr id="13" name="TextBox 12"/>
          <p:cNvSpPr txBox="1"/>
          <p:nvPr/>
        </p:nvSpPr>
        <p:spPr>
          <a:xfrm>
            <a:off x="978408" y="1746504"/>
            <a:ext cx="5803824" cy="335072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class Capability(Protocol):</a:t>
            </a:r>
          </a:p>
          <a:p>
            <a:pPr>
              <a:lnSpc>
                <a:spcPct val="134000"/>
              </a:lnSpc>
              <a:spcBef>
                <a:spcPts val="0"/>
              </a:spcBef>
              <a:spcAft>
                <a:spcPts val="0"/>
              </a:spcAft>
            </a:pPr>
            <a:r>
              <a:rPr sz="950" b="0" i="0">
                <a:solidFill>
                  <a:srgbClr val="1C1C1E"/>
                </a:solidFill>
                <a:latin typeface="Consolas"/>
              </a:rPr>
              <a:t>    key: str</a:t>
            </a:r>
          </a:p>
          <a:p>
            <a:pPr>
              <a:lnSpc>
                <a:spcPct val="134000"/>
              </a:lnSpc>
              <a:spcBef>
                <a:spcPts val="0"/>
              </a:spcBef>
              <a:spcAft>
                <a:spcPts val="0"/>
              </a:spcAft>
            </a:pPr>
            <a:r>
              <a:rPr sz="950" b="0" i="0">
                <a:solidFill>
                  <a:srgbClr val="1C1C1E"/>
                </a:solidFill>
                <a:latin typeface="Consolas"/>
              </a:rPr>
              <a:t>    assist_tier: Literal["A", "B"]   # "C" is unrepresentable</a:t>
            </a:r>
          </a:p>
          <a:p>
            <a:pPr>
              <a:lnSpc>
                <a:spcPct val="134000"/>
              </a:lnSpc>
              <a:spcBef>
                <a:spcPts val="0"/>
              </a:spcBef>
              <a:spcAft>
                <a:spcPts val="0"/>
              </a:spcAft>
            </a:pPr>
            <a:r>
              <a:rPr sz="950" b="0" i="0">
                <a:solidFill>
                  <a:srgbClr val="1C1C1E"/>
                </a:solidFill>
                <a:latin typeface="Consolas"/>
              </a:rPr>
              <a:t>    oracle_key: str | None            # required for tier A</a:t>
            </a:r>
          </a:p>
          <a:p>
            <a:pPr>
              <a:lnSpc>
                <a:spcPct val="134000"/>
              </a:lnSpc>
              <a:spcBef>
                <a:spcPts val="0"/>
              </a:spcBef>
              <a:spcAft>
                <a:spcPts val="0"/>
              </a:spcAft>
            </a:pPr>
            <a:r>
              <a:rPr sz="950" b="0" i="0">
                <a:solidFill>
                  <a:srgbClr val="1C1C1E"/>
                </a:solidFill>
                <a:latin typeface="Consolas"/>
              </a:rPr>
              <a:t>    def generate(self, ctx) -&gt; Draft: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run(cap, ctx) -&gt; CapabilityResult:</a:t>
            </a:r>
          </a:p>
          <a:p>
            <a:pPr>
              <a:lnSpc>
                <a:spcPct val="134000"/>
              </a:lnSpc>
              <a:spcBef>
                <a:spcPts val="0"/>
              </a:spcBef>
              <a:spcAft>
                <a:spcPts val="0"/>
              </a:spcAft>
            </a:pPr>
            <a:r>
              <a:rPr sz="950" b="0" i="0">
                <a:solidFill>
                  <a:srgbClr val="1C1C1E"/>
                </a:solidFill>
                <a:latin typeface="Consolas"/>
              </a:rPr>
              <a:t>    draft = cap.generate(ctx)</a:t>
            </a:r>
          </a:p>
          <a:p>
            <a:pPr>
              <a:lnSpc>
                <a:spcPct val="134000"/>
              </a:lnSpc>
              <a:spcBef>
                <a:spcPts val="0"/>
              </a:spcBef>
              <a:spcAft>
                <a:spcPts val="0"/>
              </a:spcAft>
            </a:pPr>
            <a:r>
              <a:rPr sz="950" b="0" i="0">
                <a:solidFill>
                  <a:srgbClr val="1C1C1E"/>
                </a:solidFill>
                <a:latin typeface="Consolas"/>
              </a:rPr>
              <a:t>    if cap.assist_tier == "A":</a:t>
            </a:r>
          </a:p>
          <a:p>
            <a:pPr>
              <a:lnSpc>
                <a:spcPct val="134000"/>
              </a:lnSpc>
              <a:spcBef>
                <a:spcPts val="0"/>
              </a:spcBef>
              <a:spcAft>
                <a:spcPts val="0"/>
              </a:spcAft>
            </a:pPr>
            <a:r>
              <a:rPr sz="950" b="0" i="0">
                <a:solidFill>
                  <a:srgbClr val="1C1C1E"/>
                </a:solidFill>
                <a:latin typeface="Consolas"/>
              </a:rPr>
              <a:t>        ok = oracles.get(cap.oracle_key).check(draft, ctx)</a:t>
            </a:r>
          </a:p>
          <a:p>
            <a:pPr>
              <a:lnSpc>
                <a:spcPct val="134000"/>
              </a:lnSpc>
              <a:spcBef>
                <a:spcPts val="0"/>
              </a:spcBef>
              <a:spcAft>
                <a:spcPts val="0"/>
              </a:spcAft>
            </a:pPr>
            <a:r>
              <a:rPr sz="950" b="0" i="0">
                <a:solidFill>
                  <a:srgbClr val="1C1C1E"/>
                </a:solidFill>
                <a:latin typeface="Consolas"/>
              </a:rPr>
              <a:t>        if not ok.holds:</a:t>
            </a:r>
          </a:p>
          <a:p>
            <a:pPr>
              <a:lnSpc>
                <a:spcPct val="134000"/>
              </a:lnSpc>
              <a:spcBef>
                <a:spcPts val="0"/>
              </a:spcBef>
              <a:spcAft>
                <a:spcPts val="0"/>
              </a:spcAft>
            </a:pPr>
            <a:r>
              <a:rPr sz="950" b="0" i="0">
                <a:solidFill>
                  <a:srgbClr val="1C1C1E"/>
                </a:solidFill>
                <a:latin typeface="Consolas"/>
              </a:rPr>
              <a:t>            return CapabilityResult(rejected=True, reason=ok.detail)</a:t>
            </a:r>
          </a:p>
          <a:p>
            <a:pPr>
              <a:lnSpc>
                <a:spcPct val="134000"/>
              </a:lnSpc>
              <a:spcBef>
                <a:spcPts val="0"/>
              </a:spcBef>
              <a:spcAft>
                <a:spcPts val="0"/>
              </a:spcAft>
            </a:pPr>
            <a:r>
              <a:rPr sz="950" b="0" i="0">
                <a:solidFill>
                  <a:srgbClr val="1C1C1E"/>
                </a:solidFill>
                <a:latin typeface="Consolas"/>
              </a:rPr>
              <a:t>    else:</a:t>
            </a:r>
          </a:p>
          <a:p>
            <a:pPr>
              <a:lnSpc>
                <a:spcPct val="134000"/>
              </a:lnSpc>
              <a:spcBef>
                <a:spcPts val="0"/>
              </a:spcBef>
              <a:spcAft>
                <a:spcPts val="0"/>
              </a:spcAft>
            </a:pPr>
            <a:r>
              <a:rPr sz="950" b="0" i="0">
                <a:solidFill>
                  <a:srgbClr val="1C1C1E"/>
                </a:solidFill>
                <a:latin typeface="Consolas"/>
              </a:rPr>
              <a:t>        draft = grounding_gate(draft, ctx)</a:t>
            </a:r>
          </a:p>
          <a:p>
            <a:pPr>
              <a:lnSpc>
                <a:spcPct val="134000"/>
              </a:lnSpc>
              <a:spcBef>
                <a:spcPts val="0"/>
              </a:spcBef>
              <a:spcAft>
                <a:spcPts val="0"/>
              </a:spcAft>
            </a:pPr>
            <a:r>
              <a:rPr sz="950" b="0" i="0">
                <a:solidFill>
                  <a:srgbClr val="1C1C1E"/>
                </a:solidFill>
                <a:latin typeface="Consolas"/>
              </a:rPr>
              <a:t>    ai_generations.record(cap, draft, ctx)</a:t>
            </a:r>
          </a:p>
          <a:p>
            <a:pPr>
              <a:lnSpc>
                <a:spcPct val="134000"/>
              </a:lnSpc>
              <a:spcBef>
                <a:spcPts val="0"/>
              </a:spcBef>
              <a:spcAft>
                <a:spcPts val="0"/>
              </a:spcAft>
            </a:pPr>
            <a:r>
              <a:rPr sz="950" b="0" i="0">
                <a:solidFill>
                  <a:srgbClr val="1C1C1E"/>
                </a:solidFill>
                <a:latin typeface="Consolas"/>
              </a:rPr>
              <a:t>    return CapabilityResult(draft=draft, requires_attestation=True)</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tiers, one criterion</a:t>
            </a:r>
          </a:p>
          <a:p>
            <a:pPr>
              <a:spcBef>
                <a:spcPts val="800"/>
              </a:spcBef>
              <a:spcAft>
                <a:spcPts val="300"/>
              </a:spcAft>
            </a:pPr>
            <a:r>
              <a:rPr sz="1150" b="1">
                <a:solidFill>
                  <a:srgbClr val="A51C30"/>
                </a:solidFill>
                <a:latin typeface="Calibri"/>
              </a:rPr>
              <a:t>▪  </a:t>
            </a:r>
            <a:r>
              <a:rPr sz="1150" b="1">
                <a:solidFill>
                  <a:srgbClr val="1C1C1E"/>
                </a:solidFill>
                <a:latin typeface="Calibri"/>
              </a:rPr>
              <a:t>Tier A — verified</a:t>
            </a:r>
          </a:p>
          <a:p>
            <a:pPr lvl="1">
              <a:spcBef>
                <a:spcPts val="0"/>
              </a:spcBef>
              <a:spcAft>
                <a:spcPts val="0"/>
              </a:spcAft>
            </a:pPr>
            <a:r>
              <a:rPr sz="1000">
                <a:solidFill>
                  <a:srgbClr val="4A4F57"/>
                </a:solidFill>
                <a:latin typeface="Calibri"/>
              </a:rPr>
              <a:t>A formal property checks the output. Encoding a regime, asserting equivalence, converting a format, generating probes, generating a query</a:t>
            </a:r>
          </a:p>
          <a:p>
            <a:pPr>
              <a:spcBef>
                <a:spcPts val="800"/>
              </a:spcBef>
              <a:spcAft>
                <a:spcPts val="300"/>
              </a:spcAft>
            </a:pPr>
            <a:r>
              <a:rPr sz="1150" b="1">
                <a:solidFill>
                  <a:srgbClr val="A51C30"/>
                </a:solidFill>
                <a:latin typeface="Calibri"/>
              </a:rPr>
              <a:t>▪  </a:t>
            </a:r>
            <a:r>
              <a:rPr sz="1150" b="1">
                <a:solidFill>
                  <a:srgbClr val="1C1C1E"/>
                </a:solidFill>
                <a:latin typeface="Calibri"/>
              </a:rPr>
              <a:t>Tier B — grounded</a:t>
            </a:r>
          </a:p>
          <a:p>
            <a:pPr lvl="1">
              <a:spcBef>
                <a:spcPts val="0"/>
              </a:spcBef>
              <a:spcAft>
                <a:spcPts val="0"/>
              </a:spcAft>
            </a:pPr>
            <a:r>
              <a:rPr sz="1000">
                <a:solidFill>
                  <a:srgbClr val="4A4F57"/>
                </a:solidFill>
                <a:latin typeface="Calibri"/>
              </a:rPr>
              <a:t>Every claim cites evidence; the citation is verified; a human attests. Documentation drafting, discovery, validation assistance</a:t>
            </a:r>
          </a:p>
          <a:p>
            <a:pPr>
              <a:lnSpc>
                <a:spcPct val="126000"/>
              </a:lnSpc>
              <a:spcBef>
                <a:spcPts val="0"/>
              </a:spcBef>
              <a:spcAft>
                <a:spcPts val="0"/>
              </a:spcAft>
            </a:pPr>
            <a:r>
              <a:rPr sz="1100" b="0" i="0">
                <a:solidFill>
                  <a:srgbClr val="4A4F57"/>
                </a:solidFill>
                <a:latin typeface="Calibri"/>
              </a:rPr>
              <a:t>The criterion is not the model's capability, nor the task's sensitivity. It is whether the structure supplies a decision procedure.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CITATION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grounding gate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32</a:t>
            </a:r>
          </a:p>
        </p:txBody>
      </p:sp>
      <p:sp>
        <p:nvSpPr>
          <p:cNvPr id="10" name="Rectangle 9"/>
          <p:cNvSpPr/>
          <p:nvPr/>
        </p:nvSpPr>
        <p:spPr>
          <a:xfrm>
            <a:off x="777240" y="1353312"/>
            <a:ext cx="6169584"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maya/ai/grounding.py</a:t>
            </a:r>
          </a:p>
        </p:txBody>
      </p:sp>
      <p:sp>
        <p:nvSpPr>
          <p:cNvPr id="13" name="TextBox 12"/>
          <p:cNvSpPr txBox="1"/>
          <p:nvPr/>
        </p:nvSpPr>
        <p:spPr>
          <a:xfrm>
            <a:off x="978408" y="1746504"/>
            <a:ext cx="5803824"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grounding_gate(draft, ctx) -&gt; Draft:</a:t>
            </a:r>
          </a:p>
          <a:p>
            <a:pPr>
              <a:lnSpc>
                <a:spcPct val="134000"/>
              </a:lnSpc>
              <a:spcBef>
                <a:spcPts val="0"/>
              </a:spcBef>
              <a:spcAft>
                <a:spcPts val="0"/>
              </a:spcAft>
            </a:pPr>
            <a:r>
              <a:rPr sz="950" b="0" i="0">
                <a:solidFill>
                  <a:srgbClr val="1C1C1E"/>
                </a:solidFill>
                <a:latin typeface="Consolas"/>
              </a:rPr>
              <a:t>    for s in draft.sentences:</a:t>
            </a:r>
          </a:p>
          <a:p>
            <a:pPr>
              <a:lnSpc>
                <a:spcPct val="134000"/>
              </a:lnSpc>
              <a:spcBef>
                <a:spcPts val="0"/>
              </a:spcBef>
              <a:spcAft>
                <a:spcPts val="0"/>
              </a:spcAft>
            </a:pPr>
            <a:r>
              <a:rPr sz="950" b="0" i="0">
                <a:solidFill>
                  <a:srgbClr val="1C1C1E"/>
                </a:solidFill>
                <a:latin typeface="Consolas"/>
              </a:rPr>
              <a:t>        if not s.is_factual_claim: continue</a:t>
            </a:r>
          </a:p>
          <a:p>
            <a:pPr>
              <a:lnSpc>
                <a:spcPct val="134000"/>
              </a:lnSpc>
              <a:spcBef>
                <a:spcPts val="0"/>
              </a:spcBef>
              <a:spcAft>
                <a:spcPts val="0"/>
              </a:spcAft>
            </a:pPr>
            <a:r>
              <a:rPr sz="950" b="0" i="0">
                <a:solidFill>
                  <a:srgbClr val="1C1C1E"/>
                </a:solidFill>
                <a:latin typeface="Consolas"/>
              </a:rPr>
              <a:t>        supported = evidence.evaluate(</a:t>
            </a:r>
          </a:p>
          <a:p>
            <a:pPr>
              <a:lnSpc>
                <a:spcPct val="134000"/>
              </a:lnSpc>
              <a:spcBef>
                <a:spcPts val="0"/>
              </a:spcBef>
              <a:spcAft>
                <a:spcPts val="0"/>
              </a:spcAft>
            </a:pPr>
            <a:r>
              <a:rPr sz="950" b="0" i="0">
                <a:solidFill>
                  <a:srgbClr val="1C1C1E"/>
                </a:solidFill>
                <a:latin typeface="Consolas"/>
              </a:rPr>
              <a:t>            s.claim_ref, BOOLEAN,</a:t>
            </a:r>
          </a:p>
          <a:p>
            <a:pPr>
              <a:lnSpc>
                <a:spcPct val="134000"/>
              </a:lnSpc>
              <a:spcBef>
                <a:spcPts val="0"/>
              </a:spcBef>
              <a:spcAft>
                <a:spcPts val="0"/>
              </a:spcAft>
            </a:pPr>
            <a:r>
              <a:rPr sz="950" b="0" i="0">
                <a:solidFill>
                  <a:srgbClr val="1C1C1E"/>
                </a:solidFill>
                <a:latin typeface="Consolas"/>
              </a:rPr>
              <a:t>            valuation=lambda x: x in s.cited_evidence_ids)</a:t>
            </a:r>
          </a:p>
          <a:p>
            <a:pPr>
              <a:lnSpc>
                <a:spcPct val="134000"/>
              </a:lnSpc>
              <a:spcBef>
                <a:spcPts val="0"/>
              </a:spcBef>
              <a:spcAft>
                <a:spcPts val="0"/>
              </a:spcAft>
            </a:pPr>
            <a:r>
              <a:rPr sz="950" b="0" i="0">
                <a:solidFill>
                  <a:srgbClr val="1C1C1E"/>
                </a:solidFill>
                <a:latin typeface="Consolas"/>
              </a:rPr>
              <a:t>        if not supported:</a:t>
            </a:r>
          </a:p>
          <a:p>
            <a:pPr>
              <a:lnSpc>
                <a:spcPct val="134000"/>
              </a:lnSpc>
              <a:spcBef>
                <a:spcPts val="0"/>
              </a:spcBef>
              <a:spcAft>
                <a:spcPts val="0"/>
              </a:spcAft>
            </a:pPr>
            <a:r>
              <a:rPr sz="950" b="0" i="0">
                <a:solidFill>
                  <a:srgbClr val="1C1C1E"/>
                </a:solidFill>
                <a:latin typeface="Consolas"/>
              </a:rPr>
              <a:t>            draft.reject(s, missing=evidence.evaluate(s.claim_ref, WHY))</a:t>
            </a:r>
          </a:p>
          <a:p>
            <a:pPr>
              <a:lnSpc>
                <a:spcPct val="134000"/>
              </a:lnSpc>
              <a:spcBef>
                <a:spcPts val="0"/>
              </a:spcBef>
              <a:spcAft>
                <a:spcPts val="0"/>
              </a:spcAft>
            </a:pPr>
            <a:r>
              <a:rPr sz="950" b="0" i="0">
                <a:solidFill>
                  <a:srgbClr val="1C1C1E"/>
                </a:solidFill>
                <a:latin typeface="Consolas"/>
              </a:rPr>
              <a:t>    draft.numbers = interpolate_from_evidence(draft.number_slots, ctx)</a:t>
            </a:r>
          </a:p>
          <a:p>
            <a:pPr>
              <a:lnSpc>
                <a:spcPct val="134000"/>
              </a:lnSpc>
              <a:spcBef>
                <a:spcPts val="0"/>
              </a:spcBef>
              <a:spcAft>
                <a:spcPts val="0"/>
              </a:spcAft>
            </a:pPr>
            <a:r>
              <a:rPr sz="950" b="0" i="0">
                <a:solidFill>
                  <a:srgbClr val="1C1C1E"/>
                </a:solidFill>
                <a:latin typeface="Consolas"/>
              </a:rPr>
              <a:t>    draft.mark_unverified(draft.unmapped_sentences)</a:t>
            </a:r>
          </a:p>
          <a:p>
            <a:pPr>
              <a:lnSpc>
                <a:spcPct val="134000"/>
              </a:lnSpc>
              <a:spcBef>
                <a:spcPts val="0"/>
              </a:spcBef>
              <a:spcAft>
                <a:spcPts val="0"/>
              </a:spcAft>
            </a:pPr>
            <a:r>
              <a:rPr sz="950" b="0" i="0">
                <a:solidFill>
                  <a:srgbClr val="1C1C1E"/>
                </a:solidFill>
                <a:latin typeface="Consolas"/>
              </a:rPr>
              <a:t>    return draft</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Verification, not another model call</a:t>
            </a:r>
          </a:p>
          <a:p>
            <a:pPr>
              <a:lnSpc>
                <a:spcPct val="126000"/>
              </a:lnSpc>
              <a:spcBef>
                <a:spcPts val="0"/>
              </a:spcBef>
              <a:spcAft>
                <a:spcPts val="1000"/>
              </a:spcAft>
            </a:pPr>
            <a:r>
              <a:rPr sz="1150" b="0" i="0">
                <a:solidFill>
                  <a:srgbClr val="4A4F57"/>
                </a:solidFill>
                <a:latin typeface="Calibri"/>
              </a:rPr>
              <a:t>Switch on exactly the cited identifiers, evaluate the claim's derivation in Boolean, and see whether it still holds. If it does, the citation is genuine. If not, the sentence is rejected — not flagged.</a:t>
            </a:r>
          </a:p>
          <a:p>
            <a:pPr>
              <a:lnSpc>
                <a:spcPct val="126000"/>
              </a:lnSpc>
              <a:spcBef>
                <a:spcPts val="0"/>
              </a:spcBef>
              <a:spcAft>
                <a:spcPts val="1000"/>
              </a:spcAft>
            </a:pPr>
            <a:r>
              <a:rPr sz="1150" b="1" i="0">
                <a:solidFill>
                  <a:srgbClr val="A51C30"/>
                </a:solidFill>
                <a:latin typeface="Calibri"/>
              </a:rPr>
              <a:t>Numbers are never generated. </a:t>
            </a:r>
            <a:r>
              <a:rPr sz="1150" b="0" i="0">
                <a:solidFill>
                  <a:srgbClr val="1C1C1E"/>
                </a:solidFill>
                <a:latin typeface="Calibri"/>
              </a:rPr>
              <a:t>They are interpolated from evidence, which removes the entire class of hallucinated statistics.</a:t>
            </a:r>
          </a:p>
          <a:p>
            <a:pPr>
              <a:lnSpc>
                <a:spcPct val="126000"/>
              </a:lnSpc>
              <a:spcBef>
                <a:spcPts val="0"/>
              </a:spcBef>
              <a:spcAft>
                <a:spcPts val="600"/>
              </a:spcAft>
            </a:pPr>
            <a:r>
              <a:rPr sz="1150" b="1" i="0">
                <a:solidFill>
                  <a:srgbClr val="A51C30"/>
                </a:solidFill>
                <a:latin typeface="Calibri"/>
              </a:rPr>
              <a:t>Unmapped sentences are marked, not hidden. </a:t>
            </a:r>
            <a:r>
              <a:rPr sz="1150" b="0" i="0">
                <a:solidFill>
                  <a:srgbClr val="1C1C1E"/>
                </a:solidFill>
                <a:latin typeface="Calibri"/>
              </a:rPr>
              <a:t>A quantified claim like “on all monitored slices” has no supporting term at all — and that is exactly the sentence human review reliably waves through.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THE BOUNDARY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Structural prohibition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33</a:t>
            </a:r>
          </a:p>
        </p:txBody>
      </p:sp>
      <p:sp>
        <p:nvSpPr>
          <p:cNvPr id="10" name="Rectangle 9"/>
          <p:cNvSpPr/>
          <p:nvPr/>
        </p:nvSpPr>
        <p:spPr>
          <a:xfrm>
            <a:off x="777240" y="1353312"/>
            <a:ext cx="5531351" cy="106010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60109"/>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TIER C IS UNREPRESENTABLE IN THE SCHEMA</a:t>
            </a:r>
          </a:p>
        </p:txBody>
      </p:sp>
      <p:sp>
        <p:nvSpPr>
          <p:cNvPr id="13" name="TextBox 12"/>
          <p:cNvSpPr txBox="1"/>
          <p:nvPr/>
        </p:nvSpPr>
        <p:spPr>
          <a:xfrm>
            <a:off x="978408" y="1746504"/>
            <a:ext cx="5165591" cy="584621"/>
          </a:xfrm>
          <a:prstGeom prst="rect">
            <a:avLst/>
          </a:prstGeom>
          <a:noFill/>
        </p:spPr>
        <p:txBody>
          <a:bodyPr wrap="square" lIns="0" rIns="0" tIns="0" bIns="0" anchor="t">
            <a:spAutoFit/>
          </a:bodyPr>
          <a:lstStyle/>
          <a:p>
            <a:pPr algn="l">
              <a:lnSpc>
                <a:spcPct val="134000"/>
              </a:lnSpc>
              <a:spcBef>
                <a:spcPts val="0"/>
              </a:spcBef>
              <a:spcAft>
                <a:spcPts val="0"/>
              </a:spcAft>
            </a:pPr>
            <a:r>
              <a:rPr sz="1150" b="0" i="0">
                <a:solidFill>
                  <a:srgbClr val="1C1C1E"/>
                </a:solidFill>
                <a:latin typeface="Consolas"/>
              </a:rPr>
              <a:t>assist_tier char(1) NOT NULL</a:t>
            </a:r>
          </a:p>
          <a:p>
            <a:pPr>
              <a:lnSpc>
                <a:spcPct val="134000"/>
              </a:lnSpc>
              <a:spcBef>
                <a:spcPts val="0"/>
              </a:spcBef>
              <a:spcAft>
                <a:spcPts val="0"/>
              </a:spcAft>
            </a:pPr>
            <a:r>
              <a:rPr sz="1150" b="0" i="0">
                <a:solidFill>
                  <a:srgbClr val="1C1C1E"/>
                </a:solidFill>
                <a:latin typeface="Consolas"/>
              </a:rPr>
              <a:t>    CHECK (assist_tier IN ('A','B'))</a:t>
            </a:r>
          </a:p>
        </p:txBody>
      </p:sp>
      <p:sp>
        <p:nvSpPr>
          <p:cNvPr id="14" name="TextBox 13"/>
          <p:cNvSpPr txBox="1"/>
          <p:nvPr/>
        </p:nvSpPr>
        <p:spPr>
          <a:xfrm>
            <a:off x="777240" y="2669453"/>
            <a:ext cx="5531351" cy="210312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And no credential exists</a:t>
            </a:r>
          </a:p>
          <a:p>
            <a:pPr>
              <a:lnSpc>
                <a:spcPct val="126000"/>
              </a:lnSpc>
              <a:spcBef>
                <a:spcPts val="0"/>
              </a:spcBef>
              <a:spcAft>
                <a:spcPts val="1000"/>
              </a:spcAft>
            </a:pPr>
            <a:r>
              <a:rPr sz="1150" b="0" i="0">
                <a:solidFill>
                  <a:srgbClr val="4A4F57"/>
                </a:solidFill>
                <a:latin typeface="Calibri"/>
              </a:rPr>
              <a:t>No ai_capability principal is ever granted a lifecycle-transition scope in the IAM model. A capability cannot make a governance decision because it holds no credential to attempt one.</a:t>
            </a:r>
          </a:p>
          <a:p>
            <a:pPr>
              <a:lnSpc>
                <a:spcPct val="126000"/>
              </a:lnSpc>
              <a:spcBef>
                <a:spcPts val="0"/>
              </a:spcBef>
              <a:spcAft>
                <a:spcPts val="600"/>
              </a:spcAft>
            </a:pPr>
            <a:r>
              <a:rPr sz="1150" b="0" i="0">
                <a:solidFill>
                  <a:srgbClr val="4A4F57"/>
                </a:solidFill>
                <a:latin typeface="Calibri"/>
              </a:rPr>
              <a:t>Policy erodes under commercial pressure from sensible people with good reasons. </a:t>
            </a:r>
            <a:r>
              <a:rPr sz="1150" b="1" i="0">
                <a:solidFill>
                  <a:srgbClr val="1C1C1E"/>
                </a:solidFill>
                <a:latin typeface="Calibri"/>
              </a:rPr>
              <a:t>Missing credentials do not.</a:t>
            </a:r>
          </a:p>
        </p:txBody>
      </p:sp>
      <p:sp>
        <p:nvSpPr>
          <p:cNvPr id="15" name="TextBox 14"/>
          <p:cNvSpPr txBox="1"/>
          <p:nvPr/>
        </p:nvSpPr>
        <p:spPr>
          <a:xfrm>
            <a:off x="6734080" y="135331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What a machine may never do here</a:t>
            </a:r>
          </a:p>
        </p:txBody>
      </p:sp>
      <p:graphicFrame>
        <p:nvGraphicFramePr>
          <p:cNvPr id="16" name="Table 15"/>
          <p:cNvGraphicFramePr>
            <a:graphicFrameLocks noGrp="1"/>
          </p:cNvGraphicFramePr>
          <p:nvPr/>
        </p:nvGraphicFramePr>
        <p:xfrm>
          <a:off x="6734080" y="1719072"/>
          <a:ext cx="4680374" cy="3398520"/>
        </p:xfrm>
        <a:graphic>
          <a:graphicData uri="http://schemas.openxmlformats.org/drawingml/2006/table">
            <a:tbl>
              <a:tblPr firstRow="1">
                <a:tableStyleId>{5C22544A-7EE6-4342-B048-85BDC9FD1C3A}</a:tableStyleId>
              </a:tblPr>
              <a:tblGrid>
                <a:gridCol w="1838718"/>
                <a:gridCol w="2841656"/>
              </a:tblGrid>
              <a:tr h="329184">
                <a:tc>
                  <a:txBody>
                    <a:bodyPr wrap="square"/>
                    <a:lstStyle/>
                    <a:p>
                      <a:pPr algn="l"/>
                      <a:r>
                        <a:rPr sz="1000" b="1">
                          <a:solidFill>
                            <a:srgbClr val="FFFFFF"/>
                          </a:solidFill>
                          <a:latin typeface="Calibri"/>
                        </a:rPr>
                        <a:t>Decision</a:t>
                      </a:r>
                    </a:p>
                  </a:txBody>
                  <a:tcPr marL="82296" marR="64008" marT="32004" marB="32004" anchor="ctr">
                    <a:solidFill>
                      <a:srgbClr val="A51C30"/>
                    </a:solidFill>
                  </a:tcPr>
                </a:tc>
                <a:tc>
                  <a:txBody>
                    <a:bodyPr wrap="square"/>
                    <a:lstStyle/>
                    <a:p>
                      <a:pPr algn="l"/>
                      <a:r>
                        <a:rPr sz="1000" b="1">
                          <a:solidFill>
                            <a:srgbClr val="FFFFFF"/>
                          </a:solidFill>
                          <a:latin typeface="Calibri"/>
                        </a:rPr>
                        <a:t>Why no oracle exists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Conclude a validation</a:t>
                      </a:r>
                    </a:p>
                  </a:txBody>
                  <a:tcPr marL="82296" marR="64008" marT="32004" marB="32004" anchor="ctr">
                    <a:solidFill>
                      <a:srgbClr val="FFFFFF"/>
                    </a:solidFill>
                  </a:tcPr>
                </a:tc>
                <a:tc>
                  <a:txBody>
                    <a:bodyPr wrap="square"/>
                    <a:lstStyle/>
                    <a:p>
                      <a:pPr algn="l"/>
                      <a:r>
                        <a:rPr sz="1000" b="0">
                          <a:solidFill>
                            <a:srgbClr val="1C1C1E"/>
                          </a:solidFill>
                          <a:latin typeface="Calibri"/>
                        </a:rPr>
                        <a:t>Defined by standing and accountability, which a model has not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Assign or override a tier</a:t>
                      </a:r>
                    </a:p>
                  </a:txBody>
                  <a:tcPr marL="82296" marR="64008" marT="32004" marB="32004" anchor="ctr">
                    <a:solidFill>
                      <a:srgbClr val="F6F3EF"/>
                    </a:solidFill>
                  </a:tcPr>
                </a:tc>
                <a:tc>
                  <a:txBody>
                    <a:bodyPr wrap="square"/>
                    <a:lstStyle/>
                    <a:p>
                      <a:pPr algn="l"/>
                      <a:r>
                        <a:rPr sz="1000" b="0">
                          <a:solidFill>
                            <a:srgbClr val="1C1C1E"/>
                          </a:solidFill>
                          <a:latin typeface="Calibri"/>
                        </a:rPr>
                        <a:t>The rule constitutes the standard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Make a scope determination</a:t>
                      </a:r>
                    </a:p>
                  </a:txBody>
                  <a:tcPr marL="82296" marR="64008" marT="32004" marB="32004" anchor="ctr">
                    <a:solidFill>
                      <a:srgbClr val="FFFFFF"/>
                    </a:solidFill>
                  </a:tcPr>
                </a:tc>
                <a:tc>
                  <a:txBody>
                    <a:bodyPr wrap="square"/>
                    <a:lstStyle/>
                    <a:p>
                      <a:pPr algn="l"/>
                      <a:r>
                        <a:rPr sz="1000" b="0">
                          <a:solidFill>
                            <a:srgbClr val="1C1C1E"/>
                          </a:solidFill>
                          <a:latin typeface="Calibri"/>
                        </a:rPr>
                        <a:t>Discards the derivation that is the point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Approve anything</a:t>
                      </a:r>
                    </a:p>
                  </a:txBody>
                  <a:tcPr marL="82296" marR="64008" marT="32004" marB="32004" anchor="ctr">
                    <a:solidFill>
                      <a:srgbClr val="F6F3EF"/>
                    </a:solidFill>
                  </a:tcPr>
                </a:tc>
                <a:tc>
                  <a:txBody>
                    <a:bodyPr wrap="square"/>
                    <a:lstStyle/>
                    <a:p>
                      <a:pPr algn="l"/>
                      <a:r>
                        <a:rPr sz="1000" b="0">
                          <a:solidFill>
                            <a:srgbClr val="1C1C1E"/>
                          </a:solidFill>
                          <a:latin typeface="Calibri"/>
                        </a:rPr>
                        <a:t>An accountable act with a signature behind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Accept residual risk</a:t>
                      </a:r>
                    </a:p>
                  </a:txBody>
                  <a:tcPr marL="82296" marR="64008" marT="32004" marB="32004" anchor="ctr">
                    <a:solidFill>
                      <a:srgbClr val="FFFFFF"/>
                    </a:solidFill>
                  </a:tcPr>
                </a:tc>
                <a:tc>
                  <a:txBody>
                    <a:bodyPr wrap="square"/>
                    <a:lstStyle/>
                    <a:p>
                      <a:pPr algn="l"/>
                      <a:r>
                        <a:rPr sz="1000" b="0">
                          <a:solidFill>
                            <a:srgbClr val="1C1C1E"/>
                          </a:solidFill>
                          <a:latin typeface="Calibri"/>
                        </a:rPr>
                        <a:t>Requires authority</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Close a finding</a:t>
                      </a:r>
                    </a:p>
                  </a:txBody>
                  <a:tcPr marL="82296" marR="64008" marT="32004" marB="32004" anchor="ctr">
                    <a:solidFill>
                      <a:srgbClr val="F6F3EF"/>
                    </a:solidFill>
                  </a:tcPr>
                </a:tc>
                <a:tc>
                  <a:txBody>
                    <a:bodyPr wrap="square"/>
                    <a:lstStyle/>
                    <a:p>
                      <a:pPr algn="l"/>
                      <a:r>
                        <a:rPr sz="1000" b="0">
                          <a:solidFill>
                            <a:srgbClr val="1C1C1E"/>
                          </a:solidFill>
                          <a:latin typeface="Calibri"/>
                        </a:rPr>
                        <a:t>Independent verification by someone who did not raise it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Compute a metric</a:t>
                      </a:r>
                    </a:p>
                  </a:txBody>
                  <a:tcPr marL="82296" marR="64008" marT="32004" marB="32004" anchor="ctr">
                    <a:solidFill>
                      <a:srgbClr val="FFFFFF"/>
                    </a:solidFill>
                  </a:tcPr>
                </a:tc>
                <a:tc>
                  <a:txBody>
                    <a:bodyPr wrap="square"/>
                    <a:lstStyle/>
                    <a:p>
                      <a:pPr algn="l"/>
                      <a:r>
                        <a:rPr sz="1000" b="0">
                          <a:solidFill>
                            <a:srgbClr val="1C1C1E"/>
                          </a:solidFill>
                          <a:latin typeface="Calibri"/>
                        </a:rPr>
                        <a:t>Compute it, then let the model describe it</a:t>
                      </a:r>
                    </a:p>
                  </a:txBody>
                  <a:tcPr marL="82296" marR="64008" marT="32004" marB="32004" anchor="ctr">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7</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Interfaces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One API, consumed identically by the UI, the SDK and every engine.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API conventions</a:t>
            </a:r>
          </a:p>
          <a:p>
            <a:pPr>
              <a:lnSpc>
                <a:spcPct val="115000"/>
              </a:lnSpc>
              <a:spcBef>
                <a:spcPts val="0"/>
              </a:spcBef>
              <a:spcAft>
                <a:spcPts val="700"/>
              </a:spcAft>
            </a:pPr>
            <a:r>
              <a:rPr sz="1150" b="0" i="0">
                <a:solidFill>
                  <a:srgbClr val="F6E6E9"/>
                </a:solidFill>
                <a:latin typeface="Calibri"/>
              </a:rPr>
              <a:t>Resource surface</a:t>
            </a:r>
          </a:p>
          <a:p>
            <a:pPr>
              <a:lnSpc>
                <a:spcPct val="115000"/>
              </a:lnSpc>
              <a:spcBef>
                <a:spcPts val="0"/>
              </a:spcBef>
              <a:spcAft>
                <a:spcPts val="700"/>
              </a:spcAft>
            </a:pPr>
            <a:r>
              <a:rPr sz="1150" b="0" i="0">
                <a:solidFill>
                  <a:srgbClr val="F6E6E9"/>
                </a:solidFill>
                <a:latin typeface="Calibri"/>
              </a:rPr>
              <a:t>Front-end design</a:t>
            </a:r>
          </a:p>
          <a:p>
            <a:pPr>
              <a:lnSpc>
                <a:spcPct val="115000"/>
              </a:lnSpc>
              <a:spcBef>
                <a:spcPts val="0"/>
              </a:spcBef>
              <a:spcAft>
                <a:spcPts val="700"/>
              </a:spcAft>
            </a:pPr>
            <a:r>
              <a:rPr sz="1150" b="0" i="0">
                <a:solidFill>
                  <a:srgbClr val="F6E6E9"/>
                </a:solidFill>
                <a:latin typeface="Calibri"/>
              </a:rPr>
              <a:t>SDK and events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API conventions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Interfaces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35</a:t>
            </a:r>
          </a:p>
        </p:txBody>
      </p:sp>
      <p:graphicFrame>
        <p:nvGraphicFramePr>
          <p:cNvPr id="10" name="Table 9"/>
          <p:cNvGraphicFramePr>
            <a:graphicFrameLocks noGrp="1"/>
          </p:cNvGraphicFramePr>
          <p:nvPr/>
        </p:nvGraphicFramePr>
        <p:xfrm>
          <a:off x="777240" y="1353312"/>
          <a:ext cx="10637214" cy="3765327"/>
        </p:xfrm>
        <a:graphic>
          <a:graphicData uri="http://schemas.openxmlformats.org/drawingml/2006/table">
            <a:tbl>
              <a:tblPr firstRow="1">
                <a:tableStyleId>{5C22544A-7EE6-4342-B048-85BDC9FD1C3A}</a:tableStyleId>
              </a:tblPr>
              <a:tblGrid>
                <a:gridCol w="1742302"/>
                <a:gridCol w="4218206"/>
                <a:gridCol w="4676706"/>
              </a:tblGrid>
              <a:tr h="333781">
                <a:tc>
                  <a:txBody>
                    <a:bodyPr wrap="square"/>
                    <a:lstStyle/>
                    <a:p>
                      <a:pPr algn="l"/>
                      <a:r>
                        <a:rPr sz="1100" b="1">
                          <a:solidFill>
                            <a:srgbClr val="FFFFFF"/>
                          </a:solidFill>
                          <a:latin typeface="Calibri"/>
                        </a:rPr>
                        <a:t>Concern</a:t>
                      </a:r>
                    </a:p>
                  </a:txBody>
                  <a:tcPr marL="82296" marR="64008" marT="32004" marB="32004" anchor="ctr">
                    <a:solidFill>
                      <a:srgbClr val="A51C30"/>
                    </a:solidFill>
                  </a:tcPr>
                </a:tc>
                <a:tc>
                  <a:txBody>
                    <a:bodyPr wrap="square"/>
                    <a:lstStyle/>
                    <a:p>
                      <a:pPr algn="l"/>
                      <a:r>
                        <a:rPr sz="1100" b="1">
                          <a:solidFill>
                            <a:srgbClr val="FFFFFF"/>
                          </a:solidFill>
                          <a:latin typeface="Calibri"/>
                        </a:rPr>
                        <a:t>Decision</a:t>
                      </a:r>
                    </a:p>
                  </a:txBody>
                  <a:tcPr marL="82296" marR="64008" marT="32004" marB="32004" anchor="ctr">
                    <a:solidFill>
                      <a:srgbClr val="A51C30"/>
                    </a:solidFill>
                  </a:tcPr>
                </a:tc>
                <a:tc>
                  <a:txBody>
                    <a:bodyPr wrap="square"/>
                    <a:lstStyle/>
                    <a:p>
                      <a:pPr algn="l"/>
                      <a:r>
                        <a:rPr sz="1100" b="1">
                          <a:solidFill>
                            <a:srgbClr val="FFFFFF"/>
                          </a:solidFill>
                          <a:latin typeface="Calibri"/>
                        </a:rPr>
                        <a:t>Why</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Base</a:t>
                      </a:r>
                    </a:p>
                  </a:txBody>
                  <a:tcPr marL="82296" marR="64008" marT="32004" marB="32004" anchor="ctr">
                    <a:solidFill>
                      <a:srgbClr val="FFFFFF"/>
                    </a:solidFill>
                  </a:tcPr>
                </a:tc>
                <a:tc>
                  <a:txBody>
                    <a:bodyPr wrap="square"/>
                    <a:lstStyle/>
                    <a:p>
                      <a:pPr algn="l"/>
                      <a:r>
                        <a:rPr sz="1050" b="0">
                          <a:solidFill>
                            <a:srgbClr val="1C1C1E"/>
                          </a:solidFill>
                          <a:latin typeface="Calibri"/>
                        </a:rPr>
                        <a:t>/api/v1, OpenAPI 3.1, JSON</a:t>
                      </a:r>
                    </a:p>
                  </a:txBody>
                  <a:tcPr marL="82296" marR="64008" marT="32004" marB="32004" anchor="ctr">
                    <a:solidFill>
                      <a:srgbClr val="FFFFFF"/>
                    </a:solidFill>
                  </a:tcPr>
                </a:tc>
                <a:tc>
                  <a:txBody>
                    <a:bodyPr wrap="square"/>
                    <a:lstStyle/>
                    <a:p>
                      <a:pPr algn="l"/>
                      <a:r>
                        <a:rPr sz="1050" b="0">
                          <a:solidFill>
                            <a:srgbClr val="1C1C1E"/>
                          </a:solidFill>
                          <a:latin typeface="Calibri"/>
                        </a:rPr>
                        <a:t>One versioned contract; the UI has no privileged path</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Errors</a:t>
                      </a:r>
                    </a:p>
                  </a:txBody>
                  <a:tcPr marL="82296" marR="64008" marT="32004" marB="32004" anchor="ctr">
                    <a:solidFill>
                      <a:srgbClr val="F6F3EF"/>
                    </a:solidFill>
                  </a:tcPr>
                </a:tc>
                <a:tc>
                  <a:txBody>
                    <a:bodyPr wrap="square"/>
                    <a:lstStyle/>
                    <a:p>
                      <a:pPr algn="l"/>
                      <a:r>
                        <a:rPr sz="1050" b="0">
                          <a:solidFill>
                            <a:srgbClr val="1C1C1E"/>
                          </a:solidFill>
                          <a:latin typeface="Calibri"/>
                        </a:rPr>
                        <a:t>RFC 9457 problem+json with code, deny_reason[], remediation_url</a:t>
                      </a:r>
                    </a:p>
                  </a:txBody>
                  <a:tcPr marL="82296" marR="64008" marT="32004" marB="32004" anchor="ctr">
                    <a:solidFill>
                      <a:srgbClr val="F6F3EF"/>
                    </a:solidFill>
                  </a:tcPr>
                </a:tc>
                <a:tc>
                  <a:txBody>
                    <a:bodyPr wrap="square"/>
                    <a:lstStyle/>
                    <a:p>
                      <a:pPr algn="l"/>
                      <a:r>
                        <a:rPr sz="1050" b="0">
                          <a:solidFill>
                            <a:srgbClr val="1C1C1E"/>
                          </a:solidFill>
                          <a:latin typeface="Calibri"/>
                        </a:rPr>
                        <a:t>DR-6 and DR-7 — blocking must always explain</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Pagination</a:t>
                      </a:r>
                    </a:p>
                  </a:txBody>
                  <a:tcPr marL="82296" marR="64008" marT="32004" marB="32004" anchor="ctr">
                    <a:solidFill>
                      <a:srgbClr val="FFFFFF"/>
                    </a:solidFill>
                  </a:tcPr>
                </a:tc>
                <a:tc>
                  <a:txBody>
                    <a:bodyPr wrap="square"/>
                    <a:lstStyle/>
                    <a:p>
                      <a:pPr algn="l"/>
                      <a:r>
                        <a:rPr sz="1050" b="0">
                          <a:solidFill>
                            <a:srgbClr val="1C1C1E"/>
                          </a:solidFill>
                          <a:latin typeface="Calibri"/>
                        </a:rPr>
                        <a:t>Keyset with cursor / next_cursor</a:t>
                      </a:r>
                    </a:p>
                  </a:txBody>
                  <a:tcPr marL="82296" marR="64008" marT="32004" marB="32004" anchor="ctr">
                    <a:solidFill>
                      <a:srgbClr val="FFFFFF"/>
                    </a:solidFill>
                  </a:tcPr>
                </a:tc>
                <a:tc>
                  <a:txBody>
                    <a:bodyPr wrap="square"/>
                    <a:lstStyle/>
                    <a:p>
                      <a:pPr algn="l"/>
                      <a:r>
                        <a:rPr sz="1050" b="0">
                          <a:solidFill>
                            <a:srgbClr val="1C1C1E"/>
                          </a:solidFill>
                          <a:latin typeface="Calibri"/>
                        </a:rPr>
                        <a:t>Stable paging over 50,000 models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Concurrency</a:t>
                      </a:r>
                    </a:p>
                  </a:txBody>
                  <a:tcPr marL="82296" marR="64008" marT="32004" marB="32004" anchor="ctr">
                    <a:solidFill>
                      <a:srgbClr val="F6F3EF"/>
                    </a:solidFill>
                  </a:tcPr>
                </a:tc>
                <a:tc>
                  <a:txBody>
                    <a:bodyPr wrap="square"/>
                    <a:lstStyle/>
                    <a:p>
                      <a:pPr algn="l"/>
                      <a:r>
                        <a:rPr sz="1050" b="0">
                          <a:solidFill>
                            <a:srgbClr val="1C1C1E"/>
                          </a:solidFill>
                          <a:latin typeface="Calibri"/>
                        </a:rPr>
                        <a:t>ETag + If-Match; 412 returns a field-level diff</a:t>
                      </a:r>
                    </a:p>
                  </a:txBody>
                  <a:tcPr marL="82296" marR="64008" marT="32004" marB="32004" anchor="ctr">
                    <a:solidFill>
                      <a:srgbClr val="F6F3EF"/>
                    </a:solidFill>
                  </a:tcPr>
                </a:tc>
                <a:tc>
                  <a:txBody>
                    <a:bodyPr wrap="square"/>
                    <a:lstStyle/>
                    <a:p>
                      <a:pPr algn="l"/>
                      <a:r>
                        <a:rPr sz="1050" b="0">
                          <a:solidFill>
                            <a:srgbClr val="1C1C1E"/>
                          </a:solidFill>
                          <a:latin typeface="Calibri"/>
                        </a:rPr>
                        <a:t>The UI shows a real conflict dialog instead of overwriting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Idempotency</a:t>
                      </a:r>
                    </a:p>
                  </a:txBody>
                  <a:tcPr marL="82296" marR="64008" marT="32004" marB="32004" anchor="ctr">
                    <a:solidFill>
                      <a:srgbClr val="FFFFFF"/>
                    </a:solidFill>
                  </a:tcPr>
                </a:tc>
                <a:tc>
                  <a:txBody>
                    <a:bodyPr wrap="square"/>
                    <a:lstStyle/>
                    <a:p>
                      <a:pPr algn="l"/>
                      <a:r>
                        <a:rPr sz="1050" b="0">
                          <a:solidFill>
                            <a:srgbClr val="1C1C1E"/>
                          </a:solidFill>
                          <a:latin typeface="Calibri"/>
                        </a:rPr>
                        <a:t>Idempotency-Key on POST, 24-hour replay window</a:t>
                      </a:r>
                    </a:p>
                  </a:txBody>
                  <a:tcPr marL="82296" marR="64008" marT="32004" marB="32004" anchor="ctr">
                    <a:solidFill>
                      <a:srgbClr val="FFFFFF"/>
                    </a:solidFill>
                  </a:tcPr>
                </a:tc>
                <a:tc>
                  <a:txBody>
                    <a:bodyPr wrap="square"/>
                    <a:lstStyle/>
                    <a:p>
                      <a:pPr algn="l"/>
                      <a:r>
                        <a:rPr sz="1050" b="0">
                          <a:solidFill>
                            <a:srgbClr val="1C1C1E"/>
                          </a:solidFill>
                          <a:latin typeface="Calibri"/>
                        </a:rPr>
                        <a:t>Safe retry on flaky networks — DR-3</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Shaping</a:t>
                      </a:r>
                    </a:p>
                  </a:txBody>
                  <a:tcPr marL="82296" marR="64008" marT="32004" marB="32004" anchor="ctr">
                    <a:solidFill>
                      <a:srgbClr val="F6F3EF"/>
                    </a:solidFill>
                  </a:tcPr>
                </a:tc>
                <a:tc>
                  <a:txBody>
                    <a:bodyPr wrap="square"/>
                    <a:lstStyle/>
                    <a:p>
                      <a:pPr algn="l"/>
                      <a:r>
                        <a:rPr sz="1050" b="0">
                          <a:solidFill>
                            <a:srgbClr val="1C1C1E"/>
                          </a:solidFill>
                          <a:latin typeface="Calibri"/>
                        </a:rPr>
                        <a:t>?expand= and ?fields=</a:t>
                      </a:r>
                    </a:p>
                  </a:txBody>
                  <a:tcPr marL="82296" marR="64008" marT="32004" marB="32004" anchor="ctr">
                    <a:solidFill>
                      <a:srgbClr val="F6F3EF"/>
                    </a:solidFill>
                  </a:tcPr>
                </a:tc>
                <a:tc>
                  <a:txBody>
                    <a:bodyPr wrap="square"/>
                    <a:lstStyle/>
                    <a:p>
                      <a:pPr algn="l"/>
                      <a:r>
                        <a:rPr sz="1050" b="0">
                          <a:solidFill>
                            <a:srgbClr val="1C1C1E"/>
                          </a:solidFill>
                          <a:latin typeface="Calibri"/>
                        </a:rPr>
                        <a:t>One request per screen instead of N+1 chatter</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Derivations</a:t>
                      </a:r>
                    </a:p>
                  </a:txBody>
                  <a:tcPr marL="82296" marR="64008" marT="32004" marB="32004" anchor="ctr">
                    <a:solidFill>
                      <a:srgbClr val="FFFFFF"/>
                    </a:solidFill>
                  </a:tcPr>
                </a:tc>
                <a:tc>
                  <a:txBody>
                    <a:bodyPr wrap="square"/>
                    <a:lstStyle/>
                    <a:p>
                      <a:pPr algn="l"/>
                      <a:r>
                        <a:rPr sz="1050" b="0">
                          <a:solidFill>
                            <a:srgbClr val="1C1C1E"/>
                          </a:solidFill>
                          <a:latin typeface="Calibri"/>
                        </a:rPr>
                        <a:t>GET /derivations/{id} on every derived value</a:t>
                      </a:r>
                    </a:p>
                  </a:txBody>
                  <a:tcPr marL="82296" marR="64008" marT="32004" marB="32004" anchor="ctr">
                    <a:solidFill>
                      <a:srgbClr val="FFFFFF"/>
                    </a:solidFill>
                  </a:tcPr>
                </a:tc>
                <a:tc>
                  <a:txBody>
                    <a:bodyPr wrap="square"/>
                    <a:lstStyle/>
                    <a:p>
                      <a:pPr algn="l"/>
                      <a:r>
                        <a:rPr sz="1050" b="0">
                          <a:solidFill>
                            <a:srgbClr val="1C1C1E"/>
                          </a:solidFill>
                          <a:latin typeface="Calibri"/>
                        </a:rPr>
                        <a:t>Powers the universal [why?] affordance</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Time travel</a:t>
                      </a:r>
                    </a:p>
                  </a:txBody>
                  <a:tcPr marL="82296" marR="64008" marT="32004" marB="32004" anchor="ctr">
                    <a:solidFill>
                      <a:srgbClr val="F6F3EF"/>
                    </a:solidFill>
                  </a:tcPr>
                </a:tc>
                <a:tc>
                  <a:txBody>
                    <a:bodyPr wrap="square"/>
                    <a:lstStyle/>
                    <a:p>
                      <a:pPr algn="l"/>
                      <a:r>
                        <a:rPr sz="1050" b="0">
                          <a:solidFill>
                            <a:srgbClr val="1C1C1E"/>
                          </a:solidFill>
                          <a:latin typeface="Calibri"/>
                        </a:rPr>
                        <a:t>?as_of= on inventory reads</a:t>
                      </a:r>
                    </a:p>
                  </a:txBody>
                  <a:tcPr marL="82296" marR="64008" marT="32004" marB="32004" anchor="ctr">
                    <a:solidFill>
                      <a:srgbClr val="F6F3EF"/>
                    </a:solidFill>
                  </a:tcPr>
                </a:tc>
                <a:tc>
                  <a:txBody>
                    <a:bodyPr wrap="square"/>
                    <a:lstStyle/>
                    <a:p>
                      <a:pPr algn="l"/>
                      <a:r>
                        <a:rPr sz="1050" b="0">
                          <a:solidFill>
                            <a:srgbClr val="1C1C1E"/>
                          </a:solidFill>
                          <a:latin typeface="Calibri"/>
                        </a:rPr>
                        <a:t>Examiner questions about a past date</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Events</a:t>
                      </a:r>
                    </a:p>
                  </a:txBody>
                  <a:tcPr marL="82296" marR="64008" marT="32004" marB="32004" anchor="ctr">
                    <a:solidFill>
                      <a:srgbClr val="FFFFFF"/>
                    </a:solidFill>
                  </a:tcPr>
                </a:tc>
                <a:tc>
                  <a:txBody>
                    <a:bodyPr wrap="square"/>
                    <a:lstStyle/>
                    <a:p>
                      <a:pPr algn="l"/>
                      <a:r>
                        <a:rPr sz="1050" b="0">
                          <a:solidFill>
                            <a:srgbClr val="1C1C1E"/>
                          </a:solidFill>
                          <a:latin typeface="Calibri"/>
                        </a:rPr>
                        <a:t>GET /events (SSE)</a:t>
                      </a:r>
                    </a:p>
                  </a:txBody>
                  <a:tcPr marL="82296" marR="64008" marT="32004" marB="32004" anchor="ctr">
                    <a:solidFill>
                      <a:srgbClr val="FFFFFF"/>
                    </a:solidFill>
                  </a:tcPr>
                </a:tc>
                <a:tc>
                  <a:txBody>
                    <a:bodyPr wrap="square"/>
                    <a:lstStyle/>
                    <a:p>
                      <a:pPr algn="l"/>
                      <a:r>
                        <a:rPr sz="1050" b="0">
                          <a:solidFill>
                            <a:srgbClr val="1C1C1E"/>
                          </a:solidFill>
                          <a:latin typeface="Calibri"/>
                        </a:rPr>
                        <a:t>Task inbox, breaches, job progress without polling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Deprecation</a:t>
                      </a:r>
                    </a:p>
                  </a:txBody>
                  <a:tcPr marL="82296" marR="64008" marT="32004" marB="32004" anchor="ctr">
                    <a:solidFill>
                      <a:srgbClr val="F6F3EF"/>
                    </a:solidFill>
                  </a:tcPr>
                </a:tc>
                <a:tc>
                  <a:txBody>
                    <a:bodyPr wrap="square"/>
                    <a:lstStyle/>
                    <a:p>
                      <a:pPr algn="l"/>
                      <a:r>
                        <a:rPr sz="1050" b="0">
                          <a:solidFill>
                            <a:srgbClr val="1C1C1E"/>
                          </a:solidFill>
                          <a:latin typeface="Calibri"/>
                        </a:rPr>
                        <a:t>Two minor versions of overlap; Sunset headers</a:t>
                      </a:r>
                    </a:p>
                  </a:txBody>
                  <a:tcPr marL="82296" marR="64008" marT="32004" marB="32004" anchor="ctr">
                    <a:solidFill>
                      <a:srgbClr val="F6F3EF"/>
                    </a:solidFill>
                  </a:tcPr>
                </a:tc>
                <a:tc>
                  <a:txBody>
                    <a:bodyPr wrap="square"/>
                    <a:lstStyle/>
                    <a:p>
                      <a:pPr algn="l"/>
                      <a:r>
                        <a:rPr sz="1050" b="0">
                          <a:solidFill>
                            <a:srgbClr val="1C1C1E"/>
                          </a:solidFill>
                          <a:latin typeface="Calibri"/>
                        </a:rPr>
                        <a:t>Clients are never surprised</a:t>
                      </a:r>
                    </a:p>
                  </a:txBody>
                  <a:tcPr marL="82296" marR="64008" marT="32004" marB="32004" anchor="ctr">
                    <a:solidFill>
                      <a:srgbClr val="F6F3EF"/>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ENDPOINTS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Resource surface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Interfaces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36</a:t>
            </a:r>
          </a:p>
        </p:txBody>
      </p:sp>
      <p:graphicFrame>
        <p:nvGraphicFramePr>
          <p:cNvPr id="10" name="Table 9"/>
          <p:cNvGraphicFramePr>
            <a:graphicFrameLocks noGrp="1"/>
          </p:cNvGraphicFramePr>
          <p:nvPr/>
        </p:nvGraphicFramePr>
        <p:xfrm>
          <a:off x="777240" y="1353312"/>
          <a:ext cx="10637214" cy="4763516"/>
        </p:xfrm>
        <a:graphic>
          <a:graphicData uri="http://schemas.openxmlformats.org/drawingml/2006/table">
            <a:tbl>
              <a:tblPr firstRow="1">
                <a:tableStyleId>{5C22544A-7EE6-4342-B048-85BDC9FD1C3A}</a:tableStyleId>
              </a:tblPr>
              <a:tblGrid>
                <a:gridCol w="1650602"/>
                <a:gridCol w="8986612"/>
              </a:tblGrid>
              <a:tr h="329184">
                <a:tc>
                  <a:txBody>
                    <a:bodyPr wrap="square"/>
                    <a:lstStyle/>
                    <a:p>
                      <a:pPr algn="l"/>
                      <a:r>
                        <a:rPr sz="1050" b="1">
                          <a:solidFill>
                            <a:srgbClr val="FFFFFF"/>
                          </a:solidFill>
                          <a:latin typeface="Calibri"/>
                        </a:rPr>
                        <a:t>Group</a:t>
                      </a:r>
                    </a:p>
                  </a:txBody>
                  <a:tcPr marL="82296" marR="64008" marT="32004" marB="32004" anchor="ctr">
                    <a:solidFill>
                      <a:srgbClr val="A51C30"/>
                    </a:solidFill>
                  </a:tcPr>
                </a:tc>
                <a:tc>
                  <a:txBody>
                    <a:bodyPr wrap="square"/>
                    <a:lstStyle/>
                    <a:p>
                      <a:pPr algn="l"/>
                      <a:r>
                        <a:rPr sz="1050" b="1">
                          <a:solidFill>
                            <a:srgbClr val="FFFFFF"/>
                          </a:solidFill>
                          <a:latin typeface="Calibri"/>
                        </a:rPr>
                        <a:t>Endpoints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Models</a:t>
                      </a:r>
                    </a:p>
                  </a:txBody>
                  <a:tcPr marL="82296" marR="64008" marT="32004" marB="32004" anchor="ctr">
                    <a:solidFill>
                      <a:srgbClr val="FFFFFF"/>
                    </a:solidFill>
                  </a:tcPr>
                </a:tc>
                <a:tc>
                  <a:txBody>
                    <a:bodyPr wrap="square"/>
                    <a:lstStyle/>
                    <a:p>
                      <a:pPr algn="l"/>
                      <a:r>
                        <a:rPr sz="1000" b="0">
                          <a:solidFill>
                            <a:srgbClr val="1C1C1E"/>
                          </a:solidFill>
                          <a:latin typeface="Calibri"/>
                        </a:rPr>
                        <a:t>/models · /models/{urn} · /uses · /assumptions · /limitations · /relationships · /blast-radius · /scope-determinations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Versions</a:t>
                      </a:r>
                    </a:p>
                  </a:txBody>
                  <a:tcPr marL="82296" marR="64008" marT="32004" marB="32004" anchor="ctr">
                    <a:solidFill>
                      <a:srgbClr val="F6F3EF"/>
                    </a:solidFill>
                  </a:tcPr>
                </a:tc>
                <a:tc>
                  <a:txBody>
                    <a:bodyPr wrap="square"/>
                    <a:lstStyle/>
                    <a:p>
                      <a:pPr algn="l"/>
                      <a:r>
                        <a:rPr sz="1000" b="0">
                          <a:solidFill>
                            <a:srgbClr val="1C1C1E"/>
                          </a:solidFill>
                          <a:latin typeface="Calibri"/>
                        </a:rPr>
                        <a:t>/models/{urn}/versions · /versions/{id} · /compare · /contract · /reproducibility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Aliases</a:t>
                      </a:r>
                    </a:p>
                  </a:txBody>
                  <a:tcPr marL="82296" marR="64008" marT="32004" marB="32004" anchor="ctr">
                    <a:solidFill>
                      <a:srgbClr val="FFFFFF"/>
                    </a:solidFill>
                  </a:tcPr>
                </a:tc>
                <a:tc>
                  <a:txBody>
                    <a:bodyPr wrap="square"/>
                    <a:lstStyle/>
                    <a:p>
                      <a:pPr algn="l"/>
                      <a:r>
                        <a:rPr sz="1000" b="0">
                          <a:solidFill>
                            <a:srgbClr val="1C1C1E"/>
                          </a:solidFill>
                          <a:latin typeface="Calibri"/>
                        </a:rPr>
                        <a:t>/models/{urn}/environments/{env}/aliases/{name} · /history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a:t>
                      </a:r>
                    </a:p>
                  </a:txBody>
                  <a:tcPr marL="82296" marR="64008" marT="32004" marB="32004" anchor="ctr">
                    <a:solidFill>
                      <a:srgbClr val="F6F3EF"/>
                    </a:solidFill>
                  </a:tcPr>
                </a:tc>
                <a:tc>
                  <a:txBody>
                    <a:bodyPr wrap="square"/>
                    <a:lstStyle/>
                    <a:p>
                      <a:pPr algn="l"/>
                      <a:r>
                        <a:rPr sz="1000" b="0">
                          <a:solidFill>
                            <a:srgbClr val="1C1C1E"/>
                          </a:solidFill>
                          <a:latin typeface="Calibri"/>
                        </a:rPr>
                        <a:t>/models/{urn}/assessments · /assessments/{id} · /tiering/rulesets · /tiering/simulate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a:t>
                      </a:r>
                    </a:p>
                  </a:txBody>
                  <a:tcPr marL="82296" marR="64008" marT="32004" marB="32004" anchor="ctr">
                    <a:solidFill>
                      <a:srgbClr val="FFFFFF"/>
                    </a:solidFill>
                  </a:tcPr>
                </a:tc>
                <a:tc>
                  <a:txBody>
                    <a:bodyPr wrap="square"/>
                    <a:lstStyle/>
                    <a:p>
                      <a:pPr algn="l"/>
                      <a:r>
                        <a:rPr sz="1000" b="0">
                          <a:solidFill>
                            <a:srgbClr val="1C1C1E"/>
                          </a:solidFill>
                          <a:latin typeface="Calibri"/>
                        </a:rPr>
                        <a:t>/features · /feature-views · /feature-views/{id}/versions · /contracts · /training-sets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Runs</a:t>
                      </a:r>
                    </a:p>
                  </a:txBody>
                  <a:tcPr marL="82296" marR="64008" marT="32004" marB="32004" anchor="ctr">
                    <a:solidFill>
                      <a:srgbClr val="F6F3EF"/>
                    </a:solidFill>
                  </a:tcPr>
                </a:tc>
                <a:tc>
                  <a:txBody>
                    <a:bodyPr wrap="square"/>
                    <a:lstStyle/>
                    <a:p>
                      <a:pPr algn="l"/>
                      <a:r>
                        <a:rPr sz="1000" b="0">
                          <a:solidFill>
                            <a:srgbClr val="1C1C1E"/>
                          </a:solidFill>
                          <a:latin typeface="Calibri"/>
                        </a:rPr>
                        <a:t>/runs · /runs/{id}/metrics · /artifacts · /runs/{id}/replay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/validations · /validations/{id}/tests · /findings · /findings/{id}/remediation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Overlays</a:t>
                      </a:r>
                    </a:p>
                  </a:txBody>
                  <a:tcPr marL="82296" marR="64008" marT="32004" marB="32004" anchor="ctr">
                    <a:solidFill>
                      <a:srgbClr val="F6F3EF"/>
                    </a:solidFill>
                  </a:tcPr>
                </a:tc>
                <a:tc>
                  <a:txBody>
                    <a:bodyPr wrap="square"/>
                    <a:lstStyle/>
                    <a:p>
                      <a:pPr algn="l"/>
                      <a:r>
                        <a:rPr sz="1000" b="0">
                          <a:solidFill>
                            <a:srgbClr val="1C1C1E"/>
                          </a:solidFill>
                          <a:latin typeface="Calibri"/>
                        </a:rPr>
                        <a:t>/overlays · /overlays/{id}/measurements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/monitors · /observations · /breaches · /health/{urn}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Hooks</a:t>
                      </a:r>
                    </a:p>
                  </a:txBody>
                  <a:tcPr marL="82296" marR="64008" marT="32004" marB="32004" anchor="ctr">
                    <a:solidFill>
                      <a:srgbClr val="F6F3EF"/>
                    </a:solidFill>
                  </a:tcPr>
                </a:tc>
                <a:tc>
                  <a:txBody>
                    <a:bodyPr wrap="square"/>
                    <a:lstStyle/>
                    <a:p>
                      <a:pPr algn="l"/>
                      <a:r>
                        <a:rPr sz="1000" b="0">
                          <a:solidFill>
                            <a:srgbClr val="1C1C1E"/>
                          </a:solidFill>
                          <a:latin typeface="Calibri"/>
                        </a:rPr>
                        <a:t>/hooks · /v1/resolve (hook service) · /hooks/{id}/revoke · /telemetry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Documents</a:t>
                      </a:r>
                    </a:p>
                  </a:txBody>
                  <a:tcPr marL="82296" marR="64008" marT="32004" marB="32004" anchor="ctr">
                    <a:solidFill>
                      <a:srgbClr val="FFFFFF"/>
                    </a:solidFill>
                  </a:tcPr>
                </a:tc>
                <a:tc>
                  <a:txBody>
                    <a:bodyPr wrap="square"/>
                    <a:lstStyle/>
                    <a:p>
                      <a:pPr algn="l"/>
                      <a:r>
                        <a:rPr sz="1000" b="0">
                          <a:solidFill>
                            <a:srgbClr val="1C1C1E"/>
                          </a:solidFill>
                          <a:latin typeface="Calibri"/>
                        </a:rPr>
                        <a:t>/documents/compile · /documents/{id} · /documents/{id}/render · /export-packs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Policy</a:t>
                      </a:r>
                    </a:p>
                  </a:txBody>
                  <a:tcPr marL="82296" marR="64008" marT="32004" marB="32004" anchor="ctr">
                    <a:solidFill>
                      <a:srgbClr val="F6F3EF"/>
                    </a:solidFill>
                  </a:tcPr>
                </a:tc>
                <a:tc>
                  <a:txBody>
                    <a:bodyPr wrap="square"/>
                    <a:lstStyle/>
                    <a:p>
                      <a:pPr algn="l"/>
                      <a:r>
                        <a:rPr sz="1000" b="0">
                          <a:solidFill>
                            <a:srgbClr val="1C1C1E"/>
                          </a:solidFill>
                          <a:latin typeface="Calibri"/>
                        </a:rPr>
                        <a:t>/policies · /policies/evaluate · /obligations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Assistance</a:t>
                      </a:r>
                    </a:p>
                  </a:txBody>
                  <a:tcPr marL="82296" marR="64008" marT="32004" marB="32004" anchor="ctr">
                    <a:solidFill>
                      <a:srgbClr val="FFFFFF"/>
                    </a:solidFill>
                  </a:tcPr>
                </a:tc>
                <a:tc>
                  <a:txBody>
                    <a:bodyPr wrap="square"/>
                    <a:lstStyle/>
                    <a:p>
                      <a:pPr algn="l"/>
                      <a:r>
                        <a:rPr sz="1000" b="0">
                          <a:solidFill>
                            <a:srgbClr val="1C1C1E"/>
                          </a:solidFill>
                          <a:latin typeface="Calibri"/>
                        </a:rPr>
                        <a:t>/ai/capabilities · /ai/{capability}/draft · /ai/generations/{id}/attest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Admin</a:t>
                      </a:r>
                    </a:p>
                  </a:txBody>
                  <a:tcPr marL="82296" marR="64008" marT="32004" marB="32004" anchor="ctr">
                    <a:solidFill>
                      <a:srgbClr val="F6F3EF"/>
                    </a:solidFill>
                  </a:tcPr>
                </a:tc>
                <a:tc>
                  <a:txBody>
                    <a:bodyPr wrap="square"/>
                    <a:lstStyle/>
                    <a:p>
                      <a:pPr algn="l"/>
                      <a:r>
                        <a:rPr sz="1000" b="0">
                          <a:solidFill>
                            <a:srgbClr val="1C1C1E"/>
                          </a:solidFill>
                          <a:latin typeface="Calibri"/>
                        </a:rPr>
                        <a:t>/model-classes · /lifecycles · /templates · /regimes · /connectors · /users</a:t>
                      </a:r>
                    </a:p>
                  </a:txBody>
                  <a:tcPr marL="82296" marR="64008" marT="32004" marB="32004" anchor="ctr">
                    <a:solidFill>
                      <a:srgbClr val="F6F3EF"/>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CLIENTS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Front end and SDK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Interfaces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37</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maya-web — a separate process</a:t>
            </a:r>
          </a:p>
        </p:txBody>
      </p:sp>
      <p:graphicFrame>
        <p:nvGraphicFramePr>
          <p:cNvPr id="11" name="Table 10"/>
          <p:cNvGraphicFramePr>
            <a:graphicFrameLocks noGrp="1"/>
          </p:cNvGraphicFramePr>
          <p:nvPr/>
        </p:nvGraphicFramePr>
        <p:xfrm>
          <a:off x="777240" y="1719072"/>
          <a:ext cx="4999490" cy="2680208"/>
        </p:xfrm>
        <a:graphic>
          <a:graphicData uri="http://schemas.openxmlformats.org/drawingml/2006/table">
            <a:tbl>
              <a:tblPr firstRow="1">
                <a:tableStyleId>{5C22544A-7EE6-4342-B048-85BDC9FD1C3A}</a:tableStyleId>
              </a:tblPr>
              <a:tblGrid>
                <a:gridCol w="1140234"/>
                <a:gridCol w="3859256"/>
              </a:tblGrid>
              <a:tr h="329184">
                <a:tc>
                  <a:txBody>
                    <a:bodyPr wrap="square"/>
                    <a:lstStyle/>
                    <a:p>
                      <a:pPr algn="l"/>
                      <a:r>
                        <a:rPr sz="1050" b="1">
                          <a:solidFill>
                            <a:srgbClr val="FFFFFF"/>
                          </a:solidFill>
                          <a:latin typeface="Calibri"/>
                        </a:rPr>
                        <a:t>Concern</a:t>
                      </a:r>
                    </a:p>
                  </a:txBody>
                  <a:tcPr marL="82296" marR="64008" marT="32004" marB="32004" anchor="ctr">
                    <a:solidFill>
                      <a:srgbClr val="A51C30"/>
                    </a:solidFill>
                  </a:tcPr>
                </a:tc>
                <a:tc>
                  <a:txBody>
                    <a:bodyPr wrap="square"/>
                    <a:lstStyle/>
                    <a:p>
                      <a:pPr algn="l"/>
                      <a:r>
                        <a:rPr sz="1050" b="1">
                          <a:solidFill>
                            <a:srgbClr val="FFFFFF"/>
                          </a:solidFill>
                          <a:latin typeface="Calibri"/>
                        </a:rPr>
                        <a:t>Design</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Auth</a:t>
                      </a:r>
                    </a:p>
                  </a:txBody>
                  <a:tcPr marL="82296" marR="64008" marT="32004" marB="32004" anchor="ctr">
                    <a:solidFill>
                      <a:srgbClr val="FFFFFF"/>
                    </a:solidFill>
                  </a:tcPr>
                </a:tc>
                <a:tc>
                  <a:txBody>
                    <a:bodyPr wrap="square"/>
                    <a:lstStyle/>
                    <a:p>
                      <a:pPr algn="l"/>
                      <a:r>
                        <a:rPr sz="1000" b="0">
                          <a:solidFill>
                            <a:srgbClr val="1C1C1E"/>
                          </a:solidFill>
                          <a:latin typeface="Calibri"/>
                        </a:rPr>
                        <a:t>OIDC + PKCE; access token in memory only; refresh via __Host- SameSite=Strict cookie</a:t>
                      </a:r>
                    </a:p>
                  </a:txBody>
                  <a:tcPr marL="82296" marR="64008" marT="32004" marB="32004" anchor="ctr">
                    <a:solidFill>
                      <a:srgbClr val="FFFFFF"/>
                    </a:solidFill>
                  </a:tcPr>
                </a:tc>
              </a:tr>
              <a:tr h="402336">
                <a:tc>
                  <a:txBody>
                    <a:bodyPr wrap="square"/>
                    <a:lstStyle/>
                    <a:p>
                      <a:pPr algn="l"/>
                      <a:r>
                        <a:rPr sz="1000" b="1">
                          <a:solidFill>
                            <a:srgbClr val="A51C30"/>
                          </a:solidFill>
                          <a:latin typeface="Calibri"/>
                        </a:rPr>
                        <a:t>Logic</a:t>
                      </a:r>
                    </a:p>
                  </a:txBody>
                  <a:tcPr marL="82296" marR="64008" marT="32004" marB="32004" anchor="ctr">
                    <a:solidFill>
                      <a:srgbClr val="F6F3EF"/>
                    </a:solidFill>
                  </a:tcPr>
                </a:tc>
                <a:tc>
                  <a:txBody>
                    <a:bodyPr wrap="square"/>
                    <a:lstStyle/>
                    <a:p>
                      <a:pPr algn="l"/>
                      <a:r>
                        <a:rPr sz="1000" b="0">
                          <a:solidFill>
                            <a:srgbClr val="1C1C1E"/>
                          </a:solidFill>
                          <a:latin typeface="Calibri"/>
                        </a:rPr>
                        <a:t>P4′ — the client renders decisions, never derives them</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Client</a:t>
                      </a:r>
                    </a:p>
                  </a:txBody>
                  <a:tcPr marL="82296" marR="64008" marT="32004" marB="32004" anchor="ctr">
                    <a:solidFill>
                      <a:srgbClr val="FFFFFF"/>
                    </a:solidFill>
                  </a:tcPr>
                </a:tc>
                <a:tc>
                  <a:txBody>
                    <a:bodyPr wrap="square"/>
                    <a:lstStyle/>
                    <a:p>
                      <a:pPr algn="l"/>
                      <a:r>
                        <a:rPr sz="1000" b="0">
                          <a:solidFill>
                            <a:srgbClr val="1C1C1E"/>
                          </a:solidFill>
                          <a:latin typeface="Calibri"/>
                        </a:rPr>
                        <a:t>Generated from OpenAPI; pinned by openapi.lock.json; drift fails the build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Forms</a:t>
                      </a:r>
                    </a:p>
                  </a:txBody>
                  <a:tcPr marL="82296" marR="64008" marT="32004" marB="32004" anchor="ctr">
                    <a:solidFill>
                      <a:srgbClr val="F6F3EF"/>
                    </a:solidFill>
                  </a:tcPr>
                </a:tc>
                <a:tc>
                  <a:txBody>
                    <a:bodyPr wrap="square"/>
                    <a:lstStyle/>
                    <a:p>
                      <a:pPr algn="l"/>
                      <a:r>
                        <a:rPr sz="1000" b="0">
                          <a:solidFill>
                            <a:srgbClr val="1C1C1E"/>
                          </a:solidFill>
                          <a:latin typeface="Calibri"/>
                        </a:rPr>
                        <a:t>Generated in-browser from the fibre's JSON Schema — a new model class needs no front-end release</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Documents</a:t>
                      </a:r>
                    </a:p>
                  </a:txBody>
                  <a:tcPr marL="82296" marR="64008" marT="32004" marB="32004" anchor="ctr">
                    <a:solidFill>
                      <a:srgbClr val="FFFFFF"/>
                    </a:solidFill>
                  </a:tcPr>
                </a:tc>
                <a:tc>
                  <a:txBody>
                    <a:bodyPr wrap="square"/>
                    <a:lstStyle/>
                    <a:p>
                      <a:pPr algn="l"/>
                      <a:r>
                        <a:rPr sz="1000" b="0">
                          <a:solidFill>
                            <a:srgbClr val="1C1C1E"/>
                          </a:solidFill>
                          <a:latin typeface="Calibri"/>
                        </a:rPr>
                        <a:t>Fetched as server-rendered HTML/PDF, never assembled client-side</a:t>
                      </a:r>
                    </a:p>
                  </a:txBody>
                  <a:tcPr marL="82296" marR="64008" marT="32004" marB="32004" anchor="ctr">
                    <a:solidFill>
                      <a:srgbClr val="FFFFF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SDK — the compliant path must be the shortest</a:t>
            </a:r>
          </a:p>
        </p:txBody>
      </p:sp>
      <p:sp>
        <p:nvSpPr>
          <p:cNvPr id="13" name="TextBox 12"/>
          <p:cNvSpPr txBox="1"/>
          <p:nvPr/>
        </p:nvSpPr>
        <p:spPr>
          <a:xfrm>
            <a:off x="6414964" y="1737360"/>
            <a:ext cx="4999491" cy="1828800"/>
          </a:xfrm>
          <a:prstGeom prst="rect">
            <a:avLst/>
          </a:prstGeom>
          <a:noFill/>
        </p:spPr>
        <p:txBody>
          <a:bodyPr wrap="square" lIns="0" rIns="0" tIns="0" bIns="0" anchor="t">
            <a:spAutoFit/>
          </a:bodyPr>
          <a:lstStyle/>
          <a:p>
            <a:pPr algn="l"/>
          </a:p>
          <a:p>
            <a:pPr>
              <a:spcBef>
                <a:spcPts val="0"/>
              </a:spcBef>
              <a:spcAft>
                <a:spcPts val="700"/>
              </a:spcAft>
            </a:pPr>
            <a:r>
              <a:rPr sz="1150" b="1">
                <a:solidFill>
                  <a:srgbClr val="A51C30"/>
                </a:solidFill>
                <a:latin typeface="Calibri"/>
              </a:rPr>
              <a:t>▪  </a:t>
            </a:r>
            <a:r>
              <a:rPr sz="1150">
                <a:solidFill>
                  <a:srgbClr val="1C1C1E"/>
                </a:solidFill>
                <a:latin typeface="Calibri"/>
              </a:rPr>
              <a:t>Resolve and verify the descriptor signature</a:t>
            </a:r>
          </a:p>
          <a:p>
            <a:pPr>
              <a:spcBef>
                <a:spcPts val="0"/>
              </a:spcBef>
              <a:spcAft>
                <a:spcPts val="700"/>
              </a:spcAft>
            </a:pPr>
            <a:r>
              <a:rPr sz="1150" b="1">
                <a:solidFill>
                  <a:srgbClr val="A51C30"/>
                </a:solidFill>
                <a:latin typeface="Calibri"/>
              </a:rPr>
              <a:t>▪  </a:t>
            </a:r>
            <a:r>
              <a:rPr sz="1150">
                <a:solidFill>
                  <a:srgbClr val="1C1C1E"/>
                </a:solidFill>
                <a:latin typeface="Calibri"/>
              </a:rPr>
              <a:t>Fetch features per the contract; check freshness</a:t>
            </a:r>
          </a:p>
          <a:p>
            <a:pPr>
              <a:spcBef>
                <a:spcPts val="0"/>
              </a:spcBef>
              <a:spcAft>
                <a:spcPts val="700"/>
              </a:spcAft>
            </a:pPr>
            <a:r>
              <a:rPr sz="1150" b="1">
                <a:solidFill>
                  <a:srgbClr val="A51C30"/>
                </a:solidFill>
                <a:latin typeface="Calibri"/>
              </a:rPr>
              <a:t>▪  </a:t>
            </a:r>
            <a:r>
              <a:rPr sz="1150">
                <a:solidFill>
                  <a:srgbClr val="1C1C1E"/>
                </a:solidFill>
                <a:latin typeface="Calibri"/>
              </a:rPr>
              <a:t>Check operating boundaries before scoring</a:t>
            </a:r>
          </a:p>
          <a:p>
            <a:pPr>
              <a:spcBef>
                <a:spcPts val="0"/>
              </a:spcBef>
              <a:spcAft>
                <a:spcPts val="700"/>
              </a:spcAft>
            </a:pPr>
            <a:r>
              <a:rPr sz="1150" b="1">
                <a:solidFill>
                  <a:srgbClr val="A51C30"/>
                </a:solidFill>
                <a:latin typeface="Calibri"/>
              </a:rPr>
              <a:t>▪  </a:t>
            </a:r>
            <a:r>
              <a:rPr sz="1150">
                <a:solidFill>
                  <a:srgbClr val="1C1C1E"/>
                </a:solidFill>
                <a:latin typeface="Calibri"/>
              </a:rPr>
              <a:t>Emit signed telemetry</a:t>
            </a:r>
          </a:p>
          <a:p>
            <a:pPr>
              <a:spcBef>
                <a:spcPts val="0"/>
              </a:spcBef>
              <a:spcAft>
                <a:spcPts val="700"/>
              </a:spcAft>
            </a:pPr>
            <a:r>
              <a:rPr sz="1150" b="1">
                <a:solidFill>
                  <a:srgbClr val="A51C30"/>
                </a:solidFill>
                <a:latin typeface="Calibri"/>
              </a:rPr>
              <a:t>▪  </a:t>
            </a:r>
            <a:r>
              <a:rPr sz="1150">
                <a:solidFill>
                  <a:srgbClr val="1C1C1E"/>
                </a:solidFill>
                <a:latin typeface="Calibri"/>
              </a:rPr>
              <a:t>Maintain the local revocation list</a:t>
            </a:r>
          </a:p>
        </p:txBody>
      </p:sp>
      <p:sp>
        <p:nvSpPr>
          <p:cNvPr id="14" name="Rectangle 13"/>
          <p:cNvSpPr/>
          <p:nvPr/>
        </p:nvSpPr>
        <p:spPr>
          <a:xfrm>
            <a:off x="6414964" y="3502152"/>
            <a:ext cx="4999491"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414964" y="3502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652708" y="3630168"/>
            <a:ext cx="4542291" cy="10058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The design point. </a:t>
            </a:r>
            <a:r>
              <a:rPr sz="1150" b="0" i="0">
                <a:solidFill>
                  <a:srgbClr val="1C1C1E"/>
                </a:solidFill>
                <a:latin typeface="Calibri"/>
              </a:rPr>
              <a:t>A developer who uses the SDK gets governance for free and cannot forget a step. If the compliant path is slower than the non-compliant one, the inventory rots — so the SDK ships in Phase 1, not later.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8</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Cross-cutting and Operations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Transactions, concurrency, errors, SLOs, capacity, testing.</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Transactions and the outbox</a:t>
            </a:r>
          </a:p>
          <a:p>
            <a:pPr>
              <a:lnSpc>
                <a:spcPct val="115000"/>
              </a:lnSpc>
              <a:spcBef>
                <a:spcPts val="0"/>
              </a:spcBef>
              <a:spcAft>
                <a:spcPts val="700"/>
              </a:spcAft>
            </a:pPr>
            <a:r>
              <a:rPr sz="1150" b="0" i="0">
                <a:solidFill>
                  <a:srgbClr val="F6E6E9"/>
                </a:solidFill>
                <a:latin typeface="Calibri"/>
              </a:rPr>
              <a:t>Concurrency and idempotency</a:t>
            </a:r>
          </a:p>
          <a:p>
            <a:pPr>
              <a:lnSpc>
                <a:spcPct val="115000"/>
              </a:lnSpc>
              <a:spcBef>
                <a:spcPts val="0"/>
              </a:spcBef>
              <a:spcAft>
                <a:spcPts val="700"/>
              </a:spcAft>
            </a:pPr>
            <a:r>
              <a:rPr sz="1150" b="0" i="0">
                <a:solidFill>
                  <a:srgbClr val="F6E6E9"/>
                </a:solidFill>
                <a:latin typeface="Calibri"/>
              </a:rPr>
              <a:t>Error taxonomy</a:t>
            </a:r>
          </a:p>
          <a:p>
            <a:pPr>
              <a:lnSpc>
                <a:spcPct val="115000"/>
              </a:lnSpc>
              <a:spcBef>
                <a:spcPts val="0"/>
              </a:spcBef>
              <a:spcAft>
                <a:spcPts val="700"/>
              </a:spcAft>
            </a:pPr>
            <a:r>
              <a:rPr sz="1150" b="0" i="0">
                <a:solidFill>
                  <a:srgbClr val="F6E6E9"/>
                </a:solidFill>
                <a:latin typeface="Calibri"/>
              </a:rPr>
              <a:t>SLOs and signals</a:t>
            </a:r>
          </a:p>
          <a:p>
            <a:pPr>
              <a:lnSpc>
                <a:spcPct val="115000"/>
              </a:lnSpc>
              <a:spcBef>
                <a:spcPts val="0"/>
              </a:spcBef>
              <a:spcAft>
                <a:spcPts val="700"/>
              </a:spcAft>
            </a:pPr>
            <a:r>
              <a:rPr sz="1150" b="0" i="0">
                <a:solidFill>
                  <a:srgbClr val="F6E6E9"/>
                </a:solidFill>
                <a:latin typeface="Calibri"/>
              </a:rPr>
              <a:t>Capacity</a:t>
            </a:r>
          </a:p>
          <a:p>
            <a:pPr>
              <a:lnSpc>
                <a:spcPct val="115000"/>
              </a:lnSpc>
              <a:spcBef>
                <a:spcPts val="0"/>
              </a:spcBef>
              <a:spcAft>
                <a:spcPts val="700"/>
              </a:spcAft>
            </a:pPr>
            <a:r>
              <a:rPr sz="1150" b="0" i="0">
                <a:solidFill>
                  <a:srgbClr val="F6E6E9"/>
                </a:solidFill>
                <a:latin typeface="Calibri"/>
              </a:rPr>
              <a:t>Testing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CONSISTENCY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Transactions and the outbox</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39</a:t>
            </a:r>
          </a:p>
        </p:txBody>
      </p:sp>
      <p:sp>
        <p:nvSpPr>
          <p:cNvPr id="10" name="Rectangle 9"/>
          <p:cNvSpPr/>
          <p:nvPr/>
        </p:nvSpPr>
        <p:spPr>
          <a:xfrm>
            <a:off x="777240" y="1353312"/>
            <a:ext cx="5531351" cy="20679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679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maya/platform/db.py</a:t>
            </a:r>
          </a:p>
        </p:txBody>
      </p:sp>
      <p:sp>
        <p:nvSpPr>
          <p:cNvPr id="13" name="TextBox 12"/>
          <p:cNvSpPr txBox="1"/>
          <p:nvPr/>
        </p:nvSpPr>
        <p:spPr>
          <a:xfrm>
            <a:off x="978408" y="1746504"/>
            <a:ext cx="5165591" cy="1592427"/>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with uow.transaction() as tx:      # ONE Postgres transaction</a:t>
            </a:r>
          </a:p>
          <a:p>
            <a:pPr>
              <a:lnSpc>
                <a:spcPct val="134000"/>
              </a:lnSpc>
              <a:spcBef>
                <a:spcPts val="0"/>
              </a:spcBef>
              <a:spcAft>
                <a:spcPts val="0"/>
              </a:spcAft>
            </a:pPr>
            <a:r>
              <a:rPr sz="1000" b="0" i="0">
                <a:solidFill>
                  <a:srgbClr val="1C1C1E"/>
                </a:solidFill>
                <a:latin typeface="Consolas"/>
              </a:rPr>
              <a:t>    ...domain mutations...</a:t>
            </a:r>
          </a:p>
          <a:p>
            <a:pPr>
              <a:lnSpc>
                <a:spcPct val="134000"/>
              </a:lnSpc>
              <a:spcBef>
                <a:spcPts val="0"/>
              </a:spcBef>
              <a:spcAft>
                <a:spcPts val="0"/>
              </a:spcAft>
            </a:pPr>
            <a:r>
              <a:rPr sz="1000" b="0" i="0">
                <a:solidFill>
                  <a:srgbClr val="1C1C1E"/>
                </a:solidFill>
                <a:latin typeface="Consolas"/>
              </a:rPr>
              <a:t>    tx.evidence.append(...)        # same transaction — DR-4</a:t>
            </a:r>
          </a:p>
          <a:p>
            <a:pPr>
              <a:lnSpc>
                <a:spcPct val="134000"/>
              </a:lnSpc>
              <a:spcBef>
                <a:spcPts val="0"/>
              </a:spcBef>
              <a:spcAft>
                <a:spcPts val="0"/>
              </a:spcAft>
            </a:pPr>
            <a:r>
              <a:rPr sz="1000" b="0" i="0">
                <a:solidFill>
                  <a:srgbClr val="1C1C1E"/>
                </a:solidFill>
                <a:latin typeface="Consolas"/>
              </a:rPr>
              <a:t>    tx.audit.write(...)            # same transaction</a:t>
            </a:r>
          </a:p>
          <a:p>
            <a:pPr>
              <a:lnSpc>
                <a:spcPct val="134000"/>
              </a:lnSpc>
              <a:spcBef>
                <a:spcPts val="0"/>
              </a:spcBef>
              <a:spcAft>
                <a:spcPts val="0"/>
              </a:spcAft>
            </a:pPr>
            <a:r>
              <a:rPr sz="1000" b="0" i="0">
                <a:solidFill>
                  <a:srgbClr val="1C1C1E"/>
                </a:solidFill>
                <a:latin typeface="Consolas"/>
              </a:rPr>
              <a:t>    tx.outbox.put(event)           # the only way out</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commit → relay → Kafka / Delta / cache invalidation</a:t>
            </a:r>
          </a:p>
        </p:txBody>
      </p:sp>
      <p:sp>
        <p:nvSpPr>
          <p:cNvPr id="14" name="TextBox 13"/>
          <p:cNvSpPr txBox="1"/>
          <p:nvPr/>
        </p:nvSpPr>
        <p:spPr>
          <a:xfrm>
            <a:off x="777240" y="3677259"/>
            <a:ext cx="5531351" cy="201168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Rules that follow</a:t>
            </a:r>
          </a:p>
          <a:p>
            <a:pPr>
              <a:spcBef>
                <a:spcPts val="0"/>
              </a:spcBef>
              <a:spcAft>
                <a:spcPts val="600"/>
              </a:spcAft>
            </a:pPr>
            <a:r>
              <a:rPr sz="1100" b="1">
                <a:solidFill>
                  <a:srgbClr val="A51C30"/>
                </a:solidFill>
                <a:latin typeface="Calibri"/>
              </a:rPr>
              <a:t>▪  </a:t>
            </a:r>
            <a:r>
              <a:rPr sz="1100">
                <a:solidFill>
                  <a:srgbClr val="1C1C1E"/>
                </a:solidFill>
                <a:latin typeface="Calibri"/>
              </a:rPr>
              <a:t>Nothing outside platform/db opens a transaction — components receive a UnitOfWork</a:t>
            </a:r>
          </a:p>
          <a:p>
            <a:pPr>
              <a:spcBef>
                <a:spcPts val="0"/>
              </a:spcBef>
              <a:spcAft>
                <a:spcPts val="600"/>
              </a:spcAft>
            </a:pPr>
            <a:r>
              <a:rPr sz="1100" b="1">
                <a:solidFill>
                  <a:srgbClr val="A51C30"/>
                </a:solidFill>
                <a:latin typeface="Calibri"/>
              </a:rPr>
              <a:t>▪  </a:t>
            </a:r>
            <a:r>
              <a:rPr sz="1100">
                <a:solidFill>
                  <a:srgbClr val="1C1C1E"/>
                </a:solidFill>
                <a:latin typeface="Calibri"/>
              </a:rPr>
              <a:t>A derived value and its derivation record commit together, or neither does</a:t>
            </a:r>
          </a:p>
          <a:p>
            <a:pPr>
              <a:spcBef>
                <a:spcPts val="0"/>
              </a:spcBef>
              <a:spcAft>
                <a:spcPts val="600"/>
              </a:spcAft>
            </a:pPr>
            <a:r>
              <a:rPr sz="1100" b="1">
                <a:solidFill>
                  <a:srgbClr val="A51C30"/>
                </a:solidFill>
                <a:latin typeface="Calibri"/>
              </a:rPr>
              <a:t>▪  </a:t>
            </a:r>
            <a:r>
              <a:rPr sz="1100">
                <a:solidFill>
                  <a:srgbClr val="1C1C1E"/>
                </a:solidFill>
                <a:latin typeface="Calibri"/>
              </a:rPr>
              <a:t>Every Delta write carries outbox_id and MERGEs on it, so at-least-once delivery is safe</a:t>
            </a:r>
          </a:p>
          <a:p>
            <a:pPr>
              <a:spcBef>
                <a:spcPts val="0"/>
              </a:spcBef>
              <a:spcAft>
                <a:spcPts val="600"/>
              </a:spcAft>
            </a:pPr>
            <a:r>
              <a:rPr sz="1100" b="1">
                <a:solidFill>
                  <a:srgbClr val="A51C30"/>
                </a:solidFill>
                <a:latin typeface="Calibri"/>
              </a:rPr>
              <a:t>▪  </a:t>
            </a:r>
            <a:r>
              <a:rPr sz="1100">
                <a:solidFill>
                  <a:srgbClr val="1C1C1E"/>
                </a:solidFill>
                <a:latin typeface="Calibri"/>
              </a:rPr>
              <a:t>Nightly reconciliation compares outbox(done) against Delta counts — with a defined repair action, not merely an alert</a:t>
            </a:r>
          </a:p>
        </p:txBody>
      </p:sp>
      <p:sp>
        <p:nvSpPr>
          <p:cNvPr id="15" name="TextBox 14"/>
          <p:cNvSpPr txBox="1"/>
          <p:nvPr/>
        </p:nvSpPr>
        <p:spPr>
          <a:xfrm>
            <a:off x="6734080" y="135331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Partitioning and retention</a:t>
            </a:r>
          </a:p>
        </p:txBody>
      </p:sp>
      <p:graphicFrame>
        <p:nvGraphicFramePr>
          <p:cNvPr id="16" name="Table 15"/>
          <p:cNvGraphicFramePr>
            <a:graphicFrameLocks noGrp="1"/>
          </p:cNvGraphicFramePr>
          <p:nvPr/>
        </p:nvGraphicFramePr>
        <p:xfrm>
          <a:off x="6734080" y="1719072"/>
          <a:ext cx="4680373" cy="1951456"/>
        </p:xfrm>
        <a:graphic>
          <a:graphicData uri="http://schemas.openxmlformats.org/drawingml/2006/table">
            <a:tbl>
              <a:tblPr firstRow="1">
                <a:tableStyleId>{5C22544A-7EE6-4342-B048-85BDC9FD1C3A}</a:tableStyleId>
              </a:tblPr>
              <a:tblGrid>
                <a:gridCol w="1608878"/>
                <a:gridCol w="1901402"/>
                <a:gridCol w="1170093"/>
              </a:tblGrid>
              <a:tr h="329184">
                <a:tc>
                  <a:txBody>
                    <a:bodyPr wrap="square"/>
                    <a:lstStyle/>
                    <a:p>
                      <a:pPr algn="l"/>
                      <a:r>
                        <a:rPr sz="1000" b="1">
                          <a:solidFill>
                            <a:srgbClr val="FFFFFF"/>
                          </a:solidFill>
                          <a:latin typeface="Calibri"/>
                        </a:rPr>
                        <a:t>Table</a:t>
                      </a:r>
                    </a:p>
                  </a:txBody>
                  <a:tcPr marL="82296" marR="64008" marT="32004" marB="32004" anchor="ctr">
                    <a:solidFill>
                      <a:srgbClr val="A51C30"/>
                    </a:solidFill>
                  </a:tcPr>
                </a:tc>
                <a:tc>
                  <a:txBody>
                    <a:bodyPr wrap="square"/>
                    <a:lstStyle/>
                    <a:p>
                      <a:pPr algn="l"/>
                      <a:r>
                        <a:rPr sz="1000" b="1">
                          <a:solidFill>
                            <a:srgbClr val="FFFFFF"/>
                          </a:solidFill>
                          <a:latin typeface="Calibri"/>
                        </a:rPr>
                        <a:t>Partition</a:t>
                      </a:r>
                    </a:p>
                  </a:txBody>
                  <a:tcPr marL="82296" marR="64008" marT="32004" marB="32004" anchor="ctr">
                    <a:solidFill>
                      <a:srgbClr val="A51C30"/>
                    </a:solidFill>
                  </a:tcPr>
                </a:tc>
                <a:tc>
                  <a:txBody>
                    <a:bodyPr wrap="square"/>
                    <a:lstStyle/>
                    <a:p>
                      <a:pPr algn="l"/>
                      <a:r>
                        <a:rPr sz="1000" b="1">
                          <a:solidFill>
                            <a:srgbClr val="FFFFFF"/>
                          </a:solidFill>
                          <a:latin typeface="Calibri"/>
                        </a:rPr>
                        <a:t>Retention</a:t>
                      </a:r>
                    </a:p>
                  </a:txBody>
                  <a:tcPr marL="82296" marR="64008" marT="32004" marB="32004" anchor="ctr">
                    <a:solidFill>
                      <a:srgbClr val="A51C30"/>
                    </a:solidFill>
                  </a:tcPr>
                </a:tc>
              </a:tr>
              <a:tr h="384048">
                <a:tc>
                  <a:txBody>
                    <a:bodyPr wrap="square"/>
                    <a:lstStyle/>
                    <a:p>
                      <a:pPr algn="l"/>
                      <a:r>
                        <a:rPr sz="950" b="1">
                          <a:solidFill>
                            <a:srgbClr val="A51C30"/>
                          </a:solidFill>
                          <a:latin typeface="Calibri"/>
                        </a:rPr>
                        <a:t>audit_log</a:t>
                      </a:r>
                    </a:p>
                  </a:txBody>
                  <a:tcPr marL="82296" marR="64008" marT="32004" marB="32004" anchor="ctr">
                    <a:solidFill>
                      <a:srgbClr val="FFFFFF"/>
                    </a:solidFill>
                  </a:tcPr>
                </a:tc>
                <a:tc>
                  <a:txBody>
                    <a:bodyPr wrap="square"/>
                    <a:lstStyle/>
                    <a:p>
                      <a:pPr algn="l"/>
                      <a:r>
                        <a:rPr sz="950" b="0">
                          <a:solidFill>
                            <a:srgbClr val="1C1C1E"/>
                          </a:solidFill>
                          <a:latin typeface="Calibri"/>
                        </a:rPr>
                        <a:t>Monthly, separate database</a:t>
                      </a:r>
                    </a:p>
                  </a:txBody>
                  <a:tcPr marL="82296" marR="64008" marT="32004" marB="32004" anchor="ctr">
                    <a:solidFill>
                      <a:srgbClr val="FFFFFF"/>
                    </a:solidFill>
                  </a:tcPr>
                </a:tc>
                <a:tc>
                  <a:txBody>
                    <a:bodyPr wrap="square"/>
                    <a:lstStyle/>
                    <a:p>
                      <a:pPr algn="l"/>
                      <a:r>
                        <a:rPr sz="950" b="0">
                          <a:solidFill>
                            <a:srgbClr val="1C1C1E"/>
                          </a:solidFill>
                          <a:latin typeface="Calibri"/>
                        </a:rPr>
                        <a:t>10 y, WORM</a:t>
                      </a:r>
                    </a:p>
                  </a:txBody>
                  <a:tcPr marL="82296" marR="64008" marT="32004" marB="32004" anchor="ctr">
                    <a:solidFill>
                      <a:srgbClr val="FFFFFF"/>
                    </a:solidFill>
                  </a:tcPr>
                </a:tc>
              </a:tr>
              <a:tr h="384048">
                <a:tc>
                  <a:txBody>
                    <a:bodyPr wrap="square"/>
                    <a:lstStyle/>
                    <a:p>
                      <a:pPr algn="l"/>
                      <a:r>
                        <a:rPr sz="950" b="1">
                          <a:solidFill>
                            <a:srgbClr val="A51C30"/>
                          </a:solidFill>
                          <a:latin typeface="Calibri"/>
                        </a:rPr>
                        <a:t>evidence_node</a:t>
                      </a:r>
                    </a:p>
                  </a:txBody>
                  <a:tcPr marL="82296" marR="64008" marT="32004" marB="32004" anchor="ctr">
                    <a:solidFill>
                      <a:srgbClr val="F6F3EF"/>
                    </a:solidFill>
                  </a:tcPr>
                </a:tc>
                <a:tc>
                  <a:txBody>
                    <a:bodyPr wrap="square"/>
                    <a:lstStyle/>
                    <a:p>
                      <a:pPr algn="l"/>
                      <a:r>
                        <a:rPr sz="950" b="0">
                          <a:solidFill>
                            <a:srgbClr val="1C1C1E"/>
                          </a:solidFill>
                          <a:latin typeface="Calibri"/>
                        </a:rPr>
                        <a:t>Monthly</a:t>
                      </a:r>
                    </a:p>
                  </a:txBody>
                  <a:tcPr marL="82296" marR="64008" marT="32004" marB="32004" anchor="ctr">
                    <a:solidFill>
                      <a:srgbClr val="F6F3EF"/>
                    </a:solidFill>
                  </a:tcPr>
                </a:tc>
                <a:tc>
                  <a:txBody>
                    <a:bodyPr wrap="square"/>
                    <a:lstStyle/>
                    <a:p>
                      <a:pPr algn="l"/>
                      <a:r>
                        <a:rPr sz="950" b="0">
                          <a:solidFill>
                            <a:srgbClr val="1C1C1E"/>
                          </a:solidFill>
                          <a:latin typeface="Calibri"/>
                        </a:rPr>
                        <a:t>Life + 10 y</a:t>
                      </a:r>
                    </a:p>
                  </a:txBody>
                  <a:tcPr marL="82296" marR="64008" marT="32004" marB="32004" anchor="ctr">
                    <a:solidFill>
                      <a:srgbClr val="F6F3EF"/>
                    </a:solidFill>
                  </a:tcPr>
                </a:tc>
              </a:tr>
              <a:tr h="384048">
                <a:tc>
                  <a:txBody>
                    <a:bodyPr wrap="square"/>
                    <a:lstStyle/>
                    <a:p>
                      <a:pPr algn="l"/>
                      <a:r>
                        <a:rPr sz="950" b="1">
                          <a:solidFill>
                            <a:srgbClr val="A51C30"/>
                          </a:solidFill>
                          <a:latin typeface="Calibri"/>
                        </a:rPr>
                        <a:t>ai_generation</a:t>
                      </a:r>
                    </a:p>
                  </a:txBody>
                  <a:tcPr marL="82296" marR="64008" marT="32004" marB="32004" anchor="ctr">
                    <a:solidFill>
                      <a:srgbClr val="FFFFFF"/>
                    </a:solidFill>
                  </a:tcPr>
                </a:tc>
                <a:tc>
                  <a:txBody>
                    <a:bodyPr wrap="square"/>
                    <a:lstStyle/>
                    <a:p>
                      <a:pPr algn="l"/>
                      <a:r>
                        <a:rPr sz="950" b="0">
                          <a:solidFill>
                            <a:srgbClr val="1C1C1E"/>
                          </a:solidFill>
                          <a:latin typeface="Calibri"/>
                        </a:rPr>
                        <a:t>Monthly</a:t>
                      </a:r>
                    </a:p>
                  </a:txBody>
                  <a:tcPr marL="82296" marR="64008" marT="32004" marB="32004" anchor="ctr">
                    <a:solidFill>
                      <a:srgbClr val="FFFFFF"/>
                    </a:solidFill>
                  </a:tcPr>
                </a:tc>
                <a:tc>
                  <a:txBody>
                    <a:bodyPr wrap="square"/>
                    <a:lstStyle/>
                    <a:p>
                      <a:pPr algn="l"/>
                      <a:r>
                        <a:rPr sz="950" b="0">
                          <a:solidFill>
                            <a:srgbClr val="1C1C1E"/>
                          </a:solidFill>
                          <a:latin typeface="Calibri"/>
                        </a:rPr>
                        <a:t>3 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inference_log (Delta)</a:t>
                      </a:r>
                    </a:p>
                  </a:txBody>
                  <a:tcPr marL="82296" marR="64008" marT="32004" marB="32004" anchor="ctr">
                    <a:solidFill>
                      <a:srgbClr val="F6F3EF"/>
                    </a:solidFill>
                  </a:tcPr>
                </a:tc>
                <a:tc>
                  <a:txBody>
                    <a:bodyPr wrap="square"/>
                    <a:lstStyle/>
                    <a:p>
                      <a:pPr algn="l"/>
                      <a:r>
                        <a:rPr sz="950" b="0">
                          <a:solidFill>
                            <a:srgbClr val="1C1C1E"/>
                          </a:solidFill>
                          <a:latin typeface="Calibri"/>
                        </a:rPr>
                        <a:t>By date, clustered by model_urn</a:t>
                      </a:r>
                    </a:p>
                  </a:txBody>
                  <a:tcPr marL="82296" marR="64008" marT="32004" marB="32004" anchor="ctr">
                    <a:solidFill>
                      <a:srgbClr val="F6F3EF"/>
                    </a:solidFill>
                  </a:tcPr>
                </a:tc>
                <a:tc>
                  <a:txBody>
                    <a:bodyPr wrap="square"/>
                    <a:lstStyle/>
                    <a:p>
                      <a:pPr algn="l"/>
                      <a:r>
                        <a:rPr sz="950" b="0">
                          <a:solidFill>
                            <a:srgbClr val="1C1C1E"/>
                          </a:solidFill>
                          <a:latin typeface="Calibri"/>
                        </a:rPr>
                        <a:t>Per regulatory class</a:t>
                      </a:r>
                    </a:p>
                  </a:txBody>
                  <a:tcPr marL="82296" marR="64008" marT="32004" marB="32004" anchor="ctr">
                    <a:solidFill>
                      <a:srgbClr val="F6F3EF"/>
                    </a:solidFill>
                  </a:tcPr>
                </a:tc>
              </a:tr>
            </a:tbl>
          </a:graphicData>
        </a:graphic>
      </p:graphicFrame>
      <p:sp>
        <p:nvSpPr>
          <p:cNvPr id="17" name="Rectangle 16"/>
          <p:cNvSpPr/>
          <p:nvPr/>
        </p:nvSpPr>
        <p:spPr>
          <a:xfrm>
            <a:off x="6734080" y="3685031"/>
            <a:ext cx="4680374"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734080" y="3685031"/>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971824" y="3813048"/>
            <a:ext cx="4223174" cy="86868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Audit lives on its own database. </a:t>
            </a:r>
            <a:r>
              <a:rPr sz="1100" b="0" i="0">
                <a:solidFill>
                  <a:srgbClr val="1C1C1E"/>
                </a:solidFill>
                <a:latin typeface="Calibri"/>
              </a:rPr>
              <a:t>It is write-heavy and cannot be lost; evidence traversal is read-heavy and recursive. On one primary they compete.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CORRECTNESS UNDER LOAD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Concurrency, idempotency, caching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40</a:t>
            </a:r>
          </a:p>
        </p:txBody>
      </p:sp>
      <p:graphicFrame>
        <p:nvGraphicFramePr>
          <p:cNvPr id="10" name="Table 9"/>
          <p:cNvGraphicFramePr>
            <a:graphicFrameLocks noGrp="1"/>
          </p:cNvGraphicFramePr>
          <p:nvPr/>
        </p:nvGraphicFramePr>
        <p:xfrm>
          <a:off x="777240" y="1353312"/>
          <a:ext cx="5637723" cy="3338193"/>
        </p:xfrm>
        <a:graphic>
          <a:graphicData uri="http://schemas.openxmlformats.org/drawingml/2006/table">
            <a:tbl>
              <a:tblPr firstRow="1">
                <a:tableStyleId>{5C22544A-7EE6-4342-B048-85BDC9FD1C3A}</a:tableStyleId>
              </a:tblPr>
              <a:tblGrid>
                <a:gridCol w="2220921"/>
                <a:gridCol w="3416802"/>
              </a:tblGrid>
              <a:tr h="333781">
                <a:tc>
                  <a:txBody>
                    <a:bodyPr wrap="square"/>
                    <a:lstStyle/>
                    <a:p>
                      <a:pPr algn="l"/>
                      <a:r>
                        <a:rPr sz="1100" b="1">
                          <a:solidFill>
                            <a:srgbClr val="FFFFFF"/>
                          </a:solidFill>
                          <a:latin typeface="Calibri"/>
                        </a:rPr>
                        <a:t>Hazard</a:t>
                      </a:r>
                    </a:p>
                  </a:txBody>
                  <a:tcPr marL="82296" marR="64008" marT="32004" marB="32004" anchor="ctr">
                    <a:solidFill>
                      <a:srgbClr val="A51C30"/>
                    </a:solidFill>
                  </a:tcPr>
                </a:tc>
                <a:tc>
                  <a:txBody>
                    <a:bodyPr wrap="square"/>
                    <a:lstStyle/>
                    <a:p>
                      <a:pPr algn="l"/>
                      <a:r>
                        <a:rPr sz="1100" b="1">
                          <a:solidFill>
                            <a:srgbClr val="FFFFFF"/>
                          </a:solidFill>
                          <a:latin typeface="Calibri"/>
                        </a:rPr>
                        <a:t>Control</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Concurrent alias moves</a:t>
                      </a:r>
                    </a:p>
                  </a:txBody>
                  <a:tcPr marL="82296" marR="64008" marT="32004" marB="32004" anchor="ctr">
                    <a:solidFill>
                      <a:srgbClr val="FFFFFF"/>
                    </a:solidFill>
                  </a:tcPr>
                </a:tc>
                <a:tc>
                  <a:txBody>
                    <a:bodyPr wrap="square"/>
                    <a:lstStyle/>
                    <a:p>
                      <a:pPr algn="l"/>
                      <a:r>
                        <a:rPr sz="1050" b="0">
                          <a:solidFill>
                            <a:srgbClr val="1C1C1E"/>
                          </a:solidFill>
                          <a:latin typeface="Calibri"/>
                        </a:rPr>
                        <a:t>Postgres advisory lock per (model, environment)</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Concurrent version creation</a:t>
                      </a:r>
                    </a:p>
                  </a:txBody>
                  <a:tcPr marL="82296" marR="64008" marT="32004" marB="32004" anchor="ctr">
                    <a:solidFill>
                      <a:srgbClr val="F6F3EF"/>
                    </a:solidFill>
                  </a:tcPr>
                </a:tc>
                <a:tc>
                  <a:txBody>
                    <a:bodyPr wrap="square"/>
                    <a:lstStyle/>
                    <a:p>
                      <a:pPr algn="l"/>
                      <a:r>
                        <a:rPr sz="1050" b="0">
                          <a:solidFill>
                            <a:srgbClr val="1C1C1E"/>
                          </a:solidFill>
                          <a:latin typeface="Calibri"/>
                        </a:rPr>
                        <a:t>Unique (model_id, semver); content-addressed artifacts deduplicate</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Evidence chain contention</a:t>
                      </a:r>
                    </a:p>
                  </a:txBody>
                  <a:tcPr marL="82296" marR="64008" marT="32004" marB="32004" anchor="ctr">
                    <a:solidFill>
                      <a:srgbClr val="FFFFFF"/>
                    </a:solidFill>
                  </a:tcPr>
                </a:tc>
                <a:tc>
                  <a:txBody>
                    <a:bodyPr wrap="square"/>
                    <a:lstStyle/>
                    <a:p>
                      <a:pPr algn="l"/>
                      <a:r>
                        <a:rPr sz="1050" b="0">
                          <a:solidFill>
                            <a:srgbClr val="1C1C1E"/>
                          </a:solidFill>
                          <a:latin typeface="Calibri"/>
                        </a:rPr>
                        <a:t>Short lock around seq allocation only; append is O(1)</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Duplicate API submissions</a:t>
                      </a:r>
                    </a:p>
                  </a:txBody>
                  <a:tcPr marL="82296" marR="64008" marT="32004" marB="32004" anchor="ctr">
                    <a:solidFill>
                      <a:srgbClr val="F6F3EF"/>
                    </a:solidFill>
                  </a:tcPr>
                </a:tc>
                <a:tc>
                  <a:txBody>
                    <a:bodyPr wrap="square"/>
                    <a:lstStyle/>
                    <a:p>
                      <a:pPr algn="l"/>
                      <a:r>
                        <a:rPr sz="1050" b="0">
                          <a:solidFill>
                            <a:srgbClr val="1C1C1E"/>
                          </a:solidFill>
                          <a:latin typeface="Calibri"/>
                        </a:rPr>
                        <a:t>Idempotency-Key with a 24-hour replay of the original response</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Lost updates on inventory edits</a:t>
                      </a:r>
                    </a:p>
                  </a:txBody>
                  <a:tcPr marL="82296" marR="64008" marT="32004" marB="32004" anchor="ctr">
                    <a:solidFill>
                      <a:srgbClr val="FFFFFF"/>
                    </a:solidFill>
                  </a:tcPr>
                </a:tc>
                <a:tc>
                  <a:txBody>
                    <a:bodyPr wrap="square"/>
                    <a:lstStyle/>
                    <a:p>
                      <a:pPr algn="l"/>
                      <a:r>
                        <a:rPr sz="1050" b="0">
                          <a:solidFill>
                            <a:srgbClr val="1C1C1E"/>
                          </a:solidFill>
                          <a:latin typeface="Calibri"/>
                        </a:rPr>
                        <a:t>ETag / If-Match; 412 returns a field-level diff</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Duplicate outbox delivery</a:t>
                      </a:r>
                    </a:p>
                  </a:txBody>
                  <a:tcPr marL="82296" marR="64008" marT="32004" marB="32004" anchor="ctr">
                    <a:solidFill>
                      <a:srgbClr val="F6F3EF"/>
                    </a:solidFill>
                  </a:tcPr>
                </a:tc>
                <a:tc>
                  <a:txBody>
                    <a:bodyPr wrap="square"/>
                    <a:lstStyle/>
                    <a:p>
                      <a:pPr algn="l"/>
                      <a:r>
                        <a:rPr sz="1050" b="0">
                          <a:solidFill>
                            <a:srgbClr val="1C1C1E"/>
                          </a:solidFill>
                          <a:latin typeface="Calibri"/>
                        </a:rPr>
                        <a:t>MERGE on outbox_id</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Concurrent materialisation</a:t>
                      </a:r>
                    </a:p>
                  </a:txBody>
                  <a:tcPr marL="82296" marR="64008" marT="32004" marB="32004" anchor="ctr">
                    <a:solidFill>
                      <a:srgbClr val="FFFFFF"/>
                    </a:solidFill>
                  </a:tcPr>
                </a:tc>
                <a:tc>
                  <a:txBody>
                    <a:bodyPr wrap="square"/>
                    <a:lstStyle/>
                    <a:p>
                      <a:pPr algn="l"/>
                      <a:r>
                        <a:rPr sz="1050" b="0">
                          <a:solidFill>
                            <a:srgbClr val="1C1C1E"/>
                          </a:solidFill>
                          <a:latin typeface="Calibri"/>
                        </a:rPr>
                        <a:t>Delta ACID; view version pinned per job</a:t>
                      </a:r>
                    </a:p>
                  </a:txBody>
                  <a:tcPr marL="82296" marR="64008" marT="32004" marB="32004" anchor="ctr">
                    <a:solidFill>
                      <a:srgbClr val="FFFFFF"/>
                    </a:solidFill>
                  </a:tcPr>
                </a:tc>
              </a:tr>
            </a:tbl>
          </a:graphicData>
        </a:graphic>
      </p:graphicFrame>
      <p:sp>
        <p:nvSpPr>
          <p:cNvPr id="11" name="TextBox 10"/>
          <p:cNvSpPr txBox="1"/>
          <p:nvPr/>
        </p:nvSpPr>
        <p:spPr>
          <a:xfrm>
            <a:off x="6840452" y="1353312"/>
            <a:ext cx="4574002"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Cache inventory</a:t>
            </a:r>
          </a:p>
        </p:txBody>
      </p:sp>
      <p:graphicFrame>
        <p:nvGraphicFramePr>
          <p:cNvPr id="12" name="Table 11"/>
          <p:cNvGraphicFramePr>
            <a:graphicFrameLocks noGrp="1"/>
          </p:cNvGraphicFramePr>
          <p:nvPr/>
        </p:nvGraphicFramePr>
        <p:xfrm>
          <a:off x="6840452" y="1719072"/>
          <a:ext cx="4574000" cy="2353792"/>
        </p:xfrm>
        <a:graphic>
          <a:graphicData uri="http://schemas.openxmlformats.org/drawingml/2006/table">
            <a:tbl>
              <a:tblPr firstRow="1">
                <a:tableStyleId>{5C22544A-7EE6-4342-B048-85BDC9FD1C3A}</a:tableStyleId>
              </a:tblPr>
              <a:tblGrid>
                <a:gridCol w="1783085"/>
                <a:gridCol w="1317932"/>
                <a:gridCol w="1472983"/>
              </a:tblGrid>
              <a:tr h="329184">
                <a:tc>
                  <a:txBody>
                    <a:bodyPr wrap="square"/>
                    <a:lstStyle/>
                    <a:p>
                      <a:pPr algn="l"/>
                      <a:r>
                        <a:rPr sz="1000" b="1">
                          <a:solidFill>
                            <a:srgbClr val="FFFFFF"/>
                          </a:solidFill>
                          <a:latin typeface="Calibri"/>
                        </a:rPr>
                        <a:t>Cache</a:t>
                      </a:r>
                    </a:p>
                  </a:txBody>
                  <a:tcPr marL="82296" marR="64008" marT="32004" marB="32004" anchor="ctr">
                    <a:solidFill>
                      <a:srgbClr val="A51C30"/>
                    </a:solidFill>
                  </a:tcPr>
                </a:tc>
                <a:tc>
                  <a:txBody>
                    <a:bodyPr wrap="square"/>
                    <a:lstStyle/>
                    <a:p>
                      <a:pPr algn="l"/>
                      <a:r>
                        <a:rPr sz="1000" b="1">
                          <a:solidFill>
                            <a:srgbClr val="FFFFFF"/>
                          </a:solidFill>
                          <a:latin typeface="Calibri"/>
                        </a:rPr>
                        <a:t>TTL</a:t>
                      </a:r>
                    </a:p>
                  </a:txBody>
                  <a:tcPr marL="82296" marR="64008" marT="32004" marB="32004" anchor="ctr">
                    <a:solidFill>
                      <a:srgbClr val="A51C30"/>
                    </a:solidFill>
                  </a:tcPr>
                </a:tc>
                <a:tc>
                  <a:txBody>
                    <a:bodyPr wrap="square"/>
                    <a:lstStyle/>
                    <a:p>
                      <a:pPr algn="l"/>
                      <a:r>
                        <a:rPr sz="1000" b="1">
                          <a:solidFill>
                            <a:srgbClr val="FFFFFF"/>
                          </a:solidFill>
                          <a:latin typeface="Calibri"/>
                        </a:rPr>
                        <a:t>Invalidation</a:t>
                      </a:r>
                    </a:p>
                  </a:txBody>
                  <a:tcPr marL="82296" marR="64008" marT="32004" marB="32004" anchor="ctr">
                    <a:solidFill>
                      <a:srgbClr val="A51C30"/>
                    </a:solidFill>
                  </a:tcPr>
                </a:tc>
              </a:tr>
              <a:tr h="310896">
                <a:tc>
                  <a:txBody>
                    <a:bodyPr wrap="square"/>
                    <a:lstStyle/>
                    <a:p>
                      <a:pPr algn="l"/>
                      <a:r>
                        <a:rPr sz="950" b="1">
                          <a:solidFill>
                            <a:srgbClr val="A51C30"/>
                          </a:solidFill>
                          <a:latin typeface="Calibri"/>
                        </a:rPr>
                        <a:t>Hook descriptor (Redis)</a:t>
                      </a:r>
                    </a:p>
                  </a:txBody>
                  <a:tcPr marL="82296" marR="64008" marT="32004" marB="32004" anchor="ctr">
                    <a:solidFill>
                      <a:srgbClr val="FFFFFF"/>
                    </a:solidFill>
                  </a:tcPr>
                </a:tc>
                <a:tc>
                  <a:txBody>
                    <a:bodyPr wrap="square"/>
                    <a:lstStyle/>
                    <a:p>
                      <a:pPr algn="l"/>
                      <a:r>
                        <a:rPr sz="950" b="0">
                          <a:solidFill>
                            <a:srgbClr val="1C1C1E"/>
                          </a:solidFill>
                          <a:latin typeface="Calibri"/>
                        </a:rPr>
                        <a:t>60 s – 1 h by tier</a:t>
                      </a:r>
                    </a:p>
                  </a:txBody>
                  <a:tcPr marL="82296" marR="64008" marT="32004" marB="32004" anchor="ctr">
                    <a:solidFill>
                      <a:srgbClr val="FFFFFF"/>
                    </a:solidFill>
                  </a:tcPr>
                </a:tc>
                <a:tc>
                  <a:txBody>
                    <a:bodyPr wrap="square"/>
                    <a:lstStyle/>
                    <a:p>
                      <a:pPr algn="l"/>
                      <a:r>
                        <a:rPr sz="950" b="0">
                          <a:solidFill>
                            <a:srgbClr val="1C1C1E"/>
                          </a:solidFill>
                          <a:latin typeface="Calibri"/>
                        </a:rPr>
                        <a:t>Pre-warm, then swap</a:t>
                      </a:r>
                    </a:p>
                  </a:txBody>
                  <a:tcPr marL="82296" marR="64008" marT="32004" marB="32004" anchor="ctr">
                    <a:solidFill>
                      <a:srgbClr val="FFFFFF"/>
                    </a:solidFill>
                  </a:tcPr>
                </a:tc>
              </a:tr>
              <a:tr h="310896">
                <a:tc>
                  <a:txBody>
                    <a:bodyPr wrap="square"/>
                    <a:lstStyle/>
                    <a:p>
                      <a:pPr algn="l"/>
                      <a:r>
                        <a:rPr sz="950" b="1">
                          <a:solidFill>
                            <a:srgbClr val="A51C30"/>
                          </a:solidFill>
                          <a:latin typeface="Calibri"/>
                        </a:rPr>
                        <a:t>Hook descriptor (LRU)</a:t>
                      </a:r>
                    </a:p>
                  </a:txBody>
                  <a:tcPr marL="82296" marR="64008" marT="32004" marB="32004" anchor="ctr">
                    <a:solidFill>
                      <a:srgbClr val="F6F3EF"/>
                    </a:solidFill>
                  </a:tcPr>
                </a:tc>
                <a:tc>
                  <a:txBody>
                    <a:bodyPr wrap="square"/>
                    <a:lstStyle/>
                    <a:p>
                      <a:pPr algn="l"/>
                      <a:r>
                        <a:rPr sz="950" b="0">
                          <a:solidFill>
                            <a:srgbClr val="1C1C1E"/>
                          </a:solidFill>
                          <a:latin typeface="Calibri"/>
                        </a:rPr>
                        <a:t>≤ TTL</a:t>
                      </a:r>
                    </a:p>
                  </a:txBody>
                  <a:tcPr marL="82296" marR="64008" marT="32004" marB="32004" anchor="ctr">
                    <a:solidFill>
                      <a:srgbClr val="F6F3EF"/>
                    </a:solidFill>
                  </a:tcPr>
                </a:tc>
                <a:tc>
                  <a:txBody>
                    <a:bodyPr wrap="square"/>
                    <a:lstStyle/>
                    <a:p>
                      <a:pPr algn="l"/>
                      <a:r>
                        <a:rPr sz="950" b="0">
                          <a:solidFill>
                            <a:srgbClr val="1C1C1E"/>
                          </a:solidFill>
                          <a:latin typeface="Calibri"/>
                        </a:rPr>
                        <a:t>Epoch bump</a:t>
                      </a:r>
                    </a:p>
                  </a:txBody>
                  <a:tcPr marL="82296" marR="64008" marT="32004" marB="32004" anchor="ctr">
                    <a:solidFill>
                      <a:srgbClr val="F6F3EF"/>
                    </a:solidFill>
                  </a:tcPr>
                </a:tc>
              </a:tr>
              <a:tr h="310896">
                <a:tc>
                  <a:txBody>
                    <a:bodyPr wrap="square"/>
                    <a:lstStyle/>
                    <a:p>
                      <a:pPr algn="l"/>
                      <a:r>
                        <a:rPr sz="950" b="1">
                          <a:solidFill>
                            <a:srgbClr val="A51C30"/>
                          </a:solidFill>
                          <a:latin typeface="Calibri"/>
                        </a:rPr>
                        <a:t>Inventory summary</a:t>
                      </a:r>
                    </a:p>
                  </a:txBody>
                  <a:tcPr marL="82296" marR="64008" marT="32004" marB="32004" anchor="ctr">
                    <a:solidFill>
                      <a:srgbClr val="FFFFFF"/>
                    </a:solidFill>
                  </a:tcPr>
                </a:tc>
                <a:tc>
                  <a:txBody>
                    <a:bodyPr wrap="square"/>
                    <a:lstStyle/>
                    <a:p>
                      <a:pPr algn="l"/>
                      <a:r>
                        <a:rPr sz="950" b="0">
                          <a:solidFill>
                            <a:srgbClr val="1C1C1E"/>
                          </a:solidFill>
                          <a:latin typeface="Calibri"/>
                        </a:rPr>
                        <a:t>materialised</a:t>
                      </a:r>
                    </a:p>
                  </a:txBody>
                  <a:tcPr marL="82296" marR="64008" marT="32004" marB="32004" anchor="ctr">
                    <a:solidFill>
                      <a:srgbClr val="FFFFFF"/>
                    </a:solidFill>
                  </a:tcPr>
                </a:tc>
                <a:tc>
                  <a:txBody>
                    <a:bodyPr wrap="square"/>
                    <a:lstStyle/>
                    <a:p>
                      <a:pPr algn="l"/>
                      <a:r>
                        <a:rPr sz="950" b="0">
                          <a:solidFill>
                            <a:srgbClr val="1C1C1E"/>
                          </a:solidFill>
                          <a:latin typeface="Calibri"/>
                        </a:rPr>
                        <a:t>Domain event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Rendered documents</a:t>
                      </a:r>
                    </a:p>
                  </a:txBody>
                  <a:tcPr marL="82296" marR="64008" marT="32004" marB="32004" anchor="ctr">
                    <a:solidFill>
                      <a:srgbClr val="F6F3EF"/>
                    </a:solidFill>
                  </a:tcPr>
                </a:tc>
                <a:tc>
                  <a:txBody>
                    <a:bodyPr wrap="square"/>
                    <a:lstStyle/>
                    <a:p>
                      <a:pPr algn="l"/>
                      <a:r>
                        <a:rPr sz="950" b="0">
                          <a:solidFill>
                            <a:srgbClr val="1C1C1E"/>
                          </a:solidFill>
                          <a:latin typeface="Calibri"/>
                        </a:rPr>
                        <a:t>indefinite</a:t>
                      </a:r>
                    </a:p>
                  </a:txBody>
                  <a:tcPr marL="82296" marR="64008" marT="32004" marB="32004" anchor="ctr">
                    <a:solidFill>
                      <a:srgbClr val="F6F3EF"/>
                    </a:solidFill>
                  </a:tcPr>
                </a:tc>
                <a:tc>
                  <a:txBody>
                    <a:bodyPr wrap="square"/>
                    <a:lstStyle/>
                    <a:p>
                      <a:pPr algn="l"/>
                      <a:r>
                        <a:rPr sz="950" b="0">
                          <a:solidFill>
                            <a:srgbClr val="1C1C1E"/>
                          </a:solidFill>
                          <a:latin typeface="Calibri"/>
                        </a:rPr>
                        <a:t>evidence_digest change</a:t>
                      </a:r>
                    </a:p>
                  </a:txBody>
                  <a:tcPr marL="82296" marR="64008" marT="32004" marB="32004" anchor="ctr">
                    <a:solidFill>
                      <a:srgbClr val="F6F3EF"/>
                    </a:solidFill>
                  </a:tcPr>
                </a:tc>
              </a:tr>
              <a:tr h="310896">
                <a:tc>
                  <a:txBody>
                    <a:bodyPr wrap="square"/>
                    <a:lstStyle/>
                    <a:p>
                      <a:pPr algn="l"/>
                      <a:r>
                        <a:rPr sz="950" b="1">
                          <a:solidFill>
                            <a:srgbClr val="A51C30"/>
                          </a:solidFill>
                          <a:latin typeface="Calibri"/>
                        </a:rPr>
                        <a:t>Blast-radius closure</a:t>
                      </a:r>
                    </a:p>
                  </a:txBody>
                  <a:tcPr marL="82296" marR="64008" marT="32004" marB="32004" anchor="ctr">
                    <a:solidFill>
                      <a:srgbClr val="FFFFFF"/>
                    </a:solidFill>
                  </a:tcPr>
                </a:tc>
                <a:tc>
                  <a:txBody>
                    <a:bodyPr wrap="square"/>
                    <a:lstStyle/>
                    <a:p>
                      <a:pPr algn="l"/>
                      <a:r>
                        <a:rPr sz="950" b="0">
                          <a:solidFill>
                            <a:srgbClr val="1C1C1E"/>
                          </a:solidFill>
                          <a:latin typeface="Calibri"/>
                        </a:rPr>
                        <a:t>24 h</a:t>
                      </a:r>
                    </a:p>
                  </a:txBody>
                  <a:tcPr marL="82296" marR="64008" marT="32004" marB="32004" anchor="ctr">
                    <a:solidFill>
                      <a:srgbClr val="FFFFFF"/>
                    </a:solidFill>
                  </a:tcPr>
                </a:tc>
                <a:tc>
                  <a:txBody>
                    <a:bodyPr wrap="square"/>
                    <a:lstStyle/>
                    <a:p>
                      <a:pPr algn="l"/>
                      <a:r>
                        <a:rPr sz="950" b="0">
                          <a:solidFill>
                            <a:srgbClr val="1C1C1E"/>
                          </a:solidFill>
                          <a:latin typeface="Calibri"/>
                        </a:rPr>
                        <a:t>Edge change</a:t>
                      </a:r>
                    </a:p>
                  </a:txBody>
                  <a:tcPr marL="82296" marR="64008" marT="32004" marB="32004" anchor="ctr">
                    <a:solidFill>
                      <a:srgbClr val="FFFFFF"/>
                    </a:solidFill>
                  </a:tcPr>
                </a:tc>
              </a:tr>
              <a:tr h="310896">
                <a:tc>
                  <a:txBody>
                    <a:bodyPr wrap="square"/>
                    <a:lstStyle/>
                    <a:p>
                      <a:pPr algn="l"/>
                      <a:r>
                        <a:rPr sz="950" b="1">
                          <a:solidFill>
                            <a:srgbClr val="A51C30"/>
                          </a:solidFill>
                          <a:latin typeface="Calibri"/>
                        </a:rPr>
                        <a:t>Policy bundles</a:t>
                      </a:r>
                    </a:p>
                  </a:txBody>
                  <a:tcPr marL="82296" marR="64008" marT="32004" marB="32004" anchor="ctr">
                    <a:solidFill>
                      <a:srgbClr val="F6F3EF"/>
                    </a:solidFill>
                  </a:tcPr>
                </a:tc>
                <a:tc>
                  <a:txBody>
                    <a:bodyPr wrap="square"/>
                    <a:lstStyle/>
                    <a:p>
                      <a:pPr algn="l"/>
                      <a:r>
                        <a:rPr sz="950" b="0">
                          <a:solidFill>
                            <a:srgbClr val="1C1C1E"/>
                          </a:solidFill>
                          <a:latin typeface="Calibri"/>
                        </a:rPr>
                        <a:t>version</a:t>
                      </a:r>
                    </a:p>
                  </a:txBody>
                  <a:tcPr marL="82296" marR="64008" marT="32004" marB="32004" anchor="ctr">
                    <a:solidFill>
                      <a:srgbClr val="F6F3EF"/>
                    </a:solidFill>
                  </a:tcPr>
                </a:tc>
                <a:tc>
                  <a:txBody>
                    <a:bodyPr wrap="square"/>
                    <a:lstStyle/>
                    <a:p>
                      <a:pPr algn="l"/>
                      <a:r>
                        <a:rPr sz="950" b="0">
                          <a:solidFill>
                            <a:srgbClr val="1C1C1E"/>
                          </a:solidFill>
                          <a:latin typeface="Calibri"/>
                        </a:rPr>
                        <a:t>On publish</a:t>
                      </a:r>
                    </a:p>
                  </a:txBody>
                  <a:tcPr marL="82296" marR="64008" marT="32004" marB="32004" anchor="ctr">
                    <a:solidFill>
                      <a:srgbClr val="F6F3E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NEVER A BARE 500</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Error taxonomy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41</a:t>
            </a:r>
          </a:p>
        </p:txBody>
      </p:sp>
      <p:graphicFrame>
        <p:nvGraphicFramePr>
          <p:cNvPr id="10" name="Table 9"/>
          <p:cNvGraphicFramePr>
            <a:graphicFrameLocks noGrp="1"/>
          </p:cNvGraphicFramePr>
          <p:nvPr/>
        </p:nvGraphicFramePr>
        <p:xfrm>
          <a:off x="777240" y="1353312"/>
          <a:ext cx="10637213" cy="4130040"/>
        </p:xfrm>
        <a:graphic>
          <a:graphicData uri="http://schemas.openxmlformats.org/drawingml/2006/table">
            <a:tbl>
              <a:tblPr firstRow="1">
                <a:tableStyleId>{5C22544A-7EE6-4342-B048-85BDC9FD1C3A}</a:tableStyleId>
              </a:tblPr>
              <a:tblGrid>
                <a:gridCol w="2292503"/>
                <a:gridCol w="1100401"/>
                <a:gridCol w="3851405"/>
                <a:gridCol w="3392904"/>
              </a:tblGrid>
              <a:tr h="329184">
                <a:tc>
                  <a:txBody>
                    <a:bodyPr wrap="square"/>
                    <a:lstStyle/>
                    <a:p>
                      <a:pPr algn="l"/>
                      <a:r>
                        <a:rPr sz="1050" b="1">
                          <a:solidFill>
                            <a:srgbClr val="FFFFFF"/>
                          </a:solidFill>
                          <a:latin typeface="Calibri"/>
                        </a:rPr>
                        <a:t>Code</a:t>
                      </a:r>
                    </a:p>
                  </a:txBody>
                  <a:tcPr marL="82296" marR="64008" marT="32004" marB="32004" anchor="ctr">
                    <a:solidFill>
                      <a:srgbClr val="A51C30"/>
                    </a:solidFill>
                  </a:tcPr>
                </a:tc>
                <a:tc>
                  <a:txBody>
                    <a:bodyPr wrap="square"/>
                    <a:lstStyle/>
                    <a:p>
                      <a:pPr algn="l"/>
                      <a:r>
                        <a:rPr sz="1050" b="1">
                          <a:solidFill>
                            <a:srgbClr val="FFFFFF"/>
                          </a:solidFill>
                          <a:latin typeface="Calibri"/>
                        </a:rPr>
                        <a:t>HTTP</a:t>
                      </a:r>
                    </a:p>
                  </a:txBody>
                  <a:tcPr marL="82296" marR="64008" marT="32004" marB="32004" anchor="ctr">
                    <a:solidFill>
                      <a:srgbClr val="A51C30"/>
                    </a:solidFill>
                  </a:tcPr>
                </a:tc>
                <a:tc>
                  <a:txBody>
                    <a:bodyPr wrap="square"/>
                    <a:lstStyle/>
                    <a:p>
                      <a:pPr algn="l"/>
                      <a:r>
                        <a:rPr sz="1050" b="1">
                          <a:solidFill>
                            <a:srgbClr val="FFFFFF"/>
                          </a:solidFill>
                          <a:latin typeface="Calibri"/>
                        </a:rPr>
                        <a:t>Meaning</a:t>
                      </a:r>
                    </a:p>
                  </a:txBody>
                  <a:tcPr marL="82296" marR="64008" marT="32004" marB="32004" anchor="ctr">
                    <a:solidFill>
                      <a:srgbClr val="A51C30"/>
                    </a:solidFill>
                  </a:tcPr>
                </a:tc>
                <a:tc>
                  <a:txBody>
                    <a:bodyPr wrap="square"/>
                    <a:lstStyle/>
                    <a:p>
                      <a:pPr algn="l"/>
                      <a:r>
                        <a:rPr sz="1050" b="1">
                          <a:solidFill>
                            <a:srgbClr val="FFFFFF"/>
                          </a:solidFill>
                          <a:latin typeface="Calibri"/>
                        </a:rPr>
                        <a:t>Client action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validation_failed</a:t>
                      </a:r>
                    </a:p>
                  </a:txBody>
                  <a:tcPr marL="82296" marR="64008" marT="32004" marB="32004" anchor="ctr">
                    <a:solidFill>
                      <a:srgbClr val="FFFFFF"/>
                    </a:solidFill>
                  </a:tcPr>
                </a:tc>
                <a:tc>
                  <a:txBody>
                    <a:bodyPr wrap="square"/>
                    <a:lstStyle/>
                    <a:p>
                      <a:pPr algn="l"/>
                      <a:r>
                        <a:rPr sz="1000" b="0">
                          <a:solidFill>
                            <a:srgbClr val="1C1C1E"/>
                          </a:solidFill>
                          <a:latin typeface="Calibri"/>
                        </a:rPr>
                        <a:t>422</a:t>
                      </a:r>
                    </a:p>
                  </a:txBody>
                  <a:tcPr marL="82296" marR="64008" marT="32004" marB="32004" anchor="ctr">
                    <a:solidFill>
                      <a:srgbClr val="FFFFFF"/>
                    </a:solidFill>
                  </a:tcPr>
                </a:tc>
                <a:tc>
                  <a:txBody>
                    <a:bodyPr wrap="square"/>
                    <a:lstStyle/>
                    <a:p>
                      <a:pPr algn="l"/>
                      <a:r>
                        <a:rPr sz="1000" b="0">
                          <a:solidFill>
                            <a:srgbClr val="1C1C1E"/>
                          </a:solidFill>
                          <a:latin typeface="Calibri"/>
                        </a:rPr>
                        <a:t>Payload or manifest invalid</a:t>
                      </a:r>
                    </a:p>
                  </a:txBody>
                  <a:tcPr marL="82296" marR="64008" marT="32004" marB="32004" anchor="ctr">
                    <a:solidFill>
                      <a:srgbClr val="FFFFFF"/>
                    </a:solidFill>
                  </a:tcPr>
                </a:tc>
                <a:tc>
                  <a:txBody>
                    <a:bodyPr wrap="square"/>
                    <a:lstStyle/>
                    <a:p>
                      <a:pPr algn="l"/>
                      <a:r>
                        <a:rPr sz="1000" b="0">
                          <a:solidFill>
                            <a:srgbClr val="1C1C1E"/>
                          </a:solidFill>
                          <a:latin typeface="Calibri"/>
                        </a:rPr>
                        <a:t>Fix and retry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artifact_rejected</a:t>
                      </a:r>
                    </a:p>
                  </a:txBody>
                  <a:tcPr marL="82296" marR="64008" marT="32004" marB="32004" anchor="ctr">
                    <a:solidFill>
                      <a:srgbClr val="F6F3EF"/>
                    </a:solidFill>
                  </a:tcPr>
                </a:tc>
                <a:tc>
                  <a:txBody>
                    <a:bodyPr wrap="square"/>
                    <a:lstStyle/>
                    <a:p>
                      <a:pPr algn="l"/>
                      <a:r>
                        <a:rPr sz="1000" b="0">
                          <a:solidFill>
                            <a:srgbClr val="1C1C1E"/>
                          </a:solidFill>
                          <a:latin typeface="Calibri"/>
                        </a:rPr>
                        <a:t>422</a:t>
                      </a:r>
                    </a:p>
                  </a:txBody>
                  <a:tcPr marL="82296" marR="64008" marT="32004" marB="32004" anchor="ctr">
                    <a:solidFill>
                      <a:srgbClr val="F6F3EF"/>
                    </a:solidFill>
                  </a:tcPr>
                </a:tc>
                <a:tc>
                  <a:txBody>
                    <a:bodyPr wrap="square"/>
                    <a:lstStyle/>
                    <a:p>
                      <a:pPr algn="l"/>
                      <a:r>
                        <a:rPr sz="1000" b="0">
                          <a:solidFill>
                            <a:srgbClr val="1C1C1E"/>
                          </a:solidFill>
                          <a:latin typeface="Calibri"/>
                        </a:rPr>
                        <a:t>Scan or format policy refused it</a:t>
                      </a:r>
                    </a:p>
                  </a:txBody>
                  <a:tcPr marL="82296" marR="64008" marT="32004" marB="32004" anchor="ctr">
                    <a:solidFill>
                      <a:srgbClr val="F6F3EF"/>
                    </a:solidFill>
                  </a:tcPr>
                </a:tc>
                <a:tc>
                  <a:txBody>
                    <a:bodyPr wrap="square"/>
                    <a:lstStyle/>
                    <a:p>
                      <a:pPr algn="l"/>
                      <a:r>
                        <a:rPr sz="1000" b="0">
                          <a:solidFill>
                            <a:srgbClr val="1C1C1E"/>
                          </a:solidFill>
                          <a:latin typeface="Calibri"/>
                        </a:rPr>
                        <a:t>Convert format, or request an expiring exception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transition_blocked</a:t>
                      </a:r>
                    </a:p>
                  </a:txBody>
                  <a:tcPr marL="82296" marR="64008" marT="32004" marB="32004" anchor="ctr">
                    <a:solidFill>
                      <a:srgbClr val="FFFFFF"/>
                    </a:solidFill>
                  </a:tcPr>
                </a:tc>
                <a:tc>
                  <a:txBody>
                    <a:bodyPr wrap="square"/>
                    <a:lstStyle/>
                    <a:p>
                      <a:pPr algn="l"/>
                      <a:r>
                        <a:rPr sz="1000" b="0">
                          <a:solidFill>
                            <a:srgbClr val="1C1C1E"/>
                          </a:solidFill>
                          <a:latin typeface="Calibri"/>
                        </a:rPr>
                        <a:t>409</a:t>
                      </a:r>
                    </a:p>
                  </a:txBody>
                  <a:tcPr marL="82296" marR="64008" marT="32004" marB="32004" anchor="ctr">
                    <a:solidFill>
                      <a:srgbClr val="FFFFFF"/>
                    </a:solidFill>
                  </a:tcPr>
                </a:tc>
                <a:tc>
                  <a:txBody>
                    <a:bodyPr wrap="square"/>
                    <a:lstStyle/>
                    <a:p>
                      <a:pPr algn="l"/>
                      <a:r>
                        <a:rPr sz="1000" b="0">
                          <a:solidFill>
                            <a:srgbClr val="1C1C1E"/>
                          </a:solidFill>
                          <a:latin typeface="Calibri"/>
                        </a:rPr>
                        <a:t>Lifecycle guards unmet</a:t>
                      </a:r>
                    </a:p>
                  </a:txBody>
                  <a:tcPr marL="82296" marR="64008" marT="32004" marB="32004" anchor="ctr">
                    <a:solidFill>
                      <a:srgbClr val="FFFFFF"/>
                    </a:solidFill>
                  </a:tcPr>
                </a:tc>
                <a:tc>
                  <a:txBody>
                    <a:bodyPr wrap="square"/>
                    <a:lstStyle/>
                    <a:p>
                      <a:pPr algn="l"/>
                      <a:r>
                        <a:rPr sz="1000" b="0">
                          <a:solidFill>
                            <a:srgbClr val="1C1C1E"/>
                          </a:solidFill>
                          <a:latin typeface="Calibri"/>
                        </a:rPr>
                        <a:t>Follow deny_reason[].remediation_url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policy_denied</a:t>
                      </a:r>
                    </a:p>
                  </a:txBody>
                  <a:tcPr marL="82296" marR="64008" marT="32004" marB="32004" anchor="ctr">
                    <a:solidFill>
                      <a:srgbClr val="F6F3EF"/>
                    </a:solidFill>
                  </a:tcPr>
                </a:tc>
                <a:tc>
                  <a:txBody>
                    <a:bodyPr wrap="square"/>
                    <a:lstStyle/>
                    <a:p>
                      <a:pPr algn="l"/>
                      <a:r>
                        <a:rPr sz="1000" b="0">
                          <a:solidFill>
                            <a:srgbClr val="1C1C1E"/>
                          </a:solidFill>
                          <a:latin typeface="Calibri"/>
                        </a:rPr>
                        <a:t>403</a:t>
                      </a:r>
                    </a:p>
                  </a:txBody>
                  <a:tcPr marL="82296" marR="64008" marT="32004" marB="32004" anchor="ctr">
                    <a:solidFill>
                      <a:srgbClr val="F6F3EF"/>
                    </a:solidFill>
                  </a:tcPr>
                </a:tc>
                <a:tc>
                  <a:txBody>
                    <a:bodyPr wrap="square"/>
                    <a:lstStyle/>
                    <a:p>
                      <a:pPr algn="l"/>
                      <a:r>
                        <a:rPr sz="1000" b="0">
                          <a:solidFill>
                            <a:srgbClr val="1C1C1E"/>
                          </a:solidFill>
                          <a:latin typeface="Calibri"/>
                        </a:rPr>
                        <a:t>A gate refused</a:t>
                      </a:r>
                    </a:p>
                  </a:txBody>
                  <a:tcPr marL="82296" marR="64008" marT="32004" marB="32004" anchor="ctr">
                    <a:solidFill>
                      <a:srgbClr val="F6F3EF"/>
                    </a:solidFill>
                  </a:tcPr>
                </a:tc>
                <a:tc>
                  <a:txBody>
                    <a:bodyPr wrap="square"/>
                    <a:lstStyle/>
                    <a:p>
                      <a:pPr algn="l"/>
                      <a:r>
                        <a:rPr sz="1000" b="0">
                          <a:solidFill>
                            <a:srgbClr val="1C1C1E"/>
                          </a:solidFill>
                          <a:latin typeface="Calibri"/>
                        </a:rPr>
                        <a:t>As above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no_entitlement</a:t>
                      </a:r>
                    </a:p>
                  </a:txBody>
                  <a:tcPr marL="82296" marR="64008" marT="32004" marB="32004" anchor="ctr">
                    <a:solidFill>
                      <a:srgbClr val="FFFFFF"/>
                    </a:solidFill>
                  </a:tcPr>
                </a:tc>
                <a:tc>
                  <a:txBody>
                    <a:bodyPr wrap="square"/>
                    <a:lstStyle/>
                    <a:p>
                      <a:pPr algn="l"/>
                      <a:r>
                        <a:rPr sz="1000" b="0">
                          <a:solidFill>
                            <a:srgbClr val="1C1C1E"/>
                          </a:solidFill>
                          <a:latin typeface="Calibri"/>
                        </a:rPr>
                        <a:t>403</a:t>
                      </a:r>
                    </a:p>
                  </a:txBody>
                  <a:tcPr marL="82296" marR="64008" marT="32004" marB="32004" anchor="ctr">
                    <a:solidFill>
                      <a:srgbClr val="FFFFFF"/>
                    </a:solidFill>
                  </a:tcPr>
                </a:tc>
                <a:tc>
                  <a:txBody>
                    <a:bodyPr wrap="square"/>
                    <a:lstStyle/>
                    <a:p>
                      <a:pPr algn="l"/>
                      <a:r>
                        <a:rPr sz="1000" b="0">
                          <a:solidFill>
                            <a:srgbClr val="1C1C1E"/>
                          </a:solidFill>
                          <a:latin typeface="Calibri"/>
                        </a:rPr>
                        <a:t>No grant for this principal and use</a:t>
                      </a:r>
                    </a:p>
                  </a:txBody>
                  <a:tcPr marL="82296" marR="64008" marT="32004" marB="32004" anchor="ctr">
                    <a:solidFill>
                      <a:srgbClr val="FFFFFF"/>
                    </a:solidFill>
                  </a:tcPr>
                </a:tc>
                <a:tc>
                  <a:txBody>
                    <a:bodyPr wrap="square"/>
                    <a:lstStyle/>
                    <a:p>
                      <a:pPr algn="l"/>
                      <a:r>
                        <a:rPr sz="1000" b="0">
                          <a:solidFill>
                            <a:srgbClr val="1C1C1E"/>
                          </a:solidFill>
                          <a:latin typeface="Calibri"/>
                        </a:rPr>
                        <a:t>Request a grant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use_not_approved</a:t>
                      </a:r>
                    </a:p>
                  </a:txBody>
                  <a:tcPr marL="82296" marR="64008" marT="32004" marB="32004" anchor="ctr">
                    <a:solidFill>
                      <a:srgbClr val="F6F3EF"/>
                    </a:solidFill>
                  </a:tcPr>
                </a:tc>
                <a:tc>
                  <a:txBody>
                    <a:bodyPr wrap="square"/>
                    <a:lstStyle/>
                    <a:p>
                      <a:pPr algn="l"/>
                      <a:r>
                        <a:rPr sz="1000" b="0">
                          <a:solidFill>
                            <a:srgbClr val="1C1C1E"/>
                          </a:solidFill>
                          <a:latin typeface="Calibri"/>
                        </a:rPr>
                        <a:t>403</a:t>
                      </a:r>
                    </a:p>
                  </a:txBody>
                  <a:tcPr marL="82296" marR="64008" marT="32004" marB="32004" anchor="ctr">
                    <a:solidFill>
                      <a:srgbClr val="F6F3EF"/>
                    </a:solidFill>
                  </a:tcPr>
                </a:tc>
                <a:tc>
                  <a:txBody>
                    <a:bodyPr wrap="square"/>
                    <a:lstStyle/>
                    <a:p>
                      <a:pPr algn="l"/>
                      <a:r>
                        <a:rPr sz="1000" b="0">
                          <a:solidFill>
                            <a:srgbClr val="1C1C1E"/>
                          </a:solidFill>
                          <a:latin typeface="Calibri"/>
                        </a:rPr>
                        <a:t>Declared use is not an approved use</a:t>
                      </a:r>
                    </a:p>
                  </a:txBody>
                  <a:tcPr marL="82296" marR="64008" marT="32004" marB="32004" anchor="ctr">
                    <a:solidFill>
                      <a:srgbClr val="F6F3EF"/>
                    </a:solidFill>
                  </a:tcPr>
                </a:tc>
                <a:tc>
                  <a:txBody>
                    <a:bodyPr wrap="square"/>
                    <a:lstStyle/>
                    <a:p>
                      <a:pPr algn="l"/>
                      <a:r>
                        <a:rPr sz="1000" b="0">
                          <a:solidFill>
                            <a:srgbClr val="1C1C1E"/>
                          </a:solidFill>
                          <a:latin typeface="Calibri"/>
                        </a:rPr>
                        <a:t>Seek approval</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restricted</a:t>
                      </a:r>
                    </a:p>
                  </a:txBody>
                  <a:tcPr marL="82296" marR="64008" marT="32004" marB="32004" anchor="ctr">
                    <a:solidFill>
                      <a:srgbClr val="FFFFFF"/>
                    </a:solidFill>
                  </a:tcPr>
                </a:tc>
                <a:tc>
                  <a:txBody>
                    <a:bodyPr wrap="square"/>
                    <a:lstStyle/>
                    <a:p>
                      <a:pPr algn="l"/>
                      <a:r>
                        <a:rPr sz="1000" b="0">
                          <a:solidFill>
                            <a:srgbClr val="1C1C1E"/>
                          </a:solidFill>
                          <a:latin typeface="Calibri"/>
                        </a:rPr>
                        <a:t>423</a:t>
                      </a:r>
                    </a:p>
                  </a:txBody>
                  <a:tcPr marL="82296" marR="64008" marT="32004" marB="32004" anchor="ctr">
                    <a:solidFill>
                      <a:srgbClr val="FFFFFF"/>
                    </a:solidFill>
                  </a:tcPr>
                </a:tc>
                <a:tc>
                  <a:txBody>
                    <a:bodyPr wrap="square"/>
                    <a:lstStyle/>
                    <a:p>
                      <a:pPr algn="l"/>
                      <a:r>
                        <a:rPr sz="1000" b="0">
                          <a:solidFill>
                            <a:srgbClr val="1C1C1E"/>
                          </a:solidFill>
                          <a:latin typeface="Calibri"/>
                        </a:rPr>
                        <a:t>Blocking finding or suspension</a:t>
                      </a:r>
                    </a:p>
                  </a:txBody>
                  <a:tcPr marL="82296" marR="64008" marT="32004" marB="32004" anchor="ctr">
                    <a:solidFill>
                      <a:srgbClr val="FFFFFF"/>
                    </a:solidFill>
                  </a:tcPr>
                </a:tc>
                <a:tc>
                  <a:txBody>
                    <a:bodyPr wrap="square"/>
                    <a:lstStyle/>
                    <a:p>
                      <a:pPr algn="l"/>
                      <a:r>
                        <a:rPr sz="1000" b="0">
                          <a:solidFill>
                            <a:srgbClr val="1C1C1E"/>
                          </a:solidFill>
                          <a:latin typeface="Calibri"/>
                        </a:rPr>
                        <a:t>Remediate, or break-glass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revoked</a:t>
                      </a:r>
                    </a:p>
                  </a:txBody>
                  <a:tcPr marL="82296" marR="64008" marT="32004" marB="32004" anchor="ctr">
                    <a:solidFill>
                      <a:srgbClr val="F6F3EF"/>
                    </a:solidFill>
                  </a:tcPr>
                </a:tc>
                <a:tc>
                  <a:txBody>
                    <a:bodyPr wrap="square"/>
                    <a:lstStyle/>
                    <a:p>
                      <a:pPr algn="l"/>
                      <a:r>
                        <a:rPr sz="1000" b="0">
                          <a:solidFill>
                            <a:srgbClr val="1C1C1E"/>
                          </a:solidFill>
                          <a:latin typeface="Calibri"/>
                        </a:rPr>
                        <a:t>410</a:t>
                      </a:r>
                    </a:p>
                  </a:txBody>
                  <a:tcPr marL="82296" marR="64008" marT="32004" marB="32004" anchor="ctr">
                    <a:solidFill>
                      <a:srgbClr val="F6F3EF"/>
                    </a:solidFill>
                  </a:tcPr>
                </a:tc>
                <a:tc>
                  <a:txBody>
                    <a:bodyPr wrap="square"/>
                    <a:lstStyle/>
                    <a:p>
                      <a:pPr algn="l"/>
                      <a:r>
                        <a:rPr sz="1000" b="0">
                          <a:solidFill>
                            <a:srgbClr val="1C1C1E"/>
                          </a:solidFill>
                          <a:latin typeface="Calibri"/>
                        </a:rPr>
                        <a:t>Hook revoked</a:t>
                      </a:r>
                    </a:p>
                  </a:txBody>
                  <a:tcPr marL="82296" marR="64008" marT="32004" marB="32004" anchor="ctr">
                    <a:solidFill>
                      <a:srgbClr val="F6F3EF"/>
                    </a:solidFill>
                  </a:tcPr>
                </a:tc>
                <a:tc>
                  <a:txBody>
                    <a:bodyPr wrap="square"/>
                    <a:lstStyle/>
                    <a:p>
                      <a:pPr algn="l"/>
                      <a:r>
                        <a:rPr sz="1000" b="0">
                          <a:solidFill>
                            <a:srgbClr val="1C1C1E"/>
                          </a:solidFill>
                          <a:latin typeface="Calibri"/>
                        </a:rPr>
                        <a:t>Stop — do not retry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step_up_required</a:t>
                      </a:r>
                    </a:p>
                  </a:txBody>
                  <a:tcPr marL="82296" marR="64008" marT="32004" marB="32004" anchor="ctr">
                    <a:solidFill>
                      <a:srgbClr val="FFFFFF"/>
                    </a:solidFill>
                  </a:tcPr>
                </a:tc>
                <a:tc>
                  <a:txBody>
                    <a:bodyPr wrap="square"/>
                    <a:lstStyle/>
                    <a:p>
                      <a:pPr algn="l"/>
                      <a:r>
                        <a:rPr sz="1000" b="0">
                          <a:solidFill>
                            <a:srgbClr val="1C1C1E"/>
                          </a:solidFill>
                          <a:latin typeface="Calibri"/>
                        </a:rPr>
                        <a:t>403</a:t>
                      </a:r>
                    </a:p>
                  </a:txBody>
                  <a:tcPr marL="82296" marR="64008" marT="32004" marB="32004" anchor="ctr">
                    <a:solidFill>
                      <a:srgbClr val="FFFFFF"/>
                    </a:solidFill>
                  </a:tcPr>
                </a:tc>
                <a:tc>
                  <a:txBody>
                    <a:bodyPr wrap="square"/>
                    <a:lstStyle/>
                    <a:p>
                      <a:pPr algn="l"/>
                      <a:r>
                        <a:rPr sz="1000" b="0">
                          <a:solidFill>
                            <a:srgbClr val="1C1C1E"/>
                          </a:solidFill>
                          <a:latin typeface="Calibri"/>
                        </a:rPr>
                        <a:t>Re-authentication needed</a:t>
                      </a:r>
                    </a:p>
                  </a:txBody>
                  <a:tcPr marL="82296" marR="64008" marT="32004" marB="32004" anchor="ctr">
                    <a:solidFill>
                      <a:srgbClr val="FFFFFF"/>
                    </a:solidFill>
                  </a:tcPr>
                </a:tc>
                <a:tc>
                  <a:txBody>
                    <a:bodyPr wrap="square"/>
                    <a:lstStyle/>
                    <a:p>
                      <a:pPr algn="l"/>
                      <a:r>
                        <a:rPr sz="1000" b="0">
                          <a:solidFill>
                            <a:srgbClr val="1C1C1E"/>
                          </a:solidFill>
                          <a:latin typeface="Calibri"/>
                        </a:rPr>
                        <a:t>Re-authenticate with intent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precondition_failed</a:t>
                      </a:r>
                    </a:p>
                  </a:txBody>
                  <a:tcPr marL="82296" marR="64008" marT="32004" marB="32004" anchor="ctr">
                    <a:solidFill>
                      <a:srgbClr val="F6F3EF"/>
                    </a:solidFill>
                  </a:tcPr>
                </a:tc>
                <a:tc>
                  <a:txBody>
                    <a:bodyPr wrap="square"/>
                    <a:lstStyle/>
                    <a:p>
                      <a:pPr algn="l"/>
                      <a:r>
                        <a:rPr sz="1000" b="0">
                          <a:solidFill>
                            <a:srgbClr val="1C1C1E"/>
                          </a:solidFill>
                          <a:latin typeface="Calibri"/>
                        </a:rPr>
                        <a:t>412</a:t>
                      </a:r>
                    </a:p>
                  </a:txBody>
                  <a:tcPr marL="82296" marR="64008" marT="32004" marB="32004" anchor="ctr">
                    <a:solidFill>
                      <a:srgbClr val="F6F3EF"/>
                    </a:solidFill>
                  </a:tcPr>
                </a:tc>
                <a:tc>
                  <a:txBody>
                    <a:bodyPr wrap="square"/>
                    <a:lstStyle/>
                    <a:p>
                      <a:pPr algn="l"/>
                      <a:r>
                        <a:rPr sz="1000" b="0">
                          <a:solidFill>
                            <a:srgbClr val="1C1C1E"/>
                          </a:solidFill>
                          <a:latin typeface="Calibri"/>
                        </a:rPr>
                        <a:t>ETag mismatch</a:t>
                      </a:r>
                    </a:p>
                  </a:txBody>
                  <a:tcPr marL="82296" marR="64008" marT="32004" marB="32004" anchor="ctr">
                    <a:solidFill>
                      <a:srgbClr val="F6F3EF"/>
                    </a:solidFill>
                  </a:tcPr>
                </a:tc>
                <a:tc>
                  <a:txBody>
                    <a:bodyPr wrap="square"/>
                    <a:lstStyle/>
                    <a:p>
                      <a:pPr algn="l"/>
                      <a:r>
                        <a:rPr sz="1000" b="0">
                          <a:solidFill>
                            <a:srgbClr val="1C1C1E"/>
                          </a:solidFill>
                          <a:latin typeface="Calibri"/>
                        </a:rPr>
                        <a:t>Refetch, merge, retry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quota_exceeded</a:t>
                      </a:r>
                    </a:p>
                  </a:txBody>
                  <a:tcPr marL="82296" marR="64008" marT="32004" marB="32004" anchor="ctr">
                    <a:solidFill>
                      <a:srgbClr val="FFFFFF"/>
                    </a:solidFill>
                  </a:tcPr>
                </a:tc>
                <a:tc>
                  <a:txBody>
                    <a:bodyPr wrap="square"/>
                    <a:lstStyle/>
                    <a:p>
                      <a:pPr algn="l"/>
                      <a:r>
                        <a:rPr sz="1000" b="0">
                          <a:solidFill>
                            <a:srgbClr val="1C1C1E"/>
                          </a:solidFill>
                          <a:latin typeface="Calibri"/>
                        </a:rPr>
                        <a:t>429</a:t>
                      </a:r>
                    </a:p>
                  </a:txBody>
                  <a:tcPr marL="82296" marR="64008" marT="32004" marB="32004" anchor="ctr">
                    <a:solidFill>
                      <a:srgbClr val="FFFFFF"/>
                    </a:solidFill>
                  </a:tcPr>
                </a:tc>
                <a:tc>
                  <a:txBody>
                    <a:bodyPr wrap="square"/>
                    <a:lstStyle/>
                    <a:p>
                      <a:pPr algn="l"/>
                      <a:r>
                        <a:rPr sz="1000" b="0">
                          <a:solidFill>
                            <a:srgbClr val="1C1C1E"/>
                          </a:solidFill>
                          <a:latin typeface="Calibri"/>
                        </a:rPr>
                        <a:t>Rate, quota or cost budget</a:t>
                      </a:r>
                    </a:p>
                  </a:txBody>
                  <a:tcPr marL="82296" marR="64008" marT="32004" marB="32004" anchor="ctr">
                    <a:solidFill>
                      <a:srgbClr val="FFFFFF"/>
                    </a:solidFill>
                  </a:tcPr>
                </a:tc>
                <a:tc>
                  <a:txBody>
                    <a:bodyPr wrap="square"/>
                    <a:lstStyle/>
                    <a:p>
                      <a:pPr algn="l"/>
                      <a:r>
                        <a:rPr sz="1000" b="0">
                          <a:solidFill>
                            <a:srgbClr val="1C1C1E"/>
                          </a:solidFill>
                          <a:latin typeface="Calibri"/>
                        </a:rPr>
                        <a:t>Back off</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evidence_truncated</a:t>
                      </a:r>
                    </a:p>
                  </a:txBody>
                  <a:tcPr marL="82296" marR="64008" marT="32004" marB="32004" anchor="ctr">
                    <a:solidFill>
                      <a:srgbClr val="F6F3EF"/>
                    </a:solidFill>
                  </a:tcPr>
                </a:tc>
                <a:tc>
                  <a:txBody>
                    <a:bodyPr wrap="square"/>
                    <a:lstStyle/>
                    <a:p>
                      <a:pPr algn="l"/>
                      <a:r>
                        <a:rPr sz="1000" b="0">
                          <a:solidFill>
                            <a:srgbClr val="1C1C1E"/>
                          </a:solidFill>
                          <a:latin typeface="Calibri"/>
                        </a:rPr>
                        <a:t>200 + flag</a:t>
                      </a:r>
                    </a:p>
                  </a:txBody>
                  <a:tcPr marL="82296" marR="64008" marT="32004" marB="32004" anchor="ctr">
                    <a:solidFill>
                      <a:srgbClr val="F6F3EF"/>
                    </a:solidFill>
                  </a:tcPr>
                </a:tc>
                <a:tc>
                  <a:txBody>
                    <a:bodyPr wrap="square"/>
                    <a:lstStyle/>
                    <a:p>
                      <a:pPr algn="l"/>
                      <a:r>
                        <a:rPr sz="1000" b="0">
                          <a:solidFill>
                            <a:srgbClr val="1C1C1E"/>
                          </a:solidFill>
                          <a:latin typeface="Calibri"/>
                        </a:rPr>
                        <a:t>Provenance term cap reached</a:t>
                      </a:r>
                    </a:p>
                  </a:txBody>
                  <a:tcPr marL="82296" marR="64008" marT="32004" marB="32004" anchor="ctr">
                    <a:solidFill>
                      <a:srgbClr val="F6F3EF"/>
                    </a:solidFill>
                  </a:tcPr>
                </a:tc>
                <a:tc>
                  <a:txBody>
                    <a:bodyPr wrap="square"/>
                    <a:lstStyle/>
                    <a:p>
                      <a:pPr algn="l"/>
                      <a:r>
                        <a:rPr sz="1000" b="0">
                          <a:solidFill>
                            <a:srgbClr val="1C1C1E"/>
                          </a:solidFill>
                          <a:latin typeface="Calibri"/>
                        </a:rPr>
                        <a:t>Narrow the query</a:t>
                      </a:r>
                    </a:p>
                  </a:txBody>
                  <a:tcPr marL="82296" marR="64008" marT="32004" marB="32004" anchor="ctr">
                    <a:solidFill>
                      <a:srgbClr val="F6F3EF"/>
                    </a:solidFill>
                  </a:tcPr>
                </a:tc>
              </a:tr>
            </a:tbl>
          </a:graphicData>
        </a:graphic>
      </p:graphicFrame>
      <p:sp>
        <p:nvSpPr>
          <p:cNvPr id="11" name="TextBox 10"/>
          <p:cNvSpPr txBox="1"/>
          <p:nvPr/>
        </p:nvSpPr>
        <p:spPr>
          <a:xfrm>
            <a:off x="777240" y="5702808"/>
            <a:ext cx="10637215" cy="457200"/>
          </a:xfrm>
          <a:prstGeom prst="rect">
            <a:avLst/>
          </a:prstGeom>
          <a:noFill/>
        </p:spPr>
        <p:txBody>
          <a:bodyPr wrap="square" lIns="0" rIns="0" tIns="0" bIns="0" anchor="t">
            <a:spAutoFit/>
          </a:bodyPr>
          <a:lstStyle/>
          <a:p>
            <a:pPr algn="l">
              <a:spcBef>
                <a:spcPts val="0"/>
              </a:spcBef>
              <a:spcAft>
                <a:spcPts val="0"/>
              </a:spcAft>
            </a:pPr>
            <a:r>
              <a:rPr sz="1150" b="0" i="0">
                <a:solidFill>
                  <a:srgbClr val="1C1C1E"/>
                </a:solidFill>
                <a:latin typeface="Calibri"/>
              </a:rPr>
              <a:t>Anything unmapped </a:t>
            </a:r>
            <a:r>
              <a:rPr sz="1150" b="1" i="0">
                <a:solidFill>
                  <a:srgbClr val="1C1C1E"/>
                </a:solidFill>
                <a:latin typeface="Calibri"/>
              </a:rPr>
              <a:t>is logged with a correlation id and returned as internal_error carrying that id</a:t>
            </a:r>
            <a:r>
              <a:rPr sz="1150" b="0" i="0">
                <a:solidFill>
                  <a:srgbClr val="1C1C1E"/>
                </a:solidFill>
                <a:latin typeface="Calibri"/>
              </a:rPr>
              <a:t> — so the user and support are looking at the same event, not two different ones.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SLOs and golden signals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42</a:t>
            </a:r>
          </a:p>
        </p:txBody>
      </p:sp>
      <p:graphicFrame>
        <p:nvGraphicFramePr>
          <p:cNvPr id="10" name="Table 9"/>
          <p:cNvGraphicFramePr>
            <a:graphicFrameLocks noGrp="1"/>
          </p:cNvGraphicFramePr>
          <p:nvPr/>
        </p:nvGraphicFramePr>
        <p:xfrm>
          <a:off x="777240" y="1353312"/>
          <a:ext cx="5318606" cy="2813100"/>
        </p:xfrm>
        <a:graphic>
          <a:graphicData uri="http://schemas.openxmlformats.org/drawingml/2006/table">
            <a:tbl>
              <a:tblPr firstRow="1">
                <a:tableStyleId>{5C22544A-7EE6-4342-B048-85BDC9FD1C3A}</a:tableStyleId>
              </a:tblPr>
              <a:tblGrid>
                <a:gridCol w="2532670"/>
                <a:gridCol w="1350757"/>
                <a:gridCol w="1435179"/>
              </a:tblGrid>
              <a:tr h="333781">
                <a:tc>
                  <a:txBody>
                    <a:bodyPr wrap="square"/>
                    <a:lstStyle/>
                    <a:p>
                      <a:pPr algn="l"/>
                      <a:r>
                        <a:rPr sz="1100" b="1">
                          <a:solidFill>
                            <a:srgbClr val="FFFFFF"/>
                          </a:solidFill>
                          <a:latin typeface="Calibri"/>
                        </a:rPr>
                        <a:t>SLO</a:t>
                      </a:r>
                    </a:p>
                  </a:txBody>
                  <a:tcPr marL="82296" marR="64008" marT="32004" marB="32004" anchor="ctr">
                    <a:solidFill>
                      <a:srgbClr val="A51C30"/>
                    </a:solidFill>
                  </a:tcPr>
                </a:tc>
                <a:tc>
                  <a:txBody>
                    <a:bodyPr wrap="square"/>
                    <a:lstStyle/>
                    <a:p>
                      <a:pPr algn="l"/>
                      <a:r>
                        <a:rPr sz="1100" b="1">
                          <a:solidFill>
                            <a:srgbClr val="FFFFFF"/>
                          </a:solidFill>
                          <a:latin typeface="Calibri"/>
                        </a:rPr>
                        <a:t>Target</a:t>
                      </a:r>
                    </a:p>
                  </a:txBody>
                  <a:tcPr marL="82296" marR="64008" marT="32004" marB="32004" anchor="ctr">
                    <a:solidFill>
                      <a:srgbClr val="A51C30"/>
                    </a:solidFill>
                  </a:tcPr>
                </a:tc>
                <a:tc>
                  <a:txBody>
                    <a:bodyPr wrap="square"/>
                    <a:lstStyle/>
                    <a:p>
                      <a:pPr algn="l"/>
                      <a:r>
                        <a:rPr sz="1100" b="1">
                          <a:solidFill>
                            <a:srgbClr val="FFFFFF"/>
                          </a:solidFill>
                          <a:latin typeface="Calibri"/>
                        </a:rPr>
                        <a:t>Error budget</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Hook resolution availability</a:t>
                      </a:r>
                    </a:p>
                  </a:txBody>
                  <a:tcPr marL="82296" marR="64008" marT="32004" marB="32004" anchor="ctr">
                    <a:solidFill>
                      <a:srgbClr val="FFFFFF"/>
                    </a:solidFill>
                  </a:tcPr>
                </a:tc>
                <a:tc>
                  <a:txBody>
                    <a:bodyPr wrap="square"/>
                    <a:lstStyle/>
                    <a:p>
                      <a:pPr algn="l"/>
                      <a:r>
                        <a:rPr sz="1050" b="0">
                          <a:solidFill>
                            <a:srgbClr val="1C1C1E"/>
                          </a:solidFill>
                          <a:latin typeface="Calibri"/>
                        </a:rPr>
                        <a:t>99.99%</a:t>
                      </a:r>
                    </a:p>
                  </a:txBody>
                  <a:tcPr marL="82296" marR="64008" marT="32004" marB="32004" anchor="ctr">
                    <a:solidFill>
                      <a:srgbClr val="FFFFFF"/>
                    </a:solidFill>
                  </a:tcPr>
                </a:tc>
                <a:tc>
                  <a:txBody>
                    <a:bodyPr wrap="square"/>
                    <a:lstStyle/>
                    <a:p>
                      <a:pPr algn="l"/>
                      <a:r>
                        <a:rPr sz="1050" b="0">
                          <a:solidFill>
                            <a:srgbClr val="1C1C1E"/>
                          </a:solidFill>
                          <a:latin typeface="Calibri"/>
                        </a:rPr>
                        <a:t>4.3 min / month</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Hook resolution p99 (cached)</a:t>
                      </a:r>
                    </a:p>
                  </a:txBody>
                  <a:tcPr marL="82296" marR="64008" marT="32004" marB="32004" anchor="ctr">
                    <a:solidFill>
                      <a:srgbClr val="F6F3EF"/>
                    </a:solidFill>
                  </a:tcPr>
                </a:tc>
                <a:tc>
                  <a:txBody>
                    <a:bodyPr wrap="square"/>
                    <a:lstStyle/>
                    <a:p>
                      <a:pPr algn="l"/>
                      <a:r>
                        <a:rPr sz="1050" b="0">
                          <a:solidFill>
                            <a:srgbClr val="1C1C1E"/>
                          </a:solidFill>
                          <a:latin typeface="Calibri"/>
                        </a:rPr>
                        <a:t>&lt; 50 ms</a:t>
                      </a:r>
                    </a:p>
                  </a:txBody>
                  <a:tcPr marL="82296" marR="64008" marT="32004" marB="32004" anchor="ctr">
                    <a:solidFill>
                      <a:srgbClr val="F6F3EF"/>
                    </a:solidFill>
                  </a:tcPr>
                </a:tc>
                <a:tc>
                  <a:txBody>
                    <a:bodyPr wrap="square"/>
                    <a:lstStyle/>
                    <a:p>
                      <a:pPr algn="l"/>
                      <a:r>
                        <a:rPr sz="1050" b="0">
                          <a:solidFill>
                            <a:srgbClr val="1C1C1E"/>
                          </a:solidFill>
                          <a:latin typeface="Calibri"/>
                        </a:rPr>
                        <a:t>1% of requests</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Control plane availability</a:t>
                      </a:r>
                    </a:p>
                  </a:txBody>
                  <a:tcPr marL="82296" marR="64008" marT="32004" marB="32004" anchor="ctr">
                    <a:solidFill>
                      <a:srgbClr val="FFFFFF"/>
                    </a:solidFill>
                  </a:tcPr>
                </a:tc>
                <a:tc>
                  <a:txBody>
                    <a:bodyPr wrap="square"/>
                    <a:lstStyle/>
                    <a:p>
                      <a:pPr algn="l"/>
                      <a:r>
                        <a:rPr sz="1050" b="0">
                          <a:solidFill>
                            <a:srgbClr val="1C1C1E"/>
                          </a:solidFill>
                          <a:latin typeface="Calibri"/>
                        </a:rPr>
                        <a:t>99.9%</a:t>
                      </a:r>
                    </a:p>
                  </a:txBody>
                  <a:tcPr marL="82296" marR="64008" marT="32004" marB="32004" anchor="ctr">
                    <a:solidFill>
                      <a:srgbClr val="FFFFFF"/>
                    </a:solidFill>
                  </a:tcPr>
                </a:tc>
                <a:tc>
                  <a:txBody>
                    <a:bodyPr wrap="square"/>
                    <a:lstStyle/>
                    <a:p>
                      <a:pPr algn="l"/>
                      <a:r>
                        <a:rPr sz="1050" b="0">
                          <a:solidFill>
                            <a:srgbClr val="1C1C1E"/>
                          </a:solidFill>
                          <a:latin typeface="Calibri"/>
                        </a:rPr>
                        <a:t>43 min / month</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Inventory read p95</a:t>
                      </a:r>
                    </a:p>
                  </a:txBody>
                  <a:tcPr marL="82296" marR="64008" marT="32004" marB="32004" anchor="ctr">
                    <a:solidFill>
                      <a:srgbClr val="F6F3EF"/>
                    </a:solidFill>
                  </a:tcPr>
                </a:tc>
                <a:tc>
                  <a:txBody>
                    <a:bodyPr wrap="square"/>
                    <a:lstStyle/>
                    <a:p>
                      <a:pPr algn="l"/>
                      <a:r>
                        <a:rPr sz="1050" b="0">
                          <a:solidFill>
                            <a:srgbClr val="1C1C1E"/>
                          </a:solidFill>
                          <a:latin typeface="Calibri"/>
                        </a:rPr>
                        <a:t>&lt; 500 ms</a:t>
                      </a:r>
                    </a:p>
                  </a:txBody>
                  <a:tcPr marL="82296" marR="64008" marT="32004" marB="32004" anchor="ctr">
                    <a:solidFill>
                      <a:srgbClr val="F6F3EF"/>
                    </a:solidFill>
                  </a:tcPr>
                </a:tc>
                <a:tc>
                  <a:txBody>
                    <a:bodyPr wrap="square"/>
                    <a:lstStyle/>
                    <a:p>
                      <a:pPr algn="l"/>
                      <a:r>
                        <a:rPr sz="1050" b="0">
                          <a:solidFill>
                            <a:srgbClr val="1C1C1E"/>
                          </a:solidFill>
                          <a:latin typeface="Calibri"/>
                        </a:rPr>
                        <a:t>5%</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Training-set build (1B × 500)</a:t>
                      </a:r>
                    </a:p>
                  </a:txBody>
                  <a:tcPr marL="82296" marR="64008" marT="32004" marB="32004" anchor="ctr">
                    <a:solidFill>
                      <a:srgbClr val="FFFFFF"/>
                    </a:solidFill>
                  </a:tcPr>
                </a:tc>
                <a:tc>
                  <a:txBody>
                    <a:bodyPr wrap="square"/>
                    <a:lstStyle/>
                    <a:p>
                      <a:pPr algn="l"/>
                      <a:r>
                        <a:rPr sz="1050" b="0">
                          <a:solidFill>
                            <a:srgbClr val="1C1C1E"/>
                          </a:solidFill>
                          <a:latin typeface="Calibri"/>
                        </a:rPr>
                        <a:t>&lt; 30 min</a:t>
                      </a:r>
                    </a:p>
                  </a:txBody>
                  <a:tcPr marL="82296" marR="64008" marT="32004" marB="32004" anchor="ctr">
                    <a:solidFill>
                      <a:srgbClr val="FFFFFF"/>
                    </a:solidFill>
                  </a:tcPr>
                </a:tc>
                <a:tc>
                  <a:txBody>
                    <a:bodyPr wrap="square"/>
                    <a:lstStyle/>
                    <a:p>
                      <a:pPr algn="l"/>
                      <a:r>
                        <a:rPr sz="1050" b="0">
                          <a:solidFill>
                            <a:srgbClr val="1C1C1E"/>
                          </a:solidFill>
                          <a:latin typeface="Calibri"/>
                        </a:rPr>
                        <a:t>10%</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Document compile p95</a:t>
                      </a:r>
                    </a:p>
                  </a:txBody>
                  <a:tcPr marL="82296" marR="64008" marT="32004" marB="32004" anchor="ctr">
                    <a:solidFill>
                      <a:srgbClr val="F6F3EF"/>
                    </a:solidFill>
                  </a:tcPr>
                </a:tc>
                <a:tc>
                  <a:txBody>
                    <a:bodyPr wrap="square"/>
                    <a:lstStyle/>
                    <a:p>
                      <a:pPr algn="l"/>
                      <a:r>
                        <a:rPr sz="1050" b="0">
                          <a:solidFill>
                            <a:srgbClr val="1C1C1E"/>
                          </a:solidFill>
                          <a:latin typeface="Calibri"/>
                        </a:rPr>
                        <a:t>&lt; 60 s</a:t>
                      </a:r>
                    </a:p>
                  </a:txBody>
                  <a:tcPr marL="82296" marR="64008" marT="32004" marB="32004" anchor="ctr">
                    <a:solidFill>
                      <a:srgbClr val="F6F3EF"/>
                    </a:solidFill>
                  </a:tcPr>
                </a:tc>
                <a:tc>
                  <a:txBody>
                    <a:bodyPr wrap="square"/>
                    <a:lstStyle/>
                    <a:p>
                      <a:pPr algn="l"/>
                      <a:r>
                        <a:rPr sz="1050" b="0">
                          <a:solidFill>
                            <a:srgbClr val="1C1C1E"/>
                          </a:solidFill>
                          <a:latin typeface="Calibri"/>
                        </a:rPr>
                        <a:t>5%</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Evidence chain verification</a:t>
                      </a:r>
                    </a:p>
                  </a:txBody>
                  <a:tcPr marL="82296" marR="64008" marT="32004" marB="32004" anchor="ctr">
                    <a:solidFill>
                      <a:srgbClr val="FFFFFF"/>
                    </a:solidFill>
                  </a:tcPr>
                </a:tc>
                <a:tc>
                  <a:txBody>
                    <a:bodyPr wrap="square"/>
                    <a:lstStyle/>
                    <a:p>
                      <a:pPr algn="l"/>
                      <a:r>
                        <a:rPr sz="1050" b="0">
                          <a:solidFill>
                            <a:srgbClr val="1C1C1E"/>
                          </a:solidFill>
                          <a:latin typeface="Calibri"/>
                        </a:rPr>
                        <a:t>Daily, zero breaks</a:t>
                      </a:r>
                    </a:p>
                  </a:txBody>
                  <a:tcPr marL="82296" marR="64008" marT="32004" marB="32004" anchor="ctr">
                    <a:solidFill>
                      <a:srgbClr val="FFFFFF"/>
                    </a:solidFill>
                  </a:tcPr>
                </a:tc>
                <a:tc>
                  <a:txBody>
                    <a:bodyPr wrap="square"/>
                    <a:lstStyle/>
                    <a:p>
                      <a:pPr algn="l"/>
                      <a:r>
                        <a:rPr sz="1050" b="0">
                          <a:solidFill>
                            <a:srgbClr val="1C1C1E"/>
                          </a:solidFill>
                          <a:latin typeface="Calibri"/>
                        </a:rPr>
                        <a:t>Zero tolerance</a:t>
                      </a:r>
                    </a:p>
                  </a:txBody>
                  <a:tcPr marL="82296" marR="64008" marT="32004" marB="32004" anchor="ctr">
                    <a:solidFill>
                      <a:srgbClr val="FFFFFF"/>
                    </a:solidFill>
                  </a:tcPr>
                </a:tc>
              </a:tr>
            </a:tbl>
          </a:graphicData>
        </a:graphic>
      </p:graphicFrame>
      <p:sp>
        <p:nvSpPr>
          <p:cNvPr id="11" name="TextBox 10"/>
          <p:cNvSpPr txBox="1"/>
          <p:nvPr/>
        </p:nvSpPr>
        <p:spPr>
          <a:xfrm>
            <a:off x="6521336" y="1353312"/>
            <a:ext cx="4893118"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Golden signals, per component</a:t>
            </a:r>
          </a:p>
        </p:txBody>
      </p:sp>
      <p:sp>
        <p:nvSpPr>
          <p:cNvPr id="12" name="TextBox 11"/>
          <p:cNvSpPr txBox="1"/>
          <p:nvPr/>
        </p:nvSpPr>
        <p:spPr>
          <a:xfrm>
            <a:off x="6521336" y="1737360"/>
            <a:ext cx="4893118" cy="2377440"/>
          </a:xfrm>
          <a:prstGeom prst="rect">
            <a:avLst/>
          </a:prstGeom>
          <a:noFill/>
        </p:spPr>
        <p:txBody>
          <a:bodyPr wrap="square" lIns="0" rIns="0" tIns="0" bIns="0" anchor="t">
            <a:spAutoFit/>
          </a:bodyPr>
          <a:lstStyle/>
          <a:p>
            <a:pPr algn="l"/>
          </a:p>
          <a:p>
            <a:pPr>
              <a:spcBef>
                <a:spcPts val="600"/>
              </a:spcBef>
              <a:spcAft>
                <a:spcPts val="300"/>
              </a:spcAft>
            </a:pPr>
            <a:r>
              <a:rPr sz="1100" b="1">
                <a:solidFill>
                  <a:srgbClr val="A51C30"/>
                </a:solidFill>
                <a:latin typeface="Calibri"/>
              </a:rPr>
              <a:t>▪  </a:t>
            </a:r>
            <a:r>
              <a:rPr sz="1100" b="1">
                <a:solidFill>
                  <a:srgbClr val="1C1C1E"/>
                </a:solidFill>
                <a:latin typeface="Calibri"/>
              </a:rPr>
              <a:t>Hook service</a:t>
            </a:r>
          </a:p>
          <a:p>
            <a:pPr lvl="1">
              <a:spcBef>
                <a:spcPts val="0"/>
              </a:spcBef>
              <a:spcAft>
                <a:spcPts val="0"/>
              </a:spcAft>
            </a:pPr>
            <a:r>
              <a:rPr sz="950">
                <a:solidFill>
                  <a:srgbClr val="4A4F57"/>
                </a:solidFill>
                <a:latin typeface="Calibri"/>
              </a:rPr>
              <a:t>resolutions/s · cache hit ratio · p50/p99 · denial rate · revocation lag · degraded-mode volume</a:t>
            </a:r>
          </a:p>
          <a:p>
            <a:pPr>
              <a:spcBef>
                <a:spcPts val="600"/>
              </a:spcBef>
              <a:spcAft>
                <a:spcPts val="300"/>
              </a:spcAft>
            </a:pPr>
            <a:r>
              <a:rPr sz="1100" b="1">
                <a:solidFill>
                  <a:srgbClr val="A51C30"/>
                </a:solidFill>
                <a:latin typeface="Calibri"/>
              </a:rPr>
              <a:t>▪  </a:t>
            </a:r>
            <a:r>
              <a:rPr sz="1100" b="1">
                <a:solidFill>
                  <a:srgbClr val="1C1C1E"/>
                </a:solidFill>
                <a:latin typeface="Calibri"/>
              </a:rPr>
              <a:t>Control plane</a:t>
            </a:r>
          </a:p>
          <a:p>
            <a:pPr lvl="1">
              <a:spcBef>
                <a:spcPts val="0"/>
              </a:spcBef>
              <a:spcAft>
                <a:spcPts val="0"/>
              </a:spcAft>
            </a:pPr>
            <a:r>
              <a:rPr sz="950">
                <a:solidFill>
                  <a:srgbClr val="4A4F57"/>
                </a:solidFill>
                <a:latin typeface="Calibri"/>
              </a:rPr>
              <a:t>request rate · latency · error rate by taxonomy code · transaction duration · outbox lag</a:t>
            </a:r>
          </a:p>
          <a:p>
            <a:pPr>
              <a:spcBef>
                <a:spcPts val="600"/>
              </a:spcBef>
              <a:spcAft>
                <a:spcPts val="300"/>
              </a:spcAft>
            </a:pPr>
            <a:r>
              <a:rPr sz="1100" b="1">
                <a:solidFill>
                  <a:srgbClr val="A51C30"/>
                </a:solidFill>
                <a:latin typeface="Calibri"/>
              </a:rPr>
              <a:t>▪  </a:t>
            </a:r>
            <a:r>
              <a:rPr sz="1100" b="1">
                <a:solidFill>
                  <a:srgbClr val="1C1C1E"/>
                </a:solidFill>
                <a:latin typeface="Calibri"/>
              </a:rPr>
              <a:t>Workers</a:t>
            </a:r>
          </a:p>
          <a:p>
            <a:pPr lvl="1">
              <a:spcBef>
                <a:spcPts val="0"/>
              </a:spcBef>
              <a:spcAft>
                <a:spcPts val="0"/>
              </a:spcAft>
            </a:pPr>
            <a:r>
              <a:rPr sz="950">
                <a:solidFill>
                  <a:srgbClr val="4A4F57"/>
                </a:solidFill>
                <a:latin typeface="Calibri"/>
              </a:rPr>
              <a:t>queue depth · job duration · retry rate · sandbox failures</a:t>
            </a:r>
          </a:p>
          <a:p>
            <a:pPr>
              <a:spcBef>
                <a:spcPts val="600"/>
              </a:spcBef>
              <a:spcAft>
                <a:spcPts val="300"/>
              </a:spcAft>
            </a:pPr>
            <a:r>
              <a:rPr sz="1100" b="1">
                <a:solidFill>
                  <a:srgbClr val="A51C30"/>
                </a:solidFill>
                <a:latin typeface="Calibri"/>
              </a:rPr>
              <a:t>▪  </a:t>
            </a:r>
            <a:r>
              <a:rPr sz="1100" b="1">
                <a:solidFill>
                  <a:srgbClr val="1C1C1E"/>
                </a:solidFill>
                <a:latin typeface="Calibri"/>
              </a:rPr>
              <a:t>Data plane</a:t>
            </a:r>
          </a:p>
          <a:p>
            <a:pPr lvl="1">
              <a:spcBef>
                <a:spcPts val="0"/>
              </a:spcBef>
              <a:spcAft>
                <a:spcPts val="0"/>
              </a:spcAft>
            </a:pPr>
            <a:r>
              <a:rPr sz="950">
                <a:solidFill>
                  <a:srgbClr val="4A4F57"/>
                </a:solidFill>
                <a:latin typeface="Calibri"/>
              </a:rPr>
              <a:t>job duration · rows processed · small-file count · skew divergence · PIT rejections</a:t>
            </a:r>
          </a:p>
        </p:txBody>
      </p:sp>
      <p:sp>
        <p:nvSpPr>
          <p:cNvPr id="13" name="Rectangle 12"/>
          <p:cNvSpPr/>
          <p:nvPr/>
        </p:nvSpPr>
        <p:spPr>
          <a:xfrm>
            <a:off x="6521336" y="4187952"/>
            <a:ext cx="4893118" cy="777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521336" y="4187952"/>
            <a:ext cx="41148"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759080" y="4306824"/>
            <a:ext cx="4435918" cy="640080"/>
          </a:xfrm>
          <a:prstGeom prst="rect">
            <a:avLst/>
          </a:prstGeom>
          <a:noFill/>
        </p:spPr>
        <p:txBody>
          <a:bodyPr wrap="square" lIns="0" rIns="0" tIns="0" bIns="0" anchor="t">
            <a:spAutoFit/>
          </a:bodyPr>
          <a:lstStyle/>
          <a:p>
            <a:pPr algn="l">
              <a:lnSpc>
                <a:spcPct val="122000"/>
              </a:lnSpc>
              <a:spcBef>
                <a:spcPts val="0"/>
              </a:spcBef>
              <a:spcAft>
                <a:spcPts val="0"/>
              </a:spcAft>
            </a:pPr>
            <a:r>
              <a:rPr sz="1000" b="0" i="0">
                <a:solidFill>
                  <a:srgbClr val="1C1C1E"/>
                </a:solidFill>
                <a:latin typeface="Calibri"/>
              </a:rPr>
              <a:t>Ten runbooks: chain verification failure · outbox lag · stampede · Delta small files · sandbox escape · policy gridlock · revocation failure · base-model drift · key rotation · regional failover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 · SIZING AND ASSURANCE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Capacity and testing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43</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Capacity model</a:t>
            </a:r>
          </a:p>
        </p:txBody>
      </p:sp>
      <p:graphicFrame>
        <p:nvGraphicFramePr>
          <p:cNvPr id="11" name="Table 10"/>
          <p:cNvGraphicFramePr>
            <a:graphicFrameLocks noGrp="1"/>
          </p:cNvGraphicFramePr>
          <p:nvPr/>
        </p:nvGraphicFramePr>
        <p:xfrm>
          <a:off x="777240" y="1719072"/>
          <a:ext cx="4999490" cy="2863088"/>
        </p:xfrm>
        <a:graphic>
          <a:graphicData uri="http://schemas.openxmlformats.org/drawingml/2006/table">
            <a:tbl>
              <a:tblPr firstRow="1">
                <a:tableStyleId>{5C22544A-7EE6-4342-B048-85BDC9FD1C3A}</a:tableStyleId>
              </a:tblPr>
              <a:tblGrid>
                <a:gridCol w="2543600"/>
                <a:gridCol w="1227945"/>
                <a:gridCol w="1227945"/>
              </a:tblGrid>
              <a:tr h="329184">
                <a:tc>
                  <a:txBody>
                    <a:bodyPr wrap="square"/>
                    <a:lstStyle/>
                    <a:p>
                      <a:pPr algn="l"/>
                      <a:r>
                        <a:rPr sz="1000" b="1">
                          <a:solidFill>
                            <a:srgbClr val="FFFFFF"/>
                          </a:solidFill>
                          <a:latin typeface="Calibri"/>
                        </a:rPr>
                        <a:t>Dimension</a:t>
                      </a:r>
                    </a:p>
                  </a:txBody>
                  <a:tcPr marL="82296" marR="64008" marT="32004" marB="32004" anchor="ctr">
                    <a:solidFill>
                      <a:srgbClr val="A51C30"/>
                    </a:solidFill>
                  </a:tcPr>
                </a:tc>
                <a:tc>
                  <a:txBody>
                    <a:bodyPr wrap="square"/>
                    <a:lstStyle/>
                    <a:p>
                      <a:pPr algn="l"/>
                      <a:r>
                        <a:rPr sz="1000" b="1">
                          <a:solidFill>
                            <a:srgbClr val="FFFFFF"/>
                          </a:solidFill>
                          <a:latin typeface="Calibri"/>
                        </a:rPr>
                        <a:t>Year 1</a:t>
                      </a:r>
                    </a:p>
                  </a:txBody>
                  <a:tcPr marL="82296" marR="64008" marT="32004" marB="32004" anchor="ctr">
                    <a:solidFill>
                      <a:srgbClr val="A51C30"/>
                    </a:solidFill>
                  </a:tcPr>
                </a:tc>
                <a:tc>
                  <a:txBody>
                    <a:bodyPr wrap="square"/>
                    <a:lstStyle/>
                    <a:p>
                      <a:pPr algn="l"/>
                      <a:r>
                        <a:rPr sz="1000" b="1">
                          <a:solidFill>
                            <a:srgbClr val="FFFFFF"/>
                          </a:solidFill>
                          <a:latin typeface="Calibri"/>
                        </a:rPr>
                        <a:t>Year 3</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Models</a:t>
                      </a:r>
                    </a:p>
                  </a:txBody>
                  <a:tcPr marL="82296" marR="64008" marT="32004" marB="32004" anchor="ctr">
                    <a:solidFill>
                      <a:srgbClr val="FFFFFF"/>
                    </a:solidFill>
                  </a:tcPr>
                </a:tc>
                <a:tc>
                  <a:txBody>
                    <a:bodyPr wrap="square"/>
                    <a:lstStyle/>
                    <a:p>
                      <a:pPr algn="l"/>
                      <a:r>
                        <a:rPr sz="1000" b="0">
                          <a:solidFill>
                            <a:srgbClr val="1C1C1E"/>
                          </a:solidFill>
                          <a:latin typeface="Calibri"/>
                        </a:rPr>
                        <a:t>1,500</a:t>
                      </a:r>
                    </a:p>
                  </a:txBody>
                  <a:tcPr marL="82296" marR="64008" marT="32004" marB="32004" anchor="ctr">
                    <a:solidFill>
                      <a:srgbClr val="FFFFFF"/>
                    </a:solidFill>
                  </a:tcPr>
                </a:tc>
                <a:tc>
                  <a:txBody>
                    <a:bodyPr wrap="square"/>
                    <a:lstStyle/>
                    <a:p>
                      <a:pPr algn="l"/>
                      <a:r>
                        <a:rPr sz="1000" b="0">
                          <a:solidFill>
                            <a:srgbClr val="1C1C1E"/>
                          </a:solidFill>
                          <a:latin typeface="Calibri"/>
                        </a:rPr>
                        <a:t>5,000</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Versions</a:t>
                      </a:r>
                    </a:p>
                  </a:txBody>
                  <a:tcPr marL="82296" marR="64008" marT="32004" marB="32004" anchor="ctr">
                    <a:solidFill>
                      <a:srgbClr val="F6F3EF"/>
                    </a:solidFill>
                  </a:tcPr>
                </a:tc>
                <a:tc>
                  <a:txBody>
                    <a:bodyPr wrap="square"/>
                    <a:lstStyle/>
                    <a:p>
                      <a:pPr algn="l"/>
                      <a:r>
                        <a:rPr sz="1000" b="0">
                          <a:solidFill>
                            <a:srgbClr val="1C1C1E"/>
                          </a:solidFill>
                          <a:latin typeface="Calibri"/>
                        </a:rPr>
                        <a:t>8,000</a:t>
                      </a:r>
                    </a:p>
                  </a:txBody>
                  <a:tcPr marL="82296" marR="64008" marT="32004" marB="32004" anchor="ctr">
                    <a:solidFill>
                      <a:srgbClr val="F6F3EF"/>
                    </a:solidFill>
                  </a:tcPr>
                </a:tc>
                <a:tc>
                  <a:txBody>
                    <a:bodyPr wrap="square"/>
                    <a:lstStyle/>
                    <a:p>
                      <a:pPr algn="l"/>
                      <a:r>
                        <a:rPr sz="1000" b="0">
                          <a:solidFill>
                            <a:srgbClr val="1C1C1E"/>
                          </a:solidFill>
                          <a:latin typeface="Calibri"/>
                        </a:rPr>
                        <a:t>40,000</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nodes</a:t>
                      </a:r>
                    </a:p>
                  </a:txBody>
                  <a:tcPr marL="82296" marR="64008" marT="32004" marB="32004" anchor="ctr">
                    <a:solidFill>
                      <a:srgbClr val="FFFFFF"/>
                    </a:solidFill>
                  </a:tcPr>
                </a:tc>
                <a:tc>
                  <a:txBody>
                    <a:bodyPr wrap="square"/>
                    <a:lstStyle/>
                    <a:p>
                      <a:pPr algn="l"/>
                      <a:r>
                        <a:rPr sz="1000" b="0">
                          <a:solidFill>
                            <a:srgbClr val="1C1C1E"/>
                          </a:solidFill>
                          <a:latin typeface="Calibri"/>
                        </a:rPr>
                        <a:t>4 M</a:t>
                      </a:r>
                    </a:p>
                  </a:txBody>
                  <a:tcPr marL="82296" marR="64008" marT="32004" marB="32004" anchor="ctr">
                    <a:solidFill>
                      <a:srgbClr val="FFFFFF"/>
                    </a:solidFill>
                  </a:tcPr>
                </a:tc>
                <a:tc>
                  <a:txBody>
                    <a:bodyPr wrap="square"/>
                    <a:lstStyle/>
                    <a:p>
                      <a:pPr algn="l"/>
                      <a:r>
                        <a:rPr sz="1000" b="0">
                          <a:solidFill>
                            <a:srgbClr val="1C1C1E"/>
                          </a:solidFill>
                          <a:latin typeface="Calibri"/>
                        </a:rPr>
                        <a:t>25 M</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Postgres (ex-audit)</a:t>
                      </a:r>
                    </a:p>
                  </a:txBody>
                  <a:tcPr marL="82296" marR="64008" marT="32004" marB="32004" anchor="ctr">
                    <a:solidFill>
                      <a:srgbClr val="F6F3EF"/>
                    </a:solidFill>
                  </a:tcPr>
                </a:tc>
                <a:tc>
                  <a:txBody>
                    <a:bodyPr wrap="square"/>
                    <a:lstStyle/>
                    <a:p>
                      <a:pPr algn="l"/>
                      <a:r>
                        <a:rPr sz="1000" b="0">
                          <a:solidFill>
                            <a:srgbClr val="1C1C1E"/>
                          </a:solidFill>
                          <a:latin typeface="Calibri"/>
                        </a:rPr>
                        <a:t>120 GB</a:t>
                      </a:r>
                    </a:p>
                  </a:txBody>
                  <a:tcPr marL="82296" marR="64008" marT="32004" marB="32004" anchor="ctr">
                    <a:solidFill>
                      <a:srgbClr val="F6F3EF"/>
                    </a:solidFill>
                  </a:tcPr>
                </a:tc>
                <a:tc>
                  <a:txBody>
                    <a:bodyPr wrap="square"/>
                    <a:lstStyle/>
                    <a:p>
                      <a:pPr algn="l"/>
                      <a:r>
                        <a:rPr sz="1000" b="0">
                          <a:solidFill>
                            <a:srgbClr val="1C1C1E"/>
                          </a:solidFill>
                          <a:latin typeface="Calibri"/>
                        </a:rPr>
                        <a:t>600 GB</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Audit rows</a:t>
                      </a:r>
                    </a:p>
                  </a:txBody>
                  <a:tcPr marL="82296" marR="64008" marT="32004" marB="32004" anchor="ctr">
                    <a:solidFill>
                      <a:srgbClr val="FFFFFF"/>
                    </a:solidFill>
                  </a:tcPr>
                </a:tc>
                <a:tc>
                  <a:txBody>
                    <a:bodyPr wrap="square"/>
                    <a:lstStyle/>
                    <a:p>
                      <a:pPr algn="l"/>
                      <a:r>
                        <a:rPr sz="1000" b="0">
                          <a:solidFill>
                            <a:srgbClr val="1C1C1E"/>
                          </a:solidFill>
                          <a:latin typeface="Calibri"/>
                        </a:rPr>
                        <a:t>60 M</a:t>
                      </a:r>
                    </a:p>
                  </a:txBody>
                  <a:tcPr marL="82296" marR="64008" marT="32004" marB="32004" anchor="ctr">
                    <a:solidFill>
                      <a:srgbClr val="FFFFFF"/>
                    </a:solidFill>
                  </a:tcPr>
                </a:tc>
                <a:tc>
                  <a:txBody>
                    <a:bodyPr wrap="square"/>
                    <a:lstStyle/>
                    <a:p>
                      <a:pPr algn="l"/>
                      <a:r>
                        <a:rPr sz="1000" b="0">
                          <a:solidFill>
                            <a:srgbClr val="1C1C1E"/>
                          </a:solidFill>
                          <a:latin typeface="Calibri"/>
                        </a:rPr>
                        <a:t>400 M</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Delta features</a:t>
                      </a:r>
                    </a:p>
                  </a:txBody>
                  <a:tcPr marL="82296" marR="64008" marT="32004" marB="32004" anchor="ctr">
                    <a:solidFill>
                      <a:srgbClr val="F6F3EF"/>
                    </a:solidFill>
                  </a:tcPr>
                </a:tc>
                <a:tc>
                  <a:txBody>
                    <a:bodyPr wrap="square"/>
                    <a:lstStyle/>
                    <a:p>
                      <a:pPr algn="l"/>
                      <a:r>
                        <a:rPr sz="1000" b="0">
                          <a:solidFill>
                            <a:srgbClr val="1C1C1E"/>
                          </a:solidFill>
                          <a:latin typeface="Calibri"/>
                        </a:rPr>
                        <a:t>15 TB</a:t>
                      </a:r>
                    </a:p>
                  </a:txBody>
                  <a:tcPr marL="82296" marR="64008" marT="32004" marB="32004" anchor="ctr">
                    <a:solidFill>
                      <a:srgbClr val="F6F3EF"/>
                    </a:solidFill>
                  </a:tcPr>
                </a:tc>
                <a:tc>
                  <a:txBody>
                    <a:bodyPr wrap="square"/>
                    <a:lstStyle/>
                    <a:p>
                      <a:pPr algn="l"/>
                      <a:r>
                        <a:rPr sz="1000" b="0">
                          <a:solidFill>
                            <a:srgbClr val="1C1C1E"/>
                          </a:solidFill>
                          <a:latin typeface="Calibri"/>
                        </a:rPr>
                        <a:t>80 TB</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Inference log rows</a:t>
                      </a:r>
                    </a:p>
                  </a:txBody>
                  <a:tcPr marL="82296" marR="64008" marT="32004" marB="32004" anchor="ctr">
                    <a:solidFill>
                      <a:srgbClr val="FFFFFF"/>
                    </a:solidFill>
                  </a:tcPr>
                </a:tc>
                <a:tc>
                  <a:txBody>
                    <a:bodyPr wrap="square"/>
                    <a:lstStyle/>
                    <a:p>
                      <a:pPr algn="l"/>
                      <a:r>
                        <a:rPr sz="1000" b="0">
                          <a:solidFill>
                            <a:srgbClr val="1C1C1E"/>
                          </a:solidFill>
                          <a:latin typeface="Calibri"/>
                        </a:rPr>
                        <a:t>8 B</a:t>
                      </a:r>
                    </a:p>
                  </a:txBody>
                  <a:tcPr marL="82296" marR="64008" marT="32004" marB="32004" anchor="ctr">
                    <a:solidFill>
                      <a:srgbClr val="FFFFFF"/>
                    </a:solidFill>
                  </a:tcPr>
                </a:tc>
                <a:tc>
                  <a:txBody>
                    <a:bodyPr wrap="square"/>
                    <a:lstStyle/>
                    <a:p>
                      <a:pPr algn="l"/>
                      <a:r>
                        <a:rPr sz="1000" b="0">
                          <a:solidFill>
                            <a:srgbClr val="1C1C1E"/>
                          </a:solidFill>
                          <a:latin typeface="Calibri"/>
                        </a:rPr>
                        <a:t>60 B</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Hook resolutions, peak</a:t>
                      </a:r>
                    </a:p>
                  </a:txBody>
                  <a:tcPr marL="82296" marR="64008" marT="32004" marB="32004" anchor="ctr">
                    <a:solidFill>
                      <a:srgbClr val="F6F3EF"/>
                    </a:solidFill>
                  </a:tcPr>
                </a:tc>
                <a:tc>
                  <a:txBody>
                    <a:bodyPr wrap="square"/>
                    <a:lstStyle/>
                    <a:p>
                      <a:pPr algn="l"/>
                      <a:r>
                        <a:rPr sz="1000" b="0">
                          <a:solidFill>
                            <a:srgbClr val="1C1C1E"/>
                          </a:solidFill>
                          <a:latin typeface="Calibri"/>
                        </a:rPr>
                        <a:t>400/s</a:t>
                      </a:r>
                    </a:p>
                  </a:txBody>
                  <a:tcPr marL="82296" marR="64008" marT="32004" marB="32004" anchor="ctr">
                    <a:solidFill>
                      <a:srgbClr val="F6F3EF"/>
                    </a:solidFill>
                  </a:tcPr>
                </a:tc>
                <a:tc>
                  <a:txBody>
                    <a:bodyPr wrap="square"/>
                    <a:lstStyle/>
                    <a:p>
                      <a:pPr algn="l"/>
                      <a:r>
                        <a:rPr sz="1000" b="0">
                          <a:solidFill>
                            <a:srgbClr val="1C1C1E"/>
                          </a:solidFill>
                          <a:latin typeface="Calibri"/>
                        </a:rPr>
                        <a:t>2,500/s</a:t>
                      </a:r>
                    </a:p>
                  </a:txBody>
                  <a:tcPr marL="82296" marR="64008" marT="32004" marB="32004" anchor="ctr">
                    <a:solidFill>
                      <a:srgbClr val="F6F3E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Test suites and what each proves</a:t>
            </a:r>
          </a:p>
        </p:txBody>
      </p:sp>
      <p:graphicFrame>
        <p:nvGraphicFramePr>
          <p:cNvPr id="13" name="Table 12"/>
          <p:cNvGraphicFramePr>
            <a:graphicFrameLocks noGrp="1"/>
          </p:cNvGraphicFramePr>
          <p:nvPr/>
        </p:nvGraphicFramePr>
        <p:xfrm>
          <a:off x="6414964" y="1719072"/>
          <a:ext cx="4999490" cy="2949448"/>
        </p:xfrm>
        <a:graphic>
          <a:graphicData uri="http://schemas.openxmlformats.org/drawingml/2006/table">
            <a:tbl>
              <a:tblPr firstRow="1">
                <a:tableStyleId>{5C22544A-7EE6-4342-B048-85BDC9FD1C3A}</a:tableStyleId>
              </a:tblPr>
              <a:tblGrid>
                <a:gridCol w="1551566"/>
                <a:gridCol w="3447924"/>
              </a:tblGrid>
              <a:tr h="329184">
                <a:tc>
                  <a:txBody>
                    <a:bodyPr wrap="square"/>
                    <a:lstStyle/>
                    <a:p>
                      <a:pPr algn="l"/>
                      <a:r>
                        <a:rPr sz="1000" b="1">
                          <a:solidFill>
                            <a:srgbClr val="FFFFFF"/>
                          </a:solidFill>
                          <a:latin typeface="Calibri"/>
                        </a:rPr>
                        <a:t>Suite</a:t>
                      </a:r>
                    </a:p>
                  </a:txBody>
                  <a:tcPr marL="82296" marR="64008" marT="32004" marB="32004" anchor="ctr">
                    <a:solidFill>
                      <a:srgbClr val="A51C30"/>
                    </a:solidFill>
                  </a:tcPr>
                </a:tc>
                <a:tc>
                  <a:txBody>
                    <a:bodyPr wrap="square"/>
                    <a:lstStyle/>
                    <a:p>
                      <a:pPr algn="l"/>
                      <a:r>
                        <a:rPr sz="1000" b="1">
                          <a:solidFill>
                            <a:srgbClr val="FFFFFF"/>
                          </a:solidFill>
                          <a:latin typeface="Calibri"/>
                        </a:rPr>
                        <a:t>Proves</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Unit</a:t>
                      </a:r>
                    </a:p>
                  </a:txBody>
                  <a:tcPr marL="82296" marR="64008" marT="32004" marB="32004" anchor="ctr">
                    <a:solidFill>
                      <a:srgbClr val="FFFFFF"/>
                    </a:solidFill>
                  </a:tcPr>
                </a:tc>
                <a:tc>
                  <a:txBody>
                    <a:bodyPr wrap="square"/>
                    <a:lstStyle/>
                    <a:p>
                      <a:pPr algn="l"/>
                      <a:r>
                        <a:rPr sz="1000" b="0">
                          <a:solidFill>
                            <a:srgbClr val="1C1C1E"/>
                          </a:solidFill>
                          <a:latin typeface="Calibri"/>
                        </a:rPr>
                        <a:t>Domain algebra correctness (≥90% on domain/)</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Laws L-1…L-18</a:t>
                      </a:r>
                    </a:p>
                  </a:txBody>
                  <a:tcPr marL="82296" marR="64008" marT="32004" marB="32004" anchor="ctr">
                    <a:solidFill>
                      <a:srgbClr val="F6F3EF"/>
                    </a:solidFill>
                  </a:tcPr>
                </a:tc>
                <a:tc>
                  <a:txBody>
                    <a:bodyPr wrap="square"/>
                    <a:lstStyle/>
                    <a:p>
                      <a:pPr algn="l"/>
                      <a:r>
                        <a:rPr sz="1000" b="0">
                          <a:solidFill>
                            <a:srgbClr val="1C1C1E"/>
                          </a:solidFill>
                          <a:latin typeface="Calibri"/>
                        </a:rPr>
                        <a:t>The formal properties hold under generated inputs</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Integration</a:t>
                      </a:r>
                    </a:p>
                  </a:txBody>
                  <a:tcPr marL="82296" marR="64008" marT="32004" marB="32004" anchor="ctr">
                    <a:solidFill>
                      <a:srgbClr val="FFFFFF"/>
                    </a:solidFill>
                  </a:tcPr>
                </a:tc>
                <a:tc>
                  <a:txBody>
                    <a:bodyPr wrap="square"/>
                    <a:lstStyle/>
                    <a:p>
                      <a:pPr algn="l"/>
                      <a:r>
                        <a:rPr sz="1000" b="0">
                          <a:solidFill>
                            <a:srgbClr val="1C1C1E"/>
                          </a:solidFill>
                          <a:latin typeface="Calibri"/>
                        </a:rPr>
                        <a:t>Repository and service paths against real infrastructure</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Contract</a:t>
                      </a:r>
                    </a:p>
                  </a:txBody>
                  <a:tcPr marL="82296" marR="64008" marT="32004" marB="32004" anchor="ctr">
                    <a:solidFill>
                      <a:srgbClr val="F6F3EF"/>
                    </a:solidFill>
                  </a:tcPr>
                </a:tc>
                <a:tc>
                  <a:txBody>
                    <a:bodyPr wrap="square"/>
                    <a:lstStyle/>
                    <a:p>
                      <a:pPr algn="l"/>
                      <a:r>
                        <a:rPr sz="1000" b="0">
                          <a:solidFill>
                            <a:srgbClr val="1C1C1E"/>
                          </a:solidFill>
                          <a:latin typeface="Calibri"/>
                        </a:rPr>
                        <a:t>API matches the spec; SDK round-trips</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Adversarial</a:t>
                      </a:r>
                    </a:p>
                  </a:txBody>
                  <a:tcPr marL="82296" marR="64008" marT="32004" marB="32004" anchor="ctr">
                    <a:solidFill>
                      <a:srgbClr val="FFFFFF"/>
                    </a:solidFill>
                  </a:tcPr>
                </a:tc>
                <a:tc>
                  <a:txBody>
                    <a:bodyPr wrap="square"/>
                    <a:lstStyle/>
                    <a:p>
                      <a:pPr algn="l"/>
                      <a:r>
                        <a:rPr sz="1000" b="0">
                          <a:solidFill>
                            <a:srgbClr val="1C1C1E"/>
                          </a:solidFill>
                          <a:latin typeface="Calibri"/>
                        </a:rPr>
                        <a:t>Leakage injection · RLS negative tests · stampede load · malicious artifacts</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Migration</a:t>
                      </a:r>
                    </a:p>
                  </a:txBody>
                  <a:tcPr marL="82296" marR="64008" marT="32004" marB="32004" anchor="ctr">
                    <a:solidFill>
                      <a:srgbClr val="F6F3EF"/>
                    </a:solidFill>
                  </a:tcPr>
                </a:tc>
                <a:tc>
                  <a:txBody>
                    <a:bodyPr wrap="square"/>
                    <a:lstStyle/>
                    <a:p>
                      <a:pPr algn="l"/>
                      <a:r>
                        <a:rPr sz="1000" b="0">
                          <a:solidFill>
                            <a:srgbClr val="1C1C1E"/>
                          </a:solidFill>
                          <a:latin typeface="Calibri"/>
                        </a:rPr>
                        <a:t>Up and down against production-shaped data</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Performance</a:t>
                      </a:r>
                    </a:p>
                  </a:txBody>
                  <a:tcPr marL="82296" marR="64008" marT="32004" marB="32004" anchor="ctr">
                    <a:solidFill>
                      <a:srgbClr val="FFFFFF"/>
                    </a:solidFill>
                  </a:tcPr>
                </a:tc>
                <a:tc>
                  <a:txBody>
                    <a:bodyPr wrap="square"/>
                    <a:lstStyle/>
                    <a:p>
                      <a:pPr algn="l"/>
                      <a:r>
                        <a:rPr sz="1000" b="0">
                          <a:solidFill>
                            <a:srgbClr val="1C1C1E"/>
                          </a:solidFill>
                          <a:latin typeface="Calibri"/>
                        </a:rPr>
                        <a:t>The SLOs, or the build fails</a:t>
                      </a:r>
                    </a:p>
                  </a:txBody>
                  <a:tcPr marL="82296" marR="64008" marT="32004" marB="32004" anchor="ctr">
                    <a:solidFill>
                      <a:srgbClr val="FFFFFF"/>
                    </a:solidFill>
                  </a:tcPr>
                </a:tc>
              </a:tr>
            </a:tbl>
          </a:graphicData>
        </a:graphic>
      </p:graphicFrame>
      <p:sp>
        <p:nvSpPr>
          <p:cNvPr id="14" name="TextBox 13"/>
          <p:cNvSpPr txBox="1"/>
          <p:nvPr/>
        </p:nvSpPr>
        <p:spPr>
          <a:xfrm>
            <a:off x="6414964" y="4187952"/>
            <a:ext cx="4999491" cy="82296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adversarial tests are not optional. </a:t>
            </a:r>
            <a:r>
              <a:rPr sz="1050" b="0" i="0">
                <a:solidFill>
                  <a:srgbClr val="1C1C1E"/>
                </a:solidFill>
                <a:latin typeface="Calibri"/>
              </a:rPr>
              <a:t>A PIT verifier that silently stops detecting leakage, or an RLS policy that silently stops isolating, is a catastrophic invisible regression. Both are tested by injecting the failure they must catch.</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design commits to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44</a:t>
            </a:r>
          </a:p>
        </p:txBody>
      </p:sp>
      <p:sp>
        <p:nvSpPr>
          <p:cNvPr id="10" name="Rectangle 9"/>
          <p:cNvSpPr/>
          <p:nvPr/>
        </p:nvSpPr>
        <p:spPr>
          <a:xfrm>
            <a:off x="777240"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Immutability is enforced, not asserted</a:t>
            </a:r>
          </a:p>
        </p:txBody>
      </p:sp>
      <p:sp>
        <p:nvSpPr>
          <p:cNvPr id="14" name="TextBox 13"/>
          <p:cNvSpPr txBox="1"/>
          <p:nvPr/>
        </p:nvSpPr>
        <p:spPr>
          <a:xfrm>
            <a:off x="996695"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Triggers that raise, append-only database roles, a chain anchored outside the system. Silence is never an acceptable enforcement mechanism.</a:t>
            </a:r>
          </a:p>
        </p:txBody>
      </p:sp>
      <p:sp>
        <p:nvSpPr>
          <p:cNvPr id="15" name="Rectangle 14"/>
          <p:cNvSpPr/>
          <p:nvPr/>
        </p:nvSpPr>
        <p:spPr>
          <a:xfrm>
            <a:off x="4414418"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14418"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33874"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4633874"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Every derived value carries its derivation</a:t>
            </a:r>
          </a:p>
        </p:txBody>
      </p:sp>
      <p:sp>
        <p:nvSpPr>
          <p:cNvPr id="19" name="TextBox 18"/>
          <p:cNvSpPr txBox="1"/>
          <p:nvPr/>
        </p:nvSpPr>
        <p:spPr>
          <a:xfrm>
            <a:off x="4633874"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Tier, status, scope, health — each written with its inputs, rule version and rationale, in the same transaction.</a:t>
            </a:r>
          </a:p>
        </p:txBody>
      </p:sp>
      <p:sp>
        <p:nvSpPr>
          <p:cNvPr id="20" name="Rectangle 19"/>
          <p:cNvSpPr/>
          <p:nvPr/>
        </p:nvSpPr>
        <p:spPr>
          <a:xfrm>
            <a:off x="8051596"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51596"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71052"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8271052" y="1847088"/>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Extension without migration</a:t>
            </a:r>
          </a:p>
        </p:txBody>
      </p:sp>
      <p:sp>
        <p:nvSpPr>
          <p:cNvPr id="24" name="TextBox 23"/>
          <p:cNvSpPr txBox="1"/>
          <p:nvPr/>
        </p:nvSpPr>
        <p:spPr>
          <a:xfrm>
            <a:off x="8271052" y="2157984"/>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Model classes are fibres, regulators are institutions. Nine plugin points. A new kind of model needs no DDL and no front-end release.</a:t>
            </a:r>
          </a:p>
        </p:txBody>
      </p:sp>
      <p:sp>
        <p:nvSpPr>
          <p:cNvPr id="25" name="Rectangle 24"/>
          <p:cNvSpPr/>
          <p:nvPr/>
        </p:nvSpPr>
        <p:spPr>
          <a:xfrm>
            <a:off x="777240"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96695"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Governance is not a single point of failure</a:t>
            </a:r>
          </a:p>
        </p:txBody>
      </p:sp>
      <p:sp>
        <p:nvSpPr>
          <p:cNvPr id="29" name="TextBox 28"/>
          <p:cNvSpPr txBox="1"/>
          <p:nvPr/>
        </p:nvSpPr>
        <p:spPr>
          <a:xfrm>
            <a:off x="996695"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the control plane is down, authorised scoring continues. Only new issuance and changes stop.</a:t>
            </a:r>
          </a:p>
        </p:txBody>
      </p:sp>
      <p:sp>
        <p:nvSpPr>
          <p:cNvPr id="30" name="Rectangle 29"/>
          <p:cNvSpPr/>
          <p:nvPr/>
        </p:nvSpPr>
        <p:spPr>
          <a:xfrm>
            <a:off x="4414418"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4414418"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4633874"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05</a:t>
            </a:r>
          </a:p>
        </p:txBody>
      </p:sp>
      <p:sp>
        <p:nvSpPr>
          <p:cNvPr id="33" name="TextBox 32"/>
          <p:cNvSpPr txBox="1"/>
          <p:nvPr/>
        </p:nvSpPr>
        <p:spPr>
          <a:xfrm>
            <a:off x="4633874"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compliant path is the fast path</a:t>
            </a:r>
          </a:p>
        </p:txBody>
      </p:sp>
      <p:sp>
        <p:nvSpPr>
          <p:cNvPr id="34" name="TextBox 33"/>
          <p:cNvSpPr txBox="1"/>
          <p:nvPr/>
        </p:nvSpPr>
        <p:spPr>
          <a:xfrm>
            <a:off x="4633874"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SDK-first, schema-generated forms, compiled documentation. If governance is slower than the workaround, the inventory rots.</a:t>
            </a:r>
          </a:p>
        </p:txBody>
      </p:sp>
      <p:sp>
        <p:nvSpPr>
          <p:cNvPr id="35" name="Rectangle 34"/>
          <p:cNvSpPr/>
          <p:nvPr/>
        </p:nvSpPr>
        <p:spPr>
          <a:xfrm>
            <a:off x="8051596"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8051596"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8271052"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06</a:t>
            </a:r>
          </a:p>
        </p:txBody>
      </p:sp>
      <p:sp>
        <p:nvSpPr>
          <p:cNvPr id="38" name="TextBox 37"/>
          <p:cNvSpPr txBox="1"/>
          <p:nvPr/>
        </p:nvSpPr>
        <p:spPr>
          <a:xfrm>
            <a:off x="8271052"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theory is tested</a:t>
            </a:r>
          </a:p>
        </p:txBody>
      </p:sp>
      <p:sp>
        <p:nvSpPr>
          <p:cNvPr id="39" name="TextBox 38"/>
          <p:cNvSpPr txBox="1"/>
          <p:nvPr/>
        </p:nvSpPr>
        <p:spPr>
          <a:xfrm>
            <a:off x="8271052"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Eighteen laws as property tests. A failing law fails the build — which is what stops a foundation decaying into decoration.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4" name="Picture 3" descr="maya-mark-white.png"/>
          <p:cNvPicPr>
            <a:picLocks noChangeAspect="1"/>
          </p:cNvPicPr>
          <p:nvPr/>
        </p:nvPicPr>
        <p:blipFill>
          <a:blip r:embed="rId2"/>
          <a:stretch>
            <a:fillRect/>
          </a:stretch>
        </p:blipFill>
        <p:spPr>
          <a:xfrm>
            <a:off x="1124712" y="1481328"/>
            <a:ext cx="841248" cy="841248"/>
          </a:xfrm>
          <a:prstGeom prst="rect">
            <a:avLst/>
          </a:prstGeom>
        </p:spPr>
      </p:pic>
      <p:sp>
        <p:nvSpPr>
          <p:cNvPr id="5" name="TextBox 4"/>
          <p:cNvSpPr txBox="1"/>
          <p:nvPr/>
        </p:nvSpPr>
        <p:spPr>
          <a:xfrm>
            <a:off x="1143000" y="2468880"/>
            <a:ext cx="8722516" cy="1463040"/>
          </a:xfrm>
          <a:prstGeom prst="rect">
            <a:avLst/>
          </a:prstGeom>
          <a:noFill/>
        </p:spPr>
        <p:txBody>
          <a:bodyPr wrap="square" lIns="0" rIns="0" tIns="0" bIns="0" anchor="t">
            <a:spAutoFit/>
          </a:bodyPr>
          <a:lstStyle/>
          <a:p>
            <a:pPr algn="l">
              <a:spcBef>
                <a:spcPts val="0"/>
              </a:spcBef>
              <a:spcAft>
                <a:spcPts val="600"/>
              </a:spcAft>
            </a:pPr>
            <a:r>
              <a:rPr sz="3800" b="0" i="0">
                <a:solidFill>
                  <a:srgbClr val="FFFFFF"/>
                </a:solidFill>
                <a:latin typeface="Georgia"/>
              </a:rPr>
              <a:t>Detailed System Design</a:t>
            </a:r>
          </a:p>
          <a:p>
            <a:pPr>
              <a:spcBef>
                <a:spcPts val="0"/>
              </a:spcBef>
              <a:spcAft>
                <a:spcPts val="800"/>
              </a:spcAft>
            </a:pPr>
            <a:r>
              <a:rPr sz="1700" b="0" i="1">
                <a:solidFill>
                  <a:srgbClr val="F2D8DC"/>
                </a:solidFill>
                <a:latin typeface="Georgia"/>
              </a:rPr>
              <a:t>Evidence, not assertion.</a:t>
            </a:r>
          </a:p>
        </p:txBody>
      </p:sp>
      <p:sp>
        <p:nvSpPr>
          <p:cNvPr id="6" name="Rectangle 5"/>
          <p:cNvSpPr/>
          <p:nvPr/>
        </p:nvSpPr>
        <p:spPr>
          <a:xfrm>
            <a:off x="1143000" y="3675887"/>
            <a:ext cx="146304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143000" y="3931920"/>
            <a:ext cx="7871539" cy="1371600"/>
          </a:xfrm>
          <a:prstGeom prst="rect">
            <a:avLst/>
          </a:prstGeom>
          <a:noFill/>
        </p:spPr>
        <p:txBody>
          <a:bodyPr wrap="square" lIns="0" rIns="0" tIns="0" bIns="0" anchor="t">
            <a:spAutoFit/>
          </a:bodyPr>
          <a:lstStyle/>
          <a:p>
            <a:pPr algn="l">
              <a:spcBef>
                <a:spcPts val="0"/>
              </a:spcBef>
              <a:spcAft>
                <a:spcPts val="400"/>
              </a:spcAft>
            </a:pPr>
            <a:r>
              <a:rPr sz="1800" b="1" i="0">
                <a:solidFill>
                  <a:srgbClr val="FFFFFF"/>
                </a:solidFill>
                <a:latin typeface="Calibri"/>
              </a:rPr>
              <a:t>Ashutosh Sinha</a:t>
            </a:r>
          </a:p>
          <a:p>
            <a:pPr>
              <a:spcBef>
                <a:spcPts val="0"/>
              </a:spcBef>
              <a:spcAft>
                <a:spcPts val="1400"/>
              </a:spcAft>
            </a:pPr>
            <a:r>
              <a:rPr sz="1200" b="0" i="0">
                <a:solidFill>
                  <a:srgbClr val="F2D8DC"/>
                </a:solidFill>
                <a:latin typeface="Calibri"/>
              </a:rPr>
              <a:t>Independent Researcher   ·   ajsinha@gmail.com</a:t>
            </a:r>
          </a:p>
          <a:p>
            <a:pPr>
              <a:lnSpc>
                <a:spcPct val="130000"/>
              </a:lnSpc>
              <a:spcBef>
                <a:spcPts val="0"/>
              </a:spcBef>
              <a:spcAft>
                <a:spcPts val="600"/>
              </a:spcAft>
            </a:pPr>
            <a:r>
              <a:rPr sz="1050" b="0" i="0">
                <a:solidFill>
                  <a:srgbClr val="E8C4CA"/>
                </a:solidFill>
                <a:latin typeface="Calibri"/>
              </a:rPr>
              <a:t>Full document: docs/14-detailed-design.md   ·   Architecture: docs/04-architecture.md   ·   Adversarial review: docs/11-adversarial-review.md</a:t>
            </a:r>
          </a:p>
          <a:p>
            <a:pPr>
              <a:lnSpc>
                <a:spcPct val="125000"/>
              </a:lnSpc>
              <a:spcBef>
                <a:spcPts val="1000"/>
              </a:spcBef>
              <a:spcAft>
                <a:spcPts val="600"/>
              </a:spcAft>
            </a:pPr>
            <a:r>
              <a:rPr sz="850" b="0" i="0">
                <a:solidFill>
                  <a:srgbClr val="D8A0AC"/>
                </a:solidFill>
                <a:latin typeface="Calibri"/>
              </a:rPr>
              <a:t>© 2026 Ashutosh Sinha. All rights reserved. Proprietary and confidential — see LICENSE and NOTICE. Not legal, regulatory or financial advice.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