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120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a:p>
            <a:pPr>
              <a:lnSpc>
                <a:spcPct val="126000"/>
              </a:lnSpc>
              <a:spcBef>
                <a:spcPts val="0"/>
              </a:spcBef>
              <a:spcAft>
                <a:spcPts val="0"/>
              </a:spcAft>
            </a:pPr>
            <a:r>
              <a:rPr sz="1050" b="1" i="0">
                <a:solidFill>
                  <a:srgbClr val="A51C30"/>
                </a:solidFill>
                <a:latin typeface="Calibri"/>
              </a:rPr>
              <a:t>Not built. </a:t>
            </a:r>
            <a:r>
              <a:rPr sz="1050" b="0" i="0">
                <a:solidFill>
                  <a:srgbClr val="1C1C1E"/>
                </a:solidFill>
                <a:latin typeface="Calibri"/>
              </a:rPr>
              <a:t>A model class is a string on the register today; there is no plugin loader and no totality check, so L-15 is stated and not enforced. The extensibility that </a:t>
            </a:r>
            <a:r>
              <a:rPr sz="1050" b="1" i="0">
                <a:solidFill>
                  <a:srgbClr val="1C1C1E"/>
                </a:solidFill>
                <a:latin typeface="Calibri"/>
              </a:rPr>
              <a:t>is</a:t>
            </a:r>
            <a:r>
              <a:rPr sz="1050" b="0" i="0">
                <a:solidFill>
                  <a:srgbClr val="1C1C1E"/>
                </a:solidFill>
                <a:latin typeface="Calibri"/>
              </a:rPr>
              <a:t> built is the warrant grammar's: a new model technology is a new value in one vocabulary, not a new document type.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546350"/>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 not built —</a:t>
                      </a:r>
                    </a:p>
                  </a:txBody>
                  <a:tcPr marL="82296" marR="64008" marT="32004" marB="32004" anchor="ctr">
                    <a:solidFill>
                      <a:srgbClr val="FFFFFF"/>
                    </a:solidFill>
                  </a:tcPr>
                </a:tc>
                <a:tc>
                  <a:txBody>
                    <a:bodyPr wrap="square"/>
                    <a:lstStyle/>
                    <a:p>
                      <a:pPr algn="l"/>
                      <a:r>
                        <a:rPr sz="1000" b="0">
                          <a:solidFill>
                            <a:srgbClr val="1C1C1E"/>
                          </a:solidFill>
                          <a:latin typeface="Calibri"/>
                        </a:rPr>
                        <a:t>ℕ[X], classification, regime admissibility</a:t>
                      </a:r>
                    </a:p>
                  </a:txBody>
                  <a:tcPr marL="82296" marR="64008" marT="32004" marB="32004" anchor="ctr">
                    <a:solidFill>
                      <a:srgbClr val="FFFFFF"/>
                    </a:solidFill>
                  </a:tcPr>
                </a:tc>
              </a:tr>
            </a:tbl>
          </a:graphicData>
        </a:graphic>
      </p:graphicFrame>
      <p:sp>
        <p:nvSpPr>
          <p:cNvPr id="15" name="TextBox 14"/>
          <p:cNvSpPr txBox="1"/>
          <p:nvPr/>
        </p:nvSpPr>
        <p:spPr>
          <a:xfrm>
            <a:off x="7053196" y="4100829"/>
            <a:ext cx="4361258" cy="86868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Without ℕ[X] there is no universal object, </a:t>
            </a:r>
            <a:r>
              <a:rPr sz="1000" b="0" i="0">
                <a:solidFill>
                  <a:srgbClr val="1C1C1E"/>
                </a:solidFill>
                <a:latin typeface="Calibri"/>
              </a:rPr>
              <a:t>so each semiring is its own traversal of the same memoised DAG rather than a homomorphic image of one. Six questions, one implementation — and the honest count.</a:t>
            </a:r>
          </a:p>
        </p:txBody>
      </p:sp>
      <p:sp>
        <p:nvSpPr>
          <p:cNvPr id="16" name="Rectangle 15"/>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51560" y="4748753"/>
            <a:ext cx="10088575" cy="6858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Complexity, stated honestly. </a:t>
            </a:r>
            <a:r>
              <a:rPr sz="110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a:t>
            </a:r>
            <a:r>
              <a:rPr sz="1100" b="1" i="0">
                <a:solidFill>
                  <a:srgbClr val="A51C30"/>
                </a:solidFill>
                <a:latin typeface="Calibri"/>
              </a:rPr>
              <a:t>It marks the answer partial — it does not fall back to a cheaper semiring. The marker is the control.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A rule may name the payload field carrying the identity it is about — a finding is raised against the model, while the act concerns one finding. Without that, raiser ≠ closer was </a:t>
            </a:r>
            <a:r>
              <a:rPr sz="1050" b="1" i="0">
                <a:solidFill>
                  <a:srgbClr val="1C1C1E"/>
                </a:solidFill>
                <a:latin typeface="Calibri"/>
              </a:rPr>
              <a:t>inert over HTTP</a:t>
            </a:r>
            <a:r>
              <a:rPr sz="1050" b="0" i="0">
                <a:solidFill>
                  <a:srgbClr val="4A4F57"/>
                </a:solidFill>
                <a:latin typeface="Calibri"/>
              </a:rPr>
              <a:t>: it searched under the finding's own id, found nothing, and permitted everything.</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TextBox 9"/>
          <p:cNvSpPr txBox="1"/>
          <p:nvPr/>
        </p:nvSpPr>
        <p:spPr>
          <a:xfrm>
            <a:off x="777240" y="1764792"/>
            <a:ext cx="10637215" cy="475488"/>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A gate that cannot change without a release is a gate people work around. A gate that </a:t>
            </a:r>
            <a:r>
              <a:rPr sz="1200" b="1" i="0">
                <a:solidFill>
                  <a:srgbClr val="1C1C1E"/>
                </a:solidFill>
                <a:latin typeface="Calibri"/>
              </a:rPr>
              <a:t>can</a:t>
            </a:r>
            <a:r>
              <a:rPr sz="1200" b="0" i="0">
                <a:solidFill>
                  <a:srgbClr val="1C1C1E"/>
                </a:solidFill>
                <a:latin typeface="Calibri"/>
              </a:rPr>
              <a:t> change without one is a gate that can be </a:t>
            </a:r>
            <a:r>
              <a:rPr sz="1200" b="1" i="0">
                <a:solidFill>
                  <a:srgbClr val="A51C30"/>
                </a:solidFill>
                <a:latin typeface="Calibri"/>
              </a:rPr>
              <a:t>weakened</a:t>
            </a:r>
            <a:r>
              <a:rPr sz="1200" b="0" i="0">
                <a:solidFill>
                  <a:srgbClr val="1C1C1E"/>
                </a:solidFill>
                <a:latin typeface="Calibri"/>
              </a:rPr>
              <a:t> without one, which is worse. Everything here makes the first possible without making the second silent.</a:t>
            </a:r>
          </a:p>
        </p:txBody>
      </p:sp>
      <p:sp>
        <p:nvSpPr>
          <p:cNvPr id="11" name="Rectangle 10"/>
          <p:cNvSpPr/>
          <p:nvPr/>
        </p:nvSpPr>
        <p:spPr>
          <a:xfrm>
            <a:off x="777240" y="2331720"/>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331720"/>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423160"/>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4" name="TextBox 13"/>
          <p:cNvSpPr txBox="1"/>
          <p:nvPr/>
        </p:nvSpPr>
        <p:spPr>
          <a:xfrm>
            <a:off x="978408" y="2724911"/>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5" name="TextBox 14"/>
          <p:cNvSpPr txBox="1"/>
          <p:nvPr/>
        </p:nvSpPr>
        <p:spPr>
          <a:xfrm>
            <a:off x="777240" y="4643688"/>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Rego was the obvious answer and was not taken. </a:t>
            </a:r>
            <a:r>
              <a:rPr sz="1050" b="0" i="0">
                <a:solidFill>
                  <a:srgbClr val="1C1C1E"/>
                </a:solidFill>
                <a:latin typeface="Calibri"/>
              </a:rPr>
              <a:t>A gate written in a general language is a program, and a reviewer signing off a governance control would have to run it to know what it does.</a:t>
            </a:r>
          </a:p>
        </p:txBody>
      </p:sp>
      <p:graphicFrame>
        <p:nvGraphicFramePr>
          <p:cNvPr id="16" name="Table 15"/>
          <p:cNvGraphicFramePr>
            <a:graphicFrameLocks noGrp="1"/>
          </p:cNvGraphicFramePr>
          <p:nvPr/>
        </p:nvGraphicFramePr>
        <p:xfrm>
          <a:off x="6840452" y="2331720"/>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7" name="Rectangle 16"/>
          <p:cNvSpPr/>
          <p:nvPr/>
        </p:nvSpPr>
        <p:spPr>
          <a:xfrm>
            <a:off x="777240" y="5440679"/>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69848" y="5541264"/>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91456"/>
            <a:ext cx="10180015" cy="7315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both. </a:t>
            </a:r>
            <a:r>
              <a:rPr sz="1100" b="0" i="0">
                <a:solidFill>
                  <a:srgbClr val="1C1C1E"/>
                </a:solidFill>
                <a:latin typeface="Calibri"/>
              </a:rPr>
              <a:t>A platform that only compiles cannot hold the paper the quant actually wrote; one that only stores files is a share drive with a database in front. Held apart, the register can say which is which — and </a:t>
            </a:r>
            <a:r>
              <a:rPr sz="1100" b="1" i="0">
                <a:solidFill>
                  <a:srgbClr val="1C1C1E"/>
                </a:solidFill>
                <a:latin typeface="Calibri"/>
              </a:rPr>
              <a:t>a rejected document stays on file with its reason</a:t>
            </a:r>
            <a:r>
              <a:rPr sz="1100" b="0" i="0">
                <a:solidFill>
                  <a:srgbClr val="1C1C1E"/>
                </a:solidFill>
                <a:latin typeface="Calibri"/>
              </a:rPr>
              <a:t>, because the papers that did not pass are the ones a supervisor asks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INGESTION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Telemetry — monitoring's missing half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Monitors could always be evaluated. They had to be </a:t>
            </a:r>
            <a:r>
              <a:rPr sz="1250" b="1" i="0">
                <a:solidFill>
                  <a:srgbClr val="1C1C1E"/>
                </a:solidFill>
                <a:latin typeface="Calibri"/>
              </a:rPr>
              <a:t>handed</a:t>
            </a:r>
            <a:r>
              <a:rPr sz="1250" b="0" i="0">
                <a:solidFill>
                  <a:srgbClr val="1C1C1E"/>
                </a:solidFill>
                <a:latin typeface="Calibri"/>
              </a:rPr>
              <a:t> their rows — which made monitoring something somebody remembered to do, and left the scheduler able only to record that a monitor had stopped.</a:t>
            </a:r>
          </a:p>
        </p:txBody>
      </p:sp>
      <p:sp>
        <p:nvSpPr>
          <p:cNvPr id="11" name="Rectangle 10"/>
          <p:cNvSpPr/>
          <p:nvPr/>
        </p:nvSpPr>
        <p:spPr>
          <a:xfrm>
            <a:off x="777240"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920240"/>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4" name="Rectangle 13"/>
          <p:cNvSpPr/>
          <p:nvPr/>
        </p:nvSpPr>
        <p:spPr>
          <a:xfrm>
            <a:off x="6324447" y="1920240"/>
            <a:ext cx="5090007" cy="10515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324447" y="1920240"/>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562191" y="2048256"/>
            <a:ext cx="4614519" cy="86868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sp>
        <p:nvSpPr>
          <p:cNvPr id="17" name="TextBox 16"/>
          <p:cNvSpPr txBox="1"/>
          <p:nvPr/>
        </p:nvSpPr>
        <p:spPr>
          <a:xfrm>
            <a:off x="777240" y="3090672"/>
            <a:ext cx="10637215" cy="384048"/>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streams, never one. </a:t>
            </a:r>
            <a:r>
              <a:rPr sz="1150" b="0" i="0">
                <a:solidFill>
                  <a:srgbClr val="1C1C1E"/>
                </a:solidFill>
                <a:latin typeface="Calibri"/>
              </a:rPr>
              <a:t>The gap between them is precisely what the delayed-label discipline reasons about, so flattening them would take that reasoning away before it started.</a:t>
            </a:r>
          </a:p>
        </p:txBody>
      </p:sp>
      <p:graphicFrame>
        <p:nvGraphicFramePr>
          <p:cNvPr id="18" name="Table 17"/>
          <p:cNvGraphicFramePr>
            <a:graphicFrameLocks noGrp="1"/>
          </p:cNvGraphicFramePr>
          <p:nvPr/>
        </p:nvGraphicFramePr>
        <p:xfrm>
          <a:off x="777240" y="3547872"/>
          <a:ext cx="10637214" cy="2845562"/>
        </p:xfrm>
        <a:graphic>
          <a:graphicData uri="http://schemas.openxmlformats.org/drawingml/2006/table">
            <a:tbl>
              <a:tblPr firstRow="1">
                <a:tableStyleId>{5C22544A-7EE6-4342-B048-85BDC9FD1C3A}</a:tableStyleId>
              </a:tblPr>
              <a:tblGrid>
                <a:gridCol w="3301204"/>
                <a:gridCol w="7336010"/>
              </a:tblGrid>
              <a:tr h="329184">
                <a:tc>
                  <a:txBody>
                    <a:bodyPr wrap="square"/>
                    <a:lstStyle/>
                    <a:p>
                      <a:pPr algn="l"/>
                      <a:r>
                        <a:rPr sz="1050" b="1">
                          <a:solidFill>
                            <a:srgbClr val="FFFFFF"/>
                          </a:solidFill>
                          <a:latin typeface="Calibri"/>
                        </a:rPr>
                        <a:t>Rule</a:t>
                      </a:r>
                    </a:p>
                  </a:txBody>
                  <a:tcPr marL="82296" marR="64008" marT="32004" marB="32004" anchor="ctr">
                    <a:solidFill>
                      <a:srgbClr val="A51C30"/>
                    </a:solidFill>
                  </a:tcPr>
                </a:tc>
                <a:tc>
                  <a:txBody>
                    <a:bodyPr wrap="square"/>
                    <a:lstStyle/>
                    <a:p>
                      <a:pPr algn="l"/>
                      <a:r>
                        <a:rPr sz="1050" b="1">
                          <a:solidFill>
                            <a:srgbClr val="FFFFFF"/>
                          </a:solidFill>
                          <a:latin typeface="Calibri"/>
                        </a:rPr>
                        <a:t>The failure it prevents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1000" b="0">
                          <a:solidFill>
                            <a:srgbClr val="1C1C1E"/>
                          </a:solidFill>
                          <a:latin typeface="Calibri"/>
                        </a:rPr>
                        <a:t>Real collectors deliver at least once. A monitor that double-counts a redelivered batch reports a population that never existed</a:t>
                      </a:r>
                    </a:p>
                  </a:txBody>
                  <a:tcPr marL="82296" marR="64008" marT="32004" marB="32004" anchor="ctr">
                    <a:solidFill>
                      <a:srgbClr val="FFFFFF"/>
                    </a:solidFill>
                  </a:tcPr>
                </a:tc>
              </a:tr>
              <a:tr h="457200">
                <a:tc>
                  <a:txBody>
                    <a:bodyPr wrap="square"/>
                    <a:lstStyle/>
                    <a:p>
                      <a:pPr algn="l"/>
                      <a:r>
                        <a:rPr sz="100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100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1000" b="0">
                          <a:solidFill>
                            <a:srgbClr val="1C1C1E"/>
                          </a:solidFill>
                          <a:latin typeface="Calibri"/>
                        </a:rPr>
                        <a:t>A statistic that cannot say what population it speaks for</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The join happens at READ time against a stated moment, and unlabelled rows come back unlabelled</a:t>
                      </a:r>
                    </a:p>
                  </a:txBody>
                  <a:tcPr marL="82296" marR="64008" marT="32004" marB="32004" anchor="ctr">
                    <a:solidFill>
                      <a:srgbClr val="F6F3EF"/>
                    </a:solidFill>
                  </a:tcPr>
                </a:tc>
                <a:tc>
                  <a:txBody>
                    <a:bodyPr wrap="square"/>
                    <a:lstStyle/>
                    <a:p>
                      <a:pPr algn="l"/>
                      <a:r>
                        <a:rPr sz="1000" b="0">
                          <a:solidFill>
                            <a:srgbClr val="1C1C1E"/>
                          </a:solidFill>
                          <a:latin typeface="Calibri"/>
                        </a:rPr>
                        <a:t>A cohort that looks complete and is not — the monitor decides maturity per row, and a join that dropped the unlabelled would decide for it</a:t>
                      </a:r>
                    </a:p>
                  </a:txBody>
                  <a:tcPr marL="82296" marR="64008" marT="32004" marB="32004" anchor="ctr">
                    <a:solidFill>
                      <a:srgbClr val="F6F3EF"/>
                    </a:solidFill>
                  </a:tcPr>
                </a:tc>
              </a:tr>
              <a:tr h="457200">
                <a:tc>
                  <a:txBody>
                    <a:bodyPr wrap="square"/>
                    <a:lstStyle/>
                    <a:p>
                      <a:pPr algn="l"/>
                      <a:r>
                        <a:rPr sz="100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1000" b="0">
                          <a:solidFill>
                            <a:srgbClr val="1C1C1E"/>
                          </a:solidFill>
                          <a:latin typeface="Calibri"/>
                        </a:rPr>
                        <a:t>“What is this drifting from” being part of whoever ran it rather than part of the record</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The model </a:t>
            </a:r>
            <a:r>
              <a:rPr sz="1250" b="1" i="0">
                <a:solidFill>
                  <a:srgbClr val="1C1C1E"/>
                </a:solidFill>
                <a:latin typeface="Calibri"/>
              </a:rPr>
              <a:t>record</a:t>
            </a:r>
            <a:r>
              <a:rPr sz="1250" b="0" i="0">
                <a:solidFill>
                  <a:srgbClr val="1C1C1E"/>
                </a:solidFill>
                <a:latin typeface="Calibri"/>
              </a:rPr>
              <a:t> was attested by several people while the </a:t>
            </a:r>
            <a:r>
              <a:rPr sz="1250" b="1" i="0">
                <a:solidFill>
                  <a:srgbClr val="1C1C1E"/>
                </a:solidFill>
                <a:latin typeface="Calibri"/>
              </a:rPr>
              <a:t>version</a:t>
            </a:r>
            <a:r>
              <a:rPr sz="1250" b="0" i="0">
                <a:solidFill>
                  <a:srgbClr val="1C1C1E"/>
                </a:solidFill>
                <a:latin typeface="Calibri"/>
              </a:rPr>
              <a:t> — the thing that actually runs — was approved by one.</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adjunction (L-5) that decides every other control set. Depth of control follows materiality</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would be a way of choosing your own control depth, and it is the obvious way to game a rule like this one</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58893"/>
            <a:ext cx="4542291" cy="1115568"/>
          </a:xfrm>
          <a:prstGeom prst="rect">
            <a:avLst/>
          </a:prstGeom>
          <a:noFill/>
        </p:spPr>
        <p:txBody>
          <a:bodyPr wrap="square" lIns="0" rIns="0" tIns="0" bIns="0" anchor="t">
            <a:spAutoFit/>
          </a:bodyPr>
          <a:lstStyle/>
          <a:p>
            <a:pPr algn="l">
              <a:lnSpc>
                <a:spcPct val="122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a:t>
            </a:r>
            <a:r>
              <a:rPr sz="1050" b="1" i="0">
                <a:solidFill>
                  <a:srgbClr val="1C1C1E"/>
                </a:solidFill>
                <a:latin typeface="Calibri"/>
              </a:rPr>
              <a:t>cannot be a constraint</a:t>
            </a:r>
            <a:r>
              <a:rPr sz="1050" b="0" i="0">
                <a:solidFill>
                  <a:srgbClr val="1C1C1E"/>
                </a:solidFill>
                <a:latin typeface="Calibri"/>
              </a:rPr>
              <a:t> and lives in the service, because it is about people rather than about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Featuresets — X becomes an object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TextBox 9"/>
          <p:cNvSpPr txBox="1"/>
          <p:nvPr/>
        </p:nvSpPr>
        <p:spPr>
          <a:xfrm>
            <a:off x="777240" y="1353312"/>
            <a:ext cx="5956840"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 featureset declares a schema; a version fills it</a:t>
            </a:r>
          </a:p>
        </p:txBody>
      </p:sp>
      <p:sp>
        <p:nvSpPr>
          <p:cNvPr id="11" name="Rectangle 10"/>
          <p:cNvSpPr/>
          <p:nvPr/>
        </p:nvSpPr>
        <p:spPr>
          <a:xfrm>
            <a:off x="777240" y="1737360"/>
            <a:ext cx="5956840"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inflation   slots: {gb_index, us_index, daily_index}</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the model reads daily_index, and always did.</a:t>
            </a:r>
          </a:p>
          <a:p>
            <a:pPr>
              <a:lnSpc>
                <a:spcPct val="134000"/>
              </a:lnSpc>
              <a:spcBef>
                <a:spcPts val="0"/>
              </a:spcBef>
              <a:spcAft>
                <a:spcPts val="0"/>
              </a:spcAft>
            </a:pPr>
            <a:r>
              <a:rPr sz="950" b="0" i="0">
                <a:solidFill>
                  <a:srgbClr val="7A7F87"/>
                </a:solidFill>
                <a:latin typeface="Consolas"/>
              </a:rPr>
              <a:t># a version that CANNOT fill the schema is refused:</a:t>
            </a:r>
          </a:p>
          <a:p>
            <a:pPr>
              <a:lnSpc>
                <a:spcPct val="134000"/>
              </a:lnSpc>
              <a:spcBef>
                <a:spcPts val="0"/>
              </a:spcBef>
              <a:spcAft>
                <a:spcPts val="0"/>
              </a:spcAft>
            </a:pPr>
            <a:r>
              <a:rPr sz="950" b="0" i="0">
                <a:solidFill>
                  <a:srgbClr val="7A7F87"/>
                </a:solidFill>
                <a:latin typeface="Consolas"/>
              </a:rPr>
              <a:t># it is a different set, or it is a model change.</a:t>
            </a:r>
          </a:p>
        </p:txBody>
      </p:sp>
      <p:sp>
        <p:nvSpPr>
          <p:cNvPr id="14" name="TextBox 13"/>
          <p:cNvSpPr txBox="1"/>
          <p:nvPr/>
        </p:nvSpPr>
        <p:spPr>
          <a:xfrm>
            <a:off x="777240" y="3879067"/>
            <a:ext cx="5956840" cy="1645920"/>
          </a:xfrm>
          <a:prstGeom prst="rect">
            <a:avLst/>
          </a:prstGeom>
          <a:noFill/>
        </p:spPr>
        <p:txBody>
          <a:bodyPr wrap="square" lIns="0" rIns="0" tIns="0" bIns="0" anchor="t">
            <a:spAutoFit/>
          </a:bodyPr>
          <a:lstStyle/>
          <a:p>
            <a:pPr algn="l">
              <a:lnSpc>
                <a:spcPct val="124000"/>
              </a:lnSpc>
              <a:spcBef>
                <a:spcPts val="0"/>
              </a:spcBef>
              <a:spcAft>
                <a:spcPts val="600"/>
              </a:spcAft>
            </a:pPr>
            <a:r>
              <a:rPr sz="1050" b="0" i="0">
                <a:solidFill>
                  <a:srgbClr val="4A4F57"/>
                </a:solidFill>
                <a:latin typeface="Calibri"/>
              </a:rPr>
              <a:t>Every slot pins the feature AND the feature view version supplying it. A set that named views without pinning them would resolve to different bytes next month with its digest unchanged — finding C-2, one level out from the view.</a:t>
            </a:r>
          </a:p>
          <a:p>
            <a:pPr>
              <a:lnSpc>
                <a:spcPct val="124000"/>
              </a:lnSpc>
              <a:spcBef>
                <a:spcPts val="0"/>
              </a:spcBef>
              <a:spcAft>
                <a:spcPts val="0"/>
              </a:spcAft>
            </a:pPr>
            <a:r>
              <a:rPr sz="1050" b="0" i="0">
                <a:solidFill>
                  <a:srgbClr val="4A4F57"/>
                </a:solidFill>
                <a:latin typeface="Calibri"/>
              </a:rPr>
              <a:t>The set owns the shape; the warrant owns the window. Otherwise “same features, 2019–23 vs 2020–24” would be two featuresets.</a:t>
            </a:r>
          </a:p>
        </p:txBody>
      </p:sp>
      <p:sp>
        <p:nvSpPr>
          <p:cNvPr id="15" name="TextBox 14"/>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Derived features: Z = f(X, Y)</a:t>
            </a:r>
          </a:p>
        </p:txBody>
      </p:sp>
      <p:graphicFrame>
        <p:nvGraphicFramePr>
          <p:cNvPr id="16" name="Table 15"/>
          <p:cNvGraphicFramePr>
            <a:graphicFrameLocks noGrp="1"/>
          </p:cNvGraphicFramePr>
          <p:nvPr/>
        </p:nvGraphicFramePr>
        <p:xfrm>
          <a:off x="7159569" y="1737360"/>
          <a:ext cx="4254885" cy="2047784"/>
        </p:xfrm>
        <a:graphic>
          <a:graphicData uri="http://schemas.openxmlformats.org/drawingml/2006/table">
            <a:tbl>
              <a:tblPr firstRow="1">
                <a:tableStyleId>{5C22544A-7EE6-4342-B048-85BDC9FD1C3A}</a:tableStyleId>
              </a:tblPr>
              <a:tblGrid>
                <a:gridCol w="1731639"/>
                <a:gridCol w="2523246"/>
              </a:tblGrid>
              <a:tr h="329184">
                <a:tc>
                  <a:txBody>
                    <a:bodyPr wrap="square"/>
                    <a:lstStyle/>
                    <a:p>
                      <a:pPr algn="l"/>
                      <a:r>
                        <a:rPr sz="950" b="1">
                          <a:solidFill>
                            <a:srgbClr val="FFFFFF"/>
                          </a:solidFill>
                          <a:latin typeface="Calibri"/>
                        </a:rPr>
                        <a:t>Rule</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Lineage is transitive</a:t>
                      </a:r>
                    </a:p>
                  </a:txBody>
                  <a:tcPr marL="82296" marR="64008" marT="32004" marB="32004" anchor="ctr">
                    <a:solidFill>
                      <a:srgbClr val="FFFFFF"/>
                    </a:solidFill>
                  </a:tcPr>
                </a:tc>
                <a:tc>
                  <a:txBody>
                    <a:bodyPr wrap="square"/>
                    <a:lstStyle/>
                    <a:p>
                      <a:pPr algn="l"/>
                      <a:r>
                        <a:rPr sz="950" b="0">
                          <a:solidFill>
                            <a:srgbClr val="1C1C1E"/>
                          </a:solidFill>
                          <a:latin typeface="Calibri"/>
                        </a:rPr>
                        <a:t>A primitive retired under something deriving from it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50" b="0">
                          <a:solidFill>
                            <a:srgbClr val="1C1C1E"/>
                          </a:solidFill>
                          <a:latin typeface="Calibri"/>
                        </a:rPr>
                        <a:t>A value appearing knowable before its inputs were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 slot from the label</a:t>
                      </a:r>
                    </a:p>
                  </a:txBody>
                  <a:tcPr marL="82296" marR="64008" marT="32004" marB="32004" anchor="ctr">
                    <a:solidFill>
                      <a:srgbClr val="FFFFFF"/>
                    </a:solidFill>
                  </a:tcPr>
                </a:tc>
                <a:tc>
                  <a:txBody>
                    <a:bodyPr wrap="square"/>
                    <a:lstStyle/>
                    <a:p>
                      <a:pPr algn="l"/>
                      <a:r>
                        <a:rPr sz="950" b="0">
                          <a:solidFill>
                            <a:srgbClr val="1C1C1E"/>
                          </a:solidFill>
                          <a:latin typeface="Calibri"/>
                        </a:rPr>
                        <a:t>Leakage with a division sign in front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50" b="0">
                          <a:solidFill>
                            <a:srgbClr val="1C1C1E"/>
                          </a:solidFill>
                          <a:latin typeface="Calibri"/>
                        </a:rPr>
                        <a:t>Laundering an uncertified input</a:t>
                      </a:r>
                    </a:p>
                  </a:txBody>
                  <a:tcPr marL="82296" marR="64008" marT="32004" marB="32004" anchor="ctr">
                    <a:solidFill>
                      <a:srgbClr val="F6F3EF"/>
                    </a:solidFill>
                  </a:tcPr>
                </a:tc>
              </a:tr>
            </a:tbl>
          </a:graphicData>
        </a:graphic>
      </p:graphicFrame>
      <p:sp>
        <p:nvSpPr>
          <p:cNvPr id="17" name="Rectangle 16"/>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language is small on purpose. </a:t>
            </a:r>
            <a:r>
              <a:rPr sz="1100" b="0" i="0">
                <a:solidFill>
                  <a:srgbClr val="1C1C1E"/>
                </a:solidFill>
                <a:latin typeface="Calibri"/>
              </a:rPr>
              <a:t>Arithmetic, nine total functions, the row’s own clock — whitelisted at the AST, so what cannot be expressed cannot be smuggled in. MAYA transforms features it holds; </a:t>
            </a:r>
            <a:r>
              <a:rPr sz="1100" b="1" i="0">
                <a:solidFill>
                  <a:srgbClr val="1C1C1E"/>
                </a:solidFill>
                <a:latin typeface="Calibri"/>
              </a:rPr>
              <a:t>it does not run models.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parameter object — an inhabitant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Fitting does not change the kernel</a:t>
            </a:r>
          </a:p>
        </p:txBody>
      </p:sp>
      <p:sp>
        <p:nvSpPr>
          <p:cNvPr id="11" name="Rectangle 10"/>
          <p:cNvSpPr/>
          <p:nvPr/>
        </p:nvSpPr>
        <p:spPr>
          <a:xfrm>
            <a:off x="777240" y="1737360"/>
            <a:ext cx="5531351" cy="190396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90396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5165591"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a fit produces a PARAMETER SET,</a:t>
            </a:r>
          </a:p>
          <a:p>
            <a:pPr>
              <a:lnSpc>
                <a:spcPct val="134000"/>
              </a:lnSpc>
              <a:spcBef>
                <a:spcPts val="0"/>
              </a:spcBef>
              <a:spcAft>
                <a:spcPts val="0"/>
              </a:spcAft>
            </a:pPr>
            <a:r>
              <a:rPr sz="950" b="0" i="0">
                <a:solidFill>
                  <a:srgbClr val="1C1C1E"/>
                </a:solidFill>
                <a:latin typeface="Consolas"/>
              </a:rPr>
              <a:t>  not a model version.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warrant(fit)   model_version × featureset@v × window</a:t>
            </a:r>
          </a:p>
          <a:p>
            <a:pPr>
              <a:lnSpc>
                <a:spcPct val="134000"/>
              </a:lnSpc>
              <a:spcBef>
                <a:spcPts val="0"/>
              </a:spcBef>
              <a:spcAft>
                <a:spcPts val="0"/>
              </a:spcAft>
            </a:pPr>
            <a:r>
              <a:rPr sz="950" b="0" i="0">
                <a:solidFill>
                  <a:srgbClr val="1C1C1E"/>
                </a:solidFill>
                <a:latin typeface="Consolas"/>
              </a:rPr>
              <a:t>warrant(score) model_version × parameter_set@v</a:t>
            </a:r>
          </a:p>
        </p:txBody>
      </p:sp>
      <p:sp>
        <p:nvSpPr>
          <p:cNvPr id="14" name="TextBox 13"/>
          <p:cNvSpPr txBox="1"/>
          <p:nvPr/>
        </p:nvSpPr>
        <p:spPr>
          <a:xfrm>
            <a:off x="777240" y="3879067"/>
            <a:ext cx="5531351"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Minting a model version per retrain would make “the model changed” mean two different things. But a parameter set changes behaviour, so it is immutable, versioned, and cannot be run on until somebody other than whoever recorded it has approved — the gate that governs versions, applied to the other half of the pair.</a:t>
            </a:r>
          </a:p>
        </p:txBody>
      </p:sp>
      <p:sp>
        <p:nvSpPr>
          <p:cNvPr id="15" name="TextBox 14"/>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three depths of governance</a:t>
            </a:r>
          </a:p>
        </p:txBody>
      </p:sp>
      <p:graphicFrame>
        <p:nvGraphicFramePr>
          <p:cNvPr id="16" name="Table 15"/>
          <p:cNvGraphicFramePr>
            <a:graphicFrameLocks noGrp="1"/>
          </p:cNvGraphicFramePr>
          <p:nvPr/>
        </p:nvGraphicFramePr>
        <p:xfrm>
          <a:off x="6840452" y="1737360"/>
          <a:ext cx="4574002" cy="1253832"/>
        </p:xfrm>
        <a:graphic>
          <a:graphicData uri="http://schemas.openxmlformats.org/drawingml/2006/table">
            <a:tbl>
              <a:tblPr firstRow="1">
                <a:tableStyleId>{5C22544A-7EE6-4342-B048-85BDC9FD1C3A}</a:tableStyleId>
              </a:tblPr>
              <a:tblGrid>
                <a:gridCol w="1327936"/>
                <a:gridCol w="1918130"/>
                <a:gridCol w="1327936"/>
              </a:tblGrid>
              <a:tr h="329184">
                <a:tc>
                  <a:txBody>
                    <a:bodyPr wrap="square"/>
                    <a:lstStyle/>
                    <a:p>
                      <a:pPr algn="l"/>
                      <a:r>
                        <a:rPr sz="950" b="1">
                          <a:solidFill>
                            <a:srgbClr val="FFFFFF"/>
                          </a:solidFill>
                          <a:latin typeface="Calibri"/>
                        </a:rPr>
                        <a:t>Provenance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7" name="TextBox 16"/>
          <p:cNvSpPr txBox="1"/>
          <p:nvPr/>
        </p:nvSpPr>
        <p:spPr>
          <a:xfrm>
            <a:off x="6840452" y="3136391"/>
            <a:ext cx="4574002" cy="173736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The middle row is why provenance is not cosmetic: a Hull–White model recalibrated every morning would drown the register if each day needed a committee. The bottom row is the model that never trains — a closed form arrives with its parameters, and L-W1 refuses it a fit warrant as a type error.</a:t>
            </a:r>
          </a:p>
        </p:txBody>
      </p:sp>
      <p:sp>
        <p:nvSpPr>
          <p:cNvPr id="18" name="Rectangle 17"/>
          <p:cNvSpPr/>
          <p:nvPr/>
        </p:nvSpPr>
        <p:spPr>
          <a:xfrm>
            <a:off x="777240" y="5029200"/>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029200"/>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138927"/>
            <a:ext cx="10180015" cy="54864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Accepted only against a warrant we issued. </a:t>
            </a:r>
            <a:r>
              <a:rPr sz="1100" b="0" i="0">
                <a:solidFill>
                  <a:srgbClr val="1C1C1E"/>
                </a:solidFill>
                <a:latin typeface="Calibri"/>
              </a:rPr>
              <a:t>No back door. Without it, </a:t>
            </a:r>
            <a:r>
              <a:rPr sz="1100" b="1" i="0">
                <a:solidFill>
                  <a:srgbClr val="1C1C1E"/>
                </a:solidFill>
                <a:latin typeface="Calibri"/>
              </a:rPr>
              <a:t>“which data produced these numbers” has no answer</a:t>
            </a:r>
            <a:r>
              <a:rPr sz="1100" b="0" i="0">
                <a:solidFill>
                  <a:srgbClr val="1C1C1E"/>
                </a:solidFill>
                <a:latin typeface="Calibri"/>
              </a:rPr>
              <a:t>, and the lineage the pinned versions and bitemporal clocks exist to establish stops one step short of the thing it was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17</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python.callable · container · rest · sql · spreadsheet · rules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25000"/>
              </a:lnSpc>
              <a:spcBef>
                <a:spcPts val="0"/>
              </a:spcBef>
              <a:spcAft>
                <a:spcPts val="0"/>
              </a:spcAft>
            </a:pPr>
            <a:r>
              <a:rPr sz="1150" b="0" i="0">
                <a:solidFill>
                  <a:srgbClr val="4A4F57"/>
                </a:solidFill>
                <a:latin typeface="Calibri"/>
              </a:rPr>
              <a:t>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755648"/>
          <a:ext cx="10637214" cy="3966683"/>
        </p:xfrm>
        <a:graphic>
          <a:graphicData uri="http://schemas.openxmlformats.org/drawingml/2006/table">
            <a:tbl>
              <a:tblPr firstRow="1">
                <a:tableStyleId>{5C22544A-7EE6-4342-B048-85BDC9FD1C3A}</a:tableStyleId>
              </a:tblPr>
              <a:tblGrid>
                <a:gridCol w="779451"/>
                <a:gridCol w="2888554"/>
                <a:gridCol w="69692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not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temperature 0.7 is not reproducible, and would be believed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training does not change the kernel, so a run declining to say which inhabitant it runs at produces a number attributable to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featureset read for training,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does not provide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it needs the register, not the document</a:t>
                      </a:r>
                    </a:p>
                  </a:txBody>
                  <a:tcPr marL="82296" marR="64008" marT="32004" marB="32004" anchor="ctr">
                    <a:solidFill>
                      <a:srgbClr val="FFFFFF"/>
                    </a:solidFill>
                  </a:tcPr>
                </a:tc>
              </a:tr>
            </a:tbl>
          </a:graphicData>
        </a:graphic>
      </p:graphicFrame>
      <p:sp>
        <p:nvSpPr>
          <p:cNvPr id="12" name="TextBox 11"/>
          <p:cNvSpPr txBox="1"/>
          <p:nvPr/>
        </p:nvSpPr>
        <p:spPr>
          <a:xfrm>
            <a:off x="777240" y="5777204"/>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950" b="1" i="0">
                <a:solidFill>
                  <a:srgbClr val="A51C30"/>
                </a:solidFill>
                <a:latin typeface="Calibri"/>
              </a:rPr>
              <a:t>Validated before signed, never after. </a:t>
            </a:r>
            <a:r>
              <a:rPr sz="950" b="0" i="0">
                <a:solidFill>
                  <a:srgbClr val="1C1C1E"/>
                </a:solidFill>
                <a:latin typeface="Calibri"/>
              </a:rPr>
              <a:t>A signature over a non-conforming document would assure it is authentic and not that it is usable, and an engine would read it as both. </a:t>
            </a:r>
            <a:r>
              <a:rPr sz="950" b="1" i="0">
                <a:solidFill>
                  <a:srgbClr val="1C1C1E"/>
                </a:solidFill>
                <a:latin typeface="Calibri"/>
              </a:rPr>
              <a:t>L-W8 caught a real error in a shipped example the day it was written.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signature check — HMAC-SHA256 today, Ed25519 the production target</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722903"/>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722903"/>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722903"/>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850919"/>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828800"/>
          </a:xfrm>
          <a:prstGeom prst="rect">
            <a:avLst/>
          </a:prstGeom>
          <a:noFill/>
        </p:spPr>
        <p:txBody>
          <a:bodyPr wrap="square" lIns="0" rIns="0" tIns="0" bIns="0" anchor="t">
            <a:spAutoFit/>
          </a:bodyPr>
          <a:lstStyle/>
          <a:p>
            <a:pPr algn="l"/>
          </a:p>
          <a:p>
            <a:pPr>
              <a:spcBef>
                <a:spcPts val="700"/>
              </a:spcBef>
              <a:spcAft>
                <a:spcPts val="300"/>
              </a:spcAft>
            </a:pPr>
            <a:r>
              <a:rPr sz="1050" b="1">
                <a:solidFill>
                  <a:srgbClr val="A51C30"/>
                </a:solidFill>
                <a:latin typeface="Calibri"/>
              </a:rPr>
              <a:t>▪  </a:t>
            </a:r>
            <a:r>
              <a:rPr sz="1050" b="1">
                <a:solidFill>
                  <a:srgbClr val="1C1C1E"/>
                </a:solidFill>
                <a:latin typeface="Calibri"/>
              </a:rPr>
              <a:t>CONSTRUCT the padded block, never parse what you recover</a:t>
            </a:r>
          </a:p>
          <a:p>
            <a:pPr lvl="1">
              <a:spcBef>
                <a:spcPts val="0"/>
              </a:spcBef>
              <a:spcAft>
                <a:spcPts val="0"/>
              </a:spcAft>
            </a:pPr>
            <a:r>
              <a:rPr sz="950">
                <a:solidFill>
                  <a:srgbClr val="4A4F57"/>
                </a:solidFill>
                <a:latin typeface="Calibri"/>
              </a:rPr>
              <a:t>that is the difference between correct PKCS#1 v1.5 and the Bleichenbacher forgery, which works precisely against verifiers that parse</a:t>
            </a:r>
          </a:p>
          <a:p>
            <a:pPr>
              <a:spcBef>
                <a:spcPts val="700"/>
              </a:spcBef>
              <a:spcAft>
                <a:spcPts val="300"/>
              </a:spcAft>
            </a:pPr>
            <a:r>
              <a:rPr sz="1050" b="1">
                <a:solidFill>
                  <a:srgbClr val="A51C30"/>
                </a:solidFill>
                <a:latin typeface="Calibri"/>
              </a:rPr>
              <a:t>▪  </a:t>
            </a:r>
            <a:r>
              <a:rPr sz="1050" b="1">
                <a:solidFill>
                  <a:srgbClr val="1C1C1E"/>
                </a:solidFill>
                <a:latin typeface="Calibri"/>
              </a:rPr>
              <a:t>Decide the algorithm; do not read alg from the token</a:t>
            </a:r>
          </a:p>
          <a:p>
            <a:pPr lvl="1">
              <a:spcBef>
                <a:spcPts val="0"/>
              </a:spcBef>
              <a:spcAft>
                <a:spcPts val="0"/>
              </a:spcAft>
            </a:pPr>
            <a:r>
              <a:rPr sz="950">
                <a:solidFill>
                  <a:srgbClr val="4A4F57"/>
                </a:solidFill>
                <a:latin typeface="Calibri"/>
              </a:rPr>
              <a:t>the other famous way a JWT is accepted with no signature at all</a:t>
            </a:r>
          </a:p>
          <a:p>
            <a:pPr>
              <a:spcBef>
                <a:spcPts val="700"/>
              </a:spcBef>
              <a:spcAft>
                <a:spcPts val="300"/>
              </a:spcAft>
            </a:pPr>
            <a:r>
              <a:rPr sz="1050" b="1">
                <a:solidFill>
                  <a:srgbClr val="A51C30"/>
                </a:solidFill>
                <a:latin typeface="Calibri"/>
              </a:rPr>
              <a:t>▪  </a:t>
            </a:r>
            <a:r>
              <a:rPr sz="1050" b="1">
                <a:solidFill>
                  <a:srgbClr val="1C1C1E"/>
                </a:solidFill>
                <a:latin typeface="Calibri"/>
              </a:rPr>
              <a:t>No crypto dependency, by design</a:t>
            </a:r>
          </a:p>
          <a:p>
            <a:pPr lvl="1">
              <a:spcBef>
                <a:spcPts val="0"/>
              </a:spcBef>
              <a:spcAft>
                <a:spcPts val="0"/>
              </a:spcAft>
            </a:pPr>
            <a:r>
              <a:rPr sz="950">
                <a:solidFill>
                  <a:srgbClr val="4A4F57"/>
                </a:solidFill>
                <a:latin typeface="Calibri"/>
              </a:rPr>
              <a:t>a governance system that cannot be deployed air-gapped is one somebody works around — the same reason every front-end asset is vendored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3277870"/>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657606">
                <a:tc>
                  <a:txBody>
                    <a:bodyPr wrap="square"/>
                    <a:lstStyle/>
                    <a:p>
                      <a:pPr algn="l"/>
                      <a:r>
                        <a:rPr sz="1000" b="1">
                          <a:solidFill>
                            <a:srgbClr val="A51C30"/>
                          </a:solidFill>
                          <a:latin typeface="Calibri"/>
                        </a:rPr>
                        <a:t>Laws — the executable ones</a:t>
                      </a:r>
                    </a:p>
                  </a:txBody>
                  <a:tcPr marL="82296" marR="64008" marT="32004" marB="32004" anchor="ctr">
                    <a:solidFill>
                      <a:srgbClr val="F6F3EF"/>
                    </a:solidFill>
                  </a:tcPr>
                </a:tc>
                <a:tc>
                  <a:txBody>
                    <a:bodyPr wrap="square"/>
                    <a:lstStyle/>
                    <a:p>
                      <a:pPr algn="l"/>
                      <a:r>
                        <a:rPr sz="1000" b="0">
                          <a:solidFill>
                            <a:srgbClr val="1C1C1E"/>
                          </a:solidFill>
                          <a:latin typeface="Calibri"/>
                        </a:rPr>
                        <a:t>L-4, L-5, L-7, L-12, L-18, L-19 and the eleven warrant laws. The rest are stated and not yet executable, and 00 §12 says which</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517982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9</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10</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11</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12</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The parameter kind, the source binding, the runtime — not a category anybody attached to the model. L-W12 is the clearest case: it bites hardest on a neural network and is deliberately not written in terms of the class, because a PMML scorecard is T3 and carries exactly the same exposure. Keying it on the trainability class would have missed that, and the miss would have looked like coverage.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304961"/>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warrant:resolve policy gate</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per principal and per use, never inherited</a:t>
                      </a:r>
                    </a:p>
                  </a:txBody>
                  <a:tcPr marL="82296" marR="64008" marT="32004" marB="32004" anchor="ctr">
                    <a:solidFill>
                      <a:srgbClr val="FFFFFF"/>
                    </a:solidFill>
                  </a:tcPr>
                </a:tc>
              </a:tr>
            </a:tbl>
          </a:graphicData>
        </a:graphic>
      </p:graphicFrame>
      <p:sp>
        <p:nvSpPr>
          <p:cNvPr id="23" name="Rectangle 22"/>
          <p:cNvSpPr/>
          <p:nvPr/>
        </p:nvSpPr>
        <p:spPr>
          <a:xfrm>
            <a:off x="777240" y="4706531"/>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706531"/>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4825403"/>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TTL and binding kind are refused AT CREATION. </a:t>
            </a:r>
            <a:r>
              <a:rPr sz="1050" b="0" i="0">
                <a:solidFill>
                  <a:srgbClr val="1C1C1E"/>
                </a:solidFill>
                <a:latin typeface="Calibri"/>
              </a:rPr>
              <a:t>Not defended at use — a check performed when the profile is written is one nobody can forget to perform later, and the refusal points at the policy gate that can hold an obligation. A template able to widen authority is an authority mechanism wearing a convenience mechanism's clothes.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13</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15</a:t>
            </a:r>
          </a:p>
        </p:txBody>
      </p:sp>
      <p:sp>
        <p:nvSpPr>
          <p:cNvPr id="5" name="TextBox 4"/>
          <p:cNvSpPr txBox="1"/>
          <p:nvPr/>
        </p:nvSpPr>
        <p:spPr>
          <a:xfrm>
            <a:off x="1005840" y="2346350"/>
            <a:ext cx="6169584" cy="1188720"/>
          </a:xfrm>
          <a:prstGeom prst="rect">
            <a:avLst/>
          </a:prstGeom>
          <a:noFill/>
        </p:spPr>
        <p:txBody>
          <a:bodyPr wrap="square" lIns="0" rIns="0" tIns="0" bIns="0" anchor="t">
            <a:spAutoFit/>
          </a:bodyPr>
          <a:lstStyle/>
          <a:p>
            <a:pPr algn="l">
              <a:spcBef>
                <a:spcPts val="0"/>
              </a:spcBef>
              <a:spcAft>
                <a:spcPts val="0"/>
              </a:spcAft>
            </a:pPr>
            <a:r>
              <a:rPr sz="4400" b="0" i="0">
                <a:solidFill>
                  <a:srgbClr val="FFFFFF"/>
                </a:solidFill>
                <a:latin typeface="Georgia"/>
              </a:rPr>
              <a:t>Every Kind of Model</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Seven shapes, one definition — and how each is saved, managed and served.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matrix, on one page</a:t>
            </a:r>
          </a:p>
          <a:p>
            <a:pPr>
              <a:lnSpc>
                <a:spcPct val="115000"/>
              </a:lnSpc>
              <a:spcBef>
                <a:spcPts val="0"/>
              </a:spcBef>
              <a:spcAft>
                <a:spcPts val="700"/>
              </a:spcAft>
            </a:pPr>
            <a:r>
              <a:rPr sz="1150" b="0" i="0">
                <a:solidFill>
                  <a:srgbClr val="F6E6E9"/>
                </a:solidFill>
                <a:latin typeface="Calibri"/>
              </a:rPr>
              <a:t>Regression, GARCH, closed-form</a:t>
            </a:r>
          </a:p>
          <a:p>
            <a:pPr>
              <a:lnSpc>
                <a:spcPct val="115000"/>
              </a:lnSpc>
              <a:spcBef>
                <a:spcPts val="0"/>
              </a:spcBef>
              <a:spcAft>
                <a:spcPts val="700"/>
              </a:spcAft>
            </a:pPr>
            <a:r>
              <a:rPr sz="1150" b="0" i="0">
                <a:solidFill>
                  <a:srgbClr val="F6E6E9"/>
                </a:solidFill>
                <a:latin typeface="Calibri"/>
              </a:rPr>
              <a:t>Calibration and simulation</a:t>
            </a:r>
          </a:p>
          <a:p>
            <a:pPr>
              <a:lnSpc>
                <a:spcPct val="115000"/>
              </a:lnSpc>
              <a:spcBef>
                <a:spcPts val="0"/>
              </a:spcBef>
              <a:spcAft>
                <a:spcPts val="700"/>
              </a:spcAft>
            </a:pPr>
            <a:r>
              <a:rPr sz="1150" b="0" i="0">
                <a:solidFill>
                  <a:srgbClr val="F6E6E9"/>
                </a:solidFill>
                <a:latin typeface="Calibri"/>
              </a:rPr>
              <a:t>Neural networks and LLMs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2" cy="2794912"/>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T3</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T4</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6F3E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6F3EF"/>
                    </a:solidFill>
                  </a:tcPr>
                </a:tc>
                <a:tc>
                  <a:txBody>
                    <a:bodyPr wrap="square"/>
                    <a:lstStyle/>
                    <a:p>
                      <a:pPr algn="l"/>
                      <a:r>
                        <a:rPr sz="950" b="0">
                          <a:solidFill>
                            <a:srgbClr val="1C1C1E"/>
                          </a:solidFill>
                          <a:latin typeface="Calibri"/>
                        </a:rPr>
                        <a:t>opaque</a:t>
                      </a:r>
                    </a:p>
                  </a:txBody>
                  <a:tcPr marL="82296" marR="64008" marT="32004" marB="32004" anchor="ctr">
                    <a:solidFill>
                      <a:srgbClr val="F6F3EF"/>
                    </a:solidFill>
                  </a:tcPr>
                </a:tc>
                <a:tc>
                  <a:txBody>
                    <a:bodyPr wrap="square"/>
                    <a:lstStyle/>
                    <a:p>
                      <a:pPr algn="l"/>
                      <a:r>
                        <a:rPr sz="950" b="0">
                          <a:solidFill>
                            <a:srgbClr val="1C1C1E"/>
                          </a:solidFill>
                          <a:latin typeface="Calibri"/>
                        </a:rPr>
                        <a:t>none</a:t>
                      </a:r>
                    </a:p>
                  </a:txBody>
                  <a:tcPr marL="82296" marR="64008" marT="32004" marB="32004" anchor="ctr">
                    <a:solidFill>
                      <a:srgbClr val="F6F3EF"/>
                    </a:solidFill>
                  </a:tcPr>
                </a:tc>
                <a:tc>
                  <a:txBody>
                    <a:bodyPr wrap="square"/>
                    <a:lstStyle/>
                    <a:p>
                      <a:pPr algn="l"/>
                      <a:r>
                        <a:rPr sz="950" b="0">
                          <a:solidFill>
                            <a:srgbClr val="1C1C1E"/>
                          </a:solidFill>
                          <a:latin typeface="Calibri"/>
                        </a:rPr>
                        <a:t>T6</a:t>
                      </a:r>
                    </a:p>
                  </a:txBody>
                  <a:tcPr marL="82296" marR="64008" marT="32004" marB="32004" anchor="ctr">
                    <a:solidFill>
                      <a:srgbClr val="F6F3EF"/>
                    </a:solidFill>
                  </a:tcPr>
                </a:tc>
              </a:tr>
            </a:tbl>
          </a:graphicData>
        </a:graphic>
      </p:graphicFrame>
      <p:sp>
        <p:nvSpPr>
          <p:cNvPr id="11" name="Rectangle 10"/>
          <p:cNvSpPr/>
          <p:nvPr/>
        </p:nvSpPr>
        <p:spPr>
          <a:xfrm>
            <a:off x="777240" y="4404258"/>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04258"/>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23130"/>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graphicFrame>
        <p:nvGraphicFramePr>
          <p:cNvPr id="10" name="Table 9"/>
          <p:cNvGraphicFramePr>
            <a:graphicFrameLocks noGrp="1"/>
          </p:cNvGraphicFramePr>
          <p:nvPr/>
        </p:nvGraphicFramePr>
        <p:xfrm>
          <a:off x="777240" y="1353312"/>
          <a:ext cx="10637213" cy="2107438"/>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6F3EF"/>
                    </a:solidFill>
                  </a:tcPr>
                </a:tc>
                <a:tc>
                  <a:txBody>
                    <a:bodyPr wrap="square"/>
                    <a:lstStyle/>
                    <a:p>
                      <a:pPr algn="l"/>
                      <a:r>
                        <a:rPr sz="1000" b="0">
                          <a:solidFill>
                            <a:srgbClr val="1C1C1E"/>
                          </a:solidFill>
                          <a:latin typeface="Calibri"/>
                        </a:rPr>
                        <a:t>zero</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6F3E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6F3EF"/>
                    </a:solidFill>
                  </a:tcPr>
                </a:tc>
              </a:tr>
            </a:tbl>
          </a:graphicData>
        </a:graphic>
      </p:graphicFrame>
      <p:sp>
        <p:nvSpPr>
          <p:cNvPr id="11" name="Rectangle 10"/>
          <p:cNvSpPr/>
          <p:nvPr/>
        </p:nvSpPr>
        <p:spPr>
          <a:xfrm>
            <a:off x="777240" y="373507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3507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53942"/>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Linear regression - the ordinary case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ordinary least squares</a:t>
                      </a:r>
                    </a:p>
                  </a:txBody>
                  <a:tcPr marL="82296" marR="64008" marT="32004" marB="32004" anchor="ctr">
                    <a:solidFill>
                      <a:srgbClr val="F6F3EF"/>
                    </a:solidFill>
                  </a:tcPr>
                </a:tc>
                <a:tc>
                  <a:txBody>
                    <a:bodyPr wrap="square"/>
                    <a:lstStyle/>
                    <a:p>
                      <a:pPr algn="l"/>
                      <a:r>
                        <a:rPr sz="1000" b="0">
                          <a:solidFill>
                            <a:srgbClr val="1C1C1E"/>
                          </a:solidFill>
                          <a:latin typeface="Calibri"/>
                        </a:rPr>
                        <a:t>MAYA's own estimator runtime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ols</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target and regressors</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digested</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coefficients are rows. The digest is re-derived from the values at resolve time, never compared against a stored copy of itself.</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Reviewed one by one</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Each parameter set is approved by somebody who did not record it. The condition number is read before the R-squared.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Warrant names the set</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134863"/>
            <a:ext cx="10637215" cy="61981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61981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40035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condition number first. </a:t>
            </a:r>
            <a:r>
              <a:rPr sz="1050" b="0" i="0">
                <a:solidFill>
                  <a:srgbClr val="1C1C1E"/>
                </a:solidFill>
                <a:latin typeface="Calibri"/>
              </a:rPr>
              <a:t>In the thousands, the coefficients are a solution to this sample rather than a property of the world. MAYA does not decide whether a fit is any good -- it puts the number in front of somebody who can, and records that they looked.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GARCH and ARIMA - an iterative fit, and state at scoring time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maximum likelihood, iteratively</a:t>
                      </a:r>
                    </a:p>
                  </a:txBody>
                  <a:tcPr marL="82296" marR="64008" marT="32004" marB="32004" anchor="ctr">
                    <a:solidFill>
                      <a:srgbClr val="F6F3EF"/>
                    </a:solidFill>
                  </a:tcPr>
                </a:tc>
                <a:tc>
                  <a:txBody>
                    <a:bodyPr wrap="square"/>
                    <a:lstStyle/>
                    <a:p>
                      <a:pPr algn="l"/>
                      <a:r>
                        <a:rPr sz="1000" b="0">
                          <a:solidFill>
                            <a:srgbClr val="1C1C1E"/>
                          </a:solidFill>
                          <a:latin typeface="Calibri"/>
                        </a:rPr>
                        <a:t>estimator, family garch11</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estimated_coefficients / estimate</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The catch</a:t>
                      </a:r>
                    </a:p>
                  </a:txBody>
                  <a:tcPr marL="82296" marR="64008" marT="32004" marB="32004" anchor="ctr">
                    <a:solidFill>
                      <a:srgbClr val="F6F3EF"/>
                    </a:solidFill>
                  </a:tcPr>
                </a:tc>
                <a:tc>
                  <a:txBody>
                    <a:bodyPr wrap="square"/>
                    <a:lstStyle/>
                    <a:p>
                      <a:pPr algn="l"/>
                      <a:r>
                        <a:rPr sz="1000" b="0">
                          <a:solidFill>
                            <a:srgbClr val="1C1C1E"/>
                          </a:solidFill>
                          <a:latin typeface="Calibri"/>
                        </a:rPr>
                        <a:t>it can fail while looking like it succeeded</a:t>
                      </a:r>
                    </a:p>
                  </a:txBody>
                  <a:tcPr marL="82296" marR="64008" marT="32004" marB="32004" anchor="ctr">
                    <a:solidFill>
                      <a:srgbClr val="F6F3EF"/>
                    </a:solidFill>
                  </a:tcPr>
                </a:tc>
                <a:tc>
                  <a:txBody>
                    <a:bodyPr wrap="square"/>
                    <a:lstStyle/>
                    <a:p>
                      <a:pPr algn="l"/>
                      <a:r>
                        <a:rPr sz="1000" b="0">
                          <a:solidFill>
                            <a:srgbClr val="1C1C1E"/>
                          </a:solidFill>
                          <a:latin typeface="Calibri"/>
                        </a:rPr>
                        <a:t>an unconverged fit is refused, not flagged</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Values, plus convergence</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Iterations, log-likelihood and persistence are part of the result. A result that does not carry them is not reviewable.</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Constrained during the fit</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alpha + beta &lt; 1 is enforced while solving. Without it there is no unconditional variance and the forecast explodes.</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State is supplied, not invented</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Scoring needs the last shock and last variance. The answer says which state it used and which it returns.</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ARMA, ARIMA and EGARCH sit in exactly this slot. </a:t>
            </a:r>
            <a:r>
              <a:rPr sz="850" b="0" i="0">
                <a:solidFill>
                  <a:srgbClr val="1C1C1E"/>
                </a:solidFill>
                <a:latin typeface="Calibri"/>
              </a:rPr>
              <a:t>Same kind, same procedure, order (p, d, q) in the kernel entry. MAYA's captive engine implements ols and garch11 only -- fit the rest in your own engine and deliver the parameters back under the warrant. None of the governance changes, which is the point of separating the estimator from the register.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calibrated term-structure model - daily, by exception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one set per day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the swaption grid</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Cadence</a:t>
                      </a:r>
                    </a:p>
                  </a:txBody>
                  <a:tcPr marL="82296" marR="64008" marT="32004" marB="32004" anchor="ctr">
                    <a:solidFill>
                      <a:srgbClr val="F6F3EF"/>
                    </a:solidFill>
                  </a:tcPr>
                </a:tc>
                <a:tc>
                  <a:txBody>
                    <a:bodyPr wrap="square"/>
                    <a:lstStyle/>
                    <a:p>
                      <a:pPr algn="l"/>
                      <a:r>
                        <a:rPr sz="1000" b="0">
                          <a:solidFill>
                            <a:srgbClr val="1C1C1E"/>
                          </a:solidFill>
                          <a:latin typeface="Calibri"/>
                        </a:rPr>
                        <a:t>every morning</a:t>
                      </a:r>
                    </a:p>
                  </a:txBody>
                  <a:tcPr marL="82296" marR="64008" marT="32004" marB="32004" anchor="ctr">
                    <a:solidFill>
                      <a:srgbClr val="F6F3EF"/>
                    </a:solidFill>
                  </a:tcPr>
                </a:tc>
                <a:tc>
                  <a:txBody>
                    <a:bodyPr wrap="square"/>
                    <a:lstStyle/>
                    <a:p>
                      <a:pPr algn="l"/>
                      <a:r>
                        <a:rPr sz="1000" b="0">
                          <a:solidFill>
                            <a:srgbClr val="1C1C1E"/>
                          </a:solidFill>
                          <a:latin typeface="Calibri"/>
                        </a:rPr>
                        <a:t>250 parameter sets, one approved kernel</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set per business day</a:t>
            </a:r>
          </a:p>
        </p:txBody>
      </p:sp>
      <p:sp>
        <p:nvSpPr>
          <p:cNvPr id="15" name="TextBox 14"/>
          <p:cNvSpPr txBox="1"/>
          <p:nvPr/>
        </p:nvSpPr>
        <p:spPr>
          <a:xfrm>
            <a:off x="996695"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provenance = calibrated: the numbers reproduce a market rather than summarise a history, and every downstream reader branches on that.</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by envelope</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published, versioned, case-tested policy accepts what fits and holds what does not. A gate with no refusing case is refused at publication.</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Residuals, not accuracy</a:t>
            </a:r>
          </a:p>
        </p:txBody>
      </p:sp>
      <p:sp>
        <p:nvSpPr>
          <p:cNvPr id="25" name="TextBox 24"/>
          <p:cNvSpPr txBox="1"/>
          <p:nvPr/>
        </p:nvSpPr>
        <p:spPr>
          <a:xfrm>
            <a:off x="8258860"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There is no label to wait for. A climbing RMSE means the one-factor form is running out of grid -- a model finding, not a bad day.</a:t>
            </a:r>
          </a:p>
        </p:txBody>
      </p:sp>
      <p:sp>
        <p:nvSpPr>
          <p:cNvPr id="26" name="Rectangle 25"/>
          <p:cNvSpPr/>
          <p:nvPr/>
        </p:nvSpPr>
        <p:spPr>
          <a:xfrm>
            <a:off x="777240" y="5546344"/>
            <a:ext cx="10637215" cy="61114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1114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391693"/>
          </a:xfrm>
          <a:prstGeom prst="rect">
            <a:avLst/>
          </a:prstGeom>
          <a:noFill/>
        </p:spPr>
        <p:txBody>
          <a:bodyPr wrap="square" lIns="0" rIns="0" tIns="0" bIns="0" anchor="t">
            <a:spAutoFit/>
          </a:bodyPr>
          <a:lstStyle/>
          <a:p>
            <a:pPr algn="l">
              <a:lnSpc>
                <a:spcPct val="124000"/>
              </a:lnSpc>
              <a:spcBef>
                <a:spcPts val="0"/>
              </a:spcBef>
              <a:spcAft>
                <a:spcPts val="0"/>
              </a:spcAft>
            </a:pPr>
            <a:r>
              <a:rPr sz="1025" b="1" i="0">
                <a:solidFill>
                  <a:srgbClr val="A51C30"/>
                </a:solidFill>
                <a:latin typeface="Calibri"/>
              </a:rPr>
              <a:t>Nobody approves 250 calibrations a year. </a:t>
            </a:r>
            <a:r>
              <a:rPr sz="1025" b="0" i="0">
                <a:solidFill>
                  <a:srgbClr val="1C1C1E"/>
                </a:solidFill>
                <a:latin typeface="Calibri"/>
              </a:rPr>
              <a:t>Somebody approves the envelope once and looks at the eleven days it was breached. That is what 'recording new parameters is not a new model version' buys operationally -- and why calibrated is its own class rather than a kind of training.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Monte Carlo engine - the seed is a parameter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parameters, seed, path count, scheme, antithetic flag</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the bank's engine, under a fit warrant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calibration_set / calibrate</a:t>
                      </a:r>
                    </a:p>
                  </a:txBody>
                  <a:tcPr marL="82296" marR="64008" marT="32004" marB="32004" anchor="ctr">
                    <a:solidFill>
                      <a:srgbClr val="FFFFFF"/>
                    </a:solidFill>
                  </a:tcPr>
                </a:tc>
                <a:tc>
                  <a:txBody>
                    <a:bodyPr wrap="square"/>
                    <a:lstStyle/>
                    <a:p>
                      <a:pPr algn="l"/>
                      <a:r>
                        <a:rPr sz="1000" b="0">
                          <a:solidFill>
                            <a:srgbClr val="1C1C1E"/>
                          </a:solidFill>
                          <a:latin typeface="Calibri"/>
                        </a:rPr>
                        <a:t>class T1,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Claim checked</a:t>
                      </a:r>
                    </a:p>
                  </a:txBody>
                  <a:tcPr marL="82296" marR="64008" marT="32004" marB="32004" anchor="ctr">
                    <a:solidFill>
                      <a:srgbClr val="F6F3EF"/>
                    </a:solidFill>
                  </a:tcPr>
                </a:tc>
                <a:tc>
                  <a:txBody>
                    <a:bodyPr wrap="square"/>
                    <a:lstStyle/>
                    <a:p>
                      <a:pPr algn="l"/>
                      <a:r>
                        <a:rPr sz="1000" b="0">
                          <a:solidFill>
                            <a:srgbClr val="1C1C1E"/>
                          </a:solidFill>
                          <a:latin typeface="Calibri"/>
                        </a:rPr>
                        <a:t>deterministic = true</a:t>
                      </a:r>
                    </a:p>
                  </a:txBody>
                  <a:tcPr marL="82296" marR="64008" marT="32004" marB="32004" anchor="ctr">
                    <a:solidFill>
                      <a:srgbClr val="F6F3EF"/>
                    </a:solidFill>
                  </a:tcPr>
                </a:tc>
                <a:tc>
                  <a:txBody>
                    <a:bodyPr wrap="square"/>
                    <a:lstStyle/>
                    <a:p>
                      <a:pPr algn="l"/>
                      <a:r>
                        <a:rPr sz="1000" b="0">
                          <a:solidFill>
                            <a:srgbClr val="1C1C1E"/>
                          </a:solidFill>
                          <a:latin typeface="Calibri"/>
                        </a:rPr>
                        <a:t>L-W6: refused if no seed is bound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Configuration is in P</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Paths, seed, scheme and antithetic each change the answer. If they are not in P they are not in the digest, the warrant or the replay.</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Standard error is reviewed</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Monte Carlo answer is an estimate with an interval. The convergence study attaches to the parameter set as evidence with an author.</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verb is simulate</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Drawing from the output distribution is a different operation from scoring. A warrant for score will not simulate.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Eleven thousand tests could not catch it. </a:t>
            </a:r>
            <a:r>
              <a:rPr sz="1050" b="0" i="0">
                <a:solidFill>
                  <a:srgbClr val="1C1C1E"/>
                </a:solidFill>
                <a:latin typeface="Calibri"/>
              </a:rPr>
              <a:t>An engine reseeded per request instead of once at start-up passed every single-trade valuation, because a single valuation averages over paths either way. What changed was the correlation BETWEEN valuations in a netting set. No number of tests of that shape would have found it: every element of the suite had length one.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T4,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did not have to change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definition, seven media</a:t>
            </a:r>
          </a:p>
        </p:txBody>
      </p:sp>
      <p:sp>
        <p:nvSpPr>
          <p:cNvPr id="14" name="TextBox 13"/>
          <p:cNvSpPr txBox="1"/>
          <p:nvPr/>
        </p:nvSpPr>
        <p:spPr>
          <a:xfrm>
            <a:off x="996695"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 : P (x) X -&gt; D(Y) took a closed-form pricer, a daily calibration, a 20-million-weight network and a prompt assembly without a special case in the register.</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class is derived, not declared</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Nobody self-reported 'is this trained?'. The class falls out of how P is inhabited, which is a fact about the artifact rather than an opinion about it.</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unit of change follows the medium</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Values refit into a new parameter set; an artifact refits into a new version. That is a consequence of the medium, not a policy choice.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Warrants did not fork</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One grammar, four vocabularies. simulate and generate are verbs it already had, and the laws that check them are the same laws.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Evidence is uniform</a:t>
            </a:r>
          </a:p>
        </p:txBody>
      </p:sp>
      <p:sp>
        <p:nvSpPr>
          <p:cNvPr id="34" name="TextBox 33"/>
          <p:cNvSpPr txBox="1"/>
          <p:nvPr/>
        </p:nvSpPr>
        <p:spPr>
          <a:xfrm>
            <a:off x="4633874"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same append-only chain records a calibration, a training run and a drafted paragraph, so one query answers 'what happened to this model' across all of them.</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seventh one fitted without a redesign</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Which is the only evidence for the definition that counts. A taxonomy that needs a new branch per model family is a list.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Seventeen laws run today and a failing one fails the build. The remaining twelve are stated and marked as not yet executable — because a document claiming all of them run is the decay it was written to prevent.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