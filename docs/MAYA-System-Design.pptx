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warrants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warrants,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MAYA/DOMAIN/MODEL_ALGEBRA.PY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maya/domain/model_algebra.py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nine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maya/evidence/query.py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863088"/>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Why(X)</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ℕ[X]</a:t>
                      </a:r>
                    </a:p>
                  </a:txBody>
                  <a:tcPr marL="82296" marR="64008" marT="32004" marB="32004" anchor="ctr">
                    <a:solidFill>
                      <a:srgbClr val="FFFFFF"/>
                    </a:solidFill>
                  </a:tcPr>
                </a:tc>
                <a:tc>
                  <a:txBody>
                    <a:bodyPr wrap="square"/>
                    <a:lstStyle/>
                    <a:p>
                      <a:pPr algn="l"/>
                      <a:r>
                        <a:rPr sz="1000" b="0">
                          <a:solidFill>
                            <a:srgbClr val="1C1C1E"/>
                          </a:solidFill>
                          <a:latin typeface="Calibri"/>
                        </a:rPr>
                        <a:t>Tier 1 audit reconstruction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Tropical</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Classification</a:t>
                      </a:r>
                    </a:p>
                  </a:txBody>
                  <a:tcPr marL="82296" marR="64008" marT="32004" marB="32004" anchor="ctr">
                    <a:solidFill>
                      <a:srgbClr val="F6F3EF"/>
                    </a:solidFill>
                  </a:tcPr>
                </a:tc>
                <a:tc>
                  <a:txBody>
                    <a:bodyPr wrap="square"/>
                    <a:lstStyle/>
                    <a:p>
                      <a:pPr algn="l"/>
                      <a:r>
                        <a:rPr sz="1000" b="0">
                          <a:solidFill>
                            <a:srgbClr val="1C1C1E"/>
                          </a:solidFill>
                          <a:latin typeface="Calibri"/>
                        </a:rPr>
                        <a:t>PII propagation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Admissibility</a:t>
                      </a:r>
                    </a:p>
                  </a:txBody>
                  <a:tcPr marL="82296" marR="64008" marT="32004" marB="32004" anchor="ctr">
                    <a:solidFill>
                      <a:srgbClr val="FFFFFF"/>
                    </a:solidFill>
                  </a:tcPr>
                </a:tc>
                <a:tc>
                  <a:txBody>
                    <a:bodyPr wrap="square"/>
                    <a:lstStyle/>
                    <a:p>
                      <a:pPr algn="l"/>
                      <a:r>
                        <a:rPr sz="1000" b="0">
                          <a:solidFill>
                            <a:srgbClr val="1C1C1E"/>
                          </a:solidFill>
                          <a:latin typeface="Calibri"/>
                        </a:rPr>
                        <a:t>Which regulators accept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bl>
          </a:graphicData>
        </a:graphic>
      </p:graphicFrame>
      <p:sp>
        <p:nvSpPr>
          <p:cNvPr id="15" name="Rectangle 14"/>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51560" y="4748753"/>
            <a:ext cx="10088575" cy="6858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Complexity, stated honestly. </a:t>
            </a:r>
            <a:r>
              <a:rPr sz="1150" b="0" i="0">
                <a:solidFill>
                  <a:srgbClr val="1C1C1E"/>
                </a:solidFill>
                <a:latin typeface="Calibri"/>
              </a:rPr>
              <a:t>Why-provenance is worst-case exponential in the number of alternatives. Controls: canonical form with absorption, memoisation, depth cap, and a hard 4,096-term cap beyond which evaluation degrades to Boolean ⊕ Trust and emits truncated=true. </a:t>
            </a:r>
            <a:r>
              <a:rPr sz="1150" b="1" i="0">
                <a:solidFill>
                  <a:srgbClr val="A51C30"/>
                </a:solidFill>
                <a:latin typeface="Calibri"/>
              </a:rPr>
              <a:t>A silently partial answer is never returned.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Six SoD rules, checked twice</a:t>
            </a:r>
          </a:p>
          <a:p>
            <a:pPr>
              <a:lnSpc>
                <a:spcPct val="124000"/>
              </a:lnSpc>
              <a:spcBef>
                <a:spcPts val="0"/>
              </a:spcBef>
              <a:spcAft>
                <a:spcPts val="600"/>
              </a:spcAft>
            </a:pPr>
            <a:r>
              <a:rPr sz="1050" b="0" i="0">
                <a:solidFill>
                  <a:srgbClr val="4A4F57"/>
                </a:solidFill>
                <a:latin typeface="Calibri"/>
              </a:rPr>
              <a:t>developer ≠ validator · owner not sole approver · no self-closure of findings · policy author ≠ publisher · overlay proposer ≠ approver · platform admin has no governance rights</a:t>
            </a:r>
          </a:p>
          <a:p>
            <a:pPr>
              <a:lnSpc>
                <a:spcPct val="124000"/>
              </a:lnSpc>
              <a:spcBef>
                <a:spcPts val="0"/>
              </a:spcBef>
              <a:spcAft>
                <a:spcPts val="0"/>
              </a:spcAft>
            </a:pPr>
            <a:r>
              <a:rPr sz="1050" b="0" i="0">
                <a:solidFill>
                  <a:srgbClr val="4A4F57"/>
                </a:solidFill>
                <a:latin typeface="Calibri"/>
              </a:rPr>
              <a:t>Checked at the API and re-checked nightly — a role change creates a retrospective conflict the point-in-time check never sees.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Execution and Warrants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python.callable · container · sql · spreadsheet · rules · solver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request · feature_namespace · dataset_snapshot · market_data · document_corpus · stream · scenario_set · sql_query</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The load-bearing laws are 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956816"/>
          <a:ext cx="10637214" cy="3150133"/>
        </p:xfrm>
        <a:graphic>
          <a:graphicData uri="http://schemas.openxmlformats.org/drawingml/2006/table">
            <a:tbl>
              <a:tblPr firstRow="1">
                <a:tableStyleId>{5C22544A-7EE6-4342-B048-85BDC9FD1C3A}</a:tableStyleId>
              </a:tblPr>
              <a:tblGrid>
                <a:gridCol w="1008701"/>
                <a:gridCol w="3301204"/>
                <a:gridCol w="6327309"/>
              </a:tblGrid>
              <a:tr h="333781">
                <a:tc>
                  <a:txBody>
                    <a:bodyPr wrap="square"/>
                    <a:lstStyle/>
                    <a:p>
                      <a:pPr algn="l"/>
                      <a:r>
                        <a:rPr sz="1100" b="1">
                          <a:solidFill>
                            <a:srgbClr val="FFFFFF"/>
                          </a:solidFill>
                          <a:latin typeface="Calibri"/>
                        </a:rPr>
                        <a:t>Law</a:t>
                      </a:r>
                    </a:p>
                  </a:txBody>
                  <a:tcPr marL="82296" marR="64008" marT="32004" marB="32004" anchor="ctr">
                    <a:solidFill>
                      <a:srgbClr val="A51C30"/>
                    </a:solidFill>
                  </a:tcPr>
                </a:tc>
                <a:tc>
                  <a:txBody>
                    <a:bodyPr wrap="square"/>
                    <a:lstStyle/>
                    <a:p>
                      <a:pPr algn="l"/>
                      <a:r>
                        <a:rPr sz="1100" b="1">
                          <a:solidFill>
                            <a:srgbClr val="FFFFFF"/>
                          </a:solidFill>
                          <a:latin typeface="Calibri"/>
                        </a:rPr>
                        <a:t>Refuses</a:t>
                      </a:r>
                    </a:p>
                  </a:txBody>
                  <a:tcPr marL="82296" marR="64008" marT="32004" marB="32004" anchor="ctr">
                    <a:solidFill>
                      <a:srgbClr val="A51C30"/>
                    </a:solidFill>
                  </a:tcPr>
                </a:tc>
                <a:tc>
                  <a:txBody>
                    <a:bodyPr wrap="square"/>
                    <a:lstStyle/>
                    <a:p>
                      <a:pPr algn="l"/>
                      <a:r>
                        <a:rPr sz="1100" b="1">
                          <a:solidFill>
                            <a:srgbClr val="FFFFFF"/>
                          </a:solidFill>
                          <a:latin typeface="Calibri"/>
                        </a:rPr>
                        <a:t>Because</a:t>
                      </a:r>
                    </a:p>
                  </a:txBody>
                  <a:tcPr marL="82296" marR="64008" marT="32004" marB="32004" anchor="ctr">
                    <a:solidFill>
                      <a:srgbClr val="A51C30"/>
                    </a:solidFill>
                  </a:tcPr>
                </a:tc>
              </a:tr>
              <a:tr h="402336">
                <a:tc>
                  <a:txBody>
                    <a:bodyPr wrap="square"/>
                    <a:lstStyle/>
                    <a:p>
                      <a:pPr algn="l"/>
                      <a:r>
                        <a:rPr sz="1050" b="1">
                          <a:solidFill>
                            <a:srgbClr val="A51C30"/>
                          </a:solidFill>
                          <a:latin typeface="Calibri"/>
                        </a:rPr>
                        <a:t>L-W1</a:t>
                      </a:r>
                    </a:p>
                  </a:txBody>
                  <a:tcPr marL="82296" marR="64008" marT="32004" marB="32004" anchor="ctr">
                    <a:solidFill>
                      <a:srgbClr val="FFFFFF"/>
                    </a:solidFill>
                  </a:tcPr>
                </a:tc>
                <a:tc>
                  <a:txBody>
                    <a:bodyPr wrap="square"/>
                    <a:lstStyle/>
                    <a:p>
                      <a:pPr algn="l"/>
                      <a:r>
                        <a:rPr sz="1050" b="0">
                          <a:solidFill>
                            <a:srgbClr val="1C1C1E"/>
                          </a:solidFill>
                          <a:latin typeface="Calibri"/>
                        </a:rPr>
                        <a:t>fit on T0 or T6</a:t>
                      </a:r>
                    </a:p>
                  </a:txBody>
                  <a:tcPr marL="82296" marR="64008" marT="32004" marB="32004" anchor="ctr">
                    <a:solidFill>
                      <a:srgbClr val="FFFFFF"/>
                    </a:solidFill>
                  </a:tcPr>
                </a:tc>
                <a:tc>
                  <a:txBody>
                    <a:bodyPr wrap="square"/>
                    <a:lstStyle/>
                    <a:p>
                      <a:pPr algn="l"/>
                      <a:r>
                        <a:rPr sz="1050" b="0">
                          <a:solidFill>
                            <a:srgbClr val="1C1C1E"/>
                          </a:solidFill>
                          <a:latin typeface="Calibri"/>
                        </a:rPr>
                        <a:t>T0's parameters come from theory; T6's are inside a vendor black box</a:t>
                      </a:r>
                    </a:p>
                  </a:txBody>
                  <a:tcPr marL="82296" marR="64008" marT="32004" marB="32004" anchor="ctr">
                    <a:solidFill>
                      <a:srgbClr val="FFFFFF"/>
                    </a:solidFill>
                  </a:tcPr>
                </a:tc>
              </a:tr>
              <a:tr h="402336">
                <a:tc>
                  <a:txBody>
                    <a:bodyPr wrap="square"/>
                    <a:lstStyle/>
                    <a:p>
                      <a:pPr algn="l"/>
                      <a:r>
                        <a:rPr sz="1050" b="1">
                          <a:solidFill>
                            <a:srgbClr val="A51C30"/>
                          </a:solidFill>
                          <a:latin typeface="Calibri"/>
                        </a:rPr>
                        <a:t>L-W2</a:t>
                      </a:r>
                    </a:p>
                  </a:txBody>
                  <a:tcPr marL="82296" marR="64008" marT="32004" marB="32004" anchor="ctr">
                    <a:solidFill>
                      <a:srgbClr val="F6F3EF"/>
                    </a:solidFill>
                  </a:tcPr>
                </a:tc>
                <a:tc>
                  <a:txBody>
                    <a:bodyPr wrap="square"/>
                    <a:lstStyle/>
                    <a:p>
                      <a:pPr algn="l"/>
                      <a:r>
                        <a:rPr sz="1050" b="0">
                          <a:solidFill>
                            <a:srgbClr val="1C1C1E"/>
                          </a:solidFill>
                          <a:latin typeface="Calibri"/>
                        </a:rPr>
                        <a:t>generate on a non-generative runtime</a:t>
                      </a:r>
                    </a:p>
                  </a:txBody>
                  <a:tcPr marL="82296" marR="64008" marT="32004" marB="32004" anchor="ctr">
                    <a:solidFill>
                      <a:srgbClr val="F6F3EF"/>
                    </a:solidFill>
                  </a:tcPr>
                </a:tc>
                <a:tc>
                  <a:txBody>
                    <a:bodyPr wrap="square"/>
                    <a:lstStyle/>
                    <a:p>
                      <a:pPr algn="l"/>
                      <a:r>
                        <a:rPr sz="1050" b="0">
                          <a:solidFill>
                            <a:srgbClr val="1C1C1E"/>
                          </a:solidFill>
                          <a:latin typeface="Calibri"/>
                        </a:rPr>
                        <a:t>an ONNX graph does not produce prose</a:t>
                      </a:r>
                    </a:p>
                  </a:txBody>
                  <a:tcPr marL="82296" marR="64008" marT="32004" marB="32004" anchor="ctr">
                    <a:solidFill>
                      <a:srgbClr val="F6F3EF"/>
                    </a:solidFill>
                  </a:tcPr>
                </a:tc>
              </a:tr>
              <a:tr h="402336">
                <a:tc>
                  <a:txBody>
                    <a:bodyPr wrap="square"/>
                    <a:lstStyle/>
                    <a:p>
                      <a:pPr algn="l"/>
                      <a:r>
                        <a:rPr sz="1050" b="1">
                          <a:solidFill>
                            <a:srgbClr val="A51C30"/>
                          </a:solidFill>
                          <a:latin typeface="Calibri"/>
                        </a:rPr>
                        <a:t>L-W3</a:t>
                      </a:r>
                    </a:p>
                  </a:txBody>
                  <a:tcPr marL="82296" marR="64008" marT="32004" marB="32004" anchor="ctr">
                    <a:solidFill>
                      <a:srgbClr val="FFFFFF"/>
                    </a:solidFill>
                  </a:tcPr>
                </a:tc>
                <a:tc>
                  <a:txBody>
                    <a:bodyPr wrap="square"/>
                    <a:lstStyle/>
                    <a:p>
                      <a:pPr algn="l"/>
                      <a:r>
                        <a:rPr sz="1050" b="0">
                          <a:solidFill>
                            <a:srgbClr val="1C1C1E"/>
                          </a:solidFill>
                          <a:latin typeface="Calibri"/>
                        </a:rPr>
                        <a:t>training from a non-bitemporal source</a:t>
                      </a:r>
                    </a:p>
                  </a:txBody>
                  <a:tcPr marL="82296" marR="64008" marT="32004" marB="32004" anchor="ctr">
                    <a:solidFill>
                      <a:srgbClr val="FFFFFF"/>
                    </a:solidFill>
                  </a:tcPr>
                </a:tc>
                <a:tc>
                  <a:txBody>
                    <a:bodyPr wrap="square"/>
                    <a:lstStyle/>
                    <a:p>
                      <a:pPr algn="l"/>
                      <a:r>
                        <a:rPr sz="1050" b="0">
                          <a:solidFill>
                            <a:srgbClr val="1C1C1E"/>
                          </a:solidFill>
                          <a:latin typeface="Calibri"/>
                        </a:rPr>
                        <a:t>it cannot be shown point-in-time correct, so not shown leak-free</a:t>
                      </a:r>
                    </a:p>
                  </a:txBody>
                  <a:tcPr marL="82296" marR="64008" marT="32004" marB="32004" anchor="ctr">
                    <a:solidFill>
                      <a:srgbClr val="FFFFFF"/>
                    </a:solidFill>
                  </a:tcPr>
                </a:tc>
              </a:tr>
              <a:tr h="402336">
                <a:tc>
                  <a:txBody>
                    <a:bodyPr wrap="square"/>
                    <a:lstStyle/>
                    <a:p>
                      <a:pPr algn="l"/>
                      <a:r>
                        <a:rPr sz="1050" b="1">
                          <a:solidFill>
                            <a:srgbClr val="A51C30"/>
                          </a:solidFill>
                          <a:latin typeface="Calibri"/>
                        </a:rPr>
                        <a:t>L-W4</a:t>
                      </a:r>
                    </a:p>
                  </a:txBody>
                  <a:tcPr marL="82296" marR="64008" marT="32004" marB="32004" anchor="ctr">
                    <a:solidFill>
                      <a:srgbClr val="F6F3EF"/>
                    </a:solidFill>
                  </a:tcPr>
                </a:tc>
                <a:tc>
                  <a:txBody>
                    <a:bodyPr wrap="square"/>
                    <a:lstStyle/>
                    <a:p>
                      <a:pPr algn="l"/>
                      <a:r>
                        <a:rPr sz="1050" b="0">
                          <a:solidFill>
                            <a:srgbClr val="1C1C1E"/>
                          </a:solidFill>
                          <a:latin typeface="Calibri"/>
                        </a:rPr>
                        <a:t>a fit with no parameter_object sink</a:t>
                      </a:r>
                    </a:p>
                  </a:txBody>
                  <a:tcPr marL="82296" marR="64008" marT="32004" marB="32004" anchor="ctr">
                    <a:solidFill>
                      <a:srgbClr val="F6F3EF"/>
                    </a:solidFill>
                  </a:tcPr>
                </a:tc>
                <a:tc>
                  <a:txBody>
                    <a:bodyPr wrap="square"/>
                    <a:lstStyle/>
                    <a:p>
                      <a:pPr algn="l"/>
                      <a:r>
                        <a:rPr sz="1050" b="0">
                          <a:solidFill>
                            <a:srgbClr val="1C1C1E"/>
                          </a:solidFill>
                          <a:latin typeface="Calibri"/>
                        </a:rPr>
                        <a:t>a fit produces a NEW parameter object, it does not edit the old one</a:t>
                      </a:r>
                    </a:p>
                  </a:txBody>
                  <a:tcPr marL="82296" marR="64008" marT="32004" marB="32004" anchor="ctr">
                    <a:solidFill>
                      <a:srgbClr val="F6F3EF"/>
                    </a:solidFill>
                  </a:tcPr>
                </a:tc>
              </a:tr>
              <a:tr h="402336">
                <a:tc>
                  <a:txBody>
                    <a:bodyPr wrap="square"/>
                    <a:lstStyle/>
                    <a:p>
                      <a:pPr algn="l"/>
                      <a:r>
                        <a:rPr sz="1050" b="1">
                          <a:solidFill>
                            <a:srgbClr val="A51C30"/>
                          </a:solidFill>
                          <a:latin typeface="Calibri"/>
                        </a:rPr>
                        <a:t>L-W5</a:t>
                      </a:r>
                    </a:p>
                  </a:txBody>
                  <a:tcPr marL="82296" marR="64008" marT="32004" marB="32004" anchor="ctr">
                    <a:solidFill>
                      <a:srgbClr val="FFFFFF"/>
                    </a:solidFill>
                  </a:tcPr>
                </a:tc>
                <a:tc>
                  <a:txBody>
                    <a:bodyPr wrap="square"/>
                    <a:lstStyle/>
                    <a:p>
                      <a:pPr algn="l"/>
                      <a:r>
                        <a:rPr sz="1050" b="0">
                          <a:solidFill>
                            <a:srgbClr val="1C1C1E"/>
                          </a:solidFill>
                          <a:latin typeface="Calibri"/>
                        </a:rPr>
                        <a:t>claimed determinism with no seed</a:t>
                      </a:r>
                    </a:p>
                  </a:txBody>
                  <a:tcPr marL="82296" marR="64008" marT="32004" marB="32004" anchor="ctr">
                    <a:solidFill>
                      <a:srgbClr val="FFFFFF"/>
                    </a:solidFill>
                  </a:tcPr>
                </a:tc>
                <a:tc>
                  <a:txBody>
                    <a:bodyPr wrap="square"/>
                    <a:lstStyle/>
                    <a:p>
                      <a:pPr algn="l"/>
                      <a:r>
                        <a:rPr sz="1050" b="0">
                          <a:solidFill>
                            <a:srgbClr val="1C1C1E"/>
                          </a:solidFill>
                          <a:latin typeface="Calibri"/>
                        </a:rPr>
                        <a:t>an LLM at temperature 0.7 is not reproducible, and would be believed</a:t>
                      </a:r>
                    </a:p>
                  </a:txBody>
                  <a:tcPr marL="82296" marR="64008" marT="32004" marB="32004" anchor="ctr">
                    <a:solidFill>
                      <a:srgbClr val="FFFFFF"/>
                    </a:solidFill>
                  </a:tcPr>
                </a:tc>
              </a:tr>
              <a:tr h="402336">
                <a:tc>
                  <a:txBody>
                    <a:bodyPr wrap="square"/>
                    <a:lstStyle/>
                    <a:p>
                      <a:pPr algn="l"/>
                      <a:r>
                        <a:rPr sz="1050" b="1">
                          <a:solidFill>
                            <a:srgbClr val="A51C30"/>
                          </a:solidFill>
                          <a:latin typeface="Calibri"/>
                        </a:rPr>
                        <a:t>L-W6</a:t>
                      </a:r>
                    </a:p>
                  </a:txBody>
                  <a:tcPr marL="82296" marR="64008" marT="32004" marB="32004" anchor="ctr">
                    <a:solidFill>
                      <a:srgbClr val="F6F3EF"/>
                    </a:solidFill>
                  </a:tcPr>
                </a:tc>
                <a:tc>
                  <a:txBody>
                    <a:bodyPr wrap="square"/>
                    <a:lstStyle/>
                    <a:p>
                      <a:pPr algn="l"/>
                      <a:r>
                        <a:rPr sz="1050" b="0">
                          <a:solidFill>
                            <a:srgbClr val="1C1C1E"/>
                          </a:solidFill>
                          <a:latin typeface="Calibri"/>
                        </a:rPr>
                        <a:t>fit on a descriptor-only model</a:t>
                      </a:r>
                    </a:p>
                  </a:txBody>
                  <a:tcPr marL="82296" marR="64008" marT="32004" marB="32004" anchor="ctr">
                    <a:solidFill>
                      <a:srgbClr val="F6F3EF"/>
                    </a:solidFill>
                  </a:tcPr>
                </a:tc>
                <a:tc>
                  <a:txBody>
                    <a:bodyPr wrap="square"/>
                    <a:lstStyle/>
                    <a:p>
                      <a:pPr algn="l"/>
                      <a:r>
                        <a:rPr sz="1050" b="0">
                          <a:solidFill>
                            <a:srgbClr val="1C1C1E"/>
                          </a:solidFill>
                          <a:latin typeface="Calibri"/>
                        </a:rPr>
                        <a:t>you cannot inhabit what nothing on this side can reach</a:t>
                      </a:r>
                    </a:p>
                  </a:txBody>
                  <a:tcPr marL="82296" marR="64008" marT="32004" marB="32004" anchor="ctr">
                    <a:solidFill>
                      <a:srgbClr val="F6F3EF"/>
                    </a:solidFill>
                  </a:tcPr>
                </a:tc>
              </a:tr>
              <a:tr h="402336">
                <a:tc>
                  <a:txBody>
                    <a:bodyPr wrap="square"/>
                    <a:lstStyle/>
                    <a:p>
                      <a:pPr algn="l"/>
                      <a:r>
                        <a:rPr sz="1050" b="1">
                          <a:solidFill>
                            <a:srgbClr val="A51C30"/>
                          </a:solidFill>
                          <a:latin typeface="Calibri"/>
                        </a:rPr>
                        <a:t>L-W7</a:t>
                      </a:r>
                    </a:p>
                  </a:txBody>
                  <a:tcPr marL="82296" marR="64008" marT="32004" marB="32004" anchor="ctr">
                    <a:solidFill>
                      <a:srgbClr val="FFFFFF"/>
                    </a:solidFill>
                  </a:tcPr>
                </a:tc>
                <a:tc>
                  <a:txBody>
                    <a:bodyPr wrap="square"/>
                    <a:lstStyle/>
                    <a:p>
                      <a:pPr algn="l"/>
                      <a:r>
                        <a:rPr sz="1050" b="0">
                          <a:solidFill>
                            <a:srgbClr val="1C1C1E"/>
                          </a:solidFill>
                          <a:latin typeface="Calibri"/>
                        </a:rPr>
                        <a:t>a backtest with no outcomes</a:t>
                      </a:r>
                    </a:p>
                  </a:txBody>
                  <a:tcPr marL="82296" marR="64008" marT="32004" marB="32004" anchor="ctr">
                    <a:solidFill>
                      <a:srgbClr val="FFFFFF"/>
                    </a:solidFill>
                  </a:tcPr>
                </a:tc>
                <a:tc>
                  <a:txBody>
                    <a:bodyPr wrap="square"/>
                    <a:lstStyle/>
                    <a:p>
                      <a:pPr algn="l"/>
                      <a:r>
                        <a:rPr sz="1050" b="0">
                          <a:solidFill>
                            <a:srgbClr val="1C1C1E"/>
                          </a:solidFill>
                          <a:latin typeface="Calibri"/>
                        </a:rPr>
                        <a:t>that is a re-score wearing a backtest's name</a:t>
                      </a:r>
                    </a:p>
                  </a:txBody>
                  <a:tcPr marL="82296" marR="64008" marT="32004" marB="32004" anchor="ctr">
                    <a:solidFill>
                      <a:srgbClr val="FFFFFF"/>
                    </a:solidFill>
                  </a:tcPr>
                </a:tc>
              </a:tr>
            </a:tbl>
          </a:graphicData>
        </a:graphic>
      </p:graphicFrame>
      <p:sp>
        <p:nvSpPr>
          <p:cNvPr id="12" name="Rectangle 11"/>
          <p:cNvSpPr/>
          <p:nvPr/>
        </p:nvSpPr>
        <p:spPr>
          <a:xfrm>
            <a:off x="777240" y="5326405"/>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5326405"/>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51560" y="5436133"/>
            <a:ext cx="10088575" cy="512064"/>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Validated before signed, never after. </a:t>
            </a:r>
            <a:r>
              <a:rPr sz="1150" b="0" i="0">
                <a:solidFill>
                  <a:srgbClr val="1C1C1E"/>
                </a:solidFill>
                <a:latin typeface="Calibri"/>
              </a:rPr>
              <a:t>A signature over a non-conforming document would assure that it is authentic and not that it is usable — and an engine would reasonably read it as both.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maya/warrants/resolver.py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Ed25519 verification</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410712"/>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364992"/>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364992"/>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493008"/>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maya/ai/runner.py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maya/platform/db.py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2949448"/>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Laws L-1…L-18</a:t>
                      </a:r>
                    </a:p>
                  </a:txBody>
                  <a:tcPr marL="82296" marR="64008" marT="32004" marB="32004" anchor="ctr">
                    <a:solidFill>
                      <a:srgbClr val="F6F3EF"/>
                    </a:solidFill>
                  </a:tcPr>
                </a:tc>
                <a:tc>
                  <a:txBody>
                    <a:bodyPr wrap="square"/>
                    <a:lstStyle/>
                    <a:p>
                      <a:pPr algn="l"/>
                      <a:r>
                        <a:rPr sz="1000" b="0">
                          <a:solidFill>
                            <a:srgbClr val="1C1C1E"/>
                          </a:solidFill>
                          <a:latin typeface="Calibri"/>
                        </a:rPr>
                        <a:t>The formal properties hold under generated inputs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418795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Eighteen laws as property tests. A failing law fails the build — which is what stops a foundation decaying into decoration.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