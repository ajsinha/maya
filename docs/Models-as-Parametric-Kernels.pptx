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06908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9080"/>
            <a:ext cx="12191695" cy="54864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406908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841248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B8C0"/>
                </a:solidFill>
                <a:latin typeface="Calibri"/>
              </a:rPr>
              <a:t>APPLIED CATEGORY THEORY  ·  MODEL RISK  ·  VERIFIED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280160"/>
            <a:ext cx="9360749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700" b="0" i="0">
                <a:solidFill>
                  <a:srgbClr val="FFFFFF"/>
                </a:solidFill>
                <a:latin typeface="Georgia"/>
              </a:rPr>
              <a:t>Models as Parametric Kernels,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700" b="0" i="0">
                <a:solidFill>
                  <a:srgbClr val="FFFFFF"/>
                </a:solidFill>
                <a:latin typeface="Georgia"/>
              </a:rPr>
              <a:t>Governance as Verified Automation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2999232"/>
            <a:ext cx="1554480" cy="32004"/>
          </a:xfrm>
          <a:prstGeom prst="rect">
            <a:avLst/>
          </a:prstGeom>
          <a:solidFill>
            <a:srgbClr val="E8B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46120"/>
            <a:ext cx="87225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F4DFE3"/>
                </a:solidFill>
                <a:latin typeface="Calibri"/>
              </a:rPr>
              <a:t>A mathematical foundation for heterogeneous model estates — and a criterion for where AI may do the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526280"/>
            <a:ext cx="58504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1C1C1E"/>
                </a:solidFill>
                <a:latin typeface="Georgia"/>
              </a:rPr>
              <a:t>Ashutosh Sinha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A51C30"/>
                </a:solidFill>
                <a:latin typeface="Calibri"/>
              </a:rPr>
              <a:t>Independent Researcher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A7F87"/>
                </a:solidFill>
                <a:latin typeface="Calibri"/>
              </a:rPr>
              <a:t>September 2026   ·   a conversation, not a 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4080" y="4553712"/>
            <a:ext cx="468037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50" b="1" i="0">
                <a:solidFill>
                  <a:srgbClr val="A51C30"/>
                </a:solidFill>
                <a:latin typeface="Calibri"/>
              </a:rPr>
              <a:t>CONTENTS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51C30"/>
                </a:solidFill>
                <a:latin typeface="Calibri"/>
              </a:rPr>
              <a:t>1   </a:t>
            </a:r>
            <a:r>
              <a:rPr sz="1150" b="0" i="0">
                <a:solidFill>
                  <a:srgbClr val="4A4F57"/>
                </a:solidFill>
                <a:latin typeface="Calibri"/>
              </a:rPr>
              <a:t>The problem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51C30"/>
                </a:solidFill>
                <a:latin typeface="Calibri"/>
              </a:rPr>
              <a:t>2   </a:t>
            </a:r>
            <a:r>
              <a:rPr sz="1150" b="0" i="0">
                <a:solidFill>
                  <a:srgbClr val="4A4F57"/>
                </a:solidFill>
                <a:latin typeface="Calibri"/>
              </a:rPr>
              <a:t>A formal foundation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51C30"/>
                </a:solidFill>
                <a:latin typeface="Calibri"/>
              </a:rPr>
              <a:t>3   </a:t>
            </a:r>
            <a:r>
              <a:rPr sz="1150" b="0" i="0">
                <a:solidFill>
                  <a:srgbClr val="4A4F57"/>
                </a:solidFill>
                <a:latin typeface="Calibri"/>
              </a:rPr>
              <a:t>Automation and its oracles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51C30"/>
                </a:solidFill>
                <a:latin typeface="Calibri"/>
              </a:rPr>
              <a:t>4   </a:t>
            </a:r>
            <a:r>
              <a:rPr sz="1150" b="0" i="0">
                <a:solidFill>
                  <a:srgbClr val="4A4F57"/>
                </a:solidFill>
                <a:latin typeface="Calibri"/>
              </a:rPr>
              <a:t>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417320"/>
            <a:ext cx="914800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1">
                <a:solidFill>
                  <a:srgbClr val="4A4F57"/>
                </a:solidFill>
                <a:latin typeface="Georgia"/>
              </a:rPr>
              <a:t>There is a question that sounds trivial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4A4F57"/>
                </a:solidFill>
                <a:latin typeface="Georgia"/>
              </a:rPr>
              <a:t>and turns out to be the hardest one in the room.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88920"/>
            <a:ext cx="914800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A51C30"/>
                </a:solidFill>
                <a:latin typeface="Georgia"/>
              </a:rPr>
              <a:t>What is a model?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041648"/>
            <a:ext cx="1828800" cy="32004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343400"/>
            <a:ext cx="829702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C1C1E"/>
                </a:solidFill>
                <a:latin typeface="Calibri"/>
              </a:rPr>
              <a:t>Not which one. Not whose. What one is — formally, generally, in a way that covers everything an organisation has to govern.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Two things follow from getting this right. A whole category of expensive software failure disappears — and </a:t>
            </a:r>
            <a:r>
              <a:rPr sz="1400" b="1" i="0">
                <a:solidFill>
                  <a:srgbClr val="A51C30"/>
                </a:solidFill>
                <a:latin typeface="Calibri"/>
              </a:rPr>
              <a:t>we learn where a machine may safely do the governing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Front matter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C0"/>
                </a:solidFill>
                <a:latin typeface="Calibri"/>
              </a:rPr>
              <a:t>CHAPTER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616958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703320"/>
            <a:ext cx="1371600" cy="32004"/>
          </a:xfrm>
          <a:prstGeom prst="rect">
            <a:avLst/>
          </a:prstGeom>
          <a:solidFill>
            <a:srgbClr val="E8B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659507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2D8DC"/>
                </a:solidFill>
                <a:latin typeface="Calibri"/>
              </a:rPr>
              <a:t>Why heterogeneous model estates defeat the tools built to manage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7802" y="1874519"/>
            <a:ext cx="361665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950" b="1" i="0">
                <a:solidFill>
                  <a:srgbClr val="E0A8B2"/>
                </a:solidFill>
                <a:latin typeface="Calibri"/>
              </a:rPr>
              <a:t>IN THIS CHAPTER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F6E6E9"/>
                </a:solidFill>
                <a:latin typeface="Calibri"/>
              </a:rPr>
              <a:t>The population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F6E6E9"/>
                </a:solidFill>
                <a:latin typeface="Calibri"/>
              </a:rPr>
              <a:t>Four pathologies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F6E6E9"/>
                </a:solidFill>
                <a:latin typeface="Calibri"/>
              </a:rPr>
              <a:t>A definition problem, not a product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The population that must be governed as one 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1 ·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353312"/>
          <a:ext cx="10637213" cy="34145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24129"/>
                <a:gridCol w="4099760"/>
                <a:gridCol w="1662064"/>
                <a:gridCol w="1551260"/>
              </a:tblGrid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Artefact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 its parameters come from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Refresh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Trained?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42303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C1C1E"/>
                          </a:solidFill>
                          <a:latin typeface="Calibri"/>
                        </a:rPr>
                        <a:t>Black–Scholes pricer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Financial theory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Never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42303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C1C1E"/>
                          </a:solidFill>
                          <a:latin typeface="Calibri"/>
                        </a:rPr>
                        <a:t>Volatility surface (SABR)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Solved against market quotes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42303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C1C1E"/>
                          </a:solidFill>
                          <a:latin typeface="Calibri"/>
                        </a:rPr>
                        <a:t>PD scorecard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Statistical estimation on a sample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Annual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Arguably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42303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C1C1E"/>
                          </a:solidFill>
                          <a:latin typeface="Calibri"/>
                        </a:rPr>
                        <a:t>Fraud classifier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Gradient boosting on transactions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Weekly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42303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C1C1E"/>
                          </a:solidFill>
                          <a:latin typeface="Calibri"/>
                        </a:rPr>
                        <a:t>Adaptive AML threshold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Updates itself in production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42303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C1C1E"/>
                          </a:solidFill>
                          <a:latin typeface="Calibri"/>
                        </a:rPr>
                        <a:t>Narrative-drafting LLM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Base model + prompt + corpus + tools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On change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42303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C1C1E"/>
                          </a:solidFill>
                          <a:latin typeface="Calibri"/>
                        </a:rPr>
                        <a:t>Third-party credit score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Contractually unavailable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Vendor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Unknowable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42303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C1C1E"/>
                          </a:solidFill>
                          <a:latin typeface="Calibri"/>
                        </a:rPr>
                        <a:t>Country-risk scorecard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A committee of nine people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Annual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42303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C1C1E"/>
                          </a:solidFill>
                          <a:latin typeface="Calibri"/>
                        </a:rPr>
                        <a:t>Allocation spreadsheet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Somebody wrote a formula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Ad hoc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C1C1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5005565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1C30"/>
                </a:solidFill>
                <a:latin typeface="Calibri"/>
              </a:rPr>
              <a:t>Three of these nine are trained. </a:t>
            </a:r>
            <a:r>
              <a:rPr sz="1300" b="0" i="0">
                <a:solidFill>
                  <a:srgbClr val="1C1C1E"/>
                </a:solidFill>
                <a:latin typeface="Calibri"/>
              </a:rPr>
              <a:t>All nine carry the same obligation: inventory, classify by materiality, challenge independently, monitor, document, control change. A large bank runs 800–3,000 of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Four pathologies with a single root cause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1 ·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99032"/>
            <a:ext cx="2467279" cy="2514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99032"/>
            <a:ext cx="246727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1618488"/>
            <a:ext cx="20283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1892807"/>
            <a:ext cx="202836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The training assumption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2395727"/>
            <a:ext cx="2028367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Tooling assumes train → register → deploy. Asking a closed-form pricer for its training set is not a missing value — it is a category error the system cannot express.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551" y="1399032"/>
            <a:ext cx="2467279" cy="2514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00551" y="1399032"/>
            <a:ext cx="246727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0007" y="1618488"/>
            <a:ext cx="20283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0007" y="1892807"/>
            <a:ext cx="2028367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Schema rigidity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0007" y="2203703"/>
            <a:ext cx="2028367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When artefact kind is a column, every new kind is a migration touching every module. So new kinds are never added, and the newest artefacts are silently excluded.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3863" y="1399032"/>
            <a:ext cx="2467279" cy="2514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3863" y="1399032"/>
            <a:ext cx="246727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3319" y="1618488"/>
            <a:ext cx="20283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P3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3319" y="1892807"/>
            <a:ext cx="2028367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Scope as a boolean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3319" y="2203703"/>
            <a:ext cx="2028367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Regulatory applicability is several facts, one per regulator, disagreeing by design. Modelled as a checkbox, every regulatory revision forces re-architecture.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7175" y="1399032"/>
            <a:ext cx="2467279" cy="2514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47175" y="1399032"/>
            <a:ext cx="246727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6631" y="1618488"/>
            <a:ext cx="20283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P4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6631" y="1892807"/>
            <a:ext cx="202836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Evidence as assertion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6631" y="2395727"/>
            <a:ext cx="2028367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The record states a model was validated. Nothing establishes that the model described is the model executing. The claim is unfalsifiable.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187952"/>
            <a:ext cx="10637215" cy="82296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187952"/>
            <a:ext cx="45720" cy="82296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343400"/>
            <a:ext cx="1008857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1C30"/>
                </a:solidFill>
                <a:latin typeface="Calibri"/>
              </a:rPr>
              <a:t>Root cause.  </a:t>
            </a:r>
            <a:r>
              <a:rPr sz="1300" b="0" i="0">
                <a:solidFill>
                  <a:srgbClr val="1C1C1E"/>
                </a:solidFill>
                <a:latin typeface="Calibri"/>
              </a:rPr>
              <a:t>There is no formal answer to </a:t>
            </a:r>
            <a:r>
              <a:rPr sz="1300" b="1" i="1">
                <a:solidFill>
                  <a:srgbClr val="1C1C1E"/>
                </a:solidFill>
                <a:latin typeface="Calibri"/>
              </a:rPr>
              <a:t>what is a model?</a:t>
            </a:r>
            <a:r>
              <a:rPr sz="1300" b="0" i="0">
                <a:solidFill>
                  <a:srgbClr val="1C1C1E"/>
                </a:solidFill>
                <a:latin typeface="Calibri"/>
              </a:rPr>
              <a:t>  Every system therefore invents an informal one, and every informal one is wrong in a different 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A definition problem, not a product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1 ·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53312"/>
            <a:ext cx="4907127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53312"/>
            <a:ext cx="4907127" cy="50292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591056"/>
            <a:ext cx="4395063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C1C1E"/>
                </a:solidFill>
                <a:latin typeface="Georgia"/>
              </a:rPr>
              <a:t>Governance platforms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2E4057"/>
                </a:solidFill>
                <a:latin typeface="Calibri"/>
              </a:rPr>
              <a:t>Strong: </a:t>
            </a:r>
            <a:r>
              <a:rPr sz="1150" b="0" i="0">
                <a:solidFill>
                  <a:srgbClr val="4A4F57"/>
                </a:solidFill>
                <a:latin typeface="Calibri"/>
              </a:rPr>
              <a:t>workflow, approvals, findings, reporting.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51C30"/>
                </a:solidFill>
                <a:latin typeface="Calibri"/>
              </a:rPr>
              <a:t>Structurally cannot: </a:t>
            </a:r>
            <a:r>
              <a:rPr sz="1150" b="0" i="0">
                <a:solidFill>
                  <a:srgbClr val="4A4F57"/>
                </a:solidFill>
                <a:latin typeface="Calibri"/>
              </a:rPr>
              <a:t>see the artefact. The record asserts; nothing verifies. The claim is unfalsifiable.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07327" y="1353312"/>
            <a:ext cx="4907127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07327" y="1353312"/>
            <a:ext cx="4907127" cy="50292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3359" y="1591056"/>
            <a:ext cx="4395063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C1C1E"/>
                </a:solidFill>
                <a:latin typeface="Georgia"/>
              </a:rPr>
              <a:t>ML / MLOps platforms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2E4057"/>
                </a:solidFill>
                <a:latin typeface="Calibri"/>
              </a:rPr>
              <a:t>Strong: </a:t>
            </a:r>
            <a:r>
              <a:rPr sz="1150" b="0" i="0">
                <a:solidFill>
                  <a:srgbClr val="4A4F57"/>
                </a:solidFill>
                <a:latin typeface="Calibri"/>
              </a:rPr>
              <a:t>artefact lineage, telemetry, reproducibility.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51C30"/>
                </a:solidFill>
                <a:latin typeface="Calibri"/>
              </a:rPr>
              <a:t>Structurally cannot: </a:t>
            </a:r>
            <a:r>
              <a:rPr sz="1150" b="0" i="0">
                <a:solidFill>
                  <a:srgbClr val="4A4F57"/>
                </a:solidFill>
                <a:latin typeface="Calibri"/>
              </a:rPr>
              <a:t>express materiality, approved use, independent challenge or overlay — and never see 60–80% of the estate.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75807" y="2176272"/>
            <a:ext cx="640080" cy="50292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5807" y="227685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C1C1E"/>
                </a:solidFill>
                <a:latin typeface="Georgia"/>
              </a:rPr>
              <a:t>Two families of tools each solve half a problem, and everyone assumes the gap is a product opportunity. </a:t>
            </a:r>
            <a:r>
              <a:rPr sz="1550" b="1" i="0">
                <a:solidFill>
                  <a:srgbClr val="A51C30"/>
                </a:solidFill>
                <a:latin typeface="Georgia"/>
              </a:rPr>
              <a:t>Sometimes it is. Sometimes the gap is where a definition should be — and no amount of product fills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C0"/>
                </a:solidFill>
                <a:latin typeface="Calibri"/>
              </a:rPr>
              <a:t>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46350"/>
            <a:ext cx="616958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FFFFFF"/>
                </a:solidFill>
                <a:latin typeface="Georgia"/>
              </a:rPr>
              <a:t>A Formal Foundation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703320"/>
            <a:ext cx="1371600" cy="32004"/>
          </a:xfrm>
          <a:prstGeom prst="rect">
            <a:avLst/>
          </a:prstGeom>
          <a:solidFill>
            <a:srgbClr val="E8B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659507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2D8DC"/>
                </a:solidFill>
                <a:latin typeface="Calibri"/>
              </a:rPr>
              <a:t>Six pillars, each admitted only because it pays rent.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7802" y="1874519"/>
            <a:ext cx="361665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950" b="1" i="0">
                <a:solidFill>
                  <a:srgbClr val="E0A8B2"/>
                </a:solidFill>
                <a:latin typeface="Calibri"/>
              </a:rPr>
              <a:t>IN THIS CHAPTER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F6E6E9"/>
                </a:solidFill>
                <a:latin typeface="Calibri"/>
              </a:rPr>
              <a:t>What a model is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F6E6E9"/>
                </a:solidFill>
                <a:latin typeface="Calibri"/>
              </a:rPr>
              <a:t>The trainability classification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F6E6E9"/>
                </a:solidFill>
                <a:latin typeface="Calibri"/>
              </a:rPr>
              <a:t>Composition and the copy map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F6E6E9"/>
                </a:solidFill>
                <a:latin typeface="Calibri"/>
              </a:rPr>
              <a:t>An impossibility result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F6E6E9"/>
                </a:solidFill>
                <a:latin typeface="Calibri"/>
              </a:rPr>
              <a:t>Contracts, fibrations, institutions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F6E6E9"/>
                </a:solidFill>
                <a:latin typeface="Calibri"/>
              </a:rPr>
              <a:t>Evidence over a semiring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A FORMAL FOUNDATION ·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The rent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2 · A Formal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53312"/>
            <a:ext cx="10637215" cy="9144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517904"/>
            <a:ext cx="999713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FFFFF"/>
                </a:solidFill>
                <a:latin typeface="Georgia"/>
              </a:rPr>
              <a:t>An abstraction earns its place only if it delivers a property we would otherwise hand-build, hand-check or hand-migrate — and only if that property is stated as an executable law.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2468880"/>
          <a:ext cx="10637214" cy="298564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4935"/>
                <a:gridCol w="3052418"/>
                <a:gridCol w="5179861"/>
              </a:tblGrid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Pillar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Mathematics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Property delivered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52125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What is a model?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Markov categories + Para construction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One definition for nine model classes; training becomes optional by construction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How do they compose?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Symmetric monoidal categories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Typed composition; blast radius; aggregate risk as lax monoidality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52125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Reasoning about black boxes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Contracts; Galois connections; Yoneda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Runtime boundary checks; substitution by proof; provably sound summaries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Indexing everything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Fibrations / Grothendieck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New model kinds require no schema migration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Many regulators at once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Institutions (Goguen–Burstall)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New regulators require no migration; scope becomes a citable derivation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Evidence and risk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Semirings, lattices, bitemporal algebra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One evidence engine answers nine questions by swapping the arithmetic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77240" y="5673979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4A4F57"/>
                </a:solidFill>
                <a:latin typeface="Calibri"/>
              </a:rPr>
              <a:t>None of the mathematics is new. The contribution is the assembly, plus the results it makes visible.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A FORMAL FOUNDATION · PILLAR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What is a model, formally?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2 · A Formal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53312"/>
            <a:ext cx="10637215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53312"/>
            <a:ext cx="45720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9905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51C30"/>
                </a:solidFill>
                <a:latin typeface="Georgia"/>
              </a:rPr>
              <a:t>f  :  P ⊗ X  →  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993391"/>
            <a:ext cx="9905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F57"/>
                </a:solidFill>
                <a:latin typeface="Calibri"/>
              </a:rPr>
              <a:t>a </a:t>
            </a:r>
            <a:r>
              <a:rPr sz="1200" b="1" i="0">
                <a:solidFill>
                  <a:srgbClr val="1C1C1E"/>
                </a:solidFill>
                <a:latin typeface="Calibri"/>
              </a:rPr>
              <a:t>parameter object</a:t>
            </a:r>
            <a:r>
              <a:rPr sz="1200" b="0" i="0">
                <a:solidFill>
                  <a:srgbClr val="4A4F57"/>
                </a:solidFill>
                <a:latin typeface="Calibri"/>
              </a:rPr>
              <a:t> P — the dials — an </a:t>
            </a:r>
            <a:r>
              <a:rPr sz="1200" b="1" i="0">
                <a:solidFill>
                  <a:srgbClr val="1C1C1E"/>
                </a:solidFill>
                <a:latin typeface="Calibri"/>
              </a:rPr>
              <a:t>input</a:t>
            </a:r>
            <a:r>
              <a:rPr sz="1200" b="0" i="0">
                <a:solidFill>
                  <a:srgbClr val="4A4F57"/>
                </a:solidFill>
                <a:latin typeface="Calibri"/>
              </a:rPr>
              <a:t> X, an </a:t>
            </a:r>
            <a:r>
              <a:rPr sz="1200" b="1" i="0">
                <a:solidFill>
                  <a:srgbClr val="1C1C1E"/>
                </a:solidFill>
                <a:latin typeface="Calibri"/>
              </a:rPr>
              <a:t>output</a:t>
            </a:r>
            <a:r>
              <a:rPr sz="1200" b="0" i="0">
                <a:solidFill>
                  <a:srgbClr val="4A4F57"/>
                </a:solidFill>
                <a:latin typeface="Calibri"/>
              </a:rPr>
              <a:t> Y, and a kernel consuming parameters and input to produce output, possibly at random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70632"/>
            <a:ext cx="4999491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Why a Markov category, not plain functions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200" b="1">
                <a:solidFill>
                  <a:srgbClr val="A51C30"/>
                </a:solidFill>
                <a:latin typeface="Calibri"/>
              </a:rPr>
              <a:t>▪  </a:t>
            </a:r>
            <a:r>
              <a:rPr sz="1200" b="1">
                <a:solidFill>
                  <a:srgbClr val="1C1C1E"/>
                </a:solidFill>
                <a:latin typeface="Calibri"/>
              </a:rPr>
              <a:t>Copying is explicit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A4F57"/>
                </a:solidFill>
                <a:latin typeface="Calibri"/>
              </a:rPr>
              <a:t>One output feeding two consumers is visible structure — decisive two slides from now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200" b="1">
                <a:solidFill>
                  <a:srgbClr val="A51C30"/>
                </a:solidFill>
                <a:latin typeface="Calibri"/>
              </a:rPr>
              <a:t>▪  </a:t>
            </a:r>
            <a:r>
              <a:rPr sz="1200" b="1">
                <a:solidFill>
                  <a:srgbClr val="1C1C1E"/>
                </a:solidFill>
                <a:latin typeface="Calibri"/>
              </a:rPr>
              <a:t>Discarding is explicit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A4F57"/>
                </a:solidFill>
                <a:latin typeface="Calibri"/>
              </a:rPr>
              <a:t>Outputs need not be used, which is what makes exposure a separate quantity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200" b="1">
                <a:solidFill>
                  <a:srgbClr val="A51C30"/>
                </a:solidFill>
                <a:latin typeface="Calibri"/>
              </a:rPr>
              <a:t>▪  </a:t>
            </a:r>
            <a:r>
              <a:rPr sz="1200" b="1">
                <a:solidFill>
                  <a:srgbClr val="1C1C1E"/>
                </a:solidFill>
                <a:latin typeface="Calibri"/>
              </a:rPr>
              <a:t>Determinism is a property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A4F57"/>
                </a:solidFill>
                <a:latin typeface="Calibri"/>
              </a:rPr>
              <a:t>f commutes with copy — and that is exactly the reproducibility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4964" y="2770632"/>
            <a:ext cx="4999491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The move that does the work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4A4F57"/>
                </a:solidFill>
                <a:latin typeface="Calibri"/>
              </a:rPr>
              <a:t>Separating </a:t>
            </a:r>
            <a:r>
              <a:rPr sz="1250" b="1" i="0">
                <a:solidFill>
                  <a:srgbClr val="A51C30"/>
                </a:solidFill>
                <a:latin typeface="Calibri"/>
              </a:rPr>
              <a:t>P</a:t>
            </a:r>
            <a:r>
              <a:rPr sz="1250" b="0" i="0">
                <a:solidFill>
                  <a:srgbClr val="4A4F57"/>
                </a:solidFill>
                <a:latin typeface="Calibri"/>
              </a:rPr>
              <a:t> from </a:t>
            </a:r>
            <a:r>
              <a:rPr sz="1250" b="1" i="0">
                <a:solidFill>
                  <a:srgbClr val="A51C30"/>
                </a:solidFill>
                <a:latin typeface="Calibri"/>
              </a:rPr>
              <a:t>f</a:t>
            </a:r>
            <a:r>
              <a:rPr sz="1250" b="0" i="0">
                <a:solidFill>
                  <a:srgbClr val="4A4F57"/>
                </a:solidFill>
                <a:latin typeface="Calibri"/>
              </a:rPr>
              <a:t> replaces an unanswerable question — </a:t>
            </a:r>
            <a:r>
              <a:rPr sz="1250" b="1" i="1">
                <a:solidFill>
                  <a:srgbClr val="1C1C1E"/>
                </a:solidFill>
                <a:latin typeface="Calibri"/>
              </a:rPr>
              <a:t>“what kind of model is this?”</a:t>
            </a:r>
            <a:r>
              <a:rPr sz="1250" b="0" i="0">
                <a:solidFill>
                  <a:srgbClr val="4A4F57"/>
                </a:solidFill>
                <a:latin typeface="Calibri"/>
              </a:rPr>
              <a:t> — with a precise one: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4964" y="3749039"/>
            <a:ext cx="4999491" cy="54864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7844" y="3867912"/>
            <a:ext cx="46337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How do the dials get set?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A FORMAL FOUNDATION · THE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Nine kinds of artefact, one kind of 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2 · A Formal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353312"/>
          <a:ext cx="10637213" cy="325651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4350"/>
                <a:gridCol w="1604752"/>
                <a:gridCol w="2475903"/>
                <a:gridCol w="3759705"/>
                <a:gridCol w="2292503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Parameter object P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How P is filled — the fitting morphism φ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25259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A51C30"/>
                          </a:solidFill>
                          <a:latin typeface="Calibri"/>
                        </a:rPr>
                        <a:t>T0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Analytic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empty — terminal object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It is not. The fitting question is vacuous.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Black–Scholes, SA-CCR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5259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A51C30"/>
                          </a:solidFill>
                          <a:latin typeface="Calibri"/>
                        </a:rPr>
                        <a:t>T1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Calibrated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calibration parameters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A solver, against market instruments, daily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SABR vol surface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25259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A51C30"/>
                          </a:solidFill>
                          <a:latin typeface="Calibri"/>
                        </a:rPr>
                        <a:t>T2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Estimated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coefficients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A statistical estimator on a sample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PD scorecard, PPNR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5259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A51C30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Learned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weights, hyperparameters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A training algorithm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Fraud classifier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25259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A51C30"/>
                          </a:solidFill>
                          <a:latin typeface="Calibri"/>
                        </a:rPr>
                        <a:t>T4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Adaptive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parameters indexed by time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A process, running continuously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Adaptive AML threshold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5259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A51C30"/>
                          </a:solidFill>
                          <a:latin typeface="Calibri"/>
                        </a:rPr>
                        <a:t>T5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Foundation-based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weights, prompt, corpus, tools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Configuration and retrieval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Narrative drafting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25259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A51C30"/>
                          </a:solidFill>
                          <a:latin typeface="Calibri"/>
                        </a:rPr>
                        <a:t>T6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Opaque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exists but inaccessible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External and unavailable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Bureau credit score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5259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A51C30"/>
                          </a:solidFill>
                          <a:latin typeface="Calibri"/>
                        </a:rPr>
                        <a:t>T7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Elicited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weights or thresholds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An elicitation protocol over a panel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Country-risk scorecard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25259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A51C30"/>
                          </a:solidFill>
                          <a:latin typeface="Calibri"/>
                        </a:rPr>
                        <a:t>T8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Authored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the rule set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Somebody wrote it down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C1C1E"/>
                          </a:solidFill>
                          <a:latin typeface="Calibri"/>
                        </a:rPr>
                        <a:t>AML scenarios, EUCs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4847577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51C30"/>
                </a:solidFill>
                <a:latin typeface="Calibri"/>
              </a:rPr>
              <a:t>T0 is not a degenerate model — it is the case P ≅ I. </a:t>
            </a:r>
            <a:r>
              <a:rPr sz="1150" b="0" i="0">
                <a:solidFill>
                  <a:srgbClr val="1C1C1E"/>
                </a:solidFill>
                <a:latin typeface="Calibri"/>
              </a:rPr>
              <a:t>Asking it for a training set is a type error, and the system can now say so. T6 is characterised by </a:t>
            </a:r>
            <a:r>
              <a:rPr sz="1150" b="1" i="1">
                <a:solidFill>
                  <a:srgbClr val="1C1C1E"/>
                </a:solidFill>
                <a:latin typeface="Calibri"/>
              </a:rPr>
              <a:t>inaccessibility</a:t>
            </a:r>
            <a:r>
              <a:rPr sz="1150" b="0" i="0">
                <a:solidFill>
                  <a:srgbClr val="1C1C1E"/>
                </a:solidFill>
                <a:latin typeface="Calibri"/>
              </a:rPr>
              <a:t> of P — which is exactly why only behavioural evidence is obtainable from a vendor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A FORMAL FOUNDATION · AN IMPOSSIBILITY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Aggregate risk cannot be computed from the parts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2 · A Formal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53312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1C1E"/>
                </a:solidFill>
                <a:latin typeface="Calibri"/>
              </a:rPr>
              <a:t>Supervisory guidance requires aggregate risk reflecting </a:t>
            </a:r>
            <a:r>
              <a:rPr sz="1250" b="1" i="1">
                <a:solidFill>
                  <a:srgbClr val="A51C30"/>
                </a:solidFill>
                <a:latin typeface="Calibri"/>
              </a:rPr>
              <a:t>“interactions and dependencies among models; reliance on common assumptions, data, or methodologies.”</a:t>
            </a:r>
            <a:r>
              <a:rPr sz="1250" b="0" i="0">
                <a:solidFill>
                  <a:srgbClr val="1C1C1E"/>
                </a:solidFill>
                <a:latin typeface="Calibri"/>
              </a:rPr>
              <a:t>  In practice, aggregates are computed as the maximum of component ratings.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993391"/>
            <a:ext cx="489311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112263"/>
            <a:ext cx="44359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NETWORK 1  —  one curve, two consumers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615184"/>
            <a:ext cx="1371600" cy="512064"/>
          </a:xfrm>
          <a:prstGeom prst="rect">
            <a:avLst/>
          </a:prstGeom>
          <a:solidFill>
            <a:srgbClr val="EAE4DC"/>
          </a:solidFill>
          <a:ln w="15240"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2144" y="2660903"/>
            <a:ext cx="12618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E"/>
                </a:solidFill>
                <a:latin typeface="Calibri"/>
              </a:rPr>
              <a:t>A  curve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F87"/>
                </a:solidFill>
                <a:latin typeface="Calibri"/>
              </a:rPr>
              <a:t>risk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450591"/>
            <a:ext cx="105156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63824" y="2496311"/>
            <a:ext cx="94183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E"/>
                </a:solidFill>
                <a:latin typeface="Calibri"/>
              </a:rPr>
              <a:t>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F87"/>
                </a:solidFill>
                <a:latin typeface="Calibri"/>
              </a:rPr>
              <a:t>risk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3044951"/>
            <a:ext cx="105156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63824" y="3090671"/>
            <a:ext cx="94183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E"/>
                </a:solidFill>
                <a:latin typeface="Calibri"/>
              </a:rPr>
              <a:t>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F87"/>
                </a:solidFill>
                <a:latin typeface="Calibri"/>
              </a:rPr>
              <a:t>risk b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468880" y="2642615"/>
            <a:ext cx="640080" cy="237744"/>
          </a:xfrm>
          <a:prstGeom prst="line">
            <a:avLst/>
          </a:prstGeom>
          <a:ln w="1905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468880" y="2880359"/>
            <a:ext cx="640080" cy="356617"/>
          </a:xfrm>
          <a:prstGeom prst="line">
            <a:avLst/>
          </a:prstGeom>
          <a:ln w="1905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61688" y="2615184"/>
            <a:ext cx="12070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A51C30"/>
                </a:solidFill>
                <a:latin typeface="Calibri"/>
              </a:rPr>
              <a:t>fragility =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one failure,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two outputs lost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21336" y="1993391"/>
            <a:ext cx="489311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9936" y="2112263"/>
            <a:ext cx="44359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E4057"/>
                </a:solidFill>
                <a:latin typeface="Calibri"/>
              </a:rPr>
              <a:t>NETWORK 2  —  two independent curves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41376" y="2450591"/>
            <a:ext cx="1371600" cy="438912"/>
          </a:xfrm>
          <a:prstGeom prst="rect">
            <a:avLst/>
          </a:prstGeom>
          <a:solidFill>
            <a:srgbClr val="EAE4DC"/>
          </a:solidFill>
          <a:ln w="15240"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96240" y="2496311"/>
            <a:ext cx="12618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E"/>
                </a:solidFill>
                <a:latin typeface="Calibri"/>
              </a:rPr>
              <a:t>A  curve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F87"/>
                </a:solidFill>
                <a:latin typeface="Calibri"/>
              </a:rPr>
              <a:t>risk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1376" y="3044951"/>
            <a:ext cx="1371600" cy="438912"/>
          </a:xfrm>
          <a:prstGeom prst="rect">
            <a:avLst/>
          </a:prstGeom>
          <a:solidFill>
            <a:srgbClr val="EAE4DC"/>
          </a:solidFill>
          <a:ln w="15240"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96240" y="3090671"/>
            <a:ext cx="12618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E"/>
                </a:solidFill>
                <a:latin typeface="Calibri"/>
              </a:rPr>
              <a:t>A′ curve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F87"/>
                </a:solidFill>
                <a:latin typeface="Calibri"/>
              </a:rPr>
              <a:t>risk 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53056" y="2450591"/>
            <a:ext cx="105156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07920" y="2496311"/>
            <a:ext cx="94183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E"/>
                </a:solidFill>
                <a:latin typeface="Calibri"/>
              </a:rPr>
              <a:t>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F87"/>
                </a:solidFill>
                <a:latin typeface="Calibri"/>
              </a:rPr>
              <a:t>risk 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53056" y="3044951"/>
            <a:ext cx="105156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07920" y="3090671"/>
            <a:ext cx="94183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E"/>
                </a:solidFill>
                <a:latin typeface="Calibri"/>
              </a:rPr>
              <a:t>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F87"/>
                </a:solidFill>
                <a:latin typeface="Calibri"/>
              </a:rPr>
              <a:t>risk b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12976" y="2642615"/>
            <a:ext cx="640080" cy="0"/>
          </a:xfrm>
          <a:prstGeom prst="line">
            <a:avLst/>
          </a:prstGeom>
          <a:ln w="1905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12976" y="3236976"/>
            <a:ext cx="640080" cy="0"/>
          </a:xfrm>
          <a:prstGeom prst="line">
            <a:avLst/>
          </a:prstGeom>
          <a:ln w="1905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105784" y="2615184"/>
            <a:ext cx="12070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4057"/>
                </a:solidFill>
                <a:latin typeface="Calibri"/>
              </a:rPr>
              <a:t>fragility =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one failure,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one output lost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005072"/>
            <a:ext cx="10637215" cy="118872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123944"/>
            <a:ext cx="99971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Theorem.  No risk assignment is both compositional and sensitive to shared dependency.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6E0E4"/>
                </a:solidFill>
                <a:latin typeface="Calibri"/>
              </a:rPr>
              <a:t>Both networks contain the same component risks {a, b, b}, so any compositional measure gives them the same aggregate. They are plainly not equally exposed.  </a:t>
            </a:r>
            <a:r>
              <a:rPr sz="1150" b="1" i="0">
                <a:solidFill>
                  <a:srgbClr val="FFFFFF"/>
                </a:solidFill>
                <a:latin typeface="Calibri"/>
              </a:rPr>
              <a:t>The difference is exactly one thing: Network 1 copies. Shared dependency is the copy map — invisible in ordinary function composition, explicit in a Markov category.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A FORMAL FOUNDATION · PILLARS 3–5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Contracts, fibrations, institutions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2 · A Formal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53312"/>
            <a:ext cx="324093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53312"/>
            <a:ext cx="3240938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1591056"/>
            <a:ext cx="276545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Contracts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Assume–guarantee algebra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4A4F57"/>
                </a:solidFill>
                <a:latin typeface="Calibri"/>
              </a:rPr>
              <a:t>An operating boundary is an assumption A; a performance envelope is a guarantee G. Outside A, G is formally void — a much stronger statement than “results may be unreliable”.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51C30"/>
                </a:solidFill>
                <a:latin typeface="Calibri"/>
              </a:rPr>
              <a:t>Result: </a:t>
            </a:r>
            <a:r>
              <a:rPr sz="1100" b="0" i="0">
                <a:solidFill>
                  <a:srgbClr val="1C1C1E"/>
                </a:solidFill>
                <a:latin typeface="Calibri"/>
              </a:rPr>
              <a:t>Substitution becomes a proof obligation: the replacement's contract must refine the incumbent's. Decidable, not a judgement call.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5378" y="1353312"/>
            <a:ext cx="324093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75378" y="1353312"/>
            <a:ext cx="3240938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3122" y="1591056"/>
            <a:ext cx="276545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Fibrations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Grothendieck construction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4A4F57"/>
                </a:solidFill>
                <a:latin typeface="Calibri"/>
              </a:rPr>
              <a:t>Make “kind of model” the index of a family, not a column. Each kind supplies its own fibre: evidence schema, lifecycle, metrics, templates.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51C30"/>
                </a:solidFill>
                <a:latin typeface="Calibri"/>
              </a:rPr>
              <a:t>Result: </a:t>
            </a:r>
            <a:r>
              <a:rPr sz="1100" b="0" i="0">
                <a:solidFill>
                  <a:srgbClr val="1C1C1E"/>
                </a:solidFill>
                <a:latin typeface="Calibri"/>
              </a:rPr>
              <a:t>Conservative extension: adding a fibre leaves every existing fibre untouched. New kinds — including ones not yet invented — are a plugin, not a migration.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3516" y="1353312"/>
            <a:ext cx="324093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3516" y="1353312"/>
            <a:ext cx="3240938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1260" y="1591056"/>
            <a:ext cx="276545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Institutions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Goguen–Burstall, 1992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4A4F57"/>
                </a:solidFill>
                <a:latin typeface="Calibri"/>
              </a:rPr>
              <a:t>A regulator is a logical system: its own vocabulary, its own sentences, its own notion of truth over an inventory. Regimes are institutions; translations are comorphisms.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51C30"/>
                </a:solidFill>
                <a:latin typeface="Calibri"/>
              </a:rPr>
              <a:t>Result: </a:t>
            </a:r>
            <a:r>
              <a:rPr sz="1100" b="0" i="0">
                <a:solidFill>
                  <a:srgbClr val="1C1C1E"/>
                </a:solidFill>
                <a:latin typeface="Calibri"/>
              </a:rPr>
              <a:t>The satisfaction condition — truth is invariant under change of notation — gives a falsifiable consistency test for a regulatory encoding.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A FORMAL FOUNDATION · PILLAR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Evidence over a semiring: one engine, nine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2 · A Formal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53312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1C1E"/>
                </a:solidFill>
                <a:latin typeface="Calibri"/>
              </a:rPr>
              <a:t>Governance claims have a fixed shape: this rests on that </a:t>
            </a:r>
            <a:r>
              <a:rPr sz="1250" b="1" i="0">
                <a:solidFill>
                  <a:srgbClr val="A51C30"/>
                </a:solidFill>
                <a:latin typeface="Calibri"/>
              </a:rPr>
              <a:t>AND</a:t>
            </a:r>
            <a:r>
              <a:rPr sz="1250" b="0" i="0">
                <a:solidFill>
                  <a:srgbClr val="1C1C1E"/>
                </a:solidFill>
                <a:latin typeface="Calibri"/>
              </a:rPr>
              <a:t> that; this can be met by this route </a:t>
            </a:r>
            <a:r>
              <a:rPr sz="1250" b="1" i="0">
                <a:solidFill>
                  <a:srgbClr val="A51C30"/>
                </a:solidFill>
                <a:latin typeface="Calibri"/>
              </a:rPr>
              <a:t>OR</a:t>
            </a:r>
            <a:r>
              <a:rPr sz="1250" b="0" i="0">
                <a:solidFill>
                  <a:srgbClr val="1C1C1E"/>
                </a:solidFill>
                <a:latin typeface="Calibri"/>
              </a:rPr>
              <a:t> that. Keep the shape, swap the arithmetic, and the same computation answers a different question.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828800"/>
          <a:ext cx="10637213" cy="33378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19940"/>
                <a:gridCol w="1757452"/>
                <a:gridCol w="6659821"/>
              </a:tblGrid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Semiring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⊕ , ⊗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Governance question it answers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Boolean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∨ , ∧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Is the claim supported at all?  →  gate evaluation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Natural numbers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+ , ×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How many independent derivations corroborate it?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Why-provenance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∪ , pairwise ∪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Which minimal evidence sets suffice?  →  what to show an examiner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Polynomials ℕ[X]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+ , ×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Exactly how was it derived?  →  full audit reconstruction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([0,1], max, ×)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max , ×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With what confidence?  →  trust scoring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Tropical (min, +)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min , +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Cheapest path to close this gap?  →  remediation planning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Security lattice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⊓ , ⊔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What classification does the conclusion inherit?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Regime sets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∩ , ∪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For which regulators is this evidence admissible?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(Time, max, max)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max , max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As of when is this claim current?  →  staleness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" y="538607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51C30"/>
                </a:solidFill>
                <a:latin typeface="Calibri"/>
              </a:rPr>
              <a:t>ℕ[X] is universal. </a:t>
            </a:r>
            <a:r>
              <a:rPr sz="1250" b="0" i="0">
                <a:solidFill>
                  <a:srgbClr val="1C1C1E"/>
                </a:solidFill>
                <a:latin typeface="Calibri"/>
              </a:rPr>
              <a:t>Compute once in polynomials; every other answer follows by homomorphism. Nine capabilities, one implementation — and they cannot disagree. Hold on to this: it returns in the next chapter.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C0"/>
                </a:solidFill>
                <a:latin typeface="Calibri"/>
              </a:rPr>
              <a:t>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34132"/>
            <a:ext cx="616958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FFFFFF"/>
                </a:solidFill>
                <a:latin typeface="Georgia"/>
              </a:rPr>
              <a:t>Automation and Its Oracles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703320"/>
            <a:ext cx="1371600" cy="32004"/>
          </a:xfrm>
          <a:prstGeom prst="rect">
            <a:avLst/>
          </a:prstGeom>
          <a:solidFill>
            <a:srgbClr val="E8B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659507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2D8DC"/>
                </a:solidFill>
                <a:latin typeface="Calibri"/>
              </a:rPr>
              <a:t>The structure was built for governance. It answers a question nobody asked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7802" y="1874519"/>
            <a:ext cx="361665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950" b="1" i="0">
                <a:solidFill>
                  <a:srgbClr val="E0A8B2"/>
                </a:solidFill>
                <a:latin typeface="Calibri"/>
              </a:rPr>
              <a:t>IN THIS CHAPTER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F6E6E9"/>
                </a:solidFill>
                <a:latin typeface="Calibri"/>
              </a:rPr>
              <a:t>The wrong question and the right one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F6E6E9"/>
                </a:solidFill>
                <a:latin typeface="Calibri"/>
              </a:rPr>
              <a:t>Verified automation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F6E6E9"/>
                </a:solidFill>
                <a:latin typeface="Calibri"/>
              </a:rPr>
              <a:t>Which tasks are oracle-backed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F6E6E9"/>
                </a:solidFill>
                <a:latin typeface="Calibri"/>
              </a:rPr>
              <a:t>Grounding as a computation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F6E6E9"/>
                </a:solidFill>
                <a:latin typeface="Calibri"/>
              </a:rPr>
              <a:t>What admits no oracle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F6E6E9"/>
                </a:solidFill>
                <a:latin typeface="Calibri"/>
              </a:rPr>
              <a:t>Models governing models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AUTOMATION · THE CRITERION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The wrong question, and the right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3 · Automation and Its Oracles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53312"/>
            <a:ext cx="499856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53312"/>
            <a:ext cx="4998567" cy="50292"/>
          </a:xfrm>
          <a:prstGeom prst="rect">
            <a:avLst/>
          </a:prstGeom>
          <a:solidFill>
            <a:srgbClr val="7A7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591056"/>
            <a:ext cx="44865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4A4F57"/>
                </a:solidFill>
                <a:latin typeface="Georgia"/>
              </a:rPr>
              <a:t>What everyone asks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 i="1">
                <a:solidFill>
                  <a:srgbClr val="4A4F57"/>
                </a:solidFill>
                <a:latin typeface="Calibri"/>
              </a:rPr>
              <a:t>“Is the model good enough for this task?”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7F87"/>
                </a:solidFill>
                <a:latin typeface="Calibri"/>
              </a:rPr>
              <a:t>Answered by benchmarks, pilots, and a review process whose control is “a competent human checks it”.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15887" y="1353312"/>
            <a:ext cx="4998567" cy="1417320"/>
          </a:xfrm>
          <a:prstGeom prst="rect">
            <a:avLst/>
          </a:prstGeom>
          <a:solidFill>
            <a:srgbClr val="FFFFFF"/>
          </a:solidFill>
          <a:ln w="16510"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15887" y="1353312"/>
            <a:ext cx="4998567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1919" y="1591056"/>
            <a:ext cx="44865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A51C30"/>
                </a:solidFill>
                <a:latin typeface="Georgia"/>
              </a:rPr>
              <a:t>What we should ask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 i="1">
                <a:solidFill>
                  <a:srgbClr val="1C1C1E"/>
                </a:solidFill>
                <a:latin typeface="Calibri"/>
              </a:rPr>
              <a:t>“Do I have a check?”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57"/>
                </a:solidFill>
                <a:latin typeface="Calibri"/>
              </a:rPr>
              <a:t>Answered by the structure. Either a decision procedure exists for this task, or it does not — and that is a fact about the domain, not about the model.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090672"/>
            <a:ext cx="10637215" cy="96012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236976"/>
            <a:ext cx="99971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FFFFFF"/>
                </a:solidFill>
                <a:latin typeface="Georgia"/>
              </a:rPr>
              <a:t>Deploy AI where the formalism gives you a mechanical check on the AI's output. Use humans where it does not.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79392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1C1E"/>
                </a:solidFill>
                <a:latin typeface="Calibri"/>
              </a:rPr>
              <a:t>This criterion is not generally available. </a:t>
            </a:r>
            <a:r>
              <a:rPr sz="1250" b="0" i="0">
                <a:solidFill>
                  <a:srgbClr val="4A4F57"/>
                </a:solidFill>
                <a:latin typeface="Calibri"/>
              </a:rPr>
              <a:t>It is available here because the constructions of the last chapter are decision procedures: the satisfaction condition checks a regulatory encoding, Why-provenance checks a citation, contract refinement checks a substitution, probe-relative equivalence checks a behavioural claim. Elsewhere, “the model might be wrong” is managed with review and hope. Here, for a meaningful fraction of the work, it is managed with a test.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AUTOMATION · THE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Verified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3 · Automation and Its Oracles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53312"/>
            <a:ext cx="10637215" cy="141732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53312"/>
            <a:ext cx="45720" cy="141732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499616"/>
            <a:ext cx="99056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A51C30"/>
                </a:solidFill>
                <a:latin typeface="Georgia"/>
              </a:rPr>
              <a:t>Proposition (Automation admissibility).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1C1E"/>
                </a:solidFill>
                <a:latin typeface="Calibri"/>
              </a:rPr>
              <a:t>If a task is oracle-backed, the soundness of verified automation is independent of the generator: no incorrect output is accepted, whatever produced it. The generator's error rate determines throughput, not correctness.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1C1E"/>
                </a:solidFill>
                <a:latin typeface="Calibri"/>
              </a:rPr>
              <a:t>If a task is not oracle-backed, the correctness of the output is exactly the correctness of the generator.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44952"/>
            <a:ext cx="499949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C1C1E"/>
                </a:solidFill>
                <a:latin typeface="Georgia"/>
              </a:rPr>
              <a:t>In plain terms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4A4F57"/>
                </a:solidFill>
                <a:latin typeface="Calibri"/>
              </a:rPr>
              <a:t>If you can check an answer, it does not matter very much who or what produced it. A wrong answer is caught and discarded; the only cost is wasted effort.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F57"/>
                </a:solidFill>
                <a:latin typeface="Calibri"/>
              </a:rPr>
              <a:t>If you cannot check the answer, then trusting the answer is trusting the producer — and no amount of process changes that.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14964" y="3044952"/>
            <a:ext cx="4999491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2708" y="3200400"/>
            <a:ext cx="4524003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A51C30"/>
                </a:solidFill>
                <a:latin typeface="Georgia"/>
              </a:rPr>
              <a:t>Why this reframes the debate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A51C30"/>
                </a:solidFill>
                <a:latin typeface="Calibri"/>
              </a:rPr>
              <a:t>▪  </a:t>
            </a:r>
            <a:r>
              <a:rPr sz="1150">
                <a:solidFill>
                  <a:srgbClr val="1C1C1E"/>
                </a:solidFill>
                <a:latin typeface="Calibri"/>
              </a:rPr>
              <a:t>Model capability stops being the deciding variable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A51C30"/>
                </a:solidFill>
                <a:latin typeface="Calibri"/>
              </a:rPr>
              <a:t>▪  </a:t>
            </a:r>
            <a:r>
              <a:rPr sz="1150">
                <a:solidFill>
                  <a:srgbClr val="1C1C1E"/>
                </a:solidFill>
                <a:latin typeface="Calibri"/>
              </a:rPr>
              <a:t>Hallucination becomes a throughput cost, not a risk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A51C30"/>
                </a:solidFill>
                <a:latin typeface="Calibri"/>
              </a:rPr>
              <a:t>▪  </a:t>
            </a:r>
            <a:r>
              <a:rPr sz="1150">
                <a:solidFill>
                  <a:srgbClr val="1C1C1E"/>
                </a:solidFill>
                <a:latin typeface="Calibri"/>
              </a:rPr>
              <a:t>Base-model upgrades stop being governance events for checked tasks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A51C30"/>
                </a:solidFill>
                <a:latin typeface="Calibri"/>
              </a:rPr>
              <a:t>▪  </a:t>
            </a:r>
            <a:r>
              <a:rPr sz="1150">
                <a:solidFill>
                  <a:srgbClr val="1C1C1E"/>
                </a:solidFill>
                <a:latin typeface="Calibri"/>
              </a:rPr>
              <a:t>The boundary is a property of the domain — stable as models improve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AUTOMATION · THE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Which governance tasks are oracle-backed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3 · Automation and Its Oracles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353312"/>
          <a:ext cx="10637214" cy="33378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34805"/>
                <a:gridCol w="4951807"/>
                <a:gridCol w="1650602"/>
              </a:tblGrid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The oracle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From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Encode a regulatory regime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The satisfaction condition holds for the proposed translation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Institutions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Assert two versions behave alike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Equivalence on the declared probe set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Probe-relative Yoneda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Substitute one version for another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Contract refinement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Contract algebra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Re-express an artefact in another format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Probe equivalence plus numerical tolerance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Contract algebra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Claim documentary support for an assertion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Boolean evaluation of the derivation under the cited set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Provenance semirings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Assemble fitting evidence without leakage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Causal admissibility over two clocks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Bitemporal algebra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Propose a remediation plan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None needed — the plan is computed in the tropical semiring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Provenance semirings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Propose a probe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It executes and discriminates, or it does not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378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A51C30"/>
                          </a:solidFill>
                          <a:latin typeface="Calibri"/>
                        </a:rPr>
                        <a:t>Propose a query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It parses, type-checks and returns, or it does not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77240" y="4928870"/>
            <a:ext cx="10637215" cy="86868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4928870"/>
            <a:ext cx="41148" cy="86868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056885"/>
            <a:ext cx="100885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51C30"/>
                </a:solidFill>
                <a:latin typeface="Calibri"/>
              </a:rPr>
              <a:t>The first row inverts an apparent weakness. </a:t>
            </a:r>
            <a:r>
              <a:rPr sz="1150" b="0" i="0">
                <a:solidFill>
                  <a:srgbClr val="1C1C1E"/>
                </a:solidFill>
                <a:latin typeface="Calibri"/>
              </a:rPr>
              <a:t>Encoding a forty-page supervisory statement is expensive expert work — the practical objection to the whole institutions approach. It is also a task language models are unusually good at, and the output is checkable. Generation becomes cheap; verification is mechanical; the expert moves from authoring to adjudicating something that has already passed a consistency test.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AUTOMATION · THE SHARPEST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896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Grounding verification is a computation, not a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1848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3 · Automation and Its Oracles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64792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1C1E"/>
                </a:solidFill>
                <a:latin typeface="Calibri"/>
              </a:rPr>
              <a:t>The dominant failure of machine-generated governance text is the unsupported assertion. The standard mitigation — retrieval with citations — leaves </a:t>
            </a:r>
            <a:r>
              <a:rPr sz="1250" b="1" i="1">
                <a:solidFill>
                  <a:srgbClr val="A51C30"/>
                </a:solidFill>
                <a:latin typeface="Calibri"/>
              </a:rPr>
              <a:t>“does this source actually support this claim?”</a:t>
            </a:r>
            <a:r>
              <a:rPr sz="1250" b="0" i="0">
                <a:solidFill>
                  <a:srgbClr val="1C1C1E"/>
                </a:solidFill>
                <a:latin typeface="Calibri"/>
              </a:rPr>
              <a:t> to a further model call. Over an annotated derivation structure, it is arithmetic.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496312"/>
            <a:ext cx="10637215" cy="86868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496312"/>
            <a:ext cx="45720" cy="86868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624328"/>
            <a:ext cx="99056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A51C30"/>
                </a:solidFill>
                <a:latin typeface="Georgia"/>
              </a:rPr>
              <a:t>Proposition (Citation soundness).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C1E"/>
                </a:solidFill>
                <a:latin typeface="Calibri"/>
              </a:rPr>
              <a:t>A cited evidence set S supports a claim c if and only if the claim's derivation evaluates to true in the Boolean semiring when exactly the identifiers in S are switched on — equivalently, iff S contains a minimal support of 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57015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C1E"/>
                </a:solidFill>
                <a:latin typeface="Georgia"/>
              </a:rPr>
              <a:t>Worked: a drafted paragraph, checked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895344"/>
            <a:ext cx="1063721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3" y="4014215"/>
            <a:ext cx="101617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C1C1E"/>
                </a:solidFill>
                <a:latin typeface="Calibri"/>
              </a:rPr>
              <a:t>“Version 3.2.1 was approved for small-business origination following independent validation, which found discrimination within tolerance on all monitored slices.”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99432"/>
            <a:ext cx="510586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7A7F87"/>
                </a:solidFill>
                <a:latin typeface="Calibri"/>
              </a:rPr>
              <a:t>Cites  </a:t>
            </a:r>
            <a:r>
              <a:rPr sz="1150" b="1" i="0">
                <a:solidFill>
                  <a:srgbClr val="2E4057"/>
                </a:solidFill>
                <a:latin typeface="Consolas"/>
              </a:rPr>
              <a:t>S = { VR, APPR }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Derivation:  (T₁·T₂·T₃·REP) · VR · (APPR + APPR′)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4A4F57"/>
                </a:solidFill>
                <a:latin typeface="Calibri"/>
              </a:rPr>
              <a:t>Under S the test factors are false, so the product is </a:t>
            </a:r>
            <a:r>
              <a:rPr sz="1100" b="1" i="0">
                <a:solidFill>
                  <a:srgbClr val="A51C30"/>
                </a:solidFill>
                <a:latin typeface="Calibri"/>
              </a:rPr>
              <a:t>false</a:t>
            </a:r>
            <a:r>
              <a:rPr sz="1100" b="0" i="0">
                <a:solidFill>
                  <a:srgbClr val="4A4F57"/>
                </a:solidFill>
                <a:latin typeface="Calibri"/>
              </a:rPr>
              <a:t>. The citation is incomplete — rejected, with the missing identifiers named.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8591" y="4599432"/>
            <a:ext cx="5105863" cy="1170432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8591" y="4599432"/>
            <a:ext cx="41148" cy="117043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6335" y="4718304"/>
            <a:ext cx="464866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51C30"/>
                </a:solidFill>
                <a:latin typeface="Calibri"/>
              </a:rPr>
              <a:t>And the second clause. </a:t>
            </a:r>
            <a:r>
              <a:rPr sz="1100" b="0" i="0">
                <a:solidFill>
                  <a:srgbClr val="1C1C1E"/>
                </a:solidFill>
                <a:latin typeface="Calibri"/>
              </a:rPr>
              <a:t>“On all monitored slices” is a quantified claim with no supporting monomial at all. It is rejected as unsupported rather than published as plausible — and it is exactly the sentence human review reliably misses, because it reads like the rest.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AUTOMATION · THE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What admits no oracle — a category, not a caution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3 · Automation and Its Oracles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53312"/>
            <a:ext cx="10637215" cy="105156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53312"/>
            <a:ext cx="45720" cy="105156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490472"/>
            <a:ext cx="99056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A51C30"/>
                </a:solidFill>
                <a:latin typeface="Georgia"/>
              </a:rPr>
              <a:t>Observation (Constitutivity).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C1E"/>
                </a:solidFill>
                <a:latin typeface="Calibri"/>
              </a:rPr>
              <a:t>For a derived quantity defined as f(facts) by a versioned rule f — a risk tier, a control requirement, a scope determination — there is no automation question about computing it. Evaluating f is deterministic. The automation question arises only for supplying the facts, and for proposing 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4999491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C1C1E"/>
                </a:solidFill>
                <a:latin typeface="Georgia"/>
              </a:rPr>
              <a:t>This reframes the usual debate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A51C30"/>
                </a:solidFill>
                <a:latin typeface="Calibri"/>
              </a:rPr>
              <a:t>“Should we let a model assign risk tiers?” is malformed. </a:t>
            </a:r>
            <a:r>
              <a:rPr sz="1200" b="0" i="0">
                <a:solidFill>
                  <a:srgbClr val="4A4F57"/>
                </a:solidFill>
                <a:latin typeface="Calibri"/>
              </a:rPr>
              <a:t>Assigning a tier is not a generation task — it is arithmetic on a rule everyone agreed to. A spreadsheet could do it.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4A4F57"/>
                </a:solidFill>
                <a:latin typeface="Calibri"/>
              </a:rPr>
              <a:t>The real questions are: where do the facts come from — checkable by reconciliation — and who chose the rule, which is an exercise of authority.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A4F57"/>
                </a:solidFill>
                <a:latin typeface="Calibri"/>
              </a:rPr>
              <a:t>Automating the second is not risky-but-tempting. It is a category error, because </a:t>
            </a:r>
            <a:r>
              <a:rPr sz="1200" b="1" i="0">
                <a:solidFill>
                  <a:srgbClr val="1C1C1E"/>
                </a:solidFill>
                <a:latin typeface="Calibri"/>
              </a:rPr>
              <a:t>a rule that constitutes a standard cannot be checked against that standard.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4964" y="2651760"/>
            <a:ext cx="499949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1C30"/>
                </a:solidFill>
                <a:latin typeface="Georgia"/>
              </a:rPr>
              <a:t>No oracle exists — human decision only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14964" y="2980944"/>
          <a:ext cx="4999490" cy="29724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79479"/>
                <a:gridCol w="3220011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Why no oracle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47012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C1C1E"/>
                          </a:solidFill>
                          <a:latin typeface="Calibri"/>
                        </a:rPr>
                        <a:t>Conclude a validation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C1C1E"/>
                          </a:solidFill>
                          <a:latin typeface="Calibri"/>
                        </a:rPr>
                        <a:t>Effective challenge is defined by standing and accountability, which a model has not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0821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C1C1E"/>
                          </a:solidFill>
                          <a:latin typeface="Calibri"/>
                        </a:rPr>
                        <a:t>Assign or override a tier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C1C1E"/>
                          </a:solidFill>
                          <a:latin typeface="Calibri"/>
                        </a:rPr>
                        <a:t>The rule constitutes the standard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47012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C1C1E"/>
                          </a:solidFill>
                          <a:latin typeface="Calibri"/>
                        </a:rPr>
                        <a:t>Make a scope determination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C1C1E"/>
                          </a:solidFill>
                          <a:latin typeface="Calibri"/>
                        </a:rPr>
                        <a:t>Discards the derivation that is the point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0821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C1C1E"/>
                          </a:solidFill>
                          <a:latin typeface="Calibri"/>
                        </a:rPr>
                        <a:t>Approve anything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C1C1E"/>
                          </a:solidFill>
                          <a:latin typeface="Calibri"/>
                        </a:rPr>
                        <a:t>An accountable act with a signature behind it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0821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C1C1E"/>
                          </a:solidFill>
                          <a:latin typeface="Calibri"/>
                        </a:rPr>
                        <a:t>Accept residual risk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C1C1E"/>
                          </a:solidFill>
                          <a:latin typeface="Calibri"/>
                        </a:rPr>
                        <a:t>Requires authority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47012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C1C1E"/>
                          </a:solidFill>
                          <a:latin typeface="Calibri"/>
                        </a:rPr>
                        <a:t>Close a finding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C1C1E"/>
                          </a:solidFill>
                          <a:latin typeface="Calibri"/>
                        </a:rPr>
                        <a:t>Independent verification by a person who did not raise it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0821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C1C1E"/>
                          </a:solidFill>
                          <a:latin typeface="Calibri"/>
                        </a:rPr>
                        <a:t>Compute a metric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C1C1E"/>
                          </a:solidFill>
                          <a:latin typeface="Calibri"/>
                        </a:rPr>
                        <a:t>Do not ask a language model for a Gini coefficient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AUTOMATION · STRATIFICATION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Models governing models — is that circular?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3 · Automation and Its Oracles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5331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1C1E"/>
                </a:solidFill>
                <a:latin typeface="Calibri"/>
              </a:rPr>
              <a:t>A platform that governs AI, using AI, sounds like it should collapse. It does not — and the reason is structural, not good intentions.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901952"/>
            <a:ext cx="5531351" cy="141732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48256"/>
            <a:ext cx="4982711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The governing layer  G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6E0E4"/>
                </a:solidFill>
                <a:latin typeface="Calibri"/>
              </a:rPr>
              <a:t>The classification map, the evidence structure, the institutions, the lifecycle categories. None of it is AI. None of it is an element of the governed population.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547872"/>
            <a:ext cx="5531351" cy="141732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94176"/>
            <a:ext cx="4982711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The governed population  A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CE4EE"/>
                </a:solidFill>
                <a:latin typeface="Calibri"/>
              </a:rPr>
              <a:t>Every model the bank runs — and every AI assistant the platform uses. Each has a parameter object, a fitting morphism, a contract, a classification, evidence.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542915" y="3319272"/>
            <a:ext cx="0" cy="22860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34080" y="1901952"/>
            <a:ext cx="4680374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C1C1E"/>
                </a:solidFill>
                <a:latin typeface="Georgia"/>
              </a:rPr>
              <a:t>One dependency crosses the strata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4A4F57"/>
                </a:solidFill>
                <a:latin typeface="Calibri"/>
              </a:rPr>
              <a:t>If an assistant drafts a regime encoding, part of the governing layer was produced with help from the governed one. Naming this rather than hiding it: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0" i="0">
                <a:solidFill>
                  <a:srgbClr val="1C1C1E"/>
                </a:solidFill>
                <a:latin typeface="Calibri"/>
              </a:rPr>
              <a:t>The dependency is mediated by an oracle that is itself not machine-produced — the satisfaction condition is a theorem, evaluated mechanically.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34080" y="3502152"/>
            <a:ext cx="4680374" cy="685800"/>
          </a:xfrm>
          <a:prstGeom prst="rect">
            <a:avLst/>
          </a:prstGeom>
          <a:solidFill>
            <a:srgbClr val="EA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16960" y="3621024"/>
            <a:ext cx="431461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51C30"/>
                </a:solidFill>
                <a:latin typeface="Georgia"/>
              </a:rPr>
              <a:t>Generation may cross the strata.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1C30"/>
                </a:solidFill>
                <a:latin typeface="Georgia"/>
              </a:rPr>
              <a:t>Acceptance may 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4080" y="4352544"/>
            <a:ext cx="468037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4A4F57"/>
                </a:solidFill>
                <a:latin typeface="Calibri"/>
              </a:rPr>
              <a:t>Put another way: a machine may propose anything and decide nothing.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C0"/>
                </a:solidFill>
                <a:latin typeface="Calibri"/>
              </a:rPr>
              <a:t>CHAPTER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616958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Georgia"/>
              </a:rPr>
              <a:t>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703320"/>
            <a:ext cx="1371600" cy="32004"/>
          </a:xfrm>
          <a:prstGeom prst="rect">
            <a:avLst/>
          </a:prstGeom>
          <a:solidFill>
            <a:srgbClr val="E8B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659507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2D8DC"/>
                </a:solidFill>
                <a:latin typeface="Calibri"/>
              </a:rPr>
              <a:t>What follows, what is missing, and what I would like to argue about.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7802" y="1874519"/>
            <a:ext cx="361665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950" b="1" i="0">
                <a:solidFill>
                  <a:srgbClr val="E0A8B2"/>
                </a:solidFill>
                <a:latin typeface="Calibri"/>
              </a:rPr>
              <a:t>IN THIS CHAPTER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F6E6E9"/>
                </a:solidFill>
                <a:latin typeface="Calibri"/>
              </a:rPr>
              <a:t>A worked example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F6E6E9"/>
                </a:solidFill>
                <a:latin typeface="Calibri"/>
              </a:rPr>
              <a:t>Limitations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F6E6E9"/>
                </a:solidFill>
                <a:latin typeface="Calibri"/>
              </a:rPr>
              <a:t>The generalisation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F6E6E9"/>
                </a:solidFill>
                <a:latin typeface="Calibri"/>
              </a:rPr>
              <a:t>Questions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DISCUSSION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One estate, five artefacts, one apparatus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4 ·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42032"/>
            <a:ext cx="1600200" cy="548640"/>
          </a:xfrm>
          <a:prstGeom prst="rect">
            <a:avLst/>
          </a:prstGeom>
          <a:solidFill>
            <a:srgbClr val="EAE4DC"/>
          </a:solidFill>
          <a:ln w="15240"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" y="2587752"/>
            <a:ext cx="14904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E"/>
                </a:solidFill>
                <a:latin typeface="Calibri"/>
              </a:rPr>
              <a:t>A  curve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F87"/>
                </a:solidFill>
                <a:latin typeface="Calibri"/>
              </a:rPr>
              <a:t>T1 · calibrated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764792"/>
            <a:ext cx="160020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1810512"/>
            <a:ext cx="14904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E"/>
                </a:solidFill>
                <a:latin typeface="Calibri"/>
              </a:rPr>
              <a:t>B  pricer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F87"/>
                </a:solidFill>
                <a:latin typeface="Calibri"/>
              </a:rPr>
              <a:t>T1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319272"/>
            <a:ext cx="160020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72384" y="3364991"/>
            <a:ext cx="14904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E"/>
                </a:solidFill>
                <a:latin typeface="Calibri"/>
              </a:rPr>
              <a:t>C  XVA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F87"/>
                </a:solidFill>
                <a:latin typeface="Calibri"/>
              </a:rPr>
              <a:t>T1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2542032"/>
            <a:ext cx="160020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2587752"/>
            <a:ext cx="14904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E"/>
                </a:solidFill>
                <a:latin typeface="Calibri"/>
              </a:rPr>
              <a:t>L  drafting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F87"/>
                </a:solidFill>
                <a:latin typeface="Calibri"/>
              </a:rPr>
              <a:t>T5 · foundation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3776472"/>
            <a:ext cx="160020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664" y="3822191"/>
            <a:ext cx="14904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E"/>
                </a:solidFill>
                <a:latin typeface="Calibri"/>
              </a:rPr>
              <a:t>S  scorecard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F87"/>
                </a:solidFill>
                <a:latin typeface="Calibri"/>
              </a:rPr>
              <a:t>T2 · estimated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377440" y="2039112"/>
            <a:ext cx="640080" cy="777240"/>
          </a:xfrm>
          <a:prstGeom prst="line">
            <a:avLst/>
          </a:prstGeom>
          <a:ln w="1905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377440" y="2816352"/>
            <a:ext cx="640080" cy="777240"/>
          </a:xfrm>
          <a:prstGeom prst="line">
            <a:avLst/>
          </a:prstGeom>
          <a:ln w="1905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7720" y="2039112"/>
            <a:ext cx="640080" cy="777240"/>
          </a:xfrm>
          <a:prstGeom prst="line">
            <a:avLst/>
          </a:prstGeom>
          <a:ln w="1905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617720" y="2816352"/>
            <a:ext cx="640080" cy="777240"/>
          </a:xfrm>
          <a:prstGeom prst="line">
            <a:avLst/>
          </a:prstGeom>
          <a:ln w="1905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60920" y="1353312"/>
            <a:ext cx="4053535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C1C1E"/>
                </a:solidFill>
                <a:latin typeface="Georgia"/>
              </a:rPr>
              <a:t>One apparatus, five different answers</a:t>
            </a: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sz="1100" b="1">
                <a:solidFill>
                  <a:srgbClr val="A51C30"/>
                </a:solidFill>
                <a:latin typeface="Calibri"/>
              </a:rPr>
              <a:t>▪  </a:t>
            </a:r>
            <a:r>
              <a:rPr sz="1100" b="1">
                <a:solidFill>
                  <a:srgbClr val="1C1C1E"/>
                </a:solidFill>
                <a:latin typeface="Calibri"/>
              </a:rPr>
              <a:t>Aggregate risk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4A4F57"/>
                </a:solidFill>
                <a:latin typeface="Calibri"/>
              </a:rPr>
              <a:t>A is copied to B and C. The composite risk strictly exceeds the join of the parts; the premium is attributable to the shared curve.</a:t>
            </a: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sz="1100" b="1">
                <a:solidFill>
                  <a:srgbClr val="A51C30"/>
                </a:solidFill>
                <a:latin typeface="Calibri"/>
              </a:rPr>
              <a:t>▪  </a:t>
            </a:r>
            <a:r>
              <a:rPr sz="1100" b="1">
                <a:solidFill>
                  <a:srgbClr val="1C1C1E"/>
                </a:solidFill>
                <a:latin typeface="Calibri"/>
              </a:rPr>
              <a:t>Plural scope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4A4F57"/>
                </a:solidFill>
                <a:latin typeface="Calibri"/>
              </a:rPr>
              <a:t>Under a narrow regime L is out of scope as generative; under a broad one it is in; under product-safety law S alone is high-risk. Four correct answers to four different questions.</a:t>
            </a: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sz="1100" b="1">
                <a:solidFill>
                  <a:srgbClr val="A51C30"/>
                </a:solidFill>
                <a:latin typeface="Calibri"/>
              </a:rPr>
              <a:t>▪  </a:t>
            </a:r>
            <a:r>
              <a:rPr sz="1100" b="1">
                <a:solidFill>
                  <a:srgbClr val="1C1C1E"/>
                </a:solidFill>
                <a:latin typeface="Calibri"/>
              </a:rPr>
              <a:t>Evidence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4A4F57"/>
                </a:solidFill>
                <a:latin typeface="Calibri"/>
              </a:rPr>
              <a:t>The claim “C is authorised” evaluated in Why-provenance returns what to show an examiner; in max–max it exposes any document predating today's recalibration.</a:t>
            </a: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sz="1100" b="1">
                <a:solidFill>
                  <a:srgbClr val="A51C30"/>
                </a:solidFill>
                <a:latin typeface="Calibri"/>
              </a:rPr>
              <a:t>▪  </a:t>
            </a:r>
            <a:r>
              <a:rPr sz="1100" b="1">
                <a:solidFill>
                  <a:srgbClr val="1C1C1E"/>
                </a:solidFill>
                <a:latin typeface="Calibri"/>
              </a:rPr>
              <a:t>Automation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4A4F57"/>
                </a:solidFill>
                <a:latin typeface="Calibri"/>
              </a:rPr>
              <a:t>Four tasks here are oracle-backed and may be generated by anything. Two — what tier C occupies, whether L's residual risk is acceptable — are not automation questions at all.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DISCUSSION · WHAT THIS DOES NOT ESTABLISH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Limitations, stated rather than discovered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4 ·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53312"/>
            <a:ext cx="3362858" cy="212140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53312"/>
            <a:ext cx="3362858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1572768"/>
            <a:ext cx="29239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1847088"/>
            <a:ext cx="292394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No implementation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2157984"/>
            <a:ext cx="2923946" cy="1133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The account is conceptual. I have not shown that a system built this way is cheaper to build or operate. That is the missing evidence and the natural sequel.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4418" y="1353312"/>
            <a:ext cx="3362858" cy="212140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4418" y="1353312"/>
            <a:ext cx="3362858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3874" y="1572768"/>
            <a:ext cx="29239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3874" y="1847088"/>
            <a:ext cx="292394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Expressiveness is imperfect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3874" y="2157984"/>
            <a:ext cx="2923946" cy="1133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Stateful simulation engines and agentic systems fit only by absorbing state into the input object — faithful but inelegant. Coalgebra or open games may be the better home. Unsettled.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1596" y="1353312"/>
            <a:ext cx="3362858" cy="212140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51596" y="1353312"/>
            <a:ext cx="3362858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1052" y="1572768"/>
            <a:ext cx="29239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1052" y="1847088"/>
            <a:ext cx="292394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Formalising regulation is lossy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1052" y="2350008"/>
            <a:ext cx="2923946" cy="941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An institution encoding is a claim about a regulation, not the regulation. What you gain is that the claim is explicit, citable and testable for consistency. What you do not gain is being right.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57600"/>
            <a:ext cx="3362858" cy="212140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657600"/>
            <a:ext cx="3362858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5" y="3877056"/>
            <a:ext cx="29239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5" y="4151376"/>
            <a:ext cx="292394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Oracles are necessary, not sufficient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" y="4654296"/>
            <a:ext cx="2923946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The proposition guarantees no incorrect output is accepted. It says nothing about what a fluent unchecked output does to the human attesting to it. Fluency reads as quality; it is not.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14418" y="3657600"/>
            <a:ext cx="3362858" cy="212140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14418" y="3657600"/>
            <a:ext cx="3362858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33874" y="3877056"/>
            <a:ext cx="29239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3874" y="4151376"/>
            <a:ext cx="292394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The boundary may be drawn too conveniently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3874" y="4654296"/>
            <a:ext cx="2923946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Constitutivity classifies the decisions that matter most as human-only — a comfortable conclusion for anyone who wants humans to keep them. I believe the argument; I note that I would.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51596" y="3657600"/>
            <a:ext cx="3362858" cy="212140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89340" y="3803904"/>
            <a:ext cx="288737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What would falsify it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E8B8C0"/>
                </a:solidFill>
                <a:latin typeface="Calibri"/>
              </a:rPr>
              <a:t>▪  </a:t>
            </a:r>
            <a:r>
              <a:rPr sz="1000">
                <a:solidFill>
                  <a:srgbClr val="F6E0E4"/>
                </a:solidFill>
                <a:latin typeface="Calibri"/>
              </a:rPr>
              <a:t>An artefact class that resists presentation as a (P, φ) pair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E8B8C0"/>
                </a:solidFill>
                <a:latin typeface="Calibri"/>
              </a:rPr>
              <a:t>▪  </a:t>
            </a:r>
            <a:r>
              <a:rPr sz="1000">
                <a:solidFill>
                  <a:srgbClr val="F6E0E4"/>
                </a:solidFill>
                <a:latin typeface="Calibri"/>
              </a:rPr>
              <a:t>A compositional yet fragility-sensitive risk measure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E8B8C0"/>
                </a:solidFill>
                <a:latin typeface="Calibri"/>
              </a:rPr>
              <a:t>▪  </a:t>
            </a:r>
            <a:r>
              <a:rPr sz="1000">
                <a:solidFill>
                  <a:srgbClr val="F6E0E4"/>
                </a:solidFill>
                <a:latin typeface="Calibri"/>
              </a:rPr>
              <a:t>An oracle-backed task where automation did worse than manual work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E8B8C0"/>
                </a:solidFill>
                <a:latin typeface="Calibri"/>
              </a:rPr>
              <a:t>▪  </a:t>
            </a:r>
            <a:r>
              <a:rPr sz="1000">
                <a:solidFill>
                  <a:srgbClr val="F6E0E4"/>
                </a:solidFill>
                <a:latin typeface="Calibri"/>
              </a:rPr>
              <a:t>Practitioners unable to use the derivations at all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The generalisation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4 ·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1063721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1C1C1E"/>
                </a:solidFill>
                <a:latin typeface="Georgia"/>
              </a:rPr>
              <a:t>Wherever an organisation is deciding how much of a judgement-laden process to hand to a language model, the useful first question is not how good the model is.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A51C30"/>
                </a:solidFill>
                <a:latin typeface="Georgia"/>
              </a:rPr>
              <a:t>It is: what, in this domain, could ever tell us that the answer was wrong?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227832"/>
            <a:ext cx="10637215" cy="32004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02152"/>
            <a:ext cx="4999491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C1C1E"/>
                </a:solidFill>
                <a:latin typeface="Georgia"/>
              </a:rPr>
              <a:t>If there is an answer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F57"/>
                </a:solidFill>
                <a:latin typeface="Calibri"/>
              </a:rPr>
              <a:t>Generation is nearly free, because acceptance is checked. Model choice becomes an efficiency question. Capability improvements are upside, not governance events. Build aggressively.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964" y="3502152"/>
            <a:ext cx="4999491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C1C1E"/>
                </a:solidFill>
                <a:latin typeface="Georgia"/>
              </a:rPr>
              <a:t>If there is not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F57"/>
                </a:solidFill>
                <a:latin typeface="Calibri"/>
              </a:rPr>
              <a:t>No review process rescues you, because the reviewer faces the same absence of a standard. Either build the structure that supplies one — which is what this paper is about — or keep the decision with a person who can be held to account.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Questions I would like to argue about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4 ·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53312"/>
            <a:ext cx="3362858" cy="212140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53312"/>
            <a:ext cx="3362858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1572768"/>
            <a:ext cx="29239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1847088"/>
            <a:ext cx="292394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Is the constitutivity argument right?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2350008"/>
            <a:ext cx="2923946" cy="941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4F57"/>
                </a:solidFill>
                <a:latin typeface="Calibri"/>
              </a:rPr>
              <a:t>I claim a rule that defines a standard cannot be checked against that standard, so tiering and approval admit no oracle. Is there a construction I am missing — a meta-standard, a revealed-preference oracle from historical outcomes?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4418" y="1353312"/>
            <a:ext cx="3362858" cy="212140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4418" y="1353312"/>
            <a:ext cx="3362858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3874" y="1572768"/>
            <a:ext cx="29239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3874" y="1847088"/>
            <a:ext cx="292394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Where else does the oracle criterion apply?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3874" y="2350008"/>
            <a:ext cx="2923946" cy="941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4F57"/>
                </a:solidFill>
                <a:latin typeface="Calibri"/>
              </a:rPr>
              <a:t>Clinical decision support, insurance reserving, public eligibility determination — same shape, heterogeneous artefacts under one obligation. Does the criterion survive contact with domains that have weaker formal structure?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1596" y="1353312"/>
            <a:ext cx="3362858" cy="212140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51596" y="1353312"/>
            <a:ext cx="3362858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1052" y="1572768"/>
            <a:ext cx="29239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1052" y="1847088"/>
            <a:ext cx="292394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Does fluency defeat us anyway?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1052" y="2350008"/>
            <a:ext cx="2923946" cy="941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Citation checking covers claims. It does not cover the effect of a polished artefact on the person attesting to it. Is measuring reviewer edit distance enough, or is there a better instrument?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57600"/>
            <a:ext cx="3362858" cy="212140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657600"/>
            <a:ext cx="3362858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5" y="3877056"/>
            <a:ext cx="29239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5" y="4151376"/>
            <a:ext cx="292394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What is the right home for agents?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" y="4654296"/>
            <a:ext cx="2923946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Stateful, action-taking systems fit this account awkwardly. Coalgebra? Open games? Or is the honest answer that agentic governance needs a different foundation than model governance?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14418" y="3657600"/>
            <a:ext cx="3362858" cy="212140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14418" y="3657600"/>
            <a:ext cx="3362858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33874" y="3877056"/>
            <a:ext cx="29239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3874" y="4151376"/>
            <a:ext cx="292394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Would practitioners actually use it?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3874" y="4654296"/>
            <a:ext cx="2923946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4F57"/>
                </a:solidFill>
                <a:latin typeface="Calibri"/>
              </a:rPr>
              <a:t>A scope determination as a failing conjunct with a citation is more defensible than a checkbox with a comment — if anyone reads it. That is an empirical claim about human factors and I cannot settle it from the armchair.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51596" y="3657600"/>
            <a:ext cx="3362858" cy="212140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51596" y="3657600"/>
            <a:ext cx="3362858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1052" y="3877056"/>
            <a:ext cx="29239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1052" y="4151376"/>
            <a:ext cx="292394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1C1E"/>
                </a:solidFill>
                <a:latin typeface="Georgia"/>
              </a:rPr>
              <a:t>Is “propose anything, decide nothing” stable?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1052" y="4654296"/>
            <a:ext cx="2923946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F57"/>
                </a:solidFill>
                <a:latin typeface="Calibri"/>
              </a:rPr>
              <a:t>Commercial pressure will push assistants toward deciding, from sensible people with good reasons. Is an architectural prohibition — no credential for a governance transition — enough, or does it erode?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83080"/>
            <a:ext cx="872251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Georgia"/>
              </a:rPr>
              <a:t>A machine may propose anything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Georgia"/>
              </a:rPr>
              <a:t>and decide nothing.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3401568"/>
            <a:ext cx="1463040" cy="32004"/>
          </a:xfrm>
          <a:prstGeom prst="rect">
            <a:avLst/>
          </a:prstGeom>
          <a:solidFill>
            <a:srgbClr val="E8B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657600"/>
            <a:ext cx="765879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Ashutosh Sinha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F2D8DC"/>
                </a:solidFill>
                <a:latin typeface="Calibri"/>
              </a:rPr>
              <a:t>Independent Researcher   ·   ajsinha@gmail.com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E8C4CA"/>
                </a:solidFill>
                <a:latin typeface="Calibri"/>
              </a:rPr>
              <a:t>Full treatment — including the impossibility proof, the conservative-extension and satisfaction-condition results, the semiring construction for assurance evidence, and what was deliberately not adopted — in the accompanying paper.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