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12191695" cy="54864"/>
          </a:xfrm>
          <a:prstGeom prst="rect">
            <a:avLst/>
          </a:prstGeom>
          <a:solidFill>
            <a:srgbClr val="B8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3931920"/>
          </a:xfrm>
          <a:prstGeom prst="rect">
            <a:avLst/>
          </a:prstGeom>
          <a:solidFill>
            <a:srgbClr val="76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82296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B8C0"/>
                </a:solidFill>
                <a:latin typeface="Calibri"/>
              </a:rPr>
              <a:t>MODEL RISK  ·  REPRODUCIBILITY  ·  EXECUTIVE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80160"/>
            <a:ext cx="9573493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Any number a model produced,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Georgia"/>
              </a:rPr>
              <a:t>rebuilt exactly, years later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2971800"/>
            <a:ext cx="1554480" cy="32004"/>
          </a:xfrm>
          <a:prstGeom prst="rect">
            <a:avLst/>
          </a:prstGeom>
          <a:solidFill>
            <a:srgbClr val="E8B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904163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F6E6E9"/>
                </a:solidFill>
                <a:latin typeface="Calibri"/>
              </a:rPr>
              <a:t>MAYA — Model &amp; AI Lifecycle Assurance.  Evidence, not assertion.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343400"/>
            <a:ext cx="531860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1" i="0">
                <a:solidFill>
                  <a:srgbClr val="1C1C1E"/>
                </a:solidFill>
                <a:latin typeface="Georgia"/>
              </a:rPr>
              <a:t>Ashutosh Sinha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A51C30"/>
                </a:solidFill>
                <a:latin typeface="Calibri"/>
              </a:rPr>
              <a:t>September 2026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MAYA 0.3.0 · specification revision 2.3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4080" y="4297680"/>
            <a:ext cx="4680374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A51C30"/>
                </a:solidFill>
                <a:latin typeface="Calibri"/>
              </a:rPr>
              <a:t>IN THIS DECK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1   </a:t>
            </a:r>
            <a:r>
              <a:rPr sz="1200" b="0">
                <a:solidFill>
                  <a:srgbClr val="4A4F57"/>
                </a:solidFill>
                <a:latin typeface="Calibri"/>
              </a:rPr>
              <a:t>What MAYA is, and the four failures it removes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2   </a:t>
            </a:r>
            <a:r>
              <a:rPr sz="1200" b="0">
                <a:solidFill>
                  <a:srgbClr val="4A4F57"/>
                </a:solidFill>
                <a:latin typeface="Calibri"/>
              </a:rPr>
              <a:t>The spine, and the warrant that runs down it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3   </a:t>
            </a:r>
            <a:r>
              <a:rPr sz="1200" b="0">
                <a:solidFill>
                  <a:srgbClr val="4A4F57"/>
                </a:solidFill>
                <a:latin typeface="Calibri"/>
              </a:rPr>
              <a:t>What this version delivers, and what it was exercised 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4   </a:t>
            </a:r>
            <a:r>
              <a:rPr sz="1200" b="0">
                <a:solidFill>
                  <a:srgbClr val="4A4F57"/>
                </a:solidFill>
                <a:latin typeface="Calibri"/>
              </a:rPr>
              <a:t>What has been measured, and what fell short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A51C30"/>
                </a:solidFill>
                <a:latin typeface="Calibri"/>
              </a:rPr>
              <a:t>5   </a:t>
            </a:r>
            <a:r>
              <a:rPr sz="1200" b="0">
                <a:solidFill>
                  <a:srgbClr val="4A4F57"/>
                </a:solidFill>
                <a:latin typeface="Calibri"/>
              </a:rPr>
              <a:t>What MAYA does not 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WHAT MAYA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39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C1E"/>
                </a:solidFill>
                <a:latin typeface="Georgia"/>
              </a:rPr>
              <a:t>One system of record for the whole chain behind a model's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94689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22705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MAYA holds the features, feature sets, models and warrants of a quantitative shop in one place: definition, data, documentation, approval and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Specification §1–§2 and README, “What makes it different”. The specification is the authority; this deck describes the code built from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76247"/>
            <a:ext cx="10637215" cy="3702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Definitions are code; data is a consequence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MAYA stores how a number is produced and materialises values only when asked. A version freezes how; a pin freezes what — the same bytes forever, verified against a content hash.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A model is mathematics, code, parameters and a document, versioned together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The formula is a typed expression tree, so MAYA type-checks the inputs, renders the specification document from it, and tells a reviewer what changed mathematically between two versions.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A warrant binds model, data and parameters into one object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Who was allowed to run what, on which data, with whose approval becomes a query instead of an archaeology project.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It does not train models and does not serve predictions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Training runs on the firm's own compute. MAYA issues the licence, scores the escrowed holdout, and keeps the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Four failures found in almost every quantitative 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6044184"/>
            <a:ext cx="41148" cy="20116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6044184"/>
            <a:ext cx="103628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Specification §1. Each of the four is a reproducibility failure waiting to be found by somebody who is not on your side.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236311" cy="2164016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5236311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551559"/>
            <a:ext cx="48705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807591"/>
            <a:ext cx="48705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Feature logic lives in notebooks and SQL snippets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13127"/>
            <a:ext cx="4870551" cy="1009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Two desks compute “adjusted close” differently and neither is wrong. MAYA holds one versioned, approved definition and an algebra for building on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8143" y="1386967"/>
            <a:ext cx="5236311" cy="2164016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8143" y="1386967"/>
            <a:ext cx="5236311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1023" y="1551559"/>
            <a:ext cx="48705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1023" y="1807591"/>
            <a:ext cx="48705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Training data is a file on a share drive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023" y="2413127"/>
            <a:ext cx="4870551" cy="1009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When a result is challenged nobody can produce the exact rows. A MAYA pin is immutable and content-addressed, and the warrant records the checksum that was downloaded.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715575"/>
            <a:ext cx="5236311" cy="2164016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715575"/>
            <a:ext cx="5236311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80167"/>
            <a:ext cx="48705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136199"/>
            <a:ext cx="48705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Mathematics, code and parameters drift apart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741735"/>
            <a:ext cx="4870551" cy="1009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A PDF, a repository and a spreadsheet, each a little out of date. MAYA versions the formula, the artifact, the parameter sets and the document against each other.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8143" y="3715575"/>
            <a:ext cx="5236311" cy="2164016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8143" y="3715575"/>
            <a:ext cx="5236311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1023" y="3880167"/>
            <a:ext cx="48705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51C30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1023" y="4136199"/>
            <a:ext cx="487055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Nothing binds model, data and parameters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1023" y="4741735"/>
            <a:ext cx="4870551" cy="1009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The warrant does: one auditable, transferable object — sealed, expiring, and revocable the day the model is found to be wrong.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SPINE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One path, and every surface walks the whole of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README, “The shape of the thing”. The UI boundary is held by a gate, not by review (tests/test_web.py::test_web_imports_only_the_sdk).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1559509" cy="17830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551559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900047"/>
            <a:ext cx="1193749" cy="1141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Files, a read-only SQL query, a reviewed Python producer, or derived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92781" y="1386967"/>
            <a:ext cx="1559509" cy="17830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2781" y="1386967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5661" y="1551559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5661" y="1900047"/>
            <a:ext cx="1193749" cy="1141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A governed bitemporal dataset; pinned into the lake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64181" y="227850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4408322" y="1386967"/>
            <a:ext cx="1559509" cy="17830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8322" y="1386967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1202" y="1551559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Feature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1202" y="2157095"/>
            <a:ext cx="1193749" cy="8849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Attributes mapped from members onto one grid, pinned as a whole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79722" y="227850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223863" y="1386967"/>
            <a:ext cx="1559509" cy="17830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3863" y="1386967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6743" y="1551559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6743" y="1900047"/>
            <a:ext cx="1193749" cy="1141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F57"/>
                </a:solidFill>
                <a:latin typeface="Calibri"/>
              </a:rPr>
              <a:t>Formula, code, parameters and a specification document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95263" y="227850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8039404" y="1386967"/>
            <a:ext cx="1559509" cy="17830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39404" y="1386967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2284" y="1551559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Warrants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2284" y="1900047"/>
            <a:ext cx="1193749" cy="1141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4F57"/>
                </a:solidFill>
                <a:latin typeface="Calibri"/>
              </a:rPr>
              <a:t>Training, then an approved parameter set, then execution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810804" y="227850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9854946" y="1386967"/>
            <a:ext cx="1559509" cy="17830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54946" y="1386967"/>
            <a:ext cx="1559509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37826" y="1551559"/>
            <a:ext cx="1193749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Bundle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7826" y="1900047"/>
            <a:ext cx="1193749" cy="1141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F57"/>
                </a:solidFill>
                <a:latin typeface="Calibri"/>
              </a:rPr>
              <a:t>Signed; verifies and re-executes on a machine with no MAYA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626346" y="2278507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7240" y="3380359"/>
            <a:ext cx="10637215" cy="22980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The same spine runs through the web UI, the REST API, the Python SDK and the command line — and the UI is itself an SDK client, with no private path of its own.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Features and feature sets are closed under their operators, so a derived object re-enters the flow as an ordinary object: named, versioned, pinnable, permissioned, visible in lineage.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A composite model is an ordinary model: one warrant over one feature set, however many members it 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THE DISTINGUISHING PRIMITIVE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22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C1C1E"/>
                </a:solidFill>
                <a:latin typeface="Georgia"/>
              </a:rPr>
              <a:t>The warrant: a licence to compute, not a document about 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26820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6044184"/>
            <a:ext cx="41148" cy="20116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6044184"/>
            <a:ext cx="103628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Specification §29.4 and §29.5; ADR-007 states the one runtime exception MAYA concedes and no more.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54836"/>
            <a:ext cx="1922617" cy="20116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54836"/>
            <a:ext cx="192261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519428"/>
            <a:ext cx="155685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Training warrant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24964"/>
            <a:ext cx="1556857" cy="1113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F57"/>
                </a:solidFill>
                <a:latin typeface="Calibri"/>
              </a:rPr>
              <a:t>Drawn against a pinned feature set once the input contract is satisfied and a signed leakage certificate is issued.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55889" y="1354836"/>
            <a:ext cx="1922617" cy="20116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55889" y="1354836"/>
            <a:ext cx="192261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38769" y="1519428"/>
            <a:ext cx="155685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Offline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8769" y="2124964"/>
            <a:ext cx="1556857" cy="1113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The team downloads train and validation only, with a checksum, and fits on its own compute.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27289" y="2360676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134538" y="1354836"/>
            <a:ext cx="1922617" cy="20116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34538" y="1354836"/>
            <a:ext cx="192261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17418" y="1519428"/>
            <a:ext cx="155685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Parameter 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17418" y="2124964"/>
            <a:ext cx="1556857" cy="1113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F57"/>
                </a:solidFill>
                <a:latin typeface="Calibri"/>
              </a:rPr>
              <a:t>Uploaded against that checksum. Data that does not match is flagged and cannot be approved quietly.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05938" y="2360676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313188" y="1354836"/>
            <a:ext cx="1922617" cy="20116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3188" y="1354836"/>
            <a:ext cx="192261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6068" y="1519428"/>
            <a:ext cx="155685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Execution warrant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6068" y="2124964"/>
            <a:ext cx="1556857" cy="11135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Model, parameters and contract as a live licence: it expires, it is revoked, and a breached covenant suspends it.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84588" y="2360676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491837" y="1354836"/>
            <a:ext cx="1922617" cy="20116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91837" y="1354836"/>
            <a:ext cx="1922617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74717" y="1519428"/>
            <a:ext cx="1556857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Bundle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717" y="1867916"/>
            <a:ext cx="1556857" cy="1370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F57"/>
                </a:solidFill>
                <a:latin typeface="Calibri"/>
              </a:rPr>
              <a:t>A signed archive that verifies offline, re-executes the model, and refuses on one changed byte.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263237" y="2360676"/>
            <a:ext cx="201168" cy="0"/>
          </a:xfrm>
          <a:prstGeom prst="line">
            <a:avLst/>
          </a:prstGeom>
          <a:ln w="25400">
            <a:solidFill>
              <a:srgbClr val="A51C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" y="3576828"/>
            <a:ext cx="10637215" cy="2302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A revoked, expired or suspended warrant fails every consuming call closed, naming the covenant that broke or the person to contact.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The test partition is escrowed: MAYA scores uploaded parameters against it and returns metrics only, and every attempt is numbered on the warrant, because twenty attempts against a holdout is a fact a reviewer should be able to see.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Proved end to end by tests/test_warrants.py (the checksum cycle, the leakage certificate, the counted scoring attempt) and tests/test_security_regressions.py::test_each_covenant.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WHY NOT BUY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382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C1C1E"/>
                </a:solidFill>
                <a:latin typeface="Georgia"/>
              </a:rPr>
              <a:t>What each adjacent category does well, and where it stops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42885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Specification §27, which names the products in each category. MAYA's position is the seam between them: hash-verified pinned data, an algebra over definitions, model mathematics as data, and a transferable licence to compute.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70901"/>
          <a:ext cx="10637214" cy="311638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91076"/>
                <a:gridCol w="3818487"/>
                <a:gridCol w="4727651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Good at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Where it stops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Feature stores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Point-in-time joins, online serving, streaming, scale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No approval workflow, no model side, no immutable snapshot an auditor can hold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Lakehouse versioning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Branch, tag and time travel over data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Versions bytes, not meaning: no owner, no approval, no linkage to a model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ML registries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Run tracking, artifact lineage, metrics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run records what happened; it is not a licence for what may happen next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Catalogs and lineage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Discovery, ownership, column lineage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Observe pipelines rather than gate them, and hold no data of their own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Model-risk tools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Inventory, validation workflow, regulator-shaped reporting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Store a document saying a model was validated, not the artefacts that let you re-run 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Version 0.3.0, built from specification revision 2.3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86967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86967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51498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Georgia"/>
              </a:rPr>
              <a:t>0.3.0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9047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F57"/>
                </a:solidFill>
                <a:latin typeface="Calibri"/>
              </a:rPr>
              <a:t>released 19 September 2026, from specification revision 2.3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6835" y="1386967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6835" y="1386967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8003" y="151498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Georgia"/>
              </a:rPr>
              <a:t>1,684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8003" y="199047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tests on Linux; 1,674 pass on SQLite and 10 are opt-in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1" y="1386967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1386967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7599" y="151498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Georgia"/>
              </a:rPr>
              <a:t>215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199047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F57"/>
                </a:solidFill>
                <a:latin typeface="Calibri"/>
              </a:rPr>
              <a:t>endpoints, each with an SDK method, checked both ways by a gate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6027" y="1386967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6027" y="1386967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195" y="1514983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Georgia"/>
              </a:rPr>
              <a:t>92.9%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195" y="1990471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line coverage, against a 90% floor in the gate ladder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6044184"/>
            <a:ext cx="41148" cy="20116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6044184"/>
            <a:ext cx="103628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README, “Status — read this first”, and maya/core/version.py, the only place a version string is allowed to live.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740279"/>
            <a:ext cx="10637215" cy="31393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51C30"/>
                </a:solidFill>
                <a:latin typeface="Calibri"/>
              </a:rPr>
              <a:t>▪  </a:t>
            </a:r>
            <a:r>
              <a:rPr sz="1600" b="0">
                <a:solidFill>
                  <a:srgbClr val="1C1C1E"/>
                </a:solidFill>
                <a:latin typeface="Calibri"/>
              </a:rPr>
              <a:t>The whole spine runs through all four surfaces: source, feature, feature set, pin, model, training warrant, parameter set, execution warrant, reproducibility bundle.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A51C30"/>
                </a:solidFill>
                <a:latin typeface="Calibri"/>
              </a:rPr>
              <a:t>▪  </a:t>
            </a:r>
            <a:r>
              <a:rPr sz="1600" b="0">
                <a:solidFill>
                  <a:srgbClr val="1C1C1E"/>
                </a:solidFill>
                <a:latin typeface="Calibri"/>
              </a:rPr>
              <a:t>The suite has run green on PostgreSQL 16, 17 and 18 as well as SQLite, and passed with every optional accelerator replaced by its pure-Python fallback.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A51C30"/>
                </a:solidFill>
                <a:latin typeface="Calibri"/>
              </a:rPr>
              <a:t>▪  </a:t>
            </a:r>
            <a:r>
              <a:rPr sz="1600" b="0">
                <a:solidFill>
                  <a:srgbClr val="1C1C1E"/>
                </a:solidFill>
                <a:latin typeface="Calibri"/>
              </a:rPr>
              <a:t>It includes real-browser tests in headless Chrome, several web processes on one node, a worker process, LibreOffice Calc as a judge of lifted spreadsheets, and a real openssl timestamp authority.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600" b="1">
                <a:solidFill>
                  <a:srgbClr val="A51C30"/>
                </a:solidFill>
                <a:latin typeface="Calibri"/>
              </a:rPr>
              <a:t>▪  </a:t>
            </a:r>
            <a:r>
              <a:rPr sz="1600" b="0">
                <a:solidFill>
                  <a:srgbClr val="1C1C1E"/>
                </a:solidFill>
                <a:latin typeface="Calibri"/>
              </a:rPr>
              <a:t>Single sign-on is driven against a real identity provider, Keycloak 26.4, by opt-in tests skipped unless a URL is supplied.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WHAT'S 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06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1C1E"/>
                </a:solidFill>
                <a:latin typeface="Georgia"/>
              </a:rPr>
              <a:t>Delivered by milestone, each row with the tests that prove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10754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README, “What's shipped”, which names the module and the tests for every row. A capability with no test that exercises it is not listed there, because an untested claim is an assertion.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38770"/>
          <a:ext cx="10637214" cy="432129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81912"/>
                <a:gridCol w="5182233"/>
                <a:gridCol w="4273069"/>
              </a:tblGrid>
              <a:tr h="30251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Delivered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Proved by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88087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M0–M1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E"/>
                          </a:solidFill>
                          <a:latin typeface="Calibri"/>
                        </a:rPr>
                        <a:t>The gate ladder, each gate seen to fail on a planted fault; canonical bytes and content-defined fragments; two generated schema files; a hash-chained audit; one authorization function; single sign-on, TOTP and WebAuthn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E"/>
                          </a:solidFill>
                          <a:latin typeface="Calibri"/>
                        </a:rPr>
                        <a:t>test_api_and_gates.py, test_foundation.py, test_workflow_and_estate.py, test_authz_matrix.py, test_sso_mfa.py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88087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M2–M3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E"/>
                          </a:solidFill>
                          <a:latin typeface="Calibri"/>
                        </a:rPr>
                        <a:t>The lakehouse layer on two backends; byte-identical re-resolution; point-in-time after a restatement; resolution rules and calendars; the feature algebra; sources; catalog search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E"/>
                          </a:solidFill>
                          <a:latin typeface="Calibri"/>
                        </a:rPr>
                        <a:t>test_maya_delta.py, test_features.py, test_resolution_*.py, test_properties.py, test_search.py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880871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M4–M5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E"/>
                          </a:solidFill>
                          <a:latin typeface="Calibri"/>
                        </a:rPr>
                        <a:t>Feature sets with policy precedence and alignment; cascade pin that rolls back entirely; materialization policies; grant conditions; workflow as data with segregation of duties; workspaces and shadow replay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E"/>
                          </a:solidFill>
                          <a:latin typeface="Calibri"/>
                        </a:rPr>
                        <a:t>test_materialization.py, test_conditions.py, test_workflow_matrix.py, test_workspaces.py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68808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M6–M7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E"/>
                          </a:solidFill>
                          <a:latin typeface="Calibri"/>
                        </a:rPr>
                        <a:t>The formula IR with its kernel, artifact ladder and sandbox; specification documents; spreadsheets as models; warrants, covenants and signed bundles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E"/>
                          </a:solidFill>
                          <a:latin typeface="Calibri"/>
                        </a:rPr>
                        <a:t>test_formula.py, test_sandbox_linux.py, test_spreadsheet.py, test_warrants.py, test_sdk_modes.py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68808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761422"/>
                          </a:solidFill>
                          <a:latin typeface="Calibri"/>
                        </a:rPr>
                        <a:t>M8 and §29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E"/>
                          </a:solidFill>
                          <a:latin typeface="Calibri"/>
                        </a:rPr>
                        <a:t>SDK record and replay, server-side paging, several web processes, observability; the licence algebra, custody anchoring, and the assistant as a recorded challenger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C1E"/>
                          </a:solidFill>
                          <a:latin typeface="Calibri"/>
                        </a:rPr>
                        <a:t>test_paging.py, test_web_processes.py, test_custody.py, test_assistant.py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EXERCISED, NOT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3821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 i="0">
                <a:solidFill>
                  <a:srgbClr val="1C1C1E"/>
                </a:solidFill>
                <a:latin typeface="Georgia"/>
              </a:rPr>
              <a:t>Nine worked models, each carried through MAYA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42885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70901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Every study defines features, pins data point-in-time, registers a model with its document, draws a warrant, approves parameters and seals an execution warrant — through the SDK, as a named user with that user's roles, so the refusals in them are real.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641848"/>
            <a:ext cx="41148" cy="603503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641848"/>
            <a:ext cx="1036289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case_studies/ and README, “Case studies”: nine are complete of a planned fifty, every input feed synthetic and committed. Writing them has been the most productive source of platform defects so far — twelve, each fixed with a test that would fail without the fix.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2268918"/>
          <a:ext cx="10637214" cy="311638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7977911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it is really about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01  Retail credit PD scorecard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leakage certificate that refuses every row of a panel, and the written exception that lets the work proceed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02  Scheduled mortgage cashflow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Whether the code the desk runs is the mathematics that was approved: a valid implementation with the commonest mortgage bug in it, caught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03  Mortgage prepayment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change proposed underneath a live model and priced before anyone approves it: 60% of the book moves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06  IFRS 9 expected credit loss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Committee judgements as approved parameter sets, and a portfolio test that finds a 2.67× over-provision the per-account error cannot see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11  Nelson–Siegel yield curve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planted bug that recalibration absorbs exactly, so only a blind score against the specification can see it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39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C1E"/>
                </a:solidFill>
                <a:latin typeface="Georgia"/>
              </a:rPr>
              <a:t>Seven targets met on a shared workstation, one not met reliably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94689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322705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322705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1450721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Georgia"/>
              </a:rPr>
              <a:t>0.98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926209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A4F57"/>
                </a:solidFill>
                <a:latin typeface="Calibri"/>
              </a:rPr>
              <a:t>resolution p95 warm: 50 attributes × 10 years × 500 symbols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86835" y="1322705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6835" y="1322705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8003" y="1450721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Georgia"/>
              </a:rPr>
              <a:t>0.18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8003" y="1926209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worst metadata page p95, PostgreSQL, 8 web processes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6431" y="1322705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6431" y="1322705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7599" y="1450721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Georgia"/>
              </a:rPr>
              <a:t>59.7 MB/s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7599" y="1926209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F57"/>
                </a:solidFill>
                <a:latin typeface="Calibri"/>
              </a:rPr>
              <a:t>pin write throughput, one worker, against a 50 MB/s target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6027" y="1322705"/>
            <a:ext cx="2508427" cy="1143000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6027" y="1322705"/>
            <a:ext cx="41148" cy="1143000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195" y="1450721"/>
            <a:ext cx="219753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A51C30"/>
                </a:solidFill>
                <a:latin typeface="Georgia"/>
              </a:rPr>
              <a:t>0.34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195" y="1926209"/>
            <a:ext cx="2197531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F57"/>
                </a:solidFill>
                <a:latin typeface="Calibri"/>
              </a:rPr>
              <a:t>median of three runs at 200 users, against 0.3 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docs/BENCHMARKS.md, from the unedited result files in docs/benchmarks/. One developer workstation with the database and the load generator on it, not a benchmark host.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7240" y="2676017"/>
          <a:ext cx="10637213" cy="274688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76827"/>
                <a:gridCol w="1035481"/>
                <a:gridCol w="6212886"/>
                <a:gridCol w="1412019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2743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SC-5 resolution p95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15 s warm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No rules: warm 0.98 s, cold 1.0 s. Forward fill on all 50 attributes: warm 6.1 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2743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SC-4 page latency p95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0.3 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0.15 s on SQLite; 0.18 s on PostgreSQL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Catalog search p95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0.5 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0.16 s over 100,000 objects, 800,010 index rows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2743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§24.3 capacity, four targets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see spec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Pin write 59.7 MB/s; 134,962 jobs an hour; cold start 1.26 s; every page under 30 ms after seeding 20k sets, 10k models and 100k pins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2743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761422"/>
                          </a:solidFill>
                          <a:latin typeface="Calibri"/>
                        </a:rPr>
                        <a:t>SC-3, 200 users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0.3 s p95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Three runs: 0.34 s, 0.22 s, 0.43 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C1C1E"/>
                          </a:solidFill>
                          <a:latin typeface="Calibri"/>
                        </a:rPr>
                        <a:t>not met reliably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WHAT FELL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39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C1E"/>
                </a:solidFill>
                <a:latin typeface="Georgia"/>
              </a:rPr>
              <a:t>SC-3: one run of three meets the target, and the median does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94689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22705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1C1E"/>
                </a:solidFill>
                <a:latin typeface="Calibri"/>
              </a:rPr>
              <a:t>200 users, each with a session of their own, browsing random screens with 1–3 s of think time for 60 seconds, on PostgreSQL with 8 web processes and the two-second principal cache.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641848"/>
            <a:ext cx="41148" cy="603503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641848"/>
            <a:ext cx="10362895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docs/BENCHMARKS.md. The configuration was identical across the three runs, so the spread is most likely the machine — but that is an inference, and only a quiet dedicated host would make it a measurement. A dedicated host is out of scope by decision, so SC-3 stands as not met reliably.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7240" y="1976247"/>
          <a:ext cx="10637212" cy="132251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02808"/>
                <a:gridCol w="1906670"/>
                <a:gridCol w="1505266"/>
                <a:gridCol w="1505266"/>
                <a:gridCol w="1505266"/>
                <a:gridCol w="1204213"/>
                <a:gridCol w="2207723"/>
              </a:tblGrid>
              <a:tr h="318579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Run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Throughput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Errors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p95 ÷ single user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95.3 req/s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0.056 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0.345 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1.73 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1.97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96.6 req/s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0.033 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0.215 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0.80 s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1.22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334645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93.4 req/s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0.054 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0.425 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3.37 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2.16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WHAT MAYA DOES NOT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Three things that will not be done, and what each costs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6044184"/>
            <a:ext cx="41148" cy="20116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6044184"/>
            <a:ext cx="103628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README, “Out of scope by decision”. Written as decisions rather than as work in progress, because a roadmap is not a control.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86967"/>
            <a:ext cx="10637215" cy="4492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The assistant's hosted provider is tested against a stub of its client only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Whether the live service answers the way the stub does is unproven. The default deterministic provider, which is what ships on, is unaffected.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Windows and macOS are not exercised; only Linux is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SC-14 — the whole suite green on all three platforms — is therefore not met, and the code paths that exist only for those two have never run. There is no hosted CI either: the gate ladder runs locally and in the pre-commit hook.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There is no dedicated benchmark host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Every published figure comes from one shared workstation, so a verdict close to its target — SC-3 above all — is a verdict about that machine and will not be settled elsewhere.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NOT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Stated so that nobody has to discover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README, “Not yet — stated so nobody has to discover it”, and the specification audit at docs/audit/, which reads the specification against the code requirement by requirement and ranks the gaps.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86967"/>
            <a:ext cx="10637215" cy="42914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A51C30"/>
                </a:solidFill>
                <a:latin typeface="Calibri"/>
              </a:rPr>
              <a:t>▪  </a:t>
            </a:r>
            <a:r>
              <a:rPr sz="1350" b="0">
                <a:solidFill>
                  <a:srgbClr val="1C1C1E"/>
                </a:solidFill>
                <a:latin typeface="Calibri"/>
              </a:rPr>
              <a:t>PostgreSQL 14 and 15 have not been run. The suite passes on 16.15, 17.11 and 18.6, and on SQLite; 14 is the documented floor.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A51C30"/>
                </a:solidFill>
                <a:latin typeface="Calibri"/>
              </a:rPr>
              <a:t>▪  </a:t>
            </a:r>
            <a:r>
              <a:rPr sz="1350" b="0">
                <a:solidFill>
                  <a:srgbClr val="1C1C1E"/>
                </a:solidFill>
                <a:latin typeface="Calibri"/>
              </a:rPr>
              <a:t>Single sign-on is proven against one real identity provider, Keycloak 26.4, over http on loopback. No commercial provider has been tried, and SAML back-channel logout is not supported, so a SAML provider that signs someone out without their browser does not reach MAYA.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A51C30"/>
                </a:solidFill>
                <a:latin typeface="Calibri"/>
              </a:rPr>
              <a:t>▪  </a:t>
            </a:r>
            <a:r>
              <a:rPr sz="1350" b="0">
                <a:solidFill>
                  <a:srgbClr val="1C1C1E"/>
                </a:solidFill>
                <a:latin typeface="Calibri"/>
              </a:rPr>
              <a:t>The strong sandbox tier is Linux-only; elsewhere MAYA declares a weaker tier and records it on every artifact validated under it.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A51C30"/>
                </a:solidFill>
                <a:latin typeface="Calibri"/>
              </a:rPr>
              <a:t>▪  </a:t>
            </a:r>
            <a:r>
              <a:rPr sz="1350" b="0">
                <a:solidFill>
                  <a:srgbClr val="1C1C1E"/>
                </a:solidFill>
                <a:latin typeface="Calibri"/>
              </a:rPr>
              <a:t>True specification PDFs need Tectonic installed on each server; without it MAYA renders a watermarked draft and forbids approval on one outside dev.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A51C30"/>
                </a:solidFill>
                <a:latin typeface="Calibri"/>
              </a:rPr>
              <a:t>▪  </a:t>
            </a:r>
            <a:r>
              <a:rPr sz="1350" b="0">
                <a:solidFill>
                  <a:srgbClr val="1C1C1E"/>
                </a:solidFill>
                <a:latin typeface="Calibri"/>
              </a:rPr>
              <a:t>Resolution, search and the capacity targets were measured on SQLite only; nothing in §24.3 has been run on PostgreSQL, and the per-pod figure has not been measured at all.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A51C30"/>
                </a:solidFill>
                <a:latin typeface="Calibri"/>
              </a:rPr>
              <a:t>▪  </a:t>
            </a:r>
            <a:r>
              <a:rPr sz="1350" b="0">
                <a:solidFill>
                  <a:srgbClr val="1C1C1E"/>
                </a:solidFill>
                <a:latin typeface="Calibri"/>
              </a:rPr>
              <a:t>Spreadsheet import is v1 scope: checked against LibreOffice Calc's own results, not against workbooks saved by Microsoft Excel.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A51C30"/>
                </a:solidFill>
                <a:latin typeface="Calibri"/>
              </a:rPr>
              <a:t>▪  </a:t>
            </a:r>
            <a:r>
              <a:rPr sz="1350" b="0">
                <a:solidFill>
                  <a:srgbClr val="1C1C1E"/>
                </a:solidFill>
                <a:latin typeface="Calibri"/>
              </a:rPr>
              <a:t>A custody anchor is only as external as the file it is written to; point it at off-host or write-once storage.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350" b="1">
                <a:solidFill>
                  <a:srgbClr val="A51C30"/>
                </a:solidFill>
                <a:latin typeface="Calibri"/>
              </a:rPr>
              <a:t>▪  </a:t>
            </a:r>
            <a:r>
              <a:rPr sz="1350" b="0">
                <a:solidFill>
                  <a:srgbClr val="1C1C1E"/>
                </a:solidFill>
                <a:latin typeface="Calibri"/>
              </a:rPr>
              <a:t>SC-9 — a new designer publishing a first model inside an hour — has not been timed with a real person, no external security review has been done, and the restore drill has been performed on a small estate only.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DELIBERATE NON-GOALS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Where MAYA chooses to lose, and the risks it accepts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6044184"/>
            <a:ext cx="41148" cy="20116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6044184"/>
            <a:ext cx="103628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Specification §2, §27.4 and §28.11, and README, “Deliberate non-goals”. A design without stated losses is a sales pitch.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Beaten on,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899031"/>
            <a:ext cx="5135727" cy="3980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Online serving latency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Streaming freshness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Raw scale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Connector breadth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0">
                <a:solidFill>
                  <a:srgbClr val="1C1C1E"/>
                </a:solidFill>
                <a:latin typeface="Calibri"/>
              </a:rPr>
              <a:t>Out-of-the-box regulatory report templates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Where sub-10 ms serving is needed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MAYA governs the definition and a serving layer consumes a sealed execution warrant. It does not grow a serving tier.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8727" y="1386967"/>
            <a:ext cx="5135727" cy="384048"/>
          </a:xfrm>
          <a:prstGeom prst="rect">
            <a:avLst/>
          </a:prstGeom>
          <a:solidFill>
            <a:srgbClr val="F6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8727" y="1386967"/>
            <a:ext cx="41148" cy="384048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1460119"/>
            <a:ext cx="4861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61422"/>
                </a:solidFill>
                <a:latin typeface="Calibri"/>
              </a:rPr>
              <a:t>Accepted risks, mitigated not removed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899031"/>
            <a:ext cx="5135727" cy="39805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Two-store consistency on pin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A saga and a reaper make a half-written pin invisible, not impossible.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Python's concurrency ceiling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Several web processes over PostgreSQL; still the SC-3 shortfall.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Execution outside MAYA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Some lineage escapes. The warrant narrows the gap; nothing closes it.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500" b="1">
                <a:solidFill>
                  <a:srgbClr val="A51C30"/>
                </a:solidFill>
                <a:latin typeface="Calibri"/>
              </a:rPr>
              <a:t>▪  </a:t>
            </a:r>
            <a:r>
              <a:rPr sz="1500" b="1">
                <a:solidFill>
                  <a:srgbClr val="1C1C1E"/>
                </a:solidFill>
                <a:latin typeface="Calibri"/>
              </a:rPr>
              <a:t>A catalog nobody seeds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4F57"/>
                </a:solidFill>
                <a:latin typeface="Calibri"/>
              </a:rPr>
              <a:t>The platform cannot create its own critical mass of curated features.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SECURITY POSTURE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39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C1E"/>
                </a:solidFill>
                <a:latin typeface="Georgia"/>
              </a:rPr>
              <a:t>Specified before it was built, which is the only order that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94689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README, “Security posture”, and specification §12 and §21; tests/test_foundation.py, tests/test_api_contract.py, tests/test_sandbox_linux.py, tests/test_custody.py.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1322705"/>
            <a:ext cx="3436010" cy="2095563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322705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487297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No silent defaults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1835784"/>
            <a:ext cx="3070250" cy="14544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Where a setting materially changes behaviour there is no default outside dev; MAYA fails at startup naming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7842" y="1322705"/>
            <a:ext cx="3436010" cy="2095563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7842" y="1322705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0722" y="1487297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No secret in a tracked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0722" y="2092832"/>
            <a:ext cx="3070250" cy="1197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The tracked configuration carries none, and a gate checks that it still does not.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8444" y="1322705"/>
            <a:ext cx="3436010" cy="2095563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78444" y="1322705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1324" y="1487297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The default admin password is a speed bump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324" y="2092832"/>
            <a:ext cx="3070250" cy="1197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MAYA refuses to start with it outside dev unless that is explicitly allowed.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582860"/>
            <a:ext cx="3436010" cy="2095563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582860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747452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User Python is hostile until proved otherwise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352988"/>
            <a:ext cx="3070250" cy="1197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Static validation, an import allowlist, a sandboxed subprocess with no network, resource caps, and a determinism probe.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77842" y="3582860"/>
            <a:ext cx="3436010" cy="2095563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7842" y="3582860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60722" y="3747452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The sandbox tier is declared, not assumed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0722" y="4352988"/>
            <a:ext cx="3070250" cy="1197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Claimed only when a probe child fails to escape; named on the health page and recorded on every artifact.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78444" y="3582860"/>
            <a:ext cx="3436010" cy="2095563"/>
          </a:xfrm>
          <a:prstGeom prst="rect">
            <a:avLst/>
          </a:prstGeom>
          <a:solidFill>
            <a:srgbClr val="FFFFFF"/>
          </a:solidFill>
          <a:ln w="11430">
            <a:solidFill>
              <a:srgbClr val="D8D4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8444" y="3582860"/>
            <a:ext cx="343601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61324" y="3747452"/>
            <a:ext cx="307025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C1C1E"/>
                </a:solidFill>
                <a:latin typeface="Georgia"/>
              </a:rPr>
              <a:t>An audit log nobody can edit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1324" y="4352988"/>
            <a:ext cx="3070250" cy="11974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4F57"/>
                </a:solidFill>
                <a:latin typeface="Calibri"/>
              </a:rPr>
              <a:t>Append-only and hash-chained, with the chain head signed and anchored outside the database.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MODEL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39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1C1E"/>
                </a:solidFill>
                <a:latin typeface="Georgia"/>
              </a:rPr>
              <a:t>MAYA holds the evidence; the firm's policy decides what is enough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194689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Specification §21.3, mapped there onto SR 26-2 and its non-US equivalents. This is an engineering description, not legal, regulatory or financial advice (NOTICE §4).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1322705"/>
          <a:ext cx="10637214" cy="4109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63825"/>
                <a:gridCol w="8273389"/>
              </a:tblGrid>
              <a:tr h="52743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a supervisor expects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MAYA holds</a:t>
                      </a:r>
                    </a:p>
                  </a:txBody>
                  <a:tcPr marL="82296" marR="64008" marT="32004" marB="32004" anchor="ctr">
                    <a:solidFill>
                      <a:srgbClr val="A51C30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Inventory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queryable register of models, versions, owners, maturity and dependencies, with lineage in both directions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784479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Documentation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LaTeX specification per model version, its formula blocks rendered from the same tree the code is checked against; submission is blocked while a required section is empty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Independent review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Segregation of duties enforced by the workflow engine, not by etiquette; review comments and decisions on the record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Reproducibility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Pins and warrants, and a signed bundle that verifies and re-executes on a machine with no MAYA installed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Change control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Every version change classified breaking, behavioral or additive, with its measured impact shown to the approver before they decide</a:t>
                      </a:r>
                    </a:p>
                  </a:txBody>
                  <a:tcPr marL="82296" marR="64008" marT="32004" marB="32004" anchor="ctr">
                    <a:solidFill>
                      <a:srgbClr val="FFFFFF"/>
                    </a:solidFill>
                  </a:tcPr>
                </a:tc>
              </a:tr>
              <a:tr h="55956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761422"/>
                          </a:solidFill>
                          <a:latin typeface="Calibri"/>
                        </a:rPr>
                        <a:t>Effective challenge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C1C1E"/>
                          </a:solidFill>
                          <a:latin typeface="Calibri"/>
                        </a:rPr>
                        <a:t>A recorded challenger's memo on every review: it never approves and never blocks, and the reviewer records whether they agreed</a:t>
                      </a:r>
                    </a:p>
                  </a:txBody>
                  <a:tcPr marL="82296" marR="64008" marT="32004" marB="32004" anchor="ctr">
                    <a:solidFill>
                      <a:srgbClr val="F6F3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WHAT ADOPTION 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Two questions the software cannot answer for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Specification §26.3 and §28.1; tests/test_features.py::test_scratch_quick_feature_has_zero_ceremony and tests/test_cli.py::test_quick_upload_and_restatement.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86967"/>
            <a:ext cx="10637215" cy="42914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Which separation-of-duties preset the first namespaces get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Small team, standard or regulated — all three ship, and strictness is a namespace setting stated on every review screen. It is a policy decision, made once, visibly.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Who seeds the first two namespaces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A catalog nobody seeds is an empty shop, and the platform cannot create its own critical mass of curated features. This is a sponsorship question, not an engineering one.</a:t>
            </a:r>
          </a:p>
          <a:p>
            <a:pPr>
              <a:lnSpc>
                <a:spcPct val="120000"/>
              </a:lnSpc>
              <a:spcBef>
                <a:spcPts val="500"/>
              </a:spcBef>
              <a:spcAft>
                <a:spcPts val="10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1">
                <a:solidFill>
                  <a:srgbClr val="1C1C1E"/>
                </a:solidFill>
                <a:latin typeface="Calibri"/>
              </a:rPr>
              <a:t>And the first five minutes, which the software does answer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4A4F57"/>
                </a:solidFill>
                <a:latin typeface="Calibri"/>
              </a:rPr>
              <a:t>A personal scratch namespace with no ceremony: one command makes a typed, resolvable feature from a CSV. Ceremony scales with consequence, and the platform loses if it is more trouble than a notebook.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66928"/>
            <a:ext cx="274320" cy="50292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75488"/>
            <a:ext cx="106372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A51C30"/>
                </a:solidFill>
                <a:latin typeface="Calibri"/>
              </a:rPr>
              <a:t>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10637215" cy="454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1C1E"/>
                </a:solidFill>
                <a:latin typeface="Georgia"/>
              </a:rPr>
              <a:t>Evidence, not assertion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58951"/>
            <a:ext cx="10637215" cy="10972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6355080"/>
            <a:ext cx="10637215" cy="7315"/>
          </a:xfrm>
          <a:prstGeom prst="rect">
            <a:avLst/>
          </a:prstGeom>
          <a:solidFill>
            <a:srgbClr val="D8D4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437376"/>
            <a:ext cx="744605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A7F87"/>
                </a:solidFill>
                <a:latin typeface="Calibri"/>
              </a:rPr>
              <a:t>MAYA · Executive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3290" y="6437376"/>
            <a:ext cx="31911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7F87"/>
                </a:solidFill>
                <a:latin typeface="Calibri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5843016"/>
            <a:ext cx="41148" cy="402336"/>
          </a:xfrm>
          <a:prstGeom prst="rect">
            <a:avLst/>
          </a:prstGeom>
          <a:solidFill>
            <a:srgbClr val="A51C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43016"/>
            <a:ext cx="10362895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4F57"/>
                </a:solidFill>
                <a:latin typeface="Calibri"/>
              </a:rPr>
              <a:t>Specification: docs/MAYA_Requirements_and_Design.md · Plan: docs/IMPLEMENTATION_PLAN.md · Measurements: docs/BENCHMARKS.md · Worked models: case_studies/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386967"/>
            <a:ext cx="10637215" cy="42914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0">
                <a:solidFill>
                  <a:srgbClr val="1C1C1E"/>
                </a:solidFill>
                <a:latin typeface="Calibri"/>
              </a:rPr>
              <a:t>One place that answers what the firm runs, who approved it and what it was fitted on — and lets that answer be checked rather than asserted.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0">
                <a:solidFill>
                  <a:srgbClr val="1C1C1E"/>
                </a:solidFill>
                <a:latin typeface="Calibri"/>
              </a:rPr>
              <a:t>A warrant is a live licence, not a certificate: it expires, it is revoked, and it suspends itself when a covenant is breached.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0">
                <a:solidFill>
                  <a:srgbClr val="1C1C1E"/>
                </a:solidFill>
                <a:latin typeface="Calibri"/>
              </a:rPr>
              <a:t>A bundle leaves the building and still proves itself: every hash recomputed and the model re-executed, on a machine that has never heard of MAYA.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0">
                <a:solidFill>
                  <a:srgbClr val="1C1C1E"/>
                </a:solidFill>
                <a:latin typeface="Calibri"/>
              </a:rPr>
              <a:t>Nine worked models have been carried through the platform end to end, and found twelve defects in it, each fixed with a test.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0">
                <a:solidFill>
                  <a:srgbClr val="1C1C1E"/>
                </a:solidFill>
                <a:latin typeface="Calibri"/>
              </a:rPr>
              <a:t>Seven performance targets pass on one workstation; SC-3 does not pass reliably, and this deck says so rather than rounding it.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1700" b="1">
                <a:solidFill>
                  <a:srgbClr val="A51C30"/>
                </a:solidFill>
                <a:latin typeface="Calibri"/>
              </a:rPr>
              <a:t>▪  </a:t>
            </a:r>
            <a:r>
              <a:rPr sz="1700" b="0">
                <a:solidFill>
                  <a:srgbClr val="1C1C1E"/>
                </a:solidFill>
                <a:latin typeface="Calibri"/>
              </a:rPr>
              <a:t>What is out of scope, and what is not yet done, is written down before anyone has to discover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MAYA — Executive Briefing</dc:title>
  <dc:subject>What MAYA is, what a firm gets from it, and what it does not do</dc:subject>
  <dc:creator>Ashutosh Sinha</dc:creator>
  <cp:keywords>MAYA; model risk; governance</cp:keywords>
  <dc:description>Copyright (c) 2026 Ashutosh Sinha. All rights reserved.</dc:description>
  <cp:lastModifiedBy>Ashutosh Sinha</cp:lastModifiedBy>
  <cp:revision>1</cp:revision>
  <dcterms:created xsi:type="dcterms:W3CDTF">2026-09-19T12:00:00Z</dcterms:created>
  <dcterms:modified xsi:type="dcterms:W3CDTF">2026-09-19T12:00:00Z</dcterms:modified>
  <cp:category/>
</cp:coreProperties>
</file>