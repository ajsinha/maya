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31920"/>
            <a:ext cx="12191695" cy="54864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82880" cy="393192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82296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8B8C0"/>
                </a:solidFill>
                <a:latin typeface="Calibri"/>
              </a:rPr>
              <a:t>MODEL RISK  ·  REPRODUCIBILITY  ·  EXECUTIVE BRIEFING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280160"/>
            <a:ext cx="9573493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Georgia"/>
              </a:rPr>
              <a:t>Any number a model produced,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Georgia"/>
              </a:rPr>
              <a:t>rebuilt exactly, years later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2971800"/>
            <a:ext cx="155448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154680"/>
            <a:ext cx="90416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6E6E9"/>
                </a:solidFill>
                <a:latin typeface="Calibri"/>
              </a:rPr>
              <a:t>MAYA — Model &amp; AI Lifecycle Assurance.  Evidence, not assertion.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343400"/>
            <a:ext cx="531860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1C1C1E"/>
                </a:solidFill>
                <a:latin typeface="Georgia"/>
              </a:rPr>
              <a:t>Ashutosh Sinha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A51C30"/>
                </a:solidFill>
                <a:latin typeface="Calibri"/>
              </a:rPr>
              <a:t>September 2026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MAYA 0.3.0 · specification revision 2.3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4080" y="4297680"/>
            <a:ext cx="4680374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A51C30"/>
                </a:solidFill>
                <a:latin typeface="Calibri"/>
              </a:rPr>
              <a:t>IN THIS DECK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1   </a:t>
            </a:r>
            <a:r>
              <a:rPr sz="1200" b="0">
                <a:solidFill>
                  <a:srgbClr val="4A4F57"/>
                </a:solidFill>
                <a:latin typeface="Calibri"/>
              </a:rPr>
              <a:t>What MAYA is, and the four failures it removes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2   </a:t>
            </a:r>
            <a:r>
              <a:rPr sz="1200" b="0">
                <a:solidFill>
                  <a:srgbClr val="4A4F57"/>
                </a:solidFill>
                <a:latin typeface="Calibri"/>
              </a:rPr>
              <a:t>The warrant: a licence to train or run a model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3   </a:t>
            </a:r>
            <a:r>
              <a:rPr sz="1200" b="0">
                <a:solidFill>
                  <a:srgbClr val="4A4F57"/>
                </a:solidFill>
                <a:latin typeface="Calibri"/>
              </a:rPr>
              <a:t>What version 0.3.0 delivers, with its tests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4   </a:t>
            </a:r>
            <a:r>
              <a:rPr sz="1200" b="0">
                <a:solidFill>
                  <a:srgbClr val="4A4F57"/>
                </a:solidFill>
                <a:latin typeface="Calibri"/>
              </a:rPr>
              <a:t>What has been measured, and what fell short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5   </a:t>
            </a:r>
            <a:r>
              <a:rPr sz="1200" b="0">
                <a:solidFill>
                  <a:srgbClr val="4A4F57"/>
                </a:solidFill>
                <a:latin typeface="Calibri"/>
              </a:rPr>
              <a:t>What it does not do, by decision and not yet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WHAT MAYA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1C1E"/>
                </a:solidFill>
                <a:latin typeface="Georgia"/>
              </a:rPr>
              <a:t>A system of record for the whole chain behind a model's number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3877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E"/>
                </a:solidFill>
                <a:latin typeface="Calibri"/>
              </a:rPr>
              <a:t>MAYA holds the features, feature sets, models and warrants of a quantitative shop in one place: definition, data, documentation, approval and evidence.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Specification §1–§2. The specification, revision 2.3, is the authority; this deck describes version 0.3.0 of the code built from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992312"/>
            <a:ext cx="10637215" cy="3686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Definitions are code; data is a consequence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MAYA stores how a number is produced. A version freezes how; a pin freezes what — the same bytes forever, verified by a content hash.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Models are mathematics, code, parameters and a specification together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A model's formula is a typed expression tree, from which MAYA renders the specification document and diffs two versions mathematically.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A warrant binds model, data and parameters into one object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Who was allowed to run what, on which data, with whose approval, becomes a query.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It does not train models and does not serve predictions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Training runs on the user's own compute; MAYA issues the licence and keeps the evidence.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Four failures found in almost every quantitative 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Specification §1. Each of the four is a reproducibility failure waiting to be found by someone who is not on your 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236311" cy="2164016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1551559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1807591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Feature logic lives in notebooks and SQL snippets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413127"/>
            <a:ext cx="4870551" cy="1009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Two teams compute “adjusted close” differently and neither is wrong. MAYA holds one versioned, approved definition, and an algebra for building on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8143" y="1386967"/>
            <a:ext cx="5236311" cy="2164016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8143" y="1386967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1023" y="1551559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1023" y="1807591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Training data is a file on a share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1023" y="2413127"/>
            <a:ext cx="4870551" cy="1009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When results are challenged nobody can produce the exact rows used. A MAYA pin is immutable and content-addressed; a warrant records the checksum that was downloaded.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715575"/>
            <a:ext cx="5236311" cy="2164016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715575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880167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136199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Mathematics, code and parameters drift apart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741735"/>
            <a:ext cx="4870551" cy="1009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A PDF, a repository and a spreadsheet. MAYA versions the formula, the code artifact, the parameter sets and the LaTeX specification against one another.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8143" y="3715575"/>
            <a:ext cx="5236311" cy="2164016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8143" y="3715575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1023" y="3880167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1023" y="4136199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Nothing binds model, data and parameters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1023" y="4741735"/>
            <a:ext cx="4870551" cy="1009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The warrant does: one auditable, transferable object, sealed, and revocable when the model is found to be wrong.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DISTINGUISHING PRIMITIVE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C1C1E"/>
                </a:solidFill>
                <a:latin typeface="Georgia"/>
              </a:rPr>
              <a:t>The warrant: a licence to compute, not a document about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4836"/>
            <a:ext cx="1922617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4836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519428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Training warrant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124964"/>
            <a:ext cx="1556857" cy="1113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Freezes a model version against a pinned feature set; the contract and a leakage certificate are checked first.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55889" y="1354836"/>
            <a:ext cx="1922617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55889" y="1354836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38769" y="1519428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Offline 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8769" y="2124964"/>
            <a:ext cx="1556857" cy="1113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The developer downloads the data with a checksum and trains on their own compute.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727289" y="2360676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134538" y="1354836"/>
            <a:ext cx="1922617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34538" y="1354836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17418" y="1519428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Parameter 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7418" y="2124964"/>
            <a:ext cx="1556857" cy="1113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Uploaded against that checksum; changed data is flagged and cannot be approved silently.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905938" y="2360676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313188" y="1354836"/>
            <a:ext cx="1922617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3188" y="1354836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6068" y="1519428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Execution warrant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6068" y="2124964"/>
            <a:ext cx="1556857" cy="1113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Model, parameters and input contract as a live licence: it expires, is revoked, and suspends on a covenant breach.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084588" y="2360676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9491837" y="1354836"/>
            <a:ext cx="1922617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91837" y="1354836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74717" y="1519428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Bundle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74717" y="1867916"/>
            <a:ext cx="1556857" cy="13705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A signed archive that verifies offline, re-executes the model and fails on one changed byte.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63237" y="2360676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77240" y="3576828"/>
            <a:ext cx="10637215" cy="26685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A revoked, expired or suspended warrant fails every consuming SDK call closed, naming the person to contact.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An escrowed holdout is scored by MAYA; the developer never receives it, and every scoring attempt is counted on the warrant.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Proved by tests/test_warrants.py (the checksum cycle, the leakage certificate) and tests/test_security_regressions.py (each covenant).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WHY NOT BUY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C1C1E"/>
                </a:solidFill>
                <a:latin typeface="Georgia"/>
              </a:rPr>
              <a:t>What each adjacent category does well, and where it stops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Specification §27. MAYA's position is the seam between them: pinned, hash-verified data, an algebra over definitions, model mathematics as data, and a transferable licence to compute.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70901"/>
          <a:ext cx="10637214" cy="311638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91076"/>
                <a:gridCol w="3818487"/>
                <a:gridCol w="4727651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Good at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Where it stops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Feature stores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Point-in-time joins, online serving, streaming, scale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No approval workflow, no model side, no immutable snapshot for an auditor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Lakehouse versioning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Branch, tag and time travel over data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Versions bytes, not meaning: no owner, no approval, no model linkage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ML registries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Run tracking, artifact lineage, metrics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run is a record of what happened, not a licence for what may happen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Catalogs and lineage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Discovery, ownership, column lineage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Observe pipelines rather than gate them; hold no data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Model-risk tools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Inventory, validation workflow, regulator reporting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Store a document saying a model was validated, not what lets you re-run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Version 0.3.0, built from specification revision 2.3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6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0.3.0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released 19 September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6835" y="1386967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86835" y="138696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8003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1,200+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8003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tests, on SQLite and PostgreSQL, run on Linux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6431" y="1386967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38696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 :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7599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4F57"/>
                </a:solidFill>
                <a:latin typeface="Calibri"/>
              </a:rPr>
              <a:t>REST endpoints to SDK methods, both ways, checked by a CI gate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6027" y="1386967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06027" y="138696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7195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90%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7195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line-coverage floor enforced by gates.py --tests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2740279"/>
            <a:ext cx="10637215" cy="35050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The whole spine runs through the web UI, the REST API, the Python SDK and the CLI: source → feature → feature set → pin → model → training warrant → parameter set → execution warrant → reproducibility bundle.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The suite includes real-browser tests in headless Chrome, a multi-process server, LibreOffice Calc as a judge of spreadsheet lifts, and a real openssl timestamp authority.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Single sign-on is tested against a real identity provider, Keycloak 26.4, by opt-in tests that are skipped by default.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WHAT'S SHIPPED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C1C1E"/>
                </a:solidFill>
                <a:latin typeface="Georgia"/>
              </a:rPr>
              <a:t>Delivered by milestone, each with the tests that prove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The README's “What's shipped” lists every capability with its module and tests. A capability without a test that exercises it is not listed.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70901"/>
          <a:ext cx="10637214" cy="4208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72829"/>
                <a:gridCol w="5091316"/>
                <a:gridCol w="4273069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Proved by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945133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M0–M1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Gate ladder; canonical bytes and content-defined fragments; two generated schema files; hash-chained audit; one authorization function; SSO, TOTP and WebAuthn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test_foundation.py, test_api_and_gates.py, test_workflow_and_estate.py, test_authz_matrix.py, test_sso_mfa.py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73628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M2–M3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maya_delta on two backends; byte-identical re-resolution (SC-1); point-in-time after restatement (SC-11); the feature algebra; sources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test_maya_delta.py, test_features.py, test_resolution_*.py, test_properties.py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73628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M4–M5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Feature sets, cascade pin, materialization policies, grant conditions; workflow as data, SoD, workspaces and shadow replay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test_materialization.py, test_conditions.py, test_workflow_matrix.py, test_workspaces.py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73628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M6–M7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Formula IR, sandboxed artifacts, Tectonic specifications, spreadsheets as models; warrants, covenants, signed bundles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test_formula.py, test_sandbox_linux.py, test_spreadsheet.py, test_warrants.py, test_sdk_modes.py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73628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M8 and §29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SDK record/replay, paging, several web processes, observability; licence algebra, custody anchors, the assistant as a recorded challenger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test_paging.py, test_web_processes.py, test_custody.py, test_assistant.py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1C1E"/>
                </a:solidFill>
                <a:latin typeface="Georgia"/>
              </a:rPr>
              <a:t>Three targets met on a shared workstation, one not met reliably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22705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22705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1450721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0.98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1926209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4F57"/>
                </a:solidFill>
                <a:latin typeface="Calibri"/>
              </a:rPr>
              <a:t>SC-5 warm p95, 50 columns × 10 years × 500 symbols (target 15 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6835" y="1322705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86835" y="1322705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8003" y="1450721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0.16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8003" y="1926209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catalog search p95 over 100,000 objects (target 0.5 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6431" y="1322705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322705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1450721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0.18 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7599" y="1926209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4F57"/>
                </a:solidFill>
                <a:latin typeface="Calibri"/>
              </a:rPr>
              <a:t>SC-4 worst metadata page p95, PostgreSQL, 8 processes (target 0.3 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6027" y="1322705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06027" y="1322705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7195" y="1450721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0.34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7195" y="1926209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4F57"/>
                </a:solidFill>
                <a:latin typeface="Calibri"/>
              </a:rPr>
              <a:t>SC-3 median p95, 200 users (target 0.3 s): not met reliably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docs/BENCHMARKS.md, from the unedited result files in docs/benchmarks/. One developer workstation, not a benchmark host.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777240" y="2676017"/>
          <a:ext cx="10637214" cy="227567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00160"/>
                <a:gridCol w="6727811"/>
                <a:gridCol w="1909243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761422"/>
                          </a:solidFill>
                          <a:latin typeface="Calibri"/>
                        </a:rPr>
                        <a:t>SC-5 resolution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C1C1E"/>
                          </a:solidFill>
                          <a:latin typeface="Calibri"/>
                        </a:rPr>
                        <a:t>No rules: warm p95 0.98 s, cold 1.0 s. forward_fill(limit=3) on every attribute: warm p95 6.1 s, cold 6.3 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C1C1E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761422"/>
                          </a:solidFill>
                          <a:latin typeface="Calibri"/>
                        </a:rPr>
                        <a:t>Search, 100k objects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C1C1E"/>
                          </a:solidFill>
                          <a:latin typeface="Calibri"/>
                        </a:rPr>
                        <a:t>p95 0.16 s (p50 0.08 s), 800,010 index rows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C1C1E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761422"/>
                          </a:solidFill>
                          <a:latin typeface="Calibri"/>
                        </a:rPr>
                        <a:t>SC-4 page latency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C1C1E"/>
                          </a:solidFill>
                          <a:latin typeface="Calibri"/>
                        </a:rPr>
                        <a:t>Worst page p95 0.15 s on SQLite, one process; 0.18 s on PostgreSQL, 8 processes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C1C1E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2661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761422"/>
                          </a:solidFill>
                          <a:latin typeface="Calibri"/>
                        </a:rPr>
                        <a:t>SC-3, 200 users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C1C1E"/>
                          </a:solidFill>
                          <a:latin typeface="Calibri"/>
                        </a:rPr>
                        <a:t>Three runs: p95 0.34 s, 0.22 s, 0.43 s; 93–97 requests/s; no errors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C1C1E"/>
                          </a:solidFill>
                          <a:latin typeface="Calibri"/>
                        </a:rPr>
                        <a:t>not met reliably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WHAT FELL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1C1E"/>
                </a:solidFill>
                <a:latin typeface="Georgia"/>
              </a:rPr>
              <a:t>SC-3: one run of three meets the target, and the median does not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22705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E"/>
                </a:solidFill>
                <a:latin typeface="Calibri"/>
              </a:rPr>
              <a:t>200 users, each with their own session, browsing random screens with 1–3 s think time for 60 s, on PostgreSQL with 8 web processes and the two-second principal cache.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641848"/>
            <a:ext cx="41148" cy="603503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641848"/>
            <a:ext cx="10362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The configuration was identical across runs, so the spread is most likely the machine. That is an inference: only a quiet, dedicated host could make it a measurement, and a dedicated host is out of scope by decision. SC-3 therefore stands as not met reliably.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1976247"/>
          <a:ext cx="10637213" cy="132251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6219"/>
                <a:gridCol w="2312438"/>
                <a:gridCol w="1849950"/>
                <a:gridCol w="1849950"/>
                <a:gridCol w="1849950"/>
                <a:gridCol w="1618706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Throughput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p50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p95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Max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Errors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95.3 req/s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0.056 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0.345 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1.73 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96.6 req/s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0.033 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0.215 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0.80 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93.4 req/s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0.054 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0.425 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3.37 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OUT OF SCOPE BY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Three things that will not be done, and what each costs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README, “Out of scope by decision”. Stated as decisions, not as work in progress.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386967"/>
            <a:ext cx="10637215" cy="4492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The assistant is not tested against the live Claude API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With the Claude provider the request is verified against a stub of the client only. Whether the live service answers as the stub does is unproven. The default deterministic provider is unaffected.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Windows and macOS are not exercised; only Linux is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SC-14 — the full suite green on all three platforms — is therefore not met, and the code paths only those platforms use have never run. There is no hosted CI; the gate ladder runs locally and in the pre-commit hook.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There is no dedicated benchmark host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Every figure comes from one shared workstation, so a verdict close to its target — SC-3 above all — is a verdict about this machine.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NOT 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Stated so nobody has to discover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README, “Not yet”, and the implementation plan's milestone status notes.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386967"/>
            <a:ext cx="10637215" cy="4492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0">
                <a:solidFill>
                  <a:srgbClr val="1C1C1E"/>
                </a:solidFill>
                <a:latin typeface="Calibri"/>
              </a:rPr>
              <a:t>PostgreSQL 14 and 15 have not been run; the suite has passed on PostgreSQL 16, 17 and 18 and on SQLite.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0">
                <a:solidFill>
                  <a:srgbClr val="1C1C1E"/>
                </a:solidFill>
                <a:latin typeface="Calibri"/>
              </a:rPr>
              <a:t>Single sign-on is proven against one real identity provider, Keycloak 26.4, over http on loopback. No commercial IdP has been tried; SAML back-channel (SOAP) logout is not supported.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0">
                <a:solidFill>
                  <a:srgbClr val="1C1C1E"/>
                </a:solidFill>
                <a:latin typeface="Calibri"/>
              </a:rPr>
              <a:t>The strong sandbox tier is Linux-only. True specification PDFs need Tectonic on each server; without it they are watermarked drafts.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0">
                <a:solidFill>
                  <a:srgbClr val="1C1C1E"/>
                </a:solidFill>
                <a:latin typeface="Calibri"/>
              </a:rPr>
              <a:t>Most of the §24.3 capacity targets have not been measured, and SC-5 and search only on SQLite.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0">
                <a:solidFill>
                  <a:srgbClr val="1C1C1E"/>
                </a:solidFill>
                <a:latin typeface="Calibri"/>
              </a:rPr>
              <a:t>Spreadsheet import is v1 scope: checked against LibreOffice Calc, not against workbooks saved by Microsoft Excel.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0">
                <a:solidFill>
                  <a:srgbClr val="1C1C1E"/>
                </a:solidFill>
                <a:latin typeface="Calibri"/>
              </a:rPr>
              <a:t>Custody anchors are only as external as the file they are written to.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0">
                <a:solidFill>
                  <a:srgbClr val="1C1C1E"/>
                </a:solidFill>
                <a:latin typeface="Calibri"/>
              </a:rPr>
              <a:t>SC-9, a new designer publishing a first model in under an hour, has not been timed with a real person. No external security review has been done, and the restore drill has not been performed on a real deployment.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DELIBERATE NON-GOALS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Where MAYA chooses to lose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Specification §2, §27.4 and §28.11.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Beaten on, by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980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Online serving latency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Streaming freshness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Raw scale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Connector breadth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Out-of-the-box regulatory report templates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Where sub-10 ms serving is needed: MAYA governs the definition, and a serving layer consumes a sealed execution warrant.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Accepted risks, mitigated not removed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980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Two-store consistency on pin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 saga and a reaper make a half-pin invisible, not impossible.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Python's concurrency ceiling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Several web processes on PostgreSQL; still the SC-3 shortfall.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Execution outside MAYA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Some lineage escapes; the SDK narrows it, nothing closes it.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An empty catalog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Someone must seed the first two namespaces.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SECURITY POSTURE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Specified before it was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README, “Security posture”; tests/test_foundation.py, tests/test_api_contract.py, tests/test_sandbox_linux.py, tests/test_custody.py.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3436010" cy="2063432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155155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No silent defaults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1900047"/>
            <a:ext cx="3070250" cy="142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Where a setting changes behaviour materially there is no default outside dev; MAYA fails at startup naming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77842" y="1386967"/>
            <a:ext cx="3436010" cy="2063432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77842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0722" y="155155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No secret in a tracked 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0722" y="2157095"/>
            <a:ext cx="3070250" cy="1165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config/application.yaml carries none; a CI gate checks 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78444" y="1386967"/>
            <a:ext cx="3436010" cy="2063432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78444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61324" y="155155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The admin password is a speed bump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324" y="2157095"/>
            <a:ext cx="3070250" cy="1165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MAYA refuses to start with the default outside dev unless explicitly allowed.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614991"/>
            <a:ext cx="3436010" cy="2063432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36149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77958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User Python is hostile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128071"/>
            <a:ext cx="3070250" cy="142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Static validation, an import allowlist and a sandboxed subprocess with no network; the tier is declared and recorded on every artifact.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77842" y="3614991"/>
            <a:ext cx="3436010" cy="2063432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77842" y="36149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60722" y="377958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One authorization function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0722" y="4385119"/>
            <a:ext cx="3070250" cy="1165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Every route is tested as anonymous, as no-role and as administrator; the role ceiling is never exceeded.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78444" y="3614991"/>
            <a:ext cx="3436010" cy="2063432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78444" y="36149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61324" y="377958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An audit log nobody can edit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61324" y="4385119"/>
            <a:ext cx="3070250" cy="1165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Append-only and hash-chained, with the chain head anchored outside the database.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MODEL RISK ALIGNMENT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1C1E"/>
                </a:solidFill>
                <a:latin typeface="Georgia"/>
              </a:rPr>
              <a:t>MAYA holds the evidence; the firm's policy decides what is enough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Specification §21.3, mapped to SR 26-2. This is an engineering description, not legal or regulatory advice (NOTICE §4).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22705"/>
          <a:ext cx="10637214" cy="322611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63825"/>
                <a:gridCol w="8273389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Expectation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MAYA holds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Inventory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queryable register of models, versions, owners, maturity and dependencies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Documentation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LaTeX specification per model version; submission is blocked while a required section is empty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Independent review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Segregation of duties enforced by workflow; review comments and decisions on the record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Reproducibility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Pins and warrants; a signed bundle that verifies and re-executes offline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Change control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Every version change classified breaking, behavioral or additive, with its impact shown to the approver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Effective challenge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The assistant's memo on every review: it never approves or blocks, and the reviewer records whether they agreed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WHAT ADOPTION TAKES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Two questions the software cannot answer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Specification §26.3 and §28.1.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386967"/>
            <a:ext cx="10637215" cy="4492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Which separation-of-duties preset the first namespaces get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Small team, Standard or Regulated. All three ship; strictness is a namespace setting, stated on every review screen.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Who seeds the first two namespaces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The platform cannot create its own critical mass of curated features. This is a sponsorship question, not an engineering one.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And the first five minutes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A personal scratch namespace with no ceremony: `maya feature quick prices.csv` makes a typed, resolvable feature in one command. Ceremony scales with consequence.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IN ONE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Evidence, not assertion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Specification: docs/MAYA_Requirements_and_Design.md · Plan: docs/IMPLEMENTATION_PLAN.md · Measurements: docs/BENCHMARKS.md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386967"/>
            <a:ext cx="10637215" cy="4492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C1C1E"/>
                </a:solidFill>
                <a:latin typeface="Calibri"/>
              </a:rPr>
              <a:t>One place that answers what the firm runs, who approved it, what it was fitted on — and lets that answer be checked rather than asserted.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C1C1E"/>
                </a:solidFill>
                <a:latin typeface="Calibri"/>
              </a:rPr>
              <a:t>A warrant is a live licence: it expires, it is revoked, and it suspends itself when a covenant is breached.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C1C1E"/>
                </a:solidFill>
                <a:latin typeface="Calibri"/>
              </a:rPr>
              <a:t>Version 0.3.0 runs the whole spine end to end, with more than 1,500 tests on Linux over SQLite and PostgreSQL.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C1C1E"/>
                </a:solidFill>
                <a:latin typeface="Calibri"/>
              </a:rPr>
              <a:t>Three performance targets pass on one workstation; SC-3 does not pass reliably, and the deck says so.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C1C1E"/>
                </a:solidFill>
                <a:latin typeface="Calibri"/>
              </a:rPr>
              <a:t>What is out of scope, and what is not yet done, is written down before anyone has to discover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MAYA — Executive Briefing</dc:title>
  <dc:subject>What MAYA is, what version 0.3.0 delivers, and what it does not</dc:subject>
  <dc:creator>Ashutosh Sinha</dc:creator>
  <cp:keywords>MAYA; model risk; governance</cp:keywords>
  <dc:description>Copyright (c) 2026 Ashutosh Sinha. All rights reserved.</dc:description>
  <cp:lastModifiedBy>Ashutosh Sinha</cp:lastModifiedBy>
  <cp:revision>1</cp:revision>
  <dcterms:created xsi:type="dcterms:W3CDTF">2026-09-19T12:00:00Z</dcterms:created>
  <dcterms:modified xsi:type="dcterms:W3CDTF">2026-09-19T12:00:00Z</dcterms:modified>
  <cp:category/>
</cp:coreProperties>
</file>