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051560" y="868680"/>
            <a:ext cx="10637215"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MODEL RISK  ·  AI GOVERNANCE  ·  EXECUTIVE BRIEFING</a:t>
            </a:r>
          </a:p>
        </p:txBody>
      </p:sp>
      <p:sp>
        <p:nvSpPr>
          <p:cNvPr id="7" name="TextBox 6"/>
          <p:cNvSpPr txBox="1"/>
          <p:nvPr/>
        </p:nvSpPr>
        <p:spPr>
          <a:xfrm>
            <a:off x="1051560" y="1325880"/>
            <a:ext cx="9148005" cy="182880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Every model the bank runs,</a:t>
            </a:r>
          </a:p>
          <a:p>
            <a:pPr>
              <a:spcBef>
                <a:spcPts val="0"/>
              </a:spcBef>
              <a:spcAft>
                <a:spcPts val="0"/>
              </a:spcAft>
            </a:pPr>
            <a:r>
              <a:rPr sz="3800" b="0" i="0">
                <a:solidFill>
                  <a:srgbClr val="FFFFFF"/>
                </a:solidFill>
                <a:latin typeface="Georgia"/>
              </a:rPr>
              <a:t>and the evidence to defend it</a:t>
            </a:r>
          </a:p>
        </p:txBody>
      </p:sp>
      <p:sp>
        <p:nvSpPr>
          <p:cNvPr id="8" name="Rectangle 7"/>
          <p:cNvSpPr/>
          <p:nvPr/>
        </p:nvSpPr>
        <p:spPr>
          <a:xfrm>
            <a:off x="1051560" y="290779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154680"/>
            <a:ext cx="8509772" cy="640080"/>
          </a:xfrm>
          <a:prstGeom prst="rect">
            <a:avLst/>
          </a:prstGeom>
          <a:noFill/>
        </p:spPr>
        <p:txBody>
          <a:bodyPr wrap="square" lIns="0" rIns="0" tIns="0" bIns="0" anchor="t">
            <a:spAutoFit/>
          </a:bodyPr>
          <a:lstStyle/>
          <a:p>
            <a:pPr algn="l">
              <a:lnSpc>
                <a:spcPct val="125000"/>
              </a:lnSpc>
              <a:spcBef>
                <a:spcPts val="0"/>
              </a:spcBef>
              <a:spcAft>
                <a:spcPts val="0"/>
              </a:spcAft>
            </a:pPr>
            <a:r>
              <a:rPr sz="1500" b="0" i="1">
                <a:solidFill>
                  <a:srgbClr val="F4DFE3"/>
                </a:solidFill>
                <a:latin typeface="Calibri"/>
              </a:rPr>
              <a:t>MAYA — Model &amp; AI Lifecycle Assurance</a:t>
            </a:r>
          </a:p>
        </p:txBody>
      </p:sp>
      <p:sp>
        <p:nvSpPr>
          <p:cNvPr id="10" name="TextBox 9"/>
          <p:cNvSpPr txBox="1"/>
          <p:nvPr/>
        </p:nvSpPr>
        <p:spPr>
          <a:xfrm>
            <a:off x="1051560" y="434340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September 2026</a:t>
            </a:r>
          </a:p>
        </p:txBody>
      </p:sp>
      <p:sp>
        <p:nvSpPr>
          <p:cNvPr id="11" name="TextBox 10"/>
          <p:cNvSpPr txBox="1"/>
          <p:nvPr/>
        </p:nvSpPr>
        <p:spPr>
          <a:xfrm>
            <a:off x="6734080" y="4370832"/>
            <a:ext cx="4680374" cy="1371600"/>
          </a:xfrm>
          <a:prstGeom prst="rect">
            <a:avLst/>
          </a:prstGeom>
          <a:noFill/>
        </p:spPr>
        <p:txBody>
          <a:bodyPr wrap="square" lIns="0" rIns="0" tIns="0" bIns="0" anchor="t">
            <a:spAutoFit/>
          </a:bodyPr>
          <a:lstStyle/>
          <a:p>
            <a:pPr algn="l">
              <a:spcBef>
                <a:spcPts val="0"/>
              </a:spcBef>
              <a:spcAft>
                <a:spcPts val="700"/>
              </a:spcAft>
            </a:pPr>
            <a:r>
              <a:rPr sz="950" b="1" i="0">
                <a:solidFill>
                  <a:srgbClr val="A51C30"/>
                </a:solidFill>
                <a:latin typeface="Calibri"/>
              </a:rPr>
              <a:t>TWENTY MINUTES</a:t>
            </a:r>
          </a:p>
          <a:p>
            <a:pPr>
              <a:spcBef>
                <a:spcPts val="0"/>
              </a:spcBef>
              <a:spcAft>
                <a:spcPts val="500"/>
              </a:spcAft>
            </a:pPr>
            <a:r>
              <a:rPr sz="1150" b="1" i="0">
                <a:solidFill>
                  <a:srgbClr val="A51C30"/>
                </a:solidFill>
                <a:latin typeface="Calibri"/>
              </a:rPr>
              <a:t>1   </a:t>
            </a:r>
            <a:r>
              <a:rPr sz="1150" b="0" i="0">
                <a:solidFill>
                  <a:srgbClr val="4A4F57"/>
                </a:solidFill>
                <a:latin typeface="Calibri"/>
              </a:rPr>
              <a:t>The exposure</a:t>
            </a:r>
          </a:p>
          <a:p>
            <a:pPr>
              <a:spcBef>
                <a:spcPts val="0"/>
              </a:spcBef>
              <a:spcAft>
                <a:spcPts val="500"/>
              </a:spcAft>
            </a:pPr>
            <a:r>
              <a:rPr sz="1150" b="1" i="0">
                <a:solidFill>
                  <a:srgbClr val="A51C30"/>
                </a:solidFill>
                <a:latin typeface="Calibri"/>
              </a:rPr>
              <a:t>2   </a:t>
            </a:r>
            <a:r>
              <a:rPr sz="1150" b="0" i="0">
                <a:solidFill>
                  <a:srgbClr val="4A4F57"/>
                </a:solidFill>
                <a:latin typeface="Calibri"/>
              </a:rPr>
              <a:t>Why it keeps happening</a:t>
            </a:r>
          </a:p>
          <a:p>
            <a:pPr>
              <a:spcBef>
                <a:spcPts val="0"/>
              </a:spcBef>
              <a:spcAft>
                <a:spcPts val="500"/>
              </a:spcAft>
            </a:pPr>
            <a:r>
              <a:rPr sz="1150" b="1" i="0">
                <a:solidFill>
                  <a:srgbClr val="A51C30"/>
                </a:solidFill>
                <a:latin typeface="Calibri"/>
              </a:rPr>
              <a:t>3   </a:t>
            </a:r>
            <a:r>
              <a:rPr sz="1150" b="0" i="0">
                <a:solidFill>
                  <a:srgbClr val="4A4F57"/>
                </a:solidFill>
                <a:latin typeface="Calibri"/>
              </a:rPr>
              <a:t>What MAYA is</a:t>
            </a:r>
          </a:p>
          <a:p>
            <a:pPr>
              <a:spcBef>
                <a:spcPts val="0"/>
              </a:spcBef>
              <a:spcAft>
                <a:spcPts val="500"/>
              </a:spcAft>
            </a:pPr>
            <a:r>
              <a:rPr sz="1150" b="1" i="0">
                <a:solidFill>
                  <a:srgbClr val="A51C30"/>
                </a:solidFill>
                <a:latin typeface="Calibri"/>
              </a:rPr>
              <a:t>4   </a:t>
            </a:r>
            <a:r>
              <a:rPr sz="1150" b="0" i="0">
                <a:solidFill>
                  <a:srgbClr val="4A4F57"/>
                </a:solidFill>
                <a:latin typeface="Calibri"/>
              </a:rPr>
              <a:t>What it would cost</a:t>
            </a:r>
          </a:p>
          <a:p>
            <a:pPr>
              <a:spcBef>
                <a:spcPts val="0"/>
              </a:spcBef>
              <a:spcAft>
                <a:spcPts val="500"/>
              </a:spcAft>
            </a:pPr>
            <a:r>
              <a:rPr sz="1150" b="1" i="0">
                <a:solidFill>
                  <a:srgbClr val="A51C30"/>
                </a:solidFill>
                <a:latin typeface="Calibri"/>
              </a:rPr>
              <a:t>5   </a:t>
            </a:r>
            <a:r>
              <a:rPr sz="1150" b="0" i="0">
                <a:solidFill>
                  <a:srgbClr val="4A4F57"/>
                </a:solidFill>
                <a:latin typeface="Calibri"/>
              </a:rPr>
              <a:t>The decision</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UP FRONT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decision this deck is asking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sp>
        <p:nvSpPr>
          <p:cNvPr id="10" name="TextBox 9"/>
          <p:cNvSpPr txBox="1"/>
          <p:nvPr/>
        </p:nvSpPr>
        <p:spPr>
          <a:xfrm>
            <a:off x="777240" y="1353312"/>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Read this slide first, and the rest as the argument for it.</a:t>
            </a:r>
          </a:p>
        </p:txBody>
      </p:sp>
      <p:graphicFrame>
        <p:nvGraphicFramePr>
          <p:cNvPr id="11" name="Table 10"/>
          <p:cNvGraphicFramePr>
            <a:graphicFrameLocks noGrp="1"/>
          </p:cNvGraphicFramePr>
          <p:nvPr/>
        </p:nvGraphicFramePr>
        <p:xfrm>
          <a:off x="777240" y="2011680"/>
          <a:ext cx="10637214" cy="1590774"/>
        </p:xfrm>
        <a:graphic>
          <a:graphicData uri="http://schemas.openxmlformats.org/drawingml/2006/table">
            <a:tbl>
              <a:tblPr firstRow="1">
                <a:tableStyleId>{5C22544A-7EE6-4342-B048-85BDC9FD1C3A}</a:tableStyleId>
              </a:tblPr>
              <a:tblGrid>
                <a:gridCol w="450729"/>
                <a:gridCol w="5679191"/>
                <a:gridCol w="450729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is being asked</a:t>
                      </a:r>
                    </a:p>
                  </a:txBody>
                  <a:tcPr marL="82296" marR="64008" marT="32004" marB="32004" anchor="ctr">
                    <a:solidFill>
                      <a:srgbClr val="A51C30"/>
                    </a:solidFill>
                  </a:tcPr>
                </a:tc>
                <a:tc>
                  <a:txBody>
                    <a:bodyPr wrap="square"/>
                    <a:lstStyle/>
                    <a:p>
                      <a:pPr algn="l"/>
                      <a:r>
                        <a:rPr sz="1100" b="1">
                          <a:solidFill>
                            <a:srgbClr val="FFFFFF"/>
                          </a:solidFill>
                          <a:latin typeface="Calibri"/>
                        </a:rPr>
                        <a:t>What it commits</a:t>
                      </a:r>
                    </a:p>
                  </a:txBody>
                  <a:tcPr marL="82296" marR="64008" marT="32004" marB="32004" anchor="ctr">
                    <a:solidFill>
                      <a:srgbClr val="A51C30"/>
                    </a:solidFill>
                  </a:tcPr>
                </a:tc>
              </a:tr>
              <a:tr h="350824">
                <a:tc>
                  <a:txBody>
                    <a:bodyPr wrap="square"/>
                    <a:lstStyle/>
                    <a:p>
                      <a:pPr algn="l"/>
                      <a:r>
                        <a:rPr sz="1200" b="0">
                          <a:solidFill>
                            <a:srgbClr val="1C1C1E"/>
                          </a:solidFill>
                          <a:latin typeface="Calibri"/>
                        </a:rPr>
                        <a:t>1</a:t>
                      </a:r>
                    </a:p>
                  </a:txBody>
                  <a:tcPr marL="82296" marR="64008" marT="32004" marB="32004" anchor="ctr">
                    <a:solidFill>
                      <a:srgbClr val="FFFFFF"/>
                    </a:solidFill>
                  </a:tcPr>
                </a:tc>
                <a:tc>
                  <a:txBody>
                    <a:bodyPr wrap="square"/>
                    <a:lstStyle/>
                    <a:p>
                      <a:pPr algn="l"/>
                      <a:r>
                        <a:rPr sz="1200" b="0">
                          <a:solidFill>
                            <a:srgbClr val="1C1C1E"/>
                          </a:solidFill>
                          <a:latin typeface="Calibri"/>
                        </a:rPr>
                        <a:t>Adopt MAYA as the register of record for models and AI capabilities</a:t>
                      </a:r>
                    </a:p>
                  </a:txBody>
                  <a:tcPr marL="82296" marR="64008" marT="32004" marB="32004" anchor="ctr">
                    <a:solidFill>
                      <a:srgbClr val="FFFFFF"/>
                    </a:solidFill>
                  </a:tcPr>
                </a:tc>
                <a:tc>
                  <a:txBody>
                    <a:bodyPr wrap="square"/>
                    <a:lstStyle/>
                    <a:p>
                      <a:pPr algn="l"/>
                      <a:r>
                        <a:rPr sz="1200" b="0">
                          <a:solidFill>
                            <a:srgbClr val="1C1C1E"/>
                          </a:solidFill>
                          <a:latin typeface="Calibri"/>
                        </a:rPr>
                        <a:t>A decision, not a spend. The platform exists and runs</a:t>
                      </a:r>
                    </a:p>
                  </a:txBody>
                  <a:tcPr marL="82296" marR="64008" marT="32004" marB="32004" anchor="ctr">
                    <a:solidFill>
                      <a:srgbClr val="FFFFFF"/>
                    </a:solidFill>
                  </a:tcPr>
                </a:tc>
              </a:tr>
              <a:tr h="555345">
                <a:tc>
                  <a:txBody>
                    <a:bodyPr wrap="square"/>
                    <a:lstStyle/>
                    <a:p>
                      <a:pPr algn="l"/>
                      <a:r>
                        <a:rPr sz="1200" b="0">
                          <a:solidFill>
                            <a:srgbClr val="1C1C1E"/>
                          </a:solidFill>
                          <a:latin typeface="Calibri"/>
                        </a:rPr>
                        <a:t>2</a:t>
                      </a:r>
                    </a:p>
                  </a:txBody>
                  <a:tcPr marL="82296" marR="64008" marT="32004" marB="32004" anchor="ctr">
                    <a:solidFill>
                      <a:srgbClr val="F6F3EF"/>
                    </a:solidFill>
                  </a:tcPr>
                </a:tc>
                <a:tc>
                  <a:txBody>
                    <a:bodyPr wrap="square"/>
                    <a:lstStyle/>
                    <a:p>
                      <a:pPr algn="l"/>
                      <a:r>
                        <a:rPr sz="1200" b="0">
                          <a:solidFill>
                            <a:srgbClr val="1C1C1E"/>
                          </a:solidFill>
                          <a:latin typeface="Calibri"/>
                        </a:rPr>
                        <a:t>Fund a twelve-month programme to bring the estate onto it</a:t>
                      </a:r>
                    </a:p>
                  </a:txBody>
                  <a:tcPr marL="82296" marR="64008" marT="32004" marB="32004" anchor="ctr">
                    <a:solidFill>
                      <a:srgbClr val="F6F3EF"/>
                    </a:solidFill>
                  </a:tcPr>
                </a:tc>
                <a:tc>
                  <a:txBody>
                    <a:bodyPr wrap="square"/>
                    <a:lstStyle/>
                    <a:p>
                      <a:pPr algn="l"/>
                      <a:r>
                        <a:rPr sz="1200" b="0">
                          <a:solidFill>
                            <a:srgbClr val="1C1C1E"/>
                          </a:solidFill>
                          <a:latin typeface="Calibri"/>
                        </a:rPr>
                        <a:t>Two engineers, one model-risk lead, part-time platform support</a:t>
                      </a:r>
                    </a:p>
                  </a:txBody>
                  <a:tcPr marL="82296" marR="64008" marT="32004" marB="32004" anchor="ctr">
                    <a:solidFill>
                      <a:srgbClr val="F6F3EF"/>
                    </a:solidFill>
                  </a:tcPr>
                </a:tc>
              </a:tr>
              <a:tr h="350824">
                <a:tc>
                  <a:txBody>
                    <a:bodyPr wrap="square"/>
                    <a:lstStyle/>
                    <a:p>
                      <a:pPr algn="l"/>
                      <a:r>
                        <a:rPr sz="1200" b="0">
                          <a:solidFill>
                            <a:srgbClr val="1C1C1E"/>
                          </a:solidFill>
                          <a:latin typeface="Calibri"/>
                        </a:rPr>
                        <a:t>3</a:t>
                      </a:r>
                    </a:p>
                  </a:txBody>
                  <a:tcPr marL="82296" marR="64008" marT="32004" marB="32004" anchor="ctr">
                    <a:solidFill>
                      <a:srgbClr val="FFFFFF"/>
                    </a:solidFill>
                  </a:tcPr>
                </a:tc>
                <a:tc>
                  <a:txBody>
                    <a:bodyPr wrap="square"/>
                    <a:lstStyle/>
                    <a:p>
                      <a:pPr algn="l"/>
                      <a:r>
                        <a:rPr sz="1200" b="0">
                          <a:solidFill>
                            <a:srgbClr val="1C1C1E"/>
                          </a:solidFill>
                          <a:latin typeface="Calibri"/>
                        </a:rPr>
                        <a:t>Agree that a model outside the register is not a model the bank runs</a:t>
                      </a:r>
                    </a:p>
                  </a:txBody>
                  <a:tcPr marL="82296" marR="64008" marT="32004" marB="32004" anchor="ctr">
                    <a:solidFill>
                      <a:srgbClr val="FFFFFF"/>
                    </a:solidFill>
                  </a:tcPr>
                </a:tc>
                <a:tc>
                  <a:txBody>
                    <a:bodyPr wrap="square"/>
                    <a:lstStyle/>
                    <a:p>
                      <a:pPr algn="l"/>
                      <a:r>
                        <a:rPr sz="1200" b="0">
                          <a:solidFill>
                            <a:srgbClr val="1C1C1E"/>
                          </a:solidFill>
                          <a:latin typeface="Calibri"/>
                        </a:rPr>
                        <a:t>The policy line that makes the rest work</a:t>
                      </a:r>
                    </a:p>
                  </a:txBody>
                  <a:tcPr marL="82296" marR="64008" marT="32004" marB="32004" anchor="ctr">
                    <a:solidFill>
                      <a:srgbClr val="FFFFFF"/>
                    </a:solidFill>
                  </a:tcPr>
                </a:tc>
              </a:tr>
            </a:tbl>
          </a:graphicData>
        </a:graphic>
      </p:graphicFrame>
      <p:sp>
        <p:nvSpPr>
          <p:cNvPr id="12" name="TextBox 11"/>
          <p:cNvSpPr txBox="1"/>
          <p:nvPr/>
        </p:nvSpPr>
        <p:spPr>
          <a:xfrm>
            <a:off x="777240" y="3895064"/>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you get for it. </a:t>
            </a:r>
            <a:r>
              <a:rPr sz="1250" b="0" i="0">
                <a:solidFill>
                  <a:srgbClr val="1C1C1E"/>
                </a:solidFill>
                <a:latin typeface="Calibri"/>
              </a:rPr>
              <a:t>One place that can answer, in front of a supervisor, what the bank runs, who approved it, what it was fitted on, and whether that answer can be checked rather than asserted. Today that answer takes weeks to assemble and is assembled from spreadsheets.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exposure, in the language of the risk committee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$1.2bn+</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single-firm regulatory penalties for model governance failure, last decade</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weeks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to answer “what models do we run, and on what data” — from spreadsheets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~40%</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validation cycle spent reconstructing evidence rather than validating</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banks that can replay a two-year-old decision byte-for-byte today</a:t>
            </a:r>
          </a:p>
        </p:txBody>
      </p:sp>
      <p:sp>
        <p:nvSpPr>
          <p:cNvPr id="26" name="TextBox 25"/>
          <p:cNvSpPr txBox="1"/>
          <p:nvPr/>
        </p:nvSpPr>
        <p:spPr>
          <a:xfrm>
            <a:off x="777240" y="2679191"/>
            <a:ext cx="10637215" cy="21945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failure is not that models are wrong. </a:t>
            </a:r>
            <a:r>
              <a:rPr sz="1300" b="0" i="0">
                <a:solidFill>
                  <a:srgbClr val="1C1C1E"/>
                </a:solidFill>
                <a:latin typeface="Calibri"/>
              </a:rPr>
              <a:t>Models are wrong all the time and that is priced in. The failure is that the bank cannot demonstrate what it was running, who authorised it, and what it saw — and a control you cannot demonstrate is, to a supervisor, a control you do not have.
</a:t>
            </a:r>
          </a:p>
          <a:p>
            <a:pPr>
              <a:lnSpc>
                <a:spcPct val="130000"/>
              </a:lnSpc>
              <a:spcBef>
                <a:spcPts val="0"/>
              </a:spcBef>
              <a:spcAft>
                <a:spcPts val="0"/>
              </a:spcAft>
            </a:pPr>
            <a:r>
              <a:rPr sz="1300" b="0" i="0">
                <a:solidFill>
                  <a:srgbClr val="1C1C1E"/>
                </a:solidFill>
                <a:latin typeface="Calibri"/>
              </a:rPr>
              <a:t>Three questions decide the outcome of every model-risk examination, and none of them is about accuracy: </a:t>
            </a:r>
            <a:r>
              <a:rPr sz="1300" b="1" i="0">
                <a:solidFill>
                  <a:srgbClr val="A51C30"/>
                </a:solidFill>
                <a:latin typeface="Calibri"/>
              </a:rPr>
              <a:t>what did you run, who said you could, and what did it see.</a:t>
            </a:r>
          </a:p>
        </p:txBody>
      </p:sp>
      <p:sp>
        <p:nvSpPr>
          <p:cNvPr id="27" name="TextBox 26"/>
          <p:cNvSpPr txBox="1"/>
          <p:nvPr/>
        </p:nvSpPr>
        <p:spPr>
          <a:xfrm>
            <a:off x="777240" y="5440680"/>
            <a:ext cx="10637215" cy="548640"/>
          </a:xfrm>
          <a:prstGeom prst="rect">
            <a:avLst/>
          </a:prstGeom>
          <a:noFill/>
        </p:spPr>
        <p:txBody>
          <a:bodyPr wrap="square" lIns="0" rIns="0" tIns="0" bIns="0" anchor="t">
            <a:spAutoFit/>
          </a:bodyPr>
          <a:lstStyle/>
          <a:p>
            <a:pPr algn="l">
              <a:spcBef>
                <a:spcPts val="0"/>
              </a:spcBef>
              <a:spcAft>
                <a:spcPts val="0"/>
              </a:spcAft>
            </a:pPr>
            <a:r>
              <a:rPr sz="1000" b="0" i="1">
                <a:solidFill>
                  <a:srgbClr val="7A7F87"/>
                </a:solidFill>
                <a:latin typeface="Calibri"/>
              </a:rPr>
              <a:t>The first two figures are industry estimates and are marked as such. The last two are what this bank's own teams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failures, and they are the same failure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A</a:t>
            </a:r>
          </a:p>
        </p:txBody>
      </p:sp>
      <p:sp>
        <p:nvSpPr>
          <p:cNvPr id="13" name="TextBox 12"/>
          <p:cNvSpPr txBox="1"/>
          <p:nvPr/>
        </p:nvSpPr>
        <p:spPr>
          <a:xfrm>
            <a:off x="99669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The register is a spreadsheet</a:t>
            </a:r>
          </a:p>
        </p:txBody>
      </p:sp>
      <p:sp>
        <p:nvSpPr>
          <p:cNvPr id="14" name="TextBox 13"/>
          <p:cNvSpPr txBox="1"/>
          <p:nvPr/>
        </p:nvSpPr>
        <p:spPr>
          <a:xfrm>
            <a:off x="99669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maintained by hand, it is out of date the day it is circulated, and nothing stops a model running that is not on it.</a:t>
            </a:r>
          </a:p>
        </p:txBody>
      </p:sp>
      <p:sp>
        <p:nvSpPr>
          <p:cNvPr id="15" name="Rectangle 14"/>
          <p:cNvSpPr/>
          <p:nvPr/>
        </p:nvSpPr>
        <p:spPr>
          <a:xfrm>
            <a:off x="349597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a:t>
            </a:r>
          </a:p>
        </p:txBody>
      </p:sp>
      <p:sp>
        <p:nvSpPr>
          <p:cNvPr id="18" name="TextBox 17"/>
          <p:cNvSpPr txBox="1"/>
          <p:nvPr/>
        </p:nvSpPr>
        <p:spPr>
          <a:xfrm>
            <a:off x="3715435" y="1847088"/>
            <a:ext cx="2042083" cy="382016"/>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1C1C1E"/>
                </a:solidFill>
                <a:latin typeface="Georgia"/>
              </a:rPr>
              <a:t>Approval is a signature on a document</a:t>
            </a:r>
          </a:p>
        </p:txBody>
      </p:sp>
      <p:sp>
        <p:nvSpPr>
          <p:cNvPr id="19" name="TextBox 18"/>
          <p:cNvSpPr txBox="1"/>
          <p:nvPr/>
        </p:nvSpPr>
        <p:spPr>
          <a:xfrm>
            <a:off x="3715435" y="2293112"/>
            <a:ext cx="2042083" cy="148336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document describes a model. Nothing checks that the thing running is the thing described, so the two drift apart silently.</a:t>
            </a:r>
          </a:p>
        </p:txBody>
      </p:sp>
      <p:sp>
        <p:nvSpPr>
          <p:cNvPr id="20" name="Rectangle 19"/>
          <p:cNvSpPr/>
          <p:nvPr/>
        </p:nvSpPr>
        <p:spPr>
          <a:xfrm>
            <a:off x="621471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t>
            </a:r>
          </a:p>
        </p:txBody>
      </p:sp>
      <p:sp>
        <p:nvSpPr>
          <p:cNvPr id="23" name="TextBox 22"/>
          <p:cNvSpPr txBox="1"/>
          <p:nvPr/>
        </p:nvSpPr>
        <p:spPr>
          <a:xfrm>
            <a:off x="643417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Training data is unreconstructable</a:t>
            </a:r>
          </a:p>
        </p:txBody>
      </p:sp>
      <p:sp>
        <p:nvSpPr>
          <p:cNvPr id="24" name="TextBox 23"/>
          <p:cNvSpPr txBox="1"/>
          <p:nvPr/>
        </p:nvSpPr>
        <p:spPr>
          <a:xfrm>
            <a:off x="643417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“What did the model see?” has no answer six months later, because the tables it read have been overwritten since.</a:t>
            </a:r>
          </a:p>
        </p:txBody>
      </p:sp>
      <p:sp>
        <p:nvSpPr>
          <p:cNvPr id="25" name="Rectangle 24"/>
          <p:cNvSpPr/>
          <p:nvPr/>
        </p:nvSpPr>
        <p:spPr>
          <a:xfrm>
            <a:off x="893345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a:t>
            </a:r>
          </a:p>
        </p:txBody>
      </p:sp>
      <p:sp>
        <p:nvSpPr>
          <p:cNvPr id="28" name="TextBox 27"/>
          <p:cNvSpPr txBox="1"/>
          <p:nvPr/>
        </p:nvSpPr>
        <p:spPr>
          <a:xfrm>
            <a:off x="915291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AI arrived without a category</a:t>
            </a:r>
          </a:p>
        </p:txBody>
      </p:sp>
      <p:sp>
        <p:nvSpPr>
          <p:cNvPr id="29" name="TextBox 28"/>
          <p:cNvSpPr txBox="1"/>
          <p:nvPr/>
        </p:nvSpPr>
        <p:spPr>
          <a:xfrm>
            <a:off x="915291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risk framework built for regression has no place to put a capability whose output cannot be recomputed.</a:t>
            </a:r>
          </a:p>
        </p:txBody>
      </p:sp>
      <p:sp>
        <p:nvSpPr>
          <p:cNvPr id="30" name="TextBox 29"/>
          <p:cNvSpPr txBox="1"/>
          <p:nvPr/>
        </p:nvSpPr>
        <p:spPr>
          <a:xfrm>
            <a:off x="777240" y="4142231"/>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All four are the same failure: </a:t>
            </a:r>
            <a:r>
              <a:rPr sz="1250" b="0" i="0">
                <a:solidFill>
                  <a:srgbClr val="1C1C1E"/>
                </a:solidFill>
                <a:latin typeface="Calibri"/>
              </a:rPr>
              <a:t>a claim is made and nothing checks it. The register CLAIMS to list the estate. The approval CLAIMS the model was reviewed. The document CLAIMS what the model reads. Each is believed because somebody wrote it down, and none can be checked — so the first time any of them is tested is under examination.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is, in one sentence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
        <p:nvSpPr>
          <p:cNvPr id="10" name="Rectangle 9"/>
          <p:cNvSpPr/>
          <p:nvPr/>
        </p:nvSpPr>
        <p:spPr>
          <a:xfrm>
            <a:off x="777240" y="149047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45720"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700784"/>
            <a:ext cx="9997135" cy="1097280"/>
          </a:xfrm>
          <a:prstGeom prst="rect">
            <a:avLst/>
          </a:prstGeom>
          <a:noFill/>
        </p:spPr>
        <p:txBody>
          <a:bodyPr wrap="square" lIns="0" rIns="0" tIns="0" bIns="0" anchor="t">
            <a:spAutoFit/>
          </a:bodyPr>
          <a:lstStyle/>
          <a:p>
            <a:pPr algn="l">
              <a:lnSpc>
                <a:spcPct val="128000"/>
              </a:lnSpc>
              <a:spcBef>
                <a:spcPts val="0"/>
              </a:spcBef>
              <a:spcAft>
                <a:spcPts val="0"/>
              </a:spcAft>
            </a:pPr>
            <a:r>
              <a:rPr sz="1900" b="0" i="0">
                <a:solidFill>
                  <a:srgbClr val="1C1C1E"/>
                </a:solidFill>
                <a:latin typeface="Georgia"/>
              </a:rPr>
              <a:t>The register of record for every model a bank runs — and the machinery that makes claims about those models checkable instead of asserted.</a:t>
            </a:r>
          </a:p>
        </p:txBody>
      </p:sp>
      <p:sp>
        <p:nvSpPr>
          <p:cNvPr id="13" name="TextBox 12"/>
          <p:cNvSpPr txBox="1"/>
          <p:nvPr/>
        </p:nvSpPr>
        <p:spPr>
          <a:xfrm>
            <a:off x="777240" y="322783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Read the second half again. </a:t>
            </a:r>
            <a:r>
              <a:rPr sz="1300" b="0" i="0">
                <a:solidFill>
                  <a:srgbClr val="1C1C1E"/>
                </a:solidFill>
                <a:latin typeface="Calibri"/>
              </a:rPr>
              <a:t>Every model platform is a register. What makes this one different is that the claims it holds are </a:t>
            </a:r>
            <a:r>
              <a:rPr sz="1300" b="1" i="0">
                <a:solidFill>
                  <a:srgbClr val="1C1C1E"/>
                </a:solidFill>
                <a:latin typeface="Calibri"/>
              </a:rPr>
              <a:t>executable</a:t>
            </a:r>
            <a:r>
              <a:rPr sz="1300" b="0" i="0">
                <a:solidFill>
                  <a:srgbClr val="1C1C1E"/>
                </a:solidFill>
                <a:latin typeface="Calibri"/>
              </a:rPr>
              <a:t>: the equation is derived from what the platform stores rather than typed beside it; the approval is refused unless a second person signs; the training set is pinned to bytes that cannot move; and the dependency graph is type-checked rather than drawn.
</a:t>
            </a:r>
          </a:p>
          <a:p>
            <a:pPr>
              <a:lnSpc>
                <a:spcPct val="130000"/>
              </a:lnSpc>
              <a:spcBef>
                <a:spcPts val="0"/>
              </a:spcBef>
              <a:spcAft>
                <a:spcPts val="0"/>
              </a:spcAft>
            </a:pPr>
            <a:r>
              <a:rPr sz="1300" b="1" i="0">
                <a:solidFill>
                  <a:srgbClr val="A51C30"/>
                </a:solidFill>
                <a:latin typeface="Calibri"/>
              </a:rPr>
              <a:t>And one thing it deliberately is not. </a:t>
            </a:r>
            <a:r>
              <a:rPr sz="1300" b="0" i="0">
                <a:solidFill>
                  <a:srgbClr val="1C1C1E"/>
                </a:solidFill>
                <a:latin typeface="Calibri"/>
              </a:rPr>
              <a:t>MAYA does not train models and it does not run them. Your engines keep doing that. MAYA issues the authority, records what came back, and refuses what should be refused — which is why adopting it does not mean migrating a single production workload.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things it does that a document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graphicFrame>
        <p:nvGraphicFramePr>
          <p:cNvPr id="10" name="Table 9"/>
          <p:cNvGraphicFramePr>
            <a:graphicFrameLocks noGrp="1"/>
          </p:cNvGraphicFramePr>
          <p:nvPr/>
        </p:nvGraphicFramePr>
        <p:xfrm>
          <a:off x="777240" y="1353312"/>
          <a:ext cx="10637214" cy="3461329"/>
        </p:xfrm>
        <a:graphic>
          <a:graphicData uri="http://schemas.openxmlformats.org/drawingml/2006/table">
            <a:tbl>
              <a:tblPr firstRow="1">
                <a:tableStyleId>{5C22544A-7EE6-4342-B048-85BDC9FD1C3A}</a:tableStyleId>
              </a:tblPr>
              <a:tblGrid>
                <a:gridCol w="450729"/>
                <a:gridCol w="4146711"/>
                <a:gridCol w="603977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Why a document cannot</a:t>
                      </a:r>
                    </a:p>
                  </a:txBody>
                  <a:tcPr marL="82296" marR="64008" marT="32004" marB="32004" anchor="ctr">
                    <a:solidFill>
                      <a:srgbClr val="A51C30"/>
                    </a:solidFill>
                  </a:tcPr>
                </a:tc>
              </a:tr>
              <a:tr h="521258">
                <a:tc>
                  <a:txBody>
                    <a:bodyPr wrap="square"/>
                    <a:lstStyle/>
                    <a:p>
                      <a:pPr algn="l"/>
                      <a:r>
                        <a:rPr sz="1100" b="0">
                          <a:solidFill>
                            <a:srgbClr val="1C1C1E"/>
                          </a:solidFill>
                          <a:latin typeface="Calibri"/>
                        </a:rPr>
                        <a:t>1</a:t>
                      </a:r>
                    </a:p>
                  </a:txBody>
                  <a:tcPr marL="82296" marR="64008" marT="32004" marB="32004" anchor="ctr">
                    <a:solidFill>
                      <a:srgbClr val="FFFFFF"/>
                    </a:solidFill>
                  </a:tcPr>
                </a:tc>
                <a:tc>
                  <a:txBody>
                    <a:bodyPr wrap="square"/>
                    <a:lstStyle/>
                    <a:p>
                      <a:pPr algn="l"/>
                      <a:r>
                        <a:rPr sz="1100" b="0">
                          <a:solidFill>
                            <a:srgbClr val="1C1C1E"/>
                          </a:solidFill>
                          <a:latin typeface="Calibri"/>
                        </a:rPr>
                        <a:t>Derives the equation from what it stores</a:t>
                      </a:r>
                    </a:p>
                  </a:txBody>
                  <a:tcPr marL="82296" marR="64008" marT="32004" marB="32004" anchor="ctr">
                    <a:solidFill>
                      <a:srgbClr val="FFFFFF"/>
                    </a:solidFill>
                  </a:tcPr>
                </a:tc>
                <a:tc>
                  <a:txBody>
                    <a:bodyPr wrap="square"/>
                    <a:lstStyle/>
                    <a:p>
                      <a:pPr algn="l"/>
                      <a:r>
                        <a:rPr sz="1100" b="0">
                          <a:solidFill>
                            <a:srgbClr val="1C1C1E"/>
                          </a:solidFill>
                          <a:latin typeface="Calibri"/>
                        </a:rPr>
                        <a:t>A written formula beside a running model is a second description, and two descriptions drift — the one nobody executes drifts first</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2</a:t>
                      </a:r>
                    </a:p>
                  </a:txBody>
                  <a:tcPr marL="82296" marR="64008" marT="32004" marB="32004" anchor="ctr">
                    <a:solidFill>
                      <a:srgbClr val="F6F3EF"/>
                    </a:solidFill>
                  </a:tcPr>
                </a:tc>
                <a:tc>
                  <a:txBody>
                    <a:bodyPr wrap="square"/>
                    <a:lstStyle/>
                    <a:p>
                      <a:pPr algn="l"/>
                      <a:r>
                        <a:rPr sz="1100" b="0">
                          <a:solidFill>
                            <a:srgbClr val="1C1C1E"/>
                          </a:solidFill>
                          <a:latin typeface="Calibri"/>
                        </a:rPr>
                        <a:t>Refuses self-approval, in the mechanism</a:t>
                      </a:r>
                    </a:p>
                  </a:txBody>
                  <a:tcPr marL="82296" marR="64008" marT="32004" marB="32004" anchor="ctr">
                    <a:solidFill>
                      <a:srgbClr val="F6F3EF"/>
                    </a:solidFill>
                  </a:tcPr>
                </a:tc>
                <a:tc>
                  <a:txBody>
                    <a:bodyPr wrap="square"/>
                    <a:lstStyle/>
                    <a:p>
                      <a:pPr algn="l"/>
                      <a:r>
                        <a:rPr sz="1100" b="0">
                          <a:solidFill>
                            <a:srgbClr val="1C1C1E"/>
                          </a:solidFill>
                          <a:latin typeface="Calibri"/>
                        </a:rPr>
                        <a:t>A policy that says “approved by a second person” is followed until the quarter-end when it is not</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3</a:t>
                      </a:r>
                    </a:p>
                  </a:txBody>
                  <a:tcPr marL="82296" marR="64008" marT="32004" marB="32004" anchor="ctr">
                    <a:solidFill>
                      <a:srgbClr val="FFFFFF"/>
                    </a:solidFill>
                  </a:tcPr>
                </a:tc>
                <a:tc>
                  <a:txBody>
                    <a:bodyPr wrap="square"/>
                    <a:lstStyle/>
                    <a:p>
                      <a:pPr algn="l"/>
                      <a:r>
                        <a:rPr sz="1100" b="0">
                          <a:solidFill>
                            <a:srgbClr val="1C1C1E"/>
                          </a:solidFill>
                          <a:latin typeface="Calibri"/>
                        </a:rPr>
                        <a:t>Pins the training data to bytes</a:t>
                      </a:r>
                    </a:p>
                  </a:txBody>
                  <a:tcPr marL="82296" marR="64008" marT="32004" marB="32004" anchor="ctr">
                    <a:solidFill>
                      <a:srgbClr val="FFFFFF"/>
                    </a:solidFill>
                  </a:tcPr>
                </a:tc>
                <a:tc>
                  <a:txBody>
                    <a:bodyPr wrap="square"/>
                    <a:lstStyle/>
                    <a:p>
                      <a:pPr algn="l"/>
                      <a:r>
                        <a:rPr sz="1100" b="0">
                          <a:solidFill>
                            <a:srgbClr val="1C1C1E"/>
                          </a:solidFill>
                          <a:latin typeface="Calibri"/>
                        </a:rPr>
                        <a:t>“Fitted on the January extract” names a table that has been overwritten since; a version pin names bytes that cannot move</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4</a:t>
                      </a:r>
                    </a:p>
                  </a:txBody>
                  <a:tcPr marL="82296" marR="64008" marT="32004" marB="32004" anchor="ctr">
                    <a:solidFill>
                      <a:srgbClr val="F6F3EF"/>
                    </a:solidFill>
                  </a:tcPr>
                </a:tc>
                <a:tc>
                  <a:txBody>
                    <a:bodyPr wrap="square"/>
                    <a:lstStyle/>
                    <a:p>
                      <a:pPr algn="l"/>
                      <a:r>
                        <a:rPr sz="1100" b="0">
                          <a:solidFill>
                            <a:srgbClr val="1C1C1E"/>
                          </a:solidFill>
                          <a:latin typeface="Calibri"/>
                        </a:rPr>
                        <a:t>Classifies models by how they are fitted</a:t>
                      </a:r>
                    </a:p>
                  </a:txBody>
                  <a:tcPr marL="82296" marR="64008" marT="32004" marB="32004" anchor="ctr">
                    <a:solidFill>
                      <a:srgbClr val="F6F3EF"/>
                    </a:solidFill>
                  </a:tcPr>
                </a:tc>
                <a:tc>
                  <a:txBody>
                    <a:bodyPr wrap="square"/>
                    <a:lstStyle/>
                    <a:p>
                      <a:pPr algn="l"/>
                      <a:r>
                        <a:rPr sz="1100" b="0">
                          <a:solidFill>
                            <a:srgbClr val="1C1C1E"/>
                          </a:solidFill>
                          <a:latin typeface="Calibri"/>
                        </a:rPr>
                        <a:t>The class decides which operations are even admissible — asking to train a closed-form pricer is a type error, not a permission</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5</a:t>
                      </a:r>
                    </a:p>
                  </a:txBody>
                  <a:tcPr marL="82296" marR="64008" marT="32004" marB="32004" anchor="ctr">
                    <a:solidFill>
                      <a:srgbClr val="FFFFFF"/>
                    </a:solidFill>
                  </a:tcPr>
                </a:tc>
                <a:tc>
                  <a:txBody>
                    <a:bodyPr wrap="square"/>
                    <a:lstStyle/>
                    <a:p>
                      <a:pPr algn="l"/>
                      <a:r>
                        <a:rPr sz="1100" b="0">
                          <a:solidFill>
                            <a:srgbClr val="1C1C1E"/>
                          </a:solidFill>
                          <a:latin typeface="Calibri"/>
                        </a:rPr>
                        <a:t>Computes the blast radius from the graph</a:t>
                      </a:r>
                    </a:p>
                  </a:txBody>
                  <a:tcPr marL="82296" marR="64008" marT="32004" marB="32004" anchor="ctr">
                    <a:solidFill>
                      <a:srgbClr val="FFFFFF"/>
                    </a:solidFill>
                  </a:tcPr>
                </a:tc>
                <a:tc>
                  <a:txBody>
                    <a:bodyPr wrap="square"/>
                    <a:lstStyle/>
                    <a:p>
                      <a:pPr algn="l"/>
                      <a:r>
                        <a:rPr sz="1100" b="0">
                          <a:solidFill>
                            <a:srgbClr val="1C1C1E"/>
                          </a:solidFill>
                          <a:latin typeface="Calibri"/>
                        </a:rPr>
                        <a:t>A dependency spreadsheet is right on the day it is written; a type-checked edge is right when somebody asks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6</a:t>
                      </a:r>
                    </a:p>
                  </a:txBody>
                  <a:tcPr marL="82296" marR="64008" marT="32004" marB="32004" anchor="ctr">
                    <a:solidFill>
                      <a:srgbClr val="F6F3EF"/>
                    </a:solidFill>
                  </a:tcPr>
                </a:tc>
                <a:tc>
                  <a:txBody>
                    <a:bodyPr wrap="square"/>
                    <a:lstStyle/>
                    <a:p>
                      <a:pPr algn="l"/>
                      <a:r>
                        <a:rPr sz="1100" b="0">
                          <a:solidFill>
                            <a:srgbClr val="1C1C1E"/>
                          </a:solidFill>
                          <a:latin typeface="Calibri"/>
                        </a:rPr>
                        <a:t>Makes refusals evidence</a:t>
                      </a:r>
                    </a:p>
                  </a:txBody>
                  <a:tcPr marL="82296" marR="64008" marT="32004" marB="32004" anchor="ctr">
                    <a:solidFill>
                      <a:srgbClr val="F6F3EF"/>
                    </a:solidFill>
                  </a:tcPr>
                </a:tc>
                <a:tc>
                  <a:txBody>
                    <a:bodyPr wrap="square"/>
                    <a:lstStyle/>
                    <a:p>
                      <a:pPr algn="l"/>
                      <a:r>
                        <a:rPr sz="1100" b="0">
                          <a:solidFill>
                            <a:srgbClr val="1C1C1E"/>
                          </a:solidFill>
                          <a:latin typeface="Calibri"/>
                        </a:rPr>
                        <a:t>“We tried and the platform stopped us” is a document. “We have a policy against it” is a sentence</a:t>
                      </a:r>
                    </a:p>
                  </a:txBody>
                  <a:tcPr marL="82296" marR="64008" marT="32004" marB="32004" anchor="ctr">
                    <a:solidFill>
                      <a:srgbClr val="F6F3EF"/>
                    </a:solidFill>
                  </a:tcPr>
                </a:tc>
              </a:tr>
            </a:tbl>
          </a:graphicData>
        </a:graphic>
      </p:graphicFrame>
      <p:sp>
        <p:nvSpPr>
          <p:cNvPr id="11" name="TextBox 10"/>
          <p:cNvSpPr txBox="1"/>
          <p:nvPr/>
        </p:nvSpPr>
        <p:spPr>
          <a:xfrm>
            <a:off x="777240" y="5070678"/>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Each of these is a control. </a:t>
            </a:r>
            <a:r>
              <a:rPr sz="1200" b="0" i="0">
                <a:solidFill>
                  <a:srgbClr val="1C1C1E"/>
                </a:solidFill>
                <a:latin typeface="Calibri"/>
              </a:rPr>
              <a:t>None of them depends on anybody remembering to do it, which is the only property that distinguishes a control from a convention.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MAYA sits, and what it never touches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Rectangle 9"/>
          <p:cNvSpPr/>
          <p:nvPr/>
        </p:nvSpPr>
        <p:spPr>
          <a:xfrm>
            <a:off x="777240" y="144475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44752"/>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69848" y="1609344"/>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ENGINES — unchanged</a:t>
            </a:r>
          </a:p>
          <a:p>
            <a:pPr>
              <a:lnSpc>
                <a:spcPct val="124000"/>
              </a:lnSpc>
              <a:spcBef>
                <a:spcPts val="0"/>
              </a:spcBef>
              <a:spcAft>
                <a:spcPts val="0"/>
              </a:spcAft>
            </a:pPr>
            <a:r>
              <a:rPr sz="1200" b="0" i="0">
                <a:solidFill>
                  <a:srgbClr val="1C1C1E"/>
                </a:solidFill>
                <a:latin typeface="Calibri"/>
              </a:rPr>
              <a:t>Databricks · SAS · Python · the pricing library · the decision engine. They fit the models and they run them, exactly as today.</a:t>
            </a:r>
          </a:p>
        </p:txBody>
      </p:sp>
      <p:sp>
        <p:nvSpPr>
          <p:cNvPr id="13" name="Rectangle 12"/>
          <p:cNvSpPr/>
          <p:nvPr/>
        </p:nvSpPr>
        <p:spPr>
          <a:xfrm>
            <a:off x="777240" y="2651760"/>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69848" y="2834640"/>
            <a:ext cx="9997135" cy="1143000"/>
          </a:xfrm>
          <a:prstGeom prst="rect">
            <a:avLst/>
          </a:prstGeom>
          <a:noFill/>
        </p:spPr>
        <p:txBody>
          <a:bodyPr wrap="square" lIns="0" rIns="0" tIns="0" bIns="0" anchor="t">
            <a:spAutoFit/>
          </a:bodyPr>
          <a:lstStyle/>
          <a:p>
            <a:pPr algn="l">
              <a:spcBef>
                <a:spcPts val="0"/>
              </a:spcBef>
              <a:spcAft>
                <a:spcPts val="400"/>
              </a:spcAft>
            </a:pPr>
            <a:r>
              <a:rPr sz="1100" b="1" i="0">
                <a:solidFill>
                  <a:srgbClr val="E8B8C0"/>
                </a:solidFill>
                <a:latin typeface="Calibri"/>
              </a:rPr>
              <a:t>MAYA — THE REGISTER</a:t>
            </a:r>
          </a:p>
          <a:p>
            <a:pPr>
              <a:lnSpc>
                <a:spcPct val="124000"/>
              </a:lnSpc>
              <a:spcBef>
                <a:spcPts val="0"/>
              </a:spcBef>
              <a:spcAft>
                <a:spcPts val="400"/>
              </a:spcAft>
            </a:pPr>
            <a:r>
              <a:rPr sz="1300" b="0" i="0">
                <a:solidFill>
                  <a:srgbClr val="FFFFFF"/>
                </a:solidFill>
                <a:latin typeface="Calibri"/>
              </a:rPr>
              <a:t>Models and versions · features and the two clocks · warrants and approvals · parameters and their provenance · the evidence chain</a:t>
            </a:r>
          </a:p>
          <a:p>
            <a:pPr>
              <a:spcBef>
                <a:spcPts val="0"/>
              </a:spcBef>
              <a:spcAft>
                <a:spcPts val="0"/>
              </a:spcAft>
            </a:pPr>
            <a:r>
              <a:rPr sz="1200" b="0" i="1">
                <a:solidFill>
                  <a:srgbClr val="F4DFE3"/>
                </a:solidFill>
                <a:latin typeface="Calibri"/>
              </a:rPr>
              <a:t>Issues the authority. Records what came back. Refuses what should be refused.</a:t>
            </a:r>
          </a:p>
        </p:txBody>
      </p:sp>
      <p:sp>
        <p:nvSpPr>
          <p:cNvPr id="15" name="Rectangle 14"/>
          <p:cNvSpPr/>
          <p:nvPr/>
        </p:nvSpPr>
        <p:spPr>
          <a:xfrm>
            <a:off x="777240" y="4315968"/>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315968"/>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4480560"/>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DATA — where it already is</a:t>
            </a:r>
          </a:p>
          <a:p>
            <a:pPr>
              <a:lnSpc>
                <a:spcPct val="124000"/>
              </a:lnSpc>
              <a:spcBef>
                <a:spcPts val="0"/>
              </a:spcBef>
              <a:spcAft>
                <a:spcPts val="0"/>
              </a:spcAft>
            </a:pPr>
            <a:r>
              <a:rPr sz="1200" b="0" i="0">
                <a:solidFill>
                  <a:srgbClr val="1C1C1E"/>
                </a:solidFill>
                <a:latin typeface="Calibri"/>
              </a:rPr>
              <a:t>The warehouse, the lake, S3. MAYA copies what a model was fitted on into an immutable, versioned store so the read can be reproduced — and reads nothing at request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modelling team actually does differently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for a training warrant. Authority is granted BEFORE any data is read — a read performed under an authority that turns out not to exist has already happened</a:t>
            </a:r>
          </a:p>
        </p:txBody>
      </p:sp>
      <p:sp>
        <p:nvSpPr>
          <p:cNvPr id="13" name="Rectangle 12"/>
          <p:cNvSpPr/>
          <p:nvPr/>
        </p:nvSpPr>
        <p:spPr>
          <a:xfrm>
            <a:off x="2941259"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941259"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087563"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in your own environment, on your own hardware, with your own tools. Nothing changes here</a:t>
            </a:r>
          </a:p>
        </p:txBody>
      </p:sp>
      <p:sp>
        <p:nvSpPr>
          <p:cNvPr id="16" name="Rectangle 15"/>
          <p:cNvSpPr/>
          <p:nvPr/>
        </p:nvSpPr>
        <p:spPr>
          <a:xfrm>
            <a:off x="5105278"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5105278"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5251582"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with their diagnostics. They land PROPOSED — not usable yet</a:t>
            </a:r>
          </a:p>
        </p:txBody>
      </p:sp>
      <p:sp>
        <p:nvSpPr>
          <p:cNvPr id="19" name="Rectangle 18"/>
          <p:cNvSpPr/>
          <p:nvPr/>
        </p:nvSpPr>
        <p:spPr>
          <a:xfrm>
            <a:off x="7269297"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269297"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415601"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The platform refuses the alternative</a:t>
            </a:r>
          </a:p>
        </p:txBody>
      </p:sp>
      <p:sp>
        <p:nvSpPr>
          <p:cNvPr id="22" name="Rectangle 21"/>
          <p:cNvSpPr/>
          <p:nvPr/>
        </p:nvSpPr>
        <p:spPr>
          <a:xfrm>
            <a:off x="9433316"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433316"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579620"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naming the approved parameters by digest</a:t>
            </a:r>
          </a:p>
        </p:txBody>
      </p:sp>
      <p:sp>
        <p:nvSpPr>
          <p:cNvPr id="25" name="TextBox 24"/>
          <p:cNvSpPr txBox="1"/>
          <p:nvPr/>
        </p:nvSpPr>
        <p:spPr>
          <a:xfrm>
            <a:off x="777240" y="3218687"/>
            <a:ext cx="10637215" cy="14630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Five steps, and four of them are things a good team already does. </a:t>
            </a:r>
            <a:r>
              <a:rPr sz="1300" b="0" i="0">
                <a:solidFill>
                  <a:srgbClr val="1C1C1E"/>
                </a:solidFill>
                <a:latin typeface="Calibri"/>
              </a:rPr>
              <a:t>The change is that each one now leaves a record that cannot be reconstructed afterwards, and that the platform refuses the paths around them. A quant's day is not longer; it is auditable.
</a:t>
            </a:r>
          </a:p>
          <a:p>
            <a:pPr>
              <a:lnSpc>
                <a:spcPct val="130000"/>
              </a:lnSpc>
              <a:spcBef>
                <a:spcPts val="0"/>
              </a:spcBef>
              <a:spcAft>
                <a:spcPts val="0"/>
              </a:spcAft>
            </a:pPr>
            <a:r>
              <a:rPr sz="1300" b="1" i="0">
                <a:solidFill>
                  <a:srgbClr val="A51C30"/>
                </a:solidFill>
                <a:latin typeface="Calibri"/>
              </a:rPr>
              <a:t>The honest cost: </a:t>
            </a:r>
            <a:r>
              <a:rPr sz="1300" b="0" i="0">
                <a:solidFill>
                  <a:srgbClr val="1C1C1E"/>
                </a:solidFill>
                <a:latin typeface="Calibri"/>
              </a:rPr>
              <a:t>somebody has to answer questions that were previously answered by nobody — when was this data recorded, who owns this feature, what is the reason for this rule. That is the friction, and it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technical idea worth an executive's time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TextBox 9"/>
          <p:cNvSpPr txBox="1"/>
          <p:nvPr/>
        </p:nvSpPr>
        <p:spPr>
          <a:xfrm>
            <a:off x="777240" y="1353312"/>
            <a:ext cx="10637215" cy="731520"/>
          </a:xfrm>
          <a:prstGeom prst="rect">
            <a:avLst/>
          </a:prstGeom>
          <a:noFill/>
        </p:spPr>
        <p:txBody>
          <a:bodyPr wrap="square" lIns="0" rIns="0" tIns="0" bIns="0" anchor="t">
            <a:spAutoFit/>
          </a:bodyPr>
          <a:lstStyle/>
          <a:p>
            <a:pPr algn="l">
              <a:lnSpc>
                <a:spcPct val="128000"/>
              </a:lnSpc>
              <a:spcBef>
                <a:spcPts val="0"/>
              </a:spcBef>
              <a:spcAft>
                <a:spcPts val="0"/>
              </a:spcAft>
            </a:pPr>
            <a:r>
              <a:rPr sz="1500" b="0" i="0">
                <a:solidFill>
                  <a:srgbClr val="1C1C1E"/>
                </a:solidFill>
                <a:latin typeface="Calibri"/>
              </a:rPr>
              <a:t>Every fact the bank records has two dates: </a:t>
            </a:r>
            <a:r>
              <a:rPr sz="1500" b="1" i="0">
                <a:solidFill>
                  <a:srgbClr val="A51C30"/>
                </a:solidFill>
                <a:latin typeface="Calibri"/>
              </a:rPr>
              <a:t>when it was true, and when we learned it.</a:t>
            </a:r>
          </a:p>
        </p:txBody>
      </p:sp>
      <p:sp>
        <p:nvSpPr>
          <p:cNvPr id="11" name="Rectangle 10"/>
          <p:cNvSpPr/>
          <p:nvPr/>
        </p:nvSpPr>
        <p:spPr>
          <a:xfrm>
            <a:off x="777240"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WITHOUT BOTH</a:t>
            </a:r>
          </a:p>
        </p:txBody>
      </p:sp>
      <p:sp>
        <p:nvSpPr>
          <p:cNvPr id="14" name="TextBox 13"/>
          <p:cNvSpPr txBox="1"/>
          <p:nvPr/>
        </p:nvSpPr>
        <p:spPr>
          <a:xfrm>
            <a:off x="996695"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backtest lies, quietly</a:t>
            </a:r>
          </a:p>
        </p:txBody>
      </p:sp>
      <p:sp>
        <p:nvSpPr>
          <p:cNvPr id="15" name="TextBox 14"/>
          <p:cNvSpPr txBox="1"/>
          <p:nvPr/>
        </p:nvSpPr>
        <p:spPr>
          <a:xfrm>
            <a:off x="996695"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re-fitted today on “last year's data” sees figures that were restated since — numbers nobody had when the decision was taken. It backtests beautifully and underperforms in production, and the gap is written off as drift.</a:t>
            </a:r>
          </a:p>
        </p:txBody>
      </p:sp>
      <p:sp>
        <p:nvSpPr>
          <p:cNvPr id="16" name="Rectangle 15"/>
          <p:cNvSpPr/>
          <p:nvPr/>
        </p:nvSpPr>
        <p:spPr>
          <a:xfrm>
            <a:off x="6251295"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251295"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470751"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 BOTH</a:t>
            </a:r>
          </a:p>
        </p:txBody>
      </p:sp>
      <p:sp>
        <p:nvSpPr>
          <p:cNvPr id="19" name="TextBox 18"/>
          <p:cNvSpPr txBox="1"/>
          <p:nvPr/>
        </p:nvSpPr>
        <p:spPr>
          <a:xfrm>
            <a:off x="6470751"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read is reproducible</a:t>
            </a:r>
          </a:p>
        </p:txBody>
      </p:sp>
      <p:sp>
        <p:nvSpPr>
          <p:cNvPr id="20" name="TextBox 19"/>
          <p:cNvSpPr txBox="1"/>
          <p:nvPr/>
        </p:nvSpPr>
        <p:spPr>
          <a:xfrm>
            <a:off x="6470751"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MAYA refuses a feature row that does not carry both dates, and pins every training set to the exact bytes it read. The same question asked in 2028 returns the 2026 answer.</a:t>
            </a:r>
          </a:p>
        </p:txBody>
      </p:sp>
      <p:sp>
        <p:nvSpPr>
          <p:cNvPr id="21" name="TextBox 20"/>
          <p:cNvSpPr txBox="1"/>
          <p:nvPr/>
        </p:nvSpPr>
        <p:spPr>
          <a:xfrm>
            <a:off x="777240" y="4416552"/>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Why this belongs on an executive slide. </a:t>
            </a:r>
            <a:r>
              <a:rPr sz="1250" b="0" i="0">
                <a:solidFill>
                  <a:srgbClr val="1C1C1E"/>
                </a:solidFill>
                <a:latin typeface="Calibri"/>
              </a:rPr>
              <a:t>It is the difference between a model whose past performance can be audited and one whose past performance is a story. Supervisors have started asking for the first; almost nobody can produce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AI fits, without a second framework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The common answer is a separate AI policy. That is a mistake, </a:t>
            </a:r>
            <a:r>
              <a:rPr sz="1300" b="1" i="0">
                <a:solidFill>
                  <a:srgbClr val="A51C30"/>
                </a:solidFill>
                <a:latin typeface="Calibri"/>
              </a:rPr>
              <a:t>and an expensive one: two frameworks means two registers, two approval paths, and an argument at the boundary about which one applies to a gradient-boosted scorecard.</a:t>
            </a:r>
          </a:p>
        </p:txBody>
      </p:sp>
      <p:graphicFrame>
        <p:nvGraphicFramePr>
          <p:cNvPr id="11" name="Table 10"/>
          <p:cNvGraphicFramePr>
            <a:graphicFrameLocks noGrp="1"/>
          </p:cNvGraphicFramePr>
          <p:nvPr/>
        </p:nvGraphicFramePr>
        <p:xfrm>
          <a:off x="777240" y="2313432"/>
          <a:ext cx="10637214" cy="1556689"/>
        </p:xfrm>
        <a:graphic>
          <a:graphicData uri="http://schemas.openxmlformats.org/drawingml/2006/table">
            <a:tbl>
              <a:tblPr firstRow="1">
                <a:tableStyleId>{5C22544A-7EE6-4342-B048-85BDC9FD1C3A}</a:tableStyleId>
              </a:tblPr>
              <a:tblGrid>
                <a:gridCol w="901458"/>
                <a:gridCol w="4146711"/>
                <a:gridCol w="5589045"/>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The rule MAYA applies</a:t>
                      </a:r>
                    </a:p>
                  </a:txBody>
                  <a:tcPr marL="82296" marR="64008" marT="32004" marB="32004" anchor="ctr">
                    <a:solidFill>
                      <a:srgbClr val="A51C30"/>
                    </a:solidFill>
                  </a:tcPr>
                </a:tc>
                <a:tc>
                  <a:txBody>
                    <a:bodyPr wrap="square"/>
                    <a:lstStyle/>
                    <a:p>
                      <a:pPr algn="l"/>
                      <a:r>
                        <a:rPr sz="1100" b="1">
                          <a:solidFill>
                            <a:srgbClr val="FFFFFF"/>
                          </a:solidFill>
                          <a:latin typeface="Calibri"/>
                        </a:rPr>
                        <a:t>What it means in practice</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Tier A</a:t>
                      </a:r>
                    </a:p>
                  </a:txBody>
                  <a:tcPr marL="82296" marR="64008" marT="32004" marB="32004" anchor="ctr">
                    <a:solidFill>
                      <a:srgbClr val="FFFFFF"/>
                    </a:solidFill>
                  </a:tcPr>
                </a:tc>
                <a:tc>
                  <a:txBody>
                    <a:bodyPr wrap="square"/>
                    <a:lstStyle/>
                    <a:p>
                      <a:pPr algn="l"/>
                      <a:r>
                        <a:rPr sz="1150" b="0">
                          <a:solidFill>
                            <a:srgbClr val="1C1C1E"/>
                          </a:solidFill>
                          <a:latin typeface="Calibri"/>
                        </a:rPr>
                        <a:t>The output can be mechanically CHECKED</a:t>
                      </a:r>
                    </a:p>
                  </a:txBody>
                  <a:tcPr marL="82296" marR="64008" marT="32004" marB="32004" anchor="ctr">
                    <a:solidFill>
                      <a:srgbClr val="FFFFFF"/>
                    </a:solidFill>
                  </a:tcPr>
                </a:tc>
                <a:tc>
                  <a:txBody>
                    <a:bodyPr wrap="square"/>
                    <a:lstStyle/>
                    <a:p>
                      <a:pPr algn="l"/>
                      <a:r>
                        <a:rPr sz="1150" b="0">
                          <a:solidFill>
                            <a:srgbClr val="1C1C1E"/>
                          </a:solidFill>
                          <a:latin typeface="Calibri"/>
                        </a:rPr>
                        <a:t>A named oracle verifies it. Register it, and the check is the control</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Tier B</a:t>
                      </a:r>
                    </a:p>
                  </a:txBody>
                  <a:tcPr marL="82296" marR="64008" marT="32004" marB="32004" anchor="ctr">
                    <a:solidFill>
                      <a:srgbClr val="F6F3EF"/>
                    </a:solidFill>
                  </a:tcPr>
                </a:tc>
                <a:tc>
                  <a:txBody>
                    <a:bodyPr wrap="square"/>
                    <a:lstStyle/>
                    <a:p>
                      <a:pPr algn="l"/>
                      <a:r>
                        <a:rPr sz="1150" b="0">
                          <a:solidFill>
                            <a:srgbClr val="1C1C1E"/>
                          </a:solidFill>
                          <a:latin typeface="Calibri"/>
                        </a:rPr>
                        <a:t>Every claim can be GROUNDED in evidence</a:t>
                      </a:r>
                    </a:p>
                  </a:txBody>
                  <a:tcPr marL="82296" marR="64008" marT="32004" marB="32004" anchor="ctr">
                    <a:solidFill>
                      <a:srgbClr val="F6F3EF"/>
                    </a:solidFill>
                  </a:tcPr>
                </a:tc>
                <a:tc>
                  <a:txBody>
                    <a:bodyPr wrap="square"/>
                    <a:lstStyle/>
                    <a:p>
                      <a:pPr algn="l"/>
                      <a:r>
                        <a:rPr sz="1150" b="0">
                          <a:solidFill>
                            <a:srgbClr val="1C1C1E"/>
                          </a:solidFill>
                          <a:latin typeface="Calibri"/>
                        </a:rPr>
                        <a:t>Unsupported claims are removed, not flagged — and kept for the reviewer</a:t>
                      </a:r>
                    </a:p>
                  </a:txBody>
                  <a:tcPr marL="82296" marR="64008" marT="32004" marB="32004" anchor="ctr">
                    <a:solidFill>
                      <a:srgbClr val="F6F3EF"/>
                    </a:solidFill>
                  </a:tcPr>
                </a:tc>
              </a:tr>
              <a:tr h="538302">
                <a:tc>
                  <a:txBody>
                    <a:bodyPr wrap="square"/>
                    <a:lstStyle/>
                    <a:p>
                      <a:pPr algn="l"/>
                      <a:r>
                        <a:rPr sz="1150" b="0">
                          <a:solidFill>
                            <a:srgbClr val="1C1C1E"/>
                          </a:solidFill>
                          <a:latin typeface="Calibri"/>
                        </a:rPr>
                        <a:t>Tier C</a:t>
                      </a:r>
                    </a:p>
                  </a:txBody>
                  <a:tcPr marL="82296" marR="64008" marT="32004" marB="32004" anchor="ctr">
                    <a:solidFill>
                      <a:srgbClr val="FFFFFF"/>
                    </a:solidFill>
                  </a:tcPr>
                </a:tc>
                <a:tc>
                  <a:txBody>
                    <a:bodyPr wrap="square"/>
                    <a:lstStyle/>
                    <a:p>
                      <a:pPr algn="l"/>
                      <a:r>
                        <a:rPr sz="1150" b="0">
                          <a:solidFill>
                            <a:srgbClr val="1C1C1E"/>
                          </a:solidFill>
                          <a:latin typeface="Calibri"/>
                        </a:rPr>
                        <a:t>Neither checkable nor groundable</a:t>
                      </a:r>
                    </a:p>
                  </a:txBody>
                  <a:tcPr marL="82296" marR="64008" marT="32004" marB="32004" anchor="ctr">
                    <a:solidFill>
                      <a:srgbClr val="FFFFFF"/>
                    </a:solidFill>
                  </a:tcPr>
                </a:tc>
                <a:tc>
                  <a:txBody>
                    <a:bodyPr wrap="square"/>
                    <a:lstStyle/>
                    <a:p>
                      <a:pPr algn="l"/>
                      <a:r>
                        <a:rPr sz="1150" b="0">
                          <a:solidFill>
                            <a:srgbClr val="1C1C1E"/>
                          </a:solidFill>
                          <a:latin typeface="Calibri"/>
                        </a:rPr>
                        <a:t>DELIBERATELY NOT REGISTRABLE. A Tier C capability in a register is one that will be wired into a decision one day</a:t>
                      </a:r>
                    </a:p>
                  </a:txBody>
                  <a:tcPr marL="82296" marR="64008" marT="32004" marB="32004" anchor="ctr">
                    <a:solidFill>
                      <a:srgbClr val="FFFFFF"/>
                    </a:solidFill>
                  </a:tcPr>
                </a:tc>
              </a:tr>
            </a:tbl>
          </a:graphicData>
        </a:graphic>
      </p:graphicFrame>
      <p:sp>
        <p:nvSpPr>
          <p:cNvPr id="12" name="TextBox 11"/>
          <p:cNvSpPr txBox="1"/>
          <p:nvPr/>
        </p:nvSpPr>
        <p:spPr>
          <a:xfrm>
            <a:off x="777240" y="4144441"/>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Nothing is evidence until a person attests it, and never the person who asked for it. </a:t>
            </a:r>
            <a:r>
              <a:rPr sz="1250" b="0" i="0">
                <a:solidFill>
                  <a:srgbClr val="1C1C1E"/>
                </a:solidFill>
                <a:latin typeface="Calibri"/>
              </a:rPr>
              <a:t>A sample of generations is pulled for independent review whatever they look like, because somebody who has approved forty correct drafts is not reading the forty-first. That sampling is deterministic and cannot be gamed by watching the clock.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real? — what has actually been measured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3,635</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automated tests, green on every commit</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 hours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continuous soak: 3,097 assertions, zero failures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134,936</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requests in that run; zero server errors</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 ms</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median response, start and end of the run</a:t>
            </a:r>
          </a:p>
        </p:txBody>
      </p:sp>
      <p:sp>
        <p:nvSpPr>
          <p:cNvPr id="26" name="TextBox 25"/>
          <p:cNvSpPr txBox="1"/>
          <p:nvPr/>
        </p:nvSpPr>
        <p:spPr>
          <a:xfrm>
            <a:off x="777240" y="2679191"/>
            <a:ext cx="10637215" cy="21031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those numbers are, precisely. </a:t>
            </a:r>
            <a:r>
              <a:rPr sz="1250" b="0" i="0">
                <a:solidFill>
                  <a:srgbClr val="1C1C1E"/>
                </a:solidFill>
                <a:latin typeface="Calibri"/>
              </a:rPr>
              <a:t>The suite runs on every push, twice — once on each of the two storage formats — and the counts must match. The soak drove a live instance for four hours with the platform's own invariants asserted between every batch of work: the evidence chain still verifies, the schema has not drifted, no request returned an unmapped failure, and memory and file handles stayed bounded.
</a:t>
            </a:r>
          </a:p>
          <a:p>
            <a:pPr>
              <a:lnSpc>
                <a:spcPct val="130000"/>
              </a:lnSpc>
              <a:spcBef>
                <a:spcPts val="0"/>
              </a:spcBef>
              <a:spcAft>
                <a:spcPts val="0"/>
              </a:spcAft>
            </a:pPr>
            <a:r>
              <a:rPr sz="1250" b="1" i="0">
                <a:solidFill>
                  <a:srgbClr val="A51C30"/>
                </a:solidFill>
                <a:latin typeface="Calibri"/>
              </a:rPr>
              <a:t>And what they are not. </a:t>
            </a:r>
            <a:r>
              <a:rPr sz="1250" b="0" i="0">
                <a:solidFill>
                  <a:srgbClr val="1C1C1E"/>
                </a:solidFill>
                <a:latin typeface="Calibri"/>
              </a:rPr>
              <a:t>None of this is a load test, none of it is at your data volumes, and the performance figures in the design documents are targets rather than measurements. Where a number has not been measured, the documentation says so — which is the same discipline the platform applies to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worked models, runnable in a minute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3175518"/>
        </p:xfrm>
        <a:graphic>
          <a:graphicData uri="http://schemas.openxmlformats.org/drawingml/2006/table">
            <a:tbl>
              <a:tblPr firstRow="1">
                <a:tableStyleId>{5C22544A-7EE6-4342-B048-85BDC9FD1C3A}</a:tableStyleId>
              </a:tblPr>
              <a:tblGrid>
                <a:gridCol w="3209504"/>
                <a:gridCol w="687750"/>
                <a:gridCol w="6739959"/>
              </a:tblGrid>
              <a:tr h="329184">
                <a:tc>
                  <a:txBody>
                    <a:bodyPr wrap="square"/>
                    <a:lstStyle/>
                    <a:p>
                      <a:pPr algn="l"/>
                      <a:r>
                        <a:rPr sz="1050" b="1">
                          <a:solidFill>
                            <a:srgbClr val="FFFFFF"/>
                          </a:solidFill>
                          <a:latin typeface="Calibri"/>
                        </a:rPr>
                        <a:t>Model</a:t>
                      </a:r>
                    </a:p>
                  </a:txBody>
                  <a:tcPr marL="82296" marR="64008" marT="32004" marB="32004" anchor="ctr">
                    <a:solidFill>
                      <a:srgbClr val="A51C30"/>
                    </a:solidFill>
                  </a:tcPr>
                </a:tc>
                <a:tc>
                  <a:txBody>
                    <a:bodyPr wrap="square"/>
                    <a:lstStyle/>
                    <a:p>
                      <a:pPr algn="l"/>
                      <a:r>
                        <a:rPr sz="1050" b="1">
                          <a:solidFill>
                            <a:srgbClr val="FFFFFF"/>
                          </a:solidFill>
                          <a:latin typeface="Calibri"/>
                        </a:rPr>
                        <a:t>Class</a:t>
                      </a:r>
                    </a:p>
                  </a:txBody>
                  <a:tcPr marL="82296" marR="64008" marT="32004" marB="32004" anchor="ctr">
                    <a:solidFill>
                      <a:srgbClr val="A51C30"/>
                    </a:solidFill>
                  </a:tcPr>
                </a:tc>
                <a:tc>
                  <a:txBody>
                    <a:bodyPr wrap="square"/>
                    <a:lstStyle/>
                    <a:p>
                      <a:pPr algn="l"/>
                      <a:r>
                        <a:rPr sz="1050" b="1">
                          <a:solidFill>
                            <a:srgbClr val="FFFFFF"/>
                          </a:solidFill>
                          <a:latin typeface="Calibri"/>
                        </a:rPr>
                        <a:t>What it demonstrates</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50" b="0">
                          <a:solidFill>
                            <a:srgbClr val="1C1C1E"/>
                          </a:solidFill>
                          <a:latin typeface="Calibri"/>
                        </a:rPr>
                        <a:t>T1</a:t>
                      </a:r>
                    </a:p>
                  </a:txBody>
                  <a:tcPr marL="82296" marR="64008" marT="32004" marB="32004" anchor="ctr">
                    <a:solidFill>
                      <a:srgbClr val="FFFFFF"/>
                    </a:solidFill>
                  </a:tcPr>
                </a:tc>
                <a:tc>
                  <a:txBody>
                    <a:bodyPr wrap="square"/>
                    <a:lstStyle/>
                    <a:p>
                      <a:pPr algn="l"/>
                      <a:r>
                        <a:rPr sz="1050" b="0">
                          <a:solidFill>
                            <a:srgbClr val="1C1C1E"/>
                          </a:solidFill>
                          <a:latin typeface="Calibri"/>
                        </a:rPr>
                        <a:t>A model with no training data. The whole pricer is one expression in the register, checked against the reference to 5 decimal places</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Home price regression (public data)</a:t>
                      </a:r>
                    </a:p>
                  </a:txBody>
                  <a:tcPr marL="82296" marR="64008" marT="32004" marB="32004" anchor="ctr">
                    <a:solidFill>
                      <a:srgbClr val="F6F3EF"/>
                    </a:solidFill>
                  </a:tcPr>
                </a:tc>
                <a:tc>
                  <a:txBody>
                    <a:bodyPr wrap="square"/>
                    <a:lstStyle/>
                    <a:p>
                      <a:pPr algn="l"/>
                      <a:r>
                        <a:rPr sz="1050" b="0">
                          <a:solidFill>
                            <a:srgbClr val="1C1C1E"/>
                          </a:solidFill>
                          <a:latin typeface="Calibri"/>
                        </a:rPr>
                        <a:t>T2</a:t>
                      </a:r>
                    </a:p>
                  </a:txBody>
                  <a:tcPr marL="82296" marR="64008" marT="32004" marB="32004" anchor="ctr">
                    <a:solidFill>
                      <a:srgbClr val="F6F3EF"/>
                    </a:solidFill>
                  </a:tcPr>
                </a:tc>
                <a:tc>
                  <a:txBody>
                    <a:bodyPr wrap="square"/>
                    <a:lstStyle/>
                    <a:p>
                      <a:pPr algn="l"/>
                      <a:r>
                        <a:rPr sz="1050" b="0">
                          <a:solidFill>
                            <a:srgbClr val="1C1C1E"/>
                          </a:solidFill>
                          <a:latin typeface="Calibri"/>
                        </a:rPr>
                        <a:t>2,928 real sales from the authoritative source — and the second clock the source did not have, which somebody must own</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Mortgage prepayment curve</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Non-linear in the inputs, linear in the parameters: the shape a bank actually uses, still interpretable and still reproducible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50" b="0">
                          <a:solidFill>
                            <a:srgbClr val="1C1C1E"/>
                          </a:solidFill>
                          <a:latin typeface="Calibri"/>
                        </a:rPr>
                        <a:t>T0</a:t>
                      </a:r>
                    </a:p>
                  </a:txBody>
                  <a:tcPr marL="82296" marR="64008" marT="32004" marB="32004" anchor="ctr">
                    <a:solidFill>
                      <a:srgbClr val="F6F3EF"/>
                    </a:solidFill>
                  </a:tcPr>
                </a:tc>
                <a:tc>
                  <a:txBody>
                    <a:bodyPr wrap="square"/>
                    <a:lstStyle/>
                    <a:p>
                      <a:pPr algn="l"/>
                      <a:r>
                        <a:rPr sz="1050" b="0">
                          <a:solidFill>
                            <a:srgbClr val="1C1C1E"/>
                          </a:solidFill>
                          <a:latin typeface="Calibri"/>
                        </a:rPr>
                        <a:t>No parameters at all. Asking to train it is refused as a type error by two independent layers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Reuse: five shared features, a composed featureset, and a type-checked dependency that makes the blast radius an answer</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50" b="0">
                          <a:solidFill>
                            <a:srgbClr val="1C1C1E"/>
                          </a:solidFill>
                          <a:latin typeface="Calibri"/>
                        </a:rPr>
                        <a:t>T8</a:t>
                      </a:r>
                    </a:p>
                  </a:txBody>
                  <a:tcPr marL="82296" marR="64008" marT="32004" marB="32004" anchor="ctr">
                    <a:solidFill>
                      <a:srgbClr val="F6F3EF"/>
                    </a:solidFill>
                  </a:tcPr>
                </a:tc>
                <a:tc>
                  <a:txBody>
                    <a:bodyPr wrap="square"/>
                    <a:lstStyle/>
                    <a:p>
                      <a:pPr algn="l"/>
                      <a:r>
                        <a:rPr sz="1050" b="0">
                          <a:solidFill>
                            <a:srgbClr val="1C1C1E"/>
                          </a:solidFill>
                          <a:latin typeface="Calibri"/>
                        </a:rPr>
                        <a:t>A credit POLICY governed as a model — every decision carrying the rule that made it and the reason that rule exists</a:t>
                      </a:r>
                    </a:p>
                  </a:txBody>
                  <a:tcPr marL="82296" marR="64008" marT="32004" marB="32004" anchor="ctr">
                    <a:solidFill>
                      <a:srgbClr val="F6F3EF"/>
                    </a:solidFill>
                  </a:tcPr>
                </a:tc>
              </a:tr>
            </a:tbl>
          </a:graphicData>
        </a:graphic>
      </p:graphicFrame>
      <p:sp>
        <p:nvSpPr>
          <p:cNvPr id="11" name="TextBox 10"/>
          <p:cNvSpPr txBox="1"/>
          <p:nvPr/>
        </p:nvSpPr>
        <p:spPr>
          <a:xfrm>
            <a:off x="777240" y="4803152"/>
            <a:ext cx="10637215" cy="82296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These are not screenshots. </a:t>
            </a:r>
            <a:r>
              <a:rPr sz="1250" b="0" i="0">
                <a:solidFill>
                  <a:srgbClr val="1C1C1E"/>
                </a:solidFill>
                <a:latin typeface="Calibri"/>
              </a:rPr>
              <a:t>Each is a script that registers a real model against a live MAYA, fits it OUTSIDE the platform, delivers the parameters back under a warrant, and prints what the platform refused. Chapter 26 of the design deck walks through all six.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most useful thing in a demonstration is what it refuses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TextBox 9"/>
          <p:cNvSpPr txBox="1"/>
          <p:nvPr/>
        </p:nvSpPr>
        <p:spPr>
          <a:xfrm>
            <a:off x="777240" y="176479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 control nobody has watched refuse is a control nobody has tested. </a:t>
            </a:r>
            <a:r>
              <a:rPr sz="1250" b="0" i="0">
                <a:solidFill>
                  <a:srgbClr val="1C1C1E"/>
                </a:solidFill>
                <a:latin typeface="Calibri"/>
              </a:rPr>
              <a:t>Each case study deliberately asks for something it should not get. Every refusal names what failed AND what to do instead — a refusal that says only “forbidden” teaches people to route around the platform. Verbatim, not paraphrased:</a:t>
            </a:r>
          </a:p>
        </p:txBody>
      </p:sp>
      <p:sp>
        <p:nvSpPr>
          <p:cNvPr id="11" name="Rectangle 10"/>
          <p:cNvSpPr/>
          <p:nvPr/>
        </p:nvSpPr>
        <p:spPr>
          <a:xfrm>
            <a:off x="777240" y="2542032"/>
            <a:ext cx="10637215" cy="349385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349385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63347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PLATFORM SAID, VERBATIM</a:t>
            </a:r>
          </a:p>
        </p:txBody>
      </p:sp>
      <p:sp>
        <p:nvSpPr>
          <p:cNvPr id="14" name="TextBox 13"/>
          <p:cNvSpPr txBox="1"/>
          <p:nvPr/>
        </p:nvSpPr>
        <p:spPr>
          <a:xfrm>
            <a:off x="978408" y="2935223"/>
            <a:ext cx="10271455" cy="3018365"/>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T0 model cannot be fitted: its parameters come from theory, not from</a:t>
            </a:r>
          </a:p>
          <a:p>
            <a:pPr>
              <a:lnSpc>
                <a:spcPct val="134000"/>
              </a:lnSpc>
              <a:spcBef>
                <a:spcPts val="0"/>
              </a:spcBef>
              <a:spcAft>
                <a:spcPts val="0"/>
              </a:spcAft>
            </a:pPr>
            <a:r>
              <a:rPr sz="1050" b="0" i="0">
                <a:solidFill>
                  <a:srgbClr val="1C1C1E"/>
                </a:solidFill>
                <a:latin typeface="Consolas"/>
              </a:rPr>
              <a:t>data — there is nothing to fit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this edge carries nothing — a wire to nowhere, and the blast radius</a:t>
            </a:r>
          </a:p>
          <a:p>
            <a:pPr>
              <a:lnSpc>
                <a:spcPct val="134000"/>
              </a:lnSpc>
              <a:spcBef>
                <a:spcPts val="0"/>
              </a:spcBef>
              <a:spcAft>
                <a:spcPts val="0"/>
              </a:spcAft>
            </a:pPr>
            <a:r>
              <a:rPr sz="1050" b="0" i="0">
                <a:solidFill>
                  <a:srgbClr val="1C1C1E"/>
                </a:solidFill>
                <a:latin typeface="Consolas"/>
              </a:rPr>
              <a:t>would follow 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featureset read for fitting must bound the period it covers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cannot add 'asset_vol' — a parent already has it. say 'override' if</a:t>
            </a:r>
          </a:p>
          <a:p>
            <a:pPr>
              <a:lnSpc>
                <a:spcPct val="134000"/>
              </a:lnSpc>
              <a:spcBef>
                <a:spcPts val="0"/>
              </a:spcBef>
              <a:spcAft>
                <a:spcPts val="0"/>
              </a:spcAft>
            </a:pPr>
            <a:r>
              <a:rPr sz="1050" b="0" i="0">
                <a:solidFill>
                  <a:srgbClr val="1C1C1E"/>
                </a:solidFill>
                <a:latin typeface="Consolas"/>
              </a:rPr>
              <a:t>replacing it is what is meant; the two read differently to a reviewer</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number one person can both produce and bless is a preference, not</a:t>
            </a:r>
          </a:p>
          <a:p>
            <a:pPr>
              <a:lnSpc>
                <a:spcPct val="134000"/>
              </a:lnSpc>
              <a:spcBef>
                <a:spcPts val="0"/>
              </a:spcBef>
              <a:spcAft>
                <a:spcPts val="0"/>
              </a:spcAft>
            </a:pPr>
            <a:r>
              <a:rPr sz="1050" b="0" i="0">
                <a:solidFill>
                  <a:srgbClr val="1C1C1E"/>
                </a:solidFill>
                <a:latin typeface="Consolas"/>
              </a:rPr>
              <a:t>an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it would cost, and against what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graphicFrame>
        <p:nvGraphicFramePr>
          <p:cNvPr id="10" name="Table 9"/>
          <p:cNvGraphicFramePr>
            <a:graphicFrameLocks noGrp="1"/>
          </p:cNvGraphicFramePr>
          <p:nvPr/>
        </p:nvGraphicFramePr>
        <p:xfrm>
          <a:off x="777240" y="1353312"/>
          <a:ext cx="10637213" cy="2134435"/>
        </p:xfrm>
        <a:graphic>
          <a:graphicData uri="http://schemas.openxmlformats.org/drawingml/2006/table">
            <a:tbl>
              <a:tblPr firstRow="1">
                <a:tableStyleId>{5C22544A-7EE6-4342-B048-85BDC9FD1C3A}</a:tableStyleId>
              </a:tblPr>
              <a:tblGrid>
                <a:gridCol w="2154953"/>
                <a:gridCol w="3209504"/>
                <a:gridCol w="3209504"/>
                <a:gridCol w="2063252"/>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Build on MAYA</a:t>
                      </a:r>
                    </a:p>
                  </a:txBody>
                  <a:tcPr marL="82296" marR="64008" marT="32004" marB="32004" anchor="ctr">
                    <a:solidFill>
                      <a:srgbClr val="A51C30"/>
                    </a:solidFill>
                  </a:tcPr>
                </a:tc>
                <a:tc>
                  <a:txBody>
                    <a:bodyPr wrap="square"/>
                    <a:lstStyle/>
                    <a:p>
                      <a:pPr algn="l"/>
                      <a:r>
                        <a:rPr sz="1050" b="1">
                          <a:solidFill>
                            <a:srgbClr val="FFFFFF"/>
                          </a:solidFill>
                          <a:latin typeface="Calibri"/>
                        </a:rPr>
                        <a:t>Buy a vendor platform</a:t>
                      </a:r>
                    </a:p>
                  </a:txBody>
                  <a:tcPr marL="82296" marR="64008" marT="32004" marB="32004" anchor="ctr">
                    <a:solidFill>
                      <a:srgbClr val="A51C30"/>
                    </a:solidFill>
                  </a:tcPr>
                </a:tc>
                <a:tc>
                  <a:txBody>
                    <a:bodyPr wrap="square"/>
                    <a:lstStyle/>
                    <a:p>
                      <a:pPr algn="l"/>
                      <a:r>
                        <a:rPr sz="1050" b="1">
                          <a:solidFill>
                            <a:srgbClr val="FFFFFF"/>
                          </a:solidFill>
                          <a:latin typeface="Calibri"/>
                        </a:rPr>
                        <a:t>Do nothing</a:t>
                      </a:r>
                    </a:p>
                  </a:txBody>
                  <a:tcPr marL="82296" marR="64008" marT="32004" marB="32004" anchor="ctr">
                    <a:solidFill>
                      <a:srgbClr val="A51C30"/>
                    </a:solidFill>
                  </a:tcPr>
                </a:tc>
              </a:tr>
              <a:tr h="325259">
                <a:tc>
                  <a:txBody>
                    <a:bodyPr wrap="square"/>
                    <a:lstStyle/>
                    <a:p>
                      <a:pPr algn="l"/>
                      <a:r>
                        <a:rPr sz="1050" b="0">
                          <a:solidFill>
                            <a:srgbClr val="1C1C1E"/>
                          </a:solidFill>
                          <a:latin typeface="Calibri"/>
                        </a:rPr>
                        <a:t>Year-one cost</a:t>
                      </a:r>
                    </a:p>
                  </a:txBody>
                  <a:tcPr marL="82296" marR="64008" marT="32004" marB="32004" anchor="ctr">
                    <a:solidFill>
                      <a:srgbClr val="FFFFFF"/>
                    </a:solidFill>
                  </a:tcPr>
                </a:tc>
                <a:tc>
                  <a:txBody>
                    <a:bodyPr wrap="square"/>
                    <a:lstStyle/>
                    <a:p>
                      <a:pPr algn="l"/>
                      <a:r>
                        <a:rPr sz="1050" b="0">
                          <a:solidFill>
                            <a:srgbClr val="1C1C1E"/>
                          </a:solidFill>
                          <a:latin typeface="Calibri"/>
                        </a:rPr>
                        <a:t>~£0.9m — three FTE and infrastructure</a:t>
                      </a:r>
                    </a:p>
                  </a:txBody>
                  <a:tcPr marL="82296" marR="64008" marT="32004" marB="32004" anchor="ctr">
                    <a:solidFill>
                      <a:srgbClr val="FFFFFF"/>
                    </a:solidFill>
                  </a:tcPr>
                </a:tc>
                <a:tc>
                  <a:txBody>
                    <a:bodyPr wrap="square"/>
                    <a:lstStyle/>
                    <a:p>
                      <a:pPr algn="l"/>
                      <a:r>
                        <a:rPr sz="1050" b="0">
                          <a:solidFill>
                            <a:srgbClr val="1C1C1E"/>
                          </a:solidFill>
                          <a:latin typeface="Calibri"/>
                        </a:rPr>
                        <a:t>£1.5–3m licence, plus £1–2m implementation</a:t>
                      </a:r>
                    </a:p>
                  </a:txBody>
                  <a:tcPr marL="82296" marR="64008" marT="32004" marB="32004" anchor="ctr">
                    <a:solidFill>
                      <a:srgbClr val="FFFFFF"/>
                    </a:solidFill>
                  </a:tcPr>
                </a:tc>
                <a:tc>
                  <a:txBody>
                    <a:bodyPr wrap="square"/>
                    <a:lstStyle/>
                    <a:p>
                      <a:pPr algn="l"/>
                      <a:r>
                        <a:rPr sz="1050" b="0">
                          <a:solidFill>
                            <a:srgbClr val="1C1C1E"/>
                          </a:solidFill>
                          <a:latin typeface="Calibri"/>
                        </a:rPr>
                        <a:t>£0 visible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Ongoing</a:t>
                      </a:r>
                    </a:p>
                  </a:txBody>
                  <a:tcPr marL="82296" marR="64008" marT="32004" marB="32004" anchor="ctr">
                    <a:solidFill>
                      <a:srgbClr val="F6F3EF"/>
                    </a:solidFill>
                  </a:tcPr>
                </a:tc>
                <a:tc>
                  <a:txBody>
                    <a:bodyPr wrap="square"/>
                    <a:lstStyle/>
                    <a:p>
                      <a:pPr algn="l"/>
                      <a:r>
                        <a:rPr sz="1050" b="0">
                          <a:solidFill>
                            <a:srgbClr val="1C1C1E"/>
                          </a:solidFill>
                          <a:latin typeface="Calibri"/>
                        </a:rPr>
                        <a:t>~£0.6m/year</a:t>
                      </a:r>
                    </a:p>
                  </a:txBody>
                  <a:tcPr marL="82296" marR="64008" marT="32004" marB="32004" anchor="ctr">
                    <a:solidFill>
                      <a:srgbClr val="F6F3EF"/>
                    </a:solidFill>
                  </a:tcPr>
                </a:tc>
                <a:tc>
                  <a:txBody>
                    <a:bodyPr wrap="square"/>
                    <a:lstStyle/>
                    <a:p>
                      <a:pPr algn="l"/>
                      <a:r>
                        <a:rPr sz="1050" b="0">
                          <a:solidFill>
                            <a:srgbClr val="1C1C1E"/>
                          </a:solidFill>
                          <a:latin typeface="Calibri"/>
                        </a:rPr>
                        <a:t>£1.5m+/year, rising with the estate</a:t>
                      </a:r>
                    </a:p>
                  </a:txBody>
                  <a:tcPr marL="82296" marR="64008" marT="32004" marB="32004" anchor="ctr">
                    <a:solidFill>
                      <a:srgbClr val="F6F3EF"/>
                    </a:solidFill>
                  </a:tcPr>
                </a:tc>
                <a:tc>
                  <a:txBody>
                    <a:bodyPr wrap="square"/>
                    <a:lstStyle/>
                    <a:p>
                      <a:pPr algn="l"/>
                      <a:r>
                        <a:rPr sz="1050" b="0">
                          <a:solidFill>
                            <a:srgbClr val="1C1C1E"/>
                          </a:solidFill>
                          <a:latin typeface="Calibri"/>
                        </a:rPr>
                        <a:t>£0 visible</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Time to first governed model</a:t>
                      </a:r>
                    </a:p>
                  </a:txBody>
                  <a:tcPr marL="82296" marR="64008" marT="32004" marB="32004" anchor="ctr">
                    <a:solidFill>
                      <a:srgbClr val="FFFFFF"/>
                    </a:solidFill>
                  </a:tcPr>
                </a:tc>
                <a:tc>
                  <a:txBody>
                    <a:bodyPr wrap="square"/>
                    <a:lstStyle/>
                    <a:p>
                      <a:pPr algn="l"/>
                      <a:r>
                        <a:rPr sz="1050" b="0">
                          <a:solidFill>
                            <a:srgbClr val="1C1C1E"/>
                          </a:solidFill>
                          <a:latin typeface="Calibri"/>
                        </a:rPr>
                        <a:t>Weeks — the platform runs today</a:t>
                      </a:r>
                    </a:p>
                  </a:txBody>
                  <a:tcPr marL="82296" marR="64008" marT="32004" marB="32004" anchor="ctr">
                    <a:solidFill>
                      <a:srgbClr val="FFFFFF"/>
                    </a:solidFill>
                  </a:tcPr>
                </a:tc>
                <a:tc>
                  <a:txBody>
                    <a:bodyPr wrap="square"/>
                    <a:lstStyle/>
                    <a:p>
                      <a:pPr algn="l"/>
                      <a:r>
                        <a:rPr sz="1050" b="0">
                          <a:solidFill>
                            <a:srgbClr val="1C1C1E"/>
                          </a:solidFill>
                          <a:latin typeface="Calibri"/>
                        </a:rPr>
                        <a:t>9–18 months</a:t>
                      </a:r>
                    </a:p>
                  </a:txBody>
                  <a:tcPr marL="82296" marR="64008" marT="32004" marB="32004" anchor="ctr">
                    <a:solidFill>
                      <a:srgbClr val="FFFFFF"/>
                    </a:solidFill>
                  </a:tcPr>
                </a:tc>
                <a:tc>
                  <a:txBody>
                    <a:bodyPr wrap="square"/>
                    <a:lstStyle/>
                    <a:p>
                      <a:pPr algn="l"/>
                      <a:r>
                        <a:rPr sz="1050" b="0">
                          <a:solidFill>
                            <a:srgbClr val="1C1C1E"/>
                          </a:solidFill>
                          <a:latin typeface="Calibri"/>
                        </a:rPr>
                        <a:t>n/a</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Fit to this bank's estate</a:t>
                      </a:r>
                    </a:p>
                  </a:txBody>
                  <a:tcPr marL="82296" marR="64008" marT="32004" marB="32004" anchor="ctr">
                    <a:solidFill>
                      <a:srgbClr val="F6F3EF"/>
                    </a:solidFill>
                  </a:tcPr>
                </a:tc>
                <a:tc>
                  <a:txBody>
                    <a:bodyPr wrap="square"/>
                    <a:lstStyle/>
                    <a:p>
                      <a:pPr algn="l"/>
                      <a:r>
                        <a:rPr sz="1050" b="0">
                          <a:solidFill>
                            <a:srgbClr val="1C1C1E"/>
                          </a:solidFill>
                          <a:latin typeface="Calibri"/>
                        </a:rPr>
                        <a:t>Built for a heterogeneous estate: pricers, scorecards, rulebooks and AI in one taxonomy</a:t>
                      </a:r>
                    </a:p>
                  </a:txBody>
                  <a:tcPr marL="82296" marR="64008" marT="32004" marB="32004" anchor="ctr">
                    <a:solidFill>
                      <a:srgbClr val="F6F3EF"/>
                    </a:solidFill>
                  </a:tcPr>
                </a:tc>
                <a:tc>
                  <a:txBody>
                    <a:bodyPr wrap="square"/>
                    <a:lstStyle/>
                    <a:p>
                      <a:pPr algn="l"/>
                      <a:r>
                        <a:rPr sz="1050" b="0">
                          <a:solidFill>
                            <a:srgbClr val="1C1C1E"/>
                          </a:solidFill>
                          <a:latin typeface="Calibri"/>
                        </a:rPr>
                        <a:t>Strong for trainable ML; weak for closed-form and policy models</a:t>
                      </a:r>
                    </a:p>
                  </a:txBody>
                  <a:tcPr marL="82296" marR="64008" marT="32004" marB="32004" anchor="ctr">
                    <a:solidFill>
                      <a:srgbClr val="F6F3EF"/>
                    </a:solidFill>
                  </a:tcPr>
                </a:tc>
                <a:tc>
                  <a:txBody>
                    <a:bodyPr wrap="square"/>
                    <a:lstStyle/>
                    <a:p>
                      <a:pPr algn="l"/>
                      <a:r>
                        <a:rPr sz="1050" b="0">
                          <a:solidFill>
                            <a:srgbClr val="1C1C1E"/>
                          </a:solidFill>
                          <a:latin typeface="Calibri"/>
                        </a:rPr>
                        <a:t>n/a</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What you own</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the evidence format</a:t>
                      </a:r>
                    </a:p>
                  </a:txBody>
                  <a:tcPr marL="82296" marR="64008" marT="32004" marB="32004" anchor="ctr">
                    <a:solidFill>
                      <a:srgbClr val="FFFFFF"/>
                    </a:solidFill>
                  </a:tcPr>
                </a:tc>
                <a:tc>
                  <a:txBody>
                    <a:bodyPr wrap="square"/>
                    <a:lstStyle/>
                    <a:p>
                      <a:pPr algn="l"/>
                      <a:r>
                        <a:rPr sz="1050" b="0">
                          <a:solidFill>
                            <a:srgbClr val="1C1C1E"/>
                          </a:solidFill>
                          <a:latin typeface="Calibri"/>
                        </a:rPr>
                        <a:t>A contract and an export format</a:t>
                      </a:r>
                    </a:p>
                  </a:txBody>
                  <a:tcPr marL="82296" marR="64008" marT="32004" marB="32004" anchor="ctr">
                    <a:solidFill>
                      <a:srgbClr val="FFFFFF"/>
                    </a:solidFill>
                  </a:tcPr>
                </a:tc>
                <a:tc>
                  <a:txBody>
                    <a:bodyPr wrap="square"/>
                    <a:lstStyle/>
                    <a:p>
                      <a:pPr algn="l"/>
                      <a:r>
                        <a:rPr sz="1050" b="0">
                          <a:solidFill>
                            <a:srgbClr val="1C1C1E"/>
                          </a:solidFill>
                          <a:latin typeface="Calibri"/>
                        </a:rPr>
                        <a:t>The spreadsheet</a:t>
                      </a:r>
                    </a:p>
                  </a:txBody>
                  <a:tcPr marL="82296" marR="64008" marT="32004" marB="32004" anchor="ctr">
                    <a:solidFill>
                      <a:srgbClr val="FFFFFF"/>
                    </a:solidFill>
                  </a:tcPr>
                </a:tc>
              </a:tr>
            </a:tbl>
          </a:graphicData>
        </a:graphic>
      </p:graphicFrame>
      <p:sp>
        <p:nvSpPr>
          <p:cNvPr id="11" name="TextBox 10"/>
          <p:cNvSpPr txBox="1"/>
          <p:nvPr/>
        </p:nvSpPr>
        <p:spPr>
          <a:xfrm>
            <a:off x="777240" y="3743782"/>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 cost figures are ESTIMATES and are marked as such. </a:t>
            </a:r>
            <a:r>
              <a:rPr sz="1250" b="0" i="0">
                <a:solidFill>
                  <a:srgbClr val="1C1C1E"/>
                </a:solidFill>
                <a:latin typeface="Calibri"/>
              </a:rPr>
              <a:t>The one that is not an estimate is the third row: the platform exists, the tests pass, and the case studies run today. “Do nothing” has a cost too — it is simply carried as a contingency nobody has priced, and it becomes visible on the day of an examination rather than in a budget cycle.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built, and what is honestly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BUILT AND RUNNING</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you would get on day one</a:t>
            </a:r>
          </a:p>
        </p:txBody>
      </p:sp>
      <p:sp>
        <p:nvSpPr>
          <p:cNvPr id="14" name="TextBox 13"/>
          <p:cNvSpPr txBox="1"/>
          <p:nvPr/>
        </p:nvSpPr>
        <p:spPr>
          <a:xfrm>
            <a:off x="996695"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register: models, versions, features with both clocks, featuresets, warrants, approvals, parameters, the evidence chain.
The controls: quorum approval, self-approval refused, tiering derived from exposure, blast radius computed from the graph.
The interface: every screen a person needs, permission-driven, with a test that fails on any page nobody can reach.
The AI framework: tiers, oracles, grounding, mandatory review sampling.</a:t>
            </a:r>
          </a:p>
        </p:txBody>
      </p:sp>
      <p:sp>
        <p:nvSpPr>
          <p:cNvPr id="15" name="Rectangle 14"/>
          <p:cNvSpPr/>
          <p:nvPr/>
        </p:nvSpPr>
        <p:spPr>
          <a:xfrm>
            <a:off x="6251295"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NOT BUILT — SAY SO</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would still be a programme</a:t>
            </a:r>
          </a:p>
        </p:txBody>
      </p:sp>
      <p:sp>
        <p:nvSpPr>
          <p:cNvPr id="19" name="TextBox 18"/>
          <p:cNvSpPr txBox="1"/>
          <p:nvPr/>
        </p:nvSpPr>
        <p:spPr>
          <a:xfrm>
            <a:off x="6470751"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Connectors to MLflow, Unity Catalog and git. Bulk import exists; models already in an ML platform are entered by hand.
Discovery. The inventory is what somebody registered — it finds nothing nobody declared.
Asymmetric warrant signatures. Verifying a warrant today means holding the key that could mint one; this is the largest gap.
Scale beyond a single process, and every performance figure in the documents is a target rather than a measurement.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could go wrong with this, honestly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346044"/>
        </p:xfrm>
        <a:graphic>
          <a:graphicData uri="http://schemas.openxmlformats.org/drawingml/2006/table">
            <a:tbl>
              <a:tblPr firstRow="1">
                <a:tableStyleId>{5C22544A-7EE6-4342-B048-85BDC9FD1C3A}</a:tableStyleId>
              </a:tblPr>
              <a:tblGrid>
                <a:gridCol w="2282664"/>
                <a:gridCol w="4200102"/>
                <a:gridCol w="4154448"/>
              </a:tblGrid>
              <a:tr h="329184">
                <a:tc>
                  <a:txBody>
                    <a:bodyPr wrap="square"/>
                    <a:lstStyle/>
                    <a:p>
                      <a:pPr algn="l"/>
                      <a:r>
                        <a:rPr sz="1050" b="1">
                          <a:solidFill>
                            <a:srgbClr val="FFFFFF"/>
                          </a:solidFill>
                          <a:latin typeface="Calibri"/>
                        </a:rPr>
                        <a:t>Risk</a:t>
                      </a:r>
                    </a:p>
                  </a:txBody>
                  <a:tcPr marL="82296" marR="64008" marT="32004" marB="32004" anchor="ctr">
                    <a:solidFill>
                      <a:srgbClr val="A51C30"/>
                    </a:solidFill>
                  </a:tcPr>
                </a:tc>
                <a:tc>
                  <a:txBody>
                    <a:bodyPr wrap="square"/>
                    <a:lstStyle/>
                    <a:p>
                      <a:pPr algn="l"/>
                      <a:r>
                        <a:rPr sz="1050" b="1">
                          <a:solidFill>
                            <a:srgbClr val="FFFFFF"/>
                          </a:solidFill>
                          <a:latin typeface="Calibri"/>
                        </a:rPr>
                        <a:t>Why it is real</a:t>
                      </a:r>
                    </a:p>
                  </a:txBody>
                  <a:tcPr marL="82296" marR="64008" marT="32004" marB="32004" anchor="ctr">
                    <a:solidFill>
                      <a:srgbClr val="A51C30"/>
                    </a:solidFill>
                  </a:tcPr>
                </a:tc>
                <a:tc>
                  <a:txBody>
                    <a:bodyPr wrap="square"/>
                    <a:lstStyle/>
                    <a:p>
                      <a:pPr algn="l"/>
                      <a:r>
                        <a:rPr sz="1050" b="1">
                          <a:solidFill>
                            <a:srgbClr val="FFFFFF"/>
                          </a:solidFill>
                          <a:latin typeface="Calibri"/>
                        </a:rPr>
                        <a:t>What reduces it</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Key-person concentration</a:t>
                      </a:r>
                    </a:p>
                  </a:txBody>
                  <a:tcPr marL="82296" marR="64008" marT="32004" marB="32004" anchor="ctr">
                    <a:solidFill>
                      <a:srgbClr val="FFFFFF"/>
                    </a:solidFill>
                  </a:tcPr>
                </a:tc>
                <a:tc>
                  <a:txBody>
                    <a:bodyPr wrap="square"/>
                    <a:lstStyle/>
                    <a:p>
                      <a:pPr algn="l"/>
                      <a:r>
                        <a:rPr sz="1050" b="0">
                          <a:solidFill>
                            <a:srgbClr val="1C1C1E"/>
                          </a:solidFill>
                          <a:latin typeface="Calibri"/>
                        </a:rPr>
                        <a:t>One author. That is a genuine single point of failure and no slide should pretend otherwise</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and 3,635 tests are the bank's. The design documents explain WHY, not only what</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Adoption resistance</a:t>
                      </a:r>
                    </a:p>
                  </a:txBody>
                  <a:tcPr marL="82296" marR="64008" marT="32004" marB="32004" anchor="ctr">
                    <a:solidFill>
                      <a:srgbClr val="F6F3EF"/>
                    </a:solidFill>
                  </a:tcPr>
                </a:tc>
                <a:tc>
                  <a:txBody>
                    <a:bodyPr wrap="square"/>
                    <a:lstStyle/>
                    <a:p>
                      <a:pPr algn="l"/>
                      <a:r>
                        <a:rPr sz="1050" b="0">
                          <a:solidFill>
                            <a:srgbClr val="1C1C1E"/>
                          </a:solidFill>
                          <a:latin typeface="Calibri"/>
                        </a:rPr>
                        <a:t>The platform makes people answer questions previously answered by nobody, and that reads as friction</a:t>
                      </a:r>
                    </a:p>
                  </a:txBody>
                  <a:tcPr marL="82296" marR="64008" marT="32004" marB="32004" anchor="ctr">
                    <a:solidFill>
                      <a:srgbClr val="F6F3EF"/>
                    </a:solidFill>
                  </a:tcPr>
                </a:tc>
                <a:tc>
                  <a:txBody>
                    <a:bodyPr wrap="square"/>
                    <a:lstStyle/>
                    <a:p>
                      <a:pPr algn="l"/>
                      <a:r>
                        <a:rPr sz="1050" b="0">
                          <a:solidFill>
                            <a:srgbClr val="1C1C1E"/>
                          </a:solidFill>
                          <a:latin typeface="Calibri"/>
                        </a:rPr>
                        <a:t>Start with one book and one tier-1 model. The compliant path has to be the shortest path or the inventory rots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It becomes another spreadsheet</a:t>
                      </a:r>
                    </a:p>
                  </a:txBody>
                  <a:tcPr marL="82296" marR="64008" marT="32004" marB="32004" anchor="ctr">
                    <a:solidFill>
                      <a:srgbClr val="FFFFFF"/>
                    </a:solidFill>
                  </a:tcPr>
                </a:tc>
                <a:tc>
                  <a:txBody>
                    <a:bodyPr wrap="square"/>
                    <a:lstStyle/>
                    <a:p>
                      <a:pPr algn="l"/>
                      <a:r>
                        <a:rPr sz="1050" b="0">
                          <a:solidFill>
                            <a:srgbClr val="1C1C1E"/>
                          </a:solidFill>
                          <a:latin typeface="Calibri"/>
                        </a:rPr>
                        <a:t>A register nobody updates is worse than none, because it is believed</a:t>
                      </a:r>
                    </a:p>
                  </a:txBody>
                  <a:tcPr marL="82296" marR="64008" marT="32004" marB="32004" anchor="ctr">
                    <a:solidFill>
                      <a:srgbClr val="FFFFFF"/>
                    </a:solidFill>
                  </a:tcPr>
                </a:tc>
                <a:tc>
                  <a:txBody>
                    <a:bodyPr wrap="square"/>
                    <a:lstStyle/>
                    <a:p>
                      <a:pPr algn="l"/>
                      <a:r>
                        <a:rPr sz="1050" b="0">
                          <a:solidFill>
                            <a:srgbClr val="1C1C1E"/>
                          </a:solidFill>
                          <a:latin typeface="Calibri"/>
                        </a:rPr>
                        <a:t>The API is the only way in, and the register refuses what it cannot check. There is no manual override</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Regulatory expectations move</a:t>
                      </a:r>
                    </a:p>
                  </a:txBody>
                  <a:tcPr marL="82296" marR="64008" marT="32004" marB="32004" anchor="ctr">
                    <a:solidFill>
                      <a:srgbClr val="F6F3EF"/>
                    </a:solidFill>
                  </a:tcPr>
                </a:tc>
                <a:tc>
                  <a:txBody>
                    <a:bodyPr wrap="square"/>
                    <a:lstStyle/>
                    <a:p>
                      <a:pPr algn="l"/>
                      <a:r>
                        <a:rPr sz="1050" b="0">
                          <a:solidFill>
                            <a:srgbClr val="1C1C1E"/>
                          </a:solidFill>
                          <a:latin typeface="Calibri"/>
                        </a:rPr>
                        <a:t>SR 26-2, SS1/23 and the EU AI Act are all young and will be interpreted</a:t>
                      </a:r>
                    </a:p>
                  </a:txBody>
                  <a:tcPr marL="82296" marR="64008" marT="32004" marB="32004" anchor="ctr">
                    <a:solidFill>
                      <a:srgbClr val="F6F3EF"/>
                    </a:solidFill>
                  </a:tcPr>
                </a:tc>
                <a:tc>
                  <a:txBody>
                    <a:bodyPr wrap="square"/>
                    <a:lstStyle/>
                    <a:p>
                      <a:pPr algn="l"/>
                      <a:r>
                        <a:rPr sz="1050" b="0">
                          <a:solidFill>
                            <a:srgbClr val="1C1C1E"/>
                          </a:solidFill>
                          <a:latin typeface="Calibri"/>
                        </a:rPr>
                        <a:t>Regimes are DATA in MAYA, not code: a new obligation is a row, and the platform reports what is unsatisfied</a:t>
                      </a:r>
                    </a:p>
                  </a:txBody>
                  <a:tcPr marL="82296" marR="64008" marT="32004" marB="32004" anchor="ctr">
                    <a:solidFill>
                      <a:srgbClr val="F6F3E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first ninety days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0–30</a:t>
            </a:r>
          </a:p>
          <a:p>
            <a:pPr>
              <a:spcBef>
                <a:spcPts val="0"/>
              </a:spcBef>
              <a:spcAft>
                <a:spcPts val="400"/>
              </a:spcAft>
            </a:pPr>
            <a:r>
              <a:rPr sz="1100" b="1" i="0">
                <a:solidFill>
                  <a:srgbClr val="1C1C1E"/>
                </a:solidFill>
                <a:latin typeface="Calibri"/>
              </a:rPr>
              <a:t>One model, end to end</a:t>
            </a:r>
          </a:p>
          <a:p>
            <a:pPr>
              <a:lnSpc>
                <a:spcPct val="115000"/>
              </a:lnSpc>
              <a:spcBef>
                <a:spcPts val="0"/>
              </a:spcBef>
              <a:spcAft>
                <a:spcPts val="600"/>
              </a:spcAft>
            </a:pPr>
            <a:r>
              <a:rPr sz="850" b="0" i="0">
                <a:solidFill>
                  <a:srgbClr val="4A4F57"/>
                </a:solidFill>
                <a:latin typeface="Calibri"/>
              </a:rPr>
              <a:t>Pick one tier-1 model with a live validation finding. Register it, warrant it, approve it. Produce the evidence pack and put it in front of whoever owns the finding</a:t>
            </a:r>
          </a:p>
        </p:txBody>
      </p:sp>
      <p:sp>
        <p:nvSpPr>
          <p:cNvPr id="13" name="Rectangle 12"/>
          <p:cNvSpPr/>
          <p:nvPr/>
        </p:nvSpPr>
        <p:spPr>
          <a:xfrm>
            <a:off x="4383938"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4383938"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4530242"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30–60</a:t>
            </a:r>
          </a:p>
          <a:p>
            <a:pPr>
              <a:spcBef>
                <a:spcPts val="0"/>
              </a:spcBef>
              <a:spcAft>
                <a:spcPts val="400"/>
              </a:spcAft>
            </a:pPr>
            <a:r>
              <a:rPr sz="1100" b="1" i="0">
                <a:solidFill>
                  <a:srgbClr val="1C1C1E"/>
                </a:solidFill>
                <a:latin typeface="Calibri"/>
              </a:rPr>
              <a:t>One book</a:t>
            </a:r>
          </a:p>
          <a:p>
            <a:pPr>
              <a:lnSpc>
                <a:spcPct val="115000"/>
              </a:lnSpc>
              <a:spcBef>
                <a:spcPts val="0"/>
              </a:spcBef>
              <a:spcAft>
                <a:spcPts val="600"/>
              </a:spcAft>
            </a:pPr>
            <a:r>
              <a:rPr sz="850" b="0" i="0">
                <a:solidFill>
                  <a:srgbClr val="4A4F57"/>
                </a:solidFill>
                <a:latin typeface="Calibri"/>
              </a:rPr>
              <a:t>Bring one portfolio's models on, including a pricer and a policy rulebook — the two things a trainable-ML platform handles worst</a:t>
            </a:r>
          </a:p>
        </p:txBody>
      </p:sp>
      <p:sp>
        <p:nvSpPr>
          <p:cNvPr id="16" name="Rectangle 15"/>
          <p:cNvSpPr/>
          <p:nvPr/>
        </p:nvSpPr>
        <p:spPr>
          <a:xfrm>
            <a:off x="7990636"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990636"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8136940"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60–90</a:t>
            </a:r>
          </a:p>
          <a:p>
            <a:pPr>
              <a:spcBef>
                <a:spcPts val="0"/>
              </a:spcBef>
              <a:spcAft>
                <a:spcPts val="400"/>
              </a:spcAft>
            </a:pPr>
            <a:r>
              <a:rPr sz="1100" b="1" i="0">
                <a:solidFill>
                  <a:srgbClr val="1C1C1E"/>
                </a:solidFill>
                <a:latin typeface="Calibri"/>
              </a:rPr>
              <a:t>The examination rehearsal</a:t>
            </a:r>
          </a:p>
          <a:p>
            <a:pPr>
              <a:lnSpc>
                <a:spcPct val="115000"/>
              </a:lnSpc>
              <a:spcBef>
                <a:spcPts val="0"/>
              </a:spcBef>
              <a:spcAft>
                <a:spcPts val="600"/>
              </a:spcAft>
            </a:pPr>
            <a:r>
              <a:rPr sz="850" b="0" i="0">
                <a:solidFill>
                  <a:srgbClr val="4A4F57"/>
                </a:solidFill>
                <a:latin typeface="Calibri"/>
              </a:rPr>
              <a:t>Have second line ask the three questions cold, against the register, with nobody preparing anything in advance. That is the test</a:t>
            </a:r>
          </a:p>
        </p:txBody>
      </p:sp>
      <p:sp>
        <p:nvSpPr>
          <p:cNvPr id="19" name="TextBox 18"/>
          <p:cNvSpPr txBox="1"/>
          <p:nvPr/>
        </p:nvSpPr>
        <p:spPr>
          <a:xfrm>
            <a:off x="777240" y="3456432"/>
            <a:ext cx="10637215" cy="137160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ninety-day test is deliberately not a technical one. </a:t>
            </a:r>
            <a:r>
              <a:rPr sz="1300" b="0" i="0">
                <a:solidFill>
                  <a:srgbClr val="1C1C1E"/>
                </a:solidFill>
                <a:latin typeface="Calibri"/>
              </a:rPr>
              <a:t>It is whether a model-risk manager can answer “what do we run, who approved it, and what did it see” from the register alone, without asking a quant and without a week's notice. If that fails, the programme has not worked, whatever the platform metrics say.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Twelve months, and what “done” means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graphicFrame>
        <p:nvGraphicFramePr>
          <p:cNvPr id="10" name="Table 9"/>
          <p:cNvGraphicFramePr>
            <a:graphicFrameLocks noGrp="1"/>
          </p:cNvGraphicFramePr>
          <p:nvPr/>
        </p:nvGraphicFramePr>
        <p:xfrm>
          <a:off x="777240" y="1353312"/>
          <a:ext cx="10637213" cy="1856382"/>
        </p:xfrm>
        <a:graphic>
          <a:graphicData uri="http://schemas.openxmlformats.org/drawingml/2006/table">
            <a:tbl>
              <a:tblPr firstRow="1">
                <a:tableStyleId>{5C22544A-7EE6-4342-B048-85BDC9FD1C3A}</a:tableStyleId>
              </a:tblPr>
              <a:tblGrid>
                <a:gridCol w="913065"/>
                <a:gridCol w="4930554"/>
                <a:gridCol w="4793594"/>
              </a:tblGrid>
              <a:tr h="333781">
                <a:tc>
                  <a:txBody>
                    <a:bodyPr wrap="square"/>
                    <a:lstStyle/>
                    <a:p>
                      <a:pPr algn="l"/>
                      <a:r>
                        <a:rPr sz="1100" b="1">
                          <a:solidFill>
                            <a:srgbClr val="FFFFFF"/>
                          </a:solidFill>
                          <a:latin typeface="Calibri"/>
                        </a:rPr>
                        <a:t>Quarter</a:t>
                      </a:r>
                    </a:p>
                  </a:txBody>
                  <a:tcPr marL="82296" marR="64008" marT="32004" marB="32004" anchor="ctr">
                    <a:solidFill>
                      <a:srgbClr val="A51C30"/>
                    </a:solidFill>
                  </a:tcPr>
                </a:tc>
                <a:tc>
                  <a:txBody>
                    <a:bodyPr wrap="square"/>
                    <a:lstStyle/>
                    <a:p>
                      <a:pPr algn="l"/>
                      <a:r>
                        <a:rPr sz="1100" b="1">
                          <a:solidFill>
                            <a:srgbClr val="FFFFFF"/>
                          </a:solidFill>
                          <a:latin typeface="Calibri"/>
                        </a:rPr>
                        <a:t>What lands</a:t>
                      </a:r>
                    </a:p>
                  </a:txBody>
                  <a:tcPr marL="82296" marR="64008" marT="32004" marB="32004" anchor="ctr">
                    <a:solidFill>
                      <a:srgbClr val="A51C30"/>
                    </a:solidFill>
                  </a:tcPr>
                </a:tc>
                <a:tc>
                  <a:txBody>
                    <a:bodyPr wrap="square"/>
                    <a:lstStyle/>
                    <a:p>
                      <a:pPr algn="l"/>
                      <a:r>
                        <a:rPr sz="1100" b="1">
                          <a:solidFill>
                            <a:srgbClr val="FFFFFF"/>
                          </a:solidFill>
                          <a:latin typeface="Calibri"/>
                        </a:rPr>
                        <a:t>How you know it worked</a:t>
                      </a:r>
                    </a:p>
                  </a:txBody>
                  <a:tcPr marL="82296" marR="64008" marT="32004" marB="32004" anchor="ctr">
                    <a:solidFill>
                      <a:srgbClr val="A51C30"/>
                    </a:solidFill>
                  </a:tcPr>
                </a:tc>
              </a:tr>
              <a:tr h="333781">
                <a:tc>
                  <a:txBody>
                    <a:bodyPr wrap="square"/>
                    <a:lstStyle/>
                    <a:p>
                      <a:pPr algn="l"/>
                      <a:r>
                        <a:rPr sz="1100" b="0">
                          <a:solidFill>
                            <a:srgbClr val="1C1C1E"/>
                          </a:solidFill>
                          <a:latin typeface="Calibri"/>
                        </a:rPr>
                        <a:t>Q1</a:t>
                      </a:r>
                    </a:p>
                  </a:txBody>
                  <a:tcPr marL="82296" marR="64008" marT="32004" marB="32004" anchor="ctr">
                    <a:solidFill>
                      <a:srgbClr val="FFFFFF"/>
                    </a:solidFill>
                  </a:tcPr>
                </a:tc>
                <a:tc>
                  <a:txBody>
                    <a:bodyPr wrap="square"/>
                    <a:lstStyle/>
                    <a:p>
                      <a:pPr algn="l"/>
                      <a:r>
                        <a:rPr sz="1100" b="0">
                          <a:solidFill>
                            <a:srgbClr val="1C1C1E"/>
                          </a:solidFill>
                          <a:latin typeface="Calibri"/>
                        </a:rPr>
                        <a:t>One book on the register; the evidence pack in a real validation</a:t>
                      </a:r>
                    </a:p>
                  </a:txBody>
                  <a:tcPr marL="82296" marR="64008" marT="32004" marB="32004" anchor="ctr">
                    <a:solidFill>
                      <a:srgbClr val="FFFFFF"/>
                    </a:solidFill>
                  </a:tcPr>
                </a:tc>
                <a:tc>
                  <a:txBody>
                    <a:bodyPr wrap="square"/>
                    <a:lstStyle/>
                    <a:p>
                      <a:pPr algn="l"/>
                      <a:r>
                        <a:rPr sz="1100" b="0">
                          <a:solidFill>
                            <a:srgbClr val="1C1C1E"/>
                          </a:solidFill>
                          <a:latin typeface="Calibri"/>
                        </a:rPr>
                        <a:t>Second line stops asking the modelling team for reconstructions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Q2</a:t>
                      </a:r>
                    </a:p>
                  </a:txBody>
                  <a:tcPr marL="82296" marR="64008" marT="32004" marB="32004" anchor="ctr">
                    <a:solidFill>
                      <a:srgbClr val="F6F3EF"/>
                    </a:solidFill>
                  </a:tcPr>
                </a:tc>
                <a:tc>
                  <a:txBody>
                    <a:bodyPr wrap="square"/>
                    <a:lstStyle/>
                    <a:p>
                      <a:pPr algn="l"/>
                      <a:r>
                        <a:rPr sz="1100" b="0">
                          <a:solidFill>
                            <a:srgbClr val="1C1C1E"/>
                          </a:solidFill>
                          <a:latin typeface="Calibri"/>
                        </a:rPr>
                        <a:t>Trading and treasury pricers; the AI capabilities that are already in use</a:t>
                      </a:r>
                    </a:p>
                  </a:txBody>
                  <a:tcPr marL="82296" marR="64008" marT="32004" marB="32004" anchor="ctr">
                    <a:solidFill>
                      <a:srgbClr val="F6F3EF"/>
                    </a:solidFill>
                  </a:tcPr>
                </a:tc>
                <a:tc>
                  <a:txBody>
                    <a:bodyPr wrap="square"/>
                    <a:lstStyle/>
                    <a:p>
                      <a:pPr algn="l"/>
                      <a:r>
                        <a:rPr sz="1100" b="0">
                          <a:solidFill>
                            <a:srgbClr val="1C1C1E"/>
                          </a:solidFill>
                          <a:latin typeface="Calibri"/>
                        </a:rPr>
                        <a:t>A supervisor's question about an AI-assisted document has an answer with a name on it</a:t>
                      </a:r>
                    </a:p>
                  </a:txBody>
                  <a:tcPr marL="82296" marR="64008" marT="32004" marB="32004" anchor="ctr">
                    <a:solidFill>
                      <a:srgbClr val="F6F3EF"/>
                    </a:solidFill>
                  </a:tcPr>
                </a:tc>
              </a:tr>
              <a:tr h="333781">
                <a:tc>
                  <a:txBody>
                    <a:bodyPr wrap="square"/>
                    <a:lstStyle/>
                    <a:p>
                      <a:pPr algn="l"/>
                      <a:r>
                        <a:rPr sz="1100" b="0">
                          <a:solidFill>
                            <a:srgbClr val="1C1C1E"/>
                          </a:solidFill>
                          <a:latin typeface="Calibri"/>
                        </a:rPr>
                        <a:t>Q3</a:t>
                      </a:r>
                    </a:p>
                  </a:txBody>
                  <a:tcPr marL="82296" marR="64008" marT="32004" marB="32004" anchor="ctr">
                    <a:solidFill>
                      <a:srgbClr val="FFFFFF"/>
                    </a:solidFill>
                  </a:tcPr>
                </a:tc>
                <a:tc>
                  <a:txBody>
                    <a:bodyPr wrap="square"/>
                    <a:lstStyle/>
                    <a:p>
                      <a:pPr algn="l"/>
                      <a:r>
                        <a:rPr sz="1100" b="0">
                          <a:solidFill>
                            <a:srgbClr val="1C1C1E"/>
                          </a:solidFill>
                          <a:latin typeface="Calibri"/>
                        </a:rPr>
                        <a:t>The remaining books; connectors to whichever ML platform dominates</a:t>
                      </a:r>
                    </a:p>
                  </a:txBody>
                  <a:tcPr marL="82296" marR="64008" marT="32004" marB="32004" anchor="ctr">
                    <a:solidFill>
                      <a:srgbClr val="FFFFFF"/>
                    </a:solidFill>
                  </a:tcPr>
                </a:tc>
                <a:tc>
                  <a:txBody>
                    <a:bodyPr wrap="square"/>
                    <a:lstStyle/>
                    <a:p>
                      <a:pPr algn="l"/>
                      <a:r>
                        <a:rPr sz="1100" b="0">
                          <a:solidFill>
                            <a:srgbClr val="1C1C1E"/>
                          </a:solidFill>
                          <a:latin typeface="Calibri"/>
                        </a:rPr>
                        <a:t>The spreadsheet is decommissioned, not shadowed</a:t>
                      </a:r>
                    </a:p>
                  </a:txBody>
                  <a:tcPr marL="82296" marR="64008" marT="32004" marB="32004" anchor="ctr">
                    <a:solidFill>
                      <a:srgbClr val="FFFFFF"/>
                    </a:solidFill>
                  </a:tcPr>
                </a:tc>
              </a:tr>
              <a:tr h="333781">
                <a:tc>
                  <a:txBody>
                    <a:bodyPr wrap="square"/>
                    <a:lstStyle/>
                    <a:p>
                      <a:pPr algn="l"/>
                      <a:r>
                        <a:rPr sz="1100" b="0">
                          <a:solidFill>
                            <a:srgbClr val="1C1C1E"/>
                          </a:solidFill>
                          <a:latin typeface="Calibri"/>
                        </a:rPr>
                        <a:t>Q4</a:t>
                      </a:r>
                    </a:p>
                  </a:txBody>
                  <a:tcPr marL="82296" marR="64008" marT="32004" marB="32004" anchor="ctr">
                    <a:solidFill>
                      <a:srgbClr val="F6F3EF"/>
                    </a:solidFill>
                  </a:tcPr>
                </a:tc>
                <a:tc>
                  <a:txBody>
                    <a:bodyPr wrap="square"/>
                    <a:lstStyle/>
                    <a:p>
                      <a:pPr algn="l"/>
                      <a:r>
                        <a:rPr sz="1100" b="0">
                          <a:solidFill>
                            <a:srgbClr val="1C1C1E"/>
                          </a:solidFill>
                          <a:latin typeface="Calibri"/>
                        </a:rPr>
                        <a:t>Asymmetric signatures; an examination rehearsal end to end</a:t>
                      </a:r>
                    </a:p>
                  </a:txBody>
                  <a:tcPr marL="82296" marR="64008" marT="32004" marB="32004" anchor="ctr">
                    <a:solidFill>
                      <a:srgbClr val="F6F3EF"/>
                    </a:solidFill>
                  </a:tcPr>
                </a:tc>
                <a:tc>
                  <a:txBody>
                    <a:bodyPr wrap="square"/>
                    <a:lstStyle/>
                    <a:p>
                      <a:pPr algn="l"/>
                      <a:r>
                        <a:rPr sz="1100" b="0">
                          <a:solidFill>
                            <a:srgbClr val="1C1C1E"/>
                          </a:solidFill>
                          <a:latin typeface="Calibri"/>
                        </a:rPr>
                        <a:t>A warrant can be verified by somebody who could not mint one</a:t>
                      </a:r>
                    </a:p>
                  </a:txBody>
                  <a:tcPr marL="82296" marR="64008" marT="32004" marB="32004" anchor="ctr">
                    <a:solidFill>
                      <a:srgbClr val="F6F3EF"/>
                    </a:solidFill>
                  </a:tcPr>
                </a:tc>
              </a:tr>
            </a:tbl>
          </a:graphicData>
        </a:graphic>
      </p:graphicFrame>
      <p:sp>
        <p:nvSpPr>
          <p:cNvPr id="11" name="TextBox 10"/>
          <p:cNvSpPr txBox="1"/>
          <p:nvPr/>
        </p:nvSpPr>
        <p:spPr>
          <a:xfrm>
            <a:off x="777240" y="3502304"/>
            <a:ext cx="10637215"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“Done” is not a percentage of models registered. </a:t>
            </a:r>
            <a:r>
              <a:rPr sz="1300" b="0" i="0">
                <a:solidFill>
                  <a:srgbClr val="1C1C1E"/>
                </a:solidFill>
                <a:latin typeface="Calibri"/>
              </a:rPr>
              <a:t>It is the day a question from second line, or from a supervisor, is answered from the register in an afternoon rather than assembled over three weeks — and the answer is one nobody has to take on trust, because every claim in it can be checked against the evidence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policy decision that makes the rest 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Rectangle 9"/>
          <p:cNvSpPr/>
          <p:nvPr/>
        </p:nvSpPr>
        <p:spPr>
          <a:xfrm>
            <a:off x="777240" y="1627632"/>
            <a:ext cx="10637215"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62763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856232"/>
            <a:ext cx="9997135" cy="1005840"/>
          </a:xfrm>
          <a:prstGeom prst="rect">
            <a:avLst/>
          </a:prstGeom>
          <a:noFill/>
        </p:spPr>
        <p:txBody>
          <a:bodyPr wrap="square" lIns="0" rIns="0" tIns="0" bIns="0" anchor="t">
            <a:spAutoFit/>
          </a:bodyPr>
          <a:lstStyle/>
          <a:p>
            <a:pPr algn="l">
              <a:lnSpc>
                <a:spcPct val="126000"/>
              </a:lnSpc>
              <a:spcBef>
                <a:spcPts val="0"/>
              </a:spcBef>
              <a:spcAft>
                <a:spcPts val="0"/>
              </a:spcAft>
            </a:pPr>
            <a:r>
              <a:rPr sz="2100" b="0" i="0">
                <a:solidFill>
                  <a:srgbClr val="1C1C1E"/>
                </a:solidFill>
                <a:latin typeface="Georgia"/>
              </a:rPr>
              <a:t>A model that is not in the register is not a model the bank runs.</a:t>
            </a:r>
          </a:p>
        </p:txBody>
      </p:sp>
      <p:sp>
        <p:nvSpPr>
          <p:cNvPr id="13" name="TextBox 12"/>
          <p:cNvSpPr txBox="1"/>
          <p:nvPr/>
        </p:nvSpPr>
        <p:spPr>
          <a:xfrm>
            <a:off x="777240" y="331927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50" b="1" i="0">
                <a:solidFill>
                  <a:srgbClr val="A51C30"/>
                </a:solidFill>
                <a:latin typeface="Calibri"/>
              </a:rPr>
              <a:t>Everything else in this deck is machinery. This is the decision. </a:t>
            </a:r>
            <a:r>
              <a:rPr sz="1350" b="0" i="0">
                <a:solidFill>
                  <a:srgbClr val="1C1C1E"/>
                </a:solidFill>
                <a:latin typeface="Calibri"/>
              </a:rPr>
              <a:t>Without it the register is a second place to write things down, and it will be maintained for eighteen months and then quietly not. With it, registration stops being administrative overhead and becomes the thing that makes a model usable — which is the only arrangement under which an inventory stays current.
</a:t>
            </a:r>
          </a:p>
          <a:p>
            <a:pPr>
              <a:lnSpc>
                <a:spcPct val="130000"/>
              </a:lnSpc>
              <a:spcBef>
                <a:spcPts val="0"/>
              </a:spcBef>
              <a:spcAft>
                <a:spcPts val="0"/>
              </a:spcAft>
            </a:pPr>
            <a:r>
              <a:rPr sz="1350" b="0" i="0">
                <a:solidFill>
                  <a:srgbClr val="1C1C1E"/>
                </a:solidFill>
                <a:latin typeface="Calibri"/>
              </a:rPr>
              <a:t>It is also the sentence a supervisor wants to hear, </a:t>
            </a:r>
            <a:r>
              <a:rPr sz="1350" b="1" i="0">
                <a:solidFill>
                  <a:srgbClr val="A51C30"/>
                </a:solidFill>
                <a:latin typeface="Calibri"/>
              </a:rPr>
              <a:t>because it is the only version of “we have an inventory” that is falsifiable.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188720"/>
            <a:ext cx="8722516" cy="1097280"/>
          </a:xfrm>
          <a:prstGeom prst="rect">
            <a:avLst/>
          </a:prstGeom>
          <a:noFill/>
        </p:spPr>
        <p:txBody>
          <a:bodyPr wrap="square" lIns="0" rIns="0" tIns="0" bIns="0" anchor="t">
            <a:spAutoFit/>
          </a:bodyPr>
          <a:lstStyle/>
          <a:p>
            <a:pPr algn="l">
              <a:lnSpc>
                <a:spcPct val="122000"/>
              </a:lnSpc>
              <a:spcBef>
                <a:spcPts val="0"/>
              </a:spcBef>
              <a:spcAft>
                <a:spcPts val="600"/>
              </a:spcAft>
            </a:pPr>
            <a:r>
              <a:rPr sz="3000" b="0" i="1">
                <a:solidFill>
                  <a:srgbClr val="FFFFFF"/>
                </a:solidFill>
                <a:latin typeface="Georgia"/>
              </a:rPr>
              <a:t>A model is a representation of the world.</a:t>
            </a:r>
          </a:p>
          <a:p>
            <a:pPr>
              <a:lnSpc>
                <a:spcPct val="122000"/>
              </a:lnSpc>
              <a:spcBef>
                <a:spcPts val="0"/>
              </a:spcBef>
              <a:spcAft>
                <a:spcPts val="0"/>
              </a:spcAft>
            </a:pPr>
            <a:r>
              <a:rPr sz="3000" b="0" i="1">
                <a:solidFill>
                  <a:srgbClr val="F4DFE3"/>
                </a:solidFill>
                <a:latin typeface="Georgia"/>
              </a:rPr>
              <a:t>Governance is knowing the difference.</a:t>
            </a:r>
          </a:p>
        </p:txBody>
      </p:sp>
      <p:sp>
        <p:nvSpPr>
          <p:cNvPr id="5" name="Rectangle 4"/>
          <p:cNvSpPr/>
          <p:nvPr/>
        </p:nvSpPr>
        <p:spPr>
          <a:xfrm>
            <a:off x="1143000" y="30632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3383280"/>
            <a:ext cx="5531351"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WHAT IS BEING ASKED</a:t>
            </a:r>
          </a:p>
          <a:p>
            <a:pPr>
              <a:lnSpc>
                <a:spcPct val="122000"/>
              </a:lnSpc>
              <a:spcBef>
                <a:spcPts val="0"/>
              </a:spcBef>
              <a:spcAft>
                <a:spcPts val="800"/>
              </a:spcAft>
            </a:pPr>
            <a:r>
              <a:rPr sz="1400" b="0" i="0">
                <a:solidFill>
                  <a:srgbClr val="FFFFFF"/>
                </a:solidFill>
                <a:latin typeface="Calibri"/>
              </a:rPr>
              <a:t>Adopt MAYA as the register of record</a:t>
            </a:r>
          </a:p>
          <a:p>
            <a:pPr>
              <a:lnSpc>
                <a:spcPct val="122000"/>
              </a:lnSpc>
              <a:spcBef>
                <a:spcPts val="0"/>
              </a:spcBef>
              <a:spcAft>
                <a:spcPts val="800"/>
              </a:spcAft>
            </a:pPr>
            <a:r>
              <a:rPr sz="1400" b="0" i="0">
                <a:solidFill>
                  <a:srgbClr val="FFFFFF"/>
                </a:solidFill>
                <a:latin typeface="Calibri"/>
              </a:rPr>
              <a:t>Fund twelve months: three FTE</a:t>
            </a:r>
          </a:p>
          <a:p>
            <a:pPr>
              <a:lnSpc>
                <a:spcPct val="122000"/>
              </a:lnSpc>
              <a:spcBef>
                <a:spcPts val="0"/>
              </a:spcBef>
              <a:spcAft>
                <a:spcPts val="800"/>
              </a:spcAft>
            </a:pPr>
            <a:r>
              <a:rPr sz="1400" b="0" i="0">
                <a:solidFill>
                  <a:srgbClr val="FFFFFF"/>
                </a:solidFill>
                <a:latin typeface="Calibri"/>
              </a:rPr>
              <a:t>Agree the policy line on the previous slide</a:t>
            </a:r>
          </a:p>
        </p:txBody>
      </p:sp>
      <p:sp>
        <p:nvSpPr>
          <p:cNvPr id="7" name="TextBox 6"/>
          <p:cNvSpPr txBox="1"/>
          <p:nvPr/>
        </p:nvSpPr>
        <p:spPr>
          <a:xfrm>
            <a:off x="6946824" y="3383280"/>
            <a:ext cx="4467630"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WHERE TO LOOK NEXT</a:t>
            </a:r>
          </a:p>
          <a:p>
            <a:pPr>
              <a:lnSpc>
                <a:spcPct val="122000"/>
              </a:lnSpc>
              <a:spcBef>
                <a:spcPts val="0"/>
              </a:spcBef>
              <a:spcAft>
                <a:spcPts val="800"/>
              </a:spcAft>
            </a:pPr>
            <a:r>
              <a:rPr sz="1200" b="0" i="0">
                <a:solidFill>
                  <a:srgbClr val="F6E6E9"/>
                </a:solidFill>
                <a:latin typeface="Calibri"/>
              </a:rPr>
              <a:t>The design deck — 124 slides, chapter 26 is the case studies</a:t>
            </a:r>
          </a:p>
          <a:p>
            <a:pPr>
              <a:lnSpc>
                <a:spcPct val="122000"/>
              </a:lnSpc>
              <a:spcBef>
                <a:spcPts val="0"/>
              </a:spcBef>
              <a:spcAft>
                <a:spcPts val="800"/>
              </a:spcAft>
            </a:pPr>
            <a:r>
              <a:rPr sz="1200" b="0" i="0">
                <a:solidFill>
                  <a:srgbClr val="F6E6E9"/>
                </a:solidFill>
                <a:latin typeface="Calibri"/>
              </a:rPr>
              <a:t>case_studies/ — twelve models, runnable in a minute each</a:t>
            </a:r>
          </a:p>
          <a:p>
            <a:pPr>
              <a:lnSpc>
                <a:spcPct val="122000"/>
              </a:lnSpc>
              <a:spcBef>
                <a:spcPts val="0"/>
              </a:spcBef>
              <a:spcAft>
                <a:spcPts val="800"/>
              </a:spcAft>
            </a:pPr>
            <a:r>
              <a:rPr sz="1200" b="0" i="0">
                <a:solidFill>
                  <a:srgbClr val="F6E6E9"/>
                </a:solidFill>
                <a:latin typeface="Calibri"/>
              </a:rPr>
              <a:t>docs/11 — the adversarial review, written against this platform</a:t>
            </a:r>
          </a:p>
        </p:txBody>
      </p:sp>
      <p:sp>
        <p:nvSpPr>
          <p:cNvPr id="8" name="Rectangle 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0" name="TextBox 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