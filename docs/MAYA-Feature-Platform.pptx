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77639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77639"/>
            <a:ext cx="12191695" cy="54864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3977639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84124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8C0"/>
                </a:solidFill>
                <a:latin typeface="Calibri"/>
              </a:rPr>
              <a:t>FEATURES  ·  FEATURESETS  ·  COMPOSITION  ·  VERSIONING  · 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98448"/>
            <a:ext cx="9360749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Not what the value is —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what was knowable when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944368"/>
            <a:ext cx="155448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87225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4DFE3"/>
                </a:solidFill>
                <a:latin typeface="Calibri"/>
              </a:rPr>
              <a:t>The MAYA feature platform, in twenty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70832"/>
            <a:ext cx="58504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C1C1E"/>
                </a:solidFill>
                <a:latin typeface="Georgia"/>
              </a:rPr>
              <a:t>Ashutosh Sinha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A51C30"/>
                </a:solidFill>
                <a:latin typeface="Calibri"/>
              </a:rPr>
              <a:t>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4080" y="4389120"/>
            <a:ext cx="468037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A51C30"/>
                </a:solidFill>
                <a:latin typeface="Calibri"/>
              </a:rPr>
              <a:t>CONTENTS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1  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The feature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2  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The two clocks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3  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Composition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4  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Versioning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5  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Retrieval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1 · THE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896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What a feature store answers, and what a register must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1848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5163159" cy="23317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64792"/>
            <a:ext cx="51631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1984248"/>
            <a:ext cx="47242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A FEATURE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2258568"/>
            <a:ext cx="4724247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What is the value?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2569463"/>
            <a:ext cx="4724247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Serve the current value fast, and keep a history so a training job can look backwards. Correct, useful, and solves the engineering problem.
It answers a question about the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1295" y="1764792"/>
            <a:ext cx="5163159" cy="23317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1295" y="1764792"/>
            <a:ext cx="51631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0751" y="1984248"/>
            <a:ext cx="47242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A 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751" y="2258568"/>
            <a:ext cx="4724247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What was knowable, when?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751" y="2569463"/>
            <a:ext cx="4724247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What was the value as far as anybody KNEW on the day that decision was taken — and prove it is the same answer given last year, after three restatements have landed.
It answers a question about the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25112"/>
            <a:ext cx="1063721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Those are different questions, and the second is strictly harder. 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A history of values tells you what a row says now about the past. It does not tell you what the row SAID in the past — because the row has since been corrected, and the correction overwrote the thing a model was actually fitted on.
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C1E"/>
                </a:solidFill>
                <a:latin typeface="Calibri"/>
              </a:rPr>
              <a:t>Everything on the next eighteen slides falls out of that difference.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1 · THE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A feature is an object, not a column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353312"/>
          <a:ext cx="10637214" cy="25651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05835"/>
                <a:gridCol w="7031379"/>
              </a:tblGrid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carries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is on the FEATURE rather than the consumer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2125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name, scoped to an ENTITY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`asset_vol` means one thing for an obligor and another for a pool. The entity is part of the identity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2125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dtype and SHAPE — scalar, [12], [3,3]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twelve-month balance vector and a 3×3 correlation matrix are features, not twelve and nine columns somebody has to reassemble correctly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owner, business definition, source system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“Who do I ask what this means” has a name in it, and the answer does not depend on who you ask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sensitivity, PII, protected basis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The fairness and privacy questions are answerable by query rather than by an interview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2125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RETRIEVAL POLICY — fill, normalisation, alignment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fill strategy chosen at read time is a different number in every consumer. Travelling with the feature makes it one number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417446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51C30"/>
                </a:solidFill>
                <a:latin typeface="Calibri"/>
              </a:rPr>
              <a:t>The retrieval policy is the one people are surprised by. </a:t>
            </a:r>
            <a:r>
              <a:rPr sz="1250" b="0" i="0">
                <a:solidFill>
                  <a:srgbClr val="1C1C1E"/>
                </a:solidFill>
                <a:latin typeface="Calibri"/>
              </a:rPr>
              <a:t>Two teams reading the same feature and filling missing values differently are reading two different features, and nothing in a column-shaped world can tell them 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2 · THE TWO CLOCKS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896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Two clocks on every row — and a row missing either is refused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1848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51C30"/>
                </a:solidFill>
                <a:latin typeface="Calibri"/>
              </a:rPr>
              <a:t>event_ts</a:t>
            </a:r>
            <a:r>
              <a:rPr sz="1500" b="0" i="0">
                <a:solidFill>
                  <a:srgbClr val="1C1C1E"/>
                </a:solidFill>
                <a:latin typeface="Calibri"/>
              </a:rPr>
              <a:t> — when the fact was TRUE in the world.        </a:t>
            </a:r>
            <a:r>
              <a:rPr sz="1500" b="1" i="0">
                <a:solidFill>
                  <a:srgbClr val="A51C30"/>
                </a:solidFill>
                <a:latin typeface="Calibri"/>
              </a:rPr>
              <a:t>ingest_ts</a:t>
            </a:r>
            <a:r>
              <a:rPr sz="1500" b="0" i="0">
                <a:solidFill>
                  <a:srgbClr val="1C1C1E"/>
                </a:solidFill>
                <a:latin typeface="Calibri"/>
              </a:rPr>
              <a:t> — when the recording system LEARNED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42032"/>
            <a:ext cx="10637215" cy="1746275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542032"/>
            <a:ext cx="41148" cy="174627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633472"/>
            <a:ext cx="102714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51C30"/>
                </a:solidFill>
                <a:latin typeface="Calibri"/>
              </a:rPr>
              <a:t>THREE ROWS, AND THE THIRD IS THE WHOLE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935223"/>
            <a:ext cx="10271455" cy="1270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{"entity_id": "C1", "event_ts": 100.0, "ingest_ts": 110.0, "dscr": 1.20}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{"entity_id": "C2", "event_ts": 100.0, "ingest_ts": 110.0, "dscr": 2.10}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 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7F87"/>
                </a:solidFill>
                <a:latin typeface="Consolas"/>
              </a:rPr>
              <a:t># THE RESTATEMENT — same entity, same event time, later ingest, worse number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{"entity_id": "C1", "event_ts": 100.0, "ingest_ts": 900.0, "dscr": 0.40}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9475"/>
            <a:ext cx="1063721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51C30"/>
                </a:solidFill>
                <a:latin typeface="Calibri"/>
              </a:rPr>
              <a:t>A set built before ingest 900 must still see 1.20; one built after must see 0.40. </a:t>
            </a:r>
            <a:r>
              <a:rPr sz="1250" b="0" i="0">
                <a:solidFill>
                  <a:srgbClr val="1C1C1E"/>
                </a:solidFill>
                <a:latin typeface="Calibri"/>
              </a:rPr>
              <a:t>Both are correct, and one clock can only give whichever number is there now. A row missing either is refused at the UPLOAD, because two layers later it has stopped being fixable.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2 · THE TWO CLOCKS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One operator, and the minimum is the guarantee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6169584" cy="1907095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41148" cy="190709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444752"/>
            <a:ext cx="58038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51C30"/>
                </a:solidFill>
                <a:latin typeface="Calibri"/>
              </a:rPr>
              <a:t>THE POINT-IN-TIME 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746504"/>
            <a:ext cx="5803824" cy="1431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onsolas"/>
              </a:rPr>
              <a:t>knowable_by = min(label_ts, as_of)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onsolas"/>
              </a:rPr>
              <a:t> 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onsolas"/>
              </a:rPr>
              <a:t>admissible = [ r for r in records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onsolas"/>
              </a:rPr>
              <a:t>               if r.event  &lt;= label_ts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onsolas"/>
              </a:rPr>
              <a:t>              and r.ingest &lt;= knowable_by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2313" y="1353312"/>
            <a:ext cx="4042141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Why the MINIMUM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C1C1E"/>
                </a:solidFill>
                <a:latin typeface="Calibri"/>
              </a:rPr>
              <a:t>Bounding ingest by min(label, as_of) makes every observation time at or after the label date give the same answer.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C1C1E"/>
                </a:solidFill>
                <a:latin typeface="Calibri"/>
              </a:rPr>
              <a:t>The row assembled the day a label matured, and the same row re-assembled a year later, are identical — however many restatements arrived in between.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F57"/>
                </a:solidFill>
                <a:latin typeface="Calibri"/>
              </a:rPr>
              <a:t>Bound by as_of alone and the set changes every time you rebuild it. Bound by label alone and it leaks.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98151"/>
            <a:ext cx="61695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1C30"/>
                </a:solidFill>
                <a:latin typeface="Calibri"/>
              </a:rPr>
              <a:t>Ties are broken by CONTENT. </a:t>
            </a:r>
            <a:r>
              <a:rPr sz="1200" b="0" i="0">
                <a:solidFill>
                  <a:srgbClr val="1C1C1E"/>
                </a:solidFill>
                <a:latin typeface="Calibri"/>
              </a:rPr>
              <a:t>Two facts can share both clocks, and then the order must still be deterministic — so the tie-break is a total order over the row's own values, not insertion order and not a surrogate id. Either of those lets two implementations disagree while both look correct.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3 · VERSIONING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Where values live: one upload is one view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1C1E"/>
                </a:solidFill>
                <a:latin typeface="Calibri"/>
              </a:rPr>
              <a:t>A feature is a definition. A </a:t>
            </a:r>
            <a:r>
              <a:rPr sz="1350" b="1" i="0">
                <a:solidFill>
                  <a:srgbClr val="A51C30"/>
                </a:solidFill>
                <a:latin typeface="Calibri"/>
              </a:rPr>
              <a:t>view</a:t>
            </a:r>
            <a:r>
              <a:rPr sz="1350" b="0" i="0">
                <a:solidFill>
                  <a:srgbClr val="1C1C1E"/>
                </a:solidFill>
                <a:latin typeface="Calibri"/>
              </a:rPr>
              <a:t> is where its values live, and a </a:t>
            </a:r>
            <a:r>
              <a:rPr sz="1350" b="1" i="0">
                <a:solidFill>
                  <a:srgbClr val="A51C30"/>
                </a:solidFill>
                <a:latin typeface="Calibri"/>
              </a:rPr>
              <a:t>view version</a:t>
            </a:r>
            <a:r>
              <a:rPr sz="1350" b="0" i="0">
                <a:solidFill>
                  <a:srgbClr val="1C1C1E"/>
                </a:solidFill>
                <a:latin typeface="Calibri"/>
              </a:rPr>
              <a:t> is one materialisation of them — its own namespace, its own bytes.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21991"/>
            <a:ext cx="10637215" cy="1081552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221991"/>
            <a:ext cx="41148" cy="1081552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313432"/>
            <a:ext cx="102714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51C30"/>
                </a:solidFill>
                <a:latin typeface="Calibri"/>
              </a:rPr>
              <a:t>A VERSION IS A NAMESPACE, NOT A 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615183"/>
            <a:ext cx="10271455" cy="606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C1E"/>
                </a:solidFill>
                <a:latin typeface="Consolas"/>
              </a:rPr>
              <a:t>features/{entity}/{view}/v7      &lt;- v7 is its own namespace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C1E"/>
                </a:solidFill>
                <a:latin typeface="Consolas"/>
              </a:rPr>
              <a:t>features/{entity}/{view}/v8      &lt;- writing v8 CANNOT touch what v7 serves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300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Half a version is not something anybody can pin, 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so one upload becomes one version — atomic, and either wholly there or not there.
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The failure this prevents, five times over: 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a stable NAME whose contents moved. A featureset that bound a view by path was reproducible until somebody wrote to that view again — and nothing announced it, because the path was still valid and the read still worked.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4 ·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Derived features: Z = f(X, Y), with the lineage kept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5956840" cy="1510405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41148" cy="151040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444752"/>
            <a:ext cx="5591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51C30"/>
                </a:solidFill>
                <a:latin typeface="Calibri"/>
              </a:rPr>
              <a:t>ONE DEFINITION, IN THE CATALOGUE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746504"/>
            <a:ext cx="5591080" cy="1034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maya.features.derive(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    name="cltv", dtype="numeric",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    expression="(first_lien + line) / property_value",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    description="combined loan to value")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569" y="1353312"/>
            <a:ext cx="4254886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Two things happen without asking.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C1C1E"/>
                </a:solidFill>
                <a:latin typeface="Calibri"/>
              </a:rPr>
              <a:t>Its ingest clock is the MAXIMUM over its inputs — which is arithmetic, and therefore cannot be forgotten by whoever writes the pipeline.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C1E"/>
                </a:solidFill>
                <a:latin typeface="Calibri"/>
              </a:rPr>
              <a:t>Its lineage is walked whenever it is used, so a feature derived from the label is refused with the derivation chain named rather than with a bare 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01461"/>
            <a:ext cx="5956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1C30"/>
                </a:solidFill>
                <a:latin typeface="Calibri"/>
              </a:rPr>
              <a:t>Why this matters more than it looks. </a:t>
            </a:r>
            <a:r>
              <a:rPr sz="1200" b="0" i="0">
                <a:solidFill>
                  <a:srgbClr val="1C1C1E"/>
                </a:solidFill>
                <a:latin typeface="Calibri"/>
              </a:rPr>
              <a:t>A CLTV computed one way in origination and another way in monitoring is the ordinary way a policy limit turns out not to have been applied — and both systems pass their own tests. One definition, in the catalogue, is the only fix that scales.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4 ·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A featureset is the input object X, made an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99032"/>
            <a:ext cx="342381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99032"/>
            <a:ext cx="3423818" cy="4572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545336"/>
            <a:ext cx="313121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51C30"/>
                </a:solidFill>
                <a:latin typeface="Georgia"/>
              </a:rPr>
              <a:t>SCHEMA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C1C1E"/>
                </a:solidFill>
                <a:latin typeface="Calibri"/>
              </a:rPr>
              <a:t>typed slots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4A4F57"/>
                </a:solidFill>
                <a:latin typeface="Calibri"/>
              </a:rPr>
              <a:t>A featureset DECLARES named slots with types. By the schema order, that is exactly what a model kernel is defined 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3938" y="1399032"/>
            <a:ext cx="342381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3938" y="1399032"/>
            <a:ext cx="3423818" cy="4572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0242" y="1545336"/>
            <a:ext cx="313121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51C30"/>
                </a:solidFill>
                <a:latin typeface="Georgia"/>
              </a:rPr>
              <a:t>VERSION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C1C1E"/>
                </a:solidFill>
                <a:latin typeface="Calibri"/>
              </a:rPr>
              <a:t>the schema filled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4A4F57"/>
                </a:solidFill>
                <a:latin typeface="Calibri"/>
              </a:rPr>
              <a:t>Each slot bound to a feature, a VIEW, and that view's VERSION. Not a path — a path is mutable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0636" y="1399032"/>
            <a:ext cx="342381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0636" y="1399032"/>
            <a:ext cx="3423818" cy="4572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6940" y="1545336"/>
            <a:ext cx="313121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51C30"/>
                </a:solidFill>
                <a:latin typeface="Georgia"/>
              </a:rPr>
              <a:t>PIN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C1C1E"/>
                </a:solidFill>
                <a:latin typeface="Calibri"/>
              </a:rPr>
              <a:t>same version, same bytes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4A4F57"/>
                </a:solidFill>
                <a:latin typeface="Calibri"/>
              </a:rPr>
              <a:t>One featureset version resolves to the same rows on every read, permanently. That is the property everything else rests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73552"/>
            <a:ext cx="1063721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The separation does three things. 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Swapping which feature fills a slot does not change the model's input space — it changes what the model was fitted on, which is a different event with a different control. A version that cannot fill the schema is refused, because adding a slot is a change to X and therefore a MODEL change rather than a data change. And because every binding pins a version, a stable identifier over moving contents — the failure this whole design exists to prevent — becomes impossible rather than unlikely.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4 ·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Inheritance and composition: a left-to-right fold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10637215" cy="2218014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41148" cy="2218014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444752"/>
            <a:ext cx="102714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51C30"/>
                </a:solidFill>
                <a:latin typeface="Calibri"/>
              </a:rPr>
              <a:t>COMPOSED, NOT REWRITTEN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746504"/>
            <a:ext cx="10271455" cy="1742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maya.featuresets.define(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    name="ecl_inputs", entity="obligor", slots={},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    composes=["merton_inputs"],                       # the parent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    operations=[{"op": "add", "name": "pd_horizon", "value": "numeric"},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                {"op": "add", "name": "lgd",        "value": "numeric"}])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C1E"/>
                </a:solidFill>
                <a:latin typeface="Consolas"/>
              </a:rPr>
              <a:t> 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7F87"/>
                </a:solidFill>
                <a:latin typeface="Consolas"/>
              </a:rPr>
              <a:t># resolves to 9 slots — five inherited and never typed out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0907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Parents fold left to right, and the RIGHTMOST WINS. 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A set's own operations apply last, and are therefore the most prominent thing about it — which is right, because they are what this set says that its parents did not.
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C1E"/>
                </a:solidFill>
                <a:latin typeface="Calibri"/>
              </a:rPr>
              <a:t>Change the parent and the child changes with it, </a:t>
            </a:r>
            <a:r>
              <a:rPr sz="1300" b="1" i="0">
                <a:solidFill>
                  <a:srgbClr val="A51C30"/>
                </a:solidFill>
                <a:latin typeface="Calibri"/>
              </a:rPr>
              <a:t>by construction rather than by somebody remembering. That is the difference between reuse and copying, and it is the whole reason to compose rather than restate.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4 ·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Every operation is total — a no-op is refused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353312"/>
          <a:ext cx="10637214" cy="17526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42334"/>
                <a:gridCol w="3245252"/>
                <a:gridCol w="5949628"/>
              </a:tblGrid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Refused when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Because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3830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add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 parent already has that slot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“say 'override' if replacing it is what is meant; the two read differently to a reviewer and should”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override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no parent has it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“say 'add' if introducing it is what is meant”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3830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none of the parents has 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“a drop that quietly does nothing leaves a child differing from what its author believed they wrote”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3398608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An operation that silently did nothing is one somebody believes happened. 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That is the entire argument, and it is the same argument as “no step may report success while doing nothing” applied to schema composition.
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Two more guards. 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A set that composes itself through a cycle is refused with the cycle drawn; and the composition depth is bounded, because a featureset nobody can hold in their head is one nobody reviews.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4 ·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896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The schema order — what makes substitutability computable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1848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C1E"/>
                </a:solidFill>
                <a:latin typeface="Calibri"/>
              </a:rPr>
              <a:t>Field u ACCEPTS field v when they share a dtype, u is nullable if v is, and u's bounds are no narrower. </a:t>
            </a:r>
            <a:r>
              <a:rPr sz="1300" b="1" i="0">
                <a:solidFill>
                  <a:srgbClr val="A51C30"/>
                </a:solidFill>
                <a:latin typeface="Calibri"/>
              </a:rPr>
              <a:t>Lift that to schemas and you have a partial order — and with it, a lattice.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679191"/>
          <a:ext cx="10637214" cy="185638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71896"/>
                <a:gridCol w="3876273"/>
                <a:gridCol w="5589045"/>
              </a:tblGrid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Reads as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answers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2125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⊒ B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refines B — anywhere B is expected, A will do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Is this featureset version a safe REPLACEMENT for that one? (L-7, at promotion)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⊓ B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meet — the union of fields, each widened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What is the weakest schema BOTH of these satisfy?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⊔ B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join — the intersection, each narrowed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What can a consumer rely on if it might receive either?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no meet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shared field with two dtypes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These two cannot be reconciled, and the refusal names the field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4773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51C30"/>
                </a:solidFill>
                <a:latin typeface="Calibri"/>
              </a:rPr>
              <a:t>One relation, four questions. </a:t>
            </a:r>
            <a:r>
              <a:rPr sz="1250" b="0" i="0">
                <a:solidFill>
                  <a:srgbClr val="1C1C1E"/>
                </a:solidFill>
                <a:latin typeface="Calibri"/>
              </a:rPr>
              <a:t>Substitutability, admissibility, refinement and contract compatibility are the same computation — and answering them with four separate implementations is four opportunities to disagree, in the direction of permitting more.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5 · VERSIONING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Restatement is REPORTED, never silently absorbed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51C30"/>
                </a:solidFill>
                <a:latin typeface="Calibri"/>
              </a:rPr>
              <a:t>A pin says what a read returns. It does not say the world stood still. </a:t>
            </a:r>
            <a:r>
              <a:rPr sz="1350" b="0" i="0">
                <a:solidFill>
                  <a:srgbClr val="1C1C1E"/>
                </a:solidFill>
                <a:latin typeface="Calibri"/>
              </a:rPr>
              <a:t>Those are two different questions and MAYA answers them separately.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13432"/>
            <a:ext cx="5163159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313432"/>
            <a:ext cx="51631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5" y="2532888"/>
            <a:ext cx="47242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THE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2807208"/>
            <a:ext cx="4724247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pinned, and unchanged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" y="3118104"/>
            <a:ext cx="4724247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A read at featureset version 3 returns exactly what version 3 is. New data written underneath does not change it, cannot change it, and does not need to be excluded by anybody remembering to exclude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1295" y="2313432"/>
            <a:ext cx="5163159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295" y="2313432"/>
            <a:ext cx="51631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0751" y="2532888"/>
            <a:ext cx="47242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THE QUESTION BESIDE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751" y="2807208"/>
            <a:ext cx="4724247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restated() — has the ground moved?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751" y="3118104"/>
            <a:ext cx="4724247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Answerable per view and per featureset slot: HAS anything under this pin been written to since? A validator comparing two runs asks this before comparing anything, and a replay reports it separately from whether the test still passes.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99431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51C30"/>
                </a:solidFill>
                <a:latin typeface="Calibri"/>
              </a:rPr>
              <a:t>The distinction matters most when it is inconvenient. </a:t>
            </a:r>
            <a:r>
              <a:rPr sz="1250" b="0" i="0">
                <a:solidFill>
                  <a:srgbClr val="1C1C1E"/>
                </a:solidFill>
                <a:latin typeface="Calibri"/>
              </a:rPr>
              <a:t>A replay that silently followed a restatement would report that a validation reproduces when it does not — a finding about the data presented as a finding about the 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5 · VERSIONING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A training set is a snapshot, not a 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10637215" cy="1553291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41148" cy="1553291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444752"/>
            <a:ext cx="102714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51C30"/>
                </a:solidFill>
                <a:latin typeface="Calibri"/>
              </a:rPr>
              <a:t>YOU SUPPLY THE SPINE AND THE AS-OF; THE SET SUPPLIES THE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746504"/>
            <a:ext cx="10271455" cy="1077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1C1E"/>
                </a:solidFill>
                <a:latin typeface="Consolas"/>
              </a:rPr>
              <a:t>snapshot = maya.featuresets.training_set(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1C1E"/>
                </a:solidFill>
                <a:latin typeface="Consolas"/>
              </a:rPr>
              <a:t>    "cpr_inputs", version=1,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1C1E"/>
                </a:solidFill>
                <a:latin typeface="Consolas"/>
              </a:rPr>
              <a:t>    spine=[{"entity_id": "POOL-001", "label_ts": 1767225600.0}, ...],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1C1E"/>
                </a:solidFill>
                <a:latin typeface="Consolas"/>
              </a:rPr>
              <a:t>    as_of=1767225600.0)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44347"/>
            <a:ext cx="106372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What comes back is an immutable, digested, named object 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with its point-in-time report attached and the exact table versions it read recorded on it. A fit warrant pins the snapshot, so the engine recomputes nothing and the validator re-reads exactly what the fit saw.
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Verified in three layers, and each proves something different: 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a static check that the assembly is bounded in BOTH clocks; a sampled independent recomputation that does not reuse the assembly path; and a purity screen for features that could only have been known after the label. A set that fails is refused, not flagged — and a fit on a snapshot the verifier rejected is refused too.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6 ·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Retrieval via the SDK: define, load, compose, fill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10637215" cy="4169298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41148" cy="4169298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444752"/>
            <a:ext cx="102714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51C30"/>
                </a:solidFill>
                <a:latin typeface="Calibri"/>
              </a:rPr>
              <a:t>THE WRITE PATH — STANDARD LIBRARY ONLY, NO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746504"/>
            <a:ext cx="10271455" cy="369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from maya_sdk import Maya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 = Maya("https://maya.internal", "a.mehta", "…")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 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maya.features.define(name="dscr", entity="borrower", dtype="numeric",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                     description="debt service coverage",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                     owner="person/a.mehta", shape=None)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maya.features.derive(name="cltv", expression="(a + b) / v")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 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maya.features.create_view(name="borrower_facts", entity="borrower",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                          owner="person/a.mehta", features=["dscr", "ltv"])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maya.views.materialise("borrower_facts", rows=rows)   # one upload = one version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 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maya.featuresets.define(name="pd_inputs", entity="borrower",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                        slots={"coverage": "numeric"},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                        label_slot="defaulted", outcome_window_days=365)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maya.featuresets.fill("pd_inputs", bindings={"coverage": "dscr"})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4243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The SDK is deliberately dependency-free. </a:t>
            </a:r>
            <a:r>
              <a:rPr sz="1150" b="0" i="0">
                <a:solidFill>
                  <a:srgbClr val="1C1C1E"/>
                </a:solidFill>
                <a:latin typeface="Calibri"/>
              </a:rPr>
              <a:t>A governance client with a dependency tree moves the deployment problem into somebody else's build pipeline rather than solving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6 ·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Retrieval via the SDK: reading, at a pin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10637215" cy="3043557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41148" cy="3043557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444752"/>
            <a:ext cx="102714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51C30"/>
                </a:solidFill>
                <a:latin typeface="Calibri"/>
              </a:rPr>
              <a:t>THE READ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746504"/>
            <a:ext cx="10271455" cy="2568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maya.featuresets.resolved("ecl_inputs")        # slots, parents folded in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maya.featuresets.get("ecl_inputs")             # the versions and their pins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maya.features.lineage("cltv")                  # what it rests on, and what rests on it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 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maya.views.as_of("borrower_facts", version=3,  # the PIT read, explained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                 label_ts=…, as_of=…)          # row by row. Writes nothing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 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maya.featuresets.data("pd_inputs", version=1,  # bulk, to a file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                      into="train.parquet", format="parquet")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E"/>
                </a:solidFill>
                <a:latin typeface="Consolas"/>
              </a:rPr>
              <a:t>maya.featuresets.parts("pd_inputs", version=1) # each namespace AND its pin,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7F87"/>
                </a:solidFill>
                <a:latin typeface="Consolas"/>
              </a:rPr>
              <a:t>                                               # so an engine can pull in parallel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593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51C30"/>
                </a:solidFill>
                <a:latin typeface="Calibri"/>
              </a:rPr>
              <a:t>Every read uses the PINNED version, never the head. </a:t>
            </a:r>
            <a:r>
              <a:rPr sz="1250" b="0" i="0">
                <a:solidFill>
                  <a:srgbClr val="1C1C1E"/>
                </a:solidFill>
                <a:latin typeface="Calibri"/>
              </a:rPr>
              <a:t>What comes out is what a version IS, rather than what its path has since become — which is the difference between a training set you can defend and one you can only describe.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6 ·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The one layer where the rules invert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C1E"/>
                </a:solidFill>
                <a:latin typeface="Calibri"/>
              </a:rPr>
              <a:t>Every other surface here moves small documents. Feature values are not small, </a:t>
            </a:r>
            <a:r>
              <a:rPr sz="1300" b="1" i="0">
                <a:solidFill>
                  <a:srgbClr val="A51C30"/>
                </a:solidFill>
                <a:latin typeface="Calibri"/>
              </a:rPr>
              <a:t>and an API that turns a few million rows into JSON objects spends most of its time and nearly all of its memory on punctuation.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404872"/>
          <a:ext cx="10637214" cy="170299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62042"/>
                <a:gridCol w="3064960"/>
                <a:gridCol w="6310212"/>
              </a:tblGrid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is offered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arrow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an execution engine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zero-copy, incremental in both directions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parquet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disk and hand-off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under half of NDJSON for the same rows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ndjson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anything at all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the lowest common denominator that streams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 page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HARD-CAPPED, because a browser is not a data pipe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4363897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51C30"/>
                </a:solidFill>
                <a:latin typeface="Calibri"/>
              </a:rPr>
              <a:t>Nothing is materialised whole. </a:t>
            </a:r>
            <a:r>
              <a:rPr sz="1250" b="0" i="0">
                <a:solidFill>
                  <a:srgbClr val="1C1C1E"/>
                </a:solidFill>
                <a:latin typeface="Calibri"/>
              </a:rPr>
              <a:t>Reads iterate record batches straight off the files and writes parse a batch at a time, so peak memory is one batch rather than one dataset. And a batch is sized by CELLS rather than rows — sixteen thousand rows of six columns is a few megabytes, and sixteen thousand rows of two thousand columns is not.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6 ·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Values are uploaded, or PULLED — never read 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1C1E"/>
                </a:solidFill>
                <a:latin typeface="Calibri"/>
              </a:rPr>
              <a:t>A feature view can name a SQL query, a file, S3 or GCS. </a:t>
            </a:r>
            <a:r>
              <a:rPr sz="1350" b="1" i="0">
                <a:solidFill>
                  <a:srgbClr val="A51C30"/>
                </a:solidFill>
                <a:latin typeface="Calibri"/>
              </a:rPr>
              <a:t>MAYA then COPIES from it into its own versioned store — it does not serve off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67712"/>
            <a:ext cx="5163159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267712"/>
            <a:ext cx="51631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5" y="2487168"/>
            <a:ext cx="47242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IF MAYA READ 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2761487"/>
            <a:ext cx="4724247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The pin would be a fiction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" y="3072383"/>
            <a:ext cx="4724247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The warehouse is somebody else's, and it has the property that matters here: it is MUTABLE. Once August's restatement lands, May's row is gone, and no read-time rule recovers what the June decision saw.
The query would not fail. It would return the restated number and say nothing.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1295" y="2267712"/>
            <a:ext cx="5163159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295" y="2267712"/>
            <a:ext cx="51631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0751" y="2487168"/>
            <a:ext cx="47242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SO MAYA PULLS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751" y="2761487"/>
            <a:ext cx="4724247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and bitemporalises what it got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751" y="3072383"/>
            <a:ext cx="4724247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SQL through SQLAlchemy; files, S3 and GCS through pyarrow. What arrives is written into MAYA's own store as an ordinary, immutable, pinnable version.
It costs a copy. It is the only arrangement under which the point-in-time operator survives contact with somebody else's warehouse.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45152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1C30"/>
                </a:solidFill>
                <a:latin typeface="Calibri"/>
              </a:rPr>
              <a:t>A read-only statement check happens at DECLARATION, </a:t>
            </a:r>
            <a:r>
              <a:rPr sz="1200" b="0" i="0">
                <a:solidFill>
                  <a:srgbClr val="1C1C1E"/>
                </a:solidFill>
                <a:latin typeface="Calibri"/>
              </a:rPr>
              <a:t>not at first use — so a source that could write is refused before anybody has pointed it at production.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6 ·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What the platform refuses, and why each one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353312"/>
          <a:ext cx="10637215" cy="28988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46711"/>
                <a:gridCol w="6490504"/>
              </a:tblGrid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Refused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 reason, in the platform's own words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2125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feature row missing either clock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refused at the upload rather than two layers later during assembly, where it stops being fixable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2125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featureset that does not cover the kernel's inputs (L-W10)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adding a regressor is a MODEL change, not a data change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fitting read bounded in only one clock (L-W9)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featureset read for fitting must bound the period it covers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2125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Retiring a view version something pins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the retirement guard names WHO is pinning it — retirement is a consumer question, not a housekeeping one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derived feature that reads the label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refused with the derivation chain named, rather than with a bare 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 composition operation that changes nothing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an operation that silently did nothing is one somebody believes happened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4489957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1C30"/>
                </a:solidFill>
                <a:latin typeface="Calibri"/>
              </a:rPr>
              <a:t>Each refusal names what failed AND what to do instead. </a:t>
            </a:r>
            <a:r>
              <a:rPr sz="1200" b="0" i="0">
                <a:solidFill>
                  <a:srgbClr val="1C1C1E"/>
                </a:solidFill>
                <a:latin typeface="Calibri"/>
              </a:rPr>
              <a:t>A refusal that says only “forbidden” teaches people to route around the platform, which is worse than not having refused.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6 ·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What this feature platform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alibri"/>
              </a:rPr>
              <a:t>Named, because a platform slide that lists only capabilities is a brochure.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1063721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A51C30"/>
                </a:solidFill>
                <a:latin typeface="Calibri"/>
              </a:rPr>
              <a:t>▪  </a:t>
            </a:r>
            <a:r>
              <a:rPr sz="1150">
                <a:solidFill>
                  <a:srgbClr val="1C1C1E"/>
                </a:solidFill>
                <a:latin typeface="Calibri"/>
              </a:rPr>
              <a:t>NOT an online feature store. Reading at request latency is deliberately the engine's problem — MAYA will not sit on the serving path, because a governance control with an availability requirement is one that gets bypassed on the day it matters.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A51C30"/>
                </a:solidFill>
                <a:latin typeface="Calibri"/>
              </a:rPr>
              <a:t>▪  </a:t>
            </a:r>
            <a:r>
              <a:rPr sz="1150">
                <a:solidFill>
                  <a:srgbClr val="1C1C1E"/>
                </a:solidFill>
                <a:latin typeface="Calibri"/>
              </a:rPr>
              <a:t>NOT a compute engine. There is no Spark here: the point-in-time join is a Python loop over the rows of a pinned version. That is the same operator at a smaller scale, and it is where a cluster engine would go.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A51C30"/>
                </a:solidFill>
                <a:latin typeface="Calibri"/>
              </a:rPr>
              <a:t>▪  </a:t>
            </a:r>
            <a:r>
              <a:rPr sz="1150">
                <a:solidFill>
                  <a:srgbClr val="1C1C1E"/>
                </a:solidFill>
                <a:latin typeface="Calibri"/>
              </a:rPr>
              <a:t>NOT a transformation framework. The expression language is arithmetic, comparison and nine functions — deliberately not enough to be a programming language. Anything beyond it is materialised elsewhere and loaded, with its provenance recorded.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A51C30"/>
                </a:solidFill>
                <a:latin typeface="Calibri"/>
              </a:rPr>
              <a:t>▪  </a:t>
            </a:r>
            <a:r>
              <a:rPr sz="1150">
                <a:solidFill>
                  <a:srgbClr val="1C1C1E"/>
                </a:solidFill>
                <a:latin typeface="Calibri"/>
              </a:rPr>
              <a:t>NOT incremental at scale. Monitoring materialises a table into a single-process frame; the scale half of that requirement does not hold, and the documentation says so rather than implying otherwise.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A51C30"/>
                </a:solidFill>
                <a:latin typeface="Calibri"/>
              </a:rPr>
              <a:t>▪  </a:t>
            </a:r>
            <a:r>
              <a:rPr sz="1150">
                <a:solidFill>
                  <a:srgbClr val="1C1C1E"/>
                </a:solidFill>
                <a:latin typeface="Calibri"/>
              </a:rPr>
              <a:t>Serving skew is detected by ATTESTATION, not observation: the engine says which namespaces and pins it read, and MAYA compares. That is a smaller claim than seeing for itself, and it is the honest one.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051560"/>
            <a:ext cx="89352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0" i="1">
                <a:solidFill>
                  <a:srgbClr val="FFFFFF"/>
                </a:solidFill>
                <a:latin typeface="Georgia"/>
              </a:rPr>
              <a:t>A stable name over moving contents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1">
                <a:solidFill>
                  <a:srgbClr val="F4DFE3"/>
                </a:solidFill>
                <a:latin typeface="Georgia"/>
              </a:rPr>
              <a:t>is the failure this exists to prevent.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063240"/>
            <a:ext cx="155448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83280"/>
            <a:ext cx="553135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E0A8B2"/>
                </a:solidFill>
                <a:latin typeface="Calibri"/>
              </a:rPr>
              <a:t>THE FOUR IDEAS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Two clocks on every row, refused without both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min(label_ts, as_of) — one operator, stated once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binding pins a feature, a view AND its version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Compose rather than restate; every operation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6824" y="3383280"/>
            <a:ext cx="446763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E0A8B2"/>
                </a:solidFill>
                <a:latin typeface="Calibri"/>
              </a:rPr>
              <a:t>WHERE THE DETAIL IS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docs/07 — the feature platform, in full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docs/15, 16, 17 — featuresets, composition, the algebra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case_studies/05 — reuse, composition and a typed 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Feature &amp; Featureset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