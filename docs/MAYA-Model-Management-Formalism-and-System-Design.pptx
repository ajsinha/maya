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822960"/>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E8B8C0"/>
                </a:solidFill>
                <a:latin typeface="Calibri"/>
              </a:rPr>
              <a:t/>
            </a:r>
          </a:p>
        </p:txBody>
      </p:sp>
      <p:sp>
        <p:nvSpPr>
          <p:cNvPr id="7" name="TextBox 6"/>
          <p:cNvSpPr txBox="1"/>
          <p:nvPr/>
        </p:nvSpPr>
        <p:spPr>
          <a:xfrm>
            <a:off x="1051560" y="1280160"/>
            <a:ext cx="9573493" cy="1600200"/>
          </a:xfrm>
          <a:prstGeom prst="rect">
            <a:avLst/>
          </a:prstGeom>
          <a:noFill/>
        </p:spPr>
        <p:txBody>
          <a:bodyPr wrap="square" lIns="0" rIns="0" tIns="0" bIns="0" anchor="t">
            <a:spAutoFit/>
          </a:bodyPr>
          <a:lstStyle/>
          <a:p>
            <a:pPr algn="l">
              <a:lnSpc>
                <a:spcPct val="110000"/>
              </a:lnSpc>
              <a:spcBef>
                <a:spcPts val="0"/>
              </a:spcBef>
              <a:spcAft>
                <a:spcPts val="0"/>
              </a:spcAft>
            </a:pPr>
            <a:r>
              <a:rPr sz="3800" b="0" i="0">
                <a:solidFill>
                  <a:srgbClr val="FFFFFF"/>
                </a:solidFill>
                <a:latin typeface="Georgia"/>
              </a:rPr>
              <a:t>MAYA : Model Management</a:t>
            </a:r>
          </a:p>
          <a:p>
            <a:pPr>
              <a:lnSpc>
                <a:spcPct val="110000"/>
              </a:lnSpc>
              <a:spcBef>
                <a:spcPts val="0"/>
              </a:spcBef>
              <a:spcAft>
                <a:spcPts val="0"/>
              </a:spcAft>
            </a:pPr>
            <a:r>
              <a:rPr sz="3800" b="0" i="0">
                <a:solidFill>
                  <a:srgbClr val="FFFFFF"/>
                </a:solidFill>
                <a:latin typeface="Georgia"/>
              </a:rPr>
              <a:t>&amp; System Design</a:t>
            </a:r>
          </a:p>
        </p:txBody>
      </p:sp>
      <p:sp>
        <p:nvSpPr>
          <p:cNvPr id="8" name="Rectangle 7"/>
          <p:cNvSpPr/>
          <p:nvPr/>
        </p:nvSpPr>
        <p:spPr>
          <a:xfrm>
            <a:off x="1051560" y="297180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27248"/>
            <a:ext cx="9041632" cy="73152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Georgia"/>
              </a:rPr>
              <a:t>Evidence, not assertion.</a:t>
            </a:r>
          </a:p>
        </p:txBody>
      </p:sp>
      <p:sp>
        <p:nvSpPr>
          <p:cNvPr id="10" name="TextBox 9"/>
          <p:cNvSpPr txBox="1"/>
          <p:nvPr/>
        </p:nvSpPr>
        <p:spPr>
          <a:xfrm>
            <a:off x="1051560" y="4343400"/>
            <a:ext cx="5318607" cy="109728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C1C1E"/>
                </a:solidFill>
                <a:latin typeface="Georgia"/>
              </a:rPr>
              <a:t>Ashutosh Sinha</a:t>
            </a:r>
          </a:p>
          <a:p>
            <a:pPr>
              <a:lnSpc>
                <a:spcPct val="120000"/>
              </a:lnSpc>
              <a:spcBef>
                <a:spcPts val="0"/>
              </a:spcBef>
              <a:spcAft>
                <a:spcPts val="100"/>
              </a:spcAft>
            </a:pPr>
            <a:r>
              <a:rPr sz="1200" b="0" i="0">
                <a:solidFill>
                  <a:srgbClr val="A51C30"/>
                </a:solidFill>
                <a:latin typeface="Calibri"/>
              </a:rPr>
              <a:t>September 2026</a:t>
            </a:r>
          </a:p>
          <a:p>
            <a:pPr>
              <a:lnSpc>
                <a:spcPct val="120000"/>
              </a:lnSpc>
              <a:spcBef>
                <a:spcPts val="0"/>
              </a:spcBef>
              <a:spcAft>
                <a:spcPts val="0"/>
              </a:spcAft>
            </a:pPr>
            <a:r>
              <a:rPr sz="1100" b="0" i="0">
                <a:solidFill>
                  <a:srgbClr val="4A4F57"/>
                </a:solidFill>
                <a:latin typeface="Calibri"/>
              </a:rPr>
              <a:t>MAYA 0.3.0 · specification revision 2.6</a:t>
            </a:r>
          </a:p>
        </p:txBody>
      </p:sp>
      <p:sp>
        <p:nvSpPr>
          <p:cNvPr id="11" name="TextBox 10"/>
          <p:cNvSpPr txBox="1"/>
          <p:nvPr/>
        </p:nvSpPr>
        <p:spPr>
          <a:xfrm>
            <a:off x="6734080" y="4297680"/>
            <a:ext cx="4680374" cy="2011680"/>
          </a:xfrm>
          <a:prstGeom prst="rect">
            <a:avLst/>
          </a:prstGeom>
          <a:noFill/>
        </p:spPr>
        <p:txBody>
          <a:bodyPr wrap="square" lIns="0" rIns="0" tIns="0" bIns="0" anchor="t">
            <a:spAutoFit/>
          </a:bodyPr>
          <a:lstStyle/>
          <a:p>
            <a:pPr algn="l">
              <a:lnSpc>
                <a:spcPct val="120000"/>
              </a:lnSpc>
              <a:spcBef>
                <a:spcPts val="0"/>
              </a:spcBef>
              <a:spcAft>
                <a:spcPts val="600"/>
              </a:spcAft>
            </a:pPr>
            <a:r>
              <a:rPr sz="950" b="1" i="0">
                <a:solidFill>
                  <a:srgbClr val="A51C30"/>
                </a:solidFill>
                <a:latin typeface="Calibri"/>
              </a:rPr>
              <a:t>IN THIS DECK</a:t>
            </a:r>
          </a:p>
          <a:p>
            <a:pPr>
              <a:lnSpc>
                <a:spcPct val="120000"/>
              </a:lnSpc>
              <a:spcBef>
                <a:spcPts val="0"/>
              </a:spcBef>
              <a:spcAft>
                <a:spcPts val="300"/>
              </a:spcAft>
            </a:pPr>
            <a:r>
              <a:rPr sz="1200" b="1">
                <a:solidFill>
                  <a:srgbClr val="A51C30"/>
                </a:solidFill>
                <a:latin typeface="Calibri"/>
              </a:rPr>
              <a:t>1   </a:t>
            </a:r>
            <a:r>
              <a:rPr sz="1200" b="0">
                <a:solidFill>
                  <a:srgbClr val="4A4F57"/>
                </a:solidFill>
                <a:latin typeface="Calibri"/>
              </a:rPr>
              <a:t>What a model actually is</a:t>
            </a:r>
          </a:p>
          <a:p>
            <a:pPr>
              <a:lnSpc>
                <a:spcPct val="120000"/>
              </a:lnSpc>
              <a:spcBef>
                <a:spcPts val="0"/>
              </a:spcBef>
              <a:spcAft>
                <a:spcPts val="300"/>
              </a:spcAft>
            </a:pPr>
            <a:r>
              <a:rPr sz="1200" b="1">
                <a:solidFill>
                  <a:srgbClr val="A51C30"/>
                </a:solidFill>
                <a:latin typeface="Calibri"/>
              </a:rPr>
              <a:t>2   </a:t>
            </a:r>
            <a:r>
              <a:rPr sz="1200" b="0">
                <a:solidFill>
                  <a:srgbClr val="4A4F57"/>
                </a:solidFill>
                <a:latin typeface="Calibri"/>
              </a:rPr>
              <a:t>Four facts you should not have to type</a:t>
            </a:r>
          </a:p>
          <a:p>
            <a:pPr>
              <a:lnSpc>
                <a:spcPct val="120000"/>
              </a:lnSpc>
              <a:spcBef>
                <a:spcPts val="0"/>
              </a:spcBef>
              <a:spcAft>
                <a:spcPts val="300"/>
              </a:spcAft>
            </a:pPr>
            <a:r>
              <a:rPr sz="1200" b="1">
                <a:solidFill>
                  <a:srgbClr val="A51C30"/>
                </a:solidFill>
                <a:latin typeface="Calibri"/>
              </a:rPr>
              <a:t>3   </a:t>
            </a:r>
            <a:r>
              <a:rPr sz="1200" b="0">
                <a:solidFill>
                  <a:srgbClr val="4A4F57"/>
                </a:solidFill>
                <a:latin typeface="Calibri"/>
              </a:rPr>
              <a:t>The objects MAYA keeps</a:t>
            </a:r>
          </a:p>
          <a:p>
            <a:pPr>
              <a:lnSpc>
                <a:spcPct val="120000"/>
              </a:lnSpc>
              <a:spcBef>
                <a:spcPts val="0"/>
              </a:spcBef>
              <a:spcAft>
                <a:spcPts val="300"/>
              </a:spcAft>
            </a:pPr>
            <a:r>
              <a:rPr sz="1200" b="1">
                <a:solidFill>
                  <a:srgbClr val="A51C30"/>
                </a:solidFill>
                <a:latin typeface="Calibri"/>
              </a:rPr>
              <a:t>4   </a:t>
            </a:r>
            <a:r>
              <a:rPr sz="1200" b="0">
                <a:solidFill>
                  <a:srgbClr val="4A4F57"/>
                </a:solidFill>
                <a:latin typeface="Calibri"/>
              </a:rPr>
              <a:t>How it runs</a:t>
            </a:r>
          </a:p>
          <a:p>
            <a:pPr>
              <a:lnSpc>
                <a:spcPct val="120000"/>
              </a:lnSpc>
              <a:spcBef>
                <a:spcPts val="0"/>
              </a:spcBef>
              <a:spcAft>
                <a:spcPts val="300"/>
              </a:spcAft>
            </a:pPr>
            <a:r>
              <a:rPr sz="1200" b="1">
                <a:solidFill>
                  <a:srgbClr val="A51C30"/>
                </a:solidFill>
                <a:latin typeface="Calibri"/>
              </a:rPr>
              <a:t>5   </a:t>
            </a:r>
            <a:r>
              <a:rPr sz="1200" b="0">
                <a:solidFill>
                  <a:srgbClr val="4A4F57"/>
                </a:solidFill>
                <a:latin typeface="Calibri"/>
              </a:rPr>
              <a:t>Four models, end to end</a:t>
            </a:r>
          </a:p>
          <a:p>
            <a:pPr>
              <a:lnSpc>
                <a:spcPct val="120000"/>
              </a:lnSpc>
              <a:spcBef>
                <a:spcPts val="0"/>
              </a:spcBef>
              <a:spcAft>
                <a:spcPts val="300"/>
              </a:spcAft>
            </a:pPr>
            <a:r>
              <a:rPr sz="1200" b="1">
                <a:solidFill>
                  <a:srgbClr val="A51C30"/>
                </a:solidFill>
                <a:latin typeface="Calibri"/>
              </a:rPr>
              <a:t>6   </a:t>
            </a:r>
            <a:r>
              <a:rPr sz="1200" b="0">
                <a:solidFill>
                  <a:srgbClr val="4A4F57"/>
                </a:solidFill>
                <a:latin typeface="Calibri"/>
              </a:rPr>
              <a:t>What is measured, and what MAYA does not do</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MAYA · Model Management</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1</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400" b="0" i="0">
                <a:solidFill>
                  <a:srgbClr val="FFFFFF"/>
                </a:solidFill>
                <a:latin typeface="Georgia"/>
              </a:rPr>
              <a:t>What a model actually is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Nothing in this deck is used before it is defined. This part builds the vocabulary from nothing — kernel, parameter, feature, clock, feature set, training, pin, warrant — one idea to a slide, each carried by an example from a bank and each earning its place by naming the failure it prevents.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question every model must answer</a:t>
            </a:r>
          </a:p>
          <a:p>
            <a:pPr>
              <a:lnSpc>
                <a:spcPct val="115000"/>
              </a:lnSpc>
              <a:spcBef>
                <a:spcPts val="0"/>
              </a:spcBef>
              <a:spcAft>
                <a:spcPts val="600"/>
              </a:spcAft>
            </a:pPr>
            <a:r>
              <a:rPr sz="1200" b="0" i="0">
                <a:solidFill>
                  <a:srgbClr val="F6E6E9"/>
                </a:solidFill>
                <a:latin typeface="Calibri"/>
              </a:rPr>
              <a:t>A kernel, and its dials</a:t>
            </a:r>
          </a:p>
          <a:p>
            <a:pPr>
              <a:lnSpc>
                <a:spcPct val="115000"/>
              </a:lnSpc>
              <a:spcBef>
                <a:spcPts val="0"/>
              </a:spcBef>
              <a:spcAft>
                <a:spcPts val="600"/>
              </a:spcAft>
            </a:pPr>
            <a:r>
              <a:rPr sz="1200" b="0" i="0">
                <a:solidFill>
                  <a:srgbClr val="F6E6E9"/>
                </a:solidFill>
                <a:latin typeface="Calibri"/>
              </a:rPr>
              <a:t>Parameters, and the six ways they get set</a:t>
            </a:r>
          </a:p>
          <a:p>
            <a:pPr>
              <a:lnSpc>
                <a:spcPct val="115000"/>
              </a:lnSpc>
              <a:spcBef>
                <a:spcPts val="0"/>
              </a:spcBef>
              <a:spcAft>
                <a:spcPts val="600"/>
              </a:spcAft>
            </a:pPr>
            <a:r>
              <a:rPr sz="1200" b="0" i="0">
                <a:solidFill>
                  <a:srgbClr val="F6E6E9"/>
                </a:solidFill>
                <a:latin typeface="Calibri"/>
              </a:rPr>
              <a:t>Features, and the two clocks</a:t>
            </a:r>
          </a:p>
          <a:p>
            <a:pPr>
              <a:lnSpc>
                <a:spcPct val="115000"/>
              </a:lnSpc>
              <a:spcBef>
                <a:spcPts val="0"/>
              </a:spcBef>
              <a:spcAft>
                <a:spcPts val="600"/>
              </a:spcAft>
            </a:pPr>
            <a:r>
              <a:rPr sz="1200" b="0" i="0">
                <a:solidFill>
                  <a:srgbClr val="F6E6E9"/>
                </a:solidFill>
                <a:latin typeface="Calibri"/>
              </a:rPr>
              <a:t>Feature sets, and what a model reads</a:t>
            </a:r>
          </a:p>
          <a:p>
            <a:pPr>
              <a:lnSpc>
                <a:spcPct val="115000"/>
              </a:lnSpc>
              <a:spcBef>
                <a:spcPts val="0"/>
              </a:spcBef>
              <a:spcAft>
                <a:spcPts val="600"/>
              </a:spcAft>
            </a:pPr>
            <a:r>
              <a:rPr sz="1200" b="0" i="0">
                <a:solidFill>
                  <a:srgbClr val="F6E6E9"/>
                </a:solidFill>
                <a:latin typeface="Calibri"/>
              </a:rPr>
              <a:t>What training means, precisely</a:t>
            </a:r>
          </a:p>
          <a:p>
            <a:pPr>
              <a:lnSpc>
                <a:spcPct val="115000"/>
              </a:lnSpc>
              <a:spcBef>
                <a:spcPts val="0"/>
              </a:spcBef>
              <a:spcAft>
                <a:spcPts val="600"/>
              </a:spcAft>
            </a:pPr>
            <a:r>
              <a:rPr sz="1200" b="0" i="0">
                <a:solidFill>
                  <a:srgbClr val="F6E6E9"/>
                </a:solidFill>
                <a:latin typeface="Calibri"/>
              </a:rPr>
              <a:t>What pinning means</a:t>
            </a:r>
          </a:p>
          <a:p>
            <a:pPr>
              <a:lnSpc>
                <a:spcPct val="115000"/>
              </a:lnSpc>
              <a:spcBef>
                <a:spcPts val="0"/>
              </a:spcBef>
              <a:spcAft>
                <a:spcPts val="600"/>
              </a:spcAft>
            </a:pPr>
            <a:r>
              <a:rPr sz="1200" b="0" i="0">
                <a:solidFill>
                  <a:srgbClr val="F6E6E9"/>
                </a:solidFill>
                <a:latin typeface="Calibri"/>
              </a:rPr>
              <a:t>Warrants, and the vocabulary assembled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QUESTION</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Months later: which data, which mathematics, whose approval</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committee asks about one number in last March's impairment charge. Three questions follow, and in most quantitative shops each is answered by archaeology rather than by a query. Everything in this deck exists to make all three a lookup.</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§1, the four reproducibility failures. Every part of this deck traces back to one of these three questions.</a:t>
            </a:r>
          </a:p>
        </p:txBody>
      </p:sp>
      <p:sp>
        <p:nvSpPr>
          <p:cNvPr id="13" name="TextBox 12"/>
          <p:cNvSpPr txBox="1"/>
          <p:nvPr/>
        </p:nvSpPr>
        <p:spPr>
          <a:xfrm>
            <a:off x="777240" y="2252853"/>
            <a:ext cx="10637215" cy="36267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Which data did it see?</a:t>
            </a:r>
          </a:p>
          <a:p>
            <a:pPr lvl="1">
              <a:lnSpc>
                <a:spcPct val="120000"/>
              </a:lnSpc>
              <a:spcBef>
                <a:spcPts val="0"/>
              </a:spcBef>
              <a:spcAft>
                <a:spcPts val="0"/>
              </a:spcAft>
            </a:pPr>
            <a:r>
              <a:rPr sz="1350" b="0">
                <a:solidFill>
                  <a:srgbClr val="4A4F57"/>
                </a:solidFill>
                <a:latin typeface="Calibri"/>
              </a:rPr>
              <a:t>Not which table — which rows, with which values, as they stood on the day. The table has moved since: a vendor restated two quarters in August and the warehouse row was updated in place, so the number the model saw in March no longer exists anywhere.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mathematics did it run?</a:t>
            </a:r>
          </a:p>
          <a:p>
            <a:pPr lvl="1">
              <a:lnSpc>
                <a:spcPct val="120000"/>
              </a:lnSpc>
              <a:spcBef>
                <a:spcPts val="0"/>
              </a:spcBef>
              <a:spcAft>
                <a:spcPts val="0"/>
              </a:spcAft>
            </a:pPr>
            <a:r>
              <a:rPr sz="1350" b="0">
                <a:solidFill>
                  <a:srgbClr val="4A4F57"/>
                </a:solidFill>
                <a:latin typeface="Calibri"/>
              </a:rPr>
              <a:t>There is a PDF that describes the model, a repository that implements it, and a spreadsheet the desk actually uses. All three were correct once. Nobody knows which of them is the model, and no test compares them.</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Whose approval was it running under?</a:t>
            </a:r>
          </a:p>
          <a:p>
            <a:pPr lvl="1">
              <a:lnSpc>
                <a:spcPct val="120000"/>
              </a:lnSpc>
              <a:spcBef>
                <a:spcPts val="0"/>
              </a:spcBef>
              <a:spcAft>
                <a:spcPts val="0"/>
              </a:spcAft>
            </a:pPr>
            <a:r>
              <a:rPr sz="1350" b="0">
                <a:solidFill>
                  <a:srgbClr val="4A4F57"/>
                </a:solidFill>
                <a:latin typeface="Calibri"/>
              </a:rPr>
              <a:t>There is an approval memo with a date. It does not name the version of the code, the numbers in the parameters, or the data the numbers were fitted on, so it approves a thing that cannot now be identified.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None of these is a documentation problem</a:t>
            </a:r>
          </a:p>
          <a:p>
            <a:pPr lvl="1">
              <a:lnSpc>
                <a:spcPct val="120000"/>
              </a:lnSpc>
              <a:spcBef>
                <a:spcPts val="0"/>
              </a:spcBef>
              <a:spcAft>
                <a:spcPts val="0"/>
              </a:spcAft>
            </a:pPr>
            <a:r>
              <a:rPr sz="1350" b="0">
                <a:solidFill>
                  <a:srgbClr val="4A4F57"/>
                </a:solidFill>
                <a:latin typeface="Calibri"/>
              </a:rPr>
              <a:t>Each is a question about an object that was never stored. A better template does not help; the answer has to be a consequence of how the work is done.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is a compute kernel, and a set of dials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Strip away the implementation and every model has the same shape: something goes in, something comes out, and a set of numbers held apart from the machinery decides how it behaves. Those numbers are the parameters, and separating them from the machine is where everything else in this deck comes from.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definition of a model as a kernel with a parameter object. The separation is not a modelling convenience: the nine-class table in Part 2 and the warrant in Part 3 both follow from it.</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shape</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Inputs</a:t>
            </a:r>
          </a:p>
          <a:p>
            <a:pPr lvl="1">
              <a:lnSpc>
                <a:spcPct val="120000"/>
              </a:lnSpc>
              <a:spcBef>
                <a:spcPts val="0"/>
              </a:spcBef>
              <a:spcAft>
                <a:spcPts val="0"/>
              </a:spcAft>
            </a:pPr>
            <a:r>
              <a:rPr sz="1300" b="0">
                <a:solidFill>
                  <a:srgbClr val="4A4F57"/>
                </a:solidFill>
                <a:latin typeface="Calibri"/>
              </a:rPr>
              <a:t>The things that vary from one row to the next: this borrower's arrears, this option's strike. One value per row, per input.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kernel</a:t>
            </a:r>
          </a:p>
          <a:p>
            <a:pPr lvl="1">
              <a:lnSpc>
                <a:spcPct val="120000"/>
              </a:lnSpc>
              <a:spcBef>
                <a:spcPts val="0"/>
              </a:spcBef>
              <a:spcAft>
                <a:spcPts val="0"/>
              </a:spcAft>
            </a:pPr>
            <a:r>
              <a:rPr sz="1300" b="0">
                <a:solidFill>
                  <a:srgbClr val="4A4F57"/>
                </a:solidFill>
                <a:latin typeface="Calibri"/>
              </a:rPr>
              <a:t>The fixed arithmetic that turns those inputs into an output. It does not change between rows and it does not change between runs.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dials</a:t>
            </a:r>
          </a:p>
          <a:p>
            <a:pPr lvl="1">
              <a:lnSpc>
                <a:spcPct val="120000"/>
              </a:lnSpc>
              <a:spcBef>
                <a:spcPts val="0"/>
              </a:spcBef>
              <a:spcAft>
                <a:spcPts val="0"/>
              </a:spcAft>
            </a:pPr>
            <a:r>
              <a:rPr sz="1300" b="0">
                <a:solidFill>
                  <a:srgbClr val="4A4F57"/>
                </a:solidFill>
                <a:latin typeface="Calibri"/>
              </a:rPr>
              <a:t>Numbers that are the same for every row of a run, and that decide what the kernel does with the inputs. A coefficient, a threshold, a volatility.</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hold the dials apart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they change on a different clock</a:t>
            </a:r>
          </a:p>
          <a:p>
            <a:pPr lvl="1">
              <a:lnSpc>
                <a:spcPct val="120000"/>
              </a:lnSpc>
              <a:spcBef>
                <a:spcPts val="0"/>
              </a:spcBef>
              <a:spcAft>
                <a:spcPts val="0"/>
              </a:spcAft>
            </a:pPr>
            <a:r>
              <a:rPr sz="1200" b="0">
                <a:solidFill>
                  <a:srgbClr val="4A4F57"/>
                </a:solidFill>
                <a:latin typeface="Calibri"/>
              </a:rPr>
              <a:t>The arithmetic changes when somebody redesigns the model. The dials change every time it is refitted. Recording both as one thing loses the distinction a supervisor is asking about.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they are what evidence is about</a:t>
            </a:r>
          </a:p>
          <a:p>
            <a:pPr lvl="1">
              <a:lnSpc>
                <a:spcPct val="120000"/>
              </a:lnSpc>
              <a:spcBef>
                <a:spcPts val="0"/>
              </a:spcBef>
              <a:spcAft>
                <a:spcPts val="0"/>
              </a:spcAft>
            </a:pPr>
            <a:r>
              <a:rPr sz="1200" b="0">
                <a:solidFill>
                  <a:srgbClr val="4A4F57"/>
                </a:solidFill>
                <a:latin typeface="Calibri"/>
              </a:rPr>
              <a:t>Almost every question a reviewer asks — what sample, what estimator, what window, whose sign-off — is a question about how the dials were set, not about the arithmetic.</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the output may be a distribution</a:t>
            </a:r>
          </a:p>
          <a:p>
            <a:pPr lvl="1">
              <a:lnSpc>
                <a:spcPct val="120000"/>
              </a:lnSpc>
              <a:spcBef>
                <a:spcPts val="0"/>
              </a:spcBef>
              <a:spcAft>
                <a:spcPts val="0"/>
              </a:spcAft>
            </a:pPr>
            <a:r>
              <a:rPr sz="1200" b="0">
                <a:solidFill>
                  <a:srgbClr val="4A4F57"/>
                </a:solidFill>
                <a:latin typeface="Calibri"/>
              </a:rPr>
              <a:t>Nothing here requires the kernel to return one number. It may return a spread of them, so a model that samples is an instance of the definition rather than an exception to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DEFINITION, FORMALLY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parameter object P, and a kernel f : P ⊗ X → D(Y)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same statement, written so that it can be reasoned about rather than agreed with. A model is a pair (P, f): a parameter object P, an input object X, and a kernel taking the two together to a distribution over outputs Y. Deterministic behaviour is the case where that distribution is a point.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 Definition 3.1 and 3.2. MAYA holds no general kernel: its models are deterministic expression trees, a declared black box, or a vendor endpoint, and stochastic output is not represented.</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notation is carrying</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0"/>
              </a:spcAft>
            </a:pPr>
            <a:r>
              <a:rPr sz="1100" b="1">
                <a:solidFill>
                  <a:srgbClr val="A51C30"/>
                </a:solidFill>
                <a:latin typeface="Calibri"/>
              </a:rPr>
              <a:t>▪  </a:t>
            </a:r>
            <a:r>
              <a:rPr sz="1100" b="0">
                <a:solidFill>
                  <a:srgbClr val="1C1C1E"/>
                </a:solidFill>
                <a:latin typeface="Calibri"/>
              </a:rPr>
              <a:t>P ⊗ X — the dials and the inputs, supplied together and kept apart. A register with one column called 'inputs' has lost exactly this distinction</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D(Y) — a distribution over outputs, so a language model that samples is an instance of the definition and not an exception to it</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φ : D → P — a fitting morphism from evidence D. Estimation, calibration, training, elicitation and authorship are different φ into one kind of object, which is why they are not different kinds of model</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The ambient setting is a Markov category, where copying is an explicit map rather than something the notation does for free — which Part 2 needs, because the copy map is what makes aggregate risk non-compositional</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 immediately</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0"/>
              </a:spcAft>
            </a:pPr>
            <a:r>
              <a:rPr sz="1100" b="1">
                <a:solidFill>
                  <a:srgbClr val="A51C30"/>
                </a:solidFill>
                <a:latin typeface="Calibri"/>
              </a:rPr>
              <a:t>▪  </a:t>
            </a:r>
            <a:r>
              <a:rPr sz="1100" b="0">
                <a:solidFill>
                  <a:srgbClr val="1C1C1E"/>
                </a:solidFill>
                <a:latin typeface="Calibri"/>
              </a:rPr>
              <a:t>Composition: (P, f) then (Q, g) is (Q ⊗ P, g ∘ (id ⊗ f)). Plug two models together and the combined dials are both sets of dials — nothing is absorbed, which is why a composite owes an approval of its own</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P ≅ I, the terminal object: there are no dials. Asking a closed-form pricer for its training sample is not an unanswered question, it is an ill-typed one</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P exists but is unreachable: the vendor's case. The only accessible datum is the composite f(p, –), which is why behavioural evidence is the only evidence there is — not a commercial compromise but what the mathematics permits</a:t>
            </a:r>
          </a:p>
          <a:p>
            <a:pPr>
              <a:lnSpc>
                <a:spcPct val="120000"/>
              </a:lnSpc>
              <a:spcBef>
                <a:spcPts val="600"/>
              </a:spcBef>
              <a:spcAft>
                <a:spcPts val="0"/>
              </a:spcAft>
            </a:pPr>
            <a:r>
              <a:rPr sz="1100" b="1">
                <a:solidFill>
                  <a:srgbClr val="A51C30"/>
                </a:solidFill>
                <a:latin typeface="Calibri"/>
              </a:rPr>
              <a:t>▪  </a:t>
            </a:r>
            <a:r>
              <a:rPr sz="1100" b="0">
                <a:solidFill>
                  <a:srgbClr val="1C1C1E"/>
                </a:solidFill>
                <a:latin typeface="Calibri"/>
              </a:rPr>
              <a:t>What MAYA carries of this: every input of a model version declares a role, and the input contract and the parameter list are computed from those roles rather than recorded beside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SAME SHAPE, DIFFERENT REALITY</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pricer with no dials, beside a scorecard with forty-two</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Two artefacts that a model register would list on the same screen. They have the same shape under the definition, and almost nothing in common operationally — and the whole of the difference lives in the dials.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worked pair of a closed-form pricer and a fitted artefact. The last row is the point: a register that demands the same evidence of both is not recording a missing value, it is asking a question that has no meaning.</a:t>
            </a:r>
          </a:p>
        </p:txBody>
      </p:sp>
      <p:graphicFrame>
        <p:nvGraphicFramePr>
          <p:cNvPr id="13" name="Table 12"/>
          <p:cNvGraphicFramePr>
            <a:graphicFrameLocks noGrp="1"/>
          </p:cNvGraphicFramePr>
          <p:nvPr/>
        </p:nvGraphicFramePr>
        <p:xfrm>
          <a:off x="777240" y="2024443"/>
          <a:ext cx="10637214" cy="3384037"/>
        </p:xfrm>
        <a:graphic>
          <a:graphicData uri="http://schemas.openxmlformats.org/drawingml/2006/table">
            <a:tbl>
              <a:tblPr firstRow="1">
                <a:tableStyleId>{5C22544A-7EE6-4342-B048-85BDC9FD1C3A}</a:tableStyleId>
              </a:tblPr>
              <a:tblGrid>
                <a:gridCol w="2017402"/>
                <a:gridCol w="4218206"/>
                <a:gridCol w="4401606"/>
              </a:tblGrid>
              <a:tr h="302514">
                <a:tc>
                  <a:txBody>
                    <a:bodyPr wrap="square"/>
                    <a:lstStyle/>
                    <a:p>
                      <a:r>
                        <a:rPr sz="1200" b="1">
                          <a:solidFill>
                            <a:srgbClr val="FFFFFF"/>
                          </a:solidFill>
                          <a:latin typeface="Calibri"/>
                        </a:rPr>
                        <a:t/>
                      </a:r>
                    </a:p>
                  </a:txBody>
                  <a:tcPr marL="82296" marR="64008" marT="32004" marB="32004" anchor="ctr">
                    <a:solidFill>
                      <a:srgbClr val="A51C30"/>
                    </a:solidFill>
                  </a:tcPr>
                </a:tc>
                <a:tc>
                  <a:txBody>
                    <a:bodyPr wrap="square"/>
                    <a:lstStyle/>
                    <a:p>
                      <a:r>
                        <a:rPr sz="1200" b="1">
                          <a:solidFill>
                            <a:srgbClr val="FFFFFF"/>
                          </a:solidFill>
                          <a:latin typeface="Calibri"/>
                        </a:rPr>
                        <a:t>Black–Scholes option price</a:t>
                      </a:r>
                    </a:p>
                  </a:txBody>
                  <a:tcPr marL="82296" marR="64008" marT="32004" marB="32004" anchor="ctr">
                    <a:solidFill>
                      <a:srgbClr val="A51C30"/>
                    </a:solidFill>
                  </a:tcPr>
                </a:tc>
                <a:tc>
                  <a:txBody>
                    <a:bodyPr wrap="square"/>
                    <a:lstStyle/>
                    <a:p>
                      <a:r>
                        <a:rPr sz="1200" b="1">
                          <a:solidFill>
                            <a:srgbClr val="FFFFFF"/>
                          </a:solidFill>
                          <a:latin typeface="Calibri"/>
                        </a:rPr>
                        <a:t>Small-business PD scorecard</a:t>
                      </a:r>
                    </a:p>
                  </a:txBody>
                  <a:tcPr marL="82296" marR="64008" marT="32004" marB="32004" anchor="ctr">
                    <a:solidFill>
                      <a:srgbClr val="A51C30"/>
                    </a:solidFill>
                  </a:tcPr>
                </a:tc>
              </a:tr>
              <a:tr h="495299">
                <a:tc>
                  <a:txBody>
                    <a:bodyPr wrap="square"/>
                    <a:lstStyle/>
                    <a:p>
                      <a:r>
                        <a:rPr sz="1200" b="1">
                          <a:solidFill>
                            <a:srgbClr val="761422"/>
                          </a:solidFill>
                          <a:latin typeface="Calibri"/>
                        </a:rPr>
                        <a:t>Inputs</a:t>
                      </a:r>
                    </a:p>
                  </a:txBody>
                  <a:tcPr marL="82296" marR="64008" marT="32004" marB="32004" anchor="ctr">
                    <a:solidFill>
                      <a:srgbClr val="FFFFFF"/>
                    </a:solidFill>
                  </a:tcPr>
                </a:tc>
                <a:tc>
                  <a:txBody>
                    <a:bodyPr wrap="square"/>
                    <a:lstStyle/>
                    <a:p>
                      <a:r>
                        <a:rPr sz="1200" b="0">
                          <a:solidFill>
                            <a:srgbClr val="1C1C1E"/>
                          </a:solidFill>
                          <a:latin typeface="Calibri"/>
                        </a:rPr>
                        <a:t>Spot, strike, tenor, rate, volatility</a:t>
                      </a:r>
                    </a:p>
                  </a:txBody>
                  <a:tcPr marL="82296" marR="64008" marT="32004" marB="32004" anchor="ctr">
                    <a:solidFill>
                      <a:srgbClr val="FFFFFF"/>
                    </a:solidFill>
                  </a:tcPr>
                </a:tc>
                <a:tc>
                  <a:txBody>
                    <a:bodyPr wrap="square"/>
                    <a:lstStyle/>
                    <a:p>
                      <a:r>
                        <a:rPr sz="1200" b="0">
                          <a:solidFill>
                            <a:srgbClr val="1C1C1E"/>
                          </a:solidFill>
                          <a:latin typeface="Calibri"/>
                        </a:rPr>
                        <a:t>Arrears, utilisation, loan-to-value, turnover and thirty-eight more</a:t>
                      </a:r>
                    </a:p>
                  </a:txBody>
                  <a:tcPr marL="82296" marR="64008" marT="32004" marB="32004" anchor="ctr">
                    <a:solidFill>
                      <a:srgbClr val="FFFFFF"/>
                    </a:solidFill>
                  </a:tcPr>
                </a:tc>
              </a:tr>
              <a:tr h="495299">
                <a:tc>
                  <a:txBody>
                    <a:bodyPr wrap="square"/>
                    <a:lstStyle/>
                    <a:p>
                      <a:r>
                        <a:rPr sz="1200" b="1">
                          <a:solidFill>
                            <a:srgbClr val="761422"/>
                          </a:solidFill>
                          <a:latin typeface="Calibri"/>
                        </a:rPr>
                        <a:t>The kernel</a:t>
                      </a:r>
                    </a:p>
                  </a:txBody>
                  <a:tcPr marL="82296" marR="64008" marT="32004" marB="32004" anchor="ctr">
                    <a:solidFill>
                      <a:srgbClr val="F6F3EF"/>
                    </a:solidFill>
                  </a:tcPr>
                </a:tc>
                <a:tc>
                  <a:txBody>
                    <a:bodyPr wrap="square"/>
                    <a:lstStyle/>
                    <a:p>
                      <a:r>
                        <a:rPr sz="1200" b="0">
                          <a:solidFill>
                            <a:srgbClr val="1C1C1E"/>
                          </a:solidFill>
                          <a:latin typeface="Calibri"/>
                        </a:rPr>
                        <a:t>One closed-form expression, prescribed by the theory</a:t>
                      </a:r>
                    </a:p>
                  </a:txBody>
                  <a:tcPr marL="82296" marR="64008" marT="32004" marB="32004" anchor="ctr">
                    <a:solidFill>
                      <a:srgbClr val="F6F3EF"/>
                    </a:solidFill>
                  </a:tcPr>
                </a:tc>
                <a:tc>
                  <a:txBody>
                    <a:bodyPr wrap="square"/>
                    <a:lstStyle/>
                    <a:p>
                      <a:r>
                        <a:rPr sz="1200" b="0">
                          <a:solidFill>
                            <a:srgbClr val="1C1C1E"/>
                          </a:solidFill>
                          <a:latin typeface="Calibri"/>
                        </a:rPr>
                        <a:t>A logistic function of a weighted sum</a:t>
                      </a:r>
                    </a:p>
                  </a:txBody>
                  <a:tcPr marL="82296" marR="64008" marT="32004" marB="32004" anchor="ctr">
                    <a:solidFill>
                      <a:srgbClr val="F6F3EF"/>
                    </a:solidFill>
                  </a:tcPr>
                </a:tc>
              </a:tr>
              <a:tr h="302514">
                <a:tc>
                  <a:txBody>
                    <a:bodyPr wrap="square"/>
                    <a:lstStyle/>
                    <a:p>
                      <a:r>
                        <a:rPr sz="1200" b="1">
                          <a:solidFill>
                            <a:srgbClr val="761422"/>
                          </a:solidFill>
                          <a:latin typeface="Calibri"/>
                        </a:rPr>
                        <a:t>The dials</a:t>
                      </a:r>
                    </a:p>
                  </a:txBody>
                  <a:tcPr marL="82296" marR="64008" marT="32004" marB="32004" anchor="ctr">
                    <a:solidFill>
                      <a:srgbClr val="FFFFFF"/>
                    </a:solidFill>
                  </a:tcPr>
                </a:tc>
                <a:tc>
                  <a:txBody>
                    <a:bodyPr wrap="square"/>
                    <a:lstStyle/>
                    <a:p>
                      <a:r>
                        <a:rPr sz="1200" b="0">
                          <a:solidFill>
                            <a:srgbClr val="1C1C1E"/>
                          </a:solidFill>
                          <a:latin typeface="Calibri"/>
                        </a:rPr>
                        <a:t>None. There is nothing to set</a:t>
                      </a:r>
                    </a:p>
                  </a:txBody>
                  <a:tcPr marL="82296" marR="64008" marT="32004" marB="32004" anchor="ctr">
                    <a:solidFill>
                      <a:srgbClr val="FFFFFF"/>
                    </a:solidFill>
                  </a:tcPr>
                </a:tc>
                <a:tc>
                  <a:txBody>
                    <a:bodyPr wrap="square"/>
                    <a:lstStyle/>
                    <a:p>
                      <a:r>
                        <a:rPr sz="1200" b="0">
                          <a:solidFill>
                            <a:srgbClr val="1C1C1E"/>
                          </a:solidFill>
                          <a:latin typeface="Calibri"/>
                        </a:rPr>
                        <a:t>Forty-two coefficients</a:t>
                      </a:r>
                    </a:p>
                  </a:txBody>
                  <a:tcPr marL="82296" marR="64008" marT="32004" marB="32004" anchor="ctr">
                    <a:solidFill>
                      <a:srgbClr val="FFFFFF"/>
                    </a:solidFill>
                  </a:tcPr>
                </a:tc>
              </a:tr>
              <a:tr h="495299">
                <a:tc>
                  <a:txBody>
                    <a:bodyPr wrap="square"/>
                    <a:lstStyle/>
                    <a:p>
                      <a:r>
                        <a:rPr sz="1200" b="1">
                          <a:solidFill>
                            <a:srgbClr val="761422"/>
                          </a:solidFill>
                          <a:latin typeface="Calibri"/>
                        </a:rPr>
                        <a:t>How they were set</a:t>
                      </a:r>
                    </a:p>
                  </a:txBody>
                  <a:tcPr marL="82296" marR="64008" marT="32004" marB="32004" anchor="ctr">
                    <a:solidFill>
                      <a:srgbClr val="F6F3EF"/>
                    </a:solidFill>
                  </a:tcPr>
                </a:tc>
                <a:tc>
                  <a:txBody>
                    <a:bodyPr wrap="square"/>
                    <a:lstStyle/>
                    <a:p>
                      <a:r>
                        <a:rPr sz="1200" b="0">
                          <a:solidFill>
                            <a:srgbClr val="1C1C1E"/>
                          </a:solidFill>
                          <a:latin typeface="Calibri"/>
                        </a:rPr>
                        <a:t>They were not. The formula is the whole of it</a:t>
                      </a:r>
                    </a:p>
                  </a:txBody>
                  <a:tcPr marL="82296" marR="64008" marT="32004" marB="32004" anchor="ctr">
                    <a:solidFill>
                      <a:srgbClr val="F6F3EF"/>
                    </a:solidFill>
                  </a:tcPr>
                </a:tc>
                <a:tc>
                  <a:txBody>
                    <a:bodyPr wrap="square"/>
                    <a:lstStyle/>
                    <a:p>
                      <a:r>
                        <a:rPr sz="1200" b="0">
                          <a:solidFill>
                            <a:srgbClr val="1C1C1E"/>
                          </a:solidFill>
                          <a:latin typeface="Calibri"/>
                        </a:rPr>
                        <a:t>A logistic regression over eight years of originations</a:t>
                      </a:r>
                    </a:p>
                  </a:txBody>
                  <a:tcPr marL="82296" marR="64008" marT="32004" marB="32004" anchor="ctr">
                    <a:solidFill>
                      <a:srgbClr val="F6F3EF"/>
                    </a:solidFill>
                  </a:tcPr>
                </a:tc>
              </a:tr>
              <a:tr h="302514">
                <a:tc>
                  <a:txBody>
                    <a:bodyPr wrap="square"/>
                    <a:lstStyle/>
                    <a:p>
                      <a:r>
                        <a:rPr sz="1200" b="1">
                          <a:solidFill>
                            <a:srgbClr val="761422"/>
                          </a:solidFill>
                          <a:latin typeface="Calibri"/>
                        </a:rPr>
                        <a:t>What makes it change</a:t>
                      </a:r>
                    </a:p>
                  </a:txBody>
                  <a:tcPr marL="82296" marR="64008" marT="32004" marB="32004" anchor="ctr">
                    <a:solidFill>
                      <a:srgbClr val="FFFFFF"/>
                    </a:solidFill>
                  </a:tcPr>
                </a:tc>
                <a:tc>
                  <a:txBody>
                    <a:bodyPr wrap="square"/>
                    <a:lstStyle/>
                    <a:p>
                      <a:r>
                        <a:rPr sz="1200" b="0">
                          <a:solidFill>
                            <a:srgbClr val="1C1C1E"/>
                          </a:solidFill>
                          <a:latin typeface="Calibri"/>
                        </a:rPr>
                        <a:t>Somebody deciding a different formula is correct</a:t>
                      </a:r>
                    </a:p>
                  </a:txBody>
                  <a:tcPr marL="82296" marR="64008" marT="32004" marB="32004" anchor="ctr">
                    <a:solidFill>
                      <a:srgbClr val="FFFFFF"/>
                    </a:solidFill>
                  </a:tcPr>
                </a:tc>
                <a:tc>
                  <a:txBody>
                    <a:bodyPr wrap="square"/>
                    <a:lstStyle/>
                    <a:p>
                      <a:r>
                        <a:rPr sz="1200" b="0">
                          <a:solidFill>
                            <a:srgbClr val="1C1C1E"/>
                          </a:solidFill>
                          <a:latin typeface="Calibri"/>
                        </a:rPr>
                        <a:t>A refit, a drift alarm, or a decayed sample</a:t>
                      </a:r>
                    </a:p>
                  </a:txBody>
                  <a:tcPr marL="82296" marR="64008" marT="32004" marB="32004" anchor="ctr">
                    <a:solidFill>
                      <a:srgbClr val="FFFFFF"/>
                    </a:solidFill>
                  </a:tcPr>
                </a:tc>
              </a:tr>
              <a:tr h="495299">
                <a:tc>
                  <a:txBody>
                    <a:bodyPr wrap="square"/>
                    <a:lstStyle/>
                    <a:p>
                      <a:r>
                        <a:rPr sz="1200" b="1">
                          <a:solidFill>
                            <a:srgbClr val="761422"/>
                          </a:solidFill>
                          <a:latin typeface="Calibri"/>
                        </a:rPr>
                        <a:t>What a reviewer should ask</a:t>
                      </a:r>
                    </a:p>
                  </a:txBody>
                  <a:tcPr marL="82296" marR="64008" marT="32004" marB="32004" anchor="ctr">
                    <a:solidFill>
                      <a:srgbClr val="F6F3EF"/>
                    </a:solidFill>
                  </a:tcPr>
                </a:tc>
                <a:tc>
                  <a:txBody>
                    <a:bodyPr wrap="square"/>
                    <a:lstStyle/>
                    <a:p>
                      <a:r>
                        <a:rPr sz="1200" b="0">
                          <a:solidFill>
                            <a:srgbClr val="1C1C1E"/>
                          </a:solidFill>
                          <a:latin typeface="Calibri"/>
                        </a:rPr>
                        <a:t>Does the code compute what the formula says?</a:t>
                      </a:r>
                    </a:p>
                  </a:txBody>
                  <a:tcPr marL="82296" marR="64008" marT="32004" marB="32004" anchor="ctr">
                    <a:solidFill>
                      <a:srgbClr val="F6F3EF"/>
                    </a:solidFill>
                  </a:tcPr>
                </a:tc>
                <a:tc>
                  <a:txBody>
                    <a:bodyPr wrap="square"/>
                    <a:lstStyle/>
                    <a:p>
                      <a:r>
                        <a:rPr sz="1200" b="0">
                          <a:solidFill>
                            <a:srgbClr val="1C1C1E"/>
                          </a:solidFill>
                          <a:latin typeface="Calibri"/>
                        </a:rPr>
                        <a:t>Was the sample representative, and does it still discriminate out of time?</a:t>
                      </a:r>
                    </a:p>
                  </a:txBody>
                  <a:tcPr marL="82296" marR="64008" marT="32004" marB="32004" anchor="ctr">
                    <a:solidFill>
                      <a:srgbClr val="F6F3EF"/>
                    </a:solidFill>
                  </a:tcPr>
                </a:tc>
              </a:tr>
              <a:tr h="495299">
                <a:tc>
                  <a:txBody>
                    <a:bodyPr wrap="square"/>
                    <a:lstStyle/>
                    <a:p>
                      <a:r>
                        <a:rPr sz="1200" b="1">
                          <a:solidFill>
                            <a:srgbClr val="761422"/>
                          </a:solidFill>
                          <a:latin typeface="Calibri"/>
                        </a:rPr>
                        <a:t>What a reviewer should not ask</a:t>
                      </a:r>
                    </a:p>
                  </a:txBody>
                  <a:tcPr marL="82296" marR="64008" marT="32004" marB="32004" anchor="ctr">
                    <a:solidFill>
                      <a:srgbClr val="FFFFFF"/>
                    </a:solidFill>
                  </a:tcPr>
                </a:tc>
                <a:tc>
                  <a:txBody>
                    <a:bodyPr wrap="square"/>
                    <a:lstStyle/>
                    <a:p>
                      <a:r>
                        <a:rPr sz="1200" b="0">
                          <a:solidFill>
                            <a:srgbClr val="1C1C1E"/>
                          </a:solidFill>
                          <a:latin typeface="Calibri"/>
                        </a:rPr>
                        <a:t>For the training set, the estimator, or the retraining schedule</a:t>
                      </a:r>
                    </a:p>
                  </a:txBody>
                  <a:tcPr marL="82296" marR="64008" marT="32004" marB="32004" anchor="ctr">
                    <a:solidFill>
                      <a:srgbClr val="FFFFFF"/>
                    </a:solidFill>
                  </a:tcPr>
                </a:tc>
                <a:tc>
                  <a:txBody>
                    <a:bodyPr wrap="square"/>
                    <a:lstStyle/>
                    <a:p>
                      <a:r>
                        <a:rPr sz="1200" b="0">
                          <a:solidFill>
                            <a:srgbClr val="1C1C1E"/>
                          </a:solidFill>
                          <a:latin typeface="Calibri"/>
                        </a:rPr>
                        <a:t>Whether the coefficients are prescribed by anybody</a:t>
                      </a:r>
                    </a:p>
                  </a:txBody>
                  <a:tcPr marL="82296" marR="64008" marT="32004" marB="32004"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dial is not an input, and the difference is a declaration</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every input of a registered model carries a role — feature, parameter or constant — and a parameter carries its bounds. The bounds are checked when numbers are uploaded, not when they first produce a strange answer.</a:t>
            </a:r>
          </a:p>
        </p:txBody>
      </p:sp>
      <p:sp>
        <p:nvSpPr>
          <p:cNvPr id="12" name="TextBox 11"/>
          <p:cNvSpPr txBox="1"/>
          <p:nvPr/>
        </p:nvSpPr>
        <p:spPr>
          <a:xfrm>
            <a:off x="777240" y="1354836"/>
            <a:ext cx="10637215" cy="432358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An input varies per row; a parameter does not</a:t>
            </a:r>
          </a:p>
          <a:p>
            <a:pPr lvl="1">
              <a:lnSpc>
                <a:spcPct val="120000"/>
              </a:lnSpc>
              <a:spcBef>
                <a:spcPts val="0"/>
              </a:spcBef>
              <a:spcAft>
                <a:spcPts val="0"/>
              </a:spcAft>
            </a:pPr>
            <a:r>
              <a:rPr sz="1450" b="0">
                <a:solidFill>
                  <a:srgbClr val="4A4F57"/>
                </a:solidFill>
                <a:latin typeface="Calibri"/>
              </a:rPr>
              <a:t>Feed a thousand borrowers through a scorecard and each has their own arrears figure. All thousand are scored with the same forty-two coefficients. That is the whole of the distinction, and it is a statement about the run rather than about the symbol.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the same symbol can be either, and it matters which</a:t>
            </a:r>
          </a:p>
          <a:p>
            <a:pPr lvl="1">
              <a:lnSpc>
                <a:spcPct val="120000"/>
              </a:lnSpc>
              <a:spcBef>
                <a:spcPts val="0"/>
              </a:spcBef>
              <a:spcAft>
                <a:spcPts val="0"/>
              </a:spcAft>
            </a:pPr>
            <a:r>
              <a:rPr sz="1450" b="0">
                <a:solidFill>
                  <a:srgbClr val="4A4F57"/>
                </a:solidFill>
                <a:latin typeface="Calibri"/>
              </a:rPr>
              <a:t>Volatility is an input to a Black–Scholes pricer: it arrives per option. In a calibrated volatility surface it is the thing being solved for, so it is a dial. Same letter, same arithmetic, different object — and the evidence each owes is different.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is why the role is declared rather than inferred</a:t>
            </a:r>
          </a:p>
          <a:p>
            <a:pPr lvl="1">
              <a:lnSpc>
                <a:spcPct val="120000"/>
              </a:lnSpc>
              <a:spcBef>
                <a:spcPts val="0"/>
              </a:spcBef>
              <a:spcAft>
                <a:spcPts val="0"/>
              </a:spcAft>
            </a:pPr>
            <a:r>
              <a:rPr sz="1450" b="0">
                <a:solidFill>
                  <a:srgbClr val="4A4F57"/>
                </a:solidFill>
                <a:latin typeface="Calibri"/>
              </a:rPr>
              <a:t>Whoever writes the mathematics says, symbol by symbol, whether it is an input, a dial or a constant. A system that guessed would guess wrong on exactly the cases where it matters, and would do so silently.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a dial usually carries a range it is allowed to sit in</a:t>
            </a:r>
          </a:p>
          <a:p>
            <a:pPr lvl="1">
              <a:lnSpc>
                <a:spcPct val="120000"/>
              </a:lnSpc>
              <a:spcBef>
                <a:spcPts val="0"/>
              </a:spcBef>
              <a:spcAft>
                <a:spcPts val="0"/>
              </a:spcAft>
            </a:pPr>
            <a:r>
              <a:rPr sz="1450" b="0">
                <a:solidFill>
                  <a:srgbClr val="4A4F57"/>
                </a:solidFill>
                <a:latin typeface="Calibri"/>
              </a:rPr>
              <a:t>A probability between zero and one; a conversion factor at or above zero; a correlation inside minus one and one. A number outside its range is not a poor fit, it is an arithmetic error that has not yet surfaced.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NUMBERS COME FROM</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ways a dial gets set, and training is 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six kinds of model. They are six routes into the same set of dials, and which route was taken decides what evidence can exist — before anybody gets as far as asking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Two further routes exist and are taken up in Part 2: configuration, where the dials are a base model, a prompt and a corpus; and somebody else's fitting, where the dials exist behind a contract and cannot be reached at all.</a:t>
            </a:r>
          </a:p>
        </p:txBody>
      </p:sp>
      <p:graphicFrame>
        <p:nvGraphicFramePr>
          <p:cNvPr id="13" name="Table 12"/>
          <p:cNvGraphicFramePr>
            <a:graphicFrameLocks noGrp="1"/>
          </p:cNvGraphicFramePr>
          <p:nvPr/>
        </p:nvGraphicFramePr>
        <p:xfrm>
          <a:off x="777240" y="2040509"/>
          <a:ext cx="10637213" cy="3467095"/>
        </p:xfrm>
        <a:graphic>
          <a:graphicData uri="http://schemas.openxmlformats.org/drawingml/2006/table">
            <a:tbl>
              <a:tblPr firstRow="1">
                <a:tableStyleId>{5C22544A-7EE6-4342-B048-85BDC9FD1C3A}</a:tableStyleId>
              </a:tblPr>
              <a:tblGrid>
                <a:gridCol w="1375501"/>
                <a:gridCol w="3209504"/>
                <a:gridCol w="2934404"/>
                <a:gridCol w="3117804"/>
              </a:tblGrid>
              <a:tr h="302514">
                <a:tc>
                  <a:txBody>
                    <a:bodyPr wrap="square"/>
                    <a:lstStyle/>
                    <a:p>
                      <a:r>
                        <a:rPr sz="1200" b="1">
                          <a:solidFill>
                            <a:srgbClr val="FFFFFF"/>
                          </a:solidFill>
                          <a:latin typeface="Calibri"/>
                        </a:rPr>
                        <a:t>The act</a:t>
                      </a:r>
                    </a:p>
                  </a:txBody>
                  <a:tcPr marL="82296" marR="64008" marT="32004" marB="32004" anchor="ctr">
                    <a:solidFill>
                      <a:srgbClr val="A51C30"/>
                    </a:solidFill>
                  </a:tcPr>
                </a:tc>
                <a:tc>
                  <a:txBody>
                    <a:bodyPr wrap="square"/>
                    <a:lstStyle/>
                    <a:p>
                      <a:r>
                        <a:rPr sz="1200" b="1">
                          <a:solidFill>
                            <a:srgbClr val="FFFFFF"/>
                          </a:solidFill>
                          <a:latin typeface="Calibri"/>
                        </a:rPr>
                        <a:t>What it does</a:t>
                      </a:r>
                    </a:p>
                  </a:txBody>
                  <a:tcPr marL="82296" marR="64008" marT="32004" marB="32004" anchor="ctr">
                    <a:solidFill>
                      <a:srgbClr val="A51C30"/>
                    </a:solidFill>
                  </a:tcPr>
                </a:tc>
                <a:tc>
                  <a:txBody>
                    <a:bodyPr wrap="square"/>
                    <a:lstStyle/>
                    <a:p>
                      <a:r>
                        <a:rPr sz="1200" b="1">
                          <a:solidFill>
                            <a:srgbClr val="FFFFFF"/>
                          </a:solidFill>
                          <a:latin typeface="Calibri"/>
                        </a:rPr>
                        <a:t>A banking example</a:t>
                      </a:r>
                    </a:p>
                  </a:txBody>
                  <a:tcPr marL="82296" marR="64008" marT="32004" marB="32004" anchor="ctr">
                    <a:solidFill>
                      <a:srgbClr val="A51C30"/>
                    </a:solidFill>
                  </a:tcPr>
                </a:tc>
                <a:tc>
                  <a:txBody>
                    <a:bodyPr wrap="square"/>
                    <a:lstStyle/>
                    <a:p>
                      <a:r>
                        <a:rPr sz="1200" b="1">
                          <a:solidFill>
                            <a:srgbClr val="FFFFFF"/>
                          </a:solidFill>
                          <a:latin typeface="Calibri"/>
                        </a:rPr>
                        <a:t>What it owes a reviewer</a:t>
                      </a:r>
                    </a:p>
                  </a:txBody>
                  <a:tcPr marL="82296" marR="64008" marT="32004" marB="32004" anchor="ctr">
                    <a:solidFill>
                      <a:srgbClr val="A51C30"/>
                    </a:solidFill>
                  </a:tcPr>
                </a:tc>
              </a:tr>
              <a:tr h="495299">
                <a:tc>
                  <a:txBody>
                    <a:bodyPr wrap="square"/>
                    <a:lstStyle/>
                    <a:p>
                      <a:r>
                        <a:rPr sz="1200" b="1">
                          <a:solidFill>
                            <a:srgbClr val="761422"/>
                          </a:solidFill>
                          <a:latin typeface="Calibri"/>
                        </a:rPr>
                        <a:t>Theory</a:t>
                      </a:r>
                    </a:p>
                  </a:txBody>
                  <a:tcPr marL="82296" marR="64008" marT="32004" marB="32004" anchor="ctr">
                    <a:solidFill>
                      <a:srgbClr val="FFFFFF"/>
                    </a:solidFill>
                  </a:tcPr>
                </a:tc>
                <a:tc>
                  <a:txBody>
                    <a:bodyPr wrap="square"/>
                    <a:lstStyle/>
                    <a:p>
                      <a:r>
                        <a:rPr sz="1200" b="0">
                          <a:solidFill>
                            <a:srgbClr val="1C1C1E"/>
                          </a:solidFill>
                          <a:latin typeface="Calibri"/>
                        </a:rPr>
                        <a:t>Nothing: the formula prescribes the behaviour and leaves no dials</a:t>
                      </a:r>
                    </a:p>
                  </a:txBody>
                  <a:tcPr marL="82296" marR="64008" marT="32004" marB="32004" anchor="ctr">
                    <a:solidFill>
                      <a:srgbClr val="FFFFFF"/>
                    </a:solidFill>
                  </a:tcPr>
                </a:tc>
                <a:tc>
                  <a:txBody>
                    <a:bodyPr wrap="square"/>
                    <a:lstStyle/>
                    <a:p>
                      <a:r>
                        <a:rPr sz="1200" b="0">
                          <a:solidFill>
                            <a:srgbClr val="1C1C1E"/>
                          </a:solidFill>
                          <a:latin typeface="Calibri"/>
                        </a:rPr>
                        <a:t>A regulatory exposure calculator</a:t>
                      </a:r>
                    </a:p>
                  </a:txBody>
                  <a:tcPr marL="82296" marR="64008" marT="32004" marB="32004" anchor="ctr">
                    <a:solidFill>
                      <a:srgbClr val="FFFFFF"/>
                    </a:solidFill>
                  </a:tcPr>
                </a:tc>
                <a:tc>
                  <a:txBody>
                    <a:bodyPr wrap="square"/>
                    <a:lstStyle/>
                    <a:p>
                      <a:r>
                        <a:rPr sz="1200" b="0">
                          <a:solidFill>
                            <a:srgbClr val="1C1C1E"/>
                          </a:solidFill>
                          <a:latin typeface="Calibri"/>
                        </a:rPr>
                        <a:t>That the code computes what the text says</a:t>
                      </a:r>
                    </a:p>
                  </a:txBody>
                  <a:tcPr marL="82296" marR="64008" marT="32004" marB="32004" anchor="ctr">
                    <a:solidFill>
                      <a:srgbClr val="FFFFFF"/>
                    </a:solidFill>
                  </a:tcPr>
                </a:tc>
              </a:tr>
              <a:tr h="688086">
                <a:tc>
                  <a:txBody>
                    <a:bodyPr wrap="square"/>
                    <a:lstStyle/>
                    <a:p>
                      <a:r>
                        <a:rPr sz="1200" b="1">
                          <a:solidFill>
                            <a:srgbClr val="761422"/>
                          </a:solidFill>
                          <a:latin typeface="Calibri"/>
                        </a:rPr>
                        <a:t>Calibration</a:t>
                      </a:r>
                    </a:p>
                  </a:txBody>
                  <a:tcPr marL="82296" marR="64008" marT="32004" marB="32004" anchor="ctr">
                    <a:solidFill>
                      <a:srgbClr val="F6F3EF"/>
                    </a:solidFill>
                  </a:tcPr>
                </a:tc>
                <a:tc>
                  <a:txBody>
                    <a:bodyPr wrap="square"/>
                    <a:lstStyle/>
                    <a:p>
                      <a:r>
                        <a:rPr sz="1200" b="0">
                          <a:solidFill>
                            <a:srgbClr val="1C1C1E"/>
                          </a:solidFill>
                          <a:latin typeface="Calibri"/>
                        </a:rPr>
                        <a:t>Solves the dials so the model reproduces prices the market is quoting now</a:t>
                      </a:r>
                    </a:p>
                  </a:txBody>
                  <a:tcPr marL="82296" marR="64008" marT="32004" marB="32004" anchor="ctr">
                    <a:solidFill>
                      <a:srgbClr val="F6F3EF"/>
                    </a:solidFill>
                  </a:tcPr>
                </a:tc>
                <a:tc>
                  <a:txBody>
                    <a:bodyPr wrap="square"/>
                    <a:lstStyle/>
                    <a:p>
                      <a:r>
                        <a:rPr sz="1200" b="0">
                          <a:solidFill>
                            <a:srgbClr val="1C1C1E"/>
                          </a:solidFill>
                          <a:latin typeface="Calibri"/>
                        </a:rPr>
                        <a:t>A volatility surface, four numbers re-solved each morning</a:t>
                      </a:r>
                    </a:p>
                  </a:txBody>
                  <a:tcPr marL="82296" marR="64008" marT="32004" marB="32004" anchor="ctr">
                    <a:solidFill>
                      <a:srgbClr val="F6F3EF"/>
                    </a:solidFill>
                  </a:tcPr>
                </a:tc>
                <a:tc>
                  <a:txBody>
                    <a:bodyPr wrap="square"/>
                    <a:lstStyle/>
                    <a:p>
                      <a:r>
                        <a:rPr sz="1200" b="0">
                          <a:solidFill>
                            <a:srgbClr val="1C1C1E"/>
                          </a:solidFill>
                          <a:latin typeface="Calibri"/>
                        </a:rPr>
                        <a:t>The instruments, and the residuals left over</a:t>
                      </a:r>
                    </a:p>
                  </a:txBody>
                  <a:tcPr marL="82296" marR="64008" marT="32004" marB="32004" anchor="ctr">
                    <a:solidFill>
                      <a:srgbClr val="F6F3EF"/>
                    </a:solidFill>
                  </a:tcPr>
                </a:tc>
              </a:tr>
              <a:tr h="495299">
                <a:tc>
                  <a:txBody>
                    <a:bodyPr wrap="square"/>
                    <a:lstStyle/>
                    <a:p>
                      <a:r>
                        <a:rPr sz="1200" b="1">
                          <a:solidFill>
                            <a:srgbClr val="761422"/>
                          </a:solidFill>
                          <a:latin typeface="Calibri"/>
                        </a:rPr>
                        <a:t>Estimation</a:t>
                      </a:r>
                    </a:p>
                  </a:txBody>
                  <a:tcPr marL="82296" marR="64008" marT="32004" marB="32004" anchor="ctr">
                    <a:solidFill>
                      <a:srgbClr val="FFFFFF"/>
                    </a:solidFill>
                  </a:tcPr>
                </a:tc>
                <a:tc>
                  <a:txBody>
                    <a:bodyPr wrap="square"/>
                    <a:lstStyle/>
                    <a:p>
                      <a:r>
                        <a:rPr sz="1200" b="0">
                          <a:solidFill>
                            <a:srgbClr val="1C1C1E"/>
                          </a:solidFill>
                          <a:latin typeface="Calibri"/>
                        </a:rPr>
                        <a:t>Fits the dials to a sample by a named statistical procedure</a:t>
                      </a:r>
                    </a:p>
                  </a:txBody>
                  <a:tcPr marL="82296" marR="64008" marT="32004" marB="32004" anchor="ctr">
                    <a:solidFill>
                      <a:srgbClr val="FFFFFF"/>
                    </a:solidFill>
                  </a:tcPr>
                </a:tc>
                <a:tc>
                  <a:txBody>
                    <a:bodyPr wrap="square"/>
                    <a:lstStyle/>
                    <a:p>
                      <a:r>
                        <a:rPr sz="1200" b="0">
                          <a:solidFill>
                            <a:srgbClr val="1C1C1E"/>
                          </a:solidFill>
                          <a:latin typeface="Calibri"/>
                        </a:rPr>
                        <a:t>A PD scorecard, forty-two coefficients over eight years</a:t>
                      </a:r>
                    </a:p>
                  </a:txBody>
                  <a:tcPr marL="82296" marR="64008" marT="32004" marB="32004" anchor="ctr">
                    <a:solidFill>
                      <a:srgbClr val="FFFFFF"/>
                    </a:solidFill>
                  </a:tcPr>
                </a:tc>
                <a:tc>
                  <a:txBody>
                    <a:bodyPr wrap="square"/>
                    <a:lstStyle/>
                    <a:p>
                      <a:r>
                        <a:rPr sz="1200" b="0">
                          <a:solidFill>
                            <a:srgbClr val="1C1C1E"/>
                          </a:solidFill>
                          <a:latin typeface="Calibri"/>
                        </a:rPr>
                        <a:t>The sample, the estimator, performance out of time</a:t>
                      </a:r>
                    </a:p>
                  </a:txBody>
                  <a:tcPr marL="82296" marR="64008" marT="32004" marB="32004" anchor="ctr">
                    <a:solidFill>
                      <a:srgbClr val="FFFFFF"/>
                    </a:solidFill>
                  </a:tcPr>
                </a:tc>
              </a:tr>
              <a:tr h="495299">
                <a:tc>
                  <a:txBody>
                    <a:bodyPr wrap="square"/>
                    <a:lstStyle/>
                    <a:p>
                      <a:r>
                        <a:rPr sz="1200" b="1">
                          <a:solidFill>
                            <a:srgbClr val="761422"/>
                          </a:solidFill>
                          <a:latin typeface="Calibri"/>
                        </a:rPr>
                        <a:t>Training</a:t>
                      </a:r>
                    </a:p>
                  </a:txBody>
                  <a:tcPr marL="82296" marR="64008" marT="32004" marB="32004" anchor="ctr">
                    <a:solidFill>
                      <a:srgbClr val="F6F3EF"/>
                    </a:solidFill>
                  </a:tcPr>
                </a:tc>
                <a:tc>
                  <a:txBody>
                    <a:bodyPr wrap="square"/>
                    <a:lstStyle/>
                    <a:p>
                      <a:r>
                        <a:rPr sz="1200" b="0">
                          <a:solidFill>
                            <a:srgbClr val="1C1C1E"/>
                          </a:solidFill>
                          <a:latin typeface="Calibri"/>
                        </a:rPr>
                        <a:t>The same act where the dials are too many to be individually meaningful</a:t>
                      </a:r>
                    </a:p>
                  </a:txBody>
                  <a:tcPr marL="82296" marR="64008" marT="32004" marB="32004" anchor="ctr">
                    <a:solidFill>
                      <a:srgbClr val="F6F3EF"/>
                    </a:solidFill>
                  </a:tcPr>
                </a:tc>
                <a:tc>
                  <a:txBody>
                    <a:bodyPr wrap="square"/>
                    <a:lstStyle/>
                    <a:p>
                      <a:r>
                        <a:rPr sz="1200" b="0">
                          <a:solidFill>
                            <a:srgbClr val="1C1C1E"/>
                          </a:solidFill>
                          <a:latin typeface="Calibri"/>
                        </a:rPr>
                        <a:t>A card-fraud network with thousands of weights</a:t>
                      </a:r>
                    </a:p>
                  </a:txBody>
                  <a:tcPr marL="82296" marR="64008" marT="32004" marB="32004" anchor="ctr">
                    <a:solidFill>
                      <a:srgbClr val="F6F3EF"/>
                    </a:solidFill>
                  </a:tcPr>
                </a:tc>
                <a:tc>
                  <a:txBody>
                    <a:bodyPr wrap="square"/>
                    <a:lstStyle/>
                    <a:p>
                      <a:r>
                        <a:rPr sz="1200" b="0">
                          <a:solidFill>
                            <a:srgbClr val="1C1C1E"/>
                          </a:solidFill>
                          <a:latin typeface="Calibri"/>
                        </a:rPr>
                        <a:t>The frozen input, the target, and the record of the run</a:t>
                      </a:r>
                    </a:p>
                  </a:txBody>
                  <a:tcPr marL="82296" marR="64008" marT="32004" marB="32004" anchor="ctr">
                    <a:solidFill>
                      <a:srgbClr val="F6F3EF"/>
                    </a:solidFill>
                  </a:tcPr>
                </a:tc>
              </a:tr>
              <a:tr h="495299">
                <a:tc>
                  <a:txBody>
                    <a:bodyPr wrap="square"/>
                    <a:lstStyle/>
                    <a:p>
                      <a:r>
                        <a:rPr sz="1200" b="1">
                          <a:solidFill>
                            <a:srgbClr val="761422"/>
                          </a:solidFill>
                          <a:latin typeface="Calibri"/>
                        </a:rPr>
                        <a:t>Elicitation</a:t>
                      </a:r>
                    </a:p>
                  </a:txBody>
                  <a:tcPr marL="82296" marR="64008" marT="32004" marB="32004" anchor="ctr">
                    <a:solidFill>
                      <a:srgbClr val="FFFFFF"/>
                    </a:solidFill>
                  </a:tcPr>
                </a:tc>
                <a:tc>
                  <a:txBody>
                    <a:bodyPr wrap="square"/>
                    <a:lstStyle/>
                    <a:p>
                      <a:r>
                        <a:rPr sz="1200" b="0">
                          <a:solidFill>
                            <a:srgbClr val="1C1C1E"/>
                          </a:solidFill>
                          <a:latin typeface="Calibri"/>
                        </a:rPr>
                        <a:t>A panel agrees the numbers, because there is no data to fit them to</a:t>
                      </a:r>
                    </a:p>
                  </a:txBody>
                  <a:tcPr marL="82296" marR="64008" marT="32004" marB="32004" anchor="ctr">
                    <a:solidFill>
                      <a:srgbClr val="FFFFFF"/>
                    </a:solidFill>
                  </a:tcPr>
                </a:tc>
                <a:tc>
                  <a:txBody>
                    <a:bodyPr wrap="square"/>
                    <a:lstStyle/>
                    <a:p>
                      <a:r>
                        <a:rPr sz="1200" b="0">
                          <a:solidFill>
                            <a:srgbClr val="1C1C1E"/>
                          </a:solidFill>
                          <a:latin typeface="Calibri"/>
                        </a:rPr>
                        <a:t>An impairment committee's lifetime multiple</a:t>
                      </a:r>
                    </a:p>
                  </a:txBody>
                  <a:tcPr marL="82296" marR="64008" marT="32004" marB="32004" anchor="ctr">
                    <a:solidFill>
                      <a:srgbClr val="FFFFFF"/>
                    </a:solidFill>
                  </a:tcPr>
                </a:tc>
                <a:tc>
                  <a:txBody>
                    <a:bodyPr wrap="square"/>
                    <a:lstStyle/>
                    <a:p>
                      <a:r>
                        <a:rPr sz="1200" b="0">
                          <a:solidFill>
                            <a:srgbClr val="1C1C1E"/>
                          </a:solidFill>
                          <a:latin typeface="Calibri"/>
                        </a:rPr>
                        <a:t>Who agreed, when, and on what reasoning</a:t>
                      </a:r>
                    </a:p>
                  </a:txBody>
                  <a:tcPr marL="82296" marR="64008" marT="32004" marB="32004" anchor="ctr">
                    <a:solidFill>
                      <a:srgbClr val="FFFFFF"/>
                    </a:solidFill>
                  </a:tcPr>
                </a:tc>
              </a:tr>
              <a:tr h="495299">
                <a:tc>
                  <a:txBody>
                    <a:bodyPr wrap="square"/>
                    <a:lstStyle/>
                    <a:p>
                      <a:r>
                        <a:rPr sz="1200" b="1">
                          <a:solidFill>
                            <a:srgbClr val="761422"/>
                          </a:solidFill>
                          <a:latin typeface="Calibri"/>
                        </a:rPr>
                        <a:t>Authorship</a:t>
                      </a:r>
                    </a:p>
                  </a:txBody>
                  <a:tcPr marL="82296" marR="64008" marT="32004" marB="32004" anchor="ctr">
                    <a:solidFill>
                      <a:srgbClr val="F6F3EF"/>
                    </a:solidFill>
                  </a:tcPr>
                </a:tc>
                <a:tc>
                  <a:txBody>
                    <a:bodyPr wrap="square"/>
                    <a:lstStyle/>
                    <a:p>
                      <a:r>
                        <a:rPr sz="1200" b="0">
                          <a:solidFill>
                            <a:srgbClr val="1C1C1E"/>
                          </a:solidFill>
                          <a:latin typeface="Calibri"/>
                        </a:rPr>
                        <a:t>Somebody writes the numbers down as policy</a:t>
                      </a:r>
                    </a:p>
                  </a:txBody>
                  <a:tcPr marL="82296" marR="64008" marT="32004" marB="32004" anchor="ctr">
                    <a:solidFill>
                      <a:srgbClr val="F6F3EF"/>
                    </a:solidFill>
                  </a:tcPr>
                </a:tc>
                <a:tc>
                  <a:txBody>
                    <a:bodyPr wrap="square"/>
                    <a:lstStyle/>
                    <a:p>
                      <a:r>
                        <a:rPr sz="1200" b="0">
                          <a:solidFill>
                            <a:srgbClr val="1C1C1E"/>
                          </a:solidFill>
                          <a:latin typeface="Calibri"/>
                        </a:rPr>
                        <a:t>A sanctions screening rule set</a:t>
                      </a:r>
                    </a:p>
                  </a:txBody>
                  <a:tcPr marL="82296" marR="64008" marT="32004" marB="32004" anchor="ctr">
                    <a:solidFill>
                      <a:srgbClr val="F6F3EF"/>
                    </a:solidFill>
                  </a:tcPr>
                </a:tc>
                <a:tc>
                  <a:txBody>
                    <a:bodyPr wrap="square"/>
                    <a:lstStyle/>
                    <a:p>
                      <a:r>
                        <a:rPr sz="1200" b="0">
                          <a:solidFill>
                            <a:srgbClr val="1C1C1E"/>
                          </a:solidFill>
                          <a:latin typeface="Calibri"/>
                        </a:rPr>
                        <a:t>The policy decision that caused the change</a:t>
                      </a:r>
                    </a:p>
                  </a:txBody>
                  <a:tcPr marL="82296" marR="64008" marT="32004" marB="32004" anchor="ctr">
                    <a:solidFill>
                      <a:srgbClr val="F6F3E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CONSEQUENCE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Training is a way of setting dials, not what makes something a model</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This is the first place the vocabulary earns its keep. Treating “trained” as the definition of a model, rather than as one route into the dials, produces two failures that are common enough to be unremarkable.</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corollary that a demand for fitting evidence is well-typed exactly when the dials exist and are reachable.</a:t>
            </a:r>
          </a:p>
        </p:txBody>
      </p:sp>
      <p:sp>
        <p:nvSpPr>
          <p:cNvPr id="13" name="TextBox 12"/>
          <p:cNvSpPr txBox="1"/>
          <p:nvPr/>
        </p:nvSpPr>
        <p:spPr>
          <a:xfrm>
            <a:off x="777240" y="1960181"/>
            <a:ext cx="10637215" cy="391941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The ill-typed question, answered anyway</a:t>
            </a:r>
          </a:p>
          <a:p>
            <a:pPr lvl="1">
              <a:lnSpc>
                <a:spcPct val="120000"/>
              </a:lnSpc>
              <a:spcBef>
                <a:spcPts val="0"/>
              </a:spcBef>
              <a:spcAft>
                <a:spcPts val="0"/>
              </a:spcAft>
            </a:pPr>
            <a:r>
              <a:rPr sz="1400" b="0">
                <a:solidFill>
                  <a:srgbClr val="4A4F57"/>
                </a:solidFill>
                <a:latin typeface="Calibri"/>
              </a:rPr>
              <a:t>A register demands a training set for a closed-form pricer. There is none, and there could not be one. The field is mandatory, so somebody types “n/a” or the date of the last release, and a meaningless value is now on the record in a field that reads as meaningful.</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argument that cannot be settled</a:t>
            </a:r>
          </a:p>
          <a:p>
            <a:pPr lvl="1">
              <a:lnSpc>
                <a:spcPct val="120000"/>
              </a:lnSpc>
              <a:spcBef>
                <a:spcPts val="0"/>
              </a:spcBef>
              <a:spcAft>
                <a:spcPts val="0"/>
              </a:spcAft>
            </a:pPr>
            <a:r>
              <a:rPr sz="1400" b="0">
                <a:solidFill>
                  <a:srgbClr val="4A4F57"/>
                </a:solidFill>
                <a:latin typeface="Calibri"/>
              </a:rPr>
              <a:t>“Is the rule set a model?” Whichever way it is decided, the decision is about a boundary nobody can state. Under this definition the question dissolves: a rule set is a kernel whose dials were set by authorship, and it owes the evidence authorship owes.</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the artefact that is governed as though it were fitted</a:t>
            </a:r>
          </a:p>
          <a:p>
            <a:pPr lvl="1">
              <a:lnSpc>
                <a:spcPct val="120000"/>
              </a:lnSpc>
              <a:spcBef>
                <a:spcPts val="0"/>
              </a:spcBef>
              <a:spcAft>
                <a:spcPts val="0"/>
              </a:spcAft>
            </a:pPr>
            <a:r>
              <a:rPr sz="1400" b="0">
                <a:solidFill>
                  <a:srgbClr val="4A4F57"/>
                </a:solidFill>
                <a:latin typeface="Calibri"/>
              </a:rPr>
              <a:t>A bought-in bureau score is demanded to produce development documentation it cannot produce, because the fitting happened at the bureau. The demand is not refused; it goes unanswered for two years while the model runs.</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repair is not a bigger form</a:t>
            </a:r>
          </a:p>
          <a:p>
            <a:pPr lvl="1">
              <a:lnSpc>
                <a:spcPct val="120000"/>
              </a:lnSpc>
              <a:spcBef>
                <a:spcPts val="0"/>
              </a:spcBef>
              <a:spcAft>
                <a:spcPts val="0"/>
              </a:spcAft>
            </a:pPr>
            <a:r>
              <a:rPr sz="1400" b="0">
                <a:solidFill>
                  <a:srgbClr val="4A4F57"/>
                </a:solidFill>
                <a:latin typeface="Calibri"/>
              </a:rPr>
              <a:t>It is to stop asking the artefact what kind it is. Part 2 shows the kind being computed from how the dials were set, so it cannot be typed wrong and cannot drift from the thing it describes.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input is not a column in somebody's table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reads inputs. Where those inputs come from is usually treated as plumbing, and that is where reproducibility is lost. A feature is what an input is when it has been given an identity.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 A feature is the unit MAYA governs; the four things on the right are what make the two-desk disagreement a conversation that has to happen before the second definition exists rather than after both have been used.</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Two desks, one name, two numbers</a:t>
            </a:r>
          </a:p>
          <a:p>
            <a:pPr lvl="1">
              <a:lnSpc>
                <a:spcPct val="120000"/>
              </a:lnSpc>
              <a:spcBef>
                <a:spcPts val="0"/>
              </a:spcBef>
              <a:spcAft>
                <a:spcPts val="0"/>
              </a:spcAft>
            </a:pPr>
            <a:r>
              <a:rPr sz="1250" b="0">
                <a:solidFill>
                  <a:srgbClr val="4A4F57"/>
                </a:solidFill>
                <a:latin typeface="Calibri"/>
              </a:rPr>
              <a:t>Both compute “adjusted close”. One adjusts for dividends and splits, the other for splits alone. Neither is wrong; they are answering different questions under one name, and the name is what travels.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Nobody notices, because both are plausible</a:t>
            </a:r>
          </a:p>
          <a:p>
            <a:pPr lvl="1">
              <a:lnSpc>
                <a:spcPct val="120000"/>
              </a:lnSpc>
              <a:spcBef>
                <a:spcPts val="0"/>
              </a:spcBef>
              <a:spcAft>
                <a:spcPts val="0"/>
              </a:spcAft>
            </a:pPr>
            <a:r>
              <a:rPr sz="1250" b="0">
                <a:solidFill>
                  <a:srgbClr val="4A4F57"/>
                </a:solidFill>
                <a:latin typeface="Calibri"/>
              </a:rPr>
              <a:t>The two numbers differ by a few per cent. Every downstream check passes. The disagreement surfaces years later, in a reconciliation nobody budgeted for.</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A column cannot fix this</a:t>
            </a:r>
          </a:p>
          <a:p>
            <a:pPr lvl="1">
              <a:lnSpc>
                <a:spcPct val="120000"/>
              </a:lnSpc>
              <a:spcBef>
                <a:spcPts val="0"/>
              </a:spcBef>
              <a:spcAft>
                <a:spcPts val="0"/>
              </a:spcAft>
            </a:pPr>
            <a:r>
              <a:rPr sz="1250" b="0">
                <a:solidFill>
                  <a:srgbClr val="4A4F57"/>
                </a:solidFill>
                <a:latin typeface="Calibri"/>
              </a:rPr>
              <a:t>A column is a place values sit. It has no owner, no definition and no history, so there is nothing for the two desks to disagree about explicitly.</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feature adds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A name, a namespace and an owner</a:t>
            </a:r>
          </a:p>
          <a:p>
            <a:pPr lvl="1">
              <a:lnSpc>
                <a:spcPct val="120000"/>
              </a:lnSpc>
              <a:spcBef>
                <a:spcPts val="0"/>
              </a:spcBef>
              <a:spcAft>
                <a:spcPts val="0"/>
              </a:spcAft>
            </a:pPr>
            <a:r>
              <a:rPr sz="1150" b="0">
                <a:solidFill>
                  <a:srgbClr val="4A4F57"/>
                </a:solidFill>
                <a:latin typeface="Calibri"/>
              </a:rPr>
              <a:t>So there is exactly one adjusted close in a namespace, and somebody answerable for what it means.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typed schema and an index</a:t>
            </a:r>
          </a:p>
          <a:p>
            <a:pPr lvl="1">
              <a:lnSpc>
                <a:spcPct val="120000"/>
              </a:lnSpc>
              <a:spcBef>
                <a:spcPts val="0"/>
              </a:spcBef>
              <a:spcAft>
                <a:spcPts val="0"/>
              </a:spcAft>
            </a:pPr>
            <a:r>
              <a:rPr sz="1150" b="0">
                <a:solidFill>
                  <a:srgbClr val="4A4F57"/>
                </a:solidFill>
                <a:latin typeface="Calibri"/>
              </a:rPr>
              <a:t>The attributes with their types and units, and the columns that identify a row — a date, and usually an entity. The index is fixed for the life of the feature.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 statement of where rows come from</a:t>
            </a:r>
          </a:p>
          <a:p>
            <a:pPr lvl="1">
              <a:lnSpc>
                <a:spcPct val="120000"/>
              </a:lnSpc>
              <a:spcBef>
                <a:spcPts val="0"/>
              </a:spcBef>
              <a:spcAft>
                <a:spcPts val="0"/>
              </a:spcAft>
            </a:pPr>
            <a:r>
              <a:rPr sz="1150" b="0">
                <a:solidFill>
                  <a:srgbClr val="4A4F57"/>
                </a:solidFill>
                <a:latin typeface="Calibri"/>
              </a:rPr>
              <a:t>A file, a read-only query, a reviewed producer, or an expression over other features. Not “somebody loads it”.</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And a rule for the gaps</a:t>
            </a:r>
          </a:p>
          <a:p>
            <a:pPr lvl="1">
              <a:lnSpc>
                <a:spcPct val="120000"/>
              </a:lnSpc>
              <a:spcBef>
                <a:spcPts val="0"/>
              </a:spcBef>
              <a:spcAft>
                <a:spcPts val="0"/>
              </a:spcAft>
            </a:pPr>
            <a:r>
              <a:rPr sz="1150" b="0">
                <a:solidFill>
                  <a:srgbClr val="4A4F57"/>
                </a:solidFill>
                <a:latin typeface="Calibri"/>
              </a:rPr>
              <a:t>What to do when a date has no value: leave it null, carry the last one forward for at most n days, or interpolate. Declared once, not decided afresh in each query.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LAYERS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definition, its versions, and — shortly — its data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is not one object. Separating how a number is produced from a frozen record of how it was produced is what lets a definition be corrected without rewriting history, and it is the pattern every governed object in MAYA follows.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 version freezes how a number is produced. It does not freeze the number: resolve one version a hundred times as its source moves and it may return a hundred different answers, each of them correct.</a:t>
            </a:r>
          </a:p>
        </p:txBody>
      </p:sp>
      <p:graphicFrame>
        <p:nvGraphicFramePr>
          <p:cNvPr id="13" name="Table 12"/>
          <p:cNvGraphicFramePr>
            <a:graphicFrameLocks noGrp="1"/>
          </p:cNvGraphicFramePr>
          <p:nvPr/>
        </p:nvGraphicFramePr>
        <p:xfrm>
          <a:off x="777240" y="2284984"/>
          <a:ext cx="10637213" cy="2672016"/>
        </p:xfrm>
        <a:graphic>
          <a:graphicData uri="http://schemas.openxmlformats.org/drawingml/2006/table">
            <a:tbl>
              <a:tblPr firstRow="1">
                <a:tableStyleId>{5C22544A-7EE6-4342-B048-85BDC9FD1C3A}</a:tableStyleId>
              </a:tblPr>
              <a:tblGrid>
                <a:gridCol w="1375501"/>
                <a:gridCol w="4585006"/>
                <a:gridCol w="3117804"/>
                <a:gridCol w="1558902"/>
              </a:tblGrid>
              <a:tr h="318579">
                <a:tc>
                  <a:txBody>
                    <a:bodyPr wrap="square"/>
                    <a:lstStyle/>
                    <a:p>
                      <a:r>
                        <a:rPr sz="1300" b="1">
                          <a:solidFill>
                            <a:srgbClr val="FFFFFF"/>
                          </a:solidFill>
                          <a:latin typeface="Calibri"/>
                        </a:rPr>
                        <a:t>Layer</a:t>
                      </a:r>
                    </a:p>
                  </a:txBody>
                  <a:tcPr marL="82296" marR="64008" marT="32004" marB="32004" anchor="ctr">
                    <a:solidFill>
                      <a:srgbClr val="A51C30"/>
                    </a:solidFill>
                  </a:tcPr>
                </a:tc>
                <a:tc>
                  <a:txBody>
                    <a:bodyPr wrap="square"/>
                    <a:lstStyle/>
                    <a:p>
                      <a:r>
                        <a:rPr sz="1300" b="1">
                          <a:solidFill>
                            <a:srgbClr val="FFFFFF"/>
                          </a:solidFill>
                          <a:latin typeface="Calibri"/>
                        </a:rPr>
                        <a:t>What it is</a:t>
                      </a:r>
                    </a:p>
                  </a:txBody>
                  <a:tcPr marL="82296" marR="64008" marT="32004" marB="32004" anchor="ctr">
                    <a:solidFill>
                      <a:srgbClr val="A51C30"/>
                    </a:solidFill>
                  </a:tcPr>
                </a:tc>
                <a:tc>
                  <a:txBody>
                    <a:bodyPr wrap="square"/>
                    <a:lstStyle/>
                    <a:p>
                      <a:r>
                        <a:rPr sz="1300" b="1">
                          <a:solidFill>
                            <a:srgbClr val="FFFFFF"/>
                          </a:solidFill>
                          <a:latin typeface="Calibri"/>
                        </a:rPr>
                        <a:t>What changing it means</a:t>
                      </a:r>
                    </a:p>
                  </a:txBody>
                  <a:tcPr marL="82296" marR="64008" marT="32004" marB="32004" anchor="ctr">
                    <a:solidFill>
                      <a:srgbClr val="A51C30"/>
                    </a:solidFill>
                  </a:tcPr>
                </a:tc>
                <a:tc>
                  <a:txBody>
                    <a:bodyPr wrap="square"/>
                    <a:lstStyle/>
                    <a:p>
                      <a:r>
                        <a:rPr sz="1300" b="1">
                          <a:solidFill>
                            <a:srgbClr val="FFFFFF"/>
                          </a:solidFill>
                          <a:latin typeface="Calibri"/>
                        </a:rPr>
                        <a:t>Written as</a:t>
                      </a:r>
                    </a:p>
                  </a:txBody>
                  <a:tcPr marL="82296" marR="64008" marT="32004" marB="32004" anchor="ctr">
                    <a:solidFill>
                      <a:srgbClr val="A51C30"/>
                    </a:solidFill>
                  </a:tcPr>
                </a:tc>
              </a:tr>
              <a:tr h="784479">
                <a:tc>
                  <a:txBody>
                    <a:bodyPr wrap="square"/>
                    <a:lstStyle/>
                    <a:p>
                      <a:r>
                        <a:rPr sz="1400" b="1">
                          <a:solidFill>
                            <a:srgbClr val="761422"/>
                          </a:solidFill>
                          <a:latin typeface="Calibri"/>
                        </a:rPr>
                        <a:t>Definition</a:t>
                      </a:r>
                    </a:p>
                  </a:txBody>
                  <a:tcPr marL="82296" marR="64008" marT="32004" marB="32004" anchor="ctr">
                    <a:solidFill>
                      <a:srgbClr val="FFFFFF"/>
                    </a:solidFill>
                  </a:tcPr>
                </a:tc>
                <a:tc>
                  <a:txBody>
                    <a:bodyPr wrap="square"/>
                    <a:lstStyle/>
                    <a:p>
                      <a:r>
                        <a:rPr sz="1400" b="0">
                          <a:solidFill>
                            <a:srgbClr val="1C1C1E"/>
                          </a:solidFill>
                          <a:latin typeface="Calibri"/>
                        </a:rPr>
                        <a:t>The named description of how the values are produced: schema, source, fill rules, quality checks</a:t>
                      </a:r>
                    </a:p>
                  </a:txBody>
                  <a:tcPr marL="82296" marR="64008" marT="32004" marB="32004" anchor="ctr">
                    <a:solidFill>
                      <a:srgbClr val="FFFFFF"/>
                    </a:solidFill>
                  </a:tcPr>
                </a:tc>
                <a:tc>
                  <a:txBody>
                    <a:bodyPr wrap="square"/>
                    <a:lstStyle/>
                    <a:p>
                      <a:r>
                        <a:rPr sz="1400" b="0">
                          <a:solidFill>
                            <a:srgbClr val="1C1C1E"/>
                          </a:solidFill>
                          <a:latin typeface="Calibri"/>
                        </a:rPr>
                        <a:t>Editable while it is a draft; after that, a change mints a version</a:t>
                      </a:r>
                    </a:p>
                  </a:txBody>
                  <a:tcPr marL="82296" marR="64008" marT="32004" marB="32004" anchor="ctr">
                    <a:solidFill>
                      <a:srgbClr val="FFFFFF"/>
                    </a:solidFill>
                  </a:tcPr>
                </a:tc>
                <a:tc>
                  <a:txBody>
                    <a:bodyPr wrap="square"/>
                    <a:lstStyle/>
                    <a:p>
                      <a:r>
                        <a:rPr sz="1400" b="0">
                          <a:solidFill>
                            <a:srgbClr val="1C1C1E"/>
                          </a:solidFill>
                          <a:latin typeface="Calibri"/>
                        </a:rPr>
                        <a:t>maya://feature/dscr</a:t>
                      </a:r>
                    </a:p>
                  </a:txBody>
                  <a:tcPr marL="82296" marR="64008" marT="32004" marB="32004" anchor="ctr">
                    <a:solidFill>
                      <a:srgbClr val="FFFFFF"/>
                    </a:solidFill>
                  </a:tcPr>
                </a:tc>
              </a:tr>
              <a:tr h="784479">
                <a:tc>
                  <a:txBody>
                    <a:bodyPr wrap="square"/>
                    <a:lstStyle/>
                    <a:p>
                      <a:r>
                        <a:rPr sz="1400" b="1">
                          <a:solidFill>
                            <a:srgbClr val="761422"/>
                          </a:solidFill>
                          <a:latin typeface="Calibri"/>
                        </a:rPr>
                        <a:t>Version</a:t>
                      </a:r>
                    </a:p>
                  </a:txBody>
                  <a:tcPr marL="82296" marR="64008" marT="32004" marB="32004" anchor="ctr">
                    <a:solidFill>
                      <a:srgbClr val="F6F3EF"/>
                    </a:solidFill>
                  </a:tcPr>
                </a:tc>
                <a:tc>
                  <a:txBody>
                    <a:bodyPr wrap="square"/>
                    <a:lstStyle/>
                    <a:p>
                      <a:r>
                        <a:rPr sz="1400" b="0">
                          <a:solidFill>
                            <a:srgbClr val="1C1C1E"/>
                          </a:solidFill>
                          <a:latin typeface="Calibri"/>
                        </a:rPr>
                        <a:t>An immutable snapshot of the definition, minted when its content changes, and classified breaking, behavioural or additive</a:t>
                      </a:r>
                    </a:p>
                  </a:txBody>
                  <a:tcPr marL="82296" marR="64008" marT="32004" marB="32004" anchor="ctr">
                    <a:solidFill>
                      <a:srgbClr val="F6F3EF"/>
                    </a:solidFill>
                  </a:tcPr>
                </a:tc>
                <a:tc>
                  <a:txBody>
                    <a:bodyPr wrap="square"/>
                    <a:lstStyle/>
                    <a:p>
                      <a:r>
                        <a:rPr sz="1400" b="0">
                          <a:solidFill>
                            <a:srgbClr val="1C1C1E"/>
                          </a:solidFill>
                          <a:latin typeface="Calibri"/>
                        </a:rPr>
                        <a:t>Nothing. A version is frozen, and the old one stays resolvable</a:t>
                      </a:r>
                    </a:p>
                  </a:txBody>
                  <a:tcPr marL="82296" marR="64008" marT="32004" marB="32004" anchor="ctr">
                    <a:solidFill>
                      <a:srgbClr val="F6F3EF"/>
                    </a:solidFill>
                  </a:tcPr>
                </a:tc>
                <a:tc>
                  <a:txBody>
                    <a:bodyPr wrap="square"/>
                    <a:lstStyle/>
                    <a:p>
                      <a:r>
                        <a:rPr sz="1400" b="0">
                          <a:solidFill>
                            <a:srgbClr val="1C1C1E"/>
                          </a:solidFill>
                          <a:latin typeface="Calibri"/>
                        </a:rPr>
                        <a:t>maya://feature/dscr@v3</a:t>
                      </a:r>
                    </a:p>
                  </a:txBody>
                  <a:tcPr marL="82296" marR="64008" marT="32004" marB="32004" anchor="ctr">
                    <a:solidFill>
                      <a:srgbClr val="F6F3EF"/>
                    </a:solidFill>
                  </a:tcPr>
                </a:tc>
              </a:tr>
              <a:tr h="784479">
                <a:tc>
                  <a:txBody>
                    <a:bodyPr wrap="square"/>
                    <a:lstStyle/>
                    <a:p>
                      <a:r>
                        <a:rPr sz="1400" b="1">
                          <a:solidFill>
                            <a:srgbClr val="761422"/>
                          </a:solidFill>
                          <a:latin typeface="Calibri"/>
                        </a:rPr>
                        <a:t>The data</a:t>
                      </a:r>
                    </a:p>
                  </a:txBody>
                  <a:tcPr marL="82296" marR="64008" marT="32004" marB="32004" anchor="ctr">
                    <a:solidFill>
                      <a:srgbClr val="FFFFFF"/>
                    </a:solidFill>
                  </a:tcPr>
                </a:tc>
                <a:tc>
                  <a:txBody>
                    <a:bodyPr wrap="square"/>
                    <a:lstStyle/>
                    <a:p>
                      <a:r>
                        <a:rPr sz="1400" b="0">
                          <a:solidFill>
                            <a:srgbClr val="1C1C1E"/>
                          </a:solidFill>
                          <a:latin typeface="Calibri"/>
                        </a:rPr>
                        <a:t>The rows themselves, which arrive over time and are restated over time</a:t>
                      </a:r>
                    </a:p>
                  </a:txBody>
                  <a:tcPr marL="82296" marR="64008" marT="32004" marB="32004" anchor="ctr">
                    <a:solidFill>
                      <a:srgbClr val="FFFFFF"/>
                    </a:solidFill>
                  </a:tcPr>
                </a:tc>
                <a:tc>
                  <a:txBody>
                    <a:bodyPr wrap="square"/>
                    <a:lstStyle/>
                    <a:p>
                      <a:r>
                        <a:rPr sz="1400" b="0">
                          <a:solidFill>
                            <a:srgbClr val="1C1C1E"/>
                          </a:solidFill>
                          <a:latin typeface="Calibri"/>
                        </a:rPr>
                        <a:t>Covered four slides on, once the two clocks have been introduced</a:t>
                      </a:r>
                    </a:p>
                  </a:txBody>
                  <a:tcPr marL="82296" marR="64008" marT="32004" marB="32004" anchor="ctr">
                    <a:solidFill>
                      <a:srgbClr val="FFFFFF"/>
                    </a:solidFill>
                  </a:tcPr>
                </a:tc>
                <a:tc>
                  <a:txBody>
                    <a:bodyPr wrap="square"/>
                    <a:lstStyle/>
                    <a:p>
                      <a:r>
                        <a:rPr sz="1400" b="0">
                          <a:solidFill>
                            <a:srgbClr val="1C1C1E"/>
                          </a:solidFill>
                          <a:latin typeface="Calibri"/>
                        </a:rPr>
                        <a:t>—</a:t>
                      </a:r>
                    </a:p>
                  </a:txBody>
                  <a:tcPr marL="82296" marR="64008" marT="32004" marB="32004"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TWO CLOCKS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When it was true, and when you found out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fact a model reads carries two independent times. Treating them as one is the dominant silent failure in this domain, because it improves every metric it corrupts — so nothing in the numbers ever asks to be investigated.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§5.1 and paper §5.1. maya/resolution/resolver.py holds the cut; tests/test_properties.py::test_a_restatement_never_overwrites holds the append. The next slide is why this is worth two columns of a schema.</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two times</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Event time</a:t>
            </a:r>
          </a:p>
          <a:p>
            <a:pPr lvl="1">
              <a:lnSpc>
                <a:spcPct val="120000"/>
              </a:lnSpc>
              <a:spcBef>
                <a:spcPts val="0"/>
              </a:spcBef>
              <a:spcAft>
                <a:spcPts val="0"/>
              </a:spcAft>
            </a:pPr>
            <a:r>
              <a:rPr sz="1200" b="0">
                <a:solidFill>
                  <a:srgbClr val="4A4F57"/>
                </a:solidFill>
                <a:latin typeface="Calibri"/>
              </a:rPr>
              <a:t>The moment the fact held in the world. The quarter a set of accounts is about; the day a balance stood at that level.</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Ingest time</a:t>
            </a:r>
          </a:p>
          <a:p>
            <a:pPr lvl="1">
              <a:lnSpc>
                <a:spcPct val="120000"/>
              </a:lnSpc>
              <a:spcBef>
                <a:spcPts val="0"/>
              </a:spcBef>
              <a:spcAft>
                <a:spcPts val="0"/>
              </a:spcAft>
            </a:pPr>
            <a:r>
              <a:rPr sz="1200" b="0">
                <a:solidFill>
                  <a:srgbClr val="4A4F57"/>
                </a:solidFill>
                <a:latin typeface="Calibri"/>
              </a:rPr>
              <a:t>The moment the recording system could first have known it. The day the accounts landed in the warehouse; the night the file was loaded.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They are not the same, and the gap is not small</a:t>
            </a:r>
          </a:p>
          <a:p>
            <a:pPr lvl="1">
              <a:lnSpc>
                <a:spcPct val="120000"/>
              </a:lnSpc>
              <a:spcBef>
                <a:spcPts val="0"/>
              </a:spcBef>
              <a:spcAft>
                <a:spcPts val="0"/>
              </a:spcAft>
            </a:pPr>
            <a:r>
              <a:rPr sz="1200" b="0">
                <a:solidFill>
                  <a:srgbClr val="4A4F57"/>
                </a:solidFill>
                <a:latin typeface="Calibri"/>
              </a:rPr>
              <a:t>Filed accounts reach a bank weeks after the quarter they describe. A default is confirmed months after the missed payment that caused it.</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follows</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correction is a new record, not an edit</a:t>
            </a:r>
          </a:p>
          <a:p>
            <a:pPr lvl="1">
              <a:lnSpc>
                <a:spcPct val="120000"/>
              </a:lnSpc>
              <a:spcBef>
                <a:spcPts val="0"/>
              </a:spcBef>
              <a:spcAft>
                <a:spcPts val="0"/>
              </a:spcAft>
            </a:pPr>
            <a:r>
              <a:rPr sz="1200" b="0">
                <a:solidFill>
                  <a:srgbClr val="4A4F57"/>
                </a:solidFill>
                <a:latin typeface="Calibri"/>
              </a:rPr>
              <a:t>Same event time, later ingest time, nothing overwritten. Both rows are true: one is what was known then, the other what is known now.</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“what did we know on 31 March” is a filter</a:t>
            </a:r>
          </a:p>
          <a:p>
            <a:pPr lvl="1">
              <a:lnSpc>
                <a:spcPct val="120000"/>
              </a:lnSpc>
              <a:spcBef>
                <a:spcPts val="0"/>
              </a:spcBef>
              <a:spcAft>
                <a:spcPts val="0"/>
              </a:spcAft>
            </a:pPr>
            <a:r>
              <a:rPr sz="1200" b="0">
                <a:solidFill>
                  <a:srgbClr val="4A4F57"/>
                </a:solidFill>
                <a:latin typeface="Calibri"/>
              </a:rPr>
              <a:t>Rather than an archaeology project. Keep every row whose ingest time is at or before the cut, then take the latest per key.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a store that overwrites cannot answer it at all</a:t>
            </a:r>
          </a:p>
          <a:p>
            <a:pPr lvl="1">
              <a:lnSpc>
                <a:spcPct val="120000"/>
              </a:lnSpc>
              <a:spcBef>
                <a:spcPts val="0"/>
              </a:spcBef>
              <a:spcAft>
                <a:spcPts val="0"/>
              </a:spcAft>
            </a:pPr>
            <a:r>
              <a:rPr sz="1200" b="0">
                <a:solidFill>
                  <a:srgbClr val="4A4F57"/>
                </a:solidFill>
                <a:latin typeface="Calibri"/>
              </a:rPr>
              <a:t>Not slowly — at all. Once the correction has replaced the earlier row, what the decision saw is gone, and no query written afterwards can recover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ONE CLOCK LEAKS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filed accounts that were restated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borrower files Q1 accounts dated 31 March. They land in the warehouse on 20 May. The bank declines an application on 15 June. In August the borrower restates those accounts downward, and the debt-service ratio falls from 1.20 to 0.40. Both rows are true, and both belong in the store.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the worked example of the restated accounts. Part 2 states the read as an operator and shows why the bound that matters is the earlier of the two dates, which is one character and the whole guarantee.</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Read with one clock, the training row gets 0.40</a:t>
            </a:r>
          </a:p>
          <a:p>
            <a:pPr lvl="1">
              <a:lnSpc>
                <a:spcPct val="120000"/>
              </a:lnSpc>
              <a:spcBef>
                <a:spcPts val="0"/>
              </a:spcBef>
              <a:spcAft>
                <a:spcPts val="0"/>
              </a:spcAft>
            </a:pPr>
            <a:r>
              <a:rPr sz="1400" b="0">
                <a:solidFill>
                  <a:srgbClr val="4A4F57"/>
                </a:solidFill>
                <a:latin typeface="Calibri"/>
              </a:rPr>
              <a:t>Because 0.40 is the current value for Q1, and “Q1” is all the query asks for. The model now learns to predict defaults using a number that exists because the default already happened.</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model then assesses excellently and performs badly</a:t>
            </a:r>
          </a:p>
          <a:p>
            <a:pPr lvl="1">
              <a:lnSpc>
                <a:spcPct val="120000"/>
              </a:lnSpc>
              <a:spcBef>
                <a:spcPts val="0"/>
              </a:spcBef>
              <a:spcAft>
                <a:spcPts val="0"/>
              </a:spcAft>
            </a:pPr>
            <a:r>
              <a:rPr sz="1400" b="0">
                <a:solidFill>
                  <a:srgbClr val="4A4F57"/>
                </a:solidFill>
                <a:latin typeface="Calibri"/>
              </a:rPr>
              <a:t>It has been shown the answers. Discrimination on the development sample is outstanding, discrimination in production is ordinary, and the post-mortem blames drift.</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Read with two clocks, it gets 1.20</a:t>
            </a:r>
          </a:p>
          <a:p>
            <a:pPr lvl="1">
              <a:lnSpc>
                <a:spcPct val="120000"/>
              </a:lnSpc>
              <a:spcBef>
                <a:spcPts val="0"/>
              </a:spcBef>
              <a:spcAft>
                <a:spcPts val="0"/>
              </a:spcAft>
            </a:pPr>
            <a:r>
              <a:rPr sz="1400" b="0">
                <a:solidFill>
                  <a:srgbClr val="4A4F57"/>
                </a:solidFill>
                <a:latin typeface="Calibri"/>
              </a:rPr>
              <a:t>Because on 15 June the restatement had not been made, so nothing in the world could have told the bank about it. That is the number the decision was actually taken on.</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a row labelled in September correctly gets 0.40</a:t>
            </a:r>
          </a:p>
          <a:p>
            <a:pPr lvl="1">
              <a:lnSpc>
                <a:spcPct val="120000"/>
              </a:lnSpc>
              <a:spcBef>
                <a:spcPts val="0"/>
              </a:spcBef>
              <a:spcAft>
                <a:spcPts val="0"/>
              </a:spcAft>
            </a:pPr>
            <a:r>
              <a:rPr sz="1400" b="0">
                <a:solidFill>
                  <a:srgbClr val="4A4F57"/>
                </a:solidFill>
                <a:latin typeface="Calibri"/>
              </a:rPr>
              <a:t>The rule is not “ignore restatements”. It is a rule about the moment each one becomes knowable, and it gives a different answer for each decision date — which is exactly what makes it a rule rather than a convention.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named bundle of features, aligned on one index</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is not defined over a feature. It is defined over several of them, lined up so that each row carries a value for every input. That object has a name of its own because it is versioned, approved and pinned as a unit.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§6; maya/resolution/featureset.py. A member index carrying columns the set does not have is refused unless an aggregation is declared for them, because silently collapsing rows is a modelling decision and not a plumbing one.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it holds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Attributes mapped from members</a:t>
            </a:r>
          </a:p>
          <a:p>
            <a:pPr lvl="1">
              <a:lnSpc>
                <a:spcPct val="120000"/>
              </a:lnSpc>
              <a:spcBef>
                <a:spcPts val="0"/>
              </a:spcBef>
              <a:spcAft>
                <a:spcPts val="0"/>
              </a:spcAft>
            </a:pPr>
            <a:r>
              <a:rPr sz="1300" b="0">
                <a:solidFill>
                  <a:srgbClr val="4A4F57"/>
                </a:solidFill>
                <a:latin typeface="Calibri"/>
              </a:rPr>
              <a:t>Each attribute of the set names the feature it comes from, the attribute inside that feature, and any cast or override it needs.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One index for all of them</a:t>
            </a:r>
          </a:p>
          <a:p>
            <a:pPr lvl="1">
              <a:lnSpc>
                <a:spcPct val="120000"/>
              </a:lnSpc>
              <a:spcBef>
                <a:spcPts val="0"/>
              </a:spcBef>
              <a:spcAft>
                <a:spcPts val="0"/>
              </a:spcAft>
            </a:pPr>
            <a:r>
              <a:rPr sz="1300" b="0">
                <a:solidFill>
                  <a:srgbClr val="4A4F57"/>
                </a:solidFill>
                <a:latin typeface="Calibri"/>
              </a:rPr>
              <a:t>The members may be daily, monthly and event-driven. The set declares the grid every row sits on, and how each member is brought onto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 alignment rule, stated</a:t>
            </a:r>
          </a:p>
          <a:p>
            <a:pPr lvl="1">
              <a:lnSpc>
                <a:spcPct val="120000"/>
              </a:lnSpc>
              <a:spcBef>
                <a:spcPts val="0"/>
              </a:spcBef>
              <a:spcAft>
                <a:spcPts val="0"/>
              </a:spcAft>
            </a:pPr>
            <a:r>
              <a:rPr sz="1300" b="0">
                <a:solidFill>
                  <a:srgbClr val="4A4F57"/>
                </a:solidFill>
                <a:latin typeface="Calibri"/>
              </a:rPr>
              <a:t>Inner keeps only rows every member has; outer keeps them all; left follows one member; as-of takes the most recent value within a stated tolerance.</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Why it is a separate object</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Because the join is where judgement hides</a:t>
            </a:r>
          </a:p>
          <a:p>
            <a:pPr lvl="1">
              <a:lnSpc>
                <a:spcPct val="120000"/>
              </a:lnSpc>
              <a:spcBef>
                <a:spcPts val="0"/>
              </a:spcBef>
              <a:spcAft>
                <a:spcPts val="0"/>
              </a:spcAft>
            </a:pPr>
            <a:r>
              <a:rPr sz="1200" b="0">
                <a:solidFill>
                  <a:srgbClr val="4A4F57"/>
                </a:solidFill>
                <a:latin typeface="Calibri"/>
              </a:rPr>
              <a:t>Whether a monthly figure is carried forward into daily rows, and for how long, changes the numbers materially. Written in a query, it is invisible; written in the set, it is reviewable.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a model reads a set, not a feature</a:t>
            </a:r>
          </a:p>
          <a:p>
            <a:pPr lvl="1">
              <a:lnSpc>
                <a:spcPct val="120000"/>
              </a:lnSpc>
              <a:spcBef>
                <a:spcPts val="0"/>
              </a:spcBef>
              <a:spcAft>
                <a:spcPts val="0"/>
              </a:spcAft>
            </a:pPr>
            <a:r>
              <a:rPr sz="1200" b="0">
                <a:solidFill>
                  <a:srgbClr val="4A4F57"/>
                </a:solidFill>
                <a:latin typeface="Calibri"/>
              </a:rPr>
              <a:t>So the question “does this data fit this model” is asked once, against one object, rather than once per input by whoever wrote the script.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Because it stores nothing until it is asked to</a:t>
            </a:r>
          </a:p>
          <a:p>
            <a:pPr lvl="1">
              <a:lnSpc>
                <a:spcPct val="120000"/>
              </a:lnSpc>
              <a:spcBef>
                <a:spcPts val="0"/>
              </a:spcBef>
              <a:spcAft>
                <a:spcPts val="0"/>
              </a:spcAft>
            </a:pPr>
            <a:r>
              <a:rPr sz="1200" b="0">
                <a:solidFill>
                  <a:srgbClr val="4A4F57"/>
                </a:solidFill>
                <a:latin typeface="Calibri"/>
              </a:rPr>
              <a:t>A feature set is a view. It holds the recipe, and produces rows when somebody resolves it — which keeps the definition and the data separate all the way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SCHEMA AND CONTENTS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What a model reads is a list of names and types, not a table</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15</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set has a schema — the attributes it provides, each with a type, a nullability and any bounds — and, separately, the rows that fill it. Keeping those two apart is what makes several later questions answerable at all.</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maya/formula/ir.py holds the contract; maya/services/warrants.py checks it and lists every attribute that misses rather than the first (tests/test_warrants.py::test_contract_mismatch_is_refused_listing_every_attribute).</a:t>
            </a:r>
          </a:p>
        </p:txBody>
      </p:sp>
      <p:sp>
        <p:nvSpPr>
          <p:cNvPr id="13" name="TextBox 12"/>
          <p:cNvSpPr txBox="1"/>
          <p:nvPr/>
        </p:nvSpPr>
        <p:spPr>
          <a:xfrm>
            <a:off x="777240" y="2252853"/>
            <a:ext cx="10637215" cy="342557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A model declares the schema it needs</a:t>
            </a:r>
          </a:p>
          <a:p>
            <a:pPr lvl="1">
              <a:lnSpc>
                <a:spcPct val="120000"/>
              </a:lnSpc>
              <a:spcBef>
                <a:spcPts val="0"/>
              </a:spcBef>
              <a:spcAft>
                <a:spcPts val="0"/>
              </a:spcAft>
            </a:pPr>
            <a:r>
              <a:rPr sz="1400" b="0">
                <a:solidFill>
                  <a:srgbClr val="4A4F57"/>
                </a:solidFill>
                <a:latin typeface="Calibri"/>
              </a:rPr>
              <a:t>Not the feature set it was built with. “I read dscr as a non-null float between 0 and 20, arrears as a non-negative integer, and ltv as a float.” That is the model's input contract.</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Any set whose schema satisfies it will do</a:t>
            </a:r>
          </a:p>
          <a:p>
            <a:pPr lvl="1">
              <a:lnSpc>
                <a:spcPct val="120000"/>
              </a:lnSpc>
              <a:spcBef>
                <a:spcPts val="0"/>
              </a:spcBef>
              <a:spcAft>
                <a:spcPts val="0"/>
              </a:spcAft>
            </a:pPr>
            <a:r>
              <a:rPr sz="1400" b="0">
                <a:solidFill>
                  <a:srgbClr val="4A4F57"/>
                </a:solidFill>
                <a:latin typeface="Calibri"/>
              </a:rPr>
              <a:t>Which is what lets a model be re-bound to next year's data, or to a different region's, without anybody re-reading the code to work out whether it is safe.</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So “does this data fit this model” is a comparison of two schemas</a:t>
            </a:r>
          </a:p>
          <a:p>
            <a:pPr lvl="1">
              <a:lnSpc>
                <a:spcPct val="120000"/>
              </a:lnSpc>
              <a:spcBef>
                <a:spcPts val="0"/>
              </a:spcBef>
              <a:spcAft>
                <a:spcPts val="0"/>
              </a:spcAft>
            </a:pPr>
            <a:r>
              <a:rPr sz="1400" b="0">
                <a:solidFill>
                  <a:srgbClr val="4A4F57"/>
                </a:solidFill>
                <a:latin typeface="Calibri"/>
              </a:rPr>
              <a:t>It is decidable, it does not require reading a single row, and it can be answered before the data exists. Part 2 shows it is the same comparison as three other questions a register normally implements separately.</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the answer, when it is no, can name the remedy</a:t>
            </a:r>
          </a:p>
          <a:p>
            <a:pPr lvl="1">
              <a:lnSpc>
                <a:spcPct val="120000"/>
              </a:lnSpc>
              <a:spcBef>
                <a:spcPts val="0"/>
              </a:spcBef>
              <a:spcAft>
                <a:spcPts val="0"/>
              </a:spcAft>
            </a:pPr>
            <a:r>
              <a:rPr sz="1400" b="0">
                <a:solidFill>
                  <a:srgbClr val="4A4F57"/>
                </a:solidFill>
                <a:latin typeface="Calibri"/>
              </a:rPr>
              <a:t>A missing attribute means the wrong data was bound. An attribute that accepts less than the contract asked for means somebody tightened a constraint without noticing it was a promise. Different mistakes, different fixes.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Choosing the dials from data — and the three things that takes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§2.2, the fitting morphism. In MAYA the four boxes are, in order: a pinned feature set, the declared target attribute, the training run on the firm's own compute, and the parameter set with its provenance.</a:t>
            </a:r>
          </a:p>
        </p:txBody>
      </p:sp>
      <p:sp>
        <p:nvSpPr>
          <p:cNvPr id="12" name="Rectangle 11"/>
          <p:cNvSpPr/>
          <p:nvPr/>
        </p:nvSpPr>
        <p:spPr>
          <a:xfrm>
            <a:off x="777240"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frozen input</a:t>
            </a:r>
          </a:p>
        </p:txBody>
      </p:sp>
      <p:sp>
        <p:nvSpPr>
          <p:cNvPr id="15" name="TextBox 14"/>
          <p:cNvSpPr txBox="1"/>
          <p:nvPr/>
        </p:nvSpPr>
        <p:spPr>
          <a:xfrm>
            <a:off x="960120"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exact, unchanging set of rows: these borrowers, these dates, these values</a:t>
            </a:r>
          </a:p>
        </p:txBody>
      </p:sp>
      <p:sp>
        <p:nvSpPr>
          <p:cNvPr id="16" name="Rectangle 15"/>
          <p:cNvSpPr/>
          <p:nvPr/>
        </p:nvSpPr>
        <p:spPr>
          <a:xfrm>
            <a:off x="3500551"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target</a:t>
            </a:r>
          </a:p>
        </p:txBody>
      </p:sp>
      <p:sp>
        <p:nvSpPr>
          <p:cNvPr id="19" name="TextBox 18"/>
          <p:cNvSpPr txBox="1"/>
          <p:nvPr/>
        </p:nvSpPr>
        <p:spPr>
          <a:xfrm>
            <a:off x="3683431"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thing the dials are chosen to reproduce — the outcome, named and dated</a:t>
            </a:r>
          </a:p>
        </p:txBody>
      </p:sp>
      <p:cxnSp>
        <p:nvCxnSpPr>
          <p:cNvPr id="20" name="Connector 19"/>
          <p:cNvCxnSpPr/>
          <p:nvPr/>
        </p:nvCxnSpPr>
        <p:spPr>
          <a:xfrm>
            <a:off x="3271951"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procedure</a:t>
            </a:r>
          </a:p>
        </p:txBody>
      </p:sp>
      <p:sp>
        <p:nvSpPr>
          <p:cNvPr id="24" name="TextBox 23"/>
          <p:cNvSpPr txBox="1"/>
          <p:nvPr/>
        </p:nvSpPr>
        <p:spPr>
          <a:xfrm>
            <a:off x="6406743"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estimator or optimiser, with its settings and its seed</a:t>
            </a:r>
          </a:p>
        </p:txBody>
      </p:sp>
      <p:cxnSp>
        <p:nvCxnSpPr>
          <p:cNvPr id="25" name="Connector 24"/>
          <p:cNvCxnSpPr/>
          <p:nvPr/>
        </p:nvCxnSpPr>
        <p:spPr>
          <a:xfrm>
            <a:off x="5995263"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38770"/>
            <a:ext cx="2467279"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38770"/>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03362"/>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record</a:t>
            </a:r>
          </a:p>
        </p:txBody>
      </p:sp>
      <p:sp>
        <p:nvSpPr>
          <p:cNvPr id="29" name="TextBox 28"/>
          <p:cNvSpPr txBox="1"/>
          <p:nvPr/>
        </p:nvSpPr>
        <p:spPr>
          <a:xfrm>
            <a:off x="9130055" y="1851850"/>
            <a:ext cx="2101519" cy="109626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Which dials came out, from which rows, by which act, and who ran it</a:t>
            </a:r>
          </a:p>
        </p:txBody>
      </p:sp>
      <p:cxnSp>
        <p:nvCxnSpPr>
          <p:cNvPr id="30" name="Connector 29"/>
          <p:cNvCxnSpPr/>
          <p:nvPr/>
        </p:nvCxnSpPr>
        <p:spPr>
          <a:xfrm>
            <a:off x="8718575" y="2207450"/>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286442"/>
            <a:ext cx="10637215" cy="2391981"/>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Training is this and nothing more: searching the space of dial settings for the one that best reproduces the target on the frozen input. The word carries connotations of scale and of neural networks; neither is part of the definition.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Calibration and estimation are the same construction with different search procedures and different targets. Elicitation and authorship skip the search, which is precisely why they owe a minute rather than a sample.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Every one of the four boxes above is an object that has to exist somewhere. Where one of them does not, the fit cannot be challenged — and the next slide is what each absence actually costs.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EACH IS NEEDED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absences, and what each one costs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§9 (parameter sets) and §29.1 (the leakage certificate). The second card is why the two clocks were introduced before this slide: a restated value is the commonest way the answer gets into the inputs.</a:t>
            </a:r>
          </a:p>
        </p:txBody>
      </p:sp>
      <p:sp>
        <p:nvSpPr>
          <p:cNvPr id="12" name="Rectangle 11"/>
          <p:cNvSpPr/>
          <p:nvPr/>
        </p:nvSpPr>
        <p:spPr>
          <a:xfrm>
            <a:off x="777240"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FROZEN INPUT</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fit cannot be reproduced or challenged</a:t>
            </a:r>
          </a:p>
        </p:txBody>
      </p:sp>
      <p:sp>
        <p:nvSpPr>
          <p:cNvPr id="16" name="TextBox 15"/>
          <p:cNvSpPr txBox="1"/>
          <p:nvPr/>
        </p:nvSpPr>
        <p:spPr>
          <a:xfrm>
            <a:off x="960120"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data” becomes whatever the query returned that afternoon. Re-run it a month later and the sample has grown, two vendors have restated and one join now matches differently. The refit does not reproduce the fit, and nobody can tell whether the difference is the data or the code. A challenger cannot challenge a number they cannot recreate.</a:t>
            </a:r>
          </a:p>
        </p:txBody>
      </p:sp>
      <p:sp>
        <p:nvSpPr>
          <p:cNvPr id="17" name="Rectangle 16"/>
          <p:cNvSpPr/>
          <p:nvPr/>
        </p:nvSpPr>
        <p:spPr>
          <a:xfrm>
            <a:off x="4377842"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NAMED TARGET</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450" b="1" i="0">
                <a:solidFill>
                  <a:srgbClr val="1C1C1E"/>
                </a:solidFill>
                <a:latin typeface="Georgia"/>
              </a:rPr>
              <a:t>You cannot tell a predictor from the answer in disguise</a:t>
            </a:r>
          </a:p>
        </p:txBody>
      </p:sp>
      <p:sp>
        <p:nvSpPr>
          <p:cNvPr id="21" name="TextBox 20"/>
          <p:cNvSpPr txBox="1"/>
          <p:nvPr/>
        </p:nvSpPr>
        <p:spPr>
          <a:xfrm>
            <a:off x="4560722" y="2364930"/>
            <a:ext cx="3070250" cy="318547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target is what the dials are chosen to reproduce, so it is also the one thing no input may secretly contain. Unnamed, there is nothing to test inputs against, and a field derived from the outcome — a recovery amount, a workout flag, a restated ratio — enters the fit looking like a legitimate predictor and performing like one.</a:t>
            </a:r>
          </a:p>
        </p:txBody>
      </p:sp>
      <p:sp>
        <p:nvSpPr>
          <p:cNvPr id="22" name="Rectangle 21"/>
          <p:cNvSpPr/>
          <p:nvPr/>
        </p:nvSpPr>
        <p:spPr>
          <a:xfrm>
            <a:off x="7978444"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WITHOUT A RECORD</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450" b="1" i="0">
                <a:solidFill>
                  <a:srgbClr val="1C1C1E"/>
                </a:solidFill>
                <a:latin typeface="Georgia"/>
              </a:rPr>
              <a:t>A refit and a redesign look identical six months on</a:t>
            </a:r>
          </a:p>
        </p:txBody>
      </p:sp>
      <p:sp>
        <p:nvSpPr>
          <p:cNvPr id="26" name="TextBox 25"/>
          <p:cNvSpPr txBox="1"/>
          <p:nvPr/>
        </p:nvSpPr>
        <p:spPr>
          <a:xfrm>
            <a:off x="8161324" y="2364930"/>
            <a:ext cx="3070250" cy="318547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Both arrive as “new numbers”. One is the same model on newer data and needs monitoring; the other is a different model and needs review. Absent a record of which act produced which dials, from which rows, over which window, a supervisor asking whether the model changed between two dates has asked a question with two defensible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version freezes how; a pin freezes what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third layer, promised earlier. A pin is a materialisation of one version of one feature, computed once and then immutable — the exact rows, with the exact values, as they stood when it was taken.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§4 and §7.2; maya/services/feature_data.py. Only a pinned object claims to be reproducible: a version resolved twice may legitimately differ, and MAYA does not pretend otherwise.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failure it prevents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A stable name over moving contents</a:t>
            </a:r>
          </a:p>
          <a:p>
            <a:pPr lvl="1">
              <a:lnSpc>
                <a:spcPct val="120000"/>
              </a:lnSpc>
              <a:spcBef>
                <a:spcPts val="0"/>
              </a:spcBef>
              <a:spcAft>
                <a:spcPts val="0"/>
              </a:spcAft>
            </a:pPr>
            <a:r>
              <a:rPr sz="1200" b="0">
                <a:solidFill>
                  <a:srgbClr val="4A4F57"/>
                </a:solidFill>
                <a:latin typeface="Calibri"/>
              </a:rPr>
              <a:t>“The March training set” names a file on a share drive. The file is regenerated in April from a corrected feed, under the same name. Nothing records that it changed, and every document that cites it now cites something else.</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Which is not carelessness</a:t>
            </a:r>
          </a:p>
          <a:p>
            <a:pPr lvl="1">
              <a:lnSpc>
                <a:spcPct val="120000"/>
              </a:lnSpc>
              <a:spcBef>
                <a:spcPts val="0"/>
              </a:spcBef>
              <a:spcAft>
                <a:spcPts val="0"/>
              </a:spcAft>
            </a:pPr>
            <a:r>
              <a:rPr sz="1200" b="0">
                <a:solidFill>
                  <a:srgbClr val="4A4F57"/>
                </a:solidFill>
                <a:latin typeface="Calibri"/>
              </a:rPr>
              <a:t>It is the default behaviour of every path, table and view anybody has. Reproducibility is not something a careful team achieves by being careful; it is a property a store either has or lacks.</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it fails silently, in the useful direction</a:t>
            </a:r>
          </a:p>
          <a:p>
            <a:pPr lvl="1">
              <a:lnSpc>
                <a:spcPct val="120000"/>
              </a:lnSpc>
              <a:spcBef>
                <a:spcPts val="0"/>
              </a:spcBef>
              <a:spcAft>
                <a:spcPts val="0"/>
              </a:spcAft>
            </a:pPr>
            <a:r>
              <a:rPr sz="1200" b="0">
                <a:solidFill>
                  <a:srgbClr val="4A4F57"/>
                </a:solidFill>
                <a:latin typeface="Calibri"/>
              </a:rPr>
              <a:t>The regenerated file is better data. The re-run gives better numbers. Nobody investigates an improvement.</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pin is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Values, resolved and sealed</a:t>
            </a:r>
          </a:p>
          <a:p>
            <a:pPr lvl="1">
              <a:lnSpc>
                <a:spcPct val="120000"/>
              </a:lnSpc>
              <a:spcBef>
                <a:spcPts val="0"/>
              </a:spcBef>
              <a:spcAft>
                <a:spcPts val="0"/>
              </a:spcAft>
            </a:pPr>
            <a:r>
              <a:rPr sz="1350" b="0">
                <a:solidFill>
                  <a:srgbClr val="4A4F57"/>
                </a:solidFill>
                <a:latin typeface="Calibri"/>
              </a:rPr>
              <a:t>One version, read as of a stated date under the declared fill rules, written down, and never recomputed.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Immutable, by construction rather than by policy</a:t>
            </a:r>
          </a:p>
          <a:p>
            <a:pPr lvl="1">
              <a:lnSpc>
                <a:spcPct val="120000"/>
              </a:lnSpc>
              <a:spcBef>
                <a:spcPts val="0"/>
              </a:spcBef>
              <a:spcAft>
                <a:spcPts val="0"/>
              </a:spcAft>
            </a:pPr>
            <a:r>
              <a:rPr sz="1350" b="0">
                <a:solidFill>
                  <a:srgbClr val="4A4F57"/>
                </a:solidFill>
                <a:latin typeface="Calibri"/>
              </a:rPr>
              <a:t>There is no operation that edits a pin. A correction produces a new pin, and the old one keeps returning the bytes it always returned.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Carrying what it took to make it</a:t>
            </a:r>
          </a:p>
          <a:p>
            <a:pPr lvl="1">
              <a:lnSpc>
                <a:spcPct val="120000"/>
              </a:lnSpc>
              <a:spcBef>
                <a:spcPts val="0"/>
              </a:spcBef>
              <a:spcAft>
                <a:spcPts val="0"/>
              </a:spcAft>
            </a:pPr>
            <a:r>
              <a:rPr sz="1350" b="0">
                <a:solidFill>
                  <a:srgbClr val="4A4F57"/>
                </a:solidFill>
                <a:latin typeface="Calibri"/>
              </a:rPr>
              <a:t>The version, the as-of date, the fill report — how many rows each rule filled and the longest run it filled — and the backends that produced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CONTENT ADDRESSING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pin is named by the hash of what is in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19</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is the definition of the hash and maya/core/chunker.py the fragment boundaries; tests/test_features.py::test_sc1_repin_is_byte_identical_and_changed_data_is_not, and ::test_sc12_unchanged_month_costs_under_five_percent for the sharing.</a:t>
            </a:r>
          </a:p>
        </p:txBody>
      </p:sp>
      <p:sp>
        <p:nvSpPr>
          <p:cNvPr id="12" name="TextBox 11"/>
          <p:cNvSpPr txBox="1"/>
          <p:nvPr/>
        </p:nvSpPr>
        <p:spPr>
          <a:xfrm>
            <a:off x="777240" y="1386967"/>
            <a:ext cx="10637215" cy="409028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name is computed, not chosen</a:t>
            </a:r>
          </a:p>
          <a:p>
            <a:pPr lvl="1">
              <a:lnSpc>
                <a:spcPct val="120000"/>
              </a:lnSpc>
              <a:spcBef>
                <a:spcPts val="0"/>
              </a:spcBef>
              <a:spcAft>
                <a:spcPts val="0"/>
              </a:spcAft>
            </a:pPr>
            <a:r>
              <a:rPr sz="1450" b="0">
                <a:solidFill>
                  <a:srgbClr val="4A4F57"/>
                </a:solidFill>
                <a:latin typeface="Calibri"/>
              </a:rPr>
              <a:t>A pin's identity is a hash over its own contents. Two pins of the same values have the same hash; change one value anywhere and the hash changes. There is no way to have a name that agrees while the contents differ.</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Over values, not over file bytes</a:t>
            </a:r>
          </a:p>
          <a:p>
            <a:pPr lvl="1">
              <a:lnSpc>
                <a:spcPct val="120000"/>
              </a:lnSpc>
              <a:spcBef>
                <a:spcPts val="0"/>
              </a:spcBef>
              <a:spcAft>
                <a:spcPts val="0"/>
              </a:spcAft>
            </a:pPr>
            <a:r>
              <a:rPr sz="1450" b="0">
                <a:solidFill>
                  <a:srgbClr val="4A4F57"/>
                </a:solidFill>
                <a:latin typeface="Calibri"/>
              </a:rPr>
              <a:t>The hash is taken over a canonical form of the data, so column order does not affect it, and two pins taken on different machines with different library versions agree if and only if the numbers agree.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Which makes verification a computation rather than a trust exercise</a:t>
            </a:r>
          </a:p>
          <a:p>
            <a:pPr lvl="1">
              <a:lnSpc>
                <a:spcPct val="120000"/>
              </a:lnSpc>
              <a:spcBef>
                <a:spcPts val="0"/>
              </a:spcBef>
              <a:spcAft>
                <a:spcPts val="0"/>
              </a:spcAft>
            </a:pPr>
            <a:r>
              <a:rPr sz="1450" b="0">
                <a:solidFill>
                  <a:srgbClr val="4A4F57"/>
                </a:solidFill>
                <a:latin typeface="Calibri"/>
              </a:rPr>
              <a:t>Hand a pin to somebody outside the firm and they can recompute the hash themselves. They are not taking the platform's word for anything: the name either follows from the contents or it does not.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And re-pinning unchanged data costs nothing and changes nothing</a:t>
            </a:r>
          </a:p>
          <a:p>
            <a:pPr lvl="1">
              <a:lnSpc>
                <a:spcPct val="120000"/>
              </a:lnSpc>
              <a:spcBef>
                <a:spcPts val="0"/>
              </a:spcBef>
              <a:spcAft>
                <a:spcPts val="0"/>
              </a:spcAft>
            </a:pPr>
            <a:r>
              <a:rPr sz="1450" b="0">
                <a:solidFill>
                  <a:srgbClr val="4A4F57"/>
                </a:solidFill>
                <a:latin typeface="Calibri"/>
              </a:rPr>
              <a:t>The same rows produce the same hash and the same stored fragments, so a month-end pin of a slow-moving feature shares almost everything with last month's. The storage cost of freezing history is the part that actually changed.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 A SET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Every member pinned, or none of them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feature set is pinned by pinning its members. There is no partial state, and the reason is not tidiness.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maya/services/featuresets.py; tests/test_warrants.py::test_cascade_rolls_back_entirely_on_a_member_failure and tests/test_materialization.py, which checks that all three materialisation policies seal by the same hash.</a:t>
            </a:r>
          </a:p>
        </p:txBody>
      </p:sp>
      <p:sp>
        <p:nvSpPr>
          <p:cNvPr id="13" name="TextBox 12"/>
          <p:cNvSpPr txBox="1"/>
          <p:nvPr/>
        </p:nvSpPr>
        <p:spPr>
          <a:xfrm>
            <a:off x="777240" y="1796034"/>
            <a:ext cx="10637215" cy="3882390"/>
          </a:xfrm>
          <a:prstGeom prst="rect">
            <a:avLst/>
          </a:prstGeom>
          <a:noFill/>
        </p:spPr>
        <p:txBody>
          <a:bodyPr wrap="square" lIns="0" rIns="0" tIns="0" bIns="0" anchor="t">
            <a:spAutoFit/>
          </a:bodyPr>
          <a:lstStyle/>
          <a:p>
            <a:pPr algn="l">
              <a:lnSpc>
                <a:spcPct val="120000"/>
              </a:lnSpc>
              <a:spcBef>
                <a:spcPts val="0"/>
              </a:spcBef>
              <a:spcAft>
                <a:spcPts val="100"/>
              </a:spcAft>
            </a:pPr>
            <a:r>
              <a:rPr sz="1650" b="1">
                <a:solidFill>
                  <a:srgbClr val="A51C30"/>
                </a:solidFill>
                <a:latin typeface="Calibri"/>
              </a:rPr>
              <a:t>▪  </a:t>
            </a:r>
            <a:r>
              <a:rPr sz="1650" b="1">
                <a:solidFill>
                  <a:srgbClr val="1C1C1E"/>
                </a:solidFill>
                <a:latin typeface="Calibri"/>
              </a:rPr>
              <a:t>A half-pinned set is not partly reproducible</a:t>
            </a:r>
          </a:p>
          <a:p>
            <a:pPr lvl="1">
              <a:lnSpc>
                <a:spcPct val="120000"/>
              </a:lnSpc>
              <a:spcBef>
                <a:spcPts val="0"/>
              </a:spcBef>
              <a:spcAft>
                <a:spcPts val="0"/>
              </a:spcAft>
            </a:pPr>
            <a:r>
              <a:rPr sz="1500" b="0">
                <a:solidFill>
                  <a:srgbClr val="4A4F57"/>
                </a:solidFill>
                <a:latin typeface="Calibri"/>
              </a:rPr>
              <a:t>It is not reproducible. Whichever members were left live can move underneath it, so a re-read of the “same” set returns different numbers — and the pinned members make it look as though it could not.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So the set refuses to pin while any member is unpinned</a:t>
            </a:r>
          </a:p>
          <a:p>
            <a:pPr lvl="1">
              <a:lnSpc>
                <a:spcPct val="120000"/>
              </a:lnSpc>
              <a:spcBef>
                <a:spcPts val="0"/>
              </a:spcBef>
              <a:spcAft>
                <a:spcPts val="0"/>
              </a:spcAft>
            </a:pPr>
            <a:r>
              <a:rPr sz="1500" b="0">
                <a:solidFill>
                  <a:srgbClr val="4A4F57"/>
                </a:solidFill>
                <a:latin typeface="Calibri"/>
              </a:rPr>
              <a:t>And a cascade pins them all under one shared name and as-of date, in one job. If any member fails its quality checks the whole cascade is rolled back, because a set that pinned four of five members is the state being avoided.</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The set's own pin is content-addressed too</a:t>
            </a:r>
          </a:p>
          <a:p>
            <a:pPr lvl="1">
              <a:lnSpc>
                <a:spcPct val="120000"/>
              </a:lnSpc>
              <a:spcBef>
                <a:spcPts val="0"/>
              </a:spcBef>
              <a:spcAft>
                <a:spcPts val="0"/>
              </a:spcAft>
            </a:pPr>
            <a:r>
              <a:rPr sz="1500" b="0">
                <a:solidFill>
                  <a:srgbClr val="4A4F57"/>
                </a:solidFill>
                <a:latin typeface="Calibri"/>
              </a:rPr>
              <a:t>Sealed by a hash over the resolved output, whether or not the rows were written down. Where they were not, the set is rebuilt from the member pins on read and the read fails if the hash does not come back — safe, and honest about it.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Which is what a training set actually is</a:t>
            </a:r>
          </a:p>
          <a:p>
            <a:pPr lvl="1">
              <a:lnSpc>
                <a:spcPct val="120000"/>
              </a:lnSpc>
              <a:spcBef>
                <a:spcPts val="0"/>
              </a:spcBef>
              <a:spcAft>
                <a:spcPts val="0"/>
              </a:spcAft>
            </a:pPr>
            <a:r>
              <a:rPr sz="1500" b="0">
                <a:solidFill>
                  <a:srgbClr val="4A4F57"/>
                </a:solidFill>
                <a:latin typeface="Calibri"/>
              </a:rPr>
              <a:t>Not a file, and not a query. A pinned feature set: a named, immutable, hash-verified set of rows whose every member is also named, immutable and hash-verified.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licence to compute, rather than a document about one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last word in the vocabulary. A warrant binds a model, a set of data and a set of dials into one object that can be granted, checked, transferred and withdrawn — which an approval memo cannot.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§29.4 and §29.5; maya/services/warrants.py and execution.py. The middle step between the two — fitting on the firm's own compute and uploading the dials against a checksum — is Part 3.</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training warrant</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fitted, on what</a:t>
            </a:r>
          </a:p>
          <a:p>
            <a:pPr lvl="1">
              <a:lnSpc>
                <a:spcPct val="120000"/>
              </a:lnSpc>
              <a:spcBef>
                <a:spcPts val="0"/>
              </a:spcBef>
              <a:spcAft>
                <a:spcPts val="0"/>
              </a:spcAft>
            </a:pPr>
            <a:r>
              <a:rPr sz="1350" b="0">
                <a:solidFill>
                  <a:srgbClr val="4A4F57"/>
                </a:solidFill>
                <a:latin typeface="Calibri"/>
              </a:rPr>
              <a:t>This approved model version, against this pinned feature set, by these people, until this date.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Drawn only when the contract is satisfied</a:t>
            </a:r>
          </a:p>
          <a:p>
            <a:pPr lvl="1">
              <a:lnSpc>
                <a:spcPct val="120000"/>
              </a:lnSpc>
              <a:spcBef>
                <a:spcPts val="0"/>
              </a:spcBef>
              <a:spcAft>
                <a:spcPts val="0"/>
              </a:spcAft>
            </a:pPr>
            <a:r>
              <a:rPr sz="1350" b="0">
                <a:solidFill>
                  <a:srgbClr val="4A4F57"/>
                </a:solidFill>
                <a:latin typeface="Calibri"/>
              </a:rPr>
              <a:t>The set's schema must provide what the model declares it reads. Where it does not, the warrant is refused with every missing attribute named.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And it certifies the data before the work starts</a:t>
            </a:r>
          </a:p>
          <a:p>
            <a:pPr lvl="1">
              <a:lnSpc>
                <a:spcPct val="120000"/>
              </a:lnSpc>
              <a:spcBef>
                <a:spcPts val="0"/>
              </a:spcBef>
              <a:spcAft>
                <a:spcPts val="0"/>
              </a:spcAft>
            </a:pPr>
            <a:r>
              <a:rPr sz="1350" b="0">
                <a:solidFill>
                  <a:srgbClr val="4A4F57"/>
                </a:solidFill>
                <a:latin typeface="Calibri"/>
              </a:rPr>
              <a:t>A signed statement that no row in the frame was known later than the decision it describes — so look-ahead is ruled out at the point it could still be corrected.</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 execution warrant</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Names what may be run, with what</a:t>
            </a:r>
          </a:p>
          <a:p>
            <a:pPr lvl="1">
              <a:lnSpc>
                <a:spcPct val="120000"/>
              </a:lnSpc>
              <a:spcBef>
                <a:spcPts val="0"/>
              </a:spcBef>
              <a:spcAft>
                <a:spcPts val="0"/>
              </a:spcAft>
            </a:pPr>
            <a:r>
              <a:rPr sz="1350" b="0">
                <a:solidFill>
                  <a:srgbClr val="4A4F57"/>
                </a:solidFill>
                <a:latin typeface="Calibri"/>
              </a:rPr>
              <a:t>This model version, these approved dials, in this environment. It is what a downstream system or a regulator is handed.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alive</a:t>
            </a:r>
          </a:p>
          <a:p>
            <a:pPr lvl="1">
              <a:lnSpc>
                <a:spcPct val="120000"/>
              </a:lnSpc>
              <a:spcBef>
                <a:spcPts val="0"/>
              </a:spcBef>
              <a:spcAft>
                <a:spcPts val="0"/>
              </a:spcAft>
            </a:pPr>
            <a:r>
              <a:rPr sz="1350" b="0">
                <a:solidFill>
                  <a:srgbClr val="4A4F57"/>
                </a:solidFill>
                <a:latin typeface="Calibri"/>
              </a:rPr>
              <a:t>It expires on a date. It can be revoked. And it carries covenants — bounds on its own inputs and outputs whose breach suspends it automatically.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wrong model stops running</a:t>
            </a:r>
          </a:p>
          <a:p>
            <a:pPr lvl="1">
              <a:lnSpc>
                <a:spcPct val="120000"/>
              </a:lnSpc>
              <a:spcBef>
                <a:spcPts val="0"/>
              </a:spcBef>
              <a:spcAft>
                <a:spcPts val="0"/>
              </a:spcAft>
            </a:pPr>
            <a:r>
              <a:rPr sz="1350" b="0">
                <a:solidFill>
                  <a:srgbClr val="4A4F57"/>
                </a:solidFill>
                <a:latin typeface="Calibri"/>
              </a:rPr>
              <a:t>Rather than continuing until somebody remembers to send an email. Every consuming call fails closed, naming the covenant that broke.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VOCABULARY ASSEMBLED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Seven words, and each one now means something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What a model actually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“The shape of the thing”. The same spine runs through the web interface, the REST API, the Python SDK and the command line, and the interface is itself a client of the SDK with no private path of its own.</a:t>
            </a:r>
          </a:p>
        </p:txBody>
      </p:sp>
      <p:sp>
        <p:nvSpPr>
          <p:cNvPr id="12" name="Rectangle 11"/>
          <p:cNvSpPr/>
          <p:nvPr/>
        </p:nvSpPr>
        <p:spPr>
          <a:xfrm>
            <a:off x="777240"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a:t>
            </a:r>
          </a:p>
        </p:txBody>
      </p:sp>
      <p:sp>
        <p:nvSpPr>
          <p:cNvPr id="15" name="TextBox 14"/>
          <p:cNvSpPr txBox="1"/>
          <p:nvPr/>
        </p:nvSpPr>
        <p:spPr>
          <a:xfrm>
            <a:off x="960120"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Where rows come from, declared</a:t>
            </a:r>
          </a:p>
        </p:txBody>
      </p:sp>
      <p:sp>
        <p:nvSpPr>
          <p:cNvPr id="16" name="Rectangle 15"/>
          <p:cNvSpPr/>
          <p:nvPr/>
        </p:nvSpPr>
        <p:spPr>
          <a:xfrm>
            <a:off x="2592781"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92781"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5661"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Feature</a:t>
            </a:r>
          </a:p>
        </p:txBody>
      </p:sp>
      <p:sp>
        <p:nvSpPr>
          <p:cNvPr id="19" name="TextBox 18"/>
          <p:cNvSpPr txBox="1"/>
          <p:nvPr/>
        </p:nvSpPr>
        <p:spPr>
          <a:xfrm>
            <a:off x="2775661"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An input with an identity and two clocks</a:t>
            </a:r>
          </a:p>
        </p:txBody>
      </p:sp>
      <p:cxnSp>
        <p:nvCxnSpPr>
          <p:cNvPr id="20" name="Connector 19"/>
          <p:cNvCxnSpPr/>
          <p:nvPr/>
        </p:nvCxnSpPr>
        <p:spPr>
          <a:xfrm>
            <a:off x="2364181"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408322"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8322"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1202"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4" name="TextBox 23"/>
          <p:cNvSpPr txBox="1"/>
          <p:nvPr/>
        </p:nvSpPr>
        <p:spPr>
          <a:xfrm>
            <a:off x="4591202"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Those rows, frozen and named by their hash</a:t>
            </a:r>
          </a:p>
        </p:txBody>
      </p:sp>
      <p:cxnSp>
        <p:nvCxnSpPr>
          <p:cNvPr id="25" name="Connector 24"/>
          <p:cNvCxnSpPr/>
          <p:nvPr/>
        </p:nvCxnSpPr>
        <p:spPr>
          <a:xfrm>
            <a:off x="4179722"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6223863"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3863"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Model</a:t>
            </a:r>
          </a:p>
        </p:txBody>
      </p:sp>
      <p:sp>
        <p:nvSpPr>
          <p:cNvPr id="29" name="TextBox 28"/>
          <p:cNvSpPr txBox="1"/>
          <p:nvPr/>
        </p:nvSpPr>
        <p:spPr>
          <a:xfrm>
            <a:off x="6406743"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kernel, and the dials it reads</a:t>
            </a:r>
          </a:p>
        </p:txBody>
      </p:sp>
      <p:cxnSp>
        <p:nvCxnSpPr>
          <p:cNvPr id="30" name="Connector 29"/>
          <p:cNvCxnSpPr/>
          <p:nvPr/>
        </p:nvCxnSpPr>
        <p:spPr>
          <a:xfrm>
            <a:off x="5995263"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39404"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39404"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2284"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550" b="1" i="0">
                <a:solidFill>
                  <a:srgbClr val="1C1C1E"/>
                </a:solidFill>
                <a:latin typeface="Georgia"/>
              </a:rPr>
              <a:t>Parameters</a:t>
            </a:r>
          </a:p>
        </p:txBody>
      </p:sp>
      <p:sp>
        <p:nvSpPr>
          <p:cNvPr id="34" name="TextBox 33"/>
          <p:cNvSpPr txBox="1"/>
          <p:nvPr/>
        </p:nvSpPr>
        <p:spPr>
          <a:xfrm>
            <a:off x="8222284" y="1892014"/>
            <a:ext cx="1193749" cy="96713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with how they were set</a:t>
            </a:r>
          </a:p>
        </p:txBody>
      </p:sp>
      <p:cxnSp>
        <p:nvCxnSpPr>
          <p:cNvPr id="35" name="Connector 34"/>
          <p:cNvCxnSpPr/>
          <p:nvPr/>
        </p:nvCxnSpPr>
        <p:spPr>
          <a:xfrm>
            <a:off x="7810804"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54946" y="1386967"/>
            <a:ext cx="1559509" cy="16002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854946" y="1386967"/>
            <a:ext cx="155950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37826" y="1551559"/>
            <a:ext cx="119374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Warrant</a:t>
            </a:r>
          </a:p>
        </p:txBody>
      </p:sp>
      <p:sp>
        <p:nvSpPr>
          <p:cNvPr id="39" name="TextBox 38"/>
          <p:cNvSpPr txBox="1"/>
          <p:nvPr/>
        </p:nvSpPr>
        <p:spPr>
          <a:xfrm>
            <a:off x="10037826" y="1900047"/>
            <a:ext cx="1193749" cy="9591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licence binding all of it</a:t>
            </a:r>
          </a:p>
        </p:txBody>
      </p:sp>
      <p:cxnSp>
        <p:nvCxnSpPr>
          <p:cNvPr id="40" name="Connector 39"/>
          <p:cNvCxnSpPr/>
          <p:nvPr/>
        </p:nvCxnSpPr>
        <p:spPr>
          <a:xfrm>
            <a:off x="9626346" y="21870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3197479"/>
            <a:ext cx="10637215" cy="2480944"/>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Nothing in the rest of this deck introduces a concept that is not on this line. Part 2 shows that four facts a governance system normally asks somebody to type in are consequences of this structure; Part 3 shows what MAYA stores for each word.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line runs in one direction and every arrow is checked. A model may not be bound to data whose schema does not satisfy it; a warrant may not be drawn against unpinned data; an execution warrant may not be sealed on dials that were never 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It is also the answer to the three questions this part opened with. Which data: the pin. Which mathematics: the model version. Whose approval: the warrant.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2</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Four facts you should not have to type</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register asks somebody to declare what kind of artefact this is, whether one thing fits where another fitted, what a training row could have known, and what a conclusion rests on. All four are consequences of the structure Part 1 built. Each one here is motivated by the failure it prevents, not by the theorem it follows from.</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Declared facts rot: D1 to D4</a:t>
            </a:r>
          </a:p>
          <a:p>
            <a:pPr>
              <a:lnSpc>
                <a:spcPct val="115000"/>
              </a:lnSpc>
              <a:spcBef>
                <a:spcPts val="0"/>
              </a:spcBef>
              <a:spcAft>
                <a:spcPts val="600"/>
              </a:spcAft>
            </a:pPr>
            <a:r>
              <a:rPr sz="1200" b="0" i="0">
                <a:solidFill>
                  <a:srgbClr val="F6E6E9"/>
                </a:solidFill>
                <a:latin typeface="Calibri"/>
              </a:rPr>
              <a:t>Kind, computed from the dials</a:t>
            </a:r>
          </a:p>
          <a:p>
            <a:pPr>
              <a:lnSpc>
                <a:spcPct val="115000"/>
              </a:lnSpc>
              <a:spcBef>
                <a:spcPts val="0"/>
              </a:spcBef>
              <a:spcAft>
                <a:spcPts val="600"/>
              </a:spcAft>
            </a:pPr>
            <a:r>
              <a:rPr sz="1200" b="0" i="0">
                <a:solidFill>
                  <a:srgbClr val="F6E6E9"/>
                </a:solidFill>
                <a:latin typeface="Calibri"/>
              </a:rPr>
              <a:t>One order: can A stand in for B?</a:t>
            </a:r>
          </a:p>
          <a:p>
            <a:pPr>
              <a:lnSpc>
                <a:spcPct val="115000"/>
              </a:lnSpc>
              <a:spcBef>
                <a:spcPts val="0"/>
              </a:spcBef>
              <a:spcAft>
                <a:spcPts val="600"/>
              </a:spcAft>
            </a:pPr>
            <a:r>
              <a:rPr sz="1200" b="0" i="0">
                <a:solidFill>
                  <a:srgbClr val="F6E6E9"/>
                </a:solidFill>
                <a:latin typeface="Calibri"/>
              </a:rPr>
              <a:t>Composition, and the risk that does not compose</a:t>
            </a:r>
          </a:p>
          <a:p>
            <a:pPr>
              <a:lnSpc>
                <a:spcPct val="115000"/>
              </a:lnSpc>
              <a:spcBef>
                <a:spcPts val="0"/>
              </a:spcBef>
              <a:spcAft>
                <a:spcPts val="600"/>
              </a:spcAft>
            </a:pPr>
            <a:r>
              <a:rPr sz="1200" b="0" i="0">
                <a:solidFill>
                  <a:srgbClr val="F6E6E9"/>
                </a:solidFill>
                <a:latin typeface="Calibri"/>
              </a:rPr>
              <a:t>The point-in-time read, as an operator</a:t>
            </a:r>
          </a:p>
          <a:p>
            <a:pPr>
              <a:lnSpc>
                <a:spcPct val="115000"/>
              </a:lnSpc>
              <a:spcBef>
                <a:spcPts val="0"/>
              </a:spcBef>
              <a:spcAft>
                <a:spcPts val="600"/>
              </a:spcAft>
            </a:pPr>
            <a:r>
              <a:rPr sz="1200" b="0" i="0">
                <a:solidFill>
                  <a:srgbClr val="F6E6E9"/>
                </a:solidFill>
                <a:latin typeface="Calibri"/>
              </a:rPr>
              <a:t>Provenance: one traversal, many questions</a:t>
            </a:r>
          </a:p>
          <a:p>
            <a:pPr>
              <a:lnSpc>
                <a:spcPct val="115000"/>
              </a:lnSpc>
              <a:spcBef>
                <a:spcPts val="0"/>
              </a:spcBef>
              <a:spcAft>
                <a:spcPts val="600"/>
              </a:spcAft>
            </a:pPr>
            <a:r>
              <a:rPr sz="1200" b="0" i="0">
                <a:solidFill>
                  <a:srgbClr val="F6E6E9"/>
                </a:solidFill>
                <a:latin typeface="Calibri"/>
              </a:rPr>
              <a:t>What must still be declared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PROBLEM WITH FORMS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declared facts, and how each one rots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These are not hypothetical. Each is a field that exists in registers now, each is filled in by a person, and each decays in a way that is invisible from the field itself — which is what makes a declared fact worse than an absent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 The claim of this part is narrow: each of these four is derivable from structure that has to exist anyway, and a derived fact cannot be typed wrong, cannot drift, and cannot disagree with the object it describes.</a:t>
            </a:r>
          </a:p>
        </p:txBody>
      </p:sp>
      <p:graphicFrame>
        <p:nvGraphicFramePr>
          <p:cNvPr id="13" name="Table 12"/>
          <p:cNvGraphicFramePr>
            <a:graphicFrameLocks noGrp="1"/>
          </p:cNvGraphicFramePr>
          <p:nvPr/>
        </p:nvGraphicFramePr>
        <p:xfrm>
          <a:off x="777240" y="2284984"/>
          <a:ext cx="10637213" cy="3360099"/>
        </p:xfrm>
        <a:graphic>
          <a:graphicData uri="http://schemas.openxmlformats.org/drawingml/2006/table">
            <a:tbl>
              <a:tblPr firstRow="1">
                <a:tableStyleId>{5C22544A-7EE6-4342-B048-85BDC9FD1C3A}</a:tableStyleId>
              </a:tblPr>
              <a:tblGrid>
                <a:gridCol w="1283801"/>
                <a:gridCol w="3026104"/>
                <a:gridCol w="2934404"/>
                <a:gridCol w="3392904"/>
              </a:tblGrid>
              <a:tr h="318579">
                <a:tc>
                  <a:txBody>
                    <a:bodyPr wrap="square"/>
                    <a:lstStyle/>
                    <a:p>
                      <a:r>
                        <a:rPr sz="1300" b="1">
                          <a:solidFill>
                            <a:srgbClr val="FFFFFF"/>
                          </a:solidFill>
                          <a:latin typeface="Calibri"/>
                        </a:rPr>
                        <a:t/>
                      </a:r>
                    </a:p>
                  </a:txBody>
                  <a:tcPr marL="82296" marR="64008" marT="32004" marB="32004" anchor="ctr">
                    <a:solidFill>
                      <a:srgbClr val="A51C30"/>
                    </a:solidFill>
                  </a:tcPr>
                </a:tc>
                <a:tc>
                  <a:txBody>
                    <a:bodyPr wrap="square"/>
                    <a:lstStyle/>
                    <a:p>
                      <a:r>
                        <a:rPr sz="1300" b="1">
                          <a:solidFill>
                            <a:srgbClr val="FFFFFF"/>
                          </a:solidFill>
                          <a:latin typeface="Calibri"/>
                        </a:rPr>
                        <a:t>The declaration</a:t>
                      </a:r>
                    </a:p>
                  </a:txBody>
                  <a:tcPr marL="82296" marR="64008" marT="32004" marB="32004" anchor="ctr">
                    <a:solidFill>
                      <a:srgbClr val="A51C30"/>
                    </a:solidFill>
                  </a:tcPr>
                </a:tc>
                <a:tc>
                  <a:txBody>
                    <a:bodyPr wrap="square"/>
                    <a:lstStyle/>
                    <a:p>
                      <a:r>
                        <a:rPr sz="1300" b="1">
                          <a:solidFill>
                            <a:srgbClr val="FFFFFF"/>
                          </a:solidFill>
                          <a:latin typeface="Calibri"/>
                        </a:rPr>
                        <a:t>How it rots</a:t>
                      </a:r>
                    </a:p>
                  </a:txBody>
                  <a:tcPr marL="82296" marR="64008" marT="32004" marB="32004" anchor="ctr">
                    <a:solidFill>
                      <a:srgbClr val="A51C30"/>
                    </a:solidFill>
                  </a:tcPr>
                </a:tc>
                <a:tc>
                  <a:txBody>
                    <a:bodyPr wrap="square"/>
                    <a:lstStyle/>
                    <a:p>
                      <a:r>
                        <a:rPr sz="1300" b="1">
                          <a:solidFill>
                            <a:srgbClr val="FFFFFF"/>
                          </a:solidFill>
                          <a:latin typeface="Calibri"/>
                        </a:rPr>
                        <a:t>What the damage looks like</a:t>
                      </a:r>
                    </a:p>
                  </a:txBody>
                  <a:tcPr marL="82296" marR="64008" marT="32004" marB="32004" anchor="ctr">
                    <a:solidFill>
                      <a:srgbClr val="A51C30"/>
                    </a:solidFill>
                  </a:tcPr>
                </a:tc>
              </a:tr>
              <a:tr h="760380">
                <a:tc>
                  <a:txBody>
                    <a:bodyPr wrap="square"/>
                    <a:lstStyle/>
                    <a:p>
                      <a:r>
                        <a:rPr sz="1350" b="1">
                          <a:solidFill>
                            <a:srgbClr val="761422"/>
                          </a:solidFill>
                          <a:latin typeface="Calibri"/>
                        </a:rPr>
                        <a:t>D1  Kind</a:t>
                      </a:r>
                    </a:p>
                  </a:txBody>
                  <a:tcPr marL="82296" marR="64008" marT="32004" marB="32004" anchor="ctr">
                    <a:solidFill>
                      <a:srgbClr val="FFFFFF"/>
                    </a:solidFill>
                  </a:tcPr>
                </a:tc>
                <a:tc>
                  <a:txBody>
                    <a:bodyPr wrap="square"/>
                    <a:lstStyle/>
                    <a:p>
                      <a:r>
                        <a:rPr sz="1350" b="0">
                          <a:solidFill>
                            <a:srgbClr val="1C1C1E"/>
                          </a:solidFill>
                          <a:latin typeface="Calibri"/>
                        </a:rPr>
                        <a:t>What sort of artefact this is: pricer, scorecard, network, rule set</a:t>
                      </a:r>
                    </a:p>
                  </a:txBody>
                  <a:tcPr marL="82296" marR="64008" marT="32004" marB="32004" anchor="ctr">
                    <a:solidFill>
                      <a:srgbClr val="FFFFFF"/>
                    </a:solidFill>
                  </a:tcPr>
                </a:tc>
                <a:tc>
                  <a:txBody>
                    <a:bodyPr wrap="square"/>
                    <a:lstStyle/>
                    <a:p>
                      <a:r>
                        <a:rPr sz="1350" b="0">
                          <a:solidFill>
                            <a:srgbClr val="1C1C1E"/>
                          </a:solidFill>
                          <a:latin typeface="Calibri"/>
                        </a:rPr>
                        <a:t>Typed once, at registration, by whoever was filling the form</a:t>
                      </a:r>
                    </a:p>
                  </a:txBody>
                  <a:tcPr marL="82296" marR="64008" marT="32004" marB="32004" anchor="ctr">
                    <a:solidFill>
                      <a:srgbClr val="FFFFFF"/>
                    </a:solidFill>
                  </a:tcPr>
                </a:tc>
                <a:tc>
                  <a:txBody>
                    <a:bodyPr wrap="square"/>
                    <a:lstStyle/>
                    <a:p>
                      <a:r>
                        <a:rPr sz="1350" b="0">
                          <a:solidFill>
                            <a:srgbClr val="1C1C1E"/>
                          </a:solidFill>
                          <a:latin typeface="Calibri"/>
                        </a:rPr>
                        <a:t>A monitor that cannot detect anything runs for two years and reads as coverage</a:t>
                      </a:r>
                    </a:p>
                  </a:txBody>
                  <a:tcPr marL="82296" marR="64008" marT="32004" marB="32004" anchor="ctr">
                    <a:solidFill>
                      <a:srgbClr val="FFFFFF"/>
                    </a:solidFill>
                  </a:tcPr>
                </a:tc>
              </a:tr>
              <a:tr h="760380">
                <a:tc>
                  <a:txBody>
                    <a:bodyPr wrap="square"/>
                    <a:lstStyle/>
                    <a:p>
                      <a:r>
                        <a:rPr sz="1350" b="1">
                          <a:solidFill>
                            <a:srgbClr val="761422"/>
                          </a:solidFill>
                          <a:latin typeface="Calibri"/>
                        </a:rPr>
                        <a:t>D2  Fit</a:t>
                      </a:r>
                    </a:p>
                  </a:txBody>
                  <a:tcPr marL="82296" marR="64008" marT="32004" marB="32004" anchor="ctr">
                    <a:solidFill>
                      <a:srgbClr val="F6F3EF"/>
                    </a:solidFill>
                  </a:tcPr>
                </a:tc>
                <a:tc>
                  <a:txBody>
                    <a:bodyPr wrap="square"/>
                    <a:lstStyle/>
                    <a:p>
                      <a:r>
                        <a:rPr sz="1350" b="0">
                          <a:solidFill>
                            <a:srgbClr val="1C1C1E"/>
                          </a:solidFill>
                          <a:latin typeface="Calibri"/>
                        </a:rPr>
                        <a:t>Whether this data, or this replacement version, fits where the last one did</a:t>
                      </a:r>
                    </a:p>
                  </a:txBody>
                  <a:tcPr marL="82296" marR="64008" marT="32004" marB="32004" anchor="ctr">
                    <a:solidFill>
                      <a:srgbClr val="F6F3EF"/>
                    </a:solidFill>
                  </a:tcPr>
                </a:tc>
                <a:tc>
                  <a:txBody>
                    <a:bodyPr wrap="square"/>
                    <a:lstStyle/>
                    <a:p>
                      <a:r>
                        <a:rPr sz="1350" b="0">
                          <a:solidFill>
                            <a:srgbClr val="1C1C1E"/>
                          </a:solidFill>
                          <a:latin typeface="Calibri"/>
                        </a:rPr>
                        <a:t>Implemented four times in four code paths that drift apart</a:t>
                      </a:r>
                    </a:p>
                  </a:txBody>
                  <a:tcPr marL="82296" marR="64008" marT="32004" marB="32004" anchor="ctr">
                    <a:solidFill>
                      <a:srgbClr val="F6F3EF"/>
                    </a:solidFill>
                  </a:tcPr>
                </a:tc>
                <a:tc>
                  <a:txBody>
                    <a:bodyPr wrap="square"/>
                    <a:lstStyle/>
                    <a:p>
                      <a:r>
                        <a:rPr sz="1350" b="0">
                          <a:solidFill>
                            <a:srgbClr val="1C1C1E"/>
                          </a:solidFill>
                          <a:latin typeface="Calibri"/>
                        </a:rPr>
                        <a:t>They drift towards permitting more, because nobody files a bug against a check that wrongly allows</a:t>
                      </a:r>
                    </a:p>
                  </a:txBody>
                  <a:tcPr marL="82296" marR="64008" marT="32004" marB="32004" anchor="ctr">
                    <a:solidFill>
                      <a:srgbClr val="F6F3EF"/>
                    </a:solidFill>
                  </a:tcPr>
                </a:tc>
              </a:tr>
              <a:tr h="760380">
                <a:tc>
                  <a:txBody>
                    <a:bodyPr wrap="square"/>
                    <a:lstStyle/>
                    <a:p>
                      <a:r>
                        <a:rPr sz="1350" b="1">
                          <a:solidFill>
                            <a:srgbClr val="761422"/>
                          </a:solidFill>
                          <a:latin typeface="Calibri"/>
                        </a:rPr>
                        <a:t>D3  Currency</a:t>
                      </a:r>
                    </a:p>
                  </a:txBody>
                  <a:tcPr marL="82296" marR="64008" marT="32004" marB="32004" anchor="ctr">
                    <a:solidFill>
                      <a:srgbClr val="FFFFFF"/>
                    </a:solidFill>
                  </a:tcPr>
                </a:tc>
                <a:tc>
                  <a:txBody>
                    <a:bodyPr wrap="square"/>
                    <a:lstStyle/>
                    <a:p>
                      <a:r>
                        <a:rPr sz="1350" b="0">
                          <a:solidFill>
                            <a:srgbClr val="1C1C1E"/>
                          </a:solidFill>
                          <a:latin typeface="Calibri"/>
                        </a:rPr>
                        <a:t>What a training row could have known at the moment it describes</a:t>
                      </a:r>
                    </a:p>
                  </a:txBody>
                  <a:tcPr marL="82296" marR="64008" marT="32004" marB="32004" anchor="ctr">
                    <a:solidFill>
                      <a:srgbClr val="FFFFFF"/>
                    </a:solidFill>
                  </a:tcPr>
                </a:tc>
                <a:tc>
                  <a:txBody>
                    <a:bodyPr wrap="square"/>
                    <a:lstStyle/>
                    <a:p>
                      <a:r>
                        <a:rPr sz="1350" b="0">
                          <a:solidFill>
                            <a:srgbClr val="1C1C1E"/>
                          </a:solidFill>
                          <a:latin typeface="Calibri"/>
                        </a:rPr>
                        <a:t>A convention in whoever wrote the query, applied unevenly</a:t>
                      </a:r>
                    </a:p>
                  </a:txBody>
                  <a:tcPr marL="82296" marR="64008" marT="32004" marB="32004" anchor="ctr">
                    <a:solidFill>
                      <a:srgbClr val="FFFFFF"/>
                    </a:solidFill>
                  </a:tcPr>
                </a:tc>
                <a:tc>
                  <a:txBody>
                    <a:bodyPr wrap="square"/>
                    <a:lstStyle/>
                    <a:p>
                      <a:r>
                        <a:rPr sz="1350" b="0">
                          <a:solidFill>
                            <a:srgbClr val="1C1C1E"/>
                          </a:solidFill>
                          <a:latin typeface="Calibri"/>
                        </a:rPr>
                        <a:t>Look-ahead that improves every metric it corrupts, so nothing asks to be investigated</a:t>
                      </a:r>
                    </a:p>
                  </a:txBody>
                  <a:tcPr marL="82296" marR="64008" marT="32004" marB="32004" anchor="ctr">
                    <a:solidFill>
                      <a:srgbClr val="FFFFFF"/>
                    </a:solidFill>
                  </a:tcPr>
                </a:tc>
              </a:tr>
              <a:tr h="760380">
                <a:tc>
                  <a:txBody>
                    <a:bodyPr wrap="square"/>
                    <a:lstStyle/>
                    <a:p>
                      <a:r>
                        <a:rPr sz="1350" b="1">
                          <a:solidFill>
                            <a:srgbClr val="761422"/>
                          </a:solidFill>
                          <a:latin typeface="Calibri"/>
                        </a:rPr>
                        <a:t>D4  Support</a:t>
                      </a:r>
                    </a:p>
                  </a:txBody>
                  <a:tcPr marL="82296" marR="64008" marT="32004" marB="32004" anchor="ctr">
                    <a:solidFill>
                      <a:srgbClr val="F6F3EF"/>
                    </a:solidFill>
                  </a:tcPr>
                </a:tc>
                <a:tc>
                  <a:txBody>
                    <a:bodyPr wrap="square"/>
                    <a:lstStyle/>
                    <a:p>
                      <a:r>
                        <a:rPr sz="1350" b="0">
                          <a:solidFill>
                            <a:srgbClr val="1C1C1E"/>
                          </a:solidFill>
                          <a:latin typeface="Calibri"/>
                        </a:rPr>
                        <a:t>What a conclusion rests on: which tests, which approvals, which data</a:t>
                      </a:r>
                    </a:p>
                  </a:txBody>
                  <a:tcPr marL="82296" marR="64008" marT="32004" marB="32004" anchor="ctr">
                    <a:solidFill>
                      <a:srgbClr val="F6F3EF"/>
                    </a:solidFill>
                  </a:tcPr>
                </a:tc>
                <a:tc>
                  <a:txBody>
                    <a:bodyPr wrap="square"/>
                    <a:lstStyle/>
                    <a:p>
                      <a:r>
                        <a:rPr sz="1350" b="0">
                          <a:solidFill>
                            <a:srgbClr val="1C1C1E"/>
                          </a:solidFill>
                          <a:latin typeface="Calibri"/>
                        </a:rPr>
                        <a:t>A log of what happened, which is not the same as a derivation</a:t>
                      </a:r>
                    </a:p>
                  </a:txBody>
                  <a:tcPr marL="82296" marR="64008" marT="32004" marB="32004" anchor="ctr">
                    <a:solidFill>
                      <a:srgbClr val="F6F3EF"/>
                    </a:solidFill>
                  </a:tcPr>
                </a:tc>
                <a:tc>
                  <a:txBody>
                    <a:bodyPr wrap="square"/>
                    <a:lstStyle/>
                    <a:p>
                      <a:r>
                        <a:rPr sz="1350" b="0">
                          <a:solidFill>
                            <a:srgbClr val="1C1C1E"/>
                          </a:solidFill>
                          <a:latin typeface="Calibri"/>
                        </a:rPr>
                        <a:t>“Is this still supported?” cannot be answered without a person reading the log</a:t>
                      </a:r>
                    </a:p>
                  </a:txBody>
                  <a:tcPr marL="82296" marR="64008" marT="32004" marB="32004" anchor="ctr">
                    <a:solidFill>
                      <a:srgbClr val="F6F3E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D1 · KIND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Nine classes, and not one of them is typed into a 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kind of an artefact is a function of three things Part 1 already defined: whether it has dials at all, whether they can be reached, and which act set them. It is computed when it is asked for and never stored, so it cannot drift.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two ends carry the argument: at T0 the dials do not exist, so asking about them is meaningless; at T6 they exist behind a contract, so asking about them is futile. A closed-form pricer becomes a type rather than an exception.</a:t>
            </a:r>
          </a:p>
        </p:txBody>
      </p:sp>
      <p:graphicFrame>
        <p:nvGraphicFramePr>
          <p:cNvPr id="13" name="Table 12"/>
          <p:cNvGraphicFramePr>
            <a:graphicFrameLocks noGrp="1"/>
          </p:cNvGraphicFramePr>
          <p:nvPr/>
        </p:nvGraphicFramePr>
        <p:xfrm>
          <a:off x="777240" y="2284984"/>
          <a:ext cx="10637213" cy="3217925"/>
        </p:xfrm>
        <a:graphic>
          <a:graphicData uri="http://schemas.openxmlformats.org/drawingml/2006/table">
            <a:tbl>
              <a:tblPr firstRow="1">
                <a:tableStyleId>{5C22544A-7EE6-4342-B048-85BDC9FD1C3A}</a:tableStyleId>
              </a:tblPr>
              <a:tblGrid>
                <a:gridCol w="1756604"/>
                <a:gridCol w="2830084"/>
                <a:gridCol w="3220441"/>
                <a:gridCol w="2830084"/>
              </a:tblGrid>
              <a:tr h="302514">
                <a:tc>
                  <a:txBody>
                    <a:bodyPr wrap="square"/>
                    <a:lstStyle/>
                    <a:p>
                      <a:r>
                        <a:rPr sz="1200" b="1">
                          <a:solidFill>
                            <a:srgbClr val="FFFFFF"/>
                          </a:solidFill>
                          <a:latin typeface="Calibri"/>
                        </a:rPr>
                        <a:t>Class</a:t>
                      </a:r>
                    </a:p>
                  </a:txBody>
                  <a:tcPr marL="82296" marR="64008" marT="32004" marB="32004" anchor="ctr">
                    <a:solidFill>
                      <a:srgbClr val="A51C30"/>
                    </a:solidFill>
                  </a:tcPr>
                </a:tc>
                <a:tc>
                  <a:txBody>
                    <a:bodyPr wrap="square"/>
                    <a:lstStyle/>
                    <a:p>
                      <a:r>
                        <a:rPr sz="1200" b="1">
                          <a:solidFill>
                            <a:srgbClr val="FFFFFF"/>
                          </a:solidFill>
                          <a:latin typeface="Calibri"/>
                        </a:rPr>
                        <a:t>The dials</a:t>
                      </a:r>
                    </a:p>
                  </a:txBody>
                  <a:tcPr marL="82296" marR="64008" marT="32004" marB="32004" anchor="ctr">
                    <a:solidFill>
                      <a:srgbClr val="A51C30"/>
                    </a:solidFill>
                  </a:tcPr>
                </a:tc>
                <a:tc>
                  <a:txBody>
                    <a:bodyPr wrap="square"/>
                    <a:lstStyle/>
                    <a:p>
                      <a:r>
                        <a:rPr sz="1200" b="1">
                          <a:solidFill>
                            <a:srgbClr val="FFFFFF"/>
                          </a:solidFill>
                          <a:latin typeface="Calibri"/>
                        </a:rPr>
                        <a:t>The act that set them</a:t>
                      </a:r>
                    </a:p>
                  </a:txBody>
                  <a:tcPr marL="82296" marR="64008" marT="32004" marB="32004" anchor="ctr">
                    <a:solidFill>
                      <a:srgbClr val="A51C30"/>
                    </a:solidFill>
                  </a:tcPr>
                </a:tc>
                <a:tc>
                  <a:txBody>
                    <a:bodyPr wrap="square"/>
                    <a:lstStyle/>
                    <a:p>
                      <a:r>
                        <a:rPr sz="1200" b="1">
                          <a:solidFill>
                            <a:srgbClr val="FFFFFF"/>
                          </a:solidFill>
                          <a:latin typeface="Calibri"/>
                        </a:rPr>
                        <a:t>What triggers a refresh</a:t>
                      </a:r>
                    </a:p>
                  </a:txBody>
                  <a:tcPr marL="82296" marR="64008" marT="32004" marB="32004" anchor="ctr">
                    <a:solidFill>
                      <a:srgbClr val="A51C30"/>
                    </a:solidFill>
                  </a:tcPr>
                </a:tc>
              </a:tr>
              <a:tr h="302514">
                <a:tc>
                  <a:txBody>
                    <a:bodyPr wrap="square"/>
                    <a:lstStyle/>
                    <a:p>
                      <a:r>
                        <a:rPr sz="1200" b="1">
                          <a:solidFill>
                            <a:srgbClr val="761422"/>
                          </a:solidFill>
                          <a:latin typeface="Calibri"/>
                        </a:rPr>
                        <a:t>T0  Analytical</a:t>
                      </a:r>
                    </a:p>
                  </a:txBody>
                  <a:tcPr marL="82296" marR="64008" marT="32004" marB="32004" anchor="ctr">
                    <a:solidFill>
                      <a:srgbClr val="FFFFFF"/>
                    </a:solidFill>
                  </a:tcPr>
                </a:tc>
                <a:tc>
                  <a:txBody>
                    <a:bodyPr wrap="square"/>
                    <a:lstStyle/>
                    <a:p>
                      <a:r>
                        <a:rPr sz="1200" b="0">
                          <a:solidFill>
                            <a:srgbClr val="1C1C1E"/>
                          </a:solidFill>
                          <a:latin typeface="Calibri"/>
                        </a:rPr>
                        <a:t>none — there are none to set</a:t>
                      </a:r>
                    </a:p>
                  </a:txBody>
                  <a:tcPr marL="82296" marR="64008" marT="32004" marB="32004" anchor="ctr">
                    <a:solidFill>
                      <a:srgbClr val="FFFFFF"/>
                    </a:solidFill>
                  </a:tcPr>
                </a:tc>
                <a:tc>
                  <a:txBody>
                    <a:bodyPr wrap="square"/>
                    <a:lstStyle/>
                    <a:p>
                      <a:r>
                        <a:rPr sz="1200" b="0">
                          <a:solidFill>
                            <a:srgbClr val="1C1C1E"/>
                          </a:solidFill>
                          <a:latin typeface="Calibri"/>
                        </a:rPr>
                        <a:t>none; there is nothing to fit</a:t>
                      </a:r>
                    </a:p>
                  </a:txBody>
                  <a:tcPr marL="82296" marR="64008" marT="32004" marB="32004" anchor="ctr">
                    <a:solidFill>
                      <a:srgbClr val="FFFFFF"/>
                    </a:solidFill>
                  </a:tcPr>
                </a:tc>
                <a:tc>
                  <a:txBody>
                    <a:bodyPr wrap="square"/>
                    <a:lstStyle/>
                    <a:p>
                      <a:r>
                        <a:rPr sz="1200" b="0">
                          <a:solidFill>
                            <a:srgbClr val="1C1C1E"/>
                          </a:solidFill>
                          <a:latin typeface="Calibri"/>
                        </a:rPr>
                        <a:t>the specification, or regulation</a:t>
                      </a:r>
                    </a:p>
                  </a:txBody>
                  <a:tcPr marL="82296" marR="64008" marT="32004" marB="32004" anchor="ctr">
                    <a:solidFill>
                      <a:srgbClr val="FFFFFF"/>
                    </a:solidFill>
                  </a:tcPr>
                </a:tc>
              </a:tr>
              <a:tr h="302514">
                <a:tc>
                  <a:txBody>
                    <a:bodyPr wrap="square"/>
                    <a:lstStyle/>
                    <a:p>
                      <a:r>
                        <a:rPr sz="1200" b="1">
                          <a:solidFill>
                            <a:srgbClr val="761422"/>
                          </a:solidFill>
                          <a:latin typeface="Calibri"/>
                        </a:rPr>
                        <a:t>T1  Calibrated</a:t>
                      </a:r>
                    </a:p>
                  </a:txBody>
                  <a:tcPr marL="82296" marR="64008" marT="32004" marB="32004" anchor="ctr">
                    <a:solidFill>
                      <a:srgbClr val="F6F3EF"/>
                    </a:solidFill>
                  </a:tcPr>
                </a:tc>
                <a:tc>
                  <a:txBody>
                    <a:bodyPr wrap="square"/>
                    <a:lstStyle/>
                    <a:p>
                      <a:r>
                        <a:rPr sz="1200" b="0">
                          <a:solidFill>
                            <a:srgbClr val="1C1C1E"/>
                          </a:solidFill>
                          <a:latin typeface="Calibri"/>
                        </a:rPr>
                        <a:t>a calibration set</a:t>
                      </a:r>
                    </a:p>
                  </a:txBody>
                  <a:tcPr marL="82296" marR="64008" marT="32004" marB="32004" anchor="ctr">
                    <a:solidFill>
                      <a:srgbClr val="F6F3EF"/>
                    </a:solidFill>
                  </a:tcPr>
                </a:tc>
                <a:tc>
                  <a:txBody>
                    <a:bodyPr wrap="square"/>
                    <a:lstStyle/>
                    <a:p>
                      <a:r>
                        <a:rPr sz="1200" b="0">
                          <a:solidFill>
                            <a:srgbClr val="1C1C1E"/>
                          </a:solidFill>
                          <a:latin typeface="Calibri"/>
                        </a:rPr>
                        <a:t>a solver on quoted instruments</a:t>
                      </a:r>
                    </a:p>
                  </a:txBody>
                  <a:tcPr marL="82296" marR="64008" marT="32004" marB="32004" anchor="ctr">
                    <a:solidFill>
                      <a:srgbClr val="F6F3EF"/>
                    </a:solidFill>
                  </a:tcPr>
                </a:tc>
                <a:tc>
                  <a:txBody>
                    <a:bodyPr wrap="square"/>
                    <a:lstStyle/>
                    <a:p>
                      <a:r>
                        <a:rPr sz="1200" b="0">
                          <a:solidFill>
                            <a:srgbClr val="1C1C1E"/>
                          </a:solidFill>
                          <a:latin typeface="Calibri"/>
                        </a:rPr>
                        <a:t>each market close</a:t>
                      </a:r>
                    </a:p>
                  </a:txBody>
                  <a:tcPr marL="82296" marR="64008" marT="32004" marB="32004" anchor="ctr">
                    <a:solidFill>
                      <a:srgbClr val="F6F3EF"/>
                    </a:solidFill>
                  </a:tcPr>
                </a:tc>
              </a:tr>
              <a:tr h="302514">
                <a:tc>
                  <a:txBody>
                    <a:bodyPr wrap="square"/>
                    <a:lstStyle/>
                    <a:p>
                      <a:r>
                        <a:rPr sz="1200" b="1">
                          <a:solidFill>
                            <a:srgbClr val="761422"/>
                          </a:solidFill>
                          <a:latin typeface="Calibri"/>
                        </a:rPr>
                        <a:t>T2  Estimated</a:t>
                      </a:r>
                    </a:p>
                  </a:txBody>
                  <a:tcPr marL="82296" marR="64008" marT="32004" marB="32004" anchor="ctr">
                    <a:solidFill>
                      <a:srgbClr val="FFFFFF"/>
                    </a:solidFill>
                  </a:tcPr>
                </a:tc>
                <a:tc>
                  <a:txBody>
                    <a:bodyPr wrap="square"/>
                    <a:lstStyle/>
                    <a:p>
                      <a:r>
                        <a:rPr sz="1200" b="0">
                          <a:solidFill>
                            <a:srgbClr val="1C1C1E"/>
                          </a:solidFill>
                          <a:latin typeface="Calibri"/>
                        </a:rPr>
                        <a:t>coefficients</a:t>
                      </a:r>
                    </a:p>
                  </a:txBody>
                  <a:tcPr marL="82296" marR="64008" marT="32004" marB="32004" anchor="ctr">
                    <a:solidFill>
                      <a:srgbClr val="FFFFFF"/>
                    </a:solidFill>
                  </a:tcPr>
                </a:tc>
                <a:tc>
                  <a:txBody>
                    <a:bodyPr wrap="square"/>
                    <a:lstStyle/>
                    <a:p>
                      <a:r>
                        <a:rPr sz="1200" b="0">
                          <a:solidFill>
                            <a:srgbClr val="1C1C1E"/>
                          </a:solidFill>
                          <a:latin typeface="Calibri"/>
                        </a:rPr>
                        <a:t>an estimator on a sample</a:t>
                      </a:r>
                    </a:p>
                  </a:txBody>
                  <a:tcPr marL="82296" marR="64008" marT="32004" marB="32004" anchor="ctr">
                    <a:solidFill>
                      <a:srgbClr val="FFFFFF"/>
                    </a:solidFill>
                  </a:tcPr>
                </a:tc>
                <a:tc>
                  <a:txBody>
                    <a:bodyPr wrap="square"/>
                    <a:lstStyle/>
                    <a:p>
                      <a:r>
                        <a:rPr sz="1200" b="0">
                          <a:solidFill>
                            <a:srgbClr val="1C1C1E"/>
                          </a:solidFill>
                          <a:latin typeface="Calibri"/>
                        </a:rPr>
                        <a:t>a periodic refit</a:t>
                      </a:r>
                    </a:p>
                  </a:txBody>
                  <a:tcPr marL="82296" marR="64008" marT="32004" marB="32004" anchor="ctr">
                    <a:solidFill>
                      <a:srgbClr val="FFFFFF"/>
                    </a:solidFill>
                  </a:tcPr>
                </a:tc>
              </a:tr>
              <a:tr h="302514">
                <a:tc>
                  <a:txBody>
                    <a:bodyPr wrap="square"/>
                    <a:lstStyle/>
                    <a:p>
                      <a:r>
                        <a:rPr sz="1200" b="1">
                          <a:solidFill>
                            <a:srgbClr val="761422"/>
                          </a:solidFill>
                          <a:latin typeface="Calibri"/>
                        </a:rPr>
                        <a:t>T3  Learned</a:t>
                      </a:r>
                    </a:p>
                  </a:txBody>
                  <a:tcPr marL="82296" marR="64008" marT="32004" marB="32004" anchor="ctr">
                    <a:solidFill>
                      <a:srgbClr val="F6F3EF"/>
                    </a:solidFill>
                  </a:tcPr>
                </a:tc>
                <a:tc>
                  <a:txBody>
                    <a:bodyPr wrap="square"/>
                    <a:lstStyle/>
                    <a:p>
                      <a:r>
                        <a:rPr sz="1200" b="0">
                          <a:solidFill>
                            <a:srgbClr val="1C1C1E"/>
                          </a:solidFill>
                          <a:latin typeface="Calibri"/>
                        </a:rPr>
                        <a:t>weights</a:t>
                      </a:r>
                    </a:p>
                  </a:txBody>
                  <a:tcPr marL="82296" marR="64008" marT="32004" marB="32004" anchor="ctr">
                    <a:solidFill>
                      <a:srgbClr val="F6F3EF"/>
                    </a:solidFill>
                  </a:tcPr>
                </a:tc>
                <a:tc>
                  <a:txBody>
                    <a:bodyPr wrap="square"/>
                    <a:lstStyle/>
                    <a:p>
                      <a:r>
                        <a:rPr sz="1200" b="0">
                          <a:solidFill>
                            <a:srgbClr val="1C1C1E"/>
                          </a:solidFill>
                          <a:latin typeface="Calibri"/>
                        </a:rPr>
                        <a:t>a training run</a:t>
                      </a:r>
                    </a:p>
                  </a:txBody>
                  <a:tcPr marL="82296" marR="64008" marT="32004" marB="32004" anchor="ctr">
                    <a:solidFill>
                      <a:srgbClr val="F6F3EF"/>
                    </a:solidFill>
                  </a:tcPr>
                </a:tc>
                <a:tc>
                  <a:txBody>
                    <a:bodyPr wrap="square"/>
                    <a:lstStyle/>
                    <a:p>
                      <a:r>
                        <a:rPr sz="1200" b="0">
                          <a:solidFill>
                            <a:srgbClr val="1C1C1E"/>
                          </a:solidFill>
                          <a:latin typeface="Calibri"/>
                        </a:rPr>
                        <a:t>schedule, drift or decay</a:t>
                      </a:r>
                    </a:p>
                  </a:txBody>
                  <a:tcPr marL="82296" marR="64008" marT="32004" marB="32004" anchor="ctr">
                    <a:solidFill>
                      <a:srgbClr val="F6F3EF"/>
                    </a:solidFill>
                  </a:tcPr>
                </a:tc>
              </a:tr>
              <a:tr h="302514">
                <a:tc>
                  <a:txBody>
                    <a:bodyPr wrap="square"/>
                    <a:lstStyle/>
                    <a:p>
                      <a:r>
                        <a:rPr sz="1200" b="1">
                          <a:solidFill>
                            <a:srgbClr val="761422"/>
                          </a:solidFill>
                          <a:latin typeface="Calibri"/>
                        </a:rPr>
                        <a:t>T4  Adaptive</a:t>
                      </a:r>
                    </a:p>
                  </a:txBody>
                  <a:tcPr marL="82296" marR="64008" marT="32004" marB="32004" anchor="ctr">
                    <a:solidFill>
                      <a:srgbClr val="FFFFFF"/>
                    </a:solidFill>
                  </a:tcPr>
                </a:tc>
                <a:tc>
                  <a:txBody>
                    <a:bodyPr wrap="square"/>
                    <a:lstStyle/>
                    <a:p>
                      <a:r>
                        <a:rPr sz="1200" b="0">
                          <a:solidFill>
                            <a:srgbClr val="1C1C1E"/>
                          </a:solidFill>
                          <a:latin typeface="Calibri"/>
                        </a:rPr>
                        <a:t>weights that move in production</a:t>
                      </a:r>
                    </a:p>
                  </a:txBody>
                  <a:tcPr marL="82296" marR="64008" marT="32004" marB="32004" anchor="ctr">
                    <a:solidFill>
                      <a:srgbClr val="FFFFFF"/>
                    </a:solidFill>
                  </a:tcPr>
                </a:tc>
                <a:tc>
                  <a:txBody>
                    <a:bodyPr wrap="square"/>
                    <a:lstStyle/>
                    <a:p>
                      <a:r>
                        <a:rPr sz="1200" b="0">
                          <a:solidFill>
                            <a:srgbClr val="1C1C1E"/>
                          </a:solidFill>
                          <a:latin typeface="Calibri"/>
                        </a:rPr>
                        <a:t>a training run, and then itself</a:t>
                      </a:r>
                    </a:p>
                  </a:txBody>
                  <a:tcPr marL="82296" marR="64008" marT="32004" marB="32004" anchor="ctr">
                    <a:solidFill>
                      <a:srgbClr val="FFFFFF"/>
                    </a:solidFill>
                  </a:tcPr>
                </a:tc>
                <a:tc>
                  <a:txBody>
                    <a:bodyPr wrap="square"/>
                    <a:lstStyle/>
                    <a:p>
                      <a:r>
                        <a:rPr sz="1200" b="0">
                          <a:solidFill>
                            <a:srgbClr val="1C1C1E"/>
                          </a:solidFill>
                          <a:latin typeface="Calibri"/>
                        </a:rPr>
                        <a:t>continuously, by the model</a:t>
                      </a:r>
                    </a:p>
                  </a:txBody>
                  <a:tcPr marL="82296" marR="64008" marT="32004" marB="32004" anchor="ctr">
                    <a:solidFill>
                      <a:srgbClr val="FFFFFF"/>
                    </a:solidFill>
                  </a:tcPr>
                </a:tc>
              </a:tr>
              <a:tr h="495299">
                <a:tc>
                  <a:txBody>
                    <a:bodyPr wrap="square"/>
                    <a:lstStyle/>
                    <a:p>
                      <a:r>
                        <a:rPr sz="1200" b="1">
                          <a:solidFill>
                            <a:srgbClr val="761422"/>
                          </a:solidFill>
                          <a:latin typeface="Calibri"/>
                        </a:rPr>
                        <a:t>T5  Configured</a:t>
                      </a:r>
                    </a:p>
                  </a:txBody>
                  <a:tcPr marL="82296" marR="64008" marT="32004" marB="32004" anchor="ctr">
                    <a:solidFill>
                      <a:srgbClr val="F6F3EF"/>
                    </a:solidFill>
                  </a:tcPr>
                </a:tc>
                <a:tc>
                  <a:txBody>
                    <a:bodyPr wrap="square"/>
                    <a:lstStyle/>
                    <a:p>
                      <a:r>
                        <a:rPr sz="1200" b="0">
                          <a:solidFill>
                            <a:srgbClr val="1C1C1E"/>
                          </a:solidFill>
                          <a:latin typeface="Calibri"/>
                        </a:rPr>
                        <a:t>base model, prompt, corpus, tools</a:t>
                      </a:r>
                    </a:p>
                  </a:txBody>
                  <a:tcPr marL="82296" marR="64008" marT="32004" marB="32004" anchor="ctr">
                    <a:solidFill>
                      <a:srgbClr val="F6F3EF"/>
                    </a:solidFill>
                  </a:tcPr>
                </a:tc>
                <a:tc>
                  <a:txBody>
                    <a:bodyPr wrap="square"/>
                    <a:lstStyle/>
                    <a:p>
                      <a:r>
                        <a:rPr sz="1200" b="0">
                          <a:solidFill>
                            <a:srgbClr val="1C1C1E"/>
                          </a:solidFill>
                          <a:latin typeface="Calibri"/>
                        </a:rPr>
                        <a:t>configuration and retrieval</a:t>
                      </a:r>
                    </a:p>
                  </a:txBody>
                  <a:tcPr marL="82296" marR="64008" marT="32004" marB="32004" anchor="ctr">
                    <a:solidFill>
                      <a:srgbClr val="F6F3EF"/>
                    </a:solidFill>
                  </a:tcPr>
                </a:tc>
                <a:tc>
                  <a:txBody>
                    <a:bodyPr wrap="square"/>
                    <a:lstStyle/>
                    <a:p>
                      <a:r>
                        <a:rPr sz="1200" b="0">
                          <a:solidFill>
                            <a:srgbClr val="1C1C1E"/>
                          </a:solidFill>
                          <a:latin typeface="Calibri"/>
                        </a:rPr>
                        <a:t>any of those, or the base model</a:t>
                      </a:r>
                    </a:p>
                  </a:txBody>
                  <a:tcPr marL="82296" marR="64008" marT="32004" marB="32004" anchor="ctr">
                    <a:solidFill>
                      <a:srgbClr val="F6F3EF"/>
                    </a:solidFill>
                  </a:tcPr>
                </a:tc>
              </a:tr>
              <a:tr h="302514">
                <a:tc>
                  <a:txBody>
                    <a:bodyPr wrap="square"/>
                    <a:lstStyle/>
                    <a:p>
                      <a:r>
                        <a:rPr sz="1200" b="1">
                          <a:solidFill>
                            <a:srgbClr val="761422"/>
                          </a:solidFill>
                          <a:latin typeface="Calibri"/>
                        </a:rPr>
                        <a:t>T6  Opaque</a:t>
                      </a:r>
                    </a:p>
                  </a:txBody>
                  <a:tcPr marL="82296" marR="64008" marT="32004" marB="32004" anchor="ctr">
                    <a:solidFill>
                      <a:srgbClr val="FFFFFF"/>
                    </a:solidFill>
                  </a:tcPr>
                </a:tc>
                <a:tc>
                  <a:txBody>
                    <a:bodyPr wrap="square"/>
                    <a:lstStyle/>
                    <a:p>
                      <a:r>
                        <a:rPr sz="1200" b="0">
                          <a:solidFill>
                            <a:srgbClr val="1C1C1E"/>
                          </a:solidFill>
                          <a:latin typeface="Calibri"/>
                        </a:rPr>
                        <a:t>exist, and are unreachable</a:t>
                      </a:r>
                    </a:p>
                  </a:txBody>
                  <a:tcPr marL="82296" marR="64008" marT="32004" marB="32004" anchor="ctr">
                    <a:solidFill>
                      <a:srgbClr val="FFFFFF"/>
                    </a:solidFill>
                  </a:tcPr>
                </a:tc>
                <a:tc>
                  <a:txBody>
                    <a:bodyPr wrap="square"/>
                    <a:lstStyle/>
                    <a:p>
                      <a:r>
                        <a:rPr sz="1200" b="0">
                          <a:solidFill>
                            <a:srgbClr val="1C1C1E"/>
                          </a:solidFill>
                          <a:latin typeface="Calibri"/>
                        </a:rPr>
                        <a:t>somebody else's, unavailable</a:t>
                      </a:r>
                    </a:p>
                  </a:txBody>
                  <a:tcPr marL="82296" marR="64008" marT="32004" marB="32004" anchor="ctr">
                    <a:solidFill>
                      <a:srgbClr val="FFFFFF"/>
                    </a:solidFill>
                  </a:tcPr>
                </a:tc>
                <a:tc>
                  <a:txBody>
                    <a:bodyPr wrap="square"/>
                    <a:lstStyle/>
                    <a:p>
                      <a:r>
                        <a:rPr sz="1200" b="0">
                          <a:solidFill>
                            <a:srgbClr val="1C1C1E"/>
                          </a:solidFill>
                          <a:latin typeface="Calibri"/>
                        </a:rPr>
                        <a:t>a vendor release</a:t>
                      </a:r>
                    </a:p>
                  </a:txBody>
                  <a:tcPr marL="82296" marR="64008" marT="32004" marB="32004" anchor="ctr">
                    <a:solidFill>
                      <a:srgbClr val="FFFFFF"/>
                    </a:solidFill>
                  </a:tcPr>
                </a:tc>
              </a:tr>
              <a:tr h="302514">
                <a:tc>
                  <a:txBody>
                    <a:bodyPr wrap="square"/>
                    <a:lstStyle/>
                    <a:p>
                      <a:r>
                        <a:rPr sz="1200" b="1">
                          <a:solidFill>
                            <a:srgbClr val="761422"/>
                          </a:solidFill>
                          <a:latin typeface="Calibri"/>
                        </a:rPr>
                        <a:t>T7  Elicited</a:t>
                      </a:r>
                    </a:p>
                  </a:txBody>
                  <a:tcPr marL="82296" marR="64008" marT="32004" marB="32004" anchor="ctr">
                    <a:solidFill>
                      <a:srgbClr val="F6F3EF"/>
                    </a:solidFill>
                  </a:tcPr>
                </a:tc>
                <a:tc>
                  <a:txBody>
                    <a:bodyPr wrap="square"/>
                    <a:lstStyle/>
                    <a:p>
                      <a:r>
                        <a:rPr sz="1200" b="0">
                          <a:solidFill>
                            <a:srgbClr val="1C1C1E"/>
                          </a:solidFill>
                          <a:latin typeface="Calibri"/>
                        </a:rPr>
                        <a:t>weights a panel agreed</a:t>
                      </a:r>
                    </a:p>
                  </a:txBody>
                  <a:tcPr marL="82296" marR="64008" marT="32004" marB="32004" anchor="ctr">
                    <a:solidFill>
                      <a:srgbClr val="F6F3EF"/>
                    </a:solidFill>
                  </a:tcPr>
                </a:tc>
                <a:tc>
                  <a:txBody>
                    <a:bodyPr wrap="square"/>
                    <a:lstStyle/>
                    <a:p>
                      <a:r>
                        <a:rPr sz="1200" b="0">
                          <a:solidFill>
                            <a:srgbClr val="1C1C1E"/>
                          </a:solidFill>
                          <a:latin typeface="Calibri"/>
                        </a:rPr>
                        <a:t>an elicitation protocol</a:t>
                      </a:r>
                    </a:p>
                  </a:txBody>
                  <a:tcPr marL="82296" marR="64008" marT="32004" marB="32004" anchor="ctr">
                    <a:solidFill>
                      <a:srgbClr val="F6F3EF"/>
                    </a:solidFill>
                  </a:tcPr>
                </a:tc>
                <a:tc>
                  <a:txBody>
                    <a:bodyPr wrap="square"/>
                    <a:lstStyle/>
                    <a:p>
                      <a:r>
                        <a:rPr sz="1200" b="0">
                          <a:solidFill>
                            <a:srgbClr val="1C1C1E"/>
                          </a:solidFill>
                          <a:latin typeface="Calibri"/>
                        </a:rPr>
                        <a:t>the committee cycle</a:t>
                      </a:r>
                    </a:p>
                  </a:txBody>
                  <a:tcPr marL="82296" marR="64008" marT="32004" marB="32004" anchor="ctr">
                    <a:solidFill>
                      <a:srgbClr val="F6F3EF"/>
                    </a:solidFill>
                  </a:tcPr>
                </a:tc>
              </a:tr>
              <a:tr h="302514">
                <a:tc>
                  <a:txBody>
                    <a:bodyPr wrap="square"/>
                    <a:lstStyle/>
                    <a:p>
                      <a:r>
                        <a:rPr sz="1200" b="1">
                          <a:solidFill>
                            <a:srgbClr val="761422"/>
                          </a:solidFill>
                          <a:latin typeface="Calibri"/>
                        </a:rPr>
                        <a:t>T8  Authored</a:t>
                      </a:r>
                    </a:p>
                  </a:txBody>
                  <a:tcPr marL="82296" marR="64008" marT="32004" marB="32004" anchor="ctr">
                    <a:solidFill>
                      <a:srgbClr val="FFFFFF"/>
                    </a:solidFill>
                  </a:tcPr>
                </a:tc>
                <a:tc>
                  <a:txBody>
                    <a:bodyPr wrap="square"/>
                    <a:lstStyle/>
                    <a:p>
                      <a:r>
                        <a:rPr sz="1200" b="0">
                          <a:solidFill>
                            <a:srgbClr val="1C1C1E"/>
                          </a:solidFill>
                          <a:latin typeface="Calibri"/>
                        </a:rPr>
                        <a:t>a rule set</a:t>
                      </a:r>
                    </a:p>
                  </a:txBody>
                  <a:tcPr marL="82296" marR="64008" marT="32004" marB="32004" anchor="ctr">
                    <a:solidFill>
                      <a:srgbClr val="FFFFFF"/>
                    </a:solidFill>
                  </a:tcPr>
                </a:tc>
                <a:tc>
                  <a:txBody>
                    <a:bodyPr wrap="square"/>
                    <a:lstStyle/>
                    <a:p>
                      <a:r>
                        <a:rPr sz="1200" b="0">
                          <a:solidFill>
                            <a:srgbClr val="1C1C1E"/>
                          </a:solidFill>
                          <a:latin typeface="Calibri"/>
                        </a:rPr>
                        <a:t>authorship</a:t>
                      </a:r>
                    </a:p>
                  </a:txBody>
                  <a:tcPr marL="82296" marR="64008" marT="32004" marB="32004" anchor="ctr">
                    <a:solidFill>
                      <a:srgbClr val="FFFFFF"/>
                    </a:solidFill>
                  </a:tcPr>
                </a:tc>
                <a:tc>
                  <a:txBody>
                    <a:bodyPr wrap="square"/>
                    <a:lstStyle/>
                    <a:p>
                      <a:r>
                        <a:rPr sz="1200" b="0">
                          <a:solidFill>
                            <a:srgbClr val="1C1C1E"/>
                          </a:solidFill>
                          <a:latin typeface="Calibri"/>
                        </a:rPr>
                        <a:t>a policy change</a:t>
                      </a:r>
                    </a:p>
                  </a:txBody>
                  <a:tcPr marL="82296" marR="64008" marT="32004" marB="32004"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EACH ONE OWES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artefacts, one lens, three different questions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§2.3, the corollary that a demand for fitting evidence is well-typed exactly when the dials are neither absent nor unreachable, and the worked triple that follows it.</a:t>
            </a:r>
          </a:p>
        </p:txBody>
      </p:sp>
      <p:sp>
        <p:nvSpPr>
          <p:cNvPr id="12" name="Rectangle 11"/>
          <p:cNvSpPr/>
          <p:nvPr/>
        </p:nvSpPr>
        <p:spPr>
          <a:xfrm>
            <a:off x="777240"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T0 · ANALYTICAL</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regulatory exposure calculator</a:t>
            </a:r>
          </a:p>
        </p:txBody>
      </p:sp>
      <p:sp>
        <p:nvSpPr>
          <p:cNvPr id="16" name="TextBox 15"/>
          <p:cNvSpPr txBox="1"/>
          <p:nvPr/>
        </p:nvSpPr>
        <p:spPr>
          <a:xfrm>
            <a:off x="960120"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formula is prescribed, so there are no dials. No sample, no estimator, no retraining schedule. What must be evidenced is that the implementation computes what the regulation says: a suite against reference values. A register demanding a training set here is asking an ill-typed question and getting a meaningless answer in a mandatory field.</a:t>
            </a:r>
          </a:p>
        </p:txBody>
      </p:sp>
      <p:sp>
        <p:nvSpPr>
          <p:cNvPr id="17" name="Rectangle 16"/>
          <p:cNvSpPr/>
          <p:nvPr/>
        </p:nvSpPr>
        <p:spPr>
          <a:xfrm>
            <a:off x="4377842"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T2 · ESTIMATED</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small-business PD scorecard</a:t>
            </a:r>
          </a:p>
        </p:txBody>
      </p:sp>
      <p:sp>
        <p:nvSpPr>
          <p:cNvPr id="21" name="TextBox 20"/>
          <p:cNvSpPr txBox="1"/>
          <p:nvPr/>
        </p:nvSpPr>
        <p:spPr>
          <a:xfrm>
            <a:off x="4560722" y="2413127"/>
            <a:ext cx="3070250" cy="31372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Forty-two coefficients from a logistic regression over eight years of originations. Here the fitting questions are exactly the right ones: the sample and whether it is representative, the estimator, out-of-time performance, calibration. This is the artefact the whole evidence apparatus was designed around, which is why it never causes trouble.</a:t>
            </a:r>
          </a:p>
        </p:txBody>
      </p:sp>
      <p:sp>
        <p:nvSpPr>
          <p:cNvPr id="22" name="Rectangle 21"/>
          <p:cNvSpPr/>
          <p:nvPr/>
        </p:nvSpPr>
        <p:spPr>
          <a:xfrm>
            <a:off x="7978444" y="1386967"/>
            <a:ext cx="3436010" cy="429145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T6 · OPAQUE</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bought-in bureau score</a:t>
            </a:r>
          </a:p>
        </p:txBody>
      </p:sp>
      <p:sp>
        <p:nvSpPr>
          <p:cNvPr id="26" name="TextBox 25"/>
          <p:cNvSpPr txBox="1"/>
          <p:nvPr/>
        </p:nvSpPr>
        <p:spPr>
          <a:xfrm>
            <a:off x="8161324" y="2156079"/>
            <a:ext cx="3070250" cy="3394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dials exist — somebody at the bureau fitted them — and neither they nor the act that set them is reachable. Demanding development documentation is futile. Watching the composite against your own realised defaults is not a compromise forced by commerce; it is what the structure says is the only evidence obtainable, so it is where review effort belongs.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HAS TO BE COMPUTED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monitor that ran for two years and meant nothing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Evidence requirements, lifecycles, monitors and documents are one family indexed by kind of artefact. Two properties of such a family are worth having, and an index somebody types in cannot deliver both.</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§2.4, “The classification is the index”: conservative extension, totality, and the proposition that a declared base admits no total family of obligations.</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story</a:t>
            </a:r>
          </a:p>
          <a:p>
            <a:pPr lvl="1">
              <a:lnSpc>
                <a:spcPct val="120000"/>
              </a:lnSpc>
              <a:spcBef>
                <a:spcPts val="0"/>
              </a:spcBef>
              <a:spcAft>
                <a:spcPts val="0"/>
              </a:spcAft>
            </a:pPr>
            <a:r>
              <a:rPr sz="1300" b="0">
                <a:solidFill>
                  <a:srgbClr val="4A4F57"/>
                </a:solidFill>
                <a:latin typeface="Calibri"/>
              </a:rPr>
              <a:t>A discount-curve pricer is registered, and somebody attaches a performance monitor: discrimination against realised outcomes, evaluated monthly. It runs. It never fires. On the estate screen the model is green and monitored.</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Why it meant nothing</a:t>
            </a:r>
          </a:p>
          <a:p>
            <a:pPr lvl="1">
              <a:lnSpc>
                <a:spcPct val="120000"/>
              </a:lnSpc>
              <a:spcBef>
                <a:spcPts val="0"/>
              </a:spcBef>
              <a:spcAft>
                <a:spcPts val="0"/>
              </a:spcAft>
            </a:pPr>
            <a:r>
              <a:rPr sz="1300" b="0">
                <a:solidFill>
                  <a:srgbClr val="4A4F57"/>
                </a:solidFill>
                <a:latin typeface="Calibri"/>
              </a:rPr>
              <a:t>The pricer has no dials and no fitted relationship to outcomes, so discrimination is not a question about it. The monitor was not failing to detect anything; there was nothing of that kind to detect. That is worse than an absent monitor, because an absent one appears in the coverage worklist and a meaningless one reads as coverage.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Adding a kind should cost only that kind</a:t>
            </a:r>
          </a:p>
          <a:p>
            <a:pPr lvl="1">
              <a:lnSpc>
                <a:spcPct val="120000"/>
              </a:lnSpc>
              <a:spcBef>
                <a:spcPts val="0"/>
              </a:spcBef>
              <a:spcAft>
                <a:spcPts val="0"/>
              </a:spcAft>
            </a:pPr>
            <a:r>
              <a:rPr sz="1300" b="0">
                <a:solidFill>
                  <a:srgbClr val="4A4F57"/>
                </a:solidFill>
                <a:latin typeface="Calibri"/>
              </a:rPr>
              <a:t>Supply the requirements for a new class and nothing already judged is disturbed. That guarantee is worth having, and worth nothing unless every kind actually carries requirements — a drawer with no forms in it is worse than an absent drawer, because the cabinet looks complete.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Which is why the index is computed</a:t>
            </a:r>
          </a:p>
          <a:p>
            <a:pPr lvl="1">
              <a:lnSpc>
                <a:spcPct val="120000"/>
              </a:lnSpc>
              <a:spcBef>
                <a:spcPts val="0"/>
              </a:spcBef>
              <a:spcAft>
                <a:spcPts val="0"/>
              </a:spcAft>
            </a:pPr>
            <a:r>
              <a:rPr sz="1300" b="0">
                <a:solidFill>
                  <a:srgbClr val="4A4F57"/>
                </a:solidFill>
                <a:latin typeface="Calibri"/>
              </a:rPr>
              <a:t>A closed list of kinds means admitting a new one edits the index rather than supplying requirements. An open list means a kind with no requirements can be written down at any moment, so the completeness check quantifies over a set that does not contain the values in use, and passes. An index computed from the artefact has neither horn.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CONSEQUENCE FOR CHANGE CONTROL</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refit is a new point, not a new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§2.7. In MAYA this is the parameter set: a governed object with its own approval, its own workflow state and its own lineage, distinct from the model version it belongs to.</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Two different events, usually recorded as one</a:t>
            </a:r>
          </a:p>
          <a:p>
            <a:pPr lvl="1">
              <a:lnSpc>
                <a:spcPct val="120000"/>
              </a:lnSpc>
              <a:spcBef>
                <a:spcPts val="0"/>
              </a:spcBef>
              <a:spcAft>
                <a:spcPts val="0"/>
              </a:spcAft>
            </a:pPr>
            <a:r>
              <a:rPr sz="1350" b="0">
                <a:solidFill>
                  <a:srgbClr val="4A4F57"/>
                </a:solidFill>
                <a:latin typeface="Calibri"/>
              </a:rPr>
              <a:t>A new fitting procedure, a new input or a new output is a change of the model. New numbers from the same procedure on newer data is a change of dial settings within it. Mint a version for both and a supervisor asking whether the model changed between two dates has asked a question with two answers.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So a set of dial values is a record in its own right</a:t>
            </a:r>
          </a:p>
          <a:p>
            <a:pPr lvl="1">
              <a:lnSpc>
                <a:spcPct val="120000"/>
              </a:lnSpc>
              <a:spcBef>
                <a:spcPts val="0"/>
              </a:spcBef>
              <a:spcAft>
                <a:spcPts val="0"/>
              </a:spcAft>
            </a:pPr>
            <a:r>
              <a:rPr sz="1350" b="0">
                <a:solidFill>
                  <a:srgbClr val="4A4F57"/>
                </a:solidFill>
                <a:latin typeface="Calibri"/>
              </a:rPr>
              <a:t>With its own identity, its own immutability and its own provenance: which act produced it, from which rows, over which window, approved by whom. A daily recalibration then governs the procedure once, and a periodic re-estimation governs each set of numbers.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Dials accumulate along a chain</a:t>
            </a:r>
          </a:p>
          <a:p>
            <a:pPr lvl="1">
              <a:lnSpc>
                <a:spcPct val="120000"/>
              </a:lnSpc>
              <a:spcBef>
                <a:spcPts val="0"/>
              </a:spcBef>
              <a:spcAft>
                <a:spcPts val="0"/>
              </a:spcAft>
            </a:pPr>
            <a:r>
              <a:rPr sz="1350" b="0">
                <a:solidFill>
                  <a:srgbClr val="4A4F57"/>
                </a:solidFill>
                <a:latin typeface="Calibri"/>
              </a:rPr>
              <a:t>Wire one model into another and the combination has both sets. Nothing is absorbed, so recalibrating an upstream artefact is formally a change to everything downstream of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daily recalibration nobody calls a change</a:t>
            </a:r>
          </a:p>
          <a:p>
            <a:pPr lvl="1">
              <a:lnSpc>
                <a:spcPct val="120000"/>
              </a:lnSpc>
              <a:spcBef>
                <a:spcPts val="0"/>
              </a:spcBef>
              <a:spcAft>
                <a:spcPts val="0"/>
              </a:spcAft>
            </a:pPr>
            <a:r>
              <a:rPr sz="1350" b="0">
                <a:solidFill>
                  <a:srgbClr val="4A4F57"/>
                </a:solidFill>
                <a:latin typeface="Calibri"/>
              </a:rPr>
              <a:t>At 06:30 a discount curve is re-solved against market instruments. Downstream sit a swaption pricer, an XVA engine, a VaR engine and a capital plan, and formally every one has just changed. The change process records nothing, because curves are “market data”. The usual resolution is that recalibration inside a declared tolerance is governed by monitoring and outside it is a change event. The formalism does not choose — it forces somebody to notice a choice is being made, and to write the tolerance down.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D2 · FIT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Four questions that were one question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of these is asked somewhere in a model register, and in the registers we have examined each has a code path of its own: a variance routine, a slot loop, a contract refinement check — and for the dependency edge, frequently nothing at all.</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§3.1 and §3.5. Four implementations of one relation are four opportunities to disagree — predictably in the direction of permitting more, because a check that wrongly refuses is reported within the hour and a check that wrongly allows is not reported at all.</a:t>
            </a:r>
          </a:p>
        </p:txBody>
      </p:sp>
      <p:graphicFrame>
        <p:nvGraphicFramePr>
          <p:cNvPr id="13" name="Table 12"/>
          <p:cNvGraphicFramePr>
            <a:graphicFrameLocks noGrp="1"/>
          </p:cNvGraphicFramePr>
          <p:nvPr/>
        </p:nvGraphicFramePr>
        <p:xfrm>
          <a:off x="777240" y="2284984"/>
          <a:ext cx="10637214" cy="2781744"/>
        </p:xfrm>
        <a:graphic>
          <a:graphicData uri="http://schemas.openxmlformats.org/drawingml/2006/table">
            <a:tbl>
              <a:tblPr firstRow="1">
                <a:tableStyleId>{5C22544A-7EE6-4342-B048-85BDC9FD1C3A}</a:tableStyleId>
              </a:tblPr>
              <a:tblGrid>
                <a:gridCol w="2200803"/>
                <a:gridCol w="3851405"/>
                <a:gridCol w="4585006"/>
              </a:tblGrid>
              <a:tr h="318579">
                <a:tc>
                  <a:txBody>
                    <a:bodyPr wrap="square"/>
                    <a:lstStyle/>
                    <a:p>
                      <a:r>
                        <a:rPr sz="1300" b="1">
                          <a:solidFill>
                            <a:srgbClr val="FFFFFF"/>
                          </a:solidFill>
                          <a:latin typeface="Calibri"/>
                        </a:rPr>
                        <a:t>Where it is asked</a:t>
                      </a:r>
                    </a:p>
                  </a:txBody>
                  <a:tcPr marL="82296" marR="64008" marT="32004" marB="32004" anchor="ctr">
                    <a:solidFill>
                      <a:srgbClr val="A51C30"/>
                    </a:solidFill>
                  </a:tcPr>
                </a:tc>
                <a:tc>
                  <a:txBody>
                    <a:bodyPr wrap="square"/>
                    <a:lstStyle/>
                    <a:p>
                      <a:r>
                        <a:rPr sz="1300" b="1">
                          <a:solidFill>
                            <a:srgbClr val="FFFFFF"/>
                          </a:solidFill>
                          <a:latin typeface="Calibri"/>
                        </a:rPr>
                        <a:t>What it actually asks</a:t>
                      </a:r>
                    </a:p>
                  </a:txBody>
                  <a:tcPr marL="82296" marR="64008" marT="32004" marB="32004" anchor="ctr">
                    <a:solidFill>
                      <a:srgbClr val="A51C30"/>
                    </a:solidFill>
                  </a:tcPr>
                </a:tc>
                <a:tc>
                  <a:txBody>
                    <a:bodyPr wrap="square"/>
                    <a:lstStyle/>
                    <a:p>
                      <a:r>
                        <a:rPr sz="1300" b="1">
                          <a:solidFill>
                            <a:srgbClr val="FFFFFF"/>
                          </a:solidFill>
                          <a:latin typeface="Calibri"/>
                        </a:rPr>
                        <a:t>The comparison</a:t>
                      </a:r>
                    </a:p>
                  </a:txBody>
                  <a:tcPr marL="82296" marR="64008" marT="32004" marB="32004" anchor="ctr">
                    <a:solidFill>
                      <a:srgbClr val="A51C30"/>
                    </a:solidFill>
                  </a:tcPr>
                </a:tc>
              </a:tr>
              <a:tr h="784479">
                <a:tc>
                  <a:txBody>
                    <a:bodyPr wrap="square"/>
                    <a:lstStyle/>
                    <a:p>
                      <a:r>
                        <a:rPr sz="1400" b="1">
                          <a:solidFill>
                            <a:srgbClr val="761422"/>
                          </a:solidFill>
                          <a:latin typeface="Calibri"/>
                        </a:rPr>
                        <a:t>A replacement version</a:t>
                      </a:r>
                    </a:p>
                  </a:txBody>
                  <a:tcPr marL="82296" marR="64008" marT="32004" marB="32004" anchor="ctr">
                    <a:solidFill>
                      <a:srgbClr val="FFFFFF"/>
                    </a:solidFill>
                  </a:tcPr>
                </a:tc>
                <a:tc>
                  <a:txBody>
                    <a:bodyPr wrap="square"/>
                    <a:lstStyle/>
                    <a:p>
                      <a:r>
                        <a:rPr sz="1400" b="0">
                          <a:solidFill>
                            <a:srgbClr val="1C1C1E"/>
                          </a:solidFill>
                          <a:latin typeface="Calibri"/>
                        </a:rPr>
                        <a:t>May this version stand where the incumbent stood?</a:t>
                      </a:r>
                    </a:p>
                  </a:txBody>
                  <a:tcPr marL="82296" marR="64008" marT="32004" marB="32004" anchor="ctr">
                    <a:solidFill>
                      <a:srgbClr val="FFFFFF"/>
                    </a:solidFill>
                  </a:tcPr>
                </a:tc>
                <a:tc>
                  <a:txBody>
                    <a:bodyPr wrap="square"/>
                    <a:lstStyle/>
                    <a:p>
                      <a:r>
                        <a:rPr sz="1400" b="0">
                          <a:solidFill>
                            <a:srgbClr val="1C1C1E"/>
                          </a:solidFill>
                          <a:latin typeface="Calibri"/>
                        </a:rPr>
                        <a:t>Its inputs accept at least what the incumbent's did, and its outputs still provide what the incumbent's provided</a:t>
                      </a:r>
                    </a:p>
                  </a:txBody>
                  <a:tcPr marL="82296" marR="64008" marT="32004" marB="32004" anchor="ctr">
                    <a:solidFill>
                      <a:srgbClr val="FFFFFF"/>
                    </a:solidFill>
                  </a:tcPr>
                </a:tc>
              </a:tr>
              <a:tr h="559562">
                <a:tc>
                  <a:txBody>
                    <a:bodyPr wrap="square"/>
                    <a:lstStyle/>
                    <a:p>
                      <a:r>
                        <a:rPr sz="1400" b="1">
                          <a:solidFill>
                            <a:srgbClr val="761422"/>
                          </a:solidFill>
                          <a:latin typeface="Calibri"/>
                        </a:rPr>
                        <a:t>Binding data to a model</a:t>
                      </a:r>
                    </a:p>
                  </a:txBody>
                  <a:tcPr marL="82296" marR="64008" marT="32004" marB="32004" anchor="ctr">
                    <a:solidFill>
                      <a:srgbClr val="F6F3EF"/>
                    </a:solidFill>
                  </a:tcPr>
                </a:tc>
                <a:tc>
                  <a:txBody>
                    <a:bodyPr wrap="square"/>
                    <a:lstStyle/>
                    <a:p>
                      <a:r>
                        <a:rPr sz="1400" b="0">
                          <a:solidFill>
                            <a:srgbClr val="1C1C1E"/>
                          </a:solidFill>
                          <a:latin typeface="Calibri"/>
                        </a:rPr>
                        <a:t>Does this feature set provide what the model declares it reads?</a:t>
                      </a:r>
                    </a:p>
                  </a:txBody>
                  <a:tcPr marL="82296" marR="64008" marT="32004" marB="32004" anchor="ctr">
                    <a:solidFill>
                      <a:srgbClr val="F6F3EF"/>
                    </a:solidFill>
                  </a:tcPr>
                </a:tc>
                <a:tc>
                  <a:txBody>
                    <a:bodyPr wrap="square"/>
                    <a:lstStyle/>
                    <a:p>
                      <a:r>
                        <a:rPr sz="1400" b="0">
                          <a:solidFill>
                            <a:srgbClr val="1C1C1E"/>
                          </a:solidFill>
                          <a:latin typeface="Calibri"/>
                        </a:rPr>
                        <a:t>The set's schema can stand in for the model's input contract</a:t>
                      </a:r>
                    </a:p>
                  </a:txBody>
                  <a:tcPr marL="82296" marR="64008" marT="32004" marB="32004" anchor="ctr">
                    <a:solidFill>
                      <a:srgbClr val="F6F3EF"/>
                    </a:solidFill>
                  </a:tcPr>
                </a:tc>
              </a:tr>
              <a:tr h="559562">
                <a:tc>
                  <a:txBody>
                    <a:bodyPr wrap="square"/>
                    <a:lstStyle/>
                    <a:p>
                      <a:r>
                        <a:rPr sz="1400" b="1">
                          <a:solidFill>
                            <a:srgbClr val="761422"/>
                          </a:solidFill>
                          <a:latin typeface="Calibri"/>
                        </a:rPr>
                        <a:t>A dependency edge</a:t>
                      </a:r>
                    </a:p>
                  </a:txBody>
                  <a:tcPr marL="82296" marR="64008" marT="32004" marB="32004" anchor="ctr">
                    <a:solidFill>
                      <a:srgbClr val="FFFFFF"/>
                    </a:solidFill>
                  </a:tcPr>
                </a:tc>
                <a:tc>
                  <a:txBody>
                    <a:bodyPr wrap="square"/>
                    <a:lstStyle/>
                    <a:p>
                      <a:r>
                        <a:rPr sz="1400" b="0">
                          <a:solidFill>
                            <a:srgbClr val="1C1C1E"/>
                          </a:solidFill>
                          <a:latin typeface="Calibri"/>
                        </a:rPr>
                        <a:t>Does what the source produces arrive where the target reads it?</a:t>
                      </a:r>
                    </a:p>
                  </a:txBody>
                  <a:tcPr marL="82296" marR="64008" marT="32004" marB="32004" anchor="ctr">
                    <a:solidFill>
                      <a:srgbClr val="FFFFFF"/>
                    </a:solidFill>
                  </a:tcPr>
                </a:tc>
                <a:tc>
                  <a:txBody>
                    <a:bodyPr wrap="square"/>
                    <a:lstStyle/>
                    <a:p>
                      <a:r>
                        <a:rPr sz="1400" b="0">
                          <a:solidFill>
                            <a:srgbClr val="1C1C1E"/>
                          </a:solidFill>
                          <a:latin typeface="Calibri"/>
                        </a:rPr>
                        <a:t>The source's output schema can stand in for the target's input contract</a:t>
                      </a:r>
                    </a:p>
                  </a:txBody>
                  <a:tcPr marL="82296" marR="64008" marT="32004" marB="32004" anchor="ctr">
                    <a:solidFill>
                      <a:srgbClr val="FFFFFF"/>
                    </a:solidFill>
                  </a:tcPr>
                </a:tc>
              </a:tr>
              <a:tr h="559562">
                <a:tc>
                  <a:txBody>
                    <a:bodyPr wrap="square"/>
                    <a:lstStyle/>
                    <a:p>
                      <a:r>
                        <a:rPr sz="1400" b="1">
                          <a:solidFill>
                            <a:srgbClr val="761422"/>
                          </a:solidFill>
                          <a:latin typeface="Calibri"/>
                        </a:rPr>
                        <a:t>One feature set, two models</a:t>
                      </a:r>
                    </a:p>
                  </a:txBody>
                  <a:tcPr marL="82296" marR="64008" marT="32004" marB="32004" anchor="ctr">
                    <a:solidFill>
                      <a:srgbClr val="F6F3EF"/>
                    </a:solidFill>
                  </a:tcPr>
                </a:tc>
                <a:tc>
                  <a:txBody>
                    <a:bodyPr wrap="square"/>
                    <a:lstStyle/>
                    <a:p>
                      <a:r>
                        <a:rPr sz="1400" b="0">
                          <a:solidFill>
                            <a:srgbClr val="1C1C1E"/>
                          </a:solidFill>
                          <a:latin typeface="Calibri"/>
                        </a:rPr>
                        <a:t>Can a single feature set serve both of these?</a:t>
                      </a:r>
                    </a:p>
                  </a:txBody>
                  <a:tcPr marL="82296" marR="64008" marT="32004" marB="32004" anchor="ctr">
                    <a:solidFill>
                      <a:srgbClr val="F6F3EF"/>
                    </a:solidFill>
                  </a:tcPr>
                </a:tc>
                <a:tc>
                  <a:txBody>
                    <a:bodyPr wrap="square"/>
                    <a:lstStyle/>
                    <a:p>
                      <a:r>
                        <a:rPr sz="1400" b="0">
                          <a:solidFill>
                            <a:srgbClr val="1C1C1E"/>
                          </a:solidFill>
                          <a:latin typeface="Calibri"/>
                        </a:rPr>
                        <a:t>The set can stand in for the greatest lower bound of the two contracts</a:t>
                      </a:r>
                    </a:p>
                  </a:txBody>
                  <a:tcPr marL="82296" marR="64008" marT="32004" marB="32004" anchor="ctr">
                    <a:solidFill>
                      <a:srgbClr val="F6F3E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ORDER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can stand in for B: one relation, written down once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§3.2. This is why it is worth writing down as an order with a stated direction rather than as a rule of thumb: the failure a rule of thumb produces here is silent, and it is in the permissive direction.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When one field accepts another</a:t>
            </a:r>
          </a:p>
          <a:p>
            <a:pPr lvl="1">
              <a:lnSpc>
                <a:spcPct val="120000"/>
              </a:lnSpc>
              <a:spcBef>
                <a:spcPts val="0"/>
              </a:spcBef>
              <a:spcAft>
                <a:spcPts val="0"/>
              </a:spcAft>
            </a:pPr>
            <a:r>
              <a:rPr sz="1300" b="0">
                <a:solidFill>
                  <a:srgbClr val="4A4F57"/>
                </a:solidFill>
                <a:latin typeface="Calibri"/>
              </a:rPr>
              <a:t>Same datatype; nullable if the other is; a lower bound no greater and an upper bound no less, an absent bound being the widest there is. A can stand in for B when every field B declares is present in A at a field that accepts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Extra fields are free</a:t>
            </a:r>
          </a:p>
          <a:p>
            <a:pPr lvl="1">
              <a:lnSpc>
                <a:spcPct val="120000"/>
              </a:lnSpc>
              <a:spcBef>
                <a:spcPts val="0"/>
              </a:spcBef>
              <a:spcAft>
                <a:spcPts val="0"/>
              </a:spcAft>
            </a:pPr>
            <a:r>
              <a:rPr sz="1300" b="0">
                <a:solidFill>
                  <a:srgbClr val="4A4F57"/>
                </a:solidFill>
                <a:latin typeface="Calibri"/>
              </a:rPr>
              <a:t>A may carry fields B does not. Nobody has to look at them, so a richer provider is always admissible — which is what makes the relation usable in a bank, where the feature set serving one model always carries more than that model reads.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Being fussier is not free</a:t>
            </a:r>
          </a:p>
          <a:p>
            <a:pPr lvl="1">
              <a:lnSpc>
                <a:spcPct val="120000"/>
              </a:lnSpc>
              <a:spcBef>
                <a:spcPts val="0"/>
              </a:spcBef>
              <a:spcAft>
                <a:spcPts val="0"/>
              </a:spcAft>
            </a:pPr>
            <a:r>
              <a:rPr sz="1300" b="0">
                <a:solidFill>
                  <a:srgbClr val="4A4F57"/>
                </a:solidFill>
                <a:latin typeface="Calibri"/>
              </a:rPr>
              <a:t>Each shared field must accept at least what B's accepted. A replacement that rejects an input its predecessor took is a replacement that breaks a caller: somebody was relying on the old tolerance, and nothing recorded that they were.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And the direction is the one nobody guesses</a:t>
            </a:r>
          </a:p>
          <a:p>
            <a:pPr lvl="1">
              <a:lnSpc>
                <a:spcPct val="120000"/>
              </a:lnSpc>
              <a:spcBef>
                <a:spcPts val="0"/>
              </a:spcBef>
              <a:spcAft>
                <a:spcPts val="0"/>
              </a:spcAft>
            </a:pPr>
            <a:r>
              <a:rPr sz="1300" b="0">
                <a:solidFill>
                  <a:srgbClr val="4A4F57"/>
                </a:solidFill>
                <a:latin typeface="Calibri"/>
              </a:rPr>
              <a:t>“Refinement” suggests narrowing, and a subtype is narrower in what it denotes. But a schema here is the set of inputs a slot will accept, and standing in for something means accepting at least what it accepted — so wider acceptance is admissible and narrower regresses. The two readings of “narrower” are easy to hold at once and impossible to hold consistently, and an order stated in the intuitive direction admits exactly the replacements that break callers.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MEET AND THE JOIN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derived schemas, and the question each one answers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§3.3. Two operations on one order rather than two unrelated constructions: the absorption law is what makes this a lattice, and it is why the four questions on the previous slide are genuinely one question rather than four similar ones.</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meet — what can serve both</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All the fields either one had, each loosened</a:t>
            </a:r>
          </a:p>
          <a:p>
            <a:pPr lvl="1">
              <a:lnSpc>
                <a:spcPct val="120000"/>
              </a:lnSpc>
              <a:spcBef>
                <a:spcPts val="0"/>
              </a:spcBef>
              <a:spcAft>
                <a:spcPts val="0"/>
              </a:spcAft>
            </a:pPr>
            <a:r>
              <a:rPr sz="1350" b="0">
                <a:solidFill>
                  <a:srgbClr val="4A4F57"/>
                </a:solidFill>
                <a:latin typeface="Calibri"/>
              </a:rPr>
              <a:t>Nullable if either is, the lesser lower bound, the greater upper bound, and an absent bound absorbing.</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question it answers</a:t>
            </a:r>
          </a:p>
          <a:p>
            <a:pPr lvl="1">
              <a:lnSpc>
                <a:spcPct val="120000"/>
              </a:lnSpc>
              <a:spcBef>
                <a:spcPts val="0"/>
              </a:spcBef>
              <a:spcAft>
                <a:spcPts val="0"/>
              </a:spcAft>
            </a:pPr>
            <a:r>
              <a:rPr sz="1350" b="0">
                <a:solidFill>
                  <a:srgbClr val="4A4F57"/>
                </a:solidFill>
                <a:latin typeface="Calibri"/>
              </a:rPr>
              <a:t>What would a single feature set have to provide in order to serve both of these models? Nothing weaker will do, and anything at least as strong will.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 is a greatest lower bound</a:t>
            </a:r>
          </a:p>
          <a:p>
            <a:pPr lvl="1">
              <a:lnSpc>
                <a:spcPct val="120000"/>
              </a:lnSpc>
              <a:spcBef>
                <a:spcPts val="0"/>
              </a:spcBef>
              <a:spcAft>
                <a:spcPts val="0"/>
              </a:spcAft>
            </a:pPr>
            <a:r>
              <a:rPr sz="1350" b="0">
                <a:solidFill>
                  <a:srgbClr val="4A4F57"/>
                </a:solidFill>
                <a:latin typeface="Calibri"/>
              </a:rPr>
              <a:t>So a refusal derived from it is not a heuristic. Everything that serves both stands in for the meet, which makes the comparison against the meet the whole of the test rather than a first pass.</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join — what both promise</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Only the fields both have, each tightened</a:t>
            </a:r>
          </a:p>
          <a:p>
            <a:pPr lvl="1">
              <a:lnSpc>
                <a:spcPct val="120000"/>
              </a:lnSpc>
              <a:spcBef>
                <a:spcPts val="0"/>
              </a:spcBef>
              <a:spcAft>
                <a:spcPts val="0"/>
              </a:spcAft>
            </a:pPr>
            <a:r>
              <a:rPr sz="1350" b="0">
                <a:solidFill>
                  <a:srgbClr val="4A4F57"/>
                </a:solidFill>
                <a:latin typeface="Calibri"/>
              </a:rPr>
              <a:t>Nullable only if both are, the greater lower bound, the lesser upper bound.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question it answers</a:t>
            </a:r>
          </a:p>
          <a:p>
            <a:pPr lvl="1">
              <a:lnSpc>
                <a:spcPct val="120000"/>
              </a:lnSpc>
              <a:spcBef>
                <a:spcPts val="0"/>
              </a:spcBef>
              <a:spcAft>
                <a:spcPts val="0"/>
              </a:spcAft>
            </a:pPr>
            <a:r>
              <a:rPr sz="1350" b="0">
                <a:solidFill>
                  <a:srgbClr val="4A4F57"/>
                </a:solidFill>
                <a:latin typeface="Calibri"/>
              </a:rPr>
              <a:t>What may a consumer of either of these rely on? That is the contract a downstream model may be written against when its input might come from either source.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top, and no bottom</a:t>
            </a:r>
          </a:p>
          <a:p>
            <a:pPr lvl="1">
              <a:lnSpc>
                <a:spcPct val="120000"/>
              </a:lnSpc>
              <a:spcBef>
                <a:spcPts val="0"/>
              </a:spcBef>
              <a:spcAft>
                <a:spcPts val="0"/>
              </a:spcAft>
            </a:pPr>
            <a:r>
              <a:rPr sz="1350" b="0">
                <a:solidFill>
                  <a:srgbClr val="4A4F57"/>
                </a:solidFill>
                <a:latin typeface="Calibri"/>
              </a:rPr>
              <a:t>The empty schema imposes no condition, so everything can stand in for it. There is no least element: it would have to carry every field name that could ever exist. The structure is a lattice on each finite fragment, which is the only fragment anything inhabits.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PARTIALITY IS THE USEFUL PART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No meet, and the refusal that names the remedy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§3.4 and §3.6. MAYA implements the second half literally: a contract mismatch lists every attribute that misses (tests/test_warrants.py::test_contract_mismatch_is_refused_listing_every_attribute).</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Two schemas can have no lower bound at all</a:t>
            </a:r>
          </a:p>
          <a:p>
            <a:pPr lvl="1">
              <a:lnSpc>
                <a:spcPct val="120000"/>
              </a:lnSpc>
              <a:spcBef>
                <a:spcPts val="0"/>
              </a:spcBef>
              <a:spcAft>
                <a:spcPts val="0"/>
              </a:spcAft>
            </a:pPr>
            <a:r>
              <a:rPr sz="1350" b="0">
                <a:solidFill>
                  <a:srgbClr val="4A4F57"/>
                </a:solidFill>
                <a:latin typeface="Calibri"/>
              </a:rPr>
              <a:t>If a shared field name carries a different datatype on each side then no field accepts both, so nothing can serve both. The meet is partial, and the partiality is the informative part rather than a gap in the construction.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An empty answer is worse than an error</a:t>
            </a:r>
          </a:p>
          <a:p>
            <a:pPr lvl="1">
              <a:lnSpc>
                <a:spcPct val="120000"/>
              </a:lnSpc>
              <a:spcBef>
                <a:spcPts val="0"/>
              </a:spcBef>
              <a:spcAft>
                <a:spcPts val="0"/>
              </a:spcAft>
            </a:pPr>
            <a:r>
              <a:rPr sz="1350" b="0">
                <a:solidFill>
                  <a:srgbClr val="4A4F57"/>
                </a:solidFill>
                <a:latin typeface="Calibri"/>
              </a:rPr>
              <a:t>Whoever asked has a decision to make, usually that these two models cannot share a feature set. An absent value threaded through three layers becomes a silent empty schema somewhere downstream; a named refusal carrying the slot, both datatypes and which side wanted each is the answer to the question that was actually asked.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failure of the order splits into two different mistakes</a:t>
            </a:r>
          </a:p>
          <a:p>
            <a:pPr lvl="1">
              <a:lnSpc>
                <a:spcPct val="120000"/>
              </a:lnSpc>
              <a:spcBef>
                <a:spcPts val="0"/>
              </a:spcBef>
              <a:spcAft>
                <a:spcPts val="0"/>
              </a:spcAft>
            </a:pPr>
            <a:r>
              <a:rPr sz="1350" b="0">
                <a:solidFill>
                  <a:srgbClr val="4A4F57"/>
                </a:solidFill>
                <a:latin typeface="Calibri"/>
              </a:rPr>
              <a:t>Names B has that A lacks are missing. Names A has that accept less than B's did are narrowed. The remedies differ: a missing slot means the wrong data was bound, and a narrowed one means somebody tightened a constraint without noticing it was a promise.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changes the character of a control</a:t>
            </a:r>
          </a:p>
          <a:p>
            <a:pPr lvl="1">
              <a:lnSpc>
                <a:spcPct val="120000"/>
              </a:lnSpc>
              <a:spcBef>
                <a:spcPts val="0"/>
              </a:spcBef>
              <a:spcAft>
                <a:spcPts val="0"/>
              </a:spcAft>
            </a:pPr>
            <a:r>
              <a:rPr sz="1350" b="0">
                <a:solidFill>
                  <a:srgbClr val="4A4F57"/>
                </a:solidFill>
                <a:latin typeface="Calibri"/>
              </a:rPr>
              <a:t>“Incompatible” is a message. “Does not provide turnover; accepts less than before at dscr” is an instruction. Reporting every failure rather than the first is the difference between one round of correction and six.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 edge is a claim about types, not a line on a diagram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§4.1. Vocabulary is part of the formalism here: an edge named “feeds” is read in a bank as a nightly data drop, so where the reading goes wrong the defect is in the account rather than in the audience.</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The check</a:t>
            </a:r>
          </a:p>
          <a:p>
            <a:pPr lvl="1">
              <a:lnSpc>
                <a:spcPct val="120000"/>
              </a:lnSpc>
              <a:spcBef>
                <a:spcPts val="0"/>
              </a:spcBef>
              <a:spcAft>
                <a:spcPts val="0"/>
              </a:spcAft>
            </a:pPr>
            <a:r>
              <a:rPr sz="1550" b="0">
                <a:solidFill>
                  <a:srgbClr val="4A4F57"/>
                </a:solidFill>
                <a:latin typeface="Calibri"/>
              </a:rPr>
              <a:t>An edge from a to b asserts that a's output is read as an input by b, and holds only when a's output schema can stand in for b's input contract. Where it holds, the composite's own signature is derived — a's inputs, b's outputs — and type-correctness of a whole wiring is decidable.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Extra outputs are fine; a missing one is not</a:t>
            </a:r>
          </a:p>
          <a:p>
            <a:pPr lvl="1">
              <a:lnSpc>
                <a:spcPct val="120000"/>
              </a:lnSpc>
              <a:spcBef>
                <a:spcPts val="0"/>
              </a:spcBef>
              <a:spcAft>
                <a:spcPts val="0"/>
              </a:spcAft>
            </a:pPr>
            <a:r>
              <a:rPr sz="1550" b="0">
                <a:solidFill>
                  <a:srgbClr val="4A4F57"/>
                </a:solidFill>
                <a:latin typeface="Calibri"/>
              </a:rPr>
              <a:t>A richer output composes, because the surplus is simply unread. A name the target reads and the source does not produce is a wire to nowhere, and the refusal names it.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A composite's contract is derived, never written down</a:t>
            </a:r>
          </a:p>
          <a:p>
            <a:pPr lvl="1">
              <a:lnSpc>
                <a:spcPct val="120000"/>
              </a:lnSpc>
              <a:spcBef>
                <a:spcPts val="0"/>
              </a:spcBef>
              <a:spcAft>
                <a:spcPts val="0"/>
              </a:spcAft>
            </a:pPr>
            <a:r>
              <a:rPr sz="1550" b="0">
                <a:solidFill>
                  <a:srgbClr val="4A4F57"/>
                </a:solidFill>
                <a:latin typeface="Calibri"/>
              </a:rPr>
              <a:t>A signature somebody typed is a signature that can disagree with its parts. Deriving it means two members wanting one attribute at two datatypes is refused when the composite is defined, rather than discovered when it runs.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Not every relation between two models is a wire</a:t>
            </a:r>
          </a:p>
          <a:p>
            <a:pPr lvl="1">
              <a:lnSpc>
                <a:spcPct val="120000"/>
              </a:lnSpc>
              <a:spcBef>
                <a:spcPts val="0"/>
              </a:spcBef>
              <a:spcAft>
                <a:spcPts val="0"/>
              </a:spcAft>
            </a:pPr>
            <a:r>
              <a:rPr sz="1550" b="0">
                <a:solidFill>
                  <a:srgbClr val="4A4F57"/>
                </a:solidFill>
                <a:latin typeface="Calibri"/>
              </a:rPr>
              <a:t>“Challenger of” and “benchmark for” record how somebody thinks about a model. There is no wire, so there is nothing to type — and treating a challenger as a dependency would inflate every blast radius it appears 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WORKED EXAMPLE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wire that was a drawing</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An expected-credit-loss stack records that a PD model feeds a provisioning engine. Both entries have existed for two years, and the edge is on the diagram in every committee pack.</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§4.1, the worked example following the composition type-check. In MAYA the same check runs when a composite model is defined (maya/formula/composite.py).</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What the register held</a:t>
            </a:r>
          </a:p>
          <a:p>
            <a:pPr lvl="1">
              <a:lnSpc>
                <a:spcPct val="120000"/>
              </a:lnSpc>
              <a:spcBef>
                <a:spcPts val="0"/>
              </a:spcBef>
              <a:spcAft>
                <a:spcPts val="0"/>
              </a:spcAft>
            </a:pPr>
            <a:r>
              <a:rPr sz="1400" b="0">
                <a:solidFill>
                  <a:srgbClr val="4A4F57"/>
                </a:solidFill>
                <a:latin typeface="Calibri"/>
              </a:rPr>
              <a:t>The PD model's current version produces a twelve-month probability of default. The provisioning engine's current version reads a lifetime one. Nobody had wired the two systems together.</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was actually there</a:t>
            </a:r>
          </a:p>
          <a:p>
            <a:pPr lvl="1">
              <a:lnSpc>
                <a:spcPct val="120000"/>
              </a:lnSpc>
              <a:spcBef>
                <a:spcPts val="0"/>
              </a:spcBef>
              <a:spcAft>
                <a:spcPts val="0"/>
              </a:spcAft>
            </a:pPr>
            <a:r>
              <a:rPr sz="1400" b="0">
                <a:solidFill>
                  <a:srgbClr val="4A4F57"/>
                </a:solidFill>
                <a:latin typeface="Calibri"/>
              </a:rPr>
              <a:t>An adapter in between, computing one from the other using a term structure that belongs to a third model — which is not in the register at all.</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the unchecked edge reports</a:t>
            </a:r>
          </a:p>
          <a:p>
            <a:pPr lvl="1">
              <a:lnSpc>
                <a:spcPct val="120000"/>
              </a:lnSpc>
              <a:spcBef>
                <a:spcPts val="0"/>
              </a:spcBef>
              <a:spcAft>
                <a:spcPts val="0"/>
              </a:spcAft>
            </a:pPr>
            <a:r>
              <a:rPr sz="1400" b="0">
                <a:solidFill>
                  <a:srgbClr val="4A4F57"/>
                </a:solidFill>
                <a:latin typeface="Calibri"/>
              </a:rPr>
              <a:t>A two-node dependency, and a blast radius wrong in both directions at once: it claims a change to the PD model reaches provisioning directly, and it omits the term structure entirely. Nothing about the drawing said so.</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What the check does instead</a:t>
            </a:r>
          </a:p>
          <a:p>
            <a:pPr lvl="1">
              <a:lnSpc>
                <a:spcPct val="120000"/>
              </a:lnSpc>
              <a:spcBef>
                <a:spcPts val="0"/>
              </a:spcBef>
              <a:spcAft>
                <a:spcPts val="0"/>
              </a:spcAft>
            </a:pPr>
            <a:r>
              <a:rPr sz="1400" b="0">
                <a:solidFill>
                  <a:srgbClr val="4A4F57"/>
                </a:solidFill>
                <a:latin typeface="Calibri"/>
              </a:rPr>
              <a:t>The edge is refused at the moment somebody records it, with the missing output named. The conversation that follows is the one that discovers the third model — which is the whole value of the refusal, and it is available only because the edge asserts something checkable.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DOES NOT COMPOSE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banks, one curve or two</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35</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Supervisory guidance asks that model risk be assessed both individually and in aggregate, reflecting interactions and dependencies among models and reliance on common assumptions, data or methodologies. That expectation has precise formal content: it asserts that compositionality fails.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§4.2. This is a negative result and it is here deliberately: an account that only derives is an advertisement, and the boundary of what can be derived is as much a design input as the derivations are.</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two banks</a:t>
            </a:r>
          </a:p>
          <a:p>
            <a:pPr lvl="1">
              <a:lnSpc>
                <a:spcPct val="120000"/>
              </a:lnSpc>
              <a:spcBef>
                <a:spcPts val="0"/>
              </a:spcBef>
              <a:spcAft>
                <a:spcPts val="0"/>
              </a:spcAft>
            </a:pPr>
            <a:r>
              <a:rPr sz="1300" b="0">
                <a:solidFill>
                  <a:srgbClr val="4A4F57"/>
                </a:solidFill>
                <a:latin typeface="Calibri"/>
              </a:rPr>
              <a:t>Each runs one curve model and two pricers. Bank A feeds both pricers from a single curve. Bank B built two curves independently, one for each pricer.</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Rated individually they are identical</a:t>
            </a:r>
          </a:p>
          <a:p>
            <a:pPr lvl="1">
              <a:lnSpc>
                <a:spcPct val="120000"/>
              </a:lnSpc>
              <a:spcBef>
                <a:spcPts val="0"/>
              </a:spcBef>
              <a:spcAft>
                <a:spcPts val="0"/>
              </a:spcAft>
            </a:pPr>
            <a:r>
              <a:rPr sz="1300" b="0">
                <a:solidFill>
                  <a:srgbClr val="4A4F57"/>
                </a:solidFill>
                <a:latin typeface="Calibri"/>
              </a:rPr>
              <a:t>Same curve rating, same two pricer ratings. So any method that computes the total from the constituent ratings — taking the maximum, or the join, which is standard practice — returns the same answer for both banks.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They are not the same bank</a:t>
            </a:r>
          </a:p>
          <a:p>
            <a:pPr lvl="1">
              <a:lnSpc>
                <a:spcPct val="120000"/>
              </a:lnSpc>
              <a:spcBef>
                <a:spcPts val="0"/>
              </a:spcBef>
              <a:spcAft>
                <a:spcPts val="0"/>
              </a:spcAft>
            </a:pPr>
            <a:r>
              <a:rPr sz="1300" b="0">
                <a:solidFill>
                  <a:srgbClr val="4A4F57"/>
                </a:solidFill>
                <a:latin typeface="Calibri"/>
              </a:rPr>
              <a:t>Bank A has a single point of failure and Bank B does not. That is the whole of it: the risk of the whole is not a function of the risks of the parts, because part of it lives in the wiring.</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Stated exactly</a:t>
            </a:r>
          </a:p>
          <a:p>
            <a:pPr lvl="1">
              <a:lnSpc>
                <a:spcPct val="120000"/>
              </a:lnSpc>
              <a:spcBef>
                <a:spcPts val="0"/>
              </a:spcBef>
              <a:spcAft>
                <a:spcPts val="0"/>
              </a:spcAft>
            </a:pPr>
            <a:r>
              <a:rPr sz="1300" b="0">
                <a:solidFill>
                  <a:srgbClr val="4A4F57"/>
                </a:solidFill>
                <a:latin typeface="Calibri"/>
              </a:rPr>
              <a:t>No risk assignment is both compositional — the whole being the join of its parts — and fragility-sensitive, where a network in which one artefact reaches more of the outputs rates strictly higher than one in which it reaches fewer, the multiset of constituent risks being equal. Two distinct ratings in the scale are enough to force the contradiction, so no richer scale escapes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OBSTRUCTION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It is the sharing itself, so no assumption removes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§4.2, the remark identifying the copy as the obstruction and the corollary that laxity is necessary. MAYA computes the first three attributions from lineage and does not claim the fourth.</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The two networks differ in exactly one thing</a:t>
            </a:r>
          </a:p>
          <a:p>
            <a:pPr lvl="1">
              <a:lnSpc>
                <a:spcPct val="120000"/>
              </a:lnSpc>
              <a:spcBef>
                <a:spcPts val="0"/>
              </a:spcBef>
              <a:spcAft>
                <a:spcPts val="0"/>
              </a:spcAft>
            </a:pPr>
            <a:r>
              <a:rPr sz="1450" b="0">
                <a:solidFill>
                  <a:srgbClr val="4A4F57"/>
                </a:solidFill>
                <a:latin typeface="Calibri"/>
              </a:rPr>
              <a:t>One takes an output and hands it to two consumers; the other runs two independent instances. Shared dependency is that copy — a piece of the structure, not a correlation assumption somebody chose badly.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So a better dependency assumption does not help</a:t>
            </a:r>
          </a:p>
          <a:p>
            <a:pPr lvl="1">
              <a:lnSpc>
                <a:spcPct val="120000"/>
              </a:lnSpc>
              <a:spcBef>
                <a:spcPts val="0"/>
              </a:spcBef>
              <a:spcAft>
                <a:spcPts val="0"/>
              </a:spcAft>
            </a:pPr>
            <a:r>
              <a:rPr sz="1450" b="0">
                <a:solidFill>
                  <a:srgbClr val="4A4F57"/>
                </a:solidFill>
                <a:latin typeface="Calibri"/>
              </a:rPr>
              <a:t>There is nothing to estimate. The difference between the two banks is not a number that was got wrong; it is a distinction the arithmetic of joining constituent ratings cannot express at all.</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result is a constraint, not a measure</a:t>
            </a:r>
          </a:p>
          <a:p>
            <a:pPr lvl="1">
              <a:lnSpc>
                <a:spcPct val="120000"/>
              </a:lnSpc>
              <a:spcBef>
                <a:spcPts val="0"/>
              </a:spcBef>
              <a:spcAft>
                <a:spcPts val="0"/>
              </a:spcAft>
            </a:pPr>
            <a:r>
              <a:rPr sz="1450" b="0">
                <a:solidFill>
                  <a:srgbClr val="4A4F57"/>
                </a:solidFill>
                <a:latin typeface="Calibri"/>
              </a:rPr>
              <a:t>It says what a correct aggregate cannot be. It does not construct one, and an account claiming otherwise would be selling the thing it had just proved impossible.</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What remains is laxity, and it is the useful quantity</a:t>
            </a:r>
          </a:p>
          <a:p>
            <a:pPr lvl="1">
              <a:lnSpc>
                <a:spcPct val="120000"/>
              </a:lnSpc>
              <a:spcBef>
                <a:spcPts val="0"/>
              </a:spcBef>
              <a:spcAft>
                <a:spcPts val="0"/>
              </a:spcAft>
            </a:pPr>
            <a:r>
              <a:rPr sz="1450" b="0">
                <a:solidFill>
                  <a:srgbClr val="4A4F57"/>
                </a:solidFill>
                <a:latin typeface="Calibri"/>
              </a:rPr>
              <a:t>Any fragility-sensitive assignment is at best lax: the whole is at least the join of its parts. The discrepancy is the interaction premium, and it is what the guidance is actually asking about — so a correct aggregate reports the join of the constituents, the composite figure, and the difference attributed to common dials, common inputs, common fitting evidence and common methodology. The first three are computable from a typed graph; the fourth is not, and an aggregate that implies it is becomes decorative.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D3 · CURRENCY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point-in-time read, stated as an operator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 gave the rule in words: the latest fact that was both true by the decision date and known by the decision date. Written as an operator it acquires two properties a convention cannot have — it can be reasoned about, and it can be wrong in a way somebody notices.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That last bound is one character of the definition and it is the whole guarantee; its omission is invisible in every test that does not restate a fact.</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admissible set</a:t>
            </a:r>
          </a:p>
          <a:p>
            <a:pPr lvl="1">
              <a:lnSpc>
                <a:spcPct val="120000"/>
              </a:lnSpc>
              <a:spcBef>
                <a:spcPts val="0"/>
              </a:spcBef>
              <a:spcAft>
                <a:spcPts val="0"/>
              </a:spcAft>
            </a:pPr>
            <a:r>
              <a:rPr sz="1100" b="0">
                <a:solidFill>
                  <a:srgbClr val="4A4F57"/>
                </a:solidFill>
                <a:latin typeface="Calibri"/>
              </a:rPr>
              <a:t>For a label time — the moment the decision was taken — and an observation time at which the assembly is run, the records admissible for a row are those whose event time is at or before the label, and whose ingest time is at or before the earlier of the label and the observation.</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The read</a:t>
            </a:r>
          </a:p>
          <a:p>
            <a:pPr lvl="1">
              <a:lnSpc>
                <a:spcPct val="120000"/>
              </a:lnSpc>
              <a:spcBef>
                <a:spcPts val="0"/>
              </a:spcBef>
              <a:spcAft>
                <a:spcPts val="0"/>
              </a:spcAft>
            </a:pPr>
            <a:r>
              <a:rPr sz="1100" b="0">
                <a:solidFill>
                  <a:srgbClr val="4A4F57"/>
                </a:solidFill>
                <a:latin typeface="Calibri"/>
              </a:rPr>
              <a:t>The latest admissible record, by event time and then by ingest time. It is undefined when nothing is admissible, rather than empty: a row for which nothing could have been known is a different fact about the world from a row whose value was zero, and an operator returning the same thing for both would lose it.</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Both bounds are present because they refuse different things</a:t>
            </a:r>
          </a:p>
          <a:p>
            <a:pPr lvl="1">
              <a:lnSpc>
                <a:spcPct val="120000"/>
              </a:lnSpc>
              <a:spcBef>
                <a:spcPts val="0"/>
              </a:spcBef>
              <a:spcAft>
                <a:spcPts val="0"/>
              </a:spcAft>
            </a:pPr>
            <a:r>
              <a:rPr sz="1100" b="0">
                <a:solidFill>
                  <a:srgbClr val="4A4F57"/>
                </a:solidFill>
                <a:latin typeface="Calibri"/>
              </a:rPr>
              <a:t>The event bound is what the world had done by the moment of the decision. The ingest bound is what could have been known at that moment. A read with one clock answers a question nobody asked — what do we think now about what was true then — and answers it without saying so.</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And the ingest bound is the earlier of the two, not the observation</a:t>
            </a:r>
          </a:p>
          <a:p>
            <a:pPr lvl="1">
              <a:lnSpc>
                <a:spcPct val="120000"/>
              </a:lnSpc>
              <a:spcBef>
                <a:spcPts val="0"/>
              </a:spcBef>
              <a:spcAft>
                <a:spcPts val="0"/>
              </a:spcAft>
            </a:pPr>
            <a:r>
              <a:rPr sz="1100" b="0">
                <a:solidFill>
                  <a:srgbClr val="4A4F57"/>
                </a:solidFill>
                <a:latin typeface="Calibri"/>
              </a:rPr>
              <a:t>The observation time is a single date for a whole assembly and is usually far later than any individual label. Bounding knowledge by the assembly date admits, for every early row, everything learned between that row's own decision date and the moment somebody pressed the button.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PROPERTIES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And the fourth one is reproducibility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is elementary to prove and none is ornamental. Together they are the difference between a read that is correct and a read that is stable — and the fourth makes reproducibility a property of the operator rather than of the discipline of whoever re-runs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§5.2. Without saturation a re-run quietly improves on the original, and the numbers then agree with nothing — including themselves. Nobody notices, because the second set is better by every measure that gets looked at.</a:t>
            </a:r>
          </a:p>
        </p:txBody>
      </p:sp>
      <p:graphicFrame>
        <p:nvGraphicFramePr>
          <p:cNvPr id="13" name="Table 12"/>
          <p:cNvGraphicFramePr>
            <a:graphicFrameLocks noGrp="1"/>
          </p:cNvGraphicFramePr>
          <p:nvPr/>
        </p:nvGraphicFramePr>
        <p:xfrm>
          <a:off x="777240" y="2284984"/>
          <a:ext cx="10637214" cy="3054856"/>
        </p:xfrm>
        <a:graphic>
          <a:graphicData uri="http://schemas.openxmlformats.org/drawingml/2006/table">
            <a:tbl>
              <a:tblPr firstRow="1">
                <a:tableStyleId>{5C22544A-7EE6-4342-B048-85BDC9FD1C3A}</a:tableStyleId>
              </a:tblPr>
              <a:tblGrid>
                <a:gridCol w="2292503"/>
                <a:gridCol w="3668005"/>
                <a:gridCol w="4676706"/>
              </a:tblGrid>
              <a:tr h="302514">
                <a:tc>
                  <a:txBody>
                    <a:bodyPr wrap="square"/>
                    <a:lstStyle/>
                    <a:p>
                      <a:r>
                        <a:rPr sz="1200" b="1">
                          <a:solidFill>
                            <a:srgbClr val="FFFFFF"/>
                          </a:solidFill>
                          <a:latin typeface="Calibri"/>
                        </a:rPr>
                        <a:t>Property</a:t>
                      </a:r>
                    </a:p>
                  </a:txBody>
                  <a:tcPr marL="82296" marR="64008" marT="32004" marB="32004" anchor="ctr">
                    <a:solidFill>
                      <a:srgbClr val="A51C30"/>
                    </a:solidFill>
                  </a:tcPr>
                </a:tc>
                <a:tc>
                  <a:txBody>
                    <a:bodyPr wrap="square"/>
                    <a:lstStyle/>
                    <a:p>
                      <a:r>
                        <a:rPr sz="1200" b="1">
                          <a:solidFill>
                            <a:srgbClr val="FFFFFF"/>
                          </a:solidFill>
                          <a:latin typeface="Calibri"/>
                        </a:rPr>
                        <a:t>What it says</a:t>
                      </a:r>
                    </a:p>
                  </a:txBody>
                  <a:tcPr marL="82296" marR="64008" marT="32004" marB="32004" anchor="ctr">
                    <a:solidFill>
                      <a:srgbClr val="A51C30"/>
                    </a:solidFill>
                  </a:tcPr>
                </a:tc>
                <a:tc>
                  <a:txBody>
                    <a:bodyPr wrap="square"/>
                    <a:lstStyle/>
                    <a:p>
                      <a:r>
                        <a:rPr sz="1200" b="1">
                          <a:solidFill>
                            <a:srgbClr val="FFFFFF"/>
                          </a:solidFill>
                          <a:latin typeface="Calibri"/>
                        </a:rPr>
                        <a:t>Why it is worth having</a:t>
                      </a:r>
                    </a:p>
                  </a:txBody>
                  <a:tcPr marL="82296" marR="64008" marT="32004" marB="32004" anchor="ctr">
                    <a:solidFill>
                      <a:srgbClr val="A51C30"/>
                    </a:solidFill>
                  </a:tcPr>
                </a:tc>
              </a:tr>
              <a:tr h="495299">
                <a:tc>
                  <a:txBody>
                    <a:bodyPr wrap="square"/>
                    <a:lstStyle/>
                    <a:p>
                      <a:r>
                        <a:rPr sz="1200" b="1">
                          <a:solidFill>
                            <a:srgbClr val="761422"/>
                          </a:solidFill>
                          <a:latin typeface="Calibri"/>
                        </a:rPr>
                        <a:t>Idempotent</a:t>
                      </a:r>
                    </a:p>
                  </a:txBody>
                  <a:tcPr marL="82296" marR="64008" marT="32004" marB="32004" anchor="ctr">
                    <a:solidFill>
                      <a:srgbClr val="FFFFFF"/>
                    </a:solidFill>
                  </a:tcPr>
                </a:tc>
                <a:tc>
                  <a:txBody>
                    <a:bodyPr wrap="square"/>
                    <a:lstStyle/>
                    <a:p>
                      <a:r>
                        <a:rPr sz="1200" b="0">
                          <a:solidFill>
                            <a:srgbClr val="1C1C1E"/>
                          </a:solidFill>
                          <a:latin typeface="Calibri"/>
                        </a:rPr>
                        <a:t>Reading the record it just returned returns that record</a:t>
                      </a:r>
                    </a:p>
                  </a:txBody>
                  <a:tcPr marL="82296" marR="64008" marT="32004" marB="32004" anchor="ctr">
                    <a:solidFill>
                      <a:srgbClr val="FFFFFF"/>
                    </a:solidFill>
                  </a:tcPr>
                </a:tc>
                <a:tc>
                  <a:txBody>
                    <a:bodyPr wrap="square"/>
                    <a:lstStyle/>
                    <a:p>
                      <a:r>
                        <a:rPr sz="1200" b="0">
                          <a:solidFill>
                            <a:srgbClr val="1C1C1E"/>
                          </a:solidFill>
                          <a:latin typeface="Calibri"/>
                        </a:rPr>
                        <a:t>A cached row and a recomputed row agree, so the operator may be applied twice without an answer moving</a:t>
                      </a:r>
                    </a:p>
                  </a:txBody>
                  <a:tcPr marL="82296" marR="64008" marT="32004" marB="32004" anchor="ctr">
                    <a:solidFill>
                      <a:srgbClr val="FFFFFF"/>
                    </a:solidFill>
                  </a:tcPr>
                </a:tc>
              </a:tr>
              <a:tr h="688086">
                <a:tc>
                  <a:txBody>
                    <a:bodyPr wrap="square"/>
                    <a:lstStyle/>
                    <a:p>
                      <a:r>
                        <a:rPr sz="1200" b="1">
                          <a:solidFill>
                            <a:srgbClr val="761422"/>
                          </a:solidFill>
                          <a:latin typeface="Calibri"/>
                        </a:rPr>
                        <a:t>Commutes with projection</a:t>
                      </a:r>
                    </a:p>
                  </a:txBody>
                  <a:tcPr marL="82296" marR="64008" marT="32004" marB="32004" anchor="ctr">
                    <a:solidFill>
                      <a:srgbClr val="F6F3EF"/>
                    </a:solidFill>
                  </a:tcPr>
                </a:tc>
                <a:tc>
                  <a:txBody>
                    <a:bodyPr wrap="square"/>
                    <a:lstStyle/>
                    <a:p>
                      <a:r>
                        <a:rPr sz="1200" b="0">
                          <a:solidFill>
                            <a:srgbClr val="1C1C1E"/>
                          </a:solidFill>
                          <a:latin typeface="Calibri"/>
                        </a:rPr>
                        <a:t>Dropping non-clock columns before or after the read gives the same row</a:t>
                      </a:r>
                    </a:p>
                  </a:txBody>
                  <a:tcPr marL="82296" marR="64008" marT="32004" marB="32004" anchor="ctr">
                    <a:solidFill>
                      <a:srgbClr val="F6F3EF"/>
                    </a:solidFill>
                  </a:tcPr>
                </a:tc>
                <a:tc>
                  <a:txBody>
                    <a:bodyPr wrap="square"/>
                    <a:lstStyle/>
                    <a:p>
                      <a:r>
                        <a:rPr sz="1200" b="0">
                          <a:solidFill>
                            <a:srgbClr val="1C1C1E"/>
                          </a:solidFill>
                          <a:latin typeface="Calibri"/>
                        </a:rPr>
                        <a:t>Admissibility depends on the two clocks alone, so a narrower query is the same query rather than a cheaper approximation of it</a:t>
                      </a:r>
                    </a:p>
                  </a:txBody>
                  <a:tcPr marL="82296" marR="64008" marT="32004" marB="32004" anchor="ctr">
                    <a:solidFill>
                      <a:srgbClr val="F6F3EF"/>
                    </a:solidFill>
                  </a:tcPr>
                </a:tc>
              </a:tr>
              <a:tr h="688086">
                <a:tc>
                  <a:txBody>
                    <a:bodyPr wrap="square"/>
                    <a:lstStyle/>
                    <a:p>
                      <a:r>
                        <a:rPr sz="1200" b="1">
                          <a:solidFill>
                            <a:srgbClr val="761422"/>
                          </a:solidFill>
                          <a:latin typeface="Calibri"/>
                        </a:rPr>
                        <a:t>Monotone in the observation time</a:t>
                      </a:r>
                    </a:p>
                  </a:txBody>
                  <a:tcPr marL="82296" marR="64008" marT="32004" marB="32004" anchor="ctr">
                    <a:solidFill>
                      <a:srgbClr val="FFFFFF"/>
                    </a:solidFill>
                  </a:tcPr>
                </a:tc>
                <a:tc>
                  <a:txBody>
                    <a:bodyPr wrap="square"/>
                    <a:lstStyle/>
                    <a:p>
                      <a:r>
                        <a:rPr sz="1200" b="0">
                          <a:solidFill>
                            <a:srgbClr val="1C1C1E"/>
                          </a:solidFill>
                          <a:latin typeface="Calibri"/>
                        </a:rPr>
                        <a:t>A later observation admits a superset</a:t>
                      </a:r>
                    </a:p>
                  </a:txBody>
                  <a:tcPr marL="82296" marR="64008" marT="32004" marB="32004" anchor="ctr">
                    <a:solidFill>
                      <a:srgbClr val="FFFFFF"/>
                    </a:solidFill>
                  </a:tcPr>
                </a:tc>
                <a:tc>
                  <a:txBody>
                    <a:bodyPr wrap="square"/>
                    <a:lstStyle/>
                    <a:p>
                      <a:r>
                        <a:rPr sz="1200" b="0">
                          <a:solidFill>
                            <a:srgbClr val="1C1C1E"/>
                          </a:solidFill>
                          <a:latin typeface="Calibri"/>
                        </a:rPr>
                        <a:t>Nothing that was knowable stops being knowable. It is monotonicity of the set and not of the chosen row, which is why the fourth property has to be separate</a:t>
                      </a:r>
                    </a:p>
                  </a:txBody>
                  <a:tcPr marL="82296" marR="64008" marT="32004" marB="32004" anchor="ctr">
                    <a:solidFill>
                      <a:srgbClr val="FFFFFF"/>
                    </a:solidFill>
                  </a:tcPr>
                </a:tc>
              </a:tr>
              <a:tr h="880871">
                <a:tc>
                  <a:txBody>
                    <a:bodyPr wrap="square"/>
                    <a:lstStyle/>
                    <a:p>
                      <a:r>
                        <a:rPr sz="1200" b="1">
                          <a:solidFill>
                            <a:srgbClr val="761422"/>
                          </a:solidFill>
                          <a:latin typeface="Calibri"/>
                        </a:rPr>
                        <a:t>Saturating at the label</a:t>
                      </a:r>
                    </a:p>
                  </a:txBody>
                  <a:tcPr marL="82296" marR="64008" marT="32004" marB="32004" anchor="ctr">
                    <a:solidFill>
                      <a:srgbClr val="F6F3EF"/>
                    </a:solidFill>
                  </a:tcPr>
                </a:tc>
                <a:tc>
                  <a:txBody>
                    <a:bodyPr wrap="square"/>
                    <a:lstStyle/>
                    <a:p>
                      <a:r>
                        <a:rPr sz="1200" b="0">
                          <a:solidFill>
                            <a:srgbClr val="1C1C1E"/>
                          </a:solidFill>
                          <a:latin typeface="Calibri"/>
                        </a:rPr>
                        <a:t>At every observation at or after the label, the admissible set is the same set</a:t>
                      </a:r>
                    </a:p>
                  </a:txBody>
                  <a:tcPr marL="82296" marR="64008" marT="32004" marB="32004" anchor="ctr">
                    <a:solidFill>
                      <a:srgbClr val="F6F3EF"/>
                    </a:solidFill>
                  </a:tcPr>
                </a:tc>
                <a:tc>
                  <a:txBody>
                    <a:bodyPr wrap="square"/>
                    <a:lstStyle/>
                    <a:p>
                      <a:r>
                        <a:rPr sz="1200" b="0">
                          <a:solidFill>
                            <a:srgbClr val="1C1C1E"/>
                          </a:solidFill>
                          <a:latin typeface="Calibri"/>
                        </a:rPr>
                        <a:t>A row assembled at any time after its label is the row that would have been assembled at the label, whatever arrived in between. This is reproducibility, and it is what the earlier-of-the-two bound buys</a:t>
                      </a:r>
                    </a:p>
                  </a:txBody>
                  <a:tcPr marL="82296" marR="64008" marT="32004" marB="32004" anchor="ctr">
                    <a:solidFill>
                      <a:srgbClr val="F6F3E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DATA MAY LIVE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Copy, do not connect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39</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operator is usually read as a statement about how to query a store. It is also a statement about which stores may be queried at all, and the second reading is the operational one.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§5.4. It is also the reason MAYA has a lake of its own rather than a set of connectors: maya/storage/lake.py, the append-only ingest log every source writes to.</a:t>
            </a:r>
          </a:p>
        </p:txBody>
      </p:sp>
      <p:sp>
        <p:nvSpPr>
          <p:cNvPr id="13" name="TextBox 12"/>
          <p:cNvSpPr txBox="1"/>
          <p:nvPr/>
        </p:nvSpPr>
        <p:spPr>
          <a:xfrm>
            <a:off x="777240" y="2040509"/>
            <a:ext cx="10637215" cy="3637914"/>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The guarantee has two premises about the store</a:t>
            </a:r>
          </a:p>
          <a:p>
            <a:pPr lvl="1">
              <a:lnSpc>
                <a:spcPct val="120000"/>
              </a:lnSpc>
              <a:spcBef>
                <a:spcPts val="0"/>
              </a:spcBef>
              <a:spcAft>
                <a:spcPts val="0"/>
              </a:spcAft>
            </a:pPr>
            <a:r>
              <a:rPr sz="1200" b="0">
                <a:solidFill>
                  <a:srgbClr val="4A4F57"/>
                </a:solidFill>
                <a:latin typeface="Calibri"/>
              </a:rPr>
              <a:t>That every record carries both clocks, and that a correction appends rather than amends. Neither is a property of the query, so no operator applied at read time can supply what the store does not keep.</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 source that overwrites has neither</a:t>
            </a:r>
          </a:p>
          <a:p>
            <a:pPr lvl="1">
              <a:lnSpc>
                <a:spcPct val="120000"/>
              </a:lnSpc>
              <a:spcBef>
                <a:spcPts val="0"/>
              </a:spcBef>
              <a:spcAft>
                <a:spcPts val="0"/>
              </a:spcAft>
            </a:pPr>
            <a:r>
              <a:rPr sz="1200" b="0">
                <a:solidFill>
                  <a:srgbClr val="4A4F57"/>
                </a:solidFill>
                <a:latin typeface="Calibri"/>
              </a:rPr>
              <a:t>An ordinary warehouse table, a view maintained by a nightly job, a file replaced on a schedule: the May row is simply gone once the August restatement lands, and what the June decision saw cannot be recovered by anybody.</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And the read does not fail</a:t>
            </a:r>
          </a:p>
          <a:p>
            <a:pPr lvl="1">
              <a:lnSpc>
                <a:spcPct val="120000"/>
              </a:lnSpc>
              <a:spcBef>
                <a:spcPts val="0"/>
              </a:spcBef>
              <a:spcAft>
                <a:spcPts val="0"/>
              </a:spcAft>
            </a:pPr>
            <a:r>
              <a:rPr sz="1200" b="0">
                <a:solidFill>
                  <a:srgbClr val="4A4F57"/>
                </a:solidFill>
                <a:latin typeface="Calibri"/>
              </a:rPr>
              <a:t>It returns the restated number and says nothing, which is the failure mode the operator exists to eliminate. Binding a model's input directly to an external table implements a query that usually agrees with the operator: the two are indistinguishable until the first restatement, and indistinguishable again afterwards, because nothing records that they diverged.</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So pull the source, and read the snapshot</a:t>
            </a:r>
          </a:p>
          <a:p>
            <a:pPr lvl="1">
              <a:lnSpc>
                <a:spcPct val="120000"/>
              </a:lnSpc>
              <a:spcBef>
                <a:spcPts val="0"/>
              </a:spcBef>
              <a:spcAft>
                <a:spcPts val="0"/>
              </a:spcAft>
            </a:pPr>
            <a:r>
              <a:rPr sz="1200" b="0">
                <a:solidFill>
                  <a:srgbClr val="4A4F57"/>
                </a:solidFill>
                <a:latin typeface="Calibri"/>
              </a:rPr>
              <a:t>An external source is read once, given its two clocks, and written into storage under the platform's own control as an immutable, versioned snapshot; models read the snapshot. Connecting is cheaper and gives up the guarantee — this is not a preference between storage technologies but the observation that an operator defined over rows that can be overwritten is defined over the wrong object.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D4 · SUPPORT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Keep the shape, change the arithmetic</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50" b="0" i="0">
                <a:solidFill>
                  <a:srgbClr val="1C1C1E"/>
                </a:solidFill>
                <a:latin typeface="Calibri"/>
              </a:rPr>
              <a:t>Assurance evidence is a derivation rather than a log: this rests on that test and that approval; this requirement is met by this route or that one. Evidence has a fixed shape — joint dependence, and alternative routes — so it needs one operation for each. Swap the pair, and the same traversal answers a different question.</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§6.1. Annotating the derivation once in the richest of these keeps everything, so the others are read off it rather than recomputed — and where a direct evaluation and a projection disagree, one of the two routes is not structure-preserving, which is a fact about the evidence rather than a bug in a report.</a:t>
            </a:r>
          </a:p>
        </p:txBody>
      </p:sp>
      <p:graphicFrame>
        <p:nvGraphicFramePr>
          <p:cNvPr id="13" name="Table 12"/>
          <p:cNvGraphicFramePr>
            <a:graphicFrameLocks noGrp="1"/>
          </p:cNvGraphicFramePr>
          <p:nvPr/>
        </p:nvGraphicFramePr>
        <p:xfrm>
          <a:off x="777240" y="2258790"/>
          <a:ext cx="10637214" cy="3110928"/>
        </p:xfrm>
        <a:graphic>
          <a:graphicData uri="http://schemas.openxmlformats.org/drawingml/2006/table">
            <a:tbl>
              <a:tblPr firstRow="1">
                <a:tableStyleId>{5C22544A-7EE6-4342-B048-85BDC9FD1C3A}</a:tableStyleId>
              </a:tblPr>
              <a:tblGrid>
                <a:gridCol w="2475903"/>
                <a:gridCol w="3117804"/>
                <a:gridCol w="5043507"/>
              </a:tblGrid>
              <a:tr h="318579">
                <a:tc>
                  <a:txBody>
                    <a:bodyPr wrap="square"/>
                    <a:lstStyle/>
                    <a:p>
                      <a:r>
                        <a:rPr sz="1300" b="1">
                          <a:solidFill>
                            <a:srgbClr val="FFFFFF"/>
                          </a:solidFill>
                          <a:latin typeface="Calibri"/>
                        </a:rPr>
                        <a:t>The arithmetic</a:t>
                      </a:r>
                    </a:p>
                  </a:txBody>
                  <a:tcPr marL="82296" marR="64008" marT="32004" marB="32004" anchor="ctr">
                    <a:solidFill>
                      <a:srgbClr val="A51C30"/>
                    </a:solidFill>
                  </a:tcPr>
                </a:tc>
                <a:tc>
                  <a:txBody>
                    <a:bodyPr wrap="square"/>
                    <a:lstStyle/>
                    <a:p>
                      <a:r>
                        <a:rPr sz="1300" b="1">
                          <a:solidFill>
                            <a:srgbClr val="FFFFFF"/>
                          </a:solidFill>
                          <a:latin typeface="Calibri"/>
                        </a:rPr>
                        <a:t>Alternatives, joint dependence</a:t>
                      </a:r>
                    </a:p>
                  </a:txBody>
                  <a:tcPr marL="82296" marR="64008" marT="32004" marB="32004" anchor="ctr">
                    <a:solidFill>
                      <a:srgbClr val="A51C30"/>
                    </a:solidFill>
                  </a:tcPr>
                </a:tc>
                <a:tc>
                  <a:txBody>
                    <a:bodyPr wrap="square"/>
                    <a:lstStyle/>
                    <a:p>
                      <a:r>
                        <a:rPr sz="1300" b="1">
                          <a:solidFill>
                            <a:srgbClr val="FFFFFF"/>
                          </a:solidFill>
                          <a:latin typeface="Calibri"/>
                        </a:rPr>
                        <a:t>The question it answers</a:t>
                      </a:r>
                    </a:p>
                  </a:txBody>
                  <a:tcPr marL="82296" marR="64008" marT="32004" marB="32004" anchor="ctr">
                    <a:solidFill>
                      <a:srgbClr val="A51C30"/>
                    </a:solidFill>
                  </a:tcPr>
                </a:tc>
              </a:tr>
              <a:tr h="334645">
                <a:tc>
                  <a:txBody>
                    <a:bodyPr wrap="square"/>
                    <a:lstStyle/>
                    <a:p>
                      <a:r>
                        <a:rPr sz="1400" b="1">
                          <a:solidFill>
                            <a:srgbClr val="761422"/>
                          </a:solidFill>
                          <a:latin typeface="Calibri"/>
                        </a:rPr>
                        <a:t>true or false</a:t>
                      </a:r>
                    </a:p>
                  </a:txBody>
                  <a:tcPr marL="82296" marR="64008" marT="32004" marB="32004" anchor="ctr">
                    <a:solidFill>
                      <a:srgbClr val="FFFFFF"/>
                    </a:solidFill>
                  </a:tcPr>
                </a:tc>
                <a:tc>
                  <a:txBody>
                    <a:bodyPr wrap="square"/>
                    <a:lstStyle/>
                    <a:p>
                      <a:r>
                        <a:rPr sz="1400" b="0">
                          <a:solidFill>
                            <a:srgbClr val="1C1C1E"/>
                          </a:solidFill>
                          <a:latin typeface="Calibri"/>
                        </a:rPr>
                        <a:t>or, and</a:t>
                      </a:r>
                    </a:p>
                  </a:txBody>
                  <a:tcPr marL="82296" marR="64008" marT="32004" marB="32004" anchor="ctr">
                    <a:solidFill>
                      <a:srgbClr val="FFFFFF"/>
                    </a:solidFill>
                  </a:tcPr>
                </a:tc>
                <a:tc>
                  <a:txBody>
                    <a:bodyPr wrap="square"/>
                    <a:lstStyle/>
                    <a:p>
                      <a:r>
                        <a:rPr sz="1400" b="0">
                          <a:solidFill>
                            <a:srgbClr val="1C1C1E"/>
                          </a:solidFill>
                          <a:latin typeface="Calibri"/>
                        </a:rPr>
                        <a:t>Is the claim supported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counting</a:t>
                      </a:r>
                    </a:p>
                  </a:txBody>
                  <a:tcPr marL="82296" marR="64008" marT="32004" marB="32004" anchor="ctr">
                    <a:solidFill>
                      <a:srgbClr val="F6F3EF"/>
                    </a:solidFill>
                  </a:tcPr>
                </a:tc>
                <a:tc>
                  <a:txBody>
                    <a:bodyPr wrap="square"/>
                    <a:lstStyle/>
                    <a:p>
                      <a:r>
                        <a:rPr sz="1400" b="0">
                          <a:solidFill>
                            <a:srgbClr val="1C1C1E"/>
                          </a:solidFill>
                          <a:latin typeface="Calibri"/>
                        </a:rPr>
                        <a:t>plus, times</a:t>
                      </a:r>
                    </a:p>
                  </a:txBody>
                  <a:tcPr marL="82296" marR="64008" marT="32004" marB="32004" anchor="ctr">
                    <a:solidFill>
                      <a:srgbClr val="F6F3EF"/>
                    </a:solidFill>
                  </a:tcPr>
                </a:tc>
                <a:tc>
                  <a:txBody>
                    <a:bodyPr wrap="square"/>
                    <a:lstStyle/>
                    <a:p>
                      <a:r>
                        <a:rPr sz="1400" b="0">
                          <a:solidFill>
                            <a:srgbClr val="1C1C1E"/>
                          </a:solidFill>
                          <a:latin typeface="Calibri"/>
                        </a:rPr>
                        <a:t>How many independent derivations corroborate it?</a:t>
                      </a:r>
                    </a:p>
                  </a:txBody>
                  <a:tcPr marL="82296" marR="64008" marT="32004" marB="32004" anchor="ctr">
                    <a:solidFill>
                      <a:srgbClr val="F6F3EF"/>
                    </a:solidFill>
                  </a:tcPr>
                </a:tc>
              </a:tr>
              <a:tr h="559562">
                <a:tc>
                  <a:txBody>
                    <a:bodyPr wrap="square"/>
                    <a:lstStyle/>
                    <a:p>
                      <a:r>
                        <a:rPr sz="1400" b="1">
                          <a:solidFill>
                            <a:srgbClr val="761422"/>
                          </a:solidFill>
                          <a:latin typeface="Calibri"/>
                        </a:rPr>
                        <a:t>minimal supports</a:t>
                      </a:r>
                    </a:p>
                  </a:txBody>
                  <a:tcPr marL="82296" marR="64008" marT="32004" marB="32004" anchor="ctr">
                    <a:solidFill>
                      <a:srgbClr val="FFFFFF"/>
                    </a:solidFill>
                  </a:tcPr>
                </a:tc>
                <a:tc>
                  <a:txBody>
                    <a:bodyPr wrap="square"/>
                    <a:lstStyle/>
                    <a:p>
                      <a:r>
                        <a:rPr sz="1400" b="0">
                          <a:solidFill>
                            <a:srgbClr val="1C1C1E"/>
                          </a:solidFill>
                          <a:latin typeface="Calibri"/>
                        </a:rPr>
                        <a:t>absorptive union, pairwise union</a:t>
                      </a:r>
                    </a:p>
                  </a:txBody>
                  <a:tcPr marL="82296" marR="64008" marT="32004" marB="32004" anchor="ctr">
                    <a:solidFill>
                      <a:srgbClr val="FFFFFF"/>
                    </a:solidFill>
                  </a:tcPr>
                </a:tc>
                <a:tc>
                  <a:txBody>
                    <a:bodyPr wrap="square"/>
                    <a:lstStyle/>
                    <a:p>
                      <a:r>
                        <a:rPr sz="1400" b="0">
                          <a:solidFill>
                            <a:srgbClr val="1C1C1E"/>
                          </a:solidFill>
                          <a:latin typeface="Calibri"/>
                        </a:rPr>
                        <a:t>Which smallest set of evidence would suffice?</a:t>
                      </a:r>
                    </a:p>
                  </a:txBody>
                  <a:tcPr marL="82296" marR="64008" marT="32004" marB="32004" anchor="ctr">
                    <a:solidFill>
                      <a:srgbClr val="FFFFFF"/>
                    </a:solidFill>
                  </a:tcPr>
                </a:tc>
              </a:tr>
              <a:tr h="559562">
                <a:tc>
                  <a:txBody>
                    <a:bodyPr wrap="square"/>
                    <a:lstStyle/>
                    <a:p>
                      <a:r>
                        <a:rPr sz="1400" b="1">
                          <a:solidFill>
                            <a:srgbClr val="761422"/>
                          </a:solidFill>
                          <a:latin typeface="Calibri"/>
                        </a:rPr>
                        <a:t>polynomials over the evidence</a:t>
                      </a:r>
                    </a:p>
                  </a:txBody>
                  <a:tcPr marL="82296" marR="64008" marT="32004" marB="32004" anchor="ctr">
                    <a:solidFill>
                      <a:srgbClr val="F6F3EF"/>
                    </a:solidFill>
                  </a:tcPr>
                </a:tc>
                <a:tc>
                  <a:txBody>
                    <a:bodyPr wrap="square"/>
                    <a:lstStyle/>
                    <a:p>
                      <a:r>
                        <a:rPr sz="1400" b="0">
                          <a:solidFill>
                            <a:srgbClr val="1C1C1E"/>
                          </a:solidFill>
                          <a:latin typeface="Calibri"/>
                        </a:rPr>
                        <a:t>plus, times</a:t>
                      </a:r>
                    </a:p>
                  </a:txBody>
                  <a:tcPr marL="82296" marR="64008" marT="32004" marB="32004" anchor="ctr">
                    <a:solidFill>
                      <a:srgbClr val="F6F3EF"/>
                    </a:solidFill>
                  </a:tcPr>
                </a:tc>
                <a:tc>
                  <a:txBody>
                    <a:bodyPr wrap="square"/>
                    <a:lstStyle/>
                    <a:p>
                      <a:r>
                        <a:rPr sz="1400" b="0">
                          <a:solidFill>
                            <a:srgbClr val="1C1C1E"/>
                          </a:solidFill>
                          <a:latin typeface="Calibri"/>
                        </a:rPr>
                        <a:t>Exactly how was it derived — counting distinct routes, and repeated use of one fact?</a:t>
                      </a:r>
                    </a:p>
                  </a:txBody>
                  <a:tcPr marL="82296" marR="64008" marT="32004" marB="32004" anchor="ctr">
                    <a:solidFill>
                      <a:srgbClr val="F6F3EF"/>
                    </a:solidFill>
                  </a:tcPr>
                </a:tc>
              </a:tr>
              <a:tr h="334645">
                <a:tc>
                  <a:txBody>
                    <a:bodyPr wrap="square"/>
                    <a:lstStyle/>
                    <a:p>
                      <a:r>
                        <a:rPr sz="1400" b="1">
                          <a:solidFill>
                            <a:srgbClr val="761422"/>
                          </a:solidFill>
                          <a:latin typeface="Calibri"/>
                        </a:rPr>
                        <a:t>confidence</a:t>
                      </a:r>
                    </a:p>
                  </a:txBody>
                  <a:tcPr marL="82296" marR="64008" marT="32004" marB="32004" anchor="ctr">
                    <a:solidFill>
                      <a:srgbClr val="FFFFFF"/>
                    </a:solidFill>
                  </a:tcPr>
                </a:tc>
                <a:tc>
                  <a:txBody>
                    <a:bodyPr wrap="square"/>
                    <a:lstStyle/>
                    <a:p>
                      <a:r>
                        <a:rPr sz="1400" b="0">
                          <a:solidFill>
                            <a:srgbClr val="1C1C1E"/>
                          </a:solidFill>
                          <a:latin typeface="Calibri"/>
                        </a:rPr>
                        <a:t>max, times</a:t>
                      </a:r>
                    </a:p>
                  </a:txBody>
                  <a:tcPr marL="82296" marR="64008" marT="32004" marB="32004" anchor="ctr">
                    <a:solidFill>
                      <a:srgbClr val="FFFFFF"/>
                    </a:solidFill>
                  </a:tcPr>
                </a:tc>
                <a:tc>
                  <a:txBody>
                    <a:bodyPr wrap="square"/>
                    <a:lstStyle/>
                    <a:p>
                      <a:r>
                        <a:rPr sz="1400" b="0">
                          <a:solidFill>
                            <a:srgbClr val="1C1C1E"/>
                          </a:solidFill>
                          <a:latin typeface="Calibri"/>
                        </a:rPr>
                        <a:t>How much should the conclusion be trusted?</a:t>
                      </a:r>
                    </a:p>
                  </a:txBody>
                  <a:tcPr marL="82296" marR="64008" marT="32004" marB="32004" anchor="ctr">
                    <a:solidFill>
                      <a:srgbClr val="FFFFFF"/>
                    </a:solidFill>
                  </a:tcPr>
                </a:tc>
              </a:tr>
              <a:tr h="334645">
                <a:tc>
                  <a:txBody>
                    <a:bodyPr wrap="square"/>
                    <a:lstStyle/>
                    <a:p>
                      <a:r>
                        <a:rPr sz="1400" b="1">
                          <a:solidFill>
                            <a:srgbClr val="761422"/>
                          </a:solidFill>
                          <a:latin typeface="Calibri"/>
                        </a:rPr>
                        <a:t>least cost</a:t>
                      </a:r>
                    </a:p>
                  </a:txBody>
                  <a:tcPr marL="82296" marR="64008" marT="32004" marB="32004" anchor="ctr">
                    <a:solidFill>
                      <a:srgbClr val="F6F3EF"/>
                    </a:solidFill>
                  </a:tcPr>
                </a:tc>
                <a:tc>
                  <a:txBody>
                    <a:bodyPr wrap="square"/>
                    <a:lstStyle/>
                    <a:p>
                      <a:r>
                        <a:rPr sz="1400" b="0">
                          <a:solidFill>
                            <a:srgbClr val="1C1C1E"/>
                          </a:solidFill>
                          <a:latin typeface="Calibri"/>
                        </a:rPr>
                        <a:t>min, plus</a:t>
                      </a:r>
                    </a:p>
                  </a:txBody>
                  <a:tcPr marL="82296" marR="64008" marT="32004" marB="32004" anchor="ctr">
                    <a:solidFill>
                      <a:srgbClr val="F6F3EF"/>
                    </a:solidFill>
                  </a:tcPr>
                </a:tc>
                <a:tc>
                  <a:txBody>
                    <a:bodyPr wrap="square"/>
                    <a:lstStyle/>
                    <a:p>
                      <a:r>
                        <a:rPr sz="1400" b="0">
                          <a:solidFill>
                            <a:srgbClr val="1C1C1E"/>
                          </a:solidFill>
                          <a:latin typeface="Calibri"/>
                        </a:rPr>
                        <a:t>What is the cheapest way to close a gap?</a:t>
                      </a:r>
                    </a:p>
                  </a:txBody>
                  <a:tcPr marL="82296" marR="64008" marT="32004" marB="32004" anchor="ctr">
                    <a:solidFill>
                      <a:srgbClr val="F6F3EF"/>
                    </a:solidFill>
                  </a:tcPr>
                </a:tc>
              </a:tr>
              <a:tr h="334645">
                <a:tc>
                  <a:txBody>
                    <a:bodyPr wrap="square"/>
                    <a:lstStyle/>
                    <a:p>
                      <a:r>
                        <a:rPr sz="1400" b="1">
                          <a:solidFill>
                            <a:srgbClr val="761422"/>
                          </a:solidFill>
                          <a:latin typeface="Calibri"/>
                        </a:rPr>
                        <a:t>sets of regimes</a:t>
                      </a:r>
                    </a:p>
                  </a:txBody>
                  <a:tcPr marL="82296" marR="64008" marT="32004" marB="32004" anchor="ctr">
                    <a:solidFill>
                      <a:srgbClr val="FFFFFF"/>
                    </a:solidFill>
                  </a:tcPr>
                </a:tc>
                <a:tc>
                  <a:txBody>
                    <a:bodyPr wrap="square"/>
                    <a:lstStyle/>
                    <a:p>
                      <a:r>
                        <a:rPr sz="1400" b="0">
                          <a:solidFill>
                            <a:srgbClr val="1C1C1E"/>
                          </a:solidFill>
                          <a:latin typeface="Calibri"/>
                        </a:rPr>
                        <a:t>intersection, union</a:t>
                      </a:r>
                    </a:p>
                  </a:txBody>
                  <a:tcPr marL="82296" marR="64008" marT="32004" marB="32004" anchor="ctr">
                    <a:solidFill>
                      <a:srgbClr val="FFFFFF"/>
                    </a:solidFill>
                  </a:tcPr>
                </a:tc>
                <a:tc>
                  <a:txBody>
                    <a:bodyPr wrap="square"/>
                    <a:lstStyle/>
                    <a:p>
                      <a:r>
                        <a:rPr sz="1400" b="0">
                          <a:solidFill>
                            <a:srgbClr val="1C1C1E"/>
                          </a:solidFill>
                          <a:latin typeface="Calibri"/>
                        </a:rPr>
                        <a:t>For which regimes is it admissible?</a:t>
                      </a:r>
                    </a:p>
                  </a:txBody>
                  <a:tcPr marL="82296" marR="64008" marT="32004" marB="3200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LAYER ACROSS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ingest clock of a derived feature, as arithmetic that cannot be forgotten</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§6.2. Two routes to one answer are worth having only while they agree, so the identity between them is asserted rather than assumed.</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rule, as arithmetic</a:t>
            </a:r>
          </a:p>
          <a:p>
            <a:pPr lvl="1">
              <a:lnSpc>
                <a:spcPct val="120000"/>
              </a:lnSpc>
              <a:spcBef>
                <a:spcPts val="0"/>
              </a:spcBef>
              <a:spcAft>
                <a:spcPts val="0"/>
              </a:spcAft>
            </a:pPr>
            <a:r>
              <a:rPr sz="1350" b="0">
                <a:solidFill>
                  <a:srgbClr val="4A4F57"/>
                </a:solidFill>
                <a:latin typeface="Calibri"/>
              </a:rPr>
              <a:t>The moment a derived feature became knowable is the latest ingest time among the base features it reads. Stated that way it is a rule, and a rule can have exceptions somebody forgets.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rule, as a consequence of the derivation</a:t>
            </a:r>
          </a:p>
          <a:p>
            <a:pPr lvl="1">
              <a:lnSpc>
                <a:spcPct val="120000"/>
              </a:lnSpc>
              <a:spcBef>
                <a:spcPts val="0"/>
              </a:spcBef>
              <a:spcAft>
                <a:spcPts val="0"/>
              </a:spcAft>
            </a:pPr>
            <a:r>
              <a:rPr sz="1350" b="0">
                <a:solidFill>
                  <a:srgbClr val="4A4F57"/>
                </a:solidFill>
                <a:latin typeface="Calibri"/>
              </a:rPr>
              <a:t>It is the derivation itself, evaluated with each base feature replaced by its own ingest time. The upgrade is not cosmetic: every route to the number now goes through the same object, so there is no exception to forget.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What does this rest on?</a:t>
            </a:r>
          </a:p>
          <a:p>
            <a:pPr lvl="1">
              <a:lnSpc>
                <a:spcPct val="120000"/>
              </a:lnSpc>
              <a:spcBef>
                <a:spcPts val="0"/>
              </a:spcBef>
              <a:spcAft>
                <a:spcPts val="0"/>
              </a:spcAft>
            </a:pPr>
            <a:r>
              <a:rPr sz="1350" b="0">
                <a:solidFill>
                  <a:srgbClr val="4A4F57"/>
                </a:solidFill>
                <a:latin typeface="Calibri"/>
              </a:rPr>
              <a:t>The base features the derivation actually reads — deliberately not the transitive ancestor set, because the two answer different questions. The ancestor walk returns every ancestor, derived ones included, which is the right answer to what breaks if this changes. The base features are the right answer to what data this ultimately reads.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Does it touch the label?</a:t>
            </a:r>
          </a:p>
          <a:p>
            <a:pPr lvl="1">
              <a:lnSpc>
                <a:spcPct val="120000"/>
              </a:lnSpc>
              <a:spcBef>
                <a:spcPts val="0"/>
              </a:spcBef>
              <a:spcAft>
                <a:spcPts val="0"/>
              </a:spcAft>
            </a:pPr>
            <a:r>
              <a:rPr sz="1350" b="0">
                <a:solidFill>
                  <a:srgbClr val="4A4F57"/>
                </a:solidFill>
                <a:latin typeface="Calibri"/>
              </a:rPr>
              <a:t>Whether the target's own feature appears among those base features. A feature derived from a derivation of the target is still the target, so leakage detection becomes a membership test rather than a graph walk with a depth limit and a hope.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NEGATIVE RESULT, AND ITS REPAIR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zero that does not annihilate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§6.3. MAYA's licence algebra takes the repair literally: an object with no declared terms inherits terms unknown, and an export that would breach unknown terms is refused rather than permitted (maya/security/licence.py).</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valuation that looked obvious</a:t>
            </a:r>
          </a:p>
          <a:p>
            <a:pPr lvl="1">
              <a:lnSpc>
                <a:spcPct val="120000"/>
              </a:lnSpc>
              <a:spcBef>
                <a:spcPts val="0"/>
              </a:spcBef>
              <a:spcAft>
                <a:spcPts val="0"/>
              </a:spcAft>
            </a:pPr>
            <a:r>
              <a:rPr sz="1300" b="0">
                <a:solidFill>
                  <a:srgbClr val="4A4F57"/>
                </a:solidFill>
                <a:latin typeface="Calibri"/>
              </a:rPr>
              <a:t>“As of when is this claim current?” — take the later of the two, for alternatives and for joint dependence alike. It is not a valuation of the derivation at all, and no choice of constants inside its own carrier repairs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Why not</a:t>
            </a:r>
          </a:p>
          <a:p>
            <a:pPr lvl="1">
              <a:lnSpc>
                <a:spcPct val="120000"/>
              </a:lnSpc>
              <a:spcBef>
                <a:spcPts val="0"/>
              </a:spcBef>
              <a:spcAft>
                <a:spcPts val="0"/>
              </a:spcAft>
            </a:pPr>
            <a:r>
              <a:rPr sz="1300" b="0">
                <a:solidFill>
                  <a:srgbClr val="4A4F57"/>
                </a:solidFill>
                <a:latin typeface="Calibri"/>
              </a:rPr>
              <a:t>An identity for “the later of” has to be the least element, and so does the one, so the two coincide and the whole carrier collapses to a point. Independently, annihilation fails outright: combine the zero with a real timestamp and the timestamp comes back.</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Which is a practical defect rather than a technicality</a:t>
            </a:r>
          </a:p>
          <a:p>
            <a:pPr lvl="1">
              <a:lnSpc>
                <a:spcPct val="120000"/>
              </a:lnSpc>
              <a:spcBef>
                <a:spcPts val="0"/>
              </a:spcBef>
              <a:spcAft>
                <a:spcPts val="0"/>
              </a:spcAft>
            </a:pPr>
            <a:r>
              <a:rPr sz="1300" b="0">
                <a:solidFill>
                  <a:srgbClr val="4A4F57"/>
                </a:solidFill>
                <a:latin typeface="Calibri"/>
              </a:rPr>
              <a:t>A claim resting on a missing fact reports the currency of the facts that are present, instead of reporting that it has none. A structure answering “as of when” for a claim it cannot support is exactly the kind of instrument that reads as reassurance — and this shape is easy to build three times without noticing, because each instance looks like sensible arithmetic.</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repair is elementary, and it is the whole point</a:t>
            </a:r>
          </a:p>
          <a:p>
            <a:pPr lvl="1">
              <a:lnSpc>
                <a:spcPct val="120000"/>
              </a:lnSpc>
              <a:spcBef>
                <a:spcPts val="0"/>
              </a:spcBef>
              <a:spcAft>
                <a:spcPts val="0"/>
              </a:spcAft>
            </a:pPr>
            <a:r>
              <a:rPr sz="1300" b="0">
                <a:solidFill>
                  <a:srgbClr val="4A4F57"/>
                </a:solidFill>
                <a:latin typeface="Calibri"/>
              </a:rPr>
              <a:t>Adjoin a fresh bottom meaning no derivation: the identity for alternatives, and absorbing for joint dependence. Then a claim resting on a missing fact evaluates to “not current at all”. The zero has to be a new element meaning no support, never the least of the old ones — the same move that makes an undeclared licence read as terms unknown, which an export can refuse by name, instead of as the most permissive licence there is.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COMPLEMENT, DRAWN HONESTLY</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Facts that constitute the standard they would be checked against</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43</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An account arguing that four facts derive owes an account of the ones that do not. Three kinds are worth telling apart, and only the third is irreducible.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§7. MAYA implements the last line as its workflow primitive: an approval is a role and a count, and the platform records who exercised it rather than computing what it should have been.</a:t>
            </a:r>
          </a:p>
        </p:txBody>
      </p:sp>
      <p:sp>
        <p:nvSpPr>
          <p:cNvPr id="13" name="TextBox 12"/>
          <p:cNvSpPr txBox="1"/>
          <p:nvPr/>
        </p:nvSpPr>
        <p:spPr>
          <a:xfrm>
            <a:off x="777240" y="1976247"/>
            <a:ext cx="10637215" cy="3702177"/>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Derived from a declared rule</a:t>
            </a:r>
          </a:p>
          <a:p>
            <a:pPr lvl="1">
              <a:lnSpc>
                <a:spcPct val="120000"/>
              </a:lnSpc>
              <a:spcBef>
                <a:spcPts val="0"/>
              </a:spcBef>
              <a:spcAft>
                <a:spcPts val="0"/>
              </a:spcAft>
            </a:pPr>
            <a:r>
              <a:rPr sz="1150" b="0">
                <a:solidFill>
                  <a:srgbClr val="4A4F57"/>
                </a:solidFill>
                <a:latin typeface="Calibri"/>
              </a:rPr>
              <a:t>A risk classification, a control requirement, a scope determination: computing one is deterministic and involves no judgement. The judgement lives in supplying the inputs and in choosing the function — and the function constitutes the standard, so there is no independent specification against which a proposed one could be checked.</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Which is worth constraining even so</a:t>
            </a:r>
          </a:p>
          <a:p>
            <a:pPr lvl="1">
              <a:lnSpc>
                <a:spcPct val="120000"/>
              </a:lnSpc>
              <a:spcBef>
                <a:spcPts val="0"/>
              </a:spcBef>
              <a:spcAft>
                <a:spcPts val="0"/>
              </a:spcAft>
            </a:pPr>
            <a:r>
              <a:rPr sz="1150" b="0">
                <a:solidFill>
                  <a:srgbClr val="4A4F57"/>
                </a:solidFill>
                <a:latin typeface="Calibri"/>
              </a:rPr>
              <a:t>Require the tiering map to be monotone and nothing that can be learned about a model will move it into a lighter regime as it becomes more consequential. That is trivial as mathematics, exactly the guarantee an examiner seeks, and exactly what an unconstrained scoring formula fails to provide.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Declared, but with an oracle attached</a:t>
            </a:r>
          </a:p>
          <a:p>
            <a:pPr lvl="1">
              <a:lnSpc>
                <a:spcPct val="120000"/>
              </a:lnSpc>
              <a:spcBef>
                <a:spcPts val="0"/>
              </a:spcBef>
              <a:spcAft>
                <a:spcPts val="0"/>
              </a:spcAft>
            </a:pPr>
            <a:r>
              <a:rPr sz="1150" b="0">
                <a:solidFill>
                  <a:srgbClr val="4A4F57"/>
                </a:solidFill>
                <a:latin typeface="Calibri"/>
              </a:rPr>
              <a:t>One artefact may sit outside one regime's governed population, inside a second's, high-risk under a third and a financial-reporting key control under a fourth. These are four logical systems, each with its own vocabulary — and once each is encoded, a determination computed natively and one computed on the translated obligation must agree, so a disagreement witnesses a defect in the encoding rather than a genuine conflict between regimes.</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Irreducibly declared</a:t>
            </a:r>
          </a:p>
          <a:p>
            <a:pPr lvl="1">
              <a:lnSpc>
                <a:spcPct val="120000"/>
              </a:lnSpc>
              <a:spcBef>
                <a:spcPts val="0"/>
              </a:spcBef>
              <a:spcAft>
                <a:spcPts val="0"/>
              </a:spcAft>
            </a:pPr>
            <a:r>
              <a:rPr sz="1150" b="0">
                <a:solidFill>
                  <a:srgbClr val="4A4F57"/>
                </a:solidFill>
                <a:latin typeface="Calibri"/>
              </a:rPr>
              <a:t>Concluding a validation, granting an approval, accepting residual risk, choosing the tiering rule. These are not weakly-checkable tasks conservatively withheld from derivation; they have no notion of correctness independent of the authority exercising them, and a system pretending otherwise would be manufacturing an answer rather than recording a decision.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SAME BOUNDARY, FROM THE OTHER SIDE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Where a machine may do the work</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300" b="0" i="0">
                <a:solidFill>
                  <a:srgbClr val="1C1C1E"/>
                </a:solidFill>
                <a:latin typeface="Calibri"/>
              </a:rPr>
              <a:t>If an answer can be checked it matters little what produced it: a wrong one is caught and discarded, and the only cost is wasted effort. If it cannot be checked, then trusting the answer is trusting the producer, and no amount of process changes that. So the useful question is not whether the generator is good enough but whether there is a check — and there is one exactly where the fact derives from structure.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§9. MAYA's assistant sits entirely in the left column: it proposes, it never approves, it never blocks, and it never writes to a sealed object.</a:t>
            </a:r>
          </a:p>
        </p:txBody>
      </p:sp>
      <p:sp>
        <p:nvSpPr>
          <p:cNvPr id="13" name="Rectangle 12"/>
          <p:cNvSpPr/>
          <p:nvPr/>
        </p:nvSpPr>
        <p:spPr>
          <a:xfrm>
            <a:off x="777240"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 check exists, so an error costs throughput</a:t>
            </a:r>
          </a:p>
        </p:txBody>
      </p:sp>
      <p:sp>
        <p:nvSpPr>
          <p:cNvPr id="16" name="TextBox 15"/>
          <p:cNvSpPr txBox="1"/>
          <p:nvPr/>
        </p:nvSpPr>
        <p:spPr>
          <a:xfrm>
            <a:off x="777240"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Encode a regulatory regime</a:t>
            </a:r>
          </a:p>
          <a:p>
            <a:pPr lvl="1">
              <a:lnSpc>
                <a:spcPct val="120000"/>
              </a:lnSpc>
              <a:spcBef>
                <a:spcPts val="0"/>
              </a:spcBef>
              <a:spcAft>
                <a:spcPts val="0"/>
              </a:spcAft>
            </a:pPr>
            <a:r>
              <a:rPr sz="1100" b="0">
                <a:solidFill>
                  <a:srgbClr val="4A4F57"/>
                </a:solidFill>
                <a:latin typeface="Calibri"/>
              </a:rPr>
              <a:t>An encoding either keeps truth invariant under translation or it does not. Expensive expert work becomes cheap proposal and mechanical verification, and the expert adjudicates rather than authors.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Bind data to a model, or wire two models</a:t>
            </a:r>
          </a:p>
          <a:p>
            <a:pPr lvl="1">
              <a:lnSpc>
                <a:spcPct val="120000"/>
              </a:lnSpc>
              <a:spcBef>
                <a:spcPts val="0"/>
              </a:spcBef>
              <a:spcAft>
                <a:spcPts val="0"/>
              </a:spcAft>
            </a:pPr>
            <a:r>
              <a:rPr sz="1100" b="0">
                <a:solidFill>
                  <a:srgbClr val="4A4F57"/>
                </a:solidFill>
                <a:latin typeface="Calibri"/>
              </a:rPr>
              <a:t>Both are the one order of D2. A refusal names the slot that is missing or the one that narrowed.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Assemble fitting evidence, and cite it</a:t>
            </a:r>
          </a:p>
          <a:p>
            <a:pPr lvl="1">
              <a:lnSpc>
                <a:spcPct val="120000"/>
              </a:lnSpc>
              <a:spcBef>
                <a:spcPts val="0"/>
              </a:spcBef>
              <a:spcAft>
                <a:spcPts val="0"/>
              </a:spcAft>
            </a:pPr>
            <a:r>
              <a:rPr sz="1100" b="0">
                <a:solidFill>
                  <a:srgbClr val="4A4F57"/>
                </a:solidFill>
                <a:latin typeface="Calibri"/>
              </a:rPr>
              <a:t>The point-in-time operator, recomputed by a route that does not reuse the one that assembled the rows; and a citation checked by evaluating the derivation in true-or-false arithmetic.</a:t>
            </a:r>
          </a:p>
        </p:txBody>
      </p:sp>
      <p:sp>
        <p:nvSpPr>
          <p:cNvPr id="17" name="Rectangle 16"/>
          <p:cNvSpPr/>
          <p:nvPr/>
        </p:nvSpPr>
        <p:spPr>
          <a:xfrm>
            <a:off x="6278727" y="24596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4596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5327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No check exists, so the answer is its producer</a:t>
            </a:r>
          </a:p>
        </p:txBody>
      </p:sp>
      <p:sp>
        <p:nvSpPr>
          <p:cNvPr id="20" name="TextBox 19"/>
          <p:cNvSpPr txBox="1"/>
          <p:nvPr/>
        </p:nvSpPr>
        <p:spPr>
          <a:xfrm>
            <a:off x="6278727" y="2971673"/>
            <a:ext cx="5135727" cy="270675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Choose the tiering rule</a:t>
            </a:r>
          </a:p>
          <a:p>
            <a:pPr lvl="1">
              <a:lnSpc>
                <a:spcPct val="120000"/>
              </a:lnSpc>
              <a:spcBef>
                <a:spcPts val="0"/>
              </a:spcBef>
              <a:spcAft>
                <a:spcPts val="0"/>
              </a:spcAft>
            </a:pPr>
            <a:r>
              <a:rPr sz="1050" b="0">
                <a:solidFill>
                  <a:srgbClr val="4A4F57"/>
                </a:solidFill>
                <a:latin typeface="Calibri"/>
              </a:rPr>
              <a:t>It constitutes the standard, so there is nothing independent for it to be checked against.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Conclude a validation, or accept residual risk</a:t>
            </a:r>
          </a:p>
          <a:p>
            <a:pPr lvl="1">
              <a:lnSpc>
                <a:spcPct val="120000"/>
              </a:lnSpc>
              <a:spcBef>
                <a:spcPts val="0"/>
              </a:spcBef>
              <a:spcAft>
                <a:spcPts val="0"/>
              </a:spcAft>
            </a:pPr>
            <a:r>
              <a:rPr sz="1050" b="0">
                <a:solidFill>
                  <a:srgbClr val="4A4F57"/>
                </a:solidFill>
                <a:latin typeface="Calibri"/>
              </a:rPr>
              <a:t>Correctness here is not a property of the text. It is an exercise of authority, and the boundary is drawn by the mathematics rather than by risk appetite — which is worth scrutinising in proportion to how comfortable a conclusion it is.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one honest exception</a:t>
            </a:r>
          </a:p>
          <a:p>
            <a:pPr lvl="1">
              <a:lnSpc>
                <a:spcPct val="120000"/>
              </a:lnSpc>
              <a:spcBef>
                <a:spcPts val="0"/>
              </a:spcBef>
              <a:spcAft>
                <a:spcPts val="0"/>
              </a:spcAft>
            </a:pPr>
            <a:r>
              <a:rPr sz="1050" b="0">
                <a:solidFill>
                  <a:srgbClr val="4A4F57"/>
                </a:solidFill>
                <a:latin typeface="Calibri"/>
              </a:rPr>
              <a:t>Sampled agreement between a stated formula and an implementation can refute the implementation and can never certify it, so however many samples it draws it is not a check in this sense. A report saying so in its first four words is worth more than one that passes quietly.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PART 2, IN ONE SLIDE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Four declarations that need not be made, and two that do</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Four facts you should not have to type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Paper §13, the conclusion. Part 3 turns to what MAYA stores, in the vocabulary Part 1 built and under the constraints Part 2 derived.</a:t>
            </a:r>
          </a:p>
        </p:txBody>
      </p:sp>
      <p:sp>
        <p:nvSpPr>
          <p:cNvPr id="12" name="TextBox 11"/>
          <p:cNvSpPr txBox="1"/>
          <p:nvPr/>
        </p:nvSpPr>
        <p:spPr>
          <a:xfrm>
            <a:off x="777240" y="1370901"/>
            <a:ext cx="10637215" cy="4307522"/>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What kind of artefact this is derives from how its dials are filled, which makes a closed-form pricer a type rather than an exception, and a meaningless monitor a refusal rather than a green light.</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Whether one thing fits where another fitted derives from a single order, whose meet answers a question four separate implementations could not even ask, and whose failure to have a meet is the honest answer to whether one feature set can serve two models.</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What a training row could have known derives from an operator whose fourth property is reproducibility, and which is supplied by taking the earlier of two dates — easy to omit, and invisible when omitted.</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What a claim rests on derives from one annotated derivation, and so does the ingest clock of a derived feature, which turns a rule somebody could forget into arithmetic with no exceptions.</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Against that: aggregate risk cannot be both additive and sensitive to a single point of failure, because the obstruction is the sharing itself; and currency is a well-behaved valuation only once “no support” has a value of its own.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And some facts — the tiering rule, the regime encoding, the approval — constitute the standard they would be checked against, which is also the reason a machine may propose them and may not settle them.</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Where to read the proofs</a:t>
            </a:r>
          </a:p>
          <a:p>
            <a:pPr lvl="1">
              <a:lnSpc>
                <a:spcPct val="120000"/>
              </a:lnSpc>
              <a:spcBef>
                <a:spcPts val="0"/>
              </a:spcBef>
              <a:spcAft>
                <a:spcPts val="0"/>
              </a:spcAft>
            </a:pPr>
            <a:r>
              <a:rPr sz="1200" b="0">
                <a:solidFill>
                  <a:srgbClr val="4A4F57"/>
                </a:solidFill>
                <a:latin typeface="Calibri"/>
              </a:rPr>
              <a:t>docs/research/ — “Models as Parametric Kernels: An Order, an Operator and a Polynomial”, with the statements above in full and the source for each construction.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3</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800" b="0" i="0">
                <a:solidFill>
                  <a:srgbClr val="FFFFFF"/>
                </a:solidFill>
                <a:latin typeface="Georgia"/>
              </a:rPr>
              <a:t>The objects MAYA keeps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Part 1 defined seven words. This part says what the platform stores for each of them, and what it refuses. Nothing new is introduced: every object here is one of those words with an identity, a version, a workflow state and an audit trail attached.</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Definition, version, pin — and six governed kinds</a:t>
            </a:r>
          </a:p>
          <a:p>
            <a:pPr>
              <a:lnSpc>
                <a:spcPct val="115000"/>
              </a:lnSpc>
              <a:spcBef>
                <a:spcPts val="0"/>
              </a:spcBef>
              <a:spcAft>
                <a:spcPts val="600"/>
              </a:spcAft>
            </a:pPr>
            <a:r>
              <a:rPr sz="1200" b="0" i="0">
                <a:solidFill>
                  <a:srgbClr val="F6E6E9"/>
                </a:solidFill>
                <a:latin typeface="Calibri"/>
              </a:rPr>
              <a:t>Features: sources, clocks, resolution</a:t>
            </a:r>
          </a:p>
          <a:p>
            <a:pPr>
              <a:lnSpc>
                <a:spcPct val="115000"/>
              </a:lnSpc>
              <a:spcBef>
                <a:spcPts val="0"/>
              </a:spcBef>
              <a:spcAft>
                <a:spcPts val="600"/>
              </a:spcAft>
            </a:pPr>
            <a:r>
              <a:rPr sz="1200" b="0" i="0">
                <a:solidFill>
                  <a:srgbClr val="F6E6E9"/>
                </a:solidFill>
                <a:latin typeface="Calibri"/>
              </a:rPr>
              <a:t>The feature algebra</a:t>
            </a:r>
          </a:p>
          <a:p>
            <a:pPr>
              <a:lnSpc>
                <a:spcPct val="115000"/>
              </a:lnSpc>
              <a:spcBef>
                <a:spcPts val="0"/>
              </a:spcBef>
              <a:spcAft>
                <a:spcPts val="600"/>
              </a:spcAft>
            </a:pPr>
            <a:r>
              <a:rPr sz="1200" b="0" i="0">
                <a:solidFill>
                  <a:srgbClr val="F6E6E9"/>
                </a:solidFill>
                <a:latin typeface="Calibri"/>
              </a:rPr>
              <a:t>Feature sets: alignment and cascade pinning</a:t>
            </a:r>
          </a:p>
          <a:p>
            <a:pPr>
              <a:lnSpc>
                <a:spcPct val="115000"/>
              </a:lnSpc>
              <a:spcBef>
                <a:spcPts val="0"/>
              </a:spcBef>
              <a:spcAft>
                <a:spcPts val="600"/>
              </a:spcAft>
            </a:pPr>
            <a:r>
              <a:rPr sz="1200" b="0" i="0">
                <a:solidFill>
                  <a:srgbClr val="F6E6E9"/>
                </a:solidFill>
                <a:latin typeface="Calibri"/>
              </a:rPr>
              <a:t>Models: the typed formula tree</a:t>
            </a:r>
          </a:p>
          <a:p>
            <a:pPr>
              <a:lnSpc>
                <a:spcPct val="115000"/>
              </a:lnSpc>
              <a:spcBef>
                <a:spcPts val="0"/>
              </a:spcBef>
              <a:spcAft>
                <a:spcPts val="600"/>
              </a:spcAft>
            </a:pPr>
            <a:r>
              <a:rPr sz="1200" b="0" i="0">
                <a:solidFill>
                  <a:srgbClr val="F6E6E9"/>
                </a:solidFill>
                <a:latin typeface="Calibri"/>
              </a:rPr>
              <a:t>The compute-kernel wizard</a:t>
            </a:r>
          </a:p>
          <a:p>
            <a:pPr>
              <a:lnSpc>
                <a:spcPct val="115000"/>
              </a:lnSpc>
              <a:spcBef>
                <a:spcPts val="0"/>
              </a:spcBef>
              <a:spcAft>
                <a:spcPts val="600"/>
              </a:spcAft>
            </a:pPr>
            <a:r>
              <a:rPr sz="1200" b="0" i="0">
                <a:solidFill>
                  <a:srgbClr val="F6E6E9"/>
                </a:solidFill>
                <a:latin typeface="Calibri"/>
              </a:rPr>
              <a:t>Parameter sets, bounds and joint constraints</a:t>
            </a:r>
          </a:p>
          <a:p>
            <a:pPr>
              <a:lnSpc>
                <a:spcPct val="115000"/>
              </a:lnSpc>
              <a:spcBef>
                <a:spcPts val="0"/>
              </a:spcBef>
              <a:spcAft>
                <a:spcPts val="600"/>
              </a:spcAft>
            </a:pPr>
            <a:r>
              <a:rPr sz="1200" b="0" i="0">
                <a:solidFill>
                  <a:srgbClr val="F6E6E9"/>
                </a:solidFill>
                <a:latin typeface="Calibri"/>
              </a:rPr>
              <a:t>Warrants, covenants and the evidence bundle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SYSTEM CONTEXT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MAYA sits between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MAYA is a system of record, not an execution engine: it never trains a model and never serves a prediction.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Outside the line, deliberately: whatever trains the model and whatever serves it. A platform that ran the artefacts it governs would be checking its own work.</a:t>
            </a:r>
          </a:p>
        </p:txBody>
      </p:sp>
      <p:cxnSp>
        <p:nvCxnSpPr>
          <p:cNvPr id="13" name="Connector 12"/>
          <p:cNvCxnSpPr/>
          <p:nvPr/>
        </p:nvCxnSpPr>
        <p:spPr>
          <a:xfrm>
            <a:off x="2479194"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308591"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712500" y="2997327"/>
            <a:ext cx="0" cy="237439"/>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79194"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701954"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rows and pins</a:t>
            </a:r>
          </a:p>
        </p:txBody>
      </p:sp>
      <p:cxnSp>
        <p:nvCxnSpPr>
          <p:cNvPr id="18" name="Connector 17"/>
          <p:cNvCxnSpPr/>
          <p:nvPr/>
        </p:nvCxnSpPr>
        <p:spPr>
          <a:xfrm>
            <a:off x="4713009"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935769"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objects and audit</a:t>
            </a:r>
          </a:p>
        </p:txBody>
      </p:sp>
      <p:cxnSp>
        <p:nvCxnSpPr>
          <p:cNvPr id="20" name="Connector 19"/>
          <p:cNvCxnSpPr/>
          <p:nvPr/>
        </p:nvCxnSpPr>
        <p:spPr>
          <a:xfrm>
            <a:off x="7478685"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1445"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artifact runs</a:t>
            </a:r>
          </a:p>
        </p:txBody>
      </p:sp>
      <p:cxnSp>
        <p:nvCxnSpPr>
          <p:cNvPr id="22" name="Connector 21"/>
          <p:cNvCxnSpPr/>
          <p:nvPr/>
        </p:nvCxnSpPr>
        <p:spPr>
          <a:xfrm>
            <a:off x="9712500" y="4162044"/>
            <a:ext cx="0" cy="392734"/>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935260" y="4280687"/>
            <a:ext cx="1554480"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0">
                <a:solidFill>
                  <a:srgbClr val="4A4F57"/>
                </a:solidFill>
                <a:latin typeface="Calibri"/>
              </a:rPr>
              <a:t>exported</a:t>
            </a:r>
          </a:p>
        </p:txBody>
      </p:sp>
      <p:sp>
        <p:nvSpPr>
          <p:cNvPr id="24" name="Rectangle 23"/>
          <p:cNvSpPr/>
          <p:nvPr/>
        </p:nvSpPr>
        <p:spPr>
          <a:xfrm>
            <a:off x="777240"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Source systems</a:t>
            </a:r>
          </a:p>
        </p:txBody>
      </p:sp>
      <p:sp>
        <p:nvSpPr>
          <p:cNvPr id="27" name="TextBox 26"/>
          <p:cNvSpPr txBox="1"/>
          <p:nvPr/>
        </p:nvSpPr>
        <p:spPr>
          <a:xfrm>
            <a:off x="960120" y="2309114"/>
            <a:ext cx="1974427"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Pulled, never read through.</a:t>
            </a:r>
          </a:p>
        </p:txBody>
      </p:sp>
      <p:sp>
        <p:nvSpPr>
          <p:cNvPr id="28" name="Rectangle 27"/>
          <p:cNvSpPr/>
          <p:nvPr/>
        </p:nvSpPr>
        <p:spPr>
          <a:xfrm>
            <a:off x="4925753" y="1796034"/>
            <a:ext cx="2765675"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25753" y="1796034"/>
            <a:ext cx="276567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08633" y="1960626"/>
            <a:ext cx="2399915"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People, with roles</a:t>
            </a:r>
          </a:p>
        </p:txBody>
      </p:sp>
      <p:sp>
        <p:nvSpPr>
          <p:cNvPr id="31" name="TextBox 30"/>
          <p:cNvSpPr txBox="1"/>
          <p:nvPr/>
        </p:nvSpPr>
        <p:spPr>
          <a:xfrm>
            <a:off x="5108633" y="2309114"/>
            <a:ext cx="2399915" cy="5236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Designers, managers, owners.</a:t>
            </a:r>
          </a:p>
        </p:txBody>
      </p:sp>
      <p:sp>
        <p:nvSpPr>
          <p:cNvPr id="32" name="Rectangle 31"/>
          <p:cNvSpPr/>
          <p:nvPr/>
        </p:nvSpPr>
        <p:spPr>
          <a:xfrm>
            <a:off x="9074267" y="1796034"/>
            <a:ext cx="2340187" cy="1164717"/>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74267" y="179603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57147" y="196062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Identity provider</a:t>
            </a:r>
          </a:p>
        </p:txBody>
      </p:sp>
      <p:sp>
        <p:nvSpPr>
          <p:cNvPr id="35" name="TextBox 34"/>
          <p:cNvSpPr txBox="1"/>
          <p:nvPr/>
        </p:nvSpPr>
        <p:spPr>
          <a:xfrm>
            <a:off x="9257147" y="2566162"/>
            <a:ext cx="1974427" cy="26657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OIDC or SAML.</a:t>
            </a:r>
          </a:p>
        </p:txBody>
      </p:sp>
      <p:sp>
        <p:nvSpPr>
          <p:cNvPr id="36" name="Rectangle 35"/>
          <p:cNvSpPr/>
          <p:nvPr/>
        </p:nvSpPr>
        <p:spPr>
          <a:xfrm>
            <a:off x="1840961" y="3271342"/>
            <a:ext cx="8509772" cy="854125"/>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40961" y="3271342"/>
            <a:ext cx="850977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23841" y="3435934"/>
            <a:ext cx="8144012"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 — one API, four ways to reach it</a:t>
            </a:r>
          </a:p>
        </p:txBody>
      </p:sp>
      <p:sp>
        <p:nvSpPr>
          <p:cNvPr id="39" name="TextBox 38"/>
          <p:cNvSpPr txBox="1"/>
          <p:nvPr/>
        </p:nvSpPr>
        <p:spPr>
          <a:xfrm>
            <a:off x="2023841" y="3784422"/>
            <a:ext cx="8144012" cy="213029"/>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Web, SDK, CLI and REST over 215 operations.</a:t>
            </a:r>
          </a:p>
        </p:txBody>
      </p:sp>
      <p:sp>
        <p:nvSpPr>
          <p:cNvPr id="40" name="Rectangle 39"/>
          <p:cNvSpPr/>
          <p:nvPr/>
        </p:nvSpPr>
        <p:spPr>
          <a:xfrm>
            <a:off x="777240"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0120"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maya_delta</a:t>
            </a:r>
          </a:p>
        </p:txBody>
      </p:sp>
      <p:sp>
        <p:nvSpPr>
          <p:cNvPr id="43" name="TextBox 42"/>
          <p:cNvSpPr txBox="1"/>
          <p:nvPr/>
        </p:nvSpPr>
        <p:spPr>
          <a:xfrm>
            <a:off x="960120"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4F57"/>
                </a:solidFill>
                <a:latin typeface="Calibri"/>
              </a:rPr>
              <a:t>Data and sealed pins.</a:t>
            </a:r>
          </a:p>
        </p:txBody>
      </p:sp>
      <p:sp>
        <p:nvSpPr>
          <p:cNvPr id="44" name="Rectangle 43"/>
          <p:cNvSpPr/>
          <p:nvPr/>
        </p:nvSpPr>
        <p:spPr>
          <a:xfrm>
            <a:off x="3542915"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542915"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25795"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Metadata database</a:t>
            </a:r>
          </a:p>
        </p:txBody>
      </p:sp>
      <p:sp>
        <p:nvSpPr>
          <p:cNvPr id="47" name="TextBox 46"/>
          <p:cNvSpPr txBox="1"/>
          <p:nvPr/>
        </p:nvSpPr>
        <p:spPr>
          <a:xfrm>
            <a:off x="3725795" y="5361482"/>
            <a:ext cx="1974427" cy="188925"/>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4F57"/>
                </a:solidFill>
                <a:latin typeface="Calibri"/>
              </a:rPr>
              <a:t>SQLite, or PostgreSQL.</a:t>
            </a:r>
          </a:p>
        </p:txBody>
      </p:sp>
      <p:sp>
        <p:nvSpPr>
          <p:cNvPr id="48" name="Rectangle 47"/>
          <p:cNvSpPr/>
          <p:nvPr/>
        </p:nvSpPr>
        <p:spPr>
          <a:xfrm>
            <a:off x="6308591"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308591"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91471"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sandbox</a:t>
            </a:r>
          </a:p>
        </p:txBody>
      </p:sp>
      <p:sp>
        <p:nvSpPr>
          <p:cNvPr id="51" name="TextBox 50"/>
          <p:cNvSpPr txBox="1"/>
          <p:nvPr/>
        </p:nvSpPr>
        <p:spPr>
          <a:xfrm>
            <a:off x="6491471"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Where an artifact runs.</a:t>
            </a:r>
          </a:p>
        </p:txBody>
      </p:sp>
      <p:sp>
        <p:nvSpPr>
          <p:cNvPr id="52" name="Rectangle 51"/>
          <p:cNvSpPr/>
          <p:nvPr/>
        </p:nvSpPr>
        <p:spPr>
          <a:xfrm>
            <a:off x="9074267" y="4591354"/>
            <a:ext cx="2340187" cy="1087069"/>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074267" y="4591354"/>
            <a:ext cx="23401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57147" y="4755946"/>
            <a:ext cx="197442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Evidence bundles</a:t>
            </a:r>
          </a:p>
        </p:txBody>
      </p:sp>
      <p:sp>
        <p:nvSpPr>
          <p:cNvPr id="55" name="TextBox 54"/>
          <p:cNvSpPr txBox="1"/>
          <p:nvPr/>
        </p:nvSpPr>
        <p:spPr>
          <a:xfrm>
            <a:off x="9257147" y="5104434"/>
            <a:ext cx="1974427" cy="445973"/>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Verified without MAYA.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PATTERN, EVERYWHERE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Six governed kinds, and the same three layers under each</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48</a:t>
            </a:r>
          </a:p>
        </p:txBody>
      </p:sp>
      <p:sp>
        <p:nvSpPr>
          <p:cNvPr id="10" name="TextBox 9"/>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1's definition–version–pin pattern is not a feature of features. It is the shape of every object MAYA governs, which is why one workflow engine, one authorization function and one audit chain serve all of them.</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maya/workflow/policy.py names exactly these six as the governed object types. A bare name resolves to the latest approved version and MAYA records that resolution, so “latest” never hides inside an audit trail.</a:t>
            </a:r>
          </a:p>
        </p:txBody>
      </p:sp>
      <p:graphicFrame>
        <p:nvGraphicFramePr>
          <p:cNvPr id="13" name="Table 12"/>
          <p:cNvGraphicFramePr>
            <a:graphicFrameLocks noGrp="1"/>
          </p:cNvGraphicFramePr>
          <p:nvPr/>
        </p:nvGraphicFramePr>
        <p:xfrm>
          <a:off x="777240" y="2024443"/>
          <a:ext cx="10637214" cy="3579555"/>
        </p:xfrm>
        <a:graphic>
          <a:graphicData uri="http://schemas.openxmlformats.org/drawingml/2006/table">
            <a:tbl>
              <a:tblPr firstRow="1">
                <a:tableStyleId>{5C22544A-7EE6-4342-B048-85BDC9FD1C3A}</a:tableStyleId>
              </a:tblPr>
              <a:tblGrid>
                <a:gridCol w="2017402"/>
                <a:gridCol w="4309906"/>
                <a:gridCol w="4309906"/>
              </a:tblGrid>
              <a:tr h="318579">
                <a:tc>
                  <a:txBody>
                    <a:bodyPr wrap="square"/>
                    <a:lstStyle/>
                    <a:p>
                      <a:r>
                        <a:rPr sz="1300" b="1">
                          <a:solidFill>
                            <a:srgbClr val="FFFFFF"/>
                          </a:solidFill>
                          <a:latin typeface="Calibri"/>
                        </a:rPr>
                        <a:t>Governed kind</a:t>
                      </a:r>
                    </a:p>
                  </a:txBody>
                  <a:tcPr marL="82296" marR="64008" marT="32004" marB="32004" anchor="ctr">
                    <a:solidFill>
                      <a:srgbClr val="A51C30"/>
                    </a:solidFill>
                  </a:tcPr>
                </a:tc>
                <a:tc>
                  <a:txBody>
                    <a:bodyPr wrap="square"/>
                    <a:lstStyle/>
                    <a:p>
                      <a:r>
                        <a:rPr sz="1300" b="1">
                          <a:solidFill>
                            <a:srgbClr val="FFFFFF"/>
                          </a:solidFill>
                          <a:latin typeface="Calibri"/>
                        </a:rPr>
                        <a:t>What its definition says</a:t>
                      </a:r>
                    </a:p>
                  </a:txBody>
                  <a:tcPr marL="82296" marR="64008" marT="32004" marB="32004" anchor="ctr">
                    <a:solidFill>
                      <a:srgbClr val="A51C30"/>
                    </a:solidFill>
                  </a:tcPr>
                </a:tc>
                <a:tc>
                  <a:txBody>
                    <a:bodyPr wrap="square"/>
                    <a:lstStyle/>
                    <a:p>
                      <a:r>
                        <a:rPr sz="1300" b="1">
                          <a:solidFill>
                            <a:srgbClr val="FFFFFF"/>
                          </a:solidFill>
                          <a:latin typeface="Calibri"/>
                        </a:rPr>
                        <a:t>What a version freezes</a:t>
                      </a:r>
                    </a:p>
                  </a:txBody>
                  <a:tcPr marL="82296" marR="64008" marT="32004" marB="32004" anchor="ctr">
                    <a:solidFill>
                      <a:srgbClr val="A51C30"/>
                    </a:solidFill>
                  </a:tcPr>
                </a:tc>
              </a:tr>
              <a:tr h="543496">
                <a:tc>
                  <a:txBody>
                    <a:bodyPr wrap="square"/>
                    <a:lstStyle/>
                    <a:p>
                      <a:r>
                        <a:rPr sz="1350" b="1">
                          <a:solidFill>
                            <a:srgbClr val="761422"/>
                          </a:solidFill>
                          <a:latin typeface="Calibri"/>
                        </a:rPr>
                        <a:t>Feature version</a:t>
                      </a:r>
                    </a:p>
                  </a:txBody>
                  <a:tcPr marL="82296" marR="64008" marT="32004" marB="32004" anchor="ctr">
                    <a:solidFill>
                      <a:srgbClr val="FFFFFF"/>
                    </a:solidFill>
                  </a:tcPr>
                </a:tc>
                <a:tc>
                  <a:txBody>
                    <a:bodyPr wrap="square"/>
                    <a:lstStyle/>
                    <a:p>
                      <a:r>
                        <a:rPr sz="1350" b="0">
                          <a:solidFill>
                            <a:srgbClr val="1C1C1E"/>
                          </a:solidFill>
                          <a:latin typeface="Calibri"/>
                        </a:rPr>
                        <a:t>Schema, index, source, fill rules, quality checks</a:t>
                      </a:r>
                    </a:p>
                  </a:txBody>
                  <a:tcPr marL="82296" marR="64008" marT="32004" marB="32004" anchor="ctr">
                    <a:solidFill>
                      <a:srgbClr val="FFFFFF"/>
                    </a:solidFill>
                  </a:tcPr>
                </a:tc>
                <a:tc>
                  <a:txBody>
                    <a:bodyPr wrap="square"/>
                    <a:lstStyle/>
                    <a:p>
                      <a:r>
                        <a:rPr sz="1350" b="0">
                          <a:solidFill>
                            <a:srgbClr val="1C1C1E"/>
                          </a:solidFill>
                          <a:latin typeface="Calibri"/>
                        </a:rPr>
                        <a:t>All of it, classified breaking, behavioural or additive</a:t>
                      </a:r>
                    </a:p>
                  </a:txBody>
                  <a:tcPr marL="82296" marR="64008" marT="32004" marB="32004" anchor="ctr">
                    <a:solidFill>
                      <a:srgbClr val="FFFFFF"/>
                    </a:solidFill>
                  </a:tcPr>
                </a:tc>
              </a:tr>
              <a:tr h="543496">
                <a:tc>
                  <a:txBody>
                    <a:bodyPr wrap="square"/>
                    <a:lstStyle/>
                    <a:p>
                      <a:r>
                        <a:rPr sz="1350" b="1">
                          <a:solidFill>
                            <a:srgbClr val="761422"/>
                          </a:solidFill>
                          <a:latin typeface="Calibri"/>
                        </a:rPr>
                        <a:t>Feature-set version</a:t>
                      </a:r>
                    </a:p>
                  </a:txBody>
                  <a:tcPr marL="82296" marR="64008" marT="32004" marB="32004" anchor="ctr">
                    <a:solidFill>
                      <a:srgbClr val="F6F3EF"/>
                    </a:solidFill>
                  </a:tcPr>
                </a:tc>
                <a:tc>
                  <a:txBody>
                    <a:bodyPr wrap="square"/>
                    <a:lstStyle/>
                    <a:p>
                      <a:r>
                        <a:rPr sz="1350" b="0">
                          <a:solidFill>
                            <a:srgbClr val="1C1C1E"/>
                          </a:solidFill>
                          <a:latin typeface="Calibri"/>
                        </a:rPr>
                        <a:t>Which features, which attributes, the grid and the alignment</a:t>
                      </a:r>
                    </a:p>
                  </a:txBody>
                  <a:tcPr marL="82296" marR="64008" marT="32004" marB="32004" anchor="ctr">
                    <a:solidFill>
                      <a:srgbClr val="F6F3EF"/>
                    </a:solidFill>
                  </a:tcPr>
                </a:tc>
                <a:tc>
                  <a:txBody>
                    <a:bodyPr wrap="square"/>
                    <a:lstStyle/>
                    <a:p>
                      <a:r>
                        <a:rPr sz="1350" b="0">
                          <a:solidFill>
                            <a:srgbClr val="1C1C1E"/>
                          </a:solidFill>
                          <a:latin typeface="Calibri"/>
                        </a:rPr>
                        <a:t>The recipe, not the rows; the rows are frozen by a pin</a:t>
                      </a:r>
                    </a:p>
                  </a:txBody>
                  <a:tcPr marL="82296" marR="64008" marT="32004" marB="32004" anchor="ctr">
                    <a:solidFill>
                      <a:srgbClr val="F6F3EF"/>
                    </a:solidFill>
                  </a:tcPr>
                </a:tc>
              </a:tr>
              <a:tr h="543496">
                <a:tc>
                  <a:txBody>
                    <a:bodyPr wrap="square"/>
                    <a:lstStyle/>
                    <a:p>
                      <a:r>
                        <a:rPr sz="1350" b="1">
                          <a:solidFill>
                            <a:srgbClr val="761422"/>
                          </a:solidFill>
                          <a:latin typeface="Calibri"/>
                        </a:rPr>
                        <a:t>Model version</a:t>
                      </a:r>
                    </a:p>
                  </a:txBody>
                  <a:tcPr marL="82296" marR="64008" marT="32004" marB="32004" anchor="ctr">
                    <a:solidFill>
                      <a:srgbClr val="FFFFFF"/>
                    </a:solidFill>
                  </a:tcPr>
                </a:tc>
                <a:tc>
                  <a:txBody>
                    <a:bodyPr wrap="square"/>
                    <a:lstStyle/>
                    <a:p>
                      <a:r>
                        <a:rPr sz="1350" b="0">
                          <a:solidFill>
                            <a:srgbClr val="1C1C1E"/>
                          </a:solidFill>
                          <a:latin typeface="Calibri"/>
                        </a:rPr>
                        <a:t>The mathematics, the code artifact, the input contract, the document</a:t>
                      </a:r>
                    </a:p>
                  </a:txBody>
                  <a:tcPr marL="82296" marR="64008" marT="32004" marB="32004" anchor="ctr">
                    <a:solidFill>
                      <a:srgbClr val="FFFFFF"/>
                    </a:solidFill>
                  </a:tcPr>
                </a:tc>
                <a:tc>
                  <a:txBody>
                    <a:bodyPr wrap="square"/>
                    <a:lstStyle/>
                    <a:p>
                      <a:r>
                        <a:rPr sz="1350" b="0">
                          <a:solidFill>
                            <a:srgbClr val="1C1C1E"/>
                          </a:solidFill>
                          <a:latin typeface="Calibri"/>
                        </a:rPr>
                        <a:t>Minted when the mathematics, the artifact or the contract changes</a:t>
                      </a:r>
                    </a:p>
                  </a:txBody>
                  <a:tcPr marL="82296" marR="64008" marT="32004" marB="32004" anchor="ctr">
                    <a:solidFill>
                      <a:srgbClr val="FFFFFF"/>
                    </a:solidFill>
                  </a:tcPr>
                </a:tc>
              </a:tr>
              <a:tr h="543496">
                <a:tc>
                  <a:txBody>
                    <a:bodyPr wrap="square"/>
                    <a:lstStyle/>
                    <a:p>
                      <a:r>
                        <a:rPr sz="1350" b="1">
                          <a:solidFill>
                            <a:srgbClr val="761422"/>
                          </a:solidFill>
                          <a:latin typeface="Calibri"/>
                        </a:rPr>
                        <a:t>Parameter set</a:t>
                      </a:r>
                    </a:p>
                  </a:txBody>
                  <a:tcPr marL="82296" marR="64008" marT="32004" marB="32004" anchor="ctr">
                    <a:solidFill>
                      <a:srgbClr val="F6F3EF"/>
                    </a:solidFill>
                  </a:tcPr>
                </a:tc>
                <a:tc>
                  <a:txBody>
                    <a:bodyPr wrap="square"/>
                    <a:lstStyle/>
                    <a:p>
                      <a:r>
                        <a:rPr sz="1350" b="0">
                          <a:solidFill>
                            <a:srgbClr val="1C1C1E"/>
                          </a:solidFill>
                          <a:latin typeface="Calibri"/>
                        </a:rPr>
                        <a:t>The dial values, their provenance and the reasoning behind them</a:t>
                      </a:r>
                    </a:p>
                  </a:txBody>
                  <a:tcPr marL="82296" marR="64008" marT="32004" marB="32004" anchor="ctr">
                    <a:solidFill>
                      <a:srgbClr val="F6F3EF"/>
                    </a:solidFill>
                  </a:tcPr>
                </a:tc>
                <a:tc>
                  <a:txBody>
                    <a:bodyPr wrap="square"/>
                    <a:lstStyle/>
                    <a:p>
                      <a:r>
                        <a:rPr sz="1350" b="0">
                          <a:solidFill>
                            <a:srgbClr val="1C1C1E"/>
                          </a:solidFill>
                          <a:latin typeface="Calibri"/>
                        </a:rPr>
                        <a:t>The numbers, approved as a set — a partial upload is not a smaller decision</a:t>
                      </a:r>
                    </a:p>
                  </a:txBody>
                  <a:tcPr marL="82296" marR="64008" marT="32004" marB="32004" anchor="ctr">
                    <a:solidFill>
                      <a:srgbClr val="F6F3EF"/>
                    </a:solidFill>
                  </a:tcPr>
                </a:tc>
              </a:tr>
              <a:tr h="543496">
                <a:tc>
                  <a:txBody>
                    <a:bodyPr wrap="square"/>
                    <a:lstStyle/>
                    <a:p>
                      <a:r>
                        <a:rPr sz="1350" b="1">
                          <a:solidFill>
                            <a:srgbClr val="761422"/>
                          </a:solidFill>
                          <a:latin typeface="Calibri"/>
                        </a:rPr>
                        <a:t>Training warrant</a:t>
                      </a:r>
                    </a:p>
                  </a:txBody>
                  <a:tcPr marL="82296" marR="64008" marT="32004" marB="32004" anchor="ctr">
                    <a:solidFill>
                      <a:srgbClr val="FFFFFF"/>
                    </a:solidFill>
                  </a:tcPr>
                </a:tc>
                <a:tc>
                  <a:txBody>
                    <a:bodyPr wrap="square"/>
                    <a:lstStyle/>
                    <a:p>
                      <a:r>
                        <a:rPr sz="1350" b="0">
                          <a:solidFill>
                            <a:srgbClr val="1C1C1E"/>
                          </a:solidFill>
                          <a:latin typeface="Calibri"/>
                        </a:rPr>
                        <a:t>Which model may be fitted on which pinned data, by whom, until when</a:t>
                      </a:r>
                    </a:p>
                  </a:txBody>
                  <a:tcPr marL="82296" marR="64008" marT="32004" marB="32004" anchor="ctr">
                    <a:solidFill>
                      <a:srgbClr val="FFFFFF"/>
                    </a:solidFill>
                  </a:tcPr>
                </a:tc>
                <a:tc>
                  <a:txBody>
                    <a:bodyPr wrap="square"/>
                    <a:lstStyle/>
                    <a:p>
                      <a:r>
                        <a:rPr sz="1350" b="0">
                          <a:solidFill>
                            <a:srgbClr val="1C1C1E"/>
                          </a:solidFill>
                          <a:latin typeface="Calibri"/>
                        </a:rPr>
                        <a:t>The subject, the split, the escrow and the leakage certificate</a:t>
                      </a:r>
                    </a:p>
                  </a:txBody>
                  <a:tcPr marL="82296" marR="64008" marT="32004" marB="32004" anchor="ctr">
                    <a:solidFill>
                      <a:srgbClr val="FFFFFF"/>
                    </a:solidFill>
                  </a:tcPr>
                </a:tc>
              </a:tr>
              <a:tr h="543496">
                <a:tc>
                  <a:txBody>
                    <a:bodyPr wrap="square"/>
                    <a:lstStyle/>
                    <a:p>
                      <a:r>
                        <a:rPr sz="1350" b="1">
                          <a:solidFill>
                            <a:srgbClr val="761422"/>
                          </a:solidFill>
                          <a:latin typeface="Calibri"/>
                        </a:rPr>
                        <a:t>Execution warrant</a:t>
                      </a:r>
                    </a:p>
                  </a:txBody>
                  <a:tcPr marL="82296" marR="64008" marT="32004" marB="32004" anchor="ctr">
                    <a:solidFill>
                      <a:srgbClr val="F6F3EF"/>
                    </a:solidFill>
                  </a:tcPr>
                </a:tc>
                <a:tc>
                  <a:txBody>
                    <a:bodyPr wrap="square"/>
                    <a:lstStyle/>
                    <a:p>
                      <a:r>
                        <a:rPr sz="1350" b="0">
                          <a:solidFill>
                            <a:srgbClr val="1C1C1E"/>
                          </a:solidFill>
                          <a:latin typeface="Calibri"/>
                        </a:rPr>
                        <a:t>Which model may run with which dials, in which environment</a:t>
                      </a:r>
                    </a:p>
                  </a:txBody>
                  <a:tcPr marL="82296" marR="64008" marT="32004" marB="32004" anchor="ctr">
                    <a:solidFill>
                      <a:srgbClr val="F6F3EF"/>
                    </a:solidFill>
                  </a:tcPr>
                </a:tc>
                <a:tc>
                  <a:txBody>
                    <a:bodyPr wrap="square"/>
                    <a:lstStyle/>
                    <a:p>
                      <a:r>
                        <a:rPr sz="1350" b="0">
                          <a:solidFill>
                            <a:srgbClr val="1C1C1E"/>
                          </a:solidFill>
                          <a:latin typeface="Calibri"/>
                        </a:rPr>
                        <a:t>The licence itself, with its expiry, its covenants and its limits</a:t>
                      </a:r>
                    </a:p>
                  </a:txBody>
                  <a:tcPr marL="82296" marR="64008" marT="32004" marB="32004" anchor="ctr">
                    <a:solidFill>
                      <a:srgbClr val="F6F3E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Where a feature's rows come from, and what each source costs</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maya/services/sources.py. Every upload and every pull lands in the append-only bitemporal ingest log with an ingest time, which is the premise Part 2's operator needs and the reason MAYA pulls a source rather than querying it in place.</a:t>
            </a:r>
          </a:p>
        </p:txBody>
      </p:sp>
      <p:graphicFrame>
        <p:nvGraphicFramePr>
          <p:cNvPr id="12" name="Table 11"/>
          <p:cNvGraphicFramePr>
            <a:graphicFrameLocks noGrp="1"/>
          </p:cNvGraphicFramePr>
          <p:nvPr/>
        </p:nvGraphicFramePr>
        <p:xfrm>
          <a:off x="777240" y="1354836"/>
          <a:ext cx="10637213" cy="4016057"/>
        </p:xfrm>
        <a:graphic>
          <a:graphicData uri="http://schemas.openxmlformats.org/drawingml/2006/table">
            <a:tbl>
              <a:tblPr firstRow="1">
                <a:tableStyleId>{5C22544A-7EE6-4342-B048-85BDC9FD1C3A}</a:tableStyleId>
              </a:tblPr>
              <a:tblGrid>
                <a:gridCol w="1375501"/>
                <a:gridCol w="5135207"/>
                <a:gridCol w="4126505"/>
              </a:tblGrid>
              <a:tr h="318579">
                <a:tc>
                  <a:txBody>
                    <a:bodyPr wrap="square"/>
                    <a:lstStyle/>
                    <a:p>
                      <a:r>
                        <a:rPr sz="1300" b="1">
                          <a:solidFill>
                            <a:srgbClr val="FFFFFF"/>
                          </a:solidFill>
                          <a:latin typeface="Calibri"/>
                        </a:rPr>
                        <a:t>Source</a:t>
                      </a:r>
                    </a:p>
                  </a:txBody>
                  <a:tcPr marL="82296" marR="64008" marT="32004" marB="32004" anchor="ctr">
                    <a:solidFill>
                      <a:srgbClr val="A51C30"/>
                    </a:solidFill>
                  </a:tcPr>
                </a:tc>
                <a:tc>
                  <a:txBody>
                    <a:bodyPr wrap="square"/>
                    <a:lstStyle/>
                    <a:p>
                      <a:r>
                        <a:rPr sz="1300" b="1">
                          <a:solidFill>
                            <a:srgbClr val="FFFFFF"/>
                          </a:solidFill>
                          <a:latin typeface="Calibri"/>
                        </a:rPr>
                        <a:t>How it behaves</a:t>
                      </a:r>
                    </a:p>
                  </a:txBody>
                  <a:tcPr marL="82296" marR="64008" marT="32004" marB="32004" anchor="ctr">
                    <a:solidFill>
                      <a:srgbClr val="A51C30"/>
                    </a:solidFill>
                  </a:tcPr>
                </a:tc>
                <a:tc>
                  <a:txBody>
                    <a:bodyPr wrap="square"/>
                    <a:lstStyle/>
                    <a:p>
                      <a:r>
                        <a:rPr sz="1300" b="1">
                          <a:solidFill>
                            <a:srgbClr val="FFFFFF"/>
                          </a:solidFill>
                          <a:latin typeface="Calibri"/>
                        </a:rPr>
                        <a:t>Proved by</a:t>
                      </a:r>
                    </a:p>
                  </a:txBody>
                  <a:tcPr marL="82296" marR="64008" marT="32004" marB="32004" anchor="ctr">
                    <a:solidFill>
                      <a:srgbClr val="A51C30"/>
                    </a:solidFill>
                  </a:tcPr>
                </a:tc>
              </a:tr>
              <a:tr h="784479">
                <a:tc>
                  <a:txBody>
                    <a:bodyPr wrap="square"/>
                    <a:lstStyle/>
                    <a:p>
                      <a:r>
                        <a:rPr sz="1400" b="1">
                          <a:solidFill>
                            <a:srgbClr val="761422"/>
                          </a:solidFill>
                          <a:latin typeface="Calibri"/>
                        </a:rPr>
                        <a:t>csv, parquet, json</a:t>
                      </a:r>
                    </a:p>
                  </a:txBody>
                  <a:tcPr marL="82296" marR="64008" marT="32004" marB="32004" anchor="ctr">
                    <a:solidFill>
                      <a:srgbClr val="FFFFFF"/>
                    </a:solidFill>
                  </a:tcPr>
                </a:tc>
                <a:tc>
                  <a:txBody>
                    <a:bodyPr wrap="square"/>
                    <a:lstStyle/>
                    <a:p>
                      <a:r>
                        <a:rPr sz="1400" b="0">
                          <a:solidFill>
                            <a:srgbClr val="1C1C1E"/>
                          </a:solidFill>
                          <a:latin typeface="Calibri"/>
                        </a:rPr>
                        <a:t>Uploaded files, content-addressed; the inferred schema is a proposal the designer confirms rather than a guess applied</a:t>
                      </a:r>
                    </a:p>
                  </a:txBody>
                  <a:tcPr marL="82296" marR="64008" marT="32004" marB="32004" anchor="ctr">
                    <a:solidFill>
                      <a:srgbClr val="FFFFFF"/>
                    </a:solidFill>
                  </a:tcPr>
                </a:tc>
                <a:tc>
                  <a:txBody>
                    <a:bodyPr wrap="square"/>
                    <a:lstStyle/>
                    <a:p>
                      <a:r>
                        <a:rPr sz="1400" b="0">
                          <a:solidFill>
                            <a:srgbClr val="1C1C1E"/>
                          </a:solidFill>
                          <a:latin typeface="Calibri"/>
                        </a:rPr>
                        <a:t>tests/test_features.py, tests/test_cli.py::test_quick_upload_and_restatement</a:t>
                      </a:r>
                    </a:p>
                  </a:txBody>
                  <a:tcPr marL="82296" marR="64008" marT="32004" marB="32004" anchor="ctr">
                    <a:solidFill>
                      <a:srgbClr val="FFFFFF"/>
                    </a:solidFill>
                  </a:tcPr>
                </a:tc>
              </a:tr>
              <a:tr h="784479">
                <a:tc>
                  <a:txBody>
                    <a:bodyPr wrap="square"/>
                    <a:lstStyle/>
                    <a:p>
                      <a:r>
                        <a:rPr sz="1400" b="1">
                          <a:solidFill>
                            <a:srgbClr val="761422"/>
                          </a:solidFill>
                          <a:latin typeface="Calibri"/>
                        </a:rPr>
                        <a:t>sql</a:t>
                      </a:r>
                    </a:p>
                  </a:txBody>
                  <a:tcPr marL="82296" marR="64008" marT="32004" marB="32004" anchor="ctr">
                    <a:solidFill>
                      <a:srgbClr val="F6F3EF"/>
                    </a:solidFill>
                  </a:tcPr>
                </a:tc>
                <a:tc>
                  <a:txBody>
                    <a:bodyPr wrap="square"/>
                    <a:lstStyle/>
                    <a:p>
                      <a:r>
                        <a:rPr sz="1400" b="0">
                          <a:solidFill>
                            <a:srgbClr val="1C1C1E"/>
                          </a:solidFill>
                          <a:latin typeface="Calibri"/>
                        </a:rPr>
                        <a:t>A read-only query on an administrator-managed connection, with typed parameters bound rather than interpolated</a:t>
                      </a:r>
                    </a:p>
                  </a:txBody>
                  <a:tcPr marL="82296" marR="64008" marT="32004" marB="32004" anchor="ctr">
                    <a:solidFill>
                      <a:srgbClr val="F6F3EF"/>
                    </a:solidFill>
                  </a:tcPr>
                </a:tc>
                <a:tc>
                  <a:txBody>
                    <a:bodyPr wrap="square"/>
                    <a:lstStyle/>
                    <a:p>
                      <a:r>
                        <a:rPr sz="1400" b="0">
                          <a:solidFill>
                            <a:srgbClr val="1C1C1E"/>
                          </a:solidFill>
                          <a:latin typeface="Calibri"/>
                        </a:rPr>
                        <a:t>tests/test_sql_source.py</a:t>
                      </a:r>
                    </a:p>
                  </a:txBody>
                  <a:tcPr marL="82296" marR="64008" marT="32004" marB="32004" anchor="ctr">
                    <a:solidFill>
                      <a:srgbClr val="F6F3EF"/>
                    </a:solidFill>
                  </a:tcPr>
                </a:tc>
              </a:tr>
              <a:tr h="559562">
                <a:tc>
                  <a:txBody>
                    <a:bodyPr wrap="square"/>
                    <a:lstStyle/>
                    <a:p>
                      <a:r>
                        <a:rPr sz="1400" b="1">
                          <a:solidFill>
                            <a:srgbClr val="761422"/>
                          </a:solidFill>
                          <a:latin typeface="Calibri"/>
                        </a:rPr>
                        <a:t>python</a:t>
                      </a:r>
                    </a:p>
                  </a:txBody>
                  <a:tcPr marL="82296" marR="64008" marT="32004" marB="32004" anchor="ctr">
                    <a:solidFill>
                      <a:srgbClr val="FFFFFF"/>
                    </a:solidFill>
                  </a:tcPr>
                </a:tc>
                <a:tc>
                  <a:txBody>
                    <a:bodyPr wrap="square"/>
                    <a:lstStyle/>
                    <a:p>
                      <a:r>
                        <a:rPr sz="1400" b="0">
                          <a:solidFill>
                            <a:srgbClr val="1C1C1E"/>
                          </a:solidFill>
                          <a:latin typeface="Calibri"/>
                        </a:rPr>
                        <a:t>A reviewed producer function run in the sandbox on every pull: the escape hatch, and it needs approval</a:t>
                      </a:r>
                    </a:p>
                  </a:txBody>
                  <a:tcPr marL="82296" marR="64008" marT="32004" marB="32004" anchor="ctr">
                    <a:solidFill>
                      <a:srgbClr val="FFFFFF"/>
                    </a:solidFill>
                  </a:tcPr>
                </a:tc>
                <a:tc>
                  <a:txBody>
                    <a:bodyPr wrap="square"/>
                    <a:lstStyle/>
                    <a:p>
                      <a:r>
                        <a:rPr sz="1400" b="0">
                          <a:solidFill>
                            <a:srgbClr val="1C1C1E"/>
                          </a:solidFill>
                          <a:latin typeface="Calibri"/>
                        </a:rPr>
                        <a:t>tests/test_python_source.py</a:t>
                      </a:r>
                    </a:p>
                  </a:txBody>
                  <a:tcPr marL="82296" marR="64008" marT="32004" marB="32004" anchor="ctr">
                    <a:solidFill>
                      <a:srgbClr val="FFFFFF"/>
                    </a:solidFill>
                  </a:tcPr>
                </a:tc>
              </a:tr>
              <a:tr h="784479">
                <a:tc>
                  <a:txBody>
                    <a:bodyPr wrap="square"/>
                    <a:lstStyle/>
                    <a:p>
                      <a:r>
                        <a:rPr sz="1400" b="1">
                          <a:solidFill>
                            <a:srgbClr val="761422"/>
                          </a:solidFill>
                          <a:latin typeface="Calibri"/>
                        </a:rPr>
                        <a:t>derived</a:t>
                      </a:r>
                    </a:p>
                  </a:txBody>
                  <a:tcPr marL="82296" marR="64008" marT="32004" marB="32004" anchor="ctr">
                    <a:solidFill>
                      <a:srgbClr val="F6F3EF"/>
                    </a:solidFill>
                  </a:tcPr>
                </a:tc>
                <a:tc>
                  <a:txBody>
                    <a:bodyPr wrap="square"/>
                    <a:lstStyle/>
                    <a:p>
                      <a:r>
                        <a:rPr sz="1400" b="0">
                          <a:solidFill>
                            <a:srgbClr val="1C1C1E"/>
                          </a:solidFill>
                          <a:latin typeface="Calibri"/>
                        </a:rPr>
                        <a:t>An expression over other feature versions or pins, kept in lineage rather than flattened into a copy</a:t>
                      </a:r>
                    </a:p>
                  </a:txBody>
                  <a:tcPr marL="82296" marR="64008" marT="32004" marB="32004" anchor="ctr">
                    <a:solidFill>
                      <a:srgbClr val="F6F3EF"/>
                    </a:solidFill>
                  </a:tcPr>
                </a:tc>
                <a:tc>
                  <a:txBody>
                    <a:bodyPr wrap="square"/>
                    <a:lstStyle/>
                    <a:p>
                      <a:r>
                        <a:rPr sz="1400" b="0">
                          <a:solidFill>
                            <a:srgbClr val="1C1C1E"/>
                          </a:solidFill>
                          <a:latin typeface="Calibri"/>
                        </a:rPr>
                        <a:t>tests/test_features.py::test_derived_union_and_inheritance</a:t>
                      </a:r>
                    </a:p>
                  </a:txBody>
                  <a:tcPr marL="82296" marR="64008" marT="32004" marB="32004" anchor="ctr">
                    <a:solidFill>
                      <a:srgbClr val="F6F3EF"/>
                    </a:solidFill>
                  </a:tcPr>
                </a:tc>
              </a:tr>
              <a:tr h="784479">
                <a:tc>
                  <a:txBody>
                    <a:bodyPr wrap="square"/>
                    <a:lstStyle/>
                    <a:p>
                      <a:r>
                        <a:rPr sz="1400" b="1">
                          <a:solidFill>
                            <a:srgbClr val="761422"/>
                          </a:solidFill>
                          <a:latin typeface="Calibri"/>
                        </a:rPr>
                        <a:t>unsupported</a:t>
                      </a:r>
                    </a:p>
                  </a:txBody>
                  <a:tcPr marL="82296" marR="64008" marT="32004" marB="32004" anchor="ctr">
                    <a:solidFill>
                      <a:srgbClr val="FFFFFF"/>
                    </a:solidFill>
                  </a:tcPr>
                </a:tc>
                <a:tc>
                  <a:txBody>
                    <a:bodyPr wrap="square"/>
                    <a:lstStyle/>
                    <a:p>
                      <a:r>
                        <a:rPr sz="1400" b="0">
                          <a:solidFill>
                            <a:srgbClr val="1C1C1E"/>
                          </a:solidFill>
                          <a:latin typeface="Calibri"/>
                        </a:rPr>
                        <a:t>Anything else is refused by name, never approximated with the nearest thing that parses</a:t>
                      </a:r>
                    </a:p>
                  </a:txBody>
                  <a:tcPr marL="82296" marR="64008" marT="32004" marB="32004" anchor="ctr">
                    <a:solidFill>
                      <a:srgbClr val="FFFFFF"/>
                    </a:solidFill>
                  </a:tcPr>
                </a:tc>
                <a:tc>
                  <a:txBody>
                    <a:bodyPr wrap="square"/>
                    <a:lstStyle/>
                    <a:p>
                      <a:r>
                        <a:rPr sz="1400" b="0">
                          <a:solidFill>
                            <a:srgbClr val="1C1C1E"/>
                          </a:solidFill>
                          <a:latin typeface="Calibri"/>
                        </a:rPr>
                        <a:t>tests/test_features.py::test_unsupported_source_is_refused_by_name</a:t>
                      </a:r>
                    </a:p>
                  </a:txBody>
                  <a:tcPr marL="82296" marR="64008" marT="32004" marB="32004" anchor="ctr">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RESOLUTION</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Declarative gap filling, bounded and reported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50</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Resolving a feature version means: cut the log by ingest time, take the latest knowledge per key, lay the rows on the declared grid, then apply the fill rules. Every read path does it in that order, including a feature set's.</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maya/resolution/resolver.py and rules.py; tests/test_resolution_core.py, tests/test_features.py::test_quality_contract_blocks_the_pin; docs/BENCHMARKS.md for the two timings.</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Grid and rules</a:t>
            </a:r>
          </a:p>
        </p:txBody>
      </p:sp>
      <p:sp>
        <p:nvSpPr>
          <p:cNvPr id="16" name="TextBox 15"/>
          <p:cNvSpPr txBox="1"/>
          <p:nvPr/>
        </p:nvSpPr>
        <p:spPr>
          <a:xfrm>
            <a:off x="777240"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The grid</a:t>
            </a:r>
          </a:p>
          <a:p>
            <a:pPr lvl="1">
              <a:lnSpc>
                <a:spcPct val="120000"/>
              </a:lnSpc>
              <a:spcBef>
                <a:spcPts val="0"/>
              </a:spcBef>
              <a:spcAft>
                <a:spcPts val="0"/>
              </a:spcAft>
            </a:pPr>
            <a:r>
              <a:rPr sz="1050" b="0">
                <a:solidFill>
                  <a:srgbClr val="4A4F57"/>
                </a:solidFill>
                <a:latin typeface="Calibri"/>
              </a:rPr>
              <a:t>As the rows arrived, or a shipped calendar: NYSE, LSE, TARGET, ISO business days, natural days.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Ten rules per attribute</a:t>
            </a:r>
          </a:p>
          <a:p>
            <a:pPr lvl="1">
              <a:lnSpc>
                <a:spcPct val="120000"/>
              </a:lnSpc>
              <a:spcBef>
                <a:spcPts val="0"/>
              </a:spcBef>
              <a:spcAft>
                <a:spcPts val="0"/>
              </a:spcAft>
            </a:pPr>
            <a:r>
              <a:rPr sz="1050" b="0">
                <a:solidFill>
                  <a:srgbClr val="4A4F57"/>
                </a:solidFill>
                <a:latin typeface="Calibri"/>
              </a:rPr>
              <a:t>Leave null, forward fill, backward fill, linear or spline interpolation, a constant, a window mean, last known as of, zero, previous period.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Bounded, and refused when unbounded is meant</a:t>
            </a:r>
          </a:p>
          <a:p>
            <a:pPr lvl="1">
              <a:lnSpc>
                <a:spcPct val="120000"/>
              </a:lnSpc>
              <a:spcBef>
                <a:spcPts val="0"/>
              </a:spcBef>
              <a:spcAft>
                <a:spcPts val="0"/>
              </a:spcAft>
            </a:pPr>
            <a:r>
              <a:rPr sz="1050" b="0">
                <a:solidFill>
                  <a:srgbClr val="4A4F57"/>
                </a:solidFill>
                <a:latin typeface="Calibri"/>
              </a:rPr>
              <a:t>Forward fill takes a row limit and a maximum age; beyond either, the value stays null. A negative lag is rejected as look-ahead.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Non-causal rules are named as such</a:t>
            </a:r>
          </a:p>
          <a:p>
            <a:pPr lvl="1">
              <a:lnSpc>
                <a:spcPct val="120000"/>
              </a:lnSpc>
              <a:spcBef>
                <a:spcPts val="0"/>
              </a:spcBef>
              <a:spcAft>
                <a:spcPts val="0"/>
              </a:spcAft>
            </a:pPr>
            <a:r>
              <a:rPr sz="1050" b="0">
                <a:solidFill>
                  <a:srgbClr val="4A4F57"/>
                </a:solidFill>
                <a:latin typeface="Calibri"/>
              </a:rPr>
              <a:t>Backward fill and both interpolations consume the future. Inside a training set they require a written justification.</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run emits</a:t>
            </a:r>
          </a:p>
        </p:txBody>
      </p:sp>
      <p:sp>
        <p:nvSpPr>
          <p:cNvPr id="20" name="TextBox 19"/>
          <p:cNvSpPr txBox="1"/>
          <p:nvPr/>
        </p:nvSpPr>
        <p:spPr>
          <a:xfrm>
            <a:off x="6278727" y="2797048"/>
            <a:ext cx="5135727" cy="2881375"/>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A fill report</a:t>
            </a:r>
          </a:p>
          <a:p>
            <a:pPr lvl="1">
              <a:lnSpc>
                <a:spcPct val="120000"/>
              </a:lnSpc>
              <a:spcBef>
                <a:spcPts val="0"/>
              </a:spcBef>
              <a:spcAft>
                <a:spcPts val="0"/>
              </a:spcAft>
            </a:pPr>
            <a:r>
              <a:rPr sz="1050" b="0">
                <a:solidFill>
                  <a:srgbClr val="4A4F57"/>
                </a:solidFill>
                <a:latin typeface="Calibri"/>
              </a:rPr>
              <a:t>Rows filled per rule and the longest fill run, stored with the pin so nobody has to guess later how much of the data was invented.</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 quality verdict that can block</a:t>
            </a:r>
          </a:p>
          <a:p>
            <a:pPr lvl="1">
              <a:lnSpc>
                <a:spcPct val="120000"/>
              </a:lnSpc>
              <a:spcBef>
                <a:spcPts val="0"/>
              </a:spcBef>
              <a:spcAft>
                <a:spcPts val="0"/>
              </a:spcAft>
            </a:pPr>
            <a:r>
              <a:rPr sz="1050" b="0">
                <a:solidFill>
                  <a:srgbClr val="4A4F57"/>
                </a:solidFill>
                <a:latin typeface="Calibri"/>
              </a:rPr>
              <a:t>Contract checks run on every resolution and always on a pin; a failure blocks the pin rather than warning about it.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Measured</a:t>
            </a:r>
          </a:p>
          <a:p>
            <a:pPr lvl="1">
              <a:lnSpc>
                <a:spcPct val="120000"/>
              </a:lnSpc>
              <a:spcBef>
                <a:spcPts val="0"/>
              </a:spcBef>
              <a:spcAft>
                <a:spcPts val="0"/>
              </a:spcAft>
            </a:pPr>
            <a:r>
              <a:rPr sz="1050" b="0">
                <a:solidFill>
                  <a:srgbClr val="4A4F57"/>
                </a:solidFill>
                <a:latin typeface="Calibri"/>
              </a:rPr>
              <a:t>Warm p95 0.98 s for a 50-attribute, 10-year, 500-symbol set with no rules; 6.1 s with a bounded forward fill on all fifty.</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a refusal for a rule it cannot honour</a:t>
            </a:r>
          </a:p>
          <a:p>
            <a:pPr lvl="1">
              <a:lnSpc>
                <a:spcPct val="120000"/>
              </a:lnSpc>
              <a:spcBef>
                <a:spcPts val="0"/>
              </a:spcBef>
              <a:spcAft>
                <a:spcPts val="0"/>
              </a:spcAft>
            </a:pPr>
            <a:r>
              <a:rPr sz="1050" b="0">
                <a:solidFill>
                  <a:srgbClr val="4A4F57"/>
                </a:solidFill>
                <a:latin typeface="Calibri"/>
              </a:rPr>
              <a:t>A custom rule function is in the grammar and refused in this build, because no sandboxed rule function is registered. A name MAYA cannot honour is a refusal, not a silent no-op.</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FEATURE ALGEBRA</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Fifteen operators, each yielding a definition rather than a result</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51</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derived feature is an ordinary feature: named, versioned, pinnable, permissioned and visible in lineage. That closure is what stops “derived data” being a second, ungoverned category — and inheritance stores a difference rather than a copy, so a fix to a parent reaches every child.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maya/resolution/algebra.py: typed at definition time with no data read, each operator declaring whether it is additive, behavioural or breaking; non-causality propagates; and a canonical derivation hash lets MAYA refuse an algebraically identical near-copy rather than accept a second truth.</a:t>
            </a:r>
          </a:p>
        </p:txBody>
      </p:sp>
      <p:graphicFrame>
        <p:nvGraphicFramePr>
          <p:cNvPr id="13" name="Table 12"/>
          <p:cNvGraphicFramePr>
            <a:graphicFrameLocks noGrp="1"/>
          </p:cNvGraphicFramePr>
          <p:nvPr/>
        </p:nvGraphicFramePr>
        <p:xfrm>
          <a:off x="777240" y="2204656"/>
          <a:ext cx="10637214" cy="3220656"/>
        </p:xfrm>
        <a:graphic>
          <a:graphicData uri="http://schemas.openxmlformats.org/drawingml/2006/table">
            <a:tbl>
              <a:tblPr firstRow="1">
                <a:tableStyleId>{5C22544A-7EE6-4342-B048-85BDC9FD1C3A}</a:tableStyleId>
              </a:tblPr>
              <a:tblGrid>
                <a:gridCol w="1467202"/>
                <a:gridCol w="3851405"/>
                <a:gridCol w="1467202"/>
                <a:gridCol w="3851405"/>
              </a:tblGrid>
              <a:tr h="318579">
                <a:tc>
                  <a:txBody>
                    <a:bodyPr wrap="square"/>
                    <a:lstStyle/>
                    <a:p>
                      <a:r>
                        <a:rPr sz="1300" b="1">
                          <a:solidFill>
                            <a:srgbClr val="FFFFFF"/>
                          </a:solidFill>
                          <a:latin typeface="Calibri"/>
                        </a:rPr>
                        <a:t>Operator</a:t>
                      </a:r>
                    </a:p>
                  </a:txBody>
                  <a:tcPr marL="82296" marR="64008" marT="32004" marB="32004" anchor="ctr">
                    <a:solidFill>
                      <a:srgbClr val="A51C30"/>
                    </a:solidFill>
                  </a:tcPr>
                </a:tc>
                <a:tc>
                  <a:txBody>
                    <a:bodyPr wrap="square"/>
                    <a:lstStyle/>
                    <a:p>
                      <a:r>
                        <a:rPr sz="1300" b="1">
                          <a:solidFill>
                            <a:srgbClr val="FFFFFF"/>
                          </a:solidFill>
                          <a:latin typeface="Calibri"/>
                        </a:rPr>
                        <a:t>Produces</a:t>
                      </a:r>
                    </a:p>
                  </a:txBody>
                  <a:tcPr marL="82296" marR="64008" marT="32004" marB="32004" anchor="ctr">
                    <a:solidFill>
                      <a:srgbClr val="A51C30"/>
                    </a:solidFill>
                  </a:tcPr>
                </a:tc>
                <a:tc>
                  <a:txBody>
                    <a:bodyPr wrap="square"/>
                    <a:lstStyle/>
                    <a:p>
                      <a:r>
                        <a:rPr sz="1300" b="1">
                          <a:solidFill>
                            <a:srgbClr val="FFFFFF"/>
                          </a:solidFill>
                          <a:latin typeface="Calibri"/>
                        </a:rPr>
                        <a:t>Operator</a:t>
                      </a:r>
                    </a:p>
                  </a:txBody>
                  <a:tcPr marL="82296" marR="64008" marT="32004" marB="32004" anchor="ctr">
                    <a:solidFill>
                      <a:srgbClr val="A51C30"/>
                    </a:solidFill>
                  </a:tcPr>
                </a:tc>
                <a:tc>
                  <a:txBody>
                    <a:bodyPr wrap="square"/>
                    <a:lstStyle/>
                    <a:p>
                      <a:r>
                        <a:rPr sz="1300" b="1">
                          <a:solidFill>
                            <a:srgbClr val="FFFFFF"/>
                          </a:solidFill>
                          <a:latin typeface="Calibri"/>
                        </a:rPr>
                        <a:t>Produces</a:t>
                      </a:r>
                    </a:p>
                  </a:txBody>
                  <a:tcPr marL="82296" marR="64008" marT="32004" marB="32004" anchor="ctr">
                    <a:solidFill>
                      <a:srgbClr val="A51C30"/>
                    </a:solidFill>
                  </a:tcPr>
                </a:tc>
              </a:tr>
              <a:tr h="334645">
                <a:tc>
                  <a:txBody>
                    <a:bodyPr wrap="square"/>
                    <a:lstStyle/>
                    <a:p>
                      <a:r>
                        <a:rPr sz="1400" b="1">
                          <a:solidFill>
                            <a:srgbClr val="761422"/>
                          </a:solidFill>
                          <a:latin typeface="Calibri"/>
                        </a:rPr>
                        <a:t>project</a:t>
                      </a:r>
                    </a:p>
                  </a:txBody>
                  <a:tcPr marL="82296" marR="64008" marT="32004" marB="32004" anchor="ctr">
                    <a:solidFill>
                      <a:srgbClr val="FFFFFF"/>
                    </a:solidFill>
                  </a:tcPr>
                </a:tc>
                <a:tc>
                  <a:txBody>
                    <a:bodyPr wrap="square"/>
                    <a:lstStyle/>
                    <a:p>
                      <a:r>
                        <a:rPr sz="1400" b="0">
                          <a:solidFill>
                            <a:srgbClr val="1C1C1E"/>
                          </a:solidFill>
                          <a:latin typeface="Calibri"/>
                        </a:rPr>
                        <a:t>A subset of attributes</a:t>
                      </a:r>
                    </a:p>
                  </a:txBody>
                  <a:tcPr marL="82296" marR="64008" marT="32004" marB="32004" anchor="ctr">
                    <a:solidFill>
                      <a:srgbClr val="FFFFFF"/>
                    </a:solidFill>
                  </a:tcPr>
                </a:tc>
                <a:tc>
                  <a:txBody>
                    <a:bodyPr wrap="square"/>
                    <a:lstStyle/>
                    <a:p>
                      <a:r>
                        <a:rPr sz="1400" b="0">
                          <a:solidFill>
                            <a:srgbClr val="1C1C1E"/>
                          </a:solidFill>
                          <a:latin typeface="Calibri"/>
                        </a:rPr>
                        <a:t>aggregate</a:t>
                      </a:r>
                    </a:p>
                  </a:txBody>
                  <a:tcPr marL="82296" marR="64008" marT="32004" marB="32004" anchor="ctr">
                    <a:solidFill>
                      <a:srgbClr val="FFFFFF"/>
                    </a:solidFill>
                  </a:tcPr>
                </a:tc>
                <a:tc>
                  <a:txBody>
                    <a:bodyPr wrap="square"/>
                    <a:lstStyle/>
                    <a:p>
                      <a:r>
                        <a:rPr sz="1400" b="0">
                          <a:solidFill>
                            <a:srgbClr val="1C1C1E"/>
                          </a:solidFill>
                          <a:latin typeface="Calibri"/>
                        </a:rPr>
                        <a:t>A coarser index</a:t>
                      </a:r>
                    </a:p>
                  </a:txBody>
                  <a:tcPr marL="82296" marR="64008" marT="32004" marB="32004" anchor="ctr">
                    <a:solidFill>
                      <a:srgbClr val="FFFFFF"/>
                    </a:solidFill>
                  </a:tcPr>
                </a:tc>
              </a:tr>
              <a:tr h="334645">
                <a:tc>
                  <a:txBody>
                    <a:bodyPr wrap="square"/>
                    <a:lstStyle/>
                    <a:p>
                      <a:r>
                        <a:rPr sz="1400" b="1">
                          <a:solidFill>
                            <a:srgbClr val="761422"/>
                          </a:solidFill>
                          <a:latin typeface="Calibri"/>
                        </a:rPr>
                        <a:t>rename</a:t>
                      </a:r>
                    </a:p>
                  </a:txBody>
                  <a:tcPr marL="82296" marR="64008" marT="32004" marB="32004" anchor="ctr">
                    <a:solidFill>
                      <a:srgbClr val="F6F3EF"/>
                    </a:solidFill>
                  </a:tcPr>
                </a:tc>
                <a:tc>
                  <a:txBody>
                    <a:bodyPr wrap="square"/>
                    <a:lstStyle/>
                    <a:p>
                      <a:r>
                        <a:rPr sz="1400" b="0">
                          <a:solidFill>
                            <a:srgbClr val="1C1C1E"/>
                          </a:solidFill>
                          <a:latin typeface="Calibri"/>
                        </a:rPr>
                        <a:t>The same data, renamed</a:t>
                      </a:r>
                    </a:p>
                  </a:txBody>
                  <a:tcPr marL="82296" marR="64008" marT="32004" marB="32004" anchor="ctr">
                    <a:solidFill>
                      <a:srgbClr val="F6F3EF"/>
                    </a:solidFill>
                  </a:tcPr>
                </a:tc>
                <a:tc>
                  <a:txBody>
                    <a:bodyPr wrap="square"/>
                    <a:lstStyle/>
                    <a:p>
                      <a:r>
                        <a:rPr sz="1400" b="0">
                          <a:solidFill>
                            <a:srgbClr val="1C1C1E"/>
                          </a:solidFill>
                          <a:latin typeface="Calibri"/>
                        </a:rPr>
                        <a:t>lag</a:t>
                      </a:r>
                    </a:p>
                  </a:txBody>
                  <a:tcPr marL="82296" marR="64008" marT="32004" marB="32004" anchor="ctr">
                    <a:solidFill>
                      <a:srgbClr val="F6F3EF"/>
                    </a:solidFill>
                  </a:tcPr>
                </a:tc>
                <a:tc>
                  <a:txBody>
                    <a:bodyPr wrap="square"/>
                    <a:lstStyle/>
                    <a:p>
                      <a:r>
                        <a:rPr sz="1400" b="0">
                          <a:solidFill>
                            <a:srgbClr val="1C1C1E"/>
                          </a:solidFill>
                          <a:latin typeface="Calibri"/>
                        </a:rPr>
                        <a:t>Values shifted by n periods</a:t>
                      </a:r>
                    </a:p>
                  </a:txBody>
                  <a:tcPr marL="82296" marR="64008" marT="32004" marB="32004" anchor="ctr">
                    <a:solidFill>
                      <a:srgbClr val="F6F3EF"/>
                    </a:solidFill>
                  </a:tcPr>
                </a:tc>
              </a:tr>
              <a:tr h="334645">
                <a:tc>
                  <a:txBody>
                    <a:bodyPr wrap="square"/>
                    <a:lstStyle/>
                    <a:p>
                      <a:r>
                        <a:rPr sz="1400" b="1">
                          <a:solidFill>
                            <a:srgbClr val="761422"/>
                          </a:solidFill>
                          <a:latin typeface="Calibri"/>
                        </a:rPr>
                        <a:t>transform</a:t>
                      </a:r>
                    </a:p>
                  </a:txBody>
                  <a:tcPr marL="82296" marR="64008" marT="32004" marB="32004" anchor="ctr">
                    <a:solidFill>
                      <a:srgbClr val="FFFFFF"/>
                    </a:solidFill>
                  </a:tcPr>
                </a:tc>
                <a:tc>
                  <a:txBody>
                    <a:bodyPr wrap="square"/>
                    <a:lstStyle/>
                    <a:p>
                      <a:r>
                        <a:rPr sz="1400" b="0">
                          <a:solidFill>
                            <a:srgbClr val="1C1C1E"/>
                          </a:solidFill>
                          <a:latin typeface="Calibri"/>
                        </a:rPr>
                        <a:t>A derived feature by pipeline</a:t>
                      </a:r>
                    </a:p>
                  </a:txBody>
                  <a:tcPr marL="82296" marR="64008" marT="32004" marB="32004" anchor="ctr">
                    <a:solidFill>
                      <a:srgbClr val="FFFFFF"/>
                    </a:solidFill>
                  </a:tcPr>
                </a:tc>
                <a:tc>
                  <a:txBody>
                    <a:bodyPr wrap="square"/>
                    <a:lstStyle/>
                    <a:p>
                      <a:r>
                        <a:rPr sz="1400" b="0">
                          <a:solidFill>
                            <a:srgbClr val="1C1C1E"/>
                          </a:solidFill>
                          <a:latin typeface="Calibri"/>
                        </a:rPr>
                        <a:t>resample</a:t>
                      </a:r>
                    </a:p>
                  </a:txBody>
                  <a:tcPr marL="82296" marR="64008" marT="32004" marB="32004" anchor="ctr">
                    <a:solidFill>
                      <a:srgbClr val="FFFFFF"/>
                    </a:solidFill>
                  </a:tcPr>
                </a:tc>
                <a:tc>
                  <a:txBody>
                    <a:bodyPr wrap="square"/>
                    <a:lstStyle/>
                    <a:p>
                      <a:r>
                        <a:rPr sz="1400" b="0">
                          <a:solidFill>
                            <a:srgbClr val="1C1C1E"/>
                          </a:solidFill>
                          <a:latin typeface="Calibri"/>
                        </a:rPr>
                        <a:t>A new frequency</a:t>
                      </a:r>
                    </a:p>
                  </a:txBody>
                  <a:tcPr marL="82296" marR="64008" marT="32004" marB="32004" anchor="ctr">
                    <a:solidFill>
                      <a:srgbClr val="FFFFFF"/>
                    </a:solidFill>
                  </a:tcPr>
                </a:tc>
              </a:tr>
              <a:tr h="334645">
                <a:tc>
                  <a:txBody>
                    <a:bodyPr wrap="square"/>
                    <a:lstStyle/>
                    <a:p>
                      <a:r>
                        <a:rPr sz="1400" b="1">
                          <a:solidFill>
                            <a:srgbClr val="761422"/>
                          </a:solidFill>
                          <a:latin typeface="Calibri"/>
                        </a:rPr>
                        <a:t>union</a:t>
                      </a:r>
                    </a:p>
                  </a:txBody>
                  <a:tcPr marL="82296" marR="64008" marT="32004" marB="32004" anchor="ctr">
                    <a:solidFill>
                      <a:srgbClr val="F6F3EF"/>
                    </a:solidFill>
                  </a:tcPr>
                </a:tc>
                <a:tc>
                  <a:txBody>
                    <a:bodyPr wrap="square"/>
                    <a:lstStyle/>
                    <a:p>
                      <a:r>
                        <a:rPr sz="1400" b="0">
                          <a:solidFill>
                            <a:srgbClr val="1C1C1E"/>
                          </a:solidFill>
                          <a:latin typeface="Calibri"/>
                        </a:rPr>
                        <a:t>Rows of both, collisions by policy</a:t>
                      </a:r>
                    </a:p>
                  </a:txBody>
                  <a:tcPr marL="82296" marR="64008" marT="32004" marB="32004" anchor="ctr">
                    <a:solidFill>
                      <a:srgbClr val="F6F3EF"/>
                    </a:solidFill>
                  </a:tcPr>
                </a:tc>
                <a:tc>
                  <a:txBody>
                    <a:bodyPr wrap="square"/>
                    <a:lstStyle/>
                    <a:p>
                      <a:r>
                        <a:rPr sz="1400" b="0">
                          <a:solidFill>
                            <a:srgbClr val="1C1C1E"/>
                          </a:solidFill>
                          <a:latin typeface="Calibri"/>
                        </a:rPr>
                        <a:t>case</a:t>
                      </a:r>
                    </a:p>
                  </a:txBody>
                  <a:tcPr marL="82296" marR="64008" marT="32004" marB="32004" anchor="ctr">
                    <a:solidFill>
                      <a:srgbClr val="F6F3EF"/>
                    </a:solidFill>
                  </a:tcPr>
                </a:tc>
                <a:tc>
                  <a:txBody>
                    <a:bodyPr wrap="square"/>
                    <a:lstStyle/>
                    <a:p>
                      <a:r>
                        <a:rPr sz="1400" b="0">
                          <a:solidFill>
                            <a:srgbClr val="1C1C1E"/>
                          </a:solidFill>
                          <a:latin typeface="Calibri"/>
                        </a:rPr>
                        <a:t>Row-wise choice between inputs</a:t>
                      </a:r>
                    </a:p>
                  </a:txBody>
                  <a:tcPr marL="82296" marR="64008" marT="32004" marB="32004" anchor="ctr">
                    <a:solidFill>
                      <a:srgbClr val="F6F3EF"/>
                    </a:solidFill>
                  </a:tcPr>
                </a:tc>
              </a:tr>
              <a:tr h="334645">
                <a:tc>
                  <a:txBody>
                    <a:bodyPr wrap="square"/>
                    <a:lstStyle/>
                    <a:p>
                      <a:r>
                        <a:rPr sz="1400" b="1">
                          <a:solidFill>
                            <a:srgbClr val="761422"/>
                          </a:solidFill>
                          <a:latin typeface="Calibri"/>
                        </a:rPr>
                        <a:t>intersect</a:t>
                      </a:r>
                    </a:p>
                  </a:txBody>
                  <a:tcPr marL="82296" marR="64008" marT="32004" marB="32004" anchor="ctr">
                    <a:solidFill>
                      <a:srgbClr val="FFFFFF"/>
                    </a:solidFill>
                  </a:tcPr>
                </a:tc>
                <a:tc>
                  <a:txBody>
                    <a:bodyPr wrap="square"/>
                    <a:lstStyle/>
                    <a:p>
                      <a:r>
                        <a:rPr sz="1400" b="0">
                          <a:solidFill>
                            <a:srgbClr val="1C1C1E"/>
                          </a:solidFill>
                          <a:latin typeface="Calibri"/>
                        </a:rPr>
                        <a:t>Rows whose index is in both</a:t>
                      </a:r>
                    </a:p>
                  </a:txBody>
                  <a:tcPr marL="82296" marR="64008" marT="32004" marB="32004" anchor="ctr">
                    <a:solidFill>
                      <a:srgbClr val="FFFFFF"/>
                    </a:solidFill>
                  </a:tcPr>
                </a:tc>
                <a:tc>
                  <a:txBody>
                    <a:bodyPr wrap="square"/>
                    <a:lstStyle/>
                    <a:p>
                      <a:r>
                        <a:rPr sz="1400" b="0">
                          <a:solidFill>
                            <a:srgbClr val="1C1C1E"/>
                          </a:solidFill>
                          <a:latin typeface="Calibri"/>
                        </a:rPr>
                        <a:t>pivot</a:t>
                      </a:r>
                    </a:p>
                  </a:txBody>
                  <a:tcPr marL="82296" marR="64008" marT="32004" marB="32004" anchor="ctr">
                    <a:solidFill>
                      <a:srgbClr val="FFFFFF"/>
                    </a:solidFill>
                  </a:tcPr>
                </a:tc>
                <a:tc>
                  <a:txBody>
                    <a:bodyPr wrap="square"/>
                    <a:lstStyle/>
                    <a:p>
                      <a:r>
                        <a:rPr sz="1400" b="0">
                          <a:solidFill>
                            <a:srgbClr val="1C1C1E"/>
                          </a:solidFill>
                          <a:latin typeface="Calibri"/>
                        </a:rPr>
                        <a:t>Long to wide</a:t>
                      </a:r>
                    </a:p>
                  </a:txBody>
                  <a:tcPr marL="82296" marR="64008" marT="32004" marB="32004" anchor="ctr">
                    <a:solidFill>
                      <a:srgbClr val="FFFFFF"/>
                    </a:solidFill>
                  </a:tcPr>
                </a:tc>
              </a:tr>
              <a:tr h="559562">
                <a:tc>
                  <a:txBody>
                    <a:bodyPr wrap="square"/>
                    <a:lstStyle/>
                    <a:p>
                      <a:r>
                        <a:rPr sz="1400" b="1">
                          <a:solidFill>
                            <a:srgbClr val="761422"/>
                          </a:solidFill>
                          <a:latin typeface="Calibri"/>
                        </a:rPr>
                        <a:t>difference</a:t>
                      </a:r>
                    </a:p>
                  </a:txBody>
                  <a:tcPr marL="82296" marR="64008" marT="32004" marB="32004" anchor="ctr">
                    <a:solidFill>
                      <a:srgbClr val="F6F3EF"/>
                    </a:solidFill>
                  </a:tcPr>
                </a:tc>
                <a:tc>
                  <a:txBody>
                    <a:bodyPr wrap="square"/>
                    <a:lstStyle/>
                    <a:p>
                      <a:r>
                        <a:rPr sz="1400" b="0">
                          <a:solidFill>
                            <a:srgbClr val="1C1C1E"/>
                          </a:solidFill>
                          <a:latin typeface="Calibri"/>
                        </a:rPr>
                        <a:t>Rows of the first absent from the second</a:t>
                      </a:r>
                    </a:p>
                  </a:txBody>
                  <a:tcPr marL="82296" marR="64008" marT="32004" marB="32004" anchor="ctr">
                    <a:solidFill>
                      <a:srgbClr val="F6F3EF"/>
                    </a:solidFill>
                  </a:tcPr>
                </a:tc>
                <a:tc>
                  <a:txBody>
                    <a:bodyPr wrap="square"/>
                    <a:lstStyle/>
                    <a:p>
                      <a:r>
                        <a:rPr sz="1400" b="0">
                          <a:solidFill>
                            <a:srgbClr val="1C1C1E"/>
                          </a:solidFill>
                          <a:latin typeface="Calibri"/>
                        </a:rPr>
                        <a:t>unpivot</a:t>
                      </a:r>
                    </a:p>
                  </a:txBody>
                  <a:tcPr marL="82296" marR="64008" marT="32004" marB="32004" anchor="ctr">
                    <a:solidFill>
                      <a:srgbClr val="F6F3EF"/>
                    </a:solidFill>
                  </a:tcPr>
                </a:tc>
                <a:tc>
                  <a:txBody>
                    <a:bodyPr wrap="square"/>
                    <a:lstStyle/>
                    <a:p>
                      <a:r>
                        <a:rPr sz="1400" b="0">
                          <a:solidFill>
                            <a:srgbClr val="1C1C1E"/>
                          </a:solidFill>
                          <a:latin typeface="Calibri"/>
                        </a:rPr>
                        <a:t>Wide to long</a:t>
                      </a:r>
                    </a:p>
                  </a:txBody>
                  <a:tcPr marL="82296" marR="64008" marT="32004" marB="32004" anchor="ctr">
                    <a:solidFill>
                      <a:srgbClr val="F6F3EF"/>
                    </a:solidFill>
                  </a:tcPr>
                </a:tc>
              </a:tr>
              <a:tr h="334645">
                <a:tc>
                  <a:txBody>
                    <a:bodyPr wrap="square"/>
                    <a:lstStyle/>
                    <a:p>
                      <a:r>
                        <a:rPr sz="1400" b="1">
                          <a:solidFill>
                            <a:srgbClr val="761422"/>
                          </a:solidFill>
                          <a:latin typeface="Calibri"/>
                        </a:rPr>
                        <a:t>compose</a:t>
                      </a:r>
                    </a:p>
                  </a:txBody>
                  <a:tcPr marL="82296" marR="64008" marT="32004" marB="32004" anchor="ctr">
                    <a:solidFill>
                      <a:srgbClr val="FFFFFF"/>
                    </a:solidFill>
                  </a:tcPr>
                </a:tc>
                <a:tc>
                  <a:txBody>
                    <a:bodyPr wrap="square"/>
                    <a:lstStyle/>
                    <a:p>
                      <a:r>
                        <a:rPr sz="1400" b="0">
                          <a:solidFill>
                            <a:srgbClr val="1C1C1E"/>
                          </a:solidFill>
                          <a:latin typeface="Calibri"/>
                        </a:rPr>
                        <a:t>Attributes of both, aligned</a:t>
                      </a:r>
                    </a:p>
                  </a:txBody>
                  <a:tcPr marL="82296" marR="64008" marT="32004" marB="32004" anchor="ctr">
                    <a:solidFill>
                      <a:srgbClr val="FFFFFF"/>
                    </a:solidFill>
                  </a:tcPr>
                </a:tc>
                <a:tc>
                  <a:txBody>
                    <a:bodyPr wrap="square"/>
                    <a:lstStyle/>
                    <a:p>
                      <a:r>
                        <a:rPr sz="1400" b="0">
                          <a:solidFill>
                            <a:srgbClr val="1C1C1E"/>
                          </a:solidFill>
                          <a:latin typeface="Calibri"/>
                        </a:rPr>
                        <a:t>sample</a:t>
                      </a:r>
                    </a:p>
                  </a:txBody>
                  <a:tcPr marL="82296" marR="64008" marT="32004" marB="32004" anchor="ctr">
                    <a:solidFill>
                      <a:srgbClr val="FFFFFF"/>
                    </a:solidFill>
                  </a:tcPr>
                </a:tc>
                <a:tc>
                  <a:txBody>
                    <a:bodyPr wrap="square"/>
                    <a:lstStyle/>
                    <a:p>
                      <a:r>
                        <a:rPr sz="1400" b="0">
                          <a:solidFill>
                            <a:srgbClr val="1C1C1E"/>
                          </a:solidFill>
                          <a:latin typeface="Calibri"/>
                        </a:rPr>
                        <a:t>A deterministic seeded subset</a:t>
                      </a:r>
                    </a:p>
                  </a:txBody>
                  <a:tcPr marL="82296" marR="64008" marT="32004" marB="32004" anchor="ctr">
                    <a:solidFill>
                      <a:srgbClr val="FFFFFF"/>
                    </a:solidFill>
                  </a:tcPr>
                </a:tc>
              </a:tr>
              <a:tr h="334645">
                <a:tc>
                  <a:txBody>
                    <a:bodyPr wrap="square"/>
                    <a:lstStyle/>
                    <a:p>
                      <a:r>
                        <a:rPr sz="1400" b="1">
                          <a:solidFill>
                            <a:srgbClr val="761422"/>
                          </a:solidFill>
                          <a:latin typeface="Calibri"/>
                        </a:rPr>
                        <a:t>coalesce</a:t>
                      </a:r>
                    </a:p>
                  </a:txBody>
                  <a:tcPr marL="82296" marR="64008" marT="32004" marB="32004" anchor="ctr">
                    <a:solidFill>
                      <a:srgbClr val="F6F3EF"/>
                    </a:solidFill>
                  </a:tcPr>
                </a:tc>
                <a:tc>
                  <a:txBody>
                    <a:bodyPr wrap="square"/>
                    <a:lstStyle/>
                    <a:p>
                      <a:r>
                        <a:rPr sz="1400" b="0">
                          <a:solidFill>
                            <a:srgbClr val="1C1C1E"/>
                          </a:solidFill>
                          <a:latin typeface="Calibri"/>
                        </a:rPr>
                        <a:t>First non-null across ordered inputs</a:t>
                      </a:r>
                    </a:p>
                  </a:txBody>
                  <a:tcPr marL="82296" marR="64008" marT="32004" marB="32004" anchor="ctr">
                    <a:solidFill>
                      <a:srgbClr val="F6F3EF"/>
                    </a:solidFill>
                  </a:tcPr>
                </a:tc>
                <a:tc>
                  <a:txBody>
                    <a:bodyPr wrap="square"/>
                    <a:lstStyle/>
                    <a:p>
                      <a:r>
                        <a:rPr sz="1400" b="0">
                          <a:solidFill>
                            <a:srgbClr val="1C1C1E"/>
                          </a:solidFill>
                          <a:latin typeface="Calibri"/>
                        </a:rPr>
                        <a:t/>
                      </a:r>
                    </a:p>
                  </a:txBody>
                  <a:tcPr marL="82296" marR="64008" marT="32004" marB="32004" anchor="ctr">
                    <a:solidFill>
                      <a:srgbClr val="F6F3EF"/>
                    </a:solidFill>
                  </a:tcPr>
                </a:tc>
                <a:tc>
                  <a:txBody>
                    <a:bodyPr wrap="square"/>
                    <a:lstStyle/>
                    <a:p>
                      <a:r>
                        <a:rPr sz="1400" b="0">
                          <a:solidFill>
                            <a:srgbClr val="1C1C1E"/>
                          </a:solidFill>
                          <a:latin typeface="Calibri"/>
                        </a:rPr>
                        <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Alignment, and six layers deciding what fills a gap</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52</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maya/resolution/featureset.py (choose_rule); tests/test_resolution_algebra.py::test_featureset_precedence_layers_and_broadcast and ::test_featureset_refuses_unaggregated_extra_index. Which layer decided an attribute is shown in the plan, not left for the reader to infer.</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Mapping and alignment</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Attribute mapping</a:t>
            </a:r>
          </a:p>
          <a:p>
            <a:pPr lvl="1">
              <a:lnSpc>
                <a:spcPct val="120000"/>
              </a:lnSpc>
              <a:spcBef>
                <a:spcPts val="0"/>
              </a:spcBef>
              <a:spcAft>
                <a:spcPts val="0"/>
              </a:spcAft>
            </a:pPr>
            <a:r>
              <a:rPr sz="1350" b="0">
                <a:solidFill>
                  <a:srgbClr val="4A4F57"/>
                </a:solidFill>
                <a:latin typeface="Calibri"/>
              </a:rPr>
              <a:t>Each attribute names its member, the source attribute, an optional cast and its own overrides.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Alignment</a:t>
            </a:r>
          </a:p>
          <a:p>
            <a:pPr lvl="1">
              <a:lnSpc>
                <a:spcPct val="120000"/>
              </a:lnSpc>
              <a:spcBef>
                <a:spcPts val="0"/>
              </a:spcBef>
              <a:spcAft>
                <a:spcPts val="0"/>
              </a:spcAft>
            </a:pPr>
            <a:r>
              <a:rPr sz="1350" b="0">
                <a:solidFill>
                  <a:srgbClr val="4A4F57"/>
                </a:solidFill>
                <a:latin typeface="Calibri"/>
              </a:rPr>
              <a:t>Inner, outer, left on a named member, or as-of with a tolerance and a direction.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Broadcast, stated rather than silent</a:t>
            </a:r>
          </a:p>
          <a:p>
            <a:pPr lvl="1">
              <a:lnSpc>
                <a:spcPct val="120000"/>
              </a:lnSpc>
              <a:spcBef>
                <a:spcPts val="0"/>
              </a:spcBef>
              <a:spcAft>
                <a:spcPts val="0"/>
              </a:spcAft>
            </a:pPr>
            <a:r>
              <a:rPr sz="1350" b="0">
                <a:solidFill>
                  <a:srgbClr val="4A4F57"/>
                </a:solidFill>
                <a:latin typeface="Calibri"/>
              </a:rPr>
              <a:t>A narrower member index is broadcast across the grid and the resolution plan says so.</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a:t>
            </a:r>
          </a:p>
          <a:p>
            <a:pPr lvl="1">
              <a:lnSpc>
                <a:spcPct val="120000"/>
              </a:lnSpc>
              <a:spcBef>
                <a:spcPts val="0"/>
              </a:spcBef>
              <a:spcAft>
                <a:spcPts val="0"/>
              </a:spcAft>
            </a:pPr>
            <a:r>
              <a:rPr sz="1350" b="0">
                <a:solidFill>
                  <a:srgbClr val="4A4F57"/>
                </a:solidFill>
                <a:latin typeface="Calibri"/>
              </a:rPr>
              <a:t>A member index carrying columns the set lacks, unless an aggregation is declared for them — collapsing rows is a modelling decision.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Precedence, shown per attribute</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1  The attribute's own override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2  A member-group override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3  The set's global policy</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4  Inherited policy, nearest ancestor first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5  The member feature's own policy</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6  System default: leave it null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PINNING A SET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Cascade, materialisation, and one hash for all three policies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53</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maya/services/featuresets.py; tests/test_materialization.py, tests/test_warrants.py::test_cascade_rolls_back_entirely_on_a_member_failure. An algebraically identical set is detected and refused as a near-copy.</a:t>
            </a:r>
          </a:p>
        </p:txBody>
      </p:sp>
      <p:sp>
        <p:nvSpPr>
          <p:cNvPr id="12" name="TextBox 11"/>
          <p:cNvSpPr txBox="1"/>
          <p:nvPr/>
        </p:nvSpPr>
        <p:spPr>
          <a:xfrm>
            <a:off x="777240" y="1338770"/>
            <a:ext cx="10637215" cy="4138485"/>
          </a:xfrm>
          <a:prstGeom prst="rect">
            <a:avLst/>
          </a:prstGeom>
          <a:noFill/>
        </p:spPr>
        <p:txBody>
          <a:bodyPr wrap="square" lIns="0" rIns="0" tIns="0" bIns="0" anchor="t">
            <a:spAutoFit/>
          </a:bodyPr>
          <a:lstStyle/>
          <a:p>
            <a:pPr algn="l">
              <a:lnSpc>
                <a:spcPct val="120000"/>
              </a:lnSpc>
              <a:spcBef>
                <a:spcPts val="0"/>
              </a:spcBef>
              <a:spcAft>
                <a:spcPts val="100"/>
              </a:spcAft>
            </a:pPr>
            <a:r>
              <a:rPr sz="1650" b="1">
                <a:solidFill>
                  <a:srgbClr val="A51C30"/>
                </a:solidFill>
                <a:latin typeface="Calibri"/>
              </a:rPr>
              <a:t>▪  </a:t>
            </a:r>
            <a:r>
              <a:rPr sz="1650" b="1">
                <a:solidFill>
                  <a:srgbClr val="1C1C1E"/>
                </a:solidFill>
                <a:latin typeface="Calibri"/>
              </a:rPr>
              <a:t>A set refuses to pin while any member is unpinned</a:t>
            </a:r>
          </a:p>
          <a:p>
            <a:pPr lvl="1">
              <a:lnSpc>
                <a:spcPct val="120000"/>
              </a:lnSpc>
              <a:spcBef>
                <a:spcPts val="0"/>
              </a:spcBef>
              <a:spcAft>
                <a:spcPts val="0"/>
              </a:spcAft>
            </a:pPr>
            <a:r>
              <a:rPr sz="1500" b="0">
                <a:solidFill>
                  <a:srgbClr val="4A4F57"/>
                </a:solidFill>
                <a:latin typeface="Calibri"/>
              </a:rPr>
              <a:t>A cascade pins each unpinned member under one shared name and as-of date in one job, and rolls the whole cascade back if any member fails its quality contract.</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Three materialisation policies, chosen per namespace</a:t>
            </a:r>
          </a:p>
          <a:p>
            <a:pPr lvl="1">
              <a:lnSpc>
                <a:spcPct val="120000"/>
              </a:lnSpc>
              <a:spcBef>
                <a:spcPts val="0"/>
              </a:spcBef>
              <a:spcAft>
                <a:spcPts val="0"/>
              </a:spcAft>
            </a:pPr>
            <a:r>
              <a:rPr sz="1500" b="0">
                <a:solidFill>
                  <a:srgbClr val="4A4F57"/>
                </a:solidFill>
                <a:latin typeface="Calibri"/>
              </a:rPr>
              <a:t>Always, the default, writes the resolved frame. On demand and never seal the pin by the hash of its output and rebuild it from the member pins when read; under on demand the first rebuild is written back.</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All three seal by the same hash</a:t>
            </a:r>
          </a:p>
          <a:p>
            <a:pPr lvl="1">
              <a:lnSpc>
                <a:spcPct val="120000"/>
              </a:lnSpc>
              <a:spcBef>
                <a:spcPts val="0"/>
              </a:spcBef>
              <a:spcAft>
                <a:spcPts val="0"/>
              </a:spcAft>
            </a:pPr>
            <a:r>
              <a:rPr sz="1500" b="0">
                <a:solidFill>
                  <a:srgbClr val="4A4F57"/>
                </a:solidFill>
                <a:latin typeface="Calibri"/>
              </a:rPr>
              <a:t>So the policy is a storage decision and not a correctness one. A rebuild that does not reproduce the hash fails the read with an integrity error rather than serving different numbers — safe, and unavailable, and the README says so.</a:t>
            </a:r>
          </a:p>
          <a:p>
            <a:pPr>
              <a:lnSpc>
                <a:spcPct val="120000"/>
              </a:lnSpc>
              <a:spcBef>
                <a:spcPts val="500"/>
              </a:spcBef>
              <a:spcAft>
                <a:spcPts val="100"/>
              </a:spcAft>
            </a:pPr>
            <a:r>
              <a:rPr sz="1650" b="1">
                <a:solidFill>
                  <a:srgbClr val="A51C30"/>
                </a:solidFill>
                <a:latin typeface="Calibri"/>
              </a:rPr>
              <a:t>▪  </a:t>
            </a:r>
            <a:r>
              <a:rPr sz="1650" b="1">
                <a:solidFill>
                  <a:srgbClr val="1C1C1E"/>
                </a:solidFill>
                <a:latin typeface="Calibri"/>
              </a:rPr>
              <a:t>Withheld, never quietly dropped</a:t>
            </a:r>
          </a:p>
          <a:p>
            <a:pPr lvl="1">
              <a:lnSpc>
                <a:spcPct val="120000"/>
              </a:lnSpc>
              <a:spcBef>
                <a:spcPts val="0"/>
              </a:spcBef>
              <a:spcAft>
                <a:spcPts val="0"/>
              </a:spcAft>
            </a:pPr>
            <a:r>
              <a:rPr sz="1500" b="0">
                <a:solidFill>
                  <a:srgbClr val="4A4F57"/>
                </a:solidFill>
                <a:latin typeface="Calibri"/>
              </a:rPr>
              <a:t>An attribute the caller may not read comes back named and null. The shape of the answer does not depend on who asked, which means a script does not silently compute something different for a different user.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GRANT CONDITIONS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Narrowing a grant without forking the data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54</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maya/security/conditions.py; tests/test_conditions.py. Conditions only ever narrow a grant; they are never a route to widening one. Nothing in the interface, the API, the SDK or the command line reaches data without passing one authorization function first.</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Three conditions</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row_filter</a:t>
            </a:r>
          </a:p>
          <a:p>
            <a:pPr lvl="1">
              <a:lnSpc>
                <a:spcPct val="120000"/>
              </a:lnSpc>
              <a:spcBef>
                <a:spcPts val="0"/>
              </a:spcBef>
              <a:spcAft>
                <a:spcPts val="0"/>
              </a:spcAft>
            </a:pPr>
            <a:r>
              <a:rPr sz="1350" b="0">
                <a:solidFill>
                  <a:srgbClr val="4A4F57"/>
                </a:solidFill>
                <a:latin typeface="Calibri"/>
              </a:rPr>
              <a:t>An expression over the row with the asking principal substituted, so one grant serves a whole desk rather than needing one per person.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column_mask</a:t>
            </a:r>
          </a:p>
          <a:p>
            <a:pPr lvl="1">
              <a:lnSpc>
                <a:spcPct val="120000"/>
              </a:lnSpc>
              <a:spcBef>
                <a:spcPts val="0"/>
              </a:spcBef>
              <a:spcAft>
                <a:spcPts val="0"/>
              </a:spcAft>
            </a:pPr>
            <a:r>
              <a:rPr sz="1350" b="0">
                <a:solidFill>
                  <a:srgbClr val="4A4F57"/>
                </a:solidFill>
                <a:latin typeface="Calibri"/>
              </a:rPr>
              <a:t>Null, or hash — the digest of the value's text, so a join still works and the value itself never leaves.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time_bound</a:t>
            </a:r>
          </a:p>
          <a:p>
            <a:pPr lvl="1">
              <a:lnSpc>
                <a:spcPct val="120000"/>
              </a:lnSpc>
              <a:spcBef>
                <a:spcPts val="0"/>
              </a:spcBef>
              <a:spcAft>
                <a:spcPts val="0"/>
              </a:spcAft>
            </a:pPr>
            <a:r>
              <a:rPr sz="1350" b="0">
                <a:solidFill>
                  <a:srgbClr val="4A4F57"/>
                </a:solidFill>
                <a:latin typeface="Calibri"/>
              </a:rPr>
              <a:t>A cutoff date; a row with a later event date is dropped before the caller sees it.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And when several apply</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Row filters</a:t>
            </a:r>
          </a:p>
          <a:p>
            <a:pPr lvl="1">
              <a:lnSpc>
                <a:spcPct val="120000"/>
              </a:lnSpc>
              <a:spcBef>
                <a:spcPts val="0"/>
              </a:spcBef>
              <a:spcAft>
                <a:spcPts val="0"/>
              </a:spcAft>
            </a:pPr>
            <a:r>
              <a:rPr sz="1350" b="0">
                <a:solidFill>
                  <a:srgbClr val="4A4F57"/>
                </a:solidFill>
                <a:latin typeface="Calibri"/>
              </a:rPr>
              <a:t>Combined with AND: the narrowest wins.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Column masks</a:t>
            </a:r>
          </a:p>
          <a:p>
            <a:pPr lvl="1">
              <a:lnSpc>
                <a:spcPct val="120000"/>
              </a:lnSpc>
              <a:spcBef>
                <a:spcPts val="0"/>
              </a:spcBef>
              <a:spcAft>
                <a:spcPts val="0"/>
              </a:spcAft>
            </a:pPr>
            <a:r>
              <a:rPr sz="1350" b="0">
                <a:solidFill>
                  <a:srgbClr val="4A4F57"/>
                </a:solidFill>
                <a:latin typeface="Calibri"/>
              </a:rPr>
              <a:t>Unioned, and null beats hash on a conflict.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Time bounds</a:t>
            </a:r>
          </a:p>
          <a:p>
            <a:pPr lvl="1">
              <a:lnSpc>
                <a:spcPct val="120000"/>
              </a:lnSpc>
              <a:spcBef>
                <a:spcPts val="0"/>
              </a:spcBef>
              <a:spcAft>
                <a:spcPts val="0"/>
              </a:spcAft>
            </a:pPr>
            <a:r>
              <a:rPr sz="1350" b="0">
                <a:solidFill>
                  <a:srgbClr val="4A4F57"/>
                </a:solidFill>
                <a:latin typeface="Calibri"/>
              </a:rPr>
              <a:t>The earliest cutoff wins.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On every path</a:t>
            </a:r>
          </a:p>
          <a:p>
            <a:pPr lvl="1">
              <a:lnSpc>
                <a:spcPct val="120000"/>
              </a:lnSpc>
              <a:spcBef>
                <a:spcPts val="0"/>
              </a:spcBef>
              <a:spcAft>
                <a:spcPts val="0"/>
              </a:spcAft>
            </a:pPr>
            <a:r>
              <a:rPr sz="1350" b="0">
                <a:solidFill>
                  <a:srgbClr val="4A4F57"/>
                </a:solidFill>
                <a:latin typeface="Calibri"/>
              </a:rPr>
              <a:t>Member-level and set-level conditions are applied inside feature-set resolution, on live and pinned data alike, so no read escapes a mask.</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MODELS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The mathematics, stored as a typed tree rather than as a string</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55</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1 said a model is a kernel and a set of dials. MAYA stores the kernel as a typed expression tree, which is the difference between mathematics a system can check and mathematics it can only display.</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 ir.py, parse.py, latex.py, diff.py, evaluate.py, codegen.py, specdoc.py; tests/test_formula.py::test_diff_detects_compounding_change and ::test_hash_ignores_latex_but_not_math.</a:t>
            </a:r>
          </a:p>
        </p:txBody>
      </p:sp>
      <p:sp>
        <p:nvSpPr>
          <p:cNvPr id="13" name="Rectangle 12"/>
          <p:cNvSpPr/>
          <p:nvPr/>
        </p:nvSpPr>
        <p:spPr>
          <a:xfrm>
            <a:off x="777240"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stored</a:t>
            </a:r>
          </a:p>
        </p:txBody>
      </p:sp>
      <p:sp>
        <p:nvSpPr>
          <p:cNvPr id="16" name="TextBox 15"/>
          <p:cNvSpPr txBox="1"/>
          <p:nvPr/>
        </p:nvSpPr>
        <p:spPr>
          <a:xfrm>
            <a:off x="777240" y="2488311"/>
            <a:ext cx="5135727" cy="3190113"/>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Four node kinds</a:t>
            </a:r>
          </a:p>
          <a:p>
            <a:pPr lvl="1">
              <a:lnSpc>
                <a:spcPct val="120000"/>
              </a:lnSpc>
              <a:spcBef>
                <a:spcPts val="0"/>
              </a:spcBef>
              <a:spcAft>
                <a:spcPts val="0"/>
              </a:spcAft>
            </a:pPr>
            <a:r>
              <a:rPr sz="1100" b="0">
                <a:solidFill>
                  <a:srgbClr val="4A4F57"/>
                </a:solidFill>
                <a:latin typeface="Calibri"/>
              </a:rPr>
              <a:t>An operator with arguments, a reference to an input, a constant, and a parameter — over twenty-three typed operators.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Three roles for every input</a:t>
            </a:r>
          </a:p>
          <a:p>
            <a:pPr lvl="1">
              <a:lnSpc>
                <a:spcPct val="120000"/>
              </a:lnSpc>
              <a:spcBef>
                <a:spcPts val="0"/>
              </a:spcBef>
              <a:spcAft>
                <a:spcPts val="0"/>
              </a:spcAft>
            </a:pPr>
            <a:r>
              <a:rPr sz="1100" b="0">
                <a:solidFill>
                  <a:srgbClr val="4A4F57"/>
                </a:solidFill>
                <a:latin typeface="Calibri"/>
              </a:rPr>
              <a:t>Feature, parameter or constant. The parameters are exactly what training fills, so the input contract is derived rather than declared twice.</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Written three ways, stored once</a:t>
            </a:r>
          </a:p>
          <a:p>
            <a:pPr lvl="1">
              <a:lnSpc>
                <a:spcPct val="120000"/>
              </a:lnSpc>
              <a:spcBef>
                <a:spcPts val="0"/>
              </a:spcBef>
              <a:spcAft>
                <a:spcPts val="0"/>
              </a:spcAft>
            </a:pPr>
            <a:r>
              <a:rPr sz="1100" b="0">
                <a:solidFill>
                  <a:srgbClr val="4A4F57"/>
                </a:solidFill>
                <a:latin typeface="Calibri"/>
              </a:rPr>
              <a:t>Parsed from LaTeX or plain text; lifted from an uploaded Python function by static analysis; or lifted from a workbook's formula graph.</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Or an honest hole</a:t>
            </a:r>
          </a:p>
          <a:p>
            <a:pPr lvl="1">
              <a:lnSpc>
                <a:spcPct val="120000"/>
              </a:lnSpc>
              <a:spcBef>
                <a:spcPts val="0"/>
              </a:spcBef>
              <a:spcAft>
                <a:spcPts val="0"/>
              </a:spcAft>
            </a:pPr>
            <a:r>
              <a:rPr sz="1100" b="0">
                <a:solidFill>
                  <a:srgbClr val="4A4F57"/>
                </a:solidFill>
                <a:latin typeface="Calibri"/>
              </a:rPr>
              <a:t>Where there is no closed form, a declared black box must state what it estimates and its architecture, or it is refused.</a:t>
            </a:r>
          </a:p>
        </p:txBody>
      </p:sp>
      <p:sp>
        <p:nvSpPr>
          <p:cNvPr id="17" name="Rectangle 16"/>
          <p:cNvSpPr/>
          <p:nvPr/>
        </p:nvSpPr>
        <p:spPr>
          <a:xfrm>
            <a:off x="6278727"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MAYA does with it</a:t>
            </a:r>
          </a:p>
        </p:txBody>
      </p:sp>
      <p:sp>
        <p:nvSpPr>
          <p:cNvPr id="20" name="TextBox 19"/>
          <p:cNvSpPr txBox="1"/>
          <p:nvPr/>
        </p:nvSpPr>
        <p:spPr>
          <a:xfrm>
            <a:off x="6278727" y="2488311"/>
            <a:ext cx="5135727" cy="3190113"/>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Calibri"/>
              </a:rPr>
              <a:t>▪  </a:t>
            </a:r>
            <a:r>
              <a:rPr sz="1350" b="1">
                <a:solidFill>
                  <a:srgbClr val="1C1C1E"/>
                </a:solidFill>
                <a:latin typeface="Calibri"/>
              </a:rPr>
              <a:t>Type-checks the inputs</a:t>
            </a:r>
          </a:p>
          <a:p>
            <a:pPr lvl="1">
              <a:lnSpc>
                <a:spcPct val="120000"/>
              </a:lnSpc>
              <a:spcBef>
                <a:spcPts val="0"/>
              </a:spcBef>
              <a:spcAft>
                <a:spcPts val="0"/>
              </a:spcAft>
            </a:pPr>
            <a:r>
              <a:rPr sz="1200" b="0">
                <a:solidFill>
                  <a:srgbClr val="4A4F57"/>
                </a:solidFill>
                <a:latin typeface="Calibri"/>
              </a:rPr>
              <a:t>Against the bound feature set, listing every miss at once rather than the first.</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Renders the document</a:t>
            </a:r>
          </a:p>
          <a:p>
            <a:pPr lvl="1">
              <a:lnSpc>
                <a:spcPct val="120000"/>
              </a:lnSpc>
              <a:spcBef>
                <a:spcPts val="0"/>
              </a:spcBef>
              <a:spcAft>
                <a:spcPts val="0"/>
              </a:spcAft>
            </a:pPr>
            <a:r>
              <a:rPr sz="1200" b="0">
                <a:solidFill>
                  <a:srgbClr val="4A4F57"/>
                </a:solidFill>
                <a:latin typeface="Calibri"/>
              </a:rPr>
              <a:t>The specification's formula blocks are pulled from the tree, so the document cannot drift from the implementation.</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Diffs two versions mathematically</a:t>
            </a:r>
          </a:p>
          <a:p>
            <a:pPr lvl="1">
              <a:lnSpc>
                <a:spcPct val="120000"/>
              </a:lnSpc>
              <a:spcBef>
                <a:spcPts val="0"/>
              </a:spcBef>
              <a:spcAft>
                <a:spcPts val="0"/>
              </a:spcAft>
            </a:pPr>
            <a:r>
              <a:rPr sz="1200" b="0">
                <a:solidFill>
                  <a:srgbClr val="4A4F57"/>
                </a:solidFill>
                <a:latin typeface="Calibri"/>
              </a:rPr>
              <a:t>“The discount factor changed from continuous to simple compounding”, rather than a text diff of the LaTeX.</a:t>
            </a:r>
          </a:p>
          <a:p>
            <a:pPr>
              <a:lnSpc>
                <a:spcPct val="120000"/>
              </a:lnSpc>
              <a:spcBef>
                <a:spcPts val="500"/>
              </a:spcBef>
              <a:spcAft>
                <a:spcPts val="100"/>
              </a:spcAft>
            </a:pPr>
            <a:r>
              <a:rPr sz="1350" b="1">
                <a:solidFill>
                  <a:srgbClr val="A51C30"/>
                </a:solidFill>
                <a:latin typeface="Calibri"/>
              </a:rPr>
              <a:t>▪  </a:t>
            </a:r>
            <a:r>
              <a:rPr sz="1350" b="1">
                <a:solidFill>
                  <a:srgbClr val="1C1C1E"/>
                </a:solidFill>
                <a:latin typeface="Calibri"/>
              </a:rPr>
              <a:t>Emits reference code</a:t>
            </a:r>
          </a:p>
          <a:p>
            <a:pPr lvl="1">
              <a:lnSpc>
                <a:spcPct val="120000"/>
              </a:lnSpc>
              <a:spcBef>
                <a:spcPts val="0"/>
              </a:spcBef>
              <a:spcAft>
                <a:spcPts val="0"/>
              </a:spcAft>
            </a:pPr>
            <a:r>
              <a:rPr sz="1200" b="0">
                <a:solidFill>
                  <a:srgbClr val="4A4F57"/>
                </a:solidFill>
                <a:latin typeface="Calibri"/>
              </a:rPr>
              <a:t>Tested equal to MAYA's own evaluator; and the tree's hash ignores LaTeX spelling while noticing a change in the mathematics.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COMPUTE-KERNEL WIZARD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Write the mathematics; read back what MAYA made of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Web page /models/kernel; API POST /formula/kernel; SDK client.models.kernel. maya/formula/parse.py and codegen.py; tests/test_compute_kernel.py::test_the_kernel_is_one_function_and_nothing_else.</a:t>
            </a:r>
          </a:p>
        </p:txBody>
      </p:sp>
      <p:sp>
        <p:nvSpPr>
          <p:cNvPr id="12" name="Rectangle 11"/>
          <p:cNvSpPr/>
          <p:nvPr/>
        </p:nvSpPr>
        <p:spPr>
          <a:xfrm>
            <a:off x="777240"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Write</a:t>
            </a:r>
          </a:p>
        </p:txBody>
      </p:sp>
      <p:sp>
        <p:nvSpPr>
          <p:cNvPr id="15" name="TextBox 14"/>
          <p:cNvSpPr txBox="1"/>
          <p:nvPr/>
        </p:nvSpPr>
        <p:spPr>
          <a:xfrm>
            <a:off x="960120"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As LaTeX or plain text, and say which symbols are the dials</a:t>
            </a:r>
          </a:p>
        </p:txBody>
      </p:sp>
      <p:sp>
        <p:nvSpPr>
          <p:cNvPr id="16" name="Rectangle 15"/>
          <p:cNvSpPr/>
          <p:nvPr/>
        </p:nvSpPr>
        <p:spPr>
          <a:xfrm>
            <a:off x="3500551"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Translate</a:t>
            </a:r>
          </a:p>
        </p:txBody>
      </p:sp>
      <p:sp>
        <p:nvSpPr>
          <p:cNvPr id="19" name="TextBox 18"/>
          <p:cNvSpPr txBox="1"/>
          <p:nvPr/>
        </p:nvSpPr>
        <p:spPr>
          <a:xfrm>
            <a:off x="3683431"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parses it into the typed tree, or refuses and names the position</a:t>
            </a:r>
          </a:p>
        </p:txBody>
      </p:sp>
      <p:cxnSp>
        <p:nvCxnSpPr>
          <p:cNvPr id="20" name="Connector 19"/>
          <p:cNvCxnSpPr/>
          <p:nvPr/>
        </p:nvCxnSpPr>
        <p:spPr>
          <a:xfrm>
            <a:off x="3271951"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Read back</a:t>
            </a:r>
          </a:p>
        </p:txBody>
      </p:sp>
      <p:sp>
        <p:nvSpPr>
          <p:cNvPr id="24" name="TextBox 23"/>
          <p:cNvSpPr txBox="1"/>
          <p:nvPr/>
        </p:nvSpPr>
        <p:spPr>
          <a:xfrm>
            <a:off x="6406743"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tree, the LaTeX it renders as, each input with the role it was given, the intermediates in order</a:t>
            </a:r>
          </a:p>
        </p:txBody>
      </p:sp>
      <p:cxnSp>
        <p:nvCxnSpPr>
          <p:cNvPr id="25" name="Connector 24"/>
          <p:cNvCxnSpPr/>
          <p:nvPr/>
        </p:nvCxnSpPr>
        <p:spPr>
          <a:xfrm>
            <a:off x="5995263"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Take the function</a:t>
            </a:r>
          </a:p>
        </p:txBody>
      </p:sp>
      <p:sp>
        <p:nvSpPr>
          <p:cNvPr id="29" name="TextBox 28"/>
          <p:cNvSpPr txBox="1"/>
          <p:nvPr/>
        </p:nvSpPr>
        <p:spPr>
          <a:xfrm>
            <a:off x="9130055"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portable function, or the full reference module</a:t>
            </a:r>
          </a:p>
        </p:txBody>
      </p:sp>
      <p:cxnSp>
        <p:nvCxnSpPr>
          <p:cNvPr id="30" name="Connector 29"/>
          <p:cNvCxnSpPr/>
          <p:nvPr/>
        </p:nvCxnSpPr>
        <p:spPr>
          <a:xfrm>
            <a:off x="8718575"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426079"/>
            <a:ext cx="10637215" cy="2252344"/>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It reads nothing and writes nothing. Whoever wrote the mathematics sees what MAYA made of it before a model version exists to attach it to; the alternative is finding out at registration, which is later and more expensive.</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emitted kernel is one self-contained function taking the inputs and the dials and returning one value per row. Imports and helpers sit inside the function body, and it needs numpy alone unless the formula uses a normal distribution.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same parser and the same code emitter serve registration, so the wizard shows what a registered version would hold rather than a mock-up of it. Black–Scholes, a logistic probability of default and a Nelson–Siegel curve ship as worked examples on the page.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PARAMETER SETS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The dials, with their bounds, their reasons and their constraints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57</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parameter set is a governed object in its own right, for the reason Part 2 gave: a refit is a new set of numbers rather than a new model, and the two need different controls.</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§8.4; maya/formula/ir.py (constraint_errors) and maya/services/warrants.py (check_constraints); tests/test_formula.py::test_a_model_can_declare_a_constraint_bounds_cannot_express. Joint constraints exist because the Nelson–Siegel study in Part 5 needed them.</a:t>
            </a:r>
          </a:p>
        </p:txBody>
      </p:sp>
      <p:sp>
        <p:nvSpPr>
          <p:cNvPr id="13" name="Rectangle 12"/>
          <p:cNvSpPr/>
          <p:nvPr/>
        </p:nvSpPr>
        <p:spPr>
          <a:xfrm>
            <a:off x="777240"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a set carries</a:t>
            </a:r>
          </a:p>
        </p:txBody>
      </p:sp>
      <p:sp>
        <p:nvSpPr>
          <p:cNvPr id="16" name="TextBox 15"/>
          <p:cNvSpPr txBox="1"/>
          <p:nvPr/>
        </p:nvSpPr>
        <p:spPr>
          <a:xfrm>
            <a:off x="777240" y="2488311"/>
            <a:ext cx="5135727" cy="29889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Every declared dial, or it is refused</a:t>
            </a:r>
          </a:p>
          <a:p>
            <a:pPr lvl="1">
              <a:lnSpc>
                <a:spcPct val="120000"/>
              </a:lnSpc>
              <a:spcBef>
                <a:spcPts val="0"/>
              </a:spcBef>
              <a:spcAft>
                <a:spcPts val="0"/>
              </a:spcAft>
            </a:pPr>
            <a:r>
              <a:rPr sz="1350" b="0">
                <a:solidFill>
                  <a:srgbClr val="4A4F57"/>
                </a:solidFill>
                <a:latin typeface="Calibri"/>
              </a:rPr>
              <a:t>A set is a set. A partial upload is not a smaller decision, it is an incomplete one, and the refusal names the parameter that is missing.</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Per-parameter bounds</a:t>
            </a:r>
          </a:p>
          <a:p>
            <a:pPr lvl="1">
              <a:lnSpc>
                <a:spcPct val="120000"/>
              </a:lnSpc>
              <a:spcBef>
                <a:spcPts val="0"/>
              </a:spcBef>
              <a:spcAft>
                <a:spcPts val="0"/>
              </a:spcAft>
            </a:pPr>
            <a:r>
              <a:rPr sz="1350" b="0">
                <a:solidFill>
                  <a:srgbClr val="4A4F57"/>
                </a:solidFill>
                <a:latin typeface="Calibri"/>
              </a:rPr>
              <a:t>A probability in zero to one, a factor at or above zero. Checked on upload, not when a strange number reaches a report.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Its provenance</a:t>
            </a:r>
          </a:p>
          <a:p>
            <a:pPr lvl="1">
              <a:lnSpc>
                <a:spcPct val="120000"/>
              </a:lnSpc>
              <a:spcBef>
                <a:spcPts val="0"/>
              </a:spcBef>
              <a:spcAft>
                <a:spcPts val="0"/>
              </a:spcAft>
            </a:pPr>
            <a:r>
              <a:rPr sz="1350" b="0">
                <a:solidFill>
                  <a:srgbClr val="4A4F57"/>
                </a:solidFill>
                <a:latin typeface="Calibri"/>
              </a:rPr>
              <a:t>Which act produced it, on which rows, against which checksum, and the reasoning where there was no fit at all.</a:t>
            </a:r>
          </a:p>
        </p:txBody>
      </p:sp>
      <p:sp>
        <p:nvSpPr>
          <p:cNvPr id="17" name="Rectangle 16"/>
          <p:cNvSpPr/>
          <p:nvPr/>
        </p:nvSpPr>
        <p:spPr>
          <a:xfrm>
            <a:off x="6278727" y="197624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97624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04939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Joint constraints, and why bounds are not enough</a:t>
            </a:r>
          </a:p>
        </p:txBody>
      </p:sp>
      <p:sp>
        <p:nvSpPr>
          <p:cNvPr id="20" name="TextBox 19"/>
          <p:cNvSpPr txBox="1"/>
          <p:nvPr/>
        </p:nvSpPr>
        <p:spPr>
          <a:xfrm>
            <a:off x="6278727" y="2488311"/>
            <a:ext cx="5135727" cy="2988945"/>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A constraint over several dials at once</a:t>
            </a:r>
          </a:p>
          <a:p>
            <a:pPr lvl="1">
              <a:lnSpc>
                <a:spcPct val="120000"/>
              </a:lnSpc>
              <a:spcBef>
                <a:spcPts val="0"/>
              </a:spcBef>
              <a:spcAft>
                <a:spcPts val="0"/>
              </a:spcAft>
            </a:pPr>
            <a:r>
              <a:rPr sz="1250" b="0">
                <a:solidFill>
                  <a:srgbClr val="4A4F57"/>
                </a:solidFill>
                <a:latin typeface="Calibri"/>
              </a:rPr>
              <a:t>A volatility model's stationarity condition: two coefficients each perfectly admissible on their own, and inadmissible together. No table of per-parameter ranges can express that.</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Each carries the reason it exists</a:t>
            </a:r>
          </a:p>
          <a:p>
            <a:pPr lvl="1">
              <a:lnSpc>
                <a:spcPct val="120000"/>
              </a:lnSpc>
              <a:spcBef>
                <a:spcPts val="0"/>
              </a:spcBef>
              <a:spcAft>
                <a:spcPts val="0"/>
              </a:spcAft>
            </a:pPr>
            <a:r>
              <a:rPr sz="1250" b="0">
                <a:solidFill>
                  <a:srgbClr val="4A4F57"/>
                </a:solidFill>
                <a:latin typeface="Calibri"/>
              </a:rPr>
              <a:t>So a violation is not a cryptic refusal. It is reported as the terms, their values, the computed total, and the sentence saying why the constraint is there.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Checked where bounds are checked</a:t>
            </a:r>
          </a:p>
          <a:p>
            <a:pPr lvl="1">
              <a:lnSpc>
                <a:spcPct val="120000"/>
              </a:lnSpc>
              <a:spcBef>
                <a:spcPts val="0"/>
              </a:spcBef>
              <a:spcAft>
                <a:spcPts val="0"/>
              </a:spcAft>
            </a:pPr>
            <a:r>
              <a:rPr sz="1250" b="0">
                <a:solidFill>
                  <a:srgbClr val="4A4F57"/>
                </a:solidFill>
                <a:latin typeface="Calibri"/>
              </a:rPr>
              <a:t>On upload, in the same pass, so there is no window in which a set has passed one kind of check and not the other.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 WARRANTS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checksum cycle that turns paperwork into a control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tests/test_warrants.py::test_the_checksum_cycle_seal_score_execute_and_bundle and ::test_contract_mismatch_is_refused_listing_every_attribute.</a:t>
            </a:r>
          </a:p>
        </p:txBody>
      </p:sp>
      <p:sp>
        <p:nvSpPr>
          <p:cNvPr id="12" name="Rectangle 11"/>
          <p:cNvSpPr/>
          <p:nvPr/>
        </p:nvSpPr>
        <p:spPr>
          <a:xfrm>
            <a:off x="777240"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Draw</a:t>
            </a:r>
          </a:p>
        </p:txBody>
      </p:sp>
      <p:sp>
        <p:nvSpPr>
          <p:cNvPr id="15" name="TextBox 14"/>
          <p:cNvSpPr txBox="1"/>
          <p:nvPr/>
        </p:nvSpPr>
        <p:spPr>
          <a:xfrm>
            <a:off x="960120"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An approved model against a pinned feature set; the contract is checked and every miss listed</a:t>
            </a:r>
          </a:p>
        </p:txBody>
      </p:sp>
      <p:sp>
        <p:nvSpPr>
          <p:cNvPr id="16" name="Rectangle 15"/>
          <p:cNvSpPr/>
          <p:nvPr/>
        </p:nvSpPr>
        <p:spPr>
          <a:xfrm>
            <a:off x="2955889"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Certify</a:t>
            </a:r>
          </a:p>
        </p:txBody>
      </p:sp>
      <p:sp>
        <p:nvSpPr>
          <p:cNvPr id="19" name="TextBox 18"/>
          <p:cNvSpPr txBox="1"/>
          <p:nvPr/>
        </p:nvSpPr>
        <p:spPr>
          <a:xfrm>
            <a:off x="3138769"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signed leakage certificate is issued with the warrant, or refuses it</a:t>
            </a:r>
          </a:p>
        </p:txBody>
      </p:sp>
      <p:cxnSp>
        <p:nvCxnSpPr>
          <p:cNvPr id="20" name="Connector 19"/>
          <p:cNvCxnSpPr/>
          <p:nvPr/>
        </p:nvCxnSpPr>
        <p:spPr>
          <a:xfrm>
            <a:off x="2727289"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13453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Download</a:t>
            </a:r>
          </a:p>
        </p:txBody>
      </p:sp>
      <p:sp>
        <p:nvSpPr>
          <p:cNvPr id="24" name="TextBox 23"/>
          <p:cNvSpPr txBox="1"/>
          <p:nvPr/>
        </p:nvSpPr>
        <p:spPr>
          <a:xfrm>
            <a:off x="531741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Train and validation only; who, when and the content hash recorded</a:t>
            </a:r>
          </a:p>
        </p:txBody>
      </p:sp>
      <p:cxnSp>
        <p:nvCxnSpPr>
          <p:cNvPr id="25" name="Connector 24"/>
          <p:cNvCxnSpPr/>
          <p:nvPr/>
        </p:nvCxnSpPr>
        <p:spPr>
          <a:xfrm>
            <a:off x="490593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31318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Upload</a:t>
            </a:r>
          </a:p>
        </p:txBody>
      </p:sp>
      <p:sp>
        <p:nvSpPr>
          <p:cNvPr id="29" name="TextBox 28"/>
          <p:cNvSpPr txBox="1"/>
          <p:nvPr/>
        </p:nvSpPr>
        <p:spPr>
          <a:xfrm>
            <a:off x="749606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Dials checked against that hash, against their bounds, and against any joint constraint</a:t>
            </a:r>
          </a:p>
        </p:txBody>
      </p:sp>
      <p:cxnSp>
        <p:nvCxnSpPr>
          <p:cNvPr id="30" name="Connector 29"/>
          <p:cNvCxnSpPr/>
          <p:nvPr/>
        </p:nvCxnSpPr>
        <p:spPr>
          <a:xfrm>
            <a:off x="708458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91837"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34" name="TextBox 33"/>
          <p:cNvSpPr txBox="1"/>
          <p:nvPr/>
        </p:nvSpPr>
        <p:spPr>
          <a:xfrm>
            <a:off x="9674717"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Approval by policy; every referenced object becomes undeletable</a:t>
            </a:r>
          </a:p>
        </p:txBody>
      </p:sp>
      <p:cxnSp>
        <p:nvCxnSpPr>
          <p:cNvPr id="35" name="Connector 34"/>
          <p:cNvCxnSpPr/>
          <p:nvPr/>
        </p:nvCxnSpPr>
        <p:spPr>
          <a:xfrm>
            <a:off x="9263237"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3517519"/>
            <a:ext cx="10637215" cy="2160905"/>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test partition is escrowed: hashed and its row count fixed when the warrant is drawn, and not included in the download. MAYA scores uploaded dials against it, returns metrics only, and numbers every attempt on the warrant.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Dials fitted on data matching no checksum MAYA issued are flagged and cannot be approved without an explicit written justification. That is how a judgement, as distinct from a fit, gets recorded honestly rather than disguised as one.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A warrant defaults to a 70 / 15 / 15 split, seed 42, an escrowed holdout and a year's expiry — all overridable, and all recorded on the warrant rather than remembered.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LOOK-AHEAD, AND THE HOLDOUT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leakage certificate, and what the developer never receives</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tests/test_warrants.py::test_leakage_certificate_refuses_late_knowledge; ADR-007, which states that exception and no more.</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leakage certificate</a:t>
            </a:r>
          </a:p>
        </p:txBody>
      </p:sp>
      <p:sp>
        <p:nvSpPr>
          <p:cNvPr id="15" name="TextBox 14"/>
          <p:cNvSpPr txBox="1"/>
          <p:nvPr/>
        </p:nvSpPr>
        <p:spPr>
          <a:xfrm>
            <a:off x="777240"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The rule</a:t>
            </a:r>
          </a:p>
          <a:p>
            <a:pPr lvl="1">
              <a:lnSpc>
                <a:spcPct val="120000"/>
              </a:lnSpc>
              <a:spcBef>
                <a:spcPts val="0"/>
              </a:spcBef>
              <a:spcAft>
                <a:spcPts val="0"/>
              </a:spcAft>
            </a:pPr>
            <a:r>
              <a:rPr sz="1250" b="0">
                <a:solidFill>
                  <a:srgbClr val="4A4F57"/>
                </a:solidFill>
                <a:latin typeface="Calibri"/>
              </a:rPr>
              <a:t>Every row's ingest time is at or before its event date plus the declared lag, one day by default. That is Part 2's operator, checked over the frame that was actually assembled.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Three verdicts</a:t>
            </a:r>
          </a:p>
          <a:p>
            <a:pPr lvl="1">
              <a:lnSpc>
                <a:spcPct val="120000"/>
              </a:lnSpc>
              <a:spcBef>
                <a:spcPts val="0"/>
              </a:spcBef>
              <a:spcAft>
                <a:spcPts val="0"/>
              </a:spcAft>
            </a:pPr>
            <a:r>
              <a:rPr sz="1250" b="0">
                <a:solidFill>
                  <a:srgbClr val="4A4F57"/>
                </a:solidFill>
                <a:latin typeface="Calibri"/>
              </a:rPr>
              <a:t>Certified; certified with exceptions, where every exception carries a written justification; or refused.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Signed, and specific</a:t>
            </a:r>
          </a:p>
          <a:p>
            <a:pPr lvl="1">
              <a:lnSpc>
                <a:spcPct val="120000"/>
              </a:lnSpc>
              <a:spcBef>
                <a:spcPts val="0"/>
              </a:spcBef>
              <a:spcAft>
                <a:spcPts val="0"/>
              </a:spcAft>
            </a:pPr>
            <a:r>
              <a:rPr sz="1250" b="0">
                <a:solidFill>
                  <a:srgbClr val="4A4F57"/>
                </a:solidFill>
                <a:latin typeface="Calibri"/>
              </a:rPr>
              <a:t>Rows examined, the violations with up to twenty example rows, and each exception's reason. Without a signing backend it says it is unsigned, and why.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Honest about its own scope</a:t>
            </a:r>
          </a:p>
          <a:p>
            <a:pPr lvl="1">
              <a:lnSpc>
                <a:spcPct val="120000"/>
              </a:lnSpc>
              <a:spcBef>
                <a:spcPts val="0"/>
              </a:spcBef>
              <a:spcAft>
                <a:spcPts val="0"/>
              </a:spcAft>
            </a:pPr>
            <a:r>
              <a:rPr sz="1250" b="0">
                <a:solidFill>
                  <a:srgbClr val="4A4F57"/>
                </a:solidFill>
                <a:latin typeface="Calibri"/>
              </a:rPr>
              <a:t>It examines the rows the frame carries an ingest time for, and states how many it read rather than implying it read them all.</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escrowed holdout</a:t>
            </a:r>
          </a:p>
        </p:txBody>
      </p:sp>
      <p:sp>
        <p:nvSpPr>
          <p:cNvPr id="19" name="TextBox 18"/>
          <p:cNvSpPr txBox="1"/>
          <p:nvPr/>
        </p:nvSpPr>
        <p:spPr>
          <a:xfrm>
            <a:off x="6278727" y="1850834"/>
            <a:ext cx="5135727" cy="382758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Fixed when the warrant is drawn</a:t>
            </a:r>
          </a:p>
          <a:p>
            <a:pPr lvl="1">
              <a:lnSpc>
                <a:spcPct val="120000"/>
              </a:lnSpc>
              <a:spcBef>
                <a:spcPts val="0"/>
              </a:spcBef>
              <a:spcAft>
                <a:spcPts val="0"/>
              </a:spcAft>
            </a:pPr>
            <a:r>
              <a:rPr sz="1250" b="0">
                <a:solidFill>
                  <a:srgbClr val="4A4F57"/>
                </a:solidFill>
                <a:latin typeface="Calibri"/>
              </a:rPr>
              <a:t>The test partition is hashed and its row count recorded at that moment, so the set cannot move afterwards.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Scored by MAYA, not by the developer</a:t>
            </a:r>
          </a:p>
          <a:p>
            <a:pPr lvl="1">
              <a:lnSpc>
                <a:spcPct val="120000"/>
              </a:lnSpc>
              <a:spcBef>
                <a:spcPts val="0"/>
              </a:spcBef>
              <a:spcAft>
                <a:spcPts val="0"/>
              </a:spcAft>
            </a:pPr>
            <a:r>
              <a:rPr sz="1250" b="0">
                <a:solidFill>
                  <a:srgbClr val="4A4F57"/>
                </a:solidFill>
                <a:latin typeface="Calibri"/>
              </a:rPr>
              <a:t>MAYA re-derives the split, refuses if the escrowed set has moved, evaluates the mathematics in process, and returns metrics only.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Every attempt numbered</a:t>
            </a:r>
          </a:p>
          <a:p>
            <a:pPr lvl="1">
              <a:lnSpc>
                <a:spcPct val="120000"/>
              </a:lnSpc>
              <a:spcBef>
                <a:spcPts val="0"/>
              </a:spcBef>
              <a:spcAft>
                <a:spcPts val="0"/>
              </a:spcAft>
            </a:pPr>
            <a:r>
              <a:rPr sz="1250" b="0">
                <a:solidFill>
                  <a:srgbClr val="4A4F57"/>
                </a:solidFill>
                <a:latin typeface="Calibri"/>
              </a:rPr>
              <a:t>Because “scored forty times, best reported” is a fact a reviewer should be able to see, and it is not visible anywhere else.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The one runtime exception MAYA concedes</a:t>
            </a:r>
          </a:p>
          <a:p>
            <a:pPr lvl="1">
              <a:lnSpc>
                <a:spcPct val="120000"/>
              </a:lnSpc>
              <a:spcBef>
                <a:spcPts val="0"/>
              </a:spcBef>
              <a:spcAft>
                <a:spcPts val="0"/>
              </a:spcAft>
            </a:pPr>
            <a:r>
              <a:rPr sz="1250" b="0">
                <a:solidFill>
                  <a:srgbClr val="4A4F57"/>
                </a:solidFill>
                <a:latin typeface="Calibri"/>
              </a:rPr>
              <a:t>It scores the mathematics and never the uploaded artifact — and for a declared black box there is no mathematics to score, so it refuses by name.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EXECUTION WARRANTS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live licence: it expires, it is revoked, and it suspends itself</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maya/services/execution.py; tests/test_security_regressions.py::test_each_covenant and ::test_execution_limits. A revoked, expired or suspended warrant fails every consuming call closed, naming the covenant that broke or the person to contact.</a:t>
            </a:r>
          </a:p>
        </p:txBody>
      </p:sp>
      <p:graphicFrame>
        <p:nvGraphicFramePr>
          <p:cNvPr id="12" name="Table 11"/>
          <p:cNvGraphicFramePr>
            <a:graphicFrameLocks noGrp="1"/>
          </p:cNvGraphicFramePr>
          <p:nvPr/>
        </p:nvGraphicFramePr>
        <p:xfrm>
          <a:off x="777240" y="1322705"/>
          <a:ext cx="10637214" cy="4235513"/>
        </p:xfrm>
        <a:graphic>
          <a:graphicData uri="http://schemas.openxmlformats.org/drawingml/2006/table">
            <a:tbl>
              <a:tblPr firstRow="1">
                <a:tableStyleId>{5C22544A-7EE6-4342-B048-85BDC9FD1C3A}</a:tableStyleId>
              </a:tblPr>
              <a:tblGrid>
                <a:gridCol w="1834002"/>
                <a:gridCol w="8803212"/>
              </a:tblGrid>
              <a:tr h="318579">
                <a:tc>
                  <a:txBody>
                    <a:bodyPr wrap="square"/>
                    <a:lstStyle/>
                    <a:p>
                      <a:r>
                        <a:rPr sz="1300" b="1">
                          <a:solidFill>
                            <a:srgbClr val="FFFFFF"/>
                          </a:solidFill>
                          <a:latin typeface="Calibri"/>
                        </a:rPr>
                        <a:t>Control</a:t>
                      </a:r>
                    </a:p>
                  </a:txBody>
                  <a:tcPr marL="82296" marR="64008" marT="32004" marB="32004" anchor="ctr">
                    <a:solidFill>
                      <a:srgbClr val="A51C30"/>
                    </a:solidFill>
                  </a:tcPr>
                </a:tc>
                <a:tc>
                  <a:txBody>
                    <a:bodyPr wrap="square"/>
                    <a:lstStyle/>
                    <a:p>
                      <a:r>
                        <a:rPr sz="1300" b="1">
                          <a:solidFill>
                            <a:srgbClr val="FFFFFF"/>
                          </a:solidFill>
                          <a:latin typeface="Calibri"/>
                        </a:rPr>
                        <a:t>Behaviour</a:t>
                      </a:r>
                    </a:p>
                  </a:txBody>
                  <a:tcPr marL="82296" marR="64008" marT="32004" marB="32004" anchor="ctr">
                    <a:solidFill>
                      <a:srgbClr val="A51C30"/>
                    </a:solidFill>
                  </a:tcPr>
                </a:tc>
              </a:tr>
              <a:tr h="559562">
                <a:tc>
                  <a:txBody>
                    <a:bodyPr wrap="square"/>
                    <a:lstStyle/>
                    <a:p>
                      <a:r>
                        <a:rPr sz="1400" b="1">
                          <a:solidFill>
                            <a:srgbClr val="761422"/>
                          </a:solidFill>
                          <a:latin typeface="Calibri"/>
                        </a:rPr>
                        <a:t>Drawn from</a:t>
                      </a:r>
                    </a:p>
                  </a:txBody>
                  <a:tcPr marL="82296" marR="64008" marT="32004" marB="32004" anchor="ctr">
                    <a:solidFill>
                      <a:srgbClr val="FFFFFF"/>
                    </a:solidFill>
                  </a:tcPr>
                </a:tc>
                <a:tc>
                  <a:txBody>
                    <a:bodyPr wrap="square"/>
                    <a:lstStyle/>
                    <a:p>
                      <a:r>
                        <a:rPr sz="1400" b="0">
                          <a:solidFill>
                            <a:srgbClr val="1C1C1E"/>
                          </a:solidFill>
                          <a:latin typeface="Calibri"/>
                        </a:rPr>
                        <a:t>A training warrant and an approved parameter set, or straight from a model that takes no dials at all</a:t>
                      </a:r>
                    </a:p>
                  </a:txBody>
                  <a:tcPr marL="82296" marR="64008" marT="32004" marB="32004" anchor="ctr">
                    <a:solidFill>
                      <a:srgbClr val="FFFFFF"/>
                    </a:solidFill>
                  </a:tcPr>
                </a:tc>
              </a:tr>
              <a:tr h="334645">
                <a:tc>
                  <a:txBody>
                    <a:bodyPr wrap="square"/>
                    <a:lstStyle/>
                    <a:p>
                      <a:r>
                        <a:rPr sz="1400" b="1">
                          <a:solidFill>
                            <a:srgbClr val="761422"/>
                          </a:solidFill>
                          <a:latin typeface="Calibri"/>
                        </a:rPr>
                        <a:t>Environments</a:t>
                      </a:r>
                    </a:p>
                  </a:txBody>
                  <a:tcPr marL="82296" marR="64008" marT="32004" marB="32004" anchor="ctr">
                    <a:solidFill>
                      <a:srgbClr val="F6F3EF"/>
                    </a:solidFill>
                  </a:tcPr>
                </a:tc>
                <a:tc>
                  <a:txBody>
                    <a:bodyPr wrap="square"/>
                    <a:lstStyle/>
                    <a:p>
                      <a:r>
                        <a:rPr sz="1400" b="0">
                          <a:solidFill>
                            <a:srgbClr val="1C1C1E"/>
                          </a:solidFill>
                          <a:latin typeface="Calibri"/>
                        </a:rPr>
                        <a:t>dev, uat, prod — each permitted explicitly, and an approval may be required only for prod</a:t>
                      </a:r>
                    </a:p>
                  </a:txBody>
                  <a:tcPr marL="82296" marR="64008" marT="32004" marB="32004" anchor="ctr">
                    <a:solidFill>
                      <a:srgbClr val="F6F3EF"/>
                    </a:solidFill>
                  </a:tcPr>
                </a:tc>
              </a:tr>
              <a:tr h="784479">
                <a:tc>
                  <a:txBody>
                    <a:bodyPr wrap="square"/>
                    <a:lstStyle/>
                    <a:p>
                      <a:r>
                        <a:rPr sz="1400" b="1">
                          <a:solidFill>
                            <a:srgbClr val="761422"/>
                          </a:solidFill>
                          <a:latin typeface="Calibri"/>
                        </a:rPr>
                        <a:t>Covenants</a:t>
                      </a:r>
                    </a:p>
                  </a:txBody>
                  <a:tcPr marL="82296" marR="64008" marT="32004" marB="32004" anchor="ctr">
                    <a:solidFill>
                      <a:srgbClr val="FFFFFF"/>
                    </a:solidFill>
                  </a:tcPr>
                </a:tc>
                <a:tc>
                  <a:txBody>
                    <a:bodyPr wrap="square"/>
                    <a:lstStyle/>
                    <a:p>
                      <a:r>
                        <a:rPr sz="1400" b="0">
                          <a:solidFill>
                            <a:srgbClr val="1C1C1E"/>
                          </a:solidFill>
                          <a:latin typeface="Calibri"/>
                        </a:rPr>
                        <a:t>Input null rate, input range, input population stability, output range, maximum rows per day, staleness in days. A breach suspends the warrant at once, writes a custody event and notifies the owner</a:t>
                      </a:r>
                    </a:p>
                  </a:txBody>
                  <a:tcPr marL="82296" marR="64008" marT="32004" marB="32004" anchor="ctr">
                    <a:solidFill>
                      <a:srgbClr val="FFFFFF"/>
                    </a:solidFill>
                  </a:tcPr>
                </a:tc>
              </a:tr>
              <a:tr h="559562">
                <a:tc>
                  <a:txBody>
                    <a:bodyPr wrap="square"/>
                    <a:lstStyle/>
                    <a:p>
                      <a:r>
                        <a:rPr sz="1400" b="1">
                          <a:solidFill>
                            <a:srgbClr val="761422"/>
                          </a:solidFill>
                          <a:latin typeface="Calibri"/>
                        </a:rPr>
                        <a:t>Population drift</a:t>
                      </a:r>
                    </a:p>
                  </a:txBody>
                  <a:tcPr marL="82296" marR="64008" marT="32004" marB="32004" anchor="ctr">
                    <a:solidFill>
                      <a:srgbClr val="F6F3EF"/>
                    </a:solidFill>
                  </a:tcPr>
                </a:tc>
                <a:tc>
                  <a:txBody>
                    <a:bodyPr wrap="square"/>
                    <a:lstStyle/>
                    <a:p>
                      <a:r>
                        <a:rPr sz="1400" b="0">
                          <a:solidFill>
                            <a:srgbClr val="1C1C1E"/>
                          </a:solidFill>
                          <a:latin typeface="Calibri"/>
                        </a:rPr>
                        <a:t>A population stability index against a baseline fixed when the warrant was drawn, so the baseline cannot move later; the default ceiling is 0.25 over ten bins</a:t>
                      </a:r>
                    </a:p>
                  </a:txBody>
                  <a:tcPr marL="82296" marR="64008" marT="32004" marB="32004" anchor="ctr">
                    <a:solidFill>
                      <a:srgbClr val="F6F3EF"/>
                    </a:solidFill>
                  </a:tcPr>
                </a:tc>
              </a:tr>
              <a:tr h="559562">
                <a:tc>
                  <a:txBody>
                    <a:bodyPr wrap="square"/>
                    <a:lstStyle/>
                    <a:p>
                      <a:r>
                        <a:rPr sz="1400" b="1">
                          <a:solidFill>
                            <a:srgbClr val="761422"/>
                          </a:solidFill>
                          <a:latin typeface="Calibri"/>
                        </a:rPr>
                        <a:t>Limits</a:t>
                      </a:r>
                    </a:p>
                  </a:txBody>
                  <a:tcPr marL="82296" marR="64008" marT="32004" marB="32004" anchor="ctr">
                    <a:solidFill>
                      <a:srgbClr val="FFFFFF"/>
                    </a:solidFill>
                  </a:tcPr>
                </a:tc>
                <a:tc>
                  <a:txBody>
                    <a:bodyPr wrap="square"/>
                    <a:lstStyle/>
                    <a:p>
                      <a:r>
                        <a:rPr sz="1400" b="0">
                          <a:solidFill>
                            <a:srgbClr val="1C1C1E"/>
                          </a:solidFill>
                          <a:latin typeface="Calibri"/>
                        </a:rPr>
                        <a:t>Calls per day, rows per call, rows per day — these throttle and record overage; they do not suspend</a:t>
                      </a:r>
                    </a:p>
                  </a:txBody>
                  <a:tcPr marL="82296" marR="64008" marT="32004" marB="32004" anchor="ctr">
                    <a:solidFill>
                      <a:srgbClr val="FFFFFF"/>
                    </a:solidFill>
                  </a:tcPr>
                </a:tc>
              </a:tr>
              <a:tr h="784479">
                <a:tc>
                  <a:txBody>
                    <a:bodyPr wrap="square"/>
                    <a:lstStyle/>
                    <a:p>
                      <a:r>
                        <a:rPr sz="1400" b="1">
                          <a:solidFill>
                            <a:srgbClr val="761422"/>
                          </a:solidFill>
                          <a:latin typeface="Calibri"/>
                        </a:rPr>
                        <a:t>Reinstatement</a:t>
                      </a:r>
                    </a:p>
                  </a:txBody>
                  <a:tcPr marL="82296" marR="64008" marT="32004" marB="32004" anchor="ctr">
                    <a:solidFill>
                      <a:srgbClr val="F6F3EF"/>
                    </a:solidFill>
                  </a:tcPr>
                </a:tc>
                <a:tc>
                  <a:txBody>
                    <a:bodyPr wrap="square"/>
                    <a:lstStyle/>
                    <a:p>
                      <a:r>
                        <a:rPr sz="1400" b="0">
                          <a:solidFill>
                            <a:srgbClr val="1C1C1E"/>
                          </a:solidFill>
                          <a:latin typeface="Calibri"/>
                        </a:rPr>
                        <a:t>By the model owner or an administrator, with a written reason. A covenant naming no output on a multi-output model is refused at creation: a covenant with nothing to compare against is worse than none</a:t>
                      </a:r>
                    </a:p>
                  </a:txBody>
                  <a:tcPr marL="82296" marR="64008" marT="32004" marB="32004" anchor="ctr">
                    <a:solidFill>
                      <a:srgbClr val="F6F3EF"/>
                    </a:solidFill>
                  </a:tcPr>
                </a:tc>
              </a:tr>
              <a:tr h="334645">
                <a:tc>
                  <a:txBody>
                    <a:bodyPr wrap="square"/>
                    <a:lstStyle/>
                    <a:p>
                      <a:r>
                        <a:rPr sz="1400" b="1">
                          <a:solidFill>
                            <a:srgbClr val="761422"/>
                          </a:solidFill>
                          <a:latin typeface="Calibri"/>
                        </a:rPr>
                        <a:t>Offline use</a:t>
                      </a:r>
                    </a:p>
                  </a:txBody>
                  <a:tcPr marL="82296" marR="64008" marT="32004" marB="32004" anchor="ctr">
                    <a:solidFill>
                      <a:srgbClr val="FFFFFF"/>
                    </a:solidFill>
                  </a:tcPr>
                </a:tc>
                <a:tc>
                  <a:txBody>
                    <a:bodyPr wrap="square"/>
                    <a:lstStyle/>
                    <a:p>
                      <a:r>
                        <a:rPr sz="1400" b="0">
                          <a:solidFill>
                            <a:srgbClr val="1C1C1E"/>
                          </a:solidFill>
                          <a:latin typeface="Calibri"/>
                        </a:rPr>
                        <a:t>Permitted, and both the copy and the warrant are labelled unattested for good</a:t>
                      </a:r>
                    </a:p>
                  </a:txBody>
                  <a:tcPr marL="82296" marR="64008" marT="32004" marB="32004" anchor="ctr">
                    <a:solidFill>
                      <a:srgbClr val="FFFF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bundle that proves itself on a machine with no MAYA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maya/services/bundle.py, maya/sdk/offline.py; tests/test_sdk_modes.py::test_a_tampered_bundle_is_refused_before_anything_is_read and tests/test_sc2_aged_warrant.py, which reproduces a warrant aged two years in the fixture.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in the archive</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subject and its data</a:t>
            </a:r>
          </a:p>
          <a:p>
            <a:pPr lvl="1">
              <a:lnSpc>
                <a:spcPct val="120000"/>
              </a:lnSpc>
              <a:spcBef>
                <a:spcPts val="0"/>
              </a:spcBef>
              <a:spcAft>
                <a:spcPts val="0"/>
              </a:spcAft>
            </a:pPr>
            <a:r>
              <a:rPr sz="1300" b="0">
                <a:solidFill>
                  <a:srgbClr val="4A4F57"/>
                </a:solidFill>
                <a:latin typeface="Calibri"/>
              </a:rPr>
              <a:t>Warrant, model version and mathematics, the specification source, the code artifact and its report, the dials, the leakage certificate, the training frame, the feature-set pin's manifest and its member pins, the Python version and the resolved backends.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definition of the hash</a:t>
            </a:r>
          </a:p>
          <a:p>
            <a:pPr lvl="1">
              <a:lnSpc>
                <a:spcPct val="120000"/>
              </a:lnSpc>
              <a:spcBef>
                <a:spcPts val="0"/>
              </a:spcBef>
              <a:spcAft>
                <a:spcPts val="0"/>
              </a:spcAft>
            </a:pPr>
            <a:r>
              <a:rPr sz="1300" b="0">
                <a:solidFill>
                  <a:srgbClr val="4A4F57"/>
                </a:solidFill>
                <a:latin typeface="Calibri"/>
              </a:rPr>
              <a:t>MAYA's own canonical encoder and fragment chunker ship inside the bundle, because they are the definition of the hash rather than a description of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signed manifest</a:t>
            </a:r>
          </a:p>
          <a:p>
            <a:pPr lvl="1">
              <a:lnSpc>
                <a:spcPct val="120000"/>
              </a:lnSpc>
              <a:spcBef>
                <a:spcPts val="0"/>
              </a:spcBef>
              <a:spcAft>
                <a:spcPts val="0"/>
              </a:spcAft>
            </a:pPr>
            <a:r>
              <a:rPr sz="1300" b="0">
                <a:solidFill>
                  <a:srgbClr val="4A4F57"/>
                </a:solidFill>
                <a:latin typeface="Calibri"/>
              </a:rPr>
              <a:t>Every file's digest, the data's content hash, the expected output hash, and whether re-execution is possible — with the reason when it is not.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verifier does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Needs Python, pyarrow and numpy</a:t>
            </a:r>
          </a:p>
          <a:p>
            <a:pPr lvl="1">
              <a:lnSpc>
                <a:spcPct val="120000"/>
              </a:lnSpc>
              <a:spcBef>
                <a:spcPts val="0"/>
              </a:spcBef>
              <a:spcAft>
                <a:spcPts val="0"/>
              </a:spcAft>
            </a:pPr>
            <a:r>
              <a:rPr sz="1350" b="0">
                <a:solidFill>
                  <a:srgbClr val="4A4F57"/>
                </a:solidFill>
                <a:latin typeface="Calibri"/>
              </a:rPr>
              <a:t>Nothing from MAYA, and no network.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Bounds the archive first</a:t>
            </a:r>
          </a:p>
          <a:p>
            <a:pPr lvl="1">
              <a:lnSpc>
                <a:spcPct val="120000"/>
              </a:lnSpc>
              <a:spcBef>
                <a:spcPts val="0"/>
              </a:spcBef>
              <a:spcAft>
                <a:spcPts val="0"/>
              </a:spcAft>
            </a:pPr>
            <a:r>
              <a:rPr sz="1350" b="0">
                <a:solidFill>
                  <a:srgbClr val="4A4F57"/>
                </a:solidFill>
                <a:latin typeface="Calibri"/>
              </a:rPr>
              <a:t>Entry count, expanded size, compression ratio and path traversal, before a byte is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Recomputes, then re-executes</a:t>
            </a:r>
          </a:p>
          <a:p>
            <a:pPr lvl="1">
              <a:lnSpc>
                <a:spcPct val="120000"/>
              </a:lnSpc>
              <a:spcBef>
                <a:spcPts val="0"/>
              </a:spcBef>
              <a:spcAft>
                <a:spcPts val="0"/>
              </a:spcAft>
            </a:pPr>
            <a:r>
              <a:rPr sz="1350" b="0">
                <a:solidFill>
                  <a:srgbClr val="4A4F57"/>
                </a:solidFill>
                <a:latin typeface="Calibri"/>
              </a:rPr>
              <a:t>Every file digest, the signature, the data's content hash using the shipped encoder, and the model's outputs against the expected hash.</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Refuses on one changed byte</a:t>
            </a:r>
          </a:p>
          <a:p>
            <a:pPr lvl="1">
              <a:lnSpc>
                <a:spcPct val="120000"/>
              </a:lnSpc>
              <a:spcBef>
                <a:spcPts val="0"/>
              </a:spcBef>
              <a:spcAft>
                <a:spcPts val="0"/>
              </a:spcAft>
            </a:pPr>
            <a:r>
              <a:rPr sz="1350" b="0">
                <a:solidFill>
                  <a:srgbClr val="4A4F57"/>
                </a:solidFill>
                <a:latin typeface="Calibri"/>
              </a:rPr>
              <a:t>A tampered bundle is refused before anything is served, not partly served.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MODELS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graph of models, governed as one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62</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Part 2 made composition a type check. A composite is what MAYA stores when that check passes: one model, one contract, one parameter set, one warrant, however many members it holds.</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maya/formula/composite.py; tests/test_formula.py::test_composite_union_maturity_seeds_and_eval and tests/test_sdk_modes.py::test_a_composite_model_is_re_executed_by_the_bundle_verifier. The clause about the combiner's own inputs was added because the IFRS 9 study in Part 5 found it missing.</a:t>
            </a:r>
          </a:p>
        </p:txBody>
      </p:sp>
      <p:graphicFrame>
        <p:nvGraphicFramePr>
          <p:cNvPr id="13" name="Table 12"/>
          <p:cNvGraphicFramePr>
            <a:graphicFrameLocks noGrp="1"/>
          </p:cNvGraphicFramePr>
          <p:nvPr/>
        </p:nvGraphicFramePr>
        <p:xfrm>
          <a:off x="777240" y="2040509"/>
          <a:ext cx="10637214" cy="3362671"/>
        </p:xfrm>
        <a:graphic>
          <a:graphicData uri="http://schemas.openxmlformats.org/drawingml/2006/table">
            <a:tbl>
              <a:tblPr firstRow="1">
                <a:tableStyleId>{5C22544A-7EE6-4342-B048-85BDC9FD1C3A}</a:tableStyleId>
              </a:tblPr>
              <a:tblGrid>
                <a:gridCol w="1925702"/>
                <a:gridCol w="8711512"/>
              </a:tblGrid>
              <a:tr h="318579">
                <a:tc>
                  <a:txBody>
                    <a:bodyPr wrap="square"/>
                    <a:lstStyle/>
                    <a:p>
                      <a:r>
                        <a:rPr sz="1300" b="1">
                          <a:solidFill>
                            <a:srgbClr val="FFFFFF"/>
                          </a:solidFill>
                          <a:latin typeface="Calibri"/>
                        </a:rPr>
                        <a:t>Rule</a:t>
                      </a:r>
                    </a:p>
                  </a:txBody>
                  <a:tcPr marL="82296" marR="64008" marT="32004" marB="32004" anchor="ctr">
                    <a:solidFill>
                      <a:srgbClr val="A51C30"/>
                    </a:solidFill>
                  </a:tcPr>
                </a:tc>
                <a:tc>
                  <a:txBody>
                    <a:bodyPr wrap="square"/>
                    <a:lstStyle/>
                    <a:p>
                      <a:r>
                        <a:rPr sz="1300" b="1">
                          <a:solidFill>
                            <a:srgbClr val="FFFFFF"/>
                          </a:solidFill>
                          <a:latin typeface="Calibri"/>
                        </a:rPr>
                        <a:t>How it behaves</a:t>
                      </a:r>
                    </a:p>
                  </a:txBody>
                  <a:tcPr marL="82296" marR="64008" marT="32004" marB="32004" anchor="ctr">
                    <a:solidFill>
                      <a:srgbClr val="A51C30"/>
                    </a:solidFill>
                  </a:tcPr>
                </a:tc>
              </a:tr>
              <a:tr h="543496">
                <a:tc>
                  <a:txBody>
                    <a:bodyPr wrap="square"/>
                    <a:lstStyle/>
                    <a:p>
                      <a:r>
                        <a:rPr sz="1350" b="1">
                          <a:solidFill>
                            <a:srgbClr val="761422"/>
                          </a:solidFill>
                          <a:latin typeface="Calibri"/>
                        </a:rPr>
                        <a:t>Five kinds</a:t>
                      </a:r>
                    </a:p>
                  </a:txBody>
                  <a:tcPr marL="82296" marR="64008" marT="32004" marB="32004" anchor="ctr">
                    <a:solidFill>
                      <a:srgbClr val="FFFFFF"/>
                    </a:solidFill>
                  </a:tcPr>
                </a:tc>
                <a:tc>
                  <a:txBody>
                    <a:bodyPr wrap="square"/>
                    <a:lstStyle/>
                    <a:p>
                      <a:r>
                        <a:rPr sz="1350" b="0">
                          <a:solidFill>
                            <a:srgbClr val="1C1C1E"/>
                          </a:solidFill>
                          <a:latin typeface="Calibri"/>
                        </a:rPr>
                        <a:t>ensemble, pipeline, router, residual, hierarchical; trained sequentially, in parallel or jointly</a:t>
                      </a:r>
                    </a:p>
                  </a:txBody>
                  <a:tcPr marL="82296" marR="64008" marT="32004" marB="32004" anchor="ctr">
                    <a:solidFill>
                      <a:srgbClr val="FFFFFF"/>
                    </a:solidFill>
                  </a:tcPr>
                </a:tc>
              </a:tr>
              <a:tr h="543496">
                <a:tc>
                  <a:txBody>
                    <a:bodyPr wrap="square"/>
                    <a:lstStyle/>
                    <a:p>
                      <a:r>
                        <a:rPr sz="1350" b="1">
                          <a:solidFill>
                            <a:srgbClr val="761422"/>
                          </a:solidFill>
                          <a:latin typeface="Calibri"/>
                        </a:rPr>
                        <a:t>One contract</a:t>
                      </a:r>
                    </a:p>
                  </a:txBody>
                  <a:tcPr marL="82296" marR="64008" marT="32004" marB="32004" anchor="ctr">
                    <a:solidFill>
                      <a:srgbClr val="F6F3EF"/>
                    </a:solidFill>
                  </a:tcPr>
                </a:tc>
                <a:tc>
                  <a:txBody>
                    <a:bodyPr wrap="square"/>
                    <a:lstStyle/>
                    <a:p>
                      <a:r>
                        <a:rPr sz="1350" b="0">
                          <a:solidFill>
                            <a:srgbClr val="1C1C1E"/>
                          </a:solidFill>
                          <a:latin typeface="Calibri"/>
                        </a:rPr>
                        <a:t>The union of the members' contracts and the combiner's own inputs; two members wanting one name at different types is refused, naming the attribute</a:t>
                      </a:r>
                    </a:p>
                  </a:txBody>
                  <a:tcPr marL="82296" marR="64008" marT="32004" marB="32004" anchor="ctr">
                    <a:solidFill>
                      <a:srgbClr val="F6F3EF"/>
                    </a:solidFill>
                  </a:tcPr>
                </a:tc>
              </a:tr>
              <a:tr h="543496">
                <a:tc>
                  <a:txBody>
                    <a:bodyPr wrap="square"/>
                    <a:lstStyle/>
                    <a:p>
                      <a:r>
                        <a:rPr sz="1350" b="1">
                          <a:solidFill>
                            <a:srgbClr val="761422"/>
                          </a:solidFill>
                          <a:latin typeface="Calibri"/>
                        </a:rPr>
                        <a:t>One parameter set</a:t>
                      </a:r>
                    </a:p>
                  </a:txBody>
                  <a:tcPr marL="82296" marR="64008" marT="32004" marB="32004" anchor="ctr">
                    <a:solidFill>
                      <a:srgbClr val="FFFFFF"/>
                    </a:solidFill>
                  </a:tcPr>
                </a:tc>
                <a:tc>
                  <a:txBody>
                    <a:bodyPr wrap="square"/>
                    <a:lstStyle/>
                    <a:p>
                      <a:r>
                        <a:rPr sz="1350" b="0">
                          <a:solidFill>
                            <a:srgbClr val="1C1C1E"/>
                          </a:solidFill>
                          <a:latin typeface="Calibri"/>
                        </a:rPr>
                        <a:t>Namespaced by member alias, with the combiner's own dials bare; a member may borrow an approved set, frozen</a:t>
                      </a:r>
                    </a:p>
                  </a:txBody>
                  <a:tcPr marL="82296" marR="64008" marT="32004" marB="32004" anchor="ctr">
                    <a:solidFill>
                      <a:srgbClr val="FFFFFF"/>
                    </a:solidFill>
                  </a:tcPr>
                </a:tc>
              </a:tr>
              <a:tr h="326612">
                <a:tc>
                  <a:txBody>
                    <a:bodyPr wrap="square"/>
                    <a:lstStyle/>
                    <a:p>
                      <a:r>
                        <a:rPr sz="1350" b="1">
                          <a:solidFill>
                            <a:srgbClr val="761422"/>
                          </a:solidFill>
                          <a:latin typeface="Calibri"/>
                        </a:rPr>
                        <a:t>One warrant</a:t>
                      </a:r>
                    </a:p>
                  </a:txBody>
                  <a:tcPr marL="82296" marR="64008" marT="32004" marB="32004" anchor="ctr">
                    <a:solidFill>
                      <a:srgbClr val="F6F3EF"/>
                    </a:solidFill>
                  </a:tcPr>
                </a:tc>
                <a:tc>
                  <a:txBody>
                    <a:bodyPr wrap="square"/>
                    <a:lstStyle/>
                    <a:p>
                      <a:r>
                        <a:rPr sz="1350" b="0">
                          <a:solidFill>
                            <a:srgbClr val="1C1C1E"/>
                          </a:solidFill>
                          <a:latin typeface="Calibri"/>
                        </a:rPr>
                        <a:t>Over one feature set, however many members there are</a:t>
                      </a:r>
                    </a:p>
                  </a:txBody>
                  <a:tcPr marL="82296" marR="64008" marT="32004" marB="32004" anchor="ctr">
                    <a:solidFill>
                      <a:srgbClr val="F6F3EF"/>
                    </a:solidFill>
                  </a:tcPr>
                </a:tc>
              </a:tr>
              <a:tr h="543496">
                <a:tc>
                  <a:txBody>
                    <a:bodyPr wrap="square"/>
                    <a:lstStyle/>
                    <a:p>
                      <a:r>
                        <a:rPr sz="1350" b="1">
                          <a:solidFill>
                            <a:srgbClr val="761422"/>
                          </a:solidFill>
                          <a:latin typeface="Calibri"/>
                        </a:rPr>
                        <a:t>Maturity capped</a:t>
                      </a:r>
                    </a:p>
                  </a:txBody>
                  <a:tcPr marL="82296" marR="64008" marT="32004" marB="32004" anchor="ctr">
                    <a:solidFill>
                      <a:srgbClr val="FFFFFF"/>
                    </a:solidFill>
                  </a:tcPr>
                </a:tc>
                <a:tc>
                  <a:txBody>
                    <a:bodyPr wrap="square"/>
                    <a:lstStyle/>
                    <a:p>
                      <a:r>
                        <a:rPr sz="1350" b="0">
                          <a:solidFill>
                            <a:srgbClr val="1C1C1E"/>
                          </a:solidFill>
                          <a:latin typeface="Calibri"/>
                        </a:rPr>
                        <a:t>At the least mature member's, and the members blocking a promotion are named rather than left to be inferred</a:t>
                      </a:r>
                    </a:p>
                  </a:txBody>
                  <a:tcPr marL="82296" marR="64008" marT="32004" marB="32004" anchor="ctr">
                    <a:solidFill>
                      <a:srgbClr val="FFFFFF"/>
                    </a:solidFill>
                  </a:tcPr>
                </a:tc>
              </a:tr>
              <a:tr h="543496">
                <a:tc>
                  <a:txBody>
                    <a:bodyPr wrap="square"/>
                    <a:lstStyle/>
                    <a:p>
                      <a:r>
                        <a:rPr sz="1350" b="1">
                          <a:solidFill>
                            <a:srgbClr val="761422"/>
                          </a:solidFill>
                          <a:latin typeface="Calibri"/>
                        </a:rPr>
                        <a:t>Bounded and reproducible</a:t>
                      </a:r>
                    </a:p>
                  </a:txBody>
                  <a:tcPr marL="82296" marR="64008" marT="32004" marB="32004" anchor="ctr">
                    <a:solidFill>
                      <a:srgbClr val="F6F3EF"/>
                    </a:solidFill>
                  </a:tcPr>
                </a:tc>
                <a:tc>
                  <a:txBody>
                    <a:bodyPr wrap="square"/>
                    <a:lstStyle/>
                    <a:p>
                      <a:r>
                        <a:rPr sz="1350" b="0">
                          <a:solidFill>
                            <a:srgbClr val="1C1C1E"/>
                          </a:solidFill>
                          <a:latin typeface="Calibri"/>
                        </a:rPr>
                        <a:t>Members bound pinned or tracking, nesting capped at four, cycles refused, opacity propagating from any black-box member, per-member seeds derived from one seed</a:t>
                      </a:r>
                    </a:p>
                  </a:txBody>
                  <a:tcPr marL="82296" marR="64008" marT="32004" marB="32004" anchor="ctr">
                    <a:solidFill>
                      <a:srgbClr val="F6F3E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DOCUMENTS, AND MODELS THAT ALREADY EXIST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specification, the spreadsheet and the vendor's black box</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The objects MAYA keeps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63</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maya/formula/specdoc.py and xlsx.py, maya/services/models.py; tests/test_typeset.py, tests/test_spreadsheet_libreoffice.py, tests/test_vendor_models.py. Spreadsheet import is v1 scope and has not been checked against workbooks saved by Microsoft Excel.</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specification document</a:t>
            </a:r>
          </a:p>
        </p:txBody>
      </p:sp>
      <p:sp>
        <p:nvSpPr>
          <p:cNvPr id="15" name="TextBox 14"/>
          <p:cNvSpPr txBox="1"/>
          <p:nvPr/>
        </p:nvSpPr>
        <p:spPr>
          <a:xfrm>
            <a:off x="777240"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Nine required sections</a:t>
            </a:r>
          </a:p>
          <a:p>
            <a:pPr lvl="1">
              <a:lnSpc>
                <a:spcPct val="120000"/>
              </a:lnSpc>
              <a:spcBef>
                <a:spcPts val="0"/>
              </a:spcBef>
              <a:spcAft>
                <a:spcPts val="0"/>
              </a:spcAft>
            </a:pPr>
            <a:r>
              <a:rPr sz="1350" b="0">
                <a:solidFill>
                  <a:srgbClr val="4A4F57"/>
                </a:solidFill>
                <a:latin typeface="Calibri"/>
              </a:rPr>
              <a:t>Purpose; scope and limitations; mathematical formulation; assumptions; data and features used; calibration methodology; validation evidence; known weaknesses; change log. Submission is blocked while one is empty.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 to the mathematics</a:t>
            </a:r>
          </a:p>
          <a:p>
            <a:pPr lvl="1">
              <a:lnSpc>
                <a:spcPct val="120000"/>
              </a:lnSpc>
              <a:spcBef>
                <a:spcPts val="0"/>
              </a:spcBef>
              <a:spcAft>
                <a:spcPts val="0"/>
              </a:spcAft>
            </a:pPr>
            <a:r>
              <a:rPr sz="1350" b="0">
                <a:solidFill>
                  <a:srgbClr val="4A4F57"/>
                </a:solidFill>
                <a:latin typeface="Calibri"/>
              </a:rPr>
              <a:t>Formula blocks render from the tree and references pull from the catalog, so the document cannot drift from the thing it describes.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real build, or a labelled draft</a:t>
            </a:r>
          </a:p>
          <a:p>
            <a:pPr lvl="1">
              <a:lnSpc>
                <a:spcPct val="120000"/>
              </a:lnSpc>
              <a:spcBef>
                <a:spcPts val="0"/>
              </a:spcBef>
              <a:spcAft>
                <a:spcPts val="0"/>
              </a:spcAft>
            </a:pPr>
            <a:r>
              <a:rPr sz="1350" b="0">
                <a:solidFill>
                  <a:srgbClr val="4A4F57"/>
                </a:solidFill>
                <a:latin typeface="Calibri"/>
              </a:rPr>
              <a:t>With Tectonic installed it is a true LaTeX build; without it a watermarked draft that cannot be approved outside dev.</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Spreadsheets and vendor models</a:t>
            </a:r>
          </a:p>
        </p:txBody>
      </p:sp>
      <p:sp>
        <p:nvSpPr>
          <p:cNvPr id="19" name="TextBox 18"/>
          <p:cNvSpPr txBox="1"/>
          <p:nvPr/>
        </p:nvSpPr>
        <p:spPr>
          <a:xfrm>
            <a:off x="6278727"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workbook lifted into the mathematics</a:t>
            </a:r>
          </a:p>
          <a:p>
            <a:pPr lvl="1">
              <a:lnSpc>
                <a:spcPct val="120000"/>
              </a:lnSpc>
              <a:spcBef>
                <a:spcPts val="0"/>
              </a:spcBef>
              <a:spcAft>
                <a:spcPts val="0"/>
              </a:spcAft>
            </a:pPr>
            <a:r>
              <a:rPr sz="1350" b="0">
                <a:solidFill>
                  <a:srgbClr val="4A4F57"/>
                </a:solidFill>
                <a:latin typeface="Calibri"/>
              </a:rPr>
              <a:t>Arithmetic, standard functions, named cells and ranges, and lookups over constant tables; everything else refused by cell. Checked against the workbook's own results and against a headless recalculation.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vendor model registered as what it is</a:t>
            </a:r>
          </a:p>
          <a:p>
            <a:pPr lvl="1">
              <a:lnSpc>
                <a:spcPct val="120000"/>
              </a:lnSpc>
              <a:spcBef>
                <a:spcPts val="0"/>
              </a:spcBef>
              <a:spcAft>
                <a:spcPts val="0"/>
              </a:spcAft>
            </a:pPr>
            <a:r>
              <a:rPr sz="1350" b="0">
                <a:solidFill>
                  <a:srgbClr val="4A4F57"/>
                </a:solidFill>
                <a:latin typeface="Calibri"/>
              </a:rPr>
              <a:t>A declared contract, the vendor's version and documentation, the same review and the same warrants — and what cannot be verified marked unverifiable rather than omitted.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Because completeness is the question</a:t>
            </a:r>
          </a:p>
          <a:p>
            <a:pPr lvl="1">
              <a:lnSpc>
                <a:spcPct val="120000"/>
              </a:lnSpc>
              <a:spcBef>
                <a:spcPts val="0"/>
              </a:spcBef>
              <a:spcAft>
                <a:spcPts val="0"/>
              </a:spcAft>
            </a:pPr>
            <a:r>
              <a:rPr sz="1350" b="0">
                <a:solidFill>
                  <a:srgbClr val="4A4F57"/>
                </a:solidFill>
                <a:latin typeface="Calibri"/>
              </a:rPr>
              <a:t>The firm stays accountable for a model it bought, so leaving it out of the inventory is not an option available to anybody.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4</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How it runs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The machinery around the objects: where the work happens, how a change is priced before it lands, where the bytes sit, and the checks a build has to pass. Each rule here is held by a gate rather than by good intentions, because a rule that is only written down holds until the first deadline.</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Six places, four surfaces, one SDK</a:t>
            </a:r>
          </a:p>
          <a:p>
            <a:pPr>
              <a:lnSpc>
                <a:spcPct val="115000"/>
              </a:lnSpc>
              <a:spcBef>
                <a:spcPts val="0"/>
              </a:spcBef>
              <a:spcAft>
                <a:spcPts val="600"/>
              </a:spcAft>
            </a:pPr>
            <a:r>
              <a:rPr sz="1200" b="0" i="0">
                <a:solidFill>
                  <a:srgbClr val="F6E6E9"/>
                </a:solidFill>
                <a:latin typeface="Calibri"/>
              </a:rPr>
              <a:t>Workflow as data, and the awkward cases</a:t>
            </a:r>
          </a:p>
          <a:p>
            <a:pPr>
              <a:lnSpc>
                <a:spcPct val="115000"/>
              </a:lnSpc>
              <a:spcBef>
                <a:spcPts val="0"/>
              </a:spcBef>
              <a:spcAft>
                <a:spcPts val="600"/>
              </a:spcAft>
            </a:pPr>
            <a:r>
              <a:rPr sz="1200" b="0" i="0">
                <a:solidFill>
                  <a:srgbClr val="F6E6E9"/>
                </a:solidFill>
                <a:latin typeface="Calibri"/>
              </a:rPr>
              <a:t>Workspaces and shadow replay</a:t>
            </a:r>
          </a:p>
          <a:p>
            <a:pPr>
              <a:lnSpc>
                <a:spcPct val="115000"/>
              </a:lnSpc>
              <a:spcBef>
                <a:spcPts val="0"/>
              </a:spcBef>
              <a:spcAft>
                <a:spcPts val="600"/>
              </a:spcAft>
            </a:pPr>
            <a:r>
              <a:rPr sz="1200" b="0" i="0">
                <a:solidFill>
                  <a:srgbClr val="F6E6E9"/>
                </a:solidFill>
                <a:latin typeface="Calibri"/>
              </a:rPr>
              <a:t>Lineage and the audit chain</a:t>
            </a:r>
          </a:p>
          <a:p>
            <a:pPr>
              <a:lnSpc>
                <a:spcPct val="115000"/>
              </a:lnSpc>
              <a:spcBef>
                <a:spcPts val="0"/>
              </a:spcBef>
              <a:spcAft>
                <a:spcPts val="600"/>
              </a:spcAft>
            </a:pPr>
            <a:r>
              <a:rPr sz="1200" b="0" i="0">
                <a:solidFill>
                  <a:srgbClr val="F6E6E9"/>
                </a:solidFill>
                <a:latin typeface="Calibri"/>
              </a:rPr>
              <a:t>Storage, fragments and content addressing</a:t>
            </a:r>
          </a:p>
          <a:p>
            <a:pPr>
              <a:lnSpc>
                <a:spcPct val="115000"/>
              </a:lnSpc>
              <a:spcBef>
                <a:spcPts val="0"/>
              </a:spcBef>
              <a:spcAft>
                <a:spcPts val="600"/>
              </a:spcAft>
            </a:pPr>
            <a:r>
              <a:rPr sz="1200" b="0" i="0">
                <a:solidFill>
                  <a:srgbClr val="F6E6E9"/>
                </a:solidFill>
                <a:latin typeface="Calibri"/>
              </a:rPr>
              <a:t>One database at a time, and no migrations</a:t>
            </a:r>
          </a:p>
          <a:p>
            <a:pPr>
              <a:lnSpc>
                <a:spcPct val="115000"/>
              </a:lnSpc>
              <a:spcBef>
                <a:spcPts val="0"/>
              </a:spcBef>
              <a:spcAft>
                <a:spcPts val="600"/>
              </a:spcAft>
            </a:pPr>
            <a:r>
              <a:rPr sz="1200" b="0" i="0">
                <a:solidFill>
                  <a:srgbClr val="F6E6E9"/>
                </a:solidFill>
                <a:latin typeface="Calibri"/>
              </a:rPr>
              <a:t>The artifact ladder and the sandbox</a:t>
            </a:r>
          </a:p>
          <a:p>
            <a:pPr>
              <a:lnSpc>
                <a:spcPct val="115000"/>
              </a:lnSpc>
              <a:spcBef>
                <a:spcPts val="0"/>
              </a:spcBef>
              <a:spcAft>
                <a:spcPts val="600"/>
              </a:spcAft>
            </a:pPr>
            <a:r>
              <a:rPr sz="1200" b="0" i="0">
                <a:solidFill>
                  <a:srgbClr val="F6E6E9"/>
                </a:solidFill>
                <a:latin typeface="Calibri"/>
              </a:rPr>
              <a:t>Conformance, and the gate ladder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WORK HAPPENS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places, and the same objects visible from 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65</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maya/web/routes/: workbench.py, catalog.py, models.py, warrants.py, home.py, admin.py, lineage.py, workflow.py, workspaces.py. Every page is rendered in tests/test_web.py::test_every_page_renders, and the journeys through them in tests/test_web_journeys.py.</a:t>
            </a:r>
          </a:p>
        </p:txBody>
      </p:sp>
      <p:sp>
        <p:nvSpPr>
          <p:cNvPr id="12" name="Rectangle 11"/>
          <p:cNvSpPr/>
          <p:nvPr/>
        </p:nvSpPr>
        <p:spPr>
          <a:xfrm>
            <a:off x="777240"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WORKBENCH</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Author and rehearse</a:t>
            </a:r>
          </a:p>
        </p:txBody>
      </p:sp>
      <p:sp>
        <p:nvSpPr>
          <p:cNvPr id="16" name="TextBox 15"/>
          <p:cNvSpPr txBox="1"/>
          <p:nvPr/>
        </p:nvSpPr>
        <p:spPr>
          <a:xfrm>
            <a:off x="960120"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Define a feature, upload or pull its data, preview a resolution before it is pinned, build a feature set, open a workspace to try a change safely.</a:t>
            </a:r>
          </a:p>
        </p:txBody>
      </p:sp>
      <p:sp>
        <p:nvSpPr>
          <p:cNvPr id="17" name="Rectangle 16"/>
          <p:cNvSpPr/>
          <p:nvPr/>
        </p:nvSpPr>
        <p:spPr>
          <a:xfrm>
            <a:off x="4377842"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CATALOG</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Find and compare</a:t>
            </a:r>
          </a:p>
        </p:txBody>
      </p:sp>
      <p:sp>
        <p:nvSpPr>
          <p:cNvPr id="21" name="TextBox 20"/>
          <p:cNvSpPr txBox="1"/>
          <p:nvPr/>
        </p:nvSpPr>
        <p:spPr>
          <a:xfrm>
            <a:off x="4560722"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Features and feature sets with their versions, pins, lineage and quality history; compare two versions; download a pin as tabular or wide.</a:t>
            </a:r>
          </a:p>
        </p:txBody>
      </p:sp>
      <p:sp>
        <p:nvSpPr>
          <p:cNvPr id="22" name="Rectangle 21"/>
          <p:cNvSpPr/>
          <p:nvPr/>
        </p:nvSpPr>
        <p:spPr>
          <a:xfrm>
            <a:off x="7978444"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MODELS</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Register and review</a:t>
            </a:r>
          </a:p>
        </p:txBody>
      </p:sp>
      <p:sp>
        <p:nvSpPr>
          <p:cNvPr id="26" name="TextBox 25"/>
          <p:cNvSpPr txBox="1"/>
          <p:nvPr/>
        </p:nvSpPr>
        <p:spPr>
          <a:xfrm>
            <a:off x="8161324"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The kernel wizard, the mathematics, the code artifact and its ladder report, the specification document, the semantic diff between two versions.</a:t>
            </a:r>
          </a:p>
        </p:txBody>
      </p:sp>
      <p:sp>
        <p:nvSpPr>
          <p:cNvPr id="27" name="Rectangle 26"/>
          <p:cNvSpPr/>
          <p:nvPr/>
        </p:nvSpPr>
        <p:spPr>
          <a:xfrm>
            <a:off x="777240"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WARRANTS</a:t>
            </a:r>
          </a:p>
        </p:txBody>
      </p:sp>
      <p:sp>
        <p:nvSpPr>
          <p:cNvPr id="30" name="TextBox 29"/>
          <p:cNvSpPr txBox="1"/>
          <p:nvPr/>
        </p:nvSpPr>
        <p:spPr>
          <a:xfrm>
            <a:off x="960120"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Licence and verify</a:t>
            </a:r>
          </a:p>
        </p:txBody>
      </p:sp>
      <p:sp>
        <p:nvSpPr>
          <p:cNvPr id="31" name="TextBox 30"/>
          <p:cNvSpPr txBox="1"/>
          <p:nvPr/>
        </p:nvSpPr>
        <p:spPr>
          <a:xfrm>
            <a:off x="960120"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Draw a training warrant, fetch the data, upload dials, seal an execution warrant, export a bundle — and verify a bundle somebody hands you.</a:t>
            </a:r>
          </a:p>
        </p:txBody>
      </p:sp>
      <p:sp>
        <p:nvSpPr>
          <p:cNvPr id="32" name="Rectangle 31"/>
          <p:cNvSpPr/>
          <p:nvPr/>
        </p:nvSpPr>
        <p:spPr>
          <a:xfrm>
            <a:off x="4377842"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7842"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0722"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INBOX</a:t>
            </a:r>
          </a:p>
        </p:txBody>
      </p:sp>
      <p:sp>
        <p:nvSpPr>
          <p:cNvPr id="35" name="TextBox 34"/>
          <p:cNvSpPr txBox="1"/>
          <p:nvPr/>
        </p:nvSpPr>
        <p:spPr>
          <a:xfrm>
            <a:off x="4560722"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Decide</a:t>
            </a:r>
          </a:p>
        </p:txBody>
      </p:sp>
      <p:sp>
        <p:nvSpPr>
          <p:cNvPr id="36" name="TextBox 35"/>
          <p:cNvSpPr txBox="1"/>
          <p:nvPr/>
        </p:nvSpPr>
        <p:spPr>
          <a:xfrm>
            <a:off x="4560722"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review queue, scoped to what you may actually see, with what is overdue, what is blocked and by which named check.</a:t>
            </a:r>
          </a:p>
        </p:txBody>
      </p:sp>
      <p:sp>
        <p:nvSpPr>
          <p:cNvPr id="37" name="Rectangle 36"/>
          <p:cNvSpPr/>
          <p:nvPr/>
        </p:nvSpPr>
        <p:spPr>
          <a:xfrm>
            <a:off x="7978444"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78444"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61324"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ADMIN</a:t>
            </a:r>
          </a:p>
        </p:txBody>
      </p:sp>
      <p:sp>
        <p:nvSpPr>
          <p:cNvPr id="40" name="TextBox 39"/>
          <p:cNvSpPr txBox="1"/>
          <p:nvPr/>
        </p:nvSpPr>
        <p:spPr>
          <a:xfrm>
            <a:off x="8161324"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Operate</a:t>
            </a:r>
          </a:p>
        </p:txBody>
      </p:sp>
      <p:sp>
        <p:nvSpPr>
          <p:cNvPr id="41" name="TextBox 40"/>
          <p:cNvSpPr txBox="1"/>
          <p:nvPr/>
        </p:nvSpPr>
        <p:spPr>
          <a:xfrm>
            <a:off x="8161324"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Namespaces and grants, users and sign-on, sources, jobs, events and webhooks, storage, retention, custody anchors, and a health page naming every resolved seam.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SURFACES, ONE CONTRACT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Whatever you drive it with, it is the same platform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tools/ci/table_contract.py, sdk_parity.py, contrast.py; tests/test_web.py::test_web_imports_only_the_sdk; tests/test_browser.py::test_a_server_paged_table_pages_searches_and_sorts; docs/BENCHMARKS.md for the search figure.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surfaces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web interface is an SDK client</a:t>
            </a:r>
          </a:p>
          <a:p>
            <a:pPr lvl="1">
              <a:lnSpc>
                <a:spcPct val="120000"/>
              </a:lnSpc>
              <a:spcBef>
                <a:spcPts val="0"/>
              </a:spcBef>
              <a:spcAft>
                <a:spcPts val="0"/>
              </a:spcAft>
            </a:pPr>
            <a:r>
              <a:rPr sz="1350" b="0">
                <a:solidFill>
                  <a:srgbClr val="4A4F57"/>
                </a:solidFill>
                <a:latin typeface="Calibri"/>
              </a:rPr>
              <a:t>It has no private path to the services; a gate fails the build if anything under the web tier imports past the SDK.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REST API</a:t>
            </a:r>
          </a:p>
          <a:p>
            <a:pPr lvl="1">
              <a:lnSpc>
                <a:spcPct val="120000"/>
              </a:lnSpc>
              <a:spcBef>
                <a:spcPts val="0"/>
              </a:spcBef>
              <a:spcAft>
                <a:spcPts val="0"/>
              </a:spcAft>
            </a:pPr>
            <a:r>
              <a:rPr sz="1350" b="0">
                <a:solidFill>
                  <a:srgbClr val="4A4F57"/>
                </a:solidFill>
                <a:latin typeface="Calibri"/>
              </a:rPr>
              <a:t>215 endpoints, each with an SDK method and each method with an endpoint, checked both ways by a gate.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Python SDK</a:t>
            </a:r>
          </a:p>
          <a:p>
            <a:pPr lvl="1">
              <a:lnSpc>
                <a:spcPct val="120000"/>
              </a:lnSpc>
              <a:spcBef>
                <a:spcPts val="0"/>
              </a:spcBef>
              <a:spcAft>
                <a:spcPts val="0"/>
              </a:spcAft>
            </a:pPr>
            <a:r>
              <a:rPr sz="1350" b="0">
                <a:solidFill>
                  <a:srgbClr val="4A4F57"/>
                </a:solidFill>
                <a:latin typeface="Calibri"/>
              </a:rPr>
              <a:t>Synchronous and asynchronous, with record and replay for tests, and an offline mode that serves a bundle and refuses everything the bundle does not hold.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command line</a:t>
            </a:r>
          </a:p>
          <a:p>
            <a:pPr lvl="1">
              <a:lnSpc>
                <a:spcPct val="120000"/>
              </a:lnSpc>
              <a:spcBef>
                <a:spcPts val="0"/>
              </a:spcBef>
              <a:spcAft>
                <a:spcPts val="0"/>
              </a:spcAft>
            </a:pPr>
            <a:r>
              <a:rPr sz="1350" b="0">
                <a:solidFill>
                  <a:srgbClr val="4A4F57"/>
                </a:solidFill>
                <a:latin typeface="Calibri"/>
              </a:rPr>
              <a:t>The whole spine, including bundle export and offline verification.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screen owes you</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Every table pages, searches and sorts</a:t>
            </a:r>
          </a:p>
          <a:p>
            <a:pPr lvl="1">
              <a:lnSpc>
                <a:spcPct val="120000"/>
              </a:lnSpc>
              <a:spcBef>
                <a:spcPts val="0"/>
              </a:spcBef>
              <a:spcAft>
                <a:spcPts val="0"/>
              </a:spcAft>
            </a:pPr>
            <a:r>
              <a:rPr sz="1250" b="0">
                <a:solidFill>
                  <a:srgbClr val="4A4F57"/>
                </a:solidFill>
                <a:latin typeface="Calibri"/>
              </a:rPr>
              <a:t>Rows per page remembered per table per user, sort applied to the whole result set rather than the visible page, export honouring the active filter. A crawler gate refuses any table not drawn by the one macro.</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Large tables page from the server</a:t>
            </a:r>
          </a:p>
          <a:p>
            <a:pPr lvl="1">
              <a:lnSpc>
                <a:spcPct val="120000"/>
              </a:lnSpc>
              <a:spcBef>
                <a:spcPts val="0"/>
              </a:spcBef>
              <a:spcAft>
                <a:spcPts val="0"/>
              </a:spcAft>
            </a:pPr>
            <a:r>
              <a:rPr sz="1250" b="0">
                <a:solidFill>
                  <a:srgbClr val="4A4F57"/>
                </a:solidFill>
                <a:latin typeface="Calibri"/>
              </a:rPr>
              <a:t>Signed cursors, the same controls, and an exact total counted in the database under row-level authorization.</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Search is MAYA's own index</a:t>
            </a:r>
          </a:p>
          <a:p>
            <a:pPr lvl="1">
              <a:lnSpc>
                <a:spcPct val="120000"/>
              </a:lnSpc>
              <a:spcBef>
                <a:spcPts val="0"/>
              </a:spcBef>
              <a:spcAft>
                <a:spcPts val="0"/>
              </a:spcAft>
            </a:pPr>
            <a:r>
              <a:rPr sz="1250" b="0">
                <a:solidFill>
                  <a:srgbClr val="4A4F57"/>
                </a:solidFill>
                <a:latin typeface="Calibri"/>
              </a:rPr>
              <a:t>Ranked, prefix-matched, every term required, filtered by read permission, kept current inside the writing transaction. p95 0.16 s over 100,000 objects.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Status is never colour alone</a:t>
            </a:r>
          </a:p>
          <a:p>
            <a:pPr lvl="1">
              <a:lnSpc>
                <a:spcPct val="120000"/>
              </a:lnSpc>
              <a:spcBef>
                <a:spcPts val="0"/>
              </a:spcBef>
              <a:spcAft>
                <a:spcPts val="0"/>
              </a:spcAft>
            </a:pPr>
            <a:r>
              <a:rPr sz="1250" b="0">
                <a:solidFill>
                  <a:srgbClr val="4A4F57"/>
                </a:solidFill>
                <a:latin typeface="Calibri"/>
              </a:rPr>
              <a:t>Every pill carries a glyph and a word, and the palette is recomputed by a gate against contrast floors.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Policy is data, and the policy itself is governed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 and maya/security/roles.py; tests/test_workflow_matrix.py, tests/test_delegation.py. The YAML projection round-trips byte-identically for whoever wants policy in a repository, but the database is the authority.</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transition is described</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Eight states, six object types</a:t>
            </a:r>
          </a:p>
          <a:p>
            <a:pPr lvl="1">
              <a:lnSpc>
                <a:spcPct val="120000"/>
              </a:lnSpc>
              <a:spcBef>
                <a:spcPts val="0"/>
              </a:spcBef>
              <a:spcAft>
                <a:spcPts val="0"/>
              </a:spcAft>
            </a:pPr>
            <a:r>
              <a:rPr sz="1350" b="0">
                <a:solidFill>
                  <a:srgbClr val="4A4F57"/>
                </a:solidFill>
                <a:latin typeface="Calibri"/>
              </a:rPr>
              <a:t>draft, in_review, changes_requested, approved, published, deprecated, retired, withdrawn — over the six governed kinds of Part 3.</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Checks and approvals by name</a:t>
            </a:r>
          </a:p>
          <a:p>
            <a:pPr lvl="1">
              <a:lnSpc>
                <a:spcPct val="120000"/>
              </a:lnSpc>
              <a:spcBef>
                <a:spcPts val="0"/>
              </a:spcBef>
              <a:spcAft>
                <a:spcPts val="0"/>
              </a:spcAft>
            </a:pPr>
            <a:r>
              <a:rPr sz="1350" b="0">
                <a:solidFill>
                  <a:srgbClr val="4A4F57"/>
                </a:solidFill>
                <a:latin typeface="Calibri"/>
              </a:rPr>
              <a:t>A transition lists the states it leaves, the capability it needs, the named checks to pass, and the approvals required as a role and a count — with a count that may apply only in production.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at edit time</a:t>
            </a:r>
          </a:p>
          <a:p>
            <a:pPr lvl="1">
              <a:lnSpc>
                <a:spcPct val="120000"/>
              </a:lnSpc>
              <a:spcBef>
                <a:spcPts val="0"/>
              </a:spcBef>
              <a:spcAft>
                <a:spcPts val="0"/>
              </a:spcAft>
            </a:pPr>
            <a:r>
              <a:rPr sz="1350" b="0">
                <a:solidFill>
                  <a:srgbClr val="4A4F57"/>
                </a:solidFill>
                <a:latin typeface="Calibri"/>
              </a:rPr>
              <a:t>An unreachable state, an unsatisfiable approval or an unknown condition is rejected when the policy is saved, so nothing fails open at approval time.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awkward cases</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Segregation of duties</a:t>
            </a:r>
          </a:p>
          <a:p>
            <a:pPr lvl="1">
              <a:lnSpc>
                <a:spcPct val="120000"/>
              </a:lnSpc>
              <a:spcBef>
                <a:spcPts val="0"/>
              </a:spcBef>
              <a:spcAft>
                <a:spcPts val="0"/>
              </a:spcAft>
            </a:pPr>
            <a:r>
              <a:rPr sz="1350" b="0">
                <a:solidFill>
                  <a:srgbClr val="4A4F57"/>
                </a:solidFill>
                <a:latin typeface="Calibri"/>
              </a:rPr>
              <a:t>Three levels, shipped as small-team, standard and regulated presets; under the strictest, nobody who created, submitted or updated an object may approve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Break-glass</a:t>
            </a:r>
          </a:p>
          <a:p>
            <a:pPr lvl="1">
              <a:lnSpc>
                <a:spcPct val="120000"/>
              </a:lnSpc>
              <a:spcBef>
                <a:spcPts val="0"/>
              </a:spcBef>
              <a:spcAft>
                <a:spcPts val="0"/>
              </a:spcAft>
            </a:pPr>
            <a:r>
              <a:rPr sz="1350" b="0">
                <a:solidFill>
                  <a:srgbClr val="4A4F57"/>
                </a:solidFill>
                <a:latin typeface="Calibri"/>
              </a:rPr>
              <a:t>Administrators only, a written reason of real length, marked forced on the record, audited as its own action, and the owner told whether or not they subscribed.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Delegation and escalation</a:t>
            </a:r>
          </a:p>
          <a:p>
            <a:pPr lvl="1">
              <a:lnSpc>
                <a:spcPct val="120000"/>
              </a:lnSpc>
              <a:spcBef>
                <a:spcPts val="0"/>
              </a:spcBef>
              <a:spcAft>
                <a:spcPts val="0"/>
              </a:spcAft>
            </a:pPr>
            <a:r>
              <a:rPr sz="1350" b="0">
                <a:solidFill>
                  <a:srgbClr val="4A4F57"/>
                </a:solidFill>
                <a:latin typeface="Calibri"/>
              </a:rPr>
              <a:t>Only an approver may delegate, never to themselves, within dates; the approval records whose behalf it was on. Five days in review is the shipped service level, swept hourly.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REHEARSING A CHANGE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Price the change before anybody approves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maya/services/workspaces.py; tests/test_workspaces.py. Study 03 in case_studies/ is this as a worked example: a prepayment change proposed under a live model, and 60% of the book moves.</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Workspaces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copy-on-write branch of the catalog</a:t>
            </a:r>
          </a:p>
          <a:p>
            <a:pPr lvl="1">
              <a:lnSpc>
                <a:spcPct val="120000"/>
              </a:lnSpc>
              <a:spcBef>
                <a:spcPts val="0"/>
              </a:spcBef>
              <a:spcAft>
                <a:spcPts val="0"/>
              </a:spcAft>
            </a:pPr>
            <a:r>
              <a:rPr sz="1350" b="0">
                <a:solidFill>
                  <a:srgbClr val="4A4F57"/>
                </a:solidFill>
                <a:latin typeface="Calibri"/>
              </a:rPr>
              <a:t>Staging a change stores a proposed definition and copies nothing else; resolution inside the workspace reads the proposal in place of the version it would replace.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Approval is the merge</a:t>
            </a:r>
          </a:p>
          <a:p>
            <a:pPr lvl="1">
              <a:lnSpc>
                <a:spcPct val="120000"/>
              </a:lnSpc>
              <a:spcBef>
                <a:spcPts val="0"/>
              </a:spcBef>
              <a:spcAft>
                <a:spcPts val="0"/>
              </a:spcAft>
            </a:pPr>
            <a:r>
              <a:rPr sz="1350" b="0">
                <a:solidFill>
                  <a:srgbClr val="4A4F57"/>
                </a:solidFill>
                <a:latin typeface="Calibri"/>
              </a:rPr>
              <a:t>And a base that moved underneath is a conflict rather than a surprise.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recorded challenger on the review</a:t>
            </a:r>
          </a:p>
          <a:p>
            <a:pPr lvl="1">
              <a:lnSpc>
                <a:spcPct val="120000"/>
              </a:lnSpc>
              <a:spcBef>
                <a:spcPts val="0"/>
              </a:spcBef>
              <a:spcAft>
                <a:spcPts val="0"/>
              </a:spcAft>
            </a:pPr>
            <a:r>
              <a:rPr sz="1350" b="0">
                <a:solidFill>
                  <a:srgbClr val="4A4F57"/>
                </a:solidFill>
                <a:latin typeface="Calibri"/>
              </a:rPr>
              <a:t>A non-binding memo that never approves, never blocks and never writes to a sealed object; the reviewer records whether they agreed with it.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Shadow replay</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Every dependent warrant re-scored</a:t>
            </a:r>
          </a:p>
          <a:p>
            <a:pPr lvl="1">
              <a:lnSpc>
                <a:spcPct val="120000"/>
              </a:lnSpc>
              <a:spcBef>
                <a:spcPts val="0"/>
              </a:spcBef>
              <a:spcAft>
                <a:spcPts val="0"/>
              </a:spcAft>
            </a:pPr>
            <a:r>
              <a:rPr sz="1350" b="0">
                <a:solidFill>
                  <a:srgbClr val="4A4F57"/>
                </a:solidFill>
                <a:latin typeface="Calibri"/>
              </a:rPr>
              <a:t>The feature set is resolved as it is and as proposed, and both are scored with the warrant's own model and dials.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Numbers, not a list of names</a:t>
            </a:r>
          </a:p>
          <a:p>
            <a:pPr lvl="1">
              <a:lnSpc>
                <a:spcPct val="120000"/>
              </a:lnSpc>
              <a:spcBef>
                <a:spcPts val="0"/>
              </a:spcBef>
              <a:spcAft>
                <a:spcPts val="0"/>
              </a:spcAft>
            </a:pPr>
            <a:r>
              <a:rPr sz="1350" b="0">
                <a:solidFill>
                  <a:srgbClr val="4A4F57"/>
                </a:solidFill>
                <a:latin typeface="Calibri"/>
              </a:rPr>
              <a:t>Rows added and removed, coverage, median, p95 and worst absolute shift, and how much of the book moves past materiality.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Bounded, and the bound is stated</a:t>
            </a:r>
          </a:p>
          <a:p>
            <a:pPr lvl="1">
              <a:lnSpc>
                <a:spcPct val="120000"/>
              </a:lnSpc>
              <a:spcBef>
                <a:spcPts val="0"/>
              </a:spcBef>
              <a:spcAft>
                <a:spcPts val="0"/>
              </a:spcAft>
            </a:pPr>
            <a:r>
              <a:rPr sz="1350" b="0">
                <a:solidFill>
                  <a:srgbClr val="4A4F57"/>
                </a:solidFill>
                <a:latin typeface="Calibri"/>
              </a:rPr>
              <a:t>A sample size, a materiality from the model, the namespace or the default, and a daily comparison budget — a namespace over budget gets an entry naming the shortfall rather than a quiet “nothing moved”.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LINEAGE AND CUSTODY</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Both directions, and an audit chain that anchors outside the database</a:t>
            </a:r>
          </a:p>
        </p:txBody>
      </p:sp>
      <p:sp>
        <p:nvSpPr>
          <p:cNvPr id="6" name="Rectangle 5"/>
          <p:cNvSpPr/>
          <p:nvPr/>
        </p:nvSpPr>
        <p:spPr>
          <a:xfrm>
            <a:off x="777240" y="116255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69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maya/services/ops.py (lineage), maya/persistence/repositories/special.py (the chain), maya/services/custody.py (the anchors); tests/test_custody.py::test_an_anchor_catches_a_rechained_rewrite and ::test_a_real_tsa_signature_is_verified_against_its_ca.</a:t>
            </a:r>
          </a:p>
        </p:txBody>
      </p:sp>
      <p:sp>
        <p:nvSpPr>
          <p:cNvPr id="12" name="Rectangle 11"/>
          <p:cNvSpPr/>
          <p:nvPr/>
        </p:nvSpPr>
        <p:spPr>
          <a:xfrm>
            <a:off x="777240"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Lineage</a:t>
            </a:r>
          </a:p>
        </p:txBody>
      </p:sp>
      <p:sp>
        <p:nvSpPr>
          <p:cNvPr id="15" name="TextBox 14"/>
          <p:cNvSpPr txBox="1"/>
          <p:nvPr/>
        </p:nvSpPr>
        <p:spPr>
          <a:xfrm>
            <a:off x="777240"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Upstream and downstream</a:t>
            </a:r>
          </a:p>
          <a:p>
            <a:pPr lvl="1">
              <a:lnSpc>
                <a:spcPct val="120000"/>
              </a:lnSpc>
              <a:spcBef>
                <a:spcPts val="0"/>
              </a:spcBef>
              <a:spcAft>
                <a:spcPts val="0"/>
              </a:spcAft>
            </a:pPr>
            <a:r>
              <a:rPr sz="1350" b="0">
                <a:solidFill>
                  <a:srgbClr val="4A4F57"/>
                </a:solidFill>
                <a:latin typeface="Calibri"/>
              </a:rPr>
              <a:t>From an execution warrant back to the source files, and from a source forward to every warrant that depends on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Derived objects are nodes, not shortcuts</a:t>
            </a:r>
          </a:p>
          <a:p>
            <a:pPr lvl="1">
              <a:lnSpc>
                <a:spcPct val="120000"/>
              </a:lnSpc>
              <a:spcBef>
                <a:spcPts val="0"/>
              </a:spcBef>
              <a:spcAft>
                <a:spcPts val="0"/>
              </a:spcAft>
            </a:pPr>
            <a:r>
              <a:rPr sz="1350" b="0">
                <a:solidFill>
                  <a:srgbClr val="4A4F57"/>
                </a:solidFill>
                <a:latin typeface="Calibri"/>
              </a:rPr>
              <a:t>A derived feature keeps its expression in lineage rather than being flattened, so what a number ultimately reads is a traversal and not a guess.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Which is what makes a blast radius honest</a:t>
            </a:r>
          </a:p>
          <a:p>
            <a:pPr lvl="1">
              <a:lnSpc>
                <a:spcPct val="120000"/>
              </a:lnSpc>
              <a:spcBef>
                <a:spcPts val="0"/>
              </a:spcBef>
              <a:spcAft>
                <a:spcPts val="0"/>
              </a:spcAft>
            </a:pPr>
            <a:r>
              <a:rPr sz="1350" b="0">
                <a:solidFill>
                  <a:srgbClr val="4A4F57"/>
                </a:solidFill>
                <a:latin typeface="Calibri"/>
              </a:rPr>
              <a:t>It is computed from edges that were type-checked when they were recorded — Part 2's point about the wire that was a drawing.</a:t>
            </a:r>
          </a:p>
        </p:txBody>
      </p:sp>
      <p:sp>
        <p:nvSpPr>
          <p:cNvPr id="16" name="Rectangle 15"/>
          <p:cNvSpPr/>
          <p:nvPr/>
        </p:nvSpPr>
        <p:spPr>
          <a:xfrm>
            <a:off x="6278727" y="129057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29057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36372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audit chain</a:t>
            </a:r>
          </a:p>
        </p:txBody>
      </p:sp>
      <p:sp>
        <p:nvSpPr>
          <p:cNvPr id="19" name="TextBox 18"/>
          <p:cNvSpPr txBox="1"/>
          <p:nvPr/>
        </p:nvSpPr>
        <p:spPr>
          <a:xfrm>
            <a:off x="6278727" y="1802638"/>
            <a:ext cx="5135727" cy="3875786"/>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Hash-chained per entry</a:t>
            </a:r>
          </a:p>
          <a:p>
            <a:pPr lvl="1">
              <a:lnSpc>
                <a:spcPct val="120000"/>
              </a:lnSpc>
              <a:spcBef>
                <a:spcPts val="0"/>
              </a:spcBef>
              <a:spcAft>
                <a:spcPts val="0"/>
              </a:spcAft>
            </a:pPr>
            <a:r>
              <a:rPr sz="1300" b="0">
                <a:solidFill>
                  <a:srgbClr val="4A4F57"/>
                </a:solidFill>
                <a:latin typeface="Calibri"/>
              </a:rPr>
              <a:t>Each row's digest covers the previous digest and its own fields, so a rewritten row breaks every row after it.</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Anchored out of the database, hourly</a:t>
            </a:r>
          </a:p>
          <a:p>
            <a:pPr lvl="1">
              <a:lnSpc>
                <a:spcPct val="120000"/>
              </a:lnSpc>
              <a:spcBef>
                <a:spcPts val="0"/>
              </a:spcBef>
              <a:spcAft>
                <a:spcPts val="0"/>
              </a:spcAft>
            </a:pPr>
            <a:r>
              <a:rPr sz="1300" b="0">
                <a:solidFill>
                  <a:srgbClr val="4A4F57"/>
                </a:solidFill>
                <a:latin typeface="Calibri"/>
              </a:rPr>
              <a:t>The chain head is signed, appended to a file and emitted as an event. Timestamping by a third-party authority is opt-in, because it sends the head to a third party.</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It refuses to certify tampering</a:t>
            </a:r>
          </a:p>
          <a:p>
            <a:pPr lvl="1">
              <a:lnSpc>
                <a:spcPct val="120000"/>
              </a:lnSpc>
              <a:spcBef>
                <a:spcPts val="0"/>
              </a:spcBef>
              <a:spcAft>
                <a:spcPts val="0"/>
              </a:spcAft>
            </a:pPr>
            <a:r>
              <a:rPr sz="1300" b="0">
                <a:solidFill>
                  <a:srgbClr val="4A4F57"/>
                </a:solidFill>
                <a:latin typeface="Calibri"/>
              </a:rPr>
              <a:t>A chain that does not verify is not anchored, and verification names the sequence number where it broke.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honest limit</a:t>
            </a:r>
          </a:p>
          <a:p>
            <a:pPr lvl="1">
              <a:lnSpc>
                <a:spcPct val="120000"/>
              </a:lnSpc>
              <a:spcBef>
                <a:spcPts val="0"/>
              </a:spcBef>
              <a:spcAft>
                <a:spcPts val="0"/>
              </a:spcAft>
            </a:pPr>
            <a:r>
              <a:rPr sz="1300" b="0">
                <a:solidFill>
                  <a:srgbClr val="4A4F57"/>
                </a:solidFill>
                <a:latin typeface="Calibri"/>
              </a:rPr>
              <a:t>An anchor is only as external as the file it is written to; point it at off-host or write-once storage.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Fragments chosen by content, and a hash over values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70</a:t>
            </a:r>
          </a:p>
        </p:txBody>
      </p:sp>
      <p:sp>
        <p:nvSpPr>
          <p:cNvPr id="10" name="Rectangle 9"/>
          <p:cNvSpPr/>
          <p:nvPr/>
        </p:nvSpPr>
        <p:spPr>
          <a:xfrm>
            <a:off x="777240" y="5440680"/>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440680"/>
            <a:ext cx="10362895" cy="822960"/>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chunker.py, maya/storage/lake.py; tests/test_features.py::test_sc1_repin_is_byte_identical_and_changed_data_is_not and ::test_sc12_unchanged_month_costs_under_five_percent; specification §15.3 and §28.11 for the accepted risk. Pin write throughput 59.7 MB/s on one worker against a 50 MB/s target.</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Fragments</a:t>
            </a:r>
          </a:p>
        </p:txBody>
      </p:sp>
      <p:sp>
        <p:nvSpPr>
          <p:cNvPr id="15" name="TextBox 14"/>
          <p:cNvSpPr txBox="1"/>
          <p:nvPr/>
        </p:nvSpPr>
        <p:spPr>
          <a:xfrm>
            <a:off x="777240" y="1899031"/>
            <a:ext cx="5135727" cy="33770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Boundaries chosen by the content itself</a:t>
            </a:r>
          </a:p>
          <a:p>
            <a:pPr lvl="1">
              <a:lnSpc>
                <a:spcPct val="120000"/>
              </a:lnSpc>
              <a:spcBef>
                <a:spcPts val="0"/>
              </a:spcBef>
              <a:spcAft>
                <a:spcPts val="0"/>
              </a:spcAft>
            </a:pPr>
            <a:r>
              <a:rPr sz="1350" b="0">
                <a:solidFill>
                  <a:srgbClr val="4A4F57"/>
                </a:solidFill>
                <a:latin typeface="Calibri"/>
              </a:rPr>
              <a:t>A row ends a fragment when its own digest, read as an integer, divides by the target — so inserting one row leaves every earlier fragment untouched.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Counted in rows, not bytes</a:t>
            </a:r>
          </a:p>
          <a:p>
            <a:pPr lvl="1">
              <a:lnSpc>
                <a:spcPct val="120000"/>
              </a:lnSpc>
              <a:spcBef>
                <a:spcPts val="0"/>
              </a:spcBef>
              <a:spcAft>
                <a:spcPts val="0"/>
              </a:spcAft>
            </a:pPr>
            <a:r>
              <a:rPr sz="1350" b="0">
                <a:solidFill>
                  <a:srgbClr val="4A4F57"/>
                </a:solidFill>
                <a:latin typeface="Calibri"/>
              </a:rPr>
              <a:t>Target 512 rows, never fewer than 32 and never more than 8,192.</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Shared across pins</a:t>
            </a:r>
          </a:p>
          <a:p>
            <a:pPr lvl="1">
              <a:lnSpc>
                <a:spcPct val="120000"/>
              </a:lnSpc>
              <a:spcBef>
                <a:spcPts val="0"/>
              </a:spcBef>
              <a:spcAft>
                <a:spcPts val="0"/>
              </a:spcAft>
            </a:pPr>
            <a:r>
              <a:rPr sz="1350" b="0">
                <a:solidFill>
                  <a:srgbClr val="4A4F57"/>
                </a:solidFill>
                <a:latin typeface="Calibri"/>
              </a:rPr>
              <a:t>Pinning writes only the fragments the store has never seen, so an unchanged month costs under 5% of a full pin.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canonical hash</a:t>
            </a:r>
          </a:p>
        </p:txBody>
      </p:sp>
      <p:sp>
        <p:nvSpPr>
          <p:cNvPr id="19" name="TextBox 18"/>
          <p:cNvSpPr txBox="1"/>
          <p:nvPr/>
        </p:nvSpPr>
        <p:spPr>
          <a:xfrm>
            <a:off x="6278727" y="1899031"/>
            <a:ext cx="5135727" cy="3377057"/>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C1C1E"/>
                </a:solidFill>
                <a:latin typeface="Calibri"/>
              </a:rPr>
              <a:t>Over values, never over file bytes</a:t>
            </a:r>
          </a:p>
          <a:p>
            <a:pPr lvl="1">
              <a:lnSpc>
                <a:spcPct val="120000"/>
              </a:lnSpc>
              <a:spcBef>
                <a:spcPts val="0"/>
              </a:spcBef>
              <a:spcAft>
                <a:spcPts val="0"/>
              </a:spcAft>
            </a:pPr>
            <a:r>
              <a:rPr sz="1050" b="0">
                <a:solidFill>
                  <a:srgbClr val="4A4F57"/>
                </a:solidFill>
                <a:latin typeface="Calibri"/>
              </a:rPr>
              <a:t>Column order is ignored, every changed value is noticed, and two pins of the same data agree across engine versions and machines.</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SHA-256, domain-separated</a:t>
            </a:r>
          </a:p>
          <a:p>
            <a:pPr lvl="1">
              <a:lnSpc>
                <a:spcPct val="120000"/>
              </a:lnSpc>
              <a:spcBef>
                <a:spcPts val="0"/>
              </a:spcBef>
              <a:spcAft>
                <a:spcPts val="0"/>
              </a:spcAft>
            </a:pPr>
            <a:r>
              <a:rPr sz="1050" b="0">
                <a:solidFill>
                  <a:srgbClr val="4A4F57"/>
                </a:solidFill>
                <a:latin typeface="Calibri"/>
              </a:rPr>
              <a:t>Row digests, then a fragment hash over the run, then the content hash over the schema digest and the fragment hashes in order.</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MAYA's encoder is the authority</a:t>
            </a:r>
          </a:p>
          <a:p>
            <a:pPr lvl="1">
              <a:lnSpc>
                <a:spcPct val="120000"/>
              </a:lnSpc>
              <a:spcBef>
                <a:spcPts val="0"/>
              </a:spcBef>
              <a:spcAft>
                <a:spcPts val="0"/>
              </a:spcAft>
            </a:pPr>
            <a:r>
              <a:rPr sz="1050" b="0">
                <a:solidFill>
                  <a:srgbClr val="4A4F57"/>
                </a:solidFill>
                <a:latin typeface="Calibri"/>
              </a:rPr>
              <a:t>maya/core/canonical.py is the specification of the hash; the fast path computes it a column at a time and is tested equal to it.</a:t>
            </a:r>
          </a:p>
          <a:p>
            <a:pPr>
              <a:lnSpc>
                <a:spcPct val="120000"/>
              </a:lnSpc>
              <a:spcBef>
                <a:spcPts val="500"/>
              </a:spcBef>
              <a:spcAft>
                <a:spcPts val="100"/>
              </a:spcAft>
            </a:pPr>
            <a:r>
              <a:rPr sz="1200" b="1">
                <a:solidFill>
                  <a:srgbClr val="A51C30"/>
                </a:solidFill>
                <a:latin typeface="Calibri"/>
              </a:rPr>
              <a:t>▪  </a:t>
            </a:r>
            <a:r>
              <a:rPr sz="1200" b="1">
                <a:solidFill>
                  <a:srgbClr val="1C1C1E"/>
                </a:solidFill>
                <a:latin typeface="Calibri"/>
              </a:rPr>
              <a:t>And pinning is a saga, because two stores cannot commit together</a:t>
            </a:r>
          </a:p>
          <a:p>
            <a:pPr lvl="1">
              <a:lnSpc>
                <a:spcPct val="120000"/>
              </a:lnSpc>
              <a:spcBef>
                <a:spcPts val="0"/>
              </a:spcBef>
              <a:spcAft>
                <a:spcPts val="0"/>
              </a:spcAft>
            </a:pPr>
            <a:r>
              <a:rPr sz="1050" b="0">
                <a:solidFill>
                  <a:srgbClr val="4A4F57"/>
                </a:solidFill>
                <a:latin typeface="Calibri"/>
              </a:rPr>
              <a:t>Fragments are written, the hash is recomputed from what was actually written, and only then is the metadata committed. A half-written pin is made invisible by a reaper — invisible, not impossible, and the specification says so.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PERSISTENCE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One database at a time, two generated schema files, no migrations</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71</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maya/persistence/; tools/ci/gen_schema.py and import_boundaries.py; tests/test_foundation.py::test_shipped_schema_files_match_the_metadata, tests/test_workflow_and_estate.py::test_schema_mismatch_refuses_to_start.</a:t>
            </a:r>
          </a:p>
        </p:txBody>
      </p:sp>
      <p:sp>
        <p:nvSpPr>
          <p:cNvPr id="12" name="TextBox 11"/>
          <p:cNvSpPr txBox="1"/>
          <p:nvPr/>
        </p:nvSpPr>
        <p:spPr>
          <a:xfrm>
            <a:off x="777240" y="1322705"/>
            <a:ext cx="10637215" cy="41545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C1C1E"/>
                </a:solidFill>
                <a:latin typeface="Calibri"/>
              </a:rPr>
              <a:t>SQLite in the shipped configuration; PostgreSQL by setting one key</a:t>
            </a:r>
          </a:p>
          <a:p>
            <a:pPr lvl="1">
              <a:lnSpc>
                <a:spcPct val="120000"/>
              </a:lnSpc>
              <a:spcBef>
                <a:spcPts val="0"/>
              </a:spcBef>
              <a:spcAft>
                <a:spcPts val="0"/>
              </a:spcAft>
            </a:pPr>
            <a:r>
              <a:rPr sz="1450" b="0">
                <a:solidFill>
                  <a:srgbClr val="4A4F57"/>
                </a:solidFill>
                <a:latin typeface="Calibri"/>
              </a:rPr>
              <a:t>Never both, and never mixed. Several web processes on one node require PostgreSQL, and MAYA refuses them over SQLite rather than running them unsafely.</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typed metadata, two DDL files</a:t>
            </a:r>
          </a:p>
          <a:p>
            <a:pPr lvl="1">
              <a:lnSpc>
                <a:spcPct val="120000"/>
              </a:lnSpc>
              <a:spcBef>
                <a:spcPts val="0"/>
              </a:spcBef>
              <a:spcAft>
                <a:spcPts val="0"/>
              </a:spcAft>
            </a:pPr>
            <a:r>
              <a:rPr sz="1450" b="0">
                <a:solidFill>
                  <a:srgbClr val="4A4F57"/>
                </a:solidFill>
                <a:latin typeface="Calibri"/>
              </a:rPr>
              <a:t>maya/persistence/schema/sqlite.sql and postgresql.sql are produced from the SQLAlchemy models; a gate regenerates both and fails on any difference, and a planted hand-edit is shown to trip it.</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A mismatched database is refused at startup</a:t>
            </a:r>
          </a:p>
          <a:p>
            <a:pPr lvl="1">
              <a:lnSpc>
                <a:spcPct val="120000"/>
              </a:lnSpc>
              <a:spcBef>
                <a:spcPts val="0"/>
              </a:spcBef>
              <a:spcAft>
                <a:spcPts val="0"/>
              </a:spcAft>
            </a:pPr>
            <a:r>
              <a:rPr sz="1450" b="0">
                <a:solidFill>
                  <a:srgbClr val="4A4F57"/>
                </a:solidFill>
                <a:latin typeface="Calibri"/>
              </a:rPr>
              <a:t>It is never upgraded in place. There is no migration tool, so there is no half-applied migration — and the upgrade is a procedure somebody has to run. The trade is stated rather than hidden.</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The upgrade path is export, recreate, import</a:t>
            </a:r>
          </a:p>
          <a:p>
            <a:pPr lvl="1">
              <a:lnSpc>
                <a:spcPct val="120000"/>
              </a:lnSpc>
              <a:spcBef>
                <a:spcPts val="0"/>
              </a:spcBef>
              <a:spcAft>
                <a:spcPts val="0"/>
              </a:spcAft>
            </a:pPr>
            <a:r>
              <a:rPr sz="1450" b="0">
                <a:solidFill>
                  <a:srgbClr val="4A4F57"/>
                </a:solidFill>
                <a:latin typeface="Calibri"/>
              </a:rPr>
              <a:t>The estate export reads the database as it stands, so it still works across the schema change that made it necessary, and a column it cannot fill is named rather than defaulted.</a:t>
            </a:r>
          </a:p>
          <a:p>
            <a:pPr>
              <a:lnSpc>
                <a:spcPct val="120000"/>
              </a:lnSpc>
              <a:spcBef>
                <a:spcPts val="500"/>
              </a:spcBef>
              <a:spcAft>
                <a:spcPts val="100"/>
              </a:spcAft>
            </a:pPr>
            <a:r>
              <a:rPr sz="1600" b="1">
                <a:solidFill>
                  <a:srgbClr val="A51C30"/>
                </a:solidFill>
                <a:latin typeface="Calibri"/>
              </a:rPr>
              <a:t>▪  </a:t>
            </a:r>
            <a:r>
              <a:rPr sz="1600" b="1">
                <a:solidFill>
                  <a:srgbClr val="1C1C1E"/>
                </a:solidFill>
                <a:latin typeface="Calibri"/>
              </a:rPr>
              <a:t>One door to the database</a:t>
            </a:r>
          </a:p>
          <a:p>
            <a:pPr lvl="1">
              <a:lnSpc>
                <a:spcPct val="120000"/>
              </a:lnSpc>
              <a:spcBef>
                <a:spcPts val="0"/>
              </a:spcBef>
              <a:spcAft>
                <a:spcPts val="0"/>
              </a:spcAft>
            </a:pPr>
            <a:r>
              <a:rPr sz="1450" b="0">
                <a:solidFill>
                  <a:srgbClr val="4A4F57"/>
                </a:solidFill>
                <a:latin typeface="Calibri"/>
              </a:rPr>
              <a:t>No SQLAlchemy import outside maya/persistence, held by a gate. The suite has run green on PostgreSQL 16, 17 and 18; 14 is the documented floor and has not been run.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CODE ARTIFACTS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Six rungs, one refusal each, then a sandbox tier that is declared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72</a:t>
            </a:r>
          </a:p>
        </p:txBody>
      </p:sp>
      <p:sp>
        <p:nvSpPr>
          <p:cNvPr id="10" name="TextBox 9"/>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model may carry uploaded Python. It is treated as hostile until proved otherwise, and the ladder stops at the first failing rung and records the rest as not run — so a report never implies a check it did not perform.</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maya/formula/artifact.py and maya/security/sandbox.py; tests/test_sandbox.py, tests/test_sandbox_linux.py. Rungs 1–5 decide the verdict. The tier is strong on Linux only when a probe child fails to escape a bubblewrap jail with a seccomp filter and a cgroup scope, and it is stamped on every artifact validated under it.</a:t>
            </a:r>
          </a:p>
        </p:txBody>
      </p:sp>
      <p:graphicFrame>
        <p:nvGraphicFramePr>
          <p:cNvPr id="13" name="Table 12"/>
          <p:cNvGraphicFramePr>
            <a:graphicFrameLocks noGrp="1"/>
          </p:cNvGraphicFramePr>
          <p:nvPr/>
        </p:nvGraphicFramePr>
        <p:xfrm>
          <a:off x="777240" y="1976247"/>
          <a:ext cx="10637214" cy="3451034"/>
        </p:xfrm>
        <a:graphic>
          <a:graphicData uri="http://schemas.openxmlformats.org/drawingml/2006/table">
            <a:tbl>
              <a:tblPr firstRow="1">
                <a:tableStyleId>{5C22544A-7EE6-4342-B048-85BDC9FD1C3A}</a:tableStyleId>
              </a:tblPr>
              <a:tblGrid>
                <a:gridCol w="1742302"/>
                <a:gridCol w="8894912"/>
              </a:tblGrid>
              <a:tr h="318579">
                <a:tc>
                  <a:txBody>
                    <a:bodyPr wrap="square"/>
                    <a:lstStyle/>
                    <a:p>
                      <a:r>
                        <a:rPr sz="1300" b="1">
                          <a:solidFill>
                            <a:srgbClr val="FFFFFF"/>
                          </a:solidFill>
                          <a:latin typeface="Calibri"/>
                        </a:rPr>
                        <a:t>Rung</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559562">
                <a:tc>
                  <a:txBody>
                    <a:bodyPr wrap="square"/>
                    <a:lstStyle/>
                    <a:p>
                      <a:r>
                        <a:rPr sz="1400" b="1">
                          <a:solidFill>
                            <a:srgbClr val="761422"/>
                          </a:solidFill>
                          <a:latin typeface="Calibri"/>
                        </a:rPr>
                        <a:t>1  parse</a:t>
                      </a:r>
                    </a:p>
                  </a:txBody>
                  <a:tcPr marL="82296" marR="64008" marT="32004" marB="32004" anchor="ctr">
                    <a:solidFill>
                      <a:srgbClr val="FFFFFF"/>
                    </a:solidFill>
                  </a:tcPr>
                </a:tc>
                <a:tc>
                  <a:txBody>
                    <a:bodyPr wrap="square"/>
                    <a:lstStyle/>
                    <a:p>
                      <a:r>
                        <a:rPr sz="1400" b="0">
                          <a:solidFill>
                            <a:srgbClr val="1C1C1E"/>
                          </a:solidFill>
                          <a:latin typeface="Calibri"/>
                        </a:rPr>
                        <a:t>The source parses; a linter runs where it is installed, and whether it ran is recorded rather than assumed</a:t>
                      </a:r>
                    </a:p>
                  </a:txBody>
                  <a:tcPr marL="82296" marR="64008" marT="32004" marB="32004" anchor="ctr">
                    <a:solidFill>
                      <a:srgbClr val="FFFFFF"/>
                    </a:solidFill>
                  </a:tcPr>
                </a:tc>
              </a:tr>
              <a:tr h="559562">
                <a:tc>
                  <a:txBody>
                    <a:bodyPr wrap="square"/>
                    <a:lstStyle/>
                    <a:p>
                      <a:r>
                        <a:rPr sz="1400" b="1">
                          <a:solidFill>
                            <a:srgbClr val="761422"/>
                          </a:solidFill>
                          <a:latin typeface="Calibri"/>
                        </a:rPr>
                        <a:t>2  entry point</a:t>
                      </a:r>
                    </a:p>
                  </a:txBody>
                  <a:tcPr marL="82296" marR="64008" marT="32004" marB="32004" anchor="ctr">
                    <a:solidFill>
                      <a:srgbClr val="F6F3EF"/>
                    </a:solidFill>
                  </a:tcPr>
                </a:tc>
                <a:tc>
                  <a:txBody>
                    <a:bodyPr wrap="square"/>
                    <a:lstStyle/>
                    <a:p>
                      <a:r>
                        <a:rPr sz="1400" b="0">
                          <a:solidFill>
                            <a:srgbClr val="1C1C1E"/>
                          </a:solidFill>
                          <a:latin typeface="Calibri"/>
                        </a:rPr>
                        <a:t>The declared class implements the interface MAYA will call: fit and predict, with the signatures it expects</a:t>
                      </a:r>
                    </a:p>
                  </a:txBody>
                  <a:tcPr marL="82296" marR="64008" marT="32004" marB="32004" anchor="ctr">
                    <a:solidFill>
                      <a:srgbClr val="F6F3EF"/>
                    </a:solidFill>
                  </a:tcPr>
                </a:tc>
              </a:tr>
              <a:tr h="559562">
                <a:tc>
                  <a:txBody>
                    <a:bodyPr wrap="square"/>
                    <a:lstStyle/>
                    <a:p>
                      <a:r>
                        <a:rPr sz="1400" b="1">
                          <a:solidFill>
                            <a:srgbClr val="761422"/>
                          </a:solidFill>
                          <a:latin typeface="Calibri"/>
                        </a:rPr>
                        <a:t>3  import allowlist</a:t>
                      </a:r>
                    </a:p>
                  </a:txBody>
                  <a:tcPr marL="82296" marR="64008" marT="32004" marB="32004" anchor="ctr">
                    <a:solidFill>
                      <a:srgbClr val="FFFFFF"/>
                    </a:solidFill>
                  </a:tcPr>
                </a:tc>
                <a:tc>
                  <a:txBody>
                    <a:bodyPr wrap="square"/>
                    <a:lstStyle/>
                    <a:p>
                      <a:r>
                        <a:rPr sz="1400" b="0">
                          <a:solidFill>
                            <a:srgbClr val="1C1C1E"/>
                          </a:solidFill>
                          <a:latin typeface="Calibri"/>
                        </a:rPr>
                        <a:t>Numeric and data libraries only — math, statistics, itertools, numpy, pandas, polars, pyarrow, scipy, scikit-learn, statsmodels and a few more</a:t>
                      </a:r>
                    </a:p>
                  </a:txBody>
                  <a:tcPr marL="82296" marR="64008" marT="32004" marB="32004" anchor="ctr">
                    <a:solidFill>
                      <a:srgbClr val="FFFFFF"/>
                    </a:solidFill>
                  </a:tcPr>
                </a:tc>
              </a:tr>
              <a:tr h="559562">
                <a:tc>
                  <a:txBody>
                    <a:bodyPr wrap="square"/>
                    <a:lstStyle/>
                    <a:p>
                      <a:r>
                        <a:rPr sz="1400" b="1">
                          <a:solidFill>
                            <a:srgbClr val="761422"/>
                          </a:solidFill>
                          <a:latin typeface="Calibri"/>
                        </a:rPr>
                        <a:t>4  static ban</a:t>
                      </a:r>
                    </a:p>
                  </a:txBody>
                  <a:tcPr marL="82296" marR="64008" marT="32004" marB="32004" anchor="ctr">
                    <a:solidFill>
                      <a:srgbClr val="F6F3EF"/>
                    </a:solidFill>
                  </a:tcPr>
                </a:tc>
                <a:tc>
                  <a:txBody>
                    <a:bodyPr wrap="square"/>
                    <a:lstStyle/>
                    <a:p>
                      <a:r>
                        <a:rPr sz="1400" b="0">
                          <a:solidFill>
                            <a:srgbClr val="1C1C1E"/>
                          </a:solidFill>
                          <a:latin typeface="Calibri"/>
                        </a:rPr>
                        <a:t>No open, eval, exec, compile, dynamic import or dunder attribute access; no os, sys, subprocess, socket, pathlib, pickle or threading</a:t>
                      </a:r>
                    </a:p>
                  </a:txBody>
                  <a:tcPr marL="82296" marR="64008" marT="32004" marB="32004" anchor="ctr">
                    <a:solidFill>
                      <a:srgbClr val="F6F3EF"/>
                    </a:solidFill>
                  </a:tcPr>
                </a:tc>
              </a:tr>
              <a:tr h="334645">
                <a:tc>
                  <a:txBody>
                    <a:bodyPr wrap="square"/>
                    <a:lstStyle/>
                    <a:p>
                      <a:r>
                        <a:rPr sz="1400" b="1">
                          <a:solidFill>
                            <a:srgbClr val="761422"/>
                          </a:solidFill>
                          <a:latin typeface="Calibri"/>
                        </a:rPr>
                        <a:t>5  smoke run</a:t>
                      </a:r>
                    </a:p>
                  </a:txBody>
                  <a:tcPr marL="82296" marR="64008" marT="32004" marB="32004" anchor="ctr">
                    <a:solidFill>
                      <a:srgbClr val="FFFFFF"/>
                    </a:solidFill>
                  </a:tcPr>
                </a:tc>
                <a:tc>
                  <a:txBody>
                    <a:bodyPr wrap="square"/>
                    <a:lstStyle/>
                    <a:p>
                      <a:r>
                        <a:rPr sz="1400" b="0">
                          <a:solidFill>
                            <a:srgbClr val="1C1C1E"/>
                          </a:solidFill>
                          <a:latin typeface="Calibri"/>
                        </a:rPr>
                        <a:t>One run in the sandbox against a sample, under CPU, memory and wall-clock caps</a:t>
                      </a:r>
                    </a:p>
                  </a:txBody>
                  <a:tcPr marL="82296" marR="64008" marT="32004" marB="32004" anchor="ctr">
                    <a:solidFill>
                      <a:srgbClr val="FFFFFF"/>
                    </a:solidFill>
                  </a:tcPr>
                </a:tc>
              </a:tr>
              <a:tr h="559562">
                <a:tc>
                  <a:txBody>
                    <a:bodyPr wrap="square"/>
                    <a:lstStyle/>
                    <a:p>
                      <a:r>
                        <a:rPr sz="1400" b="1">
                          <a:solidFill>
                            <a:srgbClr val="761422"/>
                          </a:solidFill>
                          <a:latin typeface="Calibri"/>
                        </a:rPr>
                        <a:t>6  determinism</a:t>
                      </a:r>
                    </a:p>
                  </a:txBody>
                  <a:tcPr marL="82296" marR="64008" marT="32004" marB="32004" anchor="ctr">
                    <a:solidFill>
                      <a:srgbClr val="F6F3EF"/>
                    </a:solidFill>
                  </a:tcPr>
                </a:tc>
                <a:tc>
                  <a:txBody>
                    <a:bodyPr wrap="square"/>
                    <a:lstStyle/>
                    <a:p>
                      <a:r>
                        <a:rPr sz="1400" b="0">
                          <a:solidFill>
                            <a:srgbClr val="1C1C1E"/>
                          </a:solidFill>
                          <a:latin typeface="Calibri"/>
                        </a:rPr>
                        <a:t>The smoke run twice with the same seed, outputs compared — a mismatch is recorded as a warning, not a refusal</a:t>
                      </a:r>
                    </a:p>
                  </a:txBody>
                  <a:tcPr marL="82296" marR="64008" marT="32004" marB="32004" anchor="ctr">
                    <a:solidFill>
                      <a:srgbClr val="F6F3E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IS THE CODE THE MATHEMATICS?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Differential testing, and what a black box forfeits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model has two descriptions: the tree MAYA holds, and the Python somebody uploaded. Nothing guarantees they agree, so MAYA compares them on numbers rather than asking anybody to assert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maya/formula/conformance.py and maya/services/models.py; ADR-007. Part 5 carries two studies through on these terms: a card-fraud network as a declared black box, and a yield curve whose planted bug only conformance testing can see.</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Conformance testing</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250" b="1">
                <a:solidFill>
                  <a:srgbClr val="A51C30"/>
                </a:solidFill>
                <a:latin typeface="Calibri"/>
              </a:rPr>
              <a:t>▪  </a:t>
            </a:r>
            <a:r>
              <a:rPr sz="1250" b="1">
                <a:solidFill>
                  <a:srgbClr val="1C1C1E"/>
                </a:solidFill>
                <a:latin typeface="Calibri"/>
              </a:rPr>
              <a:t>The comparison</a:t>
            </a:r>
          </a:p>
          <a:p>
            <a:pPr lvl="1">
              <a:lnSpc>
                <a:spcPct val="120000"/>
              </a:lnSpc>
              <a:spcBef>
                <a:spcPts val="0"/>
              </a:spcBef>
              <a:spcAft>
                <a:spcPts val="0"/>
              </a:spcAft>
            </a:pPr>
            <a:r>
              <a:rPr sz="1100" b="0">
                <a:solidFill>
                  <a:srgbClr val="4A4F57"/>
                </a:solidFill>
                <a:latin typeface="Calibri"/>
              </a:rPr>
              <a:t>The uploaded code is run against MAYA's own evaluation of the documented mathematics on sampled inputs, to a relative tolerance of 1e-9.</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Counterexamples, not a verdict</a:t>
            </a:r>
          </a:p>
          <a:p>
            <a:pPr lvl="1">
              <a:lnSpc>
                <a:spcPct val="120000"/>
              </a:lnSpc>
              <a:spcBef>
                <a:spcPts val="0"/>
              </a:spcBef>
              <a:spcAft>
                <a:spcPts val="0"/>
              </a:spcAft>
            </a:pPr>
            <a:r>
              <a:rPr sz="1100" b="0">
                <a:solidFill>
                  <a:srgbClr val="4A4F57"/>
                </a:solidFill>
                <a:latin typeface="Calibri"/>
              </a:rPr>
              <a:t>Up to ten disagreeing rows with the expected and the actual value, so the argument is about numbers.</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Tied to the exact artifact</a:t>
            </a:r>
          </a:p>
          <a:p>
            <a:pPr lvl="1">
              <a:lnSpc>
                <a:spcPct val="120000"/>
              </a:lnSpc>
              <a:spcBef>
                <a:spcPts val="0"/>
              </a:spcBef>
              <a:spcAft>
                <a:spcPts val="0"/>
              </a:spcAft>
            </a:pPr>
            <a:r>
              <a:rPr sz="1100" b="0">
                <a:solidFill>
                  <a:srgbClr val="4A4F57"/>
                </a:solidFill>
                <a:latin typeface="Calibri"/>
              </a:rPr>
              <a:t>A version with code cannot advance until conformance has run against that artifact hash and agreed everywhere sampled.</a:t>
            </a:r>
          </a:p>
          <a:p>
            <a:pPr>
              <a:lnSpc>
                <a:spcPct val="120000"/>
              </a:lnSpc>
              <a:spcBef>
                <a:spcPts val="500"/>
              </a:spcBef>
              <a:spcAft>
                <a:spcPts val="100"/>
              </a:spcAft>
            </a:pPr>
            <a:r>
              <a:rPr sz="1250" b="1">
                <a:solidFill>
                  <a:srgbClr val="A51C30"/>
                </a:solidFill>
                <a:latin typeface="Calibri"/>
              </a:rPr>
              <a:t>▪  </a:t>
            </a:r>
            <a:r>
              <a:rPr sz="1250" b="1">
                <a:solidFill>
                  <a:srgbClr val="1C1C1E"/>
                </a:solidFill>
                <a:latin typeface="Calibri"/>
              </a:rPr>
              <a:t>Honest about itself, in its first four words</a:t>
            </a:r>
          </a:p>
          <a:p>
            <a:pPr lvl="1">
              <a:lnSpc>
                <a:spcPct val="120000"/>
              </a:lnSpc>
              <a:spcBef>
                <a:spcPts val="0"/>
              </a:spcBef>
              <a:spcAft>
                <a:spcPts val="0"/>
              </a:spcAft>
            </a:pPr>
            <a:r>
              <a:rPr sz="1100" b="0">
                <a:solidFill>
                  <a:srgbClr val="4A4F57"/>
                </a:solidFill>
                <a:latin typeface="Calibri"/>
              </a:rPr>
              <a:t>Sampled agreement is not proof, and MAYA cannot know whether a feature set is representative. An undeclared dial is placed off-centre inside its bounds so a comparison cannot miss a bug by landing on a round number.</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Declared black boxes</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C1C1E"/>
                </a:solidFill>
                <a:latin typeface="Calibri"/>
              </a:rPr>
              <a:t>Registered, not excluded</a:t>
            </a:r>
          </a:p>
          <a:p>
            <a:pPr lvl="1">
              <a:lnSpc>
                <a:spcPct val="120000"/>
              </a:lnSpc>
              <a:spcBef>
                <a:spcPts val="0"/>
              </a:spcBef>
              <a:spcAft>
                <a:spcPts val="0"/>
              </a:spcAft>
            </a:pPr>
            <a:r>
              <a:rPr sz="1150" b="0">
                <a:solidFill>
                  <a:srgbClr val="4A4F57"/>
                </a:solidFill>
                <a:latin typeface="Calibri"/>
              </a:rPr>
              <a:t>With the estimate and the architecture declared, the input contract enforced, and warrants that behave exactly as they do for anything else.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Conformance is skipped and says so</a:t>
            </a:r>
          </a:p>
          <a:p>
            <a:pPr lvl="1">
              <a:lnSpc>
                <a:spcPct val="120000"/>
              </a:lnSpc>
              <a:spcBef>
                <a:spcPts val="0"/>
              </a:spcBef>
              <a:spcAft>
                <a:spcPts val="0"/>
              </a:spcAft>
            </a:pPr>
            <a:r>
              <a:rPr sz="1150" b="0">
                <a:solidFill>
                  <a:srgbClr val="4A4F57"/>
                </a:solidFill>
                <a:latin typeface="Calibri"/>
              </a:rPr>
              <a:t>There is no documented closed form to test against, and the report states that rather than passing quietly.</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Blind scoring is refused by name</a:t>
            </a:r>
          </a:p>
          <a:p>
            <a:pPr lvl="1">
              <a:lnSpc>
                <a:spcPct val="120000"/>
              </a:lnSpc>
              <a:spcBef>
                <a:spcPts val="0"/>
              </a:spcBef>
              <a:spcAft>
                <a:spcPts val="0"/>
              </a:spcAft>
            </a:pPr>
            <a:r>
              <a:rPr sz="1150" b="0">
                <a:solidFill>
                  <a:srgbClr val="4A4F57"/>
                </a:solidFill>
                <a:latin typeface="Calibri"/>
              </a:rPr>
              <a:t>Scoring evaluates the mathematics in process and never runs the uploaded artifact, so for a declared black box there is nothing to score.</a:t>
            </a:r>
          </a:p>
          <a:p>
            <a:pPr>
              <a:lnSpc>
                <a:spcPct val="120000"/>
              </a:lnSpc>
              <a:spcBef>
                <a:spcPts val="500"/>
              </a:spcBef>
              <a:spcAft>
                <a:spcPts val="100"/>
              </a:spcAft>
            </a:pPr>
            <a:r>
              <a:rPr sz="1300" b="1">
                <a:solidFill>
                  <a:srgbClr val="A51C30"/>
                </a:solidFill>
                <a:latin typeface="Calibri"/>
              </a:rPr>
              <a:t>▪  </a:t>
            </a:r>
            <a:r>
              <a:rPr sz="1300" b="1">
                <a:solidFill>
                  <a:srgbClr val="1C1C1E"/>
                </a:solidFill>
                <a:latin typeface="Calibri"/>
              </a:rPr>
              <a:t>Covenants become the control</a:t>
            </a:r>
          </a:p>
          <a:p>
            <a:pPr lvl="1">
              <a:lnSpc>
                <a:spcPct val="120000"/>
              </a:lnSpc>
              <a:spcBef>
                <a:spcPts val="0"/>
              </a:spcBef>
              <a:spcAft>
                <a:spcPts val="0"/>
              </a:spcAft>
            </a:pPr>
            <a:r>
              <a:rPr sz="1150" b="0">
                <a:solidFill>
                  <a:srgbClr val="4A4F57"/>
                </a:solidFill>
                <a:latin typeface="Calibri"/>
              </a:rPr>
              <a:t>For an opaque model they are the only one available, which is exactly where Part 2 said the review effort belongs.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HELD BY GATES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command, and never a remembered list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How it runs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Every architectural rule on the last ten slides is enforced by a program rather than by review, and each rung has been shown to catch a planted fault. A rule that is only written down holds until the first deadline.</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tools/ci/gates.py; tests/test_api_and_gates.py and tests/test_gate_ladder.py. The ladder runs locally and in the pre-commit hook on every commit; there is no hosted continuous integration, by decision.</a:t>
            </a:r>
          </a:p>
        </p:txBody>
      </p:sp>
      <p:graphicFrame>
        <p:nvGraphicFramePr>
          <p:cNvPr id="13" name="Table 12"/>
          <p:cNvGraphicFramePr>
            <a:graphicFrameLocks noGrp="1"/>
          </p:cNvGraphicFramePr>
          <p:nvPr/>
        </p:nvGraphicFramePr>
        <p:xfrm>
          <a:off x="777240" y="2040509"/>
          <a:ext cx="10637214" cy="2891472"/>
        </p:xfrm>
        <a:graphic>
          <a:graphicData uri="http://schemas.openxmlformats.org/drawingml/2006/table">
            <a:tbl>
              <a:tblPr firstRow="1">
                <a:tableStyleId>{5C22544A-7EE6-4342-B048-85BDC9FD1C3A}</a:tableStyleId>
              </a:tblPr>
              <a:tblGrid>
                <a:gridCol w="1558902"/>
                <a:gridCol w="9078312"/>
              </a:tblGrid>
              <a:tr h="318579">
                <a:tc>
                  <a:txBody>
                    <a:bodyPr wrap="square"/>
                    <a:lstStyle/>
                    <a:p>
                      <a:r>
                        <a:rPr sz="1300" b="1">
                          <a:solidFill>
                            <a:srgbClr val="FFFFFF"/>
                          </a:solidFill>
                          <a:latin typeface="Calibri"/>
                        </a:rPr>
                        <a:t>Stage</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1009396">
                <a:tc>
                  <a:txBody>
                    <a:bodyPr wrap="square"/>
                    <a:lstStyle/>
                    <a:p>
                      <a:r>
                        <a:rPr sz="1400" b="1">
                          <a:solidFill>
                            <a:srgbClr val="761422"/>
                          </a:solidFill>
                          <a:latin typeface="Calibri"/>
                        </a:rPr>
                        <a:t>Static, every run</a:t>
                      </a:r>
                    </a:p>
                  </a:txBody>
                  <a:tcPr marL="82296" marR="64008" marT="32004" marB="32004" anchor="ctr">
                    <a:solidFill>
                      <a:srgbClr val="FFFFFF"/>
                    </a:solidFill>
                  </a:tcPr>
                </a:tc>
                <a:tc>
                  <a:txBody>
                    <a:bodyPr wrap="square"/>
                    <a:lstStyle/>
                    <a:p>
                      <a:r>
                        <a:rPr sz="1400" b="0">
                          <a:solidFill>
                            <a:srgbClr val="1C1C1E"/>
                          </a:solidFill>
                          <a:latin typeface="Calibri"/>
                        </a:rPr>
                        <a:t>Lint; strict typing of maya/services; file size; both import boundaries; import cycles; public names per module; seam imports; SDK public symbols; version single source; no secrets; the table contract; colour contrast; SDK↔API parity for 215 endpoints; UI↔SDK parity; the API contract snapshot; protocol literals; a security linter; schema drift</a:t>
                      </a:r>
                    </a:p>
                  </a:txBody>
                  <a:tcPr marL="82296" marR="64008" marT="32004" marB="32004" anchor="ctr">
                    <a:solidFill>
                      <a:srgbClr val="FFFFFF"/>
                    </a:solidFill>
                  </a:tcPr>
                </a:tc>
              </a:tr>
              <a:tr h="334645">
                <a:tc>
                  <a:txBody>
                    <a:bodyPr wrap="square"/>
                    <a:lstStyle/>
                    <a:p>
                      <a:r>
                        <a:rPr sz="1400" b="1">
                          <a:solidFill>
                            <a:srgbClr val="761422"/>
                          </a:solidFill>
                          <a:latin typeface="Calibri"/>
                        </a:rPr>
                        <a:t>--tests</a:t>
                      </a:r>
                    </a:p>
                  </a:txBody>
                  <a:tcPr marL="82296" marR="64008" marT="32004" marB="32004" anchor="ctr">
                    <a:solidFill>
                      <a:srgbClr val="F6F3EF"/>
                    </a:solidFill>
                  </a:tcPr>
                </a:tc>
                <a:tc>
                  <a:txBody>
                    <a:bodyPr wrap="square"/>
                    <a:lstStyle/>
                    <a:p>
                      <a:r>
                        <a:rPr sz="1400" b="0">
                          <a:solidFill>
                            <a:srgbClr val="1C1C1E"/>
                          </a:solidFill>
                          <a:latin typeface="Calibri"/>
                        </a:rPr>
                        <a:t>The whole suite under a 90% line-coverage floor; 92.9% at this release</a:t>
                      </a:r>
                    </a:p>
                  </a:txBody>
                  <a:tcPr marL="82296" marR="64008" marT="32004" marB="32004" anchor="ctr">
                    <a:solidFill>
                      <a:srgbClr val="F6F3EF"/>
                    </a:solidFill>
                  </a:tcPr>
                </a:tc>
              </a:tr>
              <a:tr h="559562">
                <a:tc>
                  <a:txBody>
                    <a:bodyPr wrap="square"/>
                    <a:lstStyle/>
                    <a:p>
                      <a:r>
                        <a:rPr sz="1400" b="1">
                          <a:solidFill>
                            <a:srgbClr val="761422"/>
                          </a:solidFill>
                          <a:latin typeface="Calibri"/>
                        </a:rPr>
                        <a:t>--fallback</a:t>
                      </a:r>
                    </a:p>
                  </a:txBody>
                  <a:tcPr marL="82296" marR="64008" marT="32004" marB="32004" anchor="ctr">
                    <a:solidFill>
                      <a:srgbClr val="FFFFFF"/>
                    </a:solidFill>
                  </a:tcPr>
                </a:tc>
                <a:tc>
                  <a:txBody>
                    <a:bodyPr wrap="square"/>
                    <a:lstStyle/>
                    <a:p>
                      <a:r>
                        <a:rPr sz="1400" b="0">
                          <a:solidFill>
                            <a:srgbClr val="1C1C1E"/>
                          </a:solidFill>
                          <a:latin typeface="Calibri"/>
                        </a:rPr>
                        <a:t>The suite again with every optional accelerator pinned to its pure-Python fallback, so the fallback is a tested path rather than a hope</a:t>
                      </a:r>
                    </a:p>
                  </a:txBody>
                  <a:tcPr marL="82296" marR="64008" marT="32004" marB="32004" anchor="ctr">
                    <a:solidFill>
                      <a:srgbClr val="FFFFFF"/>
                    </a:solidFill>
                  </a:tcPr>
                </a:tc>
              </a:tr>
              <a:tr h="334645">
                <a:tc>
                  <a:txBody>
                    <a:bodyPr wrap="square"/>
                    <a:lstStyle/>
                    <a:p>
                      <a:r>
                        <a:rPr sz="1400" b="1">
                          <a:solidFill>
                            <a:srgbClr val="761422"/>
                          </a:solidFill>
                          <a:latin typeface="Calibri"/>
                        </a:rPr>
                        <a:t>--security</a:t>
                      </a:r>
                    </a:p>
                  </a:txBody>
                  <a:tcPr marL="82296" marR="64008" marT="32004" marB="32004" anchor="ctr">
                    <a:solidFill>
                      <a:srgbClr val="F6F3EF"/>
                    </a:solidFill>
                  </a:tcPr>
                </a:tc>
                <a:tc>
                  <a:txBody>
                    <a:bodyPr wrap="square"/>
                    <a:lstStyle/>
                    <a:p>
                      <a:r>
                        <a:rPr sz="1400" b="0">
                          <a:solidFill>
                            <a:srgbClr val="1C1C1E"/>
                          </a:solidFill>
                          <a:latin typeface="Calibri"/>
                        </a:rPr>
                        <a:t>A dependency audit, and the sandbox escape tests</a:t>
                      </a:r>
                    </a:p>
                  </a:txBody>
                  <a:tcPr marL="82296" marR="64008" marT="32004" marB="32004" anchor="ctr">
                    <a:solidFill>
                      <a:srgbClr val="F6F3EF"/>
                    </a:solidFill>
                  </a:tcPr>
                </a:tc>
              </a:tr>
              <a:tr h="334645">
                <a:tc>
                  <a:txBody>
                    <a:bodyPr wrap="square"/>
                    <a:lstStyle/>
                    <a:p>
                      <a:r>
                        <a:rPr sz="1400" b="1">
                          <a:solidFill>
                            <a:srgbClr val="761422"/>
                          </a:solidFill>
                          <a:latin typeface="Calibri"/>
                        </a:rPr>
                        <a:t>--bench</a:t>
                      </a:r>
                    </a:p>
                  </a:txBody>
                  <a:tcPr marL="82296" marR="64008" marT="32004" marB="32004" anchor="ctr">
                    <a:solidFill>
                      <a:srgbClr val="FFFFFF"/>
                    </a:solidFill>
                  </a:tcPr>
                </a:tc>
                <a:tc>
                  <a:txBody>
                    <a:bodyPr wrap="square"/>
                    <a:lstStyle/>
                    <a:p>
                      <a:r>
                        <a:rPr sz="1400" b="0">
                          <a:solidFill>
                            <a:srgbClr val="1C1C1E"/>
                          </a:solidFill>
                          <a:latin typeface="Calibri"/>
                        </a:rPr>
                        <a:t>A benchmark regression of more than 10% needs a written note</a:t>
                      </a:r>
                    </a:p>
                  </a:txBody>
                  <a:tcPr marL="82296" marR="64008" marT="32004" marB="32004" anchor="ctr">
                    <a:solidFill>
                      <a:srgbClr val="FFFF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5</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Four models, carried the whole way</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Nine studies live in the repository as runnable scripts against a throwaway instance. Four are shown here, chosen to be different in kind rather than four of the same: a plain complete pass, a model nobody can see inside, a model written as mathematics, and a composite whose hardest numbers are judgements.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How to read these four</a:t>
            </a:r>
          </a:p>
          <a:p>
            <a:pPr>
              <a:lnSpc>
                <a:spcPct val="115000"/>
              </a:lnSpc>
              <a:spcBef>
                <a:spcPts val="0"/>
              </a:spcBef>
              <a:spcAft>
                <a:spcPts val="600"/>
              </a:spcAft>
            </a:pPr>
            <a:r>
              <a:rPr sz="1200" b="0" i="0">
                <a:solidFill>
                  <a:srgbClr val="F6E6E9"/>
                </a:solidFill>
                <a:latin typeface="Calibri"/>
              </a:rPr>
              <a:t>A retail scorecard, end to end</a:t>
            </a:r>
          </a:p>
          <a:p>
            <a:pPr>
              <a:lnSpc>
                <a:spcPct val="115000"/>
              </a:lnSpc>
              <a:spcBef>
                <a:spcPts val="0"/>
              </a:spcBef>
              <a:spcAft>
                <a:spcPts val="600"/>
              </a:spcAft>
            </a:pPr>
            <a:r>
              <a:rPr sz="1200" b="0" i="0">
                <a:solidFill>
                  <a:srgbClr val="F6E6E9"/>
                </a:solidFill>
                <a:latin typeface="Calibri"/>
              </a:rPr>
              <a:t>Where it said no, and why each no was right</a:t>
            </a:r>
          </a:p>
          <a:p>
            <a:pPr>
              <a:lnSpc>
                <a:spcPct val="115000"/>
              </a:lnSpc>
              <a:spcBef>
                <a:spcPts val="0"/>
              </a:spcBef>
              <a:spcAft>
                <a:spcPts val="600"/>
              </a:spcAft>
            </a:pPr>
            <a:r>
              <a:rPr sz="1200" b="0" i="0">
                <a:solidFill>
                  <a:srgbClr val="F6E6E9"/>
                </a:solidFill>
                <a:latin typeface="Calibri"/>
              </a:rPr>
              <a:t>A neural network nobody can see inside</a:t>
            </a:r>
          </a:p>
          <a:p>
            <a:pPr>
              <a:lnSpc>
                <a:spcPct val="115000"/>
              </a:lnSpc>
              <a:spcBef>
                <a:spcPts val="0"/>
              </a:spcBef>
              <a:spcAft>
                <a:spcPts val="600"/>
              </a:spcAft>
            </a:pPr>
            <a:r>
              <a:rPr sz="1200" b="0" i="0">
                <a:solidFill>
                  <a:srgbClr val="F6E6E9"/>
                </a:solidFill>
                <a:latin typeface="Calibri"/>
              </a:rPr>
              <a:t>What governance still holds, and what is forfeited</a:t>
            </a:r>
          </a:p>
          <a:p>
            <a:pPr>
              <a:lnSpc>
                <a:spcPct val="115000"/>
              </a:lnSpc>
              <a:spcBef>
                <a:spcPts val="0"/>
              </a:spcBef>
              <a:spcAft>
                <a:spcPts val="600"/>
              </a:spcAft>
            </a:pPr>
            <a:r>
              <a:rPr sz="1200" b="0" i="0">
                <a:solidFill>
                  <a:srgbClr val="F6E6E9"/>
                </a:solidFill>
                <a:latin typeface="Calibri"/>
              </a:rPr>
              <a:t>A yield curve written in LaTeX</a:t>
            </a:r>
          </a:p>
          <a:p>
            <a:pPr>
              <a:lnSpc>
                <a:spcPct val="115000"/>
              </a:lnSpc>
              <a:spcBef>
                <a:spcPts val="0"/>
              </a:spcBef>
              <a:spcAft>
                <a:spcPts val="600"/>
              </a:spcAft>
            </a:pPr>
            <a:r>
              <a:rPr sz="1200" b="0" i="0">
                <a:solidFill>
                  <a:srgbClr val="F6E6E9"/>
                </a:solidFill>
                <a:latin typeface="Calibri"/>
              </a:rPr>
              <a:t>The bug that only a second reading finds</a:t>
            </a:r>
          </a:p>
          <a:p>
            <a:pPr>
              <a:lnSpc>
                <a:spcPct val="115000"/>
              </a:lnSpc>
              <a:spcBef>
                <a:spcPts val="0"/>
              </a:spcBef>
              <a:spcAft>
                <a:spcPts val="600"/>
              </a:spcAft>
            </a:pPr>
            <a:r>
              <a:rPr sz="1200" b="0" i="0">
                <a:solidFill>
                  <a:srgbClr val="F6E6E9"/>
                </a:solidFill>
                <a:latin typeface="Calibri"/>
              </a:rPr>
              <a:t>An impairment composite, and two numbers a committee owns</a:t>
            </a:r>
          </a:p>
          <a:p>
            <a:pPr>
              <a:lnSpc>
                <a:spcPct val="115000"/>
              </a:lnSpc>
              <a:spcBef>
                <a:spcPts val="0"/>
              </a:spcBef>
              <a:spcAft>
                <a:spcPts val="600"/>
              </a:spcAft>
            </a:pPr>
            <a:r>
              <a:rPr sz="1200" b="0" i="0">
                <a:solidFill>
                  <a:srgbClr val="F6E6E9"/>
                </a:solidFill>
                <a:latin typeface="Calibri"/>
              </a:rPr>
              <a:t>The finding the study refused to tune away</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TO READ THESE FOUR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Different in kind, so that four studies say four things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Each study is told in the same four movements so they can be compared: what the model is, what MAYA was given, where it said no, and what the study found. The refusals and the findings are the point. A case study that only demonstrates success is a brochure.</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 — nine built of a catalogued fifty; all data is synthetic and written by the make_data.py beside each study.</a:t>
            </a:r>
          </a:p>
        </p:txBody>
      </p:sp>
      <p:sp>
        <p:nvSpPr>
          <p:cNvPr id="13" name="Rectangle 12"/>
          <p:cNvSpPr/>
          <p:nvPr/>
        </p:nvSpPr>
        <p:spPr>
          <a:xfrm>
            <a:off x="777240" y="22849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4495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01</a:t>
            </a:r>
          </a:p>
        </p:txBody>
      </p:sp>
      <p:sp>
        <p:nvSpPr>
          <p:cNvPr id="16" name="TextBox 15"/>
          <p:cNvSpPr txBox="1"/>
          <p:nvPr/>
        </p:nvSpPr>
        <p:spPr>
          <a:xfrm>
            <a:off x="960120" y="27056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Retail PD scorecard</a:t>
            </a:r>
          </a:p>
        </p:txBody>
      </p:sp>
      <p:sp>
        <p:nvSpPr>
          <p:cNvPr id="17" name="TextBox 16"/>
          <p:cNvSpPr txBox="1"/>
          <p:nvPr/>
        </p:nvSpPr>
        <p:spPr>
          <a:xfrm>
            <a:off x="960120" y="3054096"/>
            <a:ext cx="4870551" cy="817879"/>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The plainest complete pass through the whole chain: data ingested and pinned, a feature set, a fitted model, both warrants, a blind score. This is where Part 1's vocabulary becomes a sequence of steps you can run.</a:t>
            </a:r>
          </a:p>
        </p:txBody>
      </p:sp>
      <p:sp>
        <p:nvSpPr>
          <p:cNvPr id="18" name="Rectangle 17"/>
          <p:cNvSpPr/>
          <p:nvPr/>
        </p:nvSpPr>
        <p:spPr>
          <a:xfrm>
            <a:off x="6178143" y="22849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8143" y="22849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1023" y="24495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07</a:t>
            </a:r>
          </a:p>
        </p:txBody>
      </p:sp>
      <p:sp>
        <p:nvSpPr>
          <p:cNvPr id="21" name="TextBox 20"/>
          <p:cNvSpPr txBox="1"/>
          <p:nvPr/>
        </p:nvSpPr>
        <p:spPr>
          <a:xfrm>
            <a:off x="6361023" y="27056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Card-fraud neural network</a:t>
            </a:r>
          </a:p>
        </p:txBody>
      </p:sp>
      <p:sp>
        <p:nvSpPr>
          <p:cNvPr id="22" name="TextBox 21"/>
          <p:cNvSpPr txBox="1"/>
          <p:nvPr/>
        </p:nvSpPr>
        <p:spPr>
          <a:xfrm>
            <a:off x="6361023" y="3054096"/>
            <a:ext cx="4870551" cy="817879"/>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 declared black box. MAYA cannot see inside it, so the study is about what governance still holds when the mathematics is unavailable — and what is forfeited, refused by name rather than quietly degraded.</a:t>
            </a:r>
          </a:p>
        </p:txBody>
      </p:sp>
      <p:sp>
        <p:nvSpPr>
          <p:cNvPr id="23" name="Rectangle 22"/>
          <p:cNvSpPr/>
          <p:nvPr/>
        </p:nvSpPr>
        <p:spPr>
          <a:xfrm>
            <a:off x="777240" y="41645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1645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3291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11</a:t>
            </a:r>
          </a:p>
        </p:txBody>
      </p:sp>
      <p:sp>
        <p:nvSpPr>
          <p:cNvPr id="26" name="TextBox 25"/>
          <p:cNvSpPr txBox="1"/>
          <p:nvPr/>
        </p:nvSpPr>
        <p:spPr>
          <a:xfrm>
            <a:off x="960120" y="45852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Nelson–Siegel yield curve</a:t>
            </a:r>
          </a:p>
        </p:txBody>
      </p:sp>
      <p:sp>
        <p:nvSpPr>
          <p:cNvPr id="27" name="TextBox 26"/>
          <p:cNvSpPr txBox="1"/>
          <p:nvPr/>
        </p:nvSpPr>
        <p:spPr>
          <a:xfrm>
            <a:off x="960120" y="4933696"/>
            <a:ext cx="4870551" cy="81788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Four lines of LaTeX become a typed tree, and MAYA generates its own reference implementation from it. The study then finds a bug that is invisible to every test the desk would have written.</a:t>
            </a:r>
          </a:p>
        </p:txBody>
      </p:sp>
      <p:sp>
        <p:nvSpPr>
          <p:cNvPr id="28" name="Rectangle 27"/>
          <p:cNvSpPr/>
          <p:nvPr/>
        </p:nvSpPr>
        <p:spPr>
          <a:xfrm>
            <a:off x="6178143" y="4164584"/>
            <a:ext cx="5236311" cy="171500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8143" y="41645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1023" y="43291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06</a:t>
            </a:r>
          </a:p>
        </p:txBody>
      </p:sp>
      <p:sp>
        <p:nvSpPr>
          <p:cNvPr id="31" name="TextBox 30"/>
          <p:cNvSpPr txBox="1"/>
          <p:nvPr/>
        </p:nvSpPr>
        <p:spPr>
          <a:xfrm>
            <a:off x="6361023" y="45852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IFRS 9 expected credit loss</a:t>
            </a:r>
          </a:p>
        </p:txBody>
      </p:sp>
      <p:sp>
        <p:nvSpPr>
          <p:cNvPr id="32" name="TextBox 31"/>
          <p:cNvSpPr txBox="1"/>
          <p:nvPr/>
        </p:nvSpPr>
        <p:spPr>
          <a:xfrm>
            <a:off x="6361023" y="4933696"/>
            <a:ext cx="4870551" cy="81788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4F57"/>
                </a:solidFill>
                <a:latin typeface="Calibri"/>
              </a:rPr>
              <a:t>A composite of three fitted members under a combiner whose two parameters belong to an accounting committee and to no member. The most demanding of the four, and the one with the most uncomfortable finding.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RETAIL CREDIT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scorecard from three CSVs to a sealed licence to run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77</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Seven scripts, run in order, each doing one step as a named person. Nothing in the study touches the database: every action goes through the SDK, as a user with the role for it.</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case_studies/01-retail-credit-pd-scorecard — a twelve-month PD on revolving unsecured retail accounts, four drivers, fitted by IRLS in twelve lines of numpy.</a:t>
            </a:r>
          </a:p>
        </p:txBody>
      </p:sp>
      <p:sp>
        <p:nvSpPr>
          <p:cNvPr id="13" name="Rectangle 12"/>
          <p:cNvSpPr/>
          <p:nvPr/>
        </p:nvSpPr>
        <p:spPr>
          <a:xfrm>
            <a:off x="77724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Ingest</a:t>
            </a:r>
          </a:p>
        </p:txBody>
      </p:sp>
      <p:sp>
        <p:nvSpPr>
          <p:cNvPr id="16" name="TextBox 15"/>
          <p:cNvSpPr txBox="1"/>
          <p:nvPr/>
        </p:nvSpPr>
        <p:spPr>
          <a:xfrm>
            <a:off x="96012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Three features by dana, approved by mick</a:t>
            </a:r>
          </a:p>
        </p:txBody>
      </p:sp>
      <p:sp>
        <p:nvSpPr>
          <p:cNvPr id="17" name="Rectangle 16"/>
          <p:cNvSpPr/>
          <p:nvPr/>
        </p:nvSpPr>
        <p:spPr>
          <a:xfrm>
            <a:off x="2333418"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3418"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6298"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Assemble</a:t>
            </a:r>
          </a:p>
        </p:txBody>
      </p:sp>
      <p:sp>
        <p:nvSpPr>
          <p:cNvPr id="20" name="TextBox 19"/>
          <p:cNvSpPr txBox="1"/>
          <p:nvPr/>
        </p:nvSpPr>
        <p:spPr>
          <a:xfrm>
            <a:off x="2516298"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pd_panel by devi, approved by mick</a:t>
            </a:r>
          </a:p>
        </p:txBody>
      </p:sp>
      <p:cxnSp>
        <p:nvCxnSpPr>
          <p:cNvPr id="21" name="Connector 20"/>
          <p:cNvCxnSpPr/>
          <p:nvPr/>
        </p:nvCxnSpPr>
        <p:spPr>
          <a:xfrm>
            <a:off x="2104818"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889596"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889596"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72476"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Pin</a:t>
            </a:r>
          </a:p>
        </p:txBody>
      </p:sp>
      <p:sp>
        <p:nvSpPr>
          <p:cNvPr id="25" name="TextBox 24"/>
          <p:cNvSpPr txBox="1"/>
          <p:nvPr/>
        </p:nvSpPr>
        <p:spPr>
          <a:xfrm>
            <a:off x="4072476"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Cascade, as of 2025-06-30, 9,600 rows</a:t>
            </a:r>
          </a:p>
        </p:txBody>
      </p:sp>
      <p:cxnSp>
        <p:nvCxnSpPr>
          <p:cNvPr id="26" name="Connector 25"/>
          <p:cNvCxnSpPr/>
          <p:nvPr/>
        </p:nvCxnSpPr>
        <p:spPr>
          <a:xfrm>
            <a:off x="3660996"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445774"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45774"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28654"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C1C1E"/>
                </a:solidFill>
                <a:latin typeface="Georgia"/>
              </a:rPr>
              <a:t>Register</a:t>
            </a:r>
          </a:p>
        </p:txBody>
      </p:sp>
      <p:sp>
        <p:nvSpPr>
          <p:cNvPr id="30" name="TextBox 29"/>
          <p:cNvSpPr txBox="1"/>
          <p:nvPr/>
        </p:nvSpPr>
        <p:spPr>
          <a:xfrm>
            <a:off x="5628654" y="2537523"/>
            <a:ext cx="934386" cy="1112329"/>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The formula by mona, approved by mgr</a:t>
            </a:r>
          </a:p>
        </p:txBody>
      </p:sp>
      <p:cxnSp>
        <p:nvCxnSpPr>
          <p:cNvPr id="31" name="Connector 30"/>
          <p:cNvCxnSpPr/>
          <p:nvPr/>
        </p:nvCxnSpPr>
        <p:spPr>
          <a:xfrm>
            <a:off x="5217174"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001952"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001952"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84832"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Fit</a:t>
            </a:r>
          </a:p>
        </p:txBody>
      </p:sp>
      <p:sp>
        <p:nvSpPr>
          <p:cNvPr id="35" name="TextBox 34"/>
          <p:cNvSpPr txBox="1"/>
          <p:nvPr/>
        </p:nvSpPr>
        <p:spPr>
          <a:xfrm>
            <a:off x="7184832"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Under a training warrant, by devi</a:t>
            </a:r>
          </a:p>
        </p:txBody>
      </p:sp>
      <p:cxnSp>
        <p:nvCxnSpPr>
          <p:cNvPr id="36" name="Connector 35"/>
          <p:cNvCxnSpPr/>
          <p:nvPr/>
        </p:nvCxnSpPr>
        <p:spPr>
          <a:xfrm>
            <a:off x="6773352"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558130"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58130"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41010"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Approve</a:t>
            </a:r>
          </a:p>
        </p:txBody>
      </p:sp>
      <p:sp>
        <p:nvSpPr>
          <p:cNvPr id="40" name="TextBox 39"/>
          <p:cNvSpPr txBox="1"/>
          <p:nvPr/>
        </p:nvSpPr>
        <p:spPr>
          <a:xfrm>
            <a:off x="8741010"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Parameters by mgr; the run is blind-scored</a:t>
            </a:r>
          </a:p>
        </p:txBody>
      </p:sp>
      <p:cxnSp>
        <p:nvCxnSpPr>
          <p:cNvPr id="41" name="Connector 40"/>
          <p:cNvCxnSpPr/>
          <p:nvPr/>
        </p:nvCxnSpPr>
        <p:spPr>
          <a:xfrm>
            <a:off x="8329530"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10114309" y="2040509"/>
            <a:ext cx="1300146" cy="17373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114309" y="2040509"/>
            <a:ext cx="130014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2205101"/>
            <a:ext cx="934386"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45" name="TextBox 44"/>
          <p:cNvSpPr txBox="1"/>
          <p:nvPr/>
        </p:nvSpPr>
        <p:spPr>
          <a:xfrm>
            <a:off x="10297189" y="2553589"/>
            <a:ext cx="934386" cy="1096264"/>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4F57"/>
                </a:solidFill>
                <a:latin typeface="Calibri"/>
              </a:rPr>
              <a:t>Execution warrant, second approver lara</a:t>
            </a:r>
          </a:p>
        </p:txBody>
      </p:sp>
      <p:cxnSp>
        <p:nvCxnSpPr>
          <p:cNvPr id="46" name="Connector 45"/>
          <p:cNvCxnSpPr/>
          <p:nvPr/>
        </p:nvCxnSpPr>
        <p:spPr>
          <a:xfrm>
            <a:off x="9885709" y="290918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THE CENTRING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One line of the formula that had to be in the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78</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scorecard's first statement is b = (bureau − 680) / 60. It is part of the governed mathematics, not a step in the fitting script, and the reason is structural rather than stylistic.</a:t>
            </a:r>
          </a:p>
        </p:txBody>
      </p:sp>
      <p:sp>
        <p:nvSpPr>
          <p:cNvPr id="11" name="Rectangle 10"/>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constants are fixed by design and not fitted, and the specification says so in those words.</a:t>
            </a:r>
          </a:p>
        </p:txBody>
      </p:sp>
      <p:sp>
        <p:nvSpPr>
          <p:cNvPr id="13" name="TextBox 12"/>
          <p:cNvSpPr txBox="1"/>
          <p:nvPr/>
        </p:nvSpPr>
        <p:spPr>
          <a:xfrm>
            <a:off x="777240" y="2040509"/>
            <a:ext cx="10637215" cy="383908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Fit and scoring have to read the same statement</a:t>
            </a:r>
          </a:p>
          <a:p>
            <a:pPr lvl="1">
              <a:lnSpc>
                <a:spcPct val="120000"/>
              </a:lnSpc>
              <a:spcBef>
                <a:spcPts val="0"/>
              </a:spcBef>
              <a:spcAft>
                <a:spcPts val="0"/>
              </a:spcAft>
            </a:pPr>
            <a:r>
              <a:rPr sz="1550" b="0">
                <a:solidFill>
                  <a:srgbClr val="4A4F57"/>
                </a:solidFill>
                <a:latin typeface="Calibri"/>
              </a:rPr>
              <a:t>MAYA scores the escrowed holdout by evaluating the tree itself. If the centring lived only in the fitting script, MAYA would feed a raw 300–850 score into a coefficient calibrated to standardised units. The blind score would be garbage and nothing in the platform would notice: the parameter set would still be checksum-verified and still be approved.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coefficient becomes readable</a:t>
            </a:r>
          </a:p>
          <a:p>
            <a:pPr lvl="1">
              <a:lnSpc>
                <a:spcPct val="120000"/>
              </a:lnSpc>
              <a:spcBef>
                <a:spcPts val="0"/>
              </a:spcBef>
              <a:spcAft>
                <a:spcPts val="0"/>
              </a:spcAft>
            </a:pPr>
            <a:r>
              <a:rPr sz="1550" b="0">
                <a:solidFill>
                  <a:srgbClr val="4A4F57"/>
                </a:solidFill>
                <a:latin typeface="Calibri"/>
              </a:rPr>
              <a:t>+0.132 is 'per 60 points away from 680', not 'per point'. Without the declaration a committee cannot read it and a reviewer comparing it with last quarter's cannot know whether the scale moved.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A second implementation cannot quietly choose another centre</a:t>
            </a:r>
          </a:p>
          <a:p>
            <a:pPr lvl="1">
              <a:lnSpc>
                <a:spcPct val="120000"/>
              </a:lnSpc>
              <a:spcBef>
                <a:spcPts val="0"/>
              </a:spcBef>
              <a:spcAft>
                <a:spcPts val="0"/>
              </a:spcAft>
            </a:pPr>
            <a:r>
              <a:rPr sz="1550" b="0">
                <a:solidFill>
                  <a:srgbClr val="4A4F57"/>
                </a:solidFill>
                <a:latin typeface="Calibri"/>
              </a:rPr>
              <a:t>Because the tree is the specification, a desk implementation that centred at 700 would be a spec–code disagreement — which is exactly what study 11 catches.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WHERE IT SAID NO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Five refusals, each one a rule rather than a convention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leakage refusal is resolved by writing the exception down, not by widening the rule: the justification names the target column and is recorded on the warrant.</a:t>
            </a:r>
          </a:p>
        </p:txBody>
      </p:sp>
      <p:graphicFrame>
        <p:nvGraphicFramePr>
          <p:cNvPr id="12" name="Table 11"/>
          <p:cNvGraphicFramePr>
            <a:graphicFrameLocks noGrp="1"/>
          </p:cNvGraphicFramePr>
          <p:nvPr/>
        </p:nvGraphicFramePr>
        <p:xfrm>
          <a:off x="777240" y="1386967"/>
          <a:ext cx="10637214" cy="3742942"/>
        </p:xfrm>
        <a:graphic>
          <a:graphicData uri="http://schemas.openxmlformats.org/drawingml/2006/table">
            <a:tbl>
              <a:tblPr firstRow="1">
                <a:tableStyleId>{5C22544A-7EE6-4342-B048-85BDC9FD1C3A}</a:tableStyleId>
              </a:tblPr>
              <a:tblGrid>
                <a:gridCol w="3545738"/>
                <a:gridCol w="3545738"/>
                <a:gridCol w="3545738"/>
              </a:tblGrid>
              <a:tr h="302514">
                <a:tc>
                  <a:txBody>
                    <a:bodyPr wrap="square"/>
                    <a:lstStyle/>
                    <a:p>
                      <a:r>
                        <a:rPr sz="1200" b="1">
                          <a:solidFill>
                            <a:srgbClr val="FFFFFF"/>
                          </a:solidFill>
                          <a:latin typeface="Calibri"/>
                        </a:rPr>
                        <a:t>Refused</a:t>
                      </a:r>
                    </a:p>
                  </a:txBody>
                  <a:tcPr marL="82296" marR="64008" marT="32004" marB="32004" anchor="ctr">
                    <a:solidFill>
                      <a:srgbClr val="A51C30"/>
                    </a:solidFill>
                  </a:tcPr>
                </a:tc>
                <a:tc>
                  <a:txBody>
                    <a:bodyPr wrap="square"/>
                    <a:lstStyle/>
                    <a:p>
                      <a:r>
                        <a:rPr sz="1200" b="1">
                          <a:solidFill>
                            <a:srgbClr val="FFFFFF"/>
                          </a:solidFill>
                          <a:latin typeface="Calibri"/>
                        </a:rPr>
                        <a:t>What MAYA said</a:t>
                      </a:r>
                    </a:p>
                  </a:txBody>
                  <a:tcPr marL="82296" marR="64008" marT="32004" marB="32004" anchor="ctr">
                    <a:solidFill>
                      <a:srgbClr val="A51C30"/>
                    </a:solidFill>
                  </a:tcPr>
                </a:tc>
                <a:tc>
                  <a:txBody>
                    <a:bodyPr wrap="square"/>
                    <a:lstStyle/>
                    <a:p>
                      <a:r>
                        <a:rPr sz="1200" b="1">
                          <a:solidFill>
                            <a:srgbClr val="FFFFFF"/>
                          </a:solidFill>
                          <a:latin typeface="Calibri"/>
                        </a:rPr>
                        <a:t>Why that is right</a:t>
                      </a:r>
                    </a:p>
                  </a:txBody>
                  <a:tcPr marL="82296" marR="64008" marT="32004" marB="32004" anchor="ctr">
                    <a:solidFill>
                      <a:srgbClr val="A51C30"/>
                    </a:solidFill>
                  </a:tcPr>
                </a:tc>
              </a:tr>
              <a:tr h="495299">
                <a:tc>
                  <a:txBody>
                    <a:bodyPr wrap="square"/>
                    <a:lstStyle/>
                    <a:p>
                      <a:r>
                        <a:rPr sz="1200" b="1">
                          <a:solidFill>
                            <a:srgbClr val="761422"/>
                          </a:solidFill>
                          <a:latin typeface="Calibri"/>
                        </a:rPr>
                        <a:t>dana approving her own feature</a:t>
                      </a:r>
                    </a:p>
                  </a:txBody>
                  <a:tcPr marL="82296" marR="64008" marT="32004" marB="32004" anchor="ctr">
                    <a:solidFill>
                      <a:srgbClr val="FFFFFF"/>
                    </a:solidFill>
                  </a:tcPr>
                </a:tc>
                <a:tc>
                  <a:txBody>
                    <a:bodyPr wrap="square"/>
                    <a:lstStyle/>
                    <a:p>
                      <a:r>
                        <a:rPr sz="1200" b="0">
                          <a:solidFill>
                            <a:srgbClr val="1C1C1E"/>
                          </a:solidFill>
                          <a:latin typeface="Calibri"/>
                        </a:rPr>
                        <a:t>role ceiling: no 'A' on feature in roles feature_designer</a:t>
                      </a:r>
                    </a:p>
                  </a:txBody>
                  <a:tcPr marL="82296" marR="64008" marT="32004" marB="32004" anchor="ctr">
                    <a:solidFill>
                      <a:srgbClr val="FFFFFF"/>
                    </a:solidFill>
                  </a:tcPr>
                </a:tc>
                <a:tc>
                  <a:txBody>
                    <a:bodyPr wrap="square"/>
                    <a:lstStyle/>
                    <a:p>
                      <a:r>
                        <a:rPr sz="1200" b="0">
                          <a:solidFill>
                            <a:srgbClr val="1C1C1E"/>
                          </a:solidFill>
                          <a:latin typeface="Calibri"/>
                        </a:rPr>
                        <a:t>A capability ceiling, not a workflow step. No grant raises it.</a:t>
                      </a:r>
                    </a:p>
                  </a:txBody>
                  <a:tcPr marL="82296" marR="64008" marT="32004" marB="32004" anchor="ctr">
                    <a:solidFill>
                      <a:srgbClr val="FFFFFF"/>
                    </a:solidFill>
                  </a:tcPr>
                </a:tc>
              </a:tr>
              <a:tr h="688086">
                <a:tc>
                  <a:txBody>
                    <a:bodyPr wrap="square"/>
                    <a:lstStyle/>
                    <a:p>
                      <a:r>
                        <a:rPr sz="1200" b="1">
                          <a:solidFill>
                            <a:srgbClr val="761422"/>
                          </a:solidFill>
                          <a:latin typeface="Calibri"/>
                        </a:rPr>
                        <a:t>Submitting a model with an empty document</a:t>
                      </a:r>
                    </a:p>
                  </a:txBody>
                  <a:tcPr marL="82296" marR="64008" marT="32004" marB="32004" anchor="ctr">
                    <a:solidFill>
                      <a:srgbClr val="F6F3EF"/>
                    </a:solidFill>
                  </a:tcPr>
                </a:tc>
                <a:tc>
                  <a:txBody>
                    <a:bodyPr wrap="square"/>
                    <a:lstStyle/>
                    <a:p>
                      <a:r>
                        <a:rPr sz="1200" b="0">
                          <a:solidFill>
                            <a:srgbClr val="1C1C1E"/>
                          </a:solidFill>
                          <a:latin typeface="Calibri"/>
                        </a:rPr>
                        <a:t>required sections empty: Purpose, Scope and Limitations, Assumptions …</a:t>
                      </a:r>
                    </a:p>
                  </a:txBody>
                  <a:tcPr marL="82296" marR="64008" marT="32004" marB="32004" anchor="ctr">
                    <a:solidFill>
                      <a:srgbClr val="F6F3EF"/>
                    </a:solidFill>
                  </a:tcPr>
                </a:tc>
                <a:tc>
                  <a:txBody>
                    <a:bodyPr wrap="square"/>
                    <a:lstStyle/>
                    <a:p>
                      <a:r>
                        <a:rPr sz="1200" b="0">
                          <a:solidFill>
                            <a:srgbClr val="1C1C1E"/>
                          </a:solidFill>
                          <a:latin typeface="Calibri"/>
                        </a:rPr>
                        <a:t>The document is the gate. Two of the nine sections MAYA pre-fills from the parsed tree, so only seven are named.</a:t>
                      </a:r>
                    </a:p>
                  </a:txBody>
                  <a:tcPr marL="82296" marR="64008" marT="32004" marB="32004" anchor="ctr">
                    <a:solidFill>
                      <a:srgbClr val="F6F3EF"/>
                    </a:solidFill>
                  </a:tcPr>
                </a:tc>
              </a:tr>
              <a:tr h="880871">
                <a:tc>
                  <a:txBody>
                    <a:bodyPr wrap="square"/>
                    <a:lstStyle/>
                    <a:p>
                      <a:r>
                        <a:rPr sz="1200" b="1">
                          <a:solidFill>
                            <a:srgbClr val="761422"/>
                          </a:solidFill>
                          <a:latin typeface="Calibri"/>
                        </a:rPr>
                        <a:t>A warrant whose leakage certificate was refused</a:t>
                      </a:r>
                    </a:p>
                  </a:txBody>
                  <a:tcPr marL="82296" marR="64008" marT="32004" marB="32004" anchor="ctr">
                    <a:solidFill>
                      <a:srgbClr val="FFFFFF"/>
                    </a:solidFill>
                  </a:tcPr>
                </a:tc>
                <a:tc>
                  <a:txBody>
                    <a:bodyPr wrap="square"/>
                    <a:lstStyle/>
                    <a:p>
                      <a:r>
                        <a:rPr sz="1200" b="0">
                          <a:solidFill>
                            <a:srgbClr val="1C1C1E"/>
                          </a:solidFill>
                          <a:latin typeface="Calibri"/>
                        </a:rPr>
                        <a:t>leakage certificate: refused; 9,600 violating row(s)</a:t>
                      </a:r>
                    </a:p>
                  </a:txBody>
                  <a:tcPr marL="82296" marR="64008" marT="32004" marB="32004" anchor="ctr">
                    <a:solidFill>
                      <a:srgbClr val="FFFFFF"/>
                    </a:solidFill>
                  </a:tcPr>
                </a:tc>
                <a:tc>
                  <a:txBody>
                    <a:bodyPr wrap="square"/>
                    <a:lstStyle/>
                    <a:p>
                      <a:r>
                        <a:rPr sz="1200" b="0">
                          <a:solidFill>
                            <a:srgbClr val="1C1C1E"/>
                          </a:solidFill>
                          <a:latin typeface="Calibri"/>
                        </a:rPr>
                        <a:t>The panel's clock is the latest of its members', and the twelve-month default flag is knowable a year and a day later. Every row, arithmetically.</a:t>
                      </a:r>
                    </a:p>
                  </a:txBody>
                  <a:tcPr marL="82296" marR="64008" marT="32004" marB="32004" anchor="ctr">
                    <a:solidFill>
                      <a:srgbClr val="FFFFFF"/>
                    </a:solidFill>
                  </a:tcPr>
                </a:tc>
              </a:tr>
              <a:tr h="688086">
                <a:tc>
                  <a:txBody>
                    <a:bodyPr wrap="square"/>
                    <a:lstStyle/>
                    <a:p>
                      <a:r>
                        <a:rPr sz="1200" b="1">
                          <a:solidFill>
                            <a:srgbClr val="761422"/>
                          </a:solidFill>
                          <a:latin typeface="Calibri"/>
                        </a:rPr>
                        <a:t>Parameters that cannot prove their data</a:t>
                      </a:r>
                    </a:p>
                  </a:txBody>
                  <a:tcPr marL="82296" marR="64008" marT="32004" marB="32004" anchor="ctr">
                    <a:solidFill>
                      <a:srgbClr val="F6F3EF"/>
                    </a:solidFill>
                  </a:tcPr>
                </a:tc>
                <a:tc>
                  <a:txBody>
                    <a:bodyPr wrap="square"/>
                    <a:lstStyle/>
                    <a:p>
                      <a:r>
                        <a:rPr sz="1200" b="0">
                          <a:solidFill>
                            <a:srgbClr val="1C1C1E"/>
                          </a:solidFill>
                          <a:latin typeface="Calibri"/>
                        </a:rPr>
                        <a:t>the checksum does not match any download MAYA issued</a:t>
                      </a:r>
                    </a:p>
                  </a:txBody>
                  <a:tcPr marL="82296" marR="64008" marT="32004" marB="32004" anchor="ctr">
                    <a:solidFill>
                      <a:srgbClr val="F6F3EF"/>
                    </a:solidFill>
                  </a:tcPr>
                </a:tc>
                <a:tc>
                  <a:txBody>
                    <a:bodyPr wrap="square"/>
                    <a:lstStyle/>
                    <a:p>
                      <a:r>
                        <a:rPr sz="1200" b="0">
                          <a:solidFill>
                            <a:srgbClr val="1C1C1E"/>
                          </a:solidFill>
                          <a:latin typeface="Calibri"/>
                        </a:rPr>
                        <a:t>'Which data produced these numbers' gets a cryptographic answer instead of a changelog entry.</a:t>
                      </a:r>
                    </a:p>
                  </a:txBody>
                  <a:tcPr marL="82296" marR="64008" marT="32004" marB="32004" anchor="ctr">
                    <a:solidFill>
                      <a:srgbClr val="F6F3EF"/>
                    </a:solidFill>
                  </a:tcPr>
                </a:tc>
              </a:tr>
              <a:tr h="688086">
                <a:tc>
                  <a:txBody>
                    <a:bodyPr wrap="square"/>
                    <a:lstStyle/>
                    <a:p>
                      <a:r>
                        <a:rPr sz="1200" b="1">
                          <a:solidFill>
                            <a:srgbClr val="761422"/>
                          </a:solidFill>
                          <a:latin typeface="Calibri"/>
                        </a:rPr>
                        <a:t>Serving while suspended</a:t>
                      </a:r>
                    </a:p>
                  </a:txBody>
                  <a:tcPr marL="82296" marR="64008" marT="32004" marB="32004" anchor="ctr">
                    <a:solidFill>
                      <a:srgbClr val="FFFFFF"/>
                    </a:solidFill>
                  </a:tcPr>
                </a:tc>
                <a:tc>
                  <a:txBody>
                    <a:bodyPr wrap="square"/>
                    <a:lstStyle/>
                    <a:p>
                      <a:r>
                        <a:rPr sz="1200" b="0">
                          <a:solidFill>
                            <a:srgbClr val="1C1C1E"/>
                          </a:solidFill>
                          <a:latin typeface="Calibri"/>
                        </a:rPr>
                        <a:t>null rate of 'bureau' 0.310 &gt; 0.05</a:t>
                      </a:r>
                    </a:p>
                  </a:txBody>
                  <a:tcPr marL="82296" marR="64008" marT="32004" marB="32004" anchor="ctr">
                    <a:solidFill>
                      <a:srgbClr val="FFFFFF"/>
                    </a:solidFill>
                  </a:tcPr>
                </a:tc>
                <a:tc>
                  <a:txBody>
                    <a:bodyPr wrap="square"/>
                    <a:lstStyle/>
                    <a:p>
                      <a:r>
                        <a:rPr sz="1200" b="0">
                          <a:solidFill>
                            <a:srgbClr val="1C1C1E"/>
                          </a:solidFill>
                          <a:latin typeface="Calibri"/>
                        </a:rPr>
                        <a:t>The warrant suspended itself on a reported batch and named the number and the owner to contact.</a:t>
                      </a:r>
                    </a:p>
                  </a:txBody>
                  <a:tcPr marL="82296" marR="64008" marT="32004" marB="32004" anchor="ctr">
                    <a:solidFill>
                      <a:srgbClr val="FFFFFF"/>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01 · WHAT IT FOUND</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Including the two findings nobody would put in a brochure</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80</a:t>
            </a:r>
          </a:p>
        </p:txBody>
      </p:sp>
      <p:sp>
        <p:nvSpPr>
          <p:cNvPr id="10" name="Rectangle 9"/>
          <p:cNvSpPr/>
          <p:nvPr/>
        </p:nvSpPr>
        <p:spPr>
          <a:xfrm>
            <a:off x="777240"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A51C30"/>
                </a:solidFill>
                <a:latin typeface="Georgia"/>
              </a:rPr>
              <a:t>0.754 / 0.763</a:t>
            </a:r>
          </a:p>
        </p:txBody>
      </p:sp>
      <p:sp>
        <p:nvSpPr>
          <p:cNvPr id="13" name="TextBox 12"/>
          <p:cNvSpPr txBox="1"/>
          <p:nvPr/>
        </p:nvSpPr>
        <p:spPr>
          <a:xfrm>
            <a:off x="978408"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AUC train / validation — close together, which is the check that nothing leaked</a:t>
            </a:r>
          </a:p>
        </p:txBody>
      </p:sp>
      <p:sp>
        <p:nvSpPr>
          <p:cNvPr id="14" name="Rectangle 13"/>
          <p:cNvSpPr/>
          <p:nvPr/>
        </p:nvSpPr>
        <p:spPr>
          <a:xfrm>
            <a:off x="3486835"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683</a:t>
            </a:r>
          </a:p>
        </p:txBody>
      </p:sp>
      <p:sp>
        <p:nvSpPr>
          <p:cNvPr id="17" name="TextBox 16"/>
          <p:cNvSpPr txBox="1"/>
          <p:nvPr/>
        </p:nvSpPr>
        <p:spPr>
          <a:xfrm>
            <a:off x="3688003"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8,151 rows have no bureau score and are excluded rather than filled</a:t>
            </a:r>
          </a:p>
        </p:txBody>
      </p:sp>
      <p:sp>
        <p:nvSpPr>
          <p:cNvPr id="18" name="Rectangle 17"/>
          <p:cNvSpPr/>
          <p:nvPr/>
        </p:nvSpPr>
        <p:spPr>
          <a:xfrm>
            <a:off x="6196431"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0.406</a:t>
            </a:r>
          </a:p>
        </p:txBody>
      </p:sp>
      <p:sp>
        <p:nvSpPr>
          <p:cNvPr id="21" name="TextBox 20"/>
          <p:cNvSpPr txBox="1"/>
          <p:nvPr/>
        </p:nvSpPr>
        <p:spPr>
          <a:xfrm>
            <a:off x="6397599"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blind holdout error on 1,449 rows the developer never saw</a:t>
            </a:r>
          </a:p>
        </p:txBody>
      </p:sp>
      <p:sp>
        <p:nvSpPr>
          <p:cNvPr id="22" name="Rectangle 21"/>
          <p:cNvSpPr/>
          <p:nvPr/>
        </p:nvSpPr>
        <p:spPr>
          <a:xfrm>
            <a:off x="8906027" y="1370901"/>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7090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9891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26.7%</a:t>
            </a:r>
          </a:p>
        </p:txBody>
      </p:sp>
      <p:sp>
        <p:nvSpPr>
          <p:cNvPr id="25" name="TextBox 24"/>
          <p:cNvSpPr txBox="1"/>
          <p:nvPr/>
        </p:nvSpPr>
        <p:spPr>
          <a:xfrm>
            <a:off x="9107195" y="197440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realised twelve-month default rate in the generated book</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All figures reproduced from a live run of the study.</a:t>
            </a:r>
          </a:p>
        </p:txBody>
      </p:sp>
      <p:sp>
        <p:nvSpPr>
          <p:cNvPr id="28" name="TextBox 27"/>
          <p:cNvSpPr txBox="1"/>
          <p:nvPr/>
        </p:nvSpPr>
        <p:spPr>
          <a:xfrm>
            <a:off x="777240" y="2724213"/>
            <a:ext cx="10637215" cy="3155378"/>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gap is not a bug and is not hidden: the earliest observation months precede the first bureau delivery, as-of alignment leaves a gap as a gap, and the model's Known Weaknesses section says the model has nothing to say about those accounts.</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blind figure is read correctly rather than flatteringly. On a zero-one target the mean squared error is the Brier score, so 0.406 is a calibration statement and not a discrimination one; the AUCs above are discrimination and were computed on data the developer could see. The specification keeps the two claims apart.</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Declared and not tuned away: no macroeconomic driver, so it cannot answer a scenario question; the bureau score is stale by up to a quarter, which flatters it in a fast deterioration; the linear log-odds assumption fails in the tails.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07 · CARD FRAUD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model nobody can see inside, governed anyway</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81</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6 → 12 → 8 → 1 network, 209 fitted values in eight arrays, declared to MAYA as a black box. There is no formula: MAYA's rendered mathematics for this version is the empty string.</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Nothing quietly degrades: each of these is a refusal with a message, at the point a platform that wanted to look good would have said nothing.</a:t>
            </a:r>
          </a:p>
        </p:txBody>
      </p:sp>
      <p:sp>
        <p:nvSpPr>
          <p:cNvPr id="13" name="Rectangle 12"/>
          <p:cNvSpPr/>
          <p:nvPr/>
        </p:nvSpPr>
        <p:spPr>
          <a:xfrm>
            <a:off x="777240"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governance still holds</a:t>
            </a:r>
          </a:p>
        </p:txBody>
      </p:sp>
      <p:sp>
        <p:nvSpPr>
          <p:cNvPr id="16" name="TextBox 15"/>
          <p:cNvSpPr txBox="1"/>
          <p:nvPr/>
        </p:nvSpPr>
        <p:spPr>
          <a:xfrm>
            <a:off x="777240" y="2552573"/>
            <a:ext cx="5135727" cy="3125850"/>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The input contract, and a warrant that refuses a feature set which does not satisfy it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declared parameters — all eight arrays — checked for completeness at upload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leakage certificate over the training rows</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Covenants on the inputs, and a warrant that suspends itself</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An evidence bundle, which verifies its inputs</a:t>
            </a:r>
          </a:p>
        </p:txBody>
      </p:sp>
      <p:sp>
        <p:nvSpPr>
          <p:cNvPr id="17" name="Rectangle 16"/>
          <p:cNvSpPr/>
          <p:nvPr/>
        </p:nvSpPr>
        <p:spPr>
          <a:xfrm>
            <a:off x="6278727" y="2040509"/>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04050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11366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forfeited, by name</a:t>
            </a:r>
          </a:p>
        </p:txBody>
      </p:sp>
      <p:sp>
        <p:nvSpPr>
          <p:cNvPr id="20" name="TextBox 19"/>
          <p:cNvSpPr txBox="1"/>
          <p:nvPr/>
        </p:nvSpPr>
        <p:spPr>
          <a:xfrm>
            <a:off x="6278727" y="2552573"/>
            <a:ext cx="5135727" cy="3125850"/>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Blind scoring. MAYA will not score a declared black box, because it holds no executable specification to score it against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Conformance testing against the mathematics, for the same reason</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Re-execution in the bundle. The verifier's third line says so in words rather than omitting the check</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Any explanation of a score. The model is declared to rank a review queue and to explain nothing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07 · WHAT IT FOUND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study computes the case against its own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study also found a platform defect: a black box's declared parameters were recorded as an empty schema and checked by nothing, so a set missing an entire layer was accepted. Both halves guarded on the formula body instead of the declaration.</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A crafted challenger gets within 0.012</a:t>
            </a:r>
          </a:p>
          <a:p>
            <a:pPr lvl="1">
              <a:lnSpc>
                <a:spcPct val="120000"/>
              </a:lnSpc>
              <a:spcBef>
                <a:spcPts val="0"/>
              </a:spcBef>
              <a:spcAft>
                <a:spcPts val="0"/>
              </a:spcAft>
            </a:pPr>
            <a:r>
              <a:rPr sz="1550" b="0">
                <a:solidFill>
                  <a:srgbClr val="4A4F57"/>
                </a:solidFill>
                <a:latin typeface="Calibri"/>
              </a:rPr>
              <a:t>A logistic regression told the three true conjunctions reaches 0.9624 against the network's 0.9745. What the network bought is discovering the conjunctions, not representing them — and a reviewer is entitled to ask for the crafted challenger before accepting the opaque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weights are not identified; the procedure is</a:t>
            </a:r>
          </a:p>
          <a:p>
            <a:pPr lvl="1">
              <a:lnSpc>
                <a:spcPct val="120000"/>
              </a:lnSpc>
              <a:spcBef>
                <a:spcPts val="0"/>
              </a:spcBef>
              <a:spcAft>
                <a:spcPts val="0"/>
              </a:spcAft>
            </a:pPr>
            <a:r>
              <a:rPr sz="1550" b="0">
                <a:solidFill>
                  <a:srgbClr val="4A4F57"/>
                </a:solidFill>
                <a:latin typeface="Calibri"/>
              </a:rPr>
              <a:t>Refitting with the same seed reproduces all 209 values exactly. Refitting with a different seed moves a weight by 3.69 and changes validation AUC by 0.001. So comparing this quarter's weights with last quarter's tells you nothing unless the seed was held.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validation score is above the training score, and is quoted anyway</a:t>
            </a:r>
          </a:p>
          <a:p>
            <a:pPr lvl="1">
              <a:lnSpc>
                <a:spcPct val="120000"/>
              </a:lnSpc>
              <a:spcBef>
                <a:spcPts val="0"/>
              </a:spcBef>
              <a:spcAft>
                <a:spcPts val="0"/>
              </a:spcAft>
            </a:pPr>
            <a:r>
              <a:rPr sz="1550" b="0">
                <a:solidFill>
                  <a:srgbClr val="4A4F57"/>
                </a:solidFill>
                <a:latin typeface="Calibri"/>
              </a:rPr>
              <a:t>0.9745 against 0.9526, on 92 confirmed frauds: that gap is noise. A study that only quoted the flattering direction would not be worth reading.</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 failure mode will look like silence</a:t>
            </a:r>
          </a:p>
          <a:p>
            <a:pPr lvl="1">
              <a:lnSpc>
                <a:spcPct val="120000"/>
              </a:lnSpc>
              <a:spcBef>
                <a:spcPts val="0"/>
              </a:spcBef>
              <a:spcAft>
                <a:spcPts val="0"/>
              </a:spcAft>
            </a:pPr>
            <a:r>
              <a:rPr sz="1550" b="0">
                <a:solidFill>
                  <a:srgbClr val="4A4F57"/>
                </a:solidFill>
                <a:latin typeface="Calibri"/>
              </a:rPr>
              <a:t>The network learned two fraud patterns and will not recognise a third — and because it cannot explain itself, that failure will not look like an error.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THE YIELD CURVE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Written as mathematics, and checked as mathematics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83</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Nelson–Siegel, registered from four lines of LaTeX. MAYA parses it into a typed tree, generates its own reference implementation from that tree, and the calibrator asks the model for its own factor loadings rather than writing them down again.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So the specification records the decay constant as a convention approved once and revisited annually, not as a measurement — and says 'it is flat' in those words.</a:t>
            </a:r>
          </a:p>
        </p:txBody>
      </p:sp>
      <p:sp>
        <p:nvSpPr>
          <p:cNvPr id="13" name="TextBox 12"/>
          <p:cNvSpPr txBox="1"/>
          <p:nvPr/>
        </p:nvSpPr>
        <p:spPr>
          <a:xfrm>
            <a:off x="777240" y="2284984"/>
            <a:ext cx="10637215" cy="3393439"/>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There is no second curve to be wrong differently</a:t>
            </a:r>
          </a:p>
          <a:p>
            <a:pPr lvl="1">
              <a:lnSpc>
                <a:spcPct val="120000"/>
              </a:lnSpc>
              <a:spcBef>
                <a:spcPts val="0"/>
              </a:spcBef>
              <a:spcAft>
                <a:spcPts val="0"/>
              </a:spcAft>
            </a:pPr>
            <a:r>
              <a:rPr sz="1300" b="0">
                <a:solidFill>
                  <a:srgbClr val="4A4F57"/>
                </a:solidFill>
                <a:latin typeface="Calibri"/>
              </a:rPr>
              <a:t>The design matrix is obtained by evaluating the approved tree with one factor at 1 and the others at 0. Superposition against the model's own output holds to exactly zero, and the curve the calibration fits is the curve the blind score reprices with.</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constraint a table of bounds cannot hold</a:t>
            </a:r>
          </a:p>
          <a:p>
            <a:pPr lvl="1">
              <a:lnSpc>
                <a:spcPct val="120000"/>
              </a:lnSpc>
              <a:spcBef>
                <a:spcPts val="0"/>
              </a:spcBef>
              <a:spcAft>
                <a:spcPts val="0"/>
              </a:spcAft>
            </a:pPr>
            <a:r>
              <a:rPr sz="1300" b="0">
                <a:solidFill>
                  <a:srgbClr val="4A4F57"/>
                </a:solidFill>
                <a:latin typeface="Calibri"/>
              </a:rPr>
              <a:t>β₀ + β₁ is the instantaneous short rate and cannot be negative. A bound belongs to one parameter; this spans two. The offending set satisfies every single bound and implies a short rate of −6.7%.</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Joint constraints exist because this study asked for them</a:t>
            </a:r>
          </a:p>
          <a:p>
            <a:pPr lvl="1">
              <a:lnSpc>
                <a:spcPct val="120000"/>
              </a:lnSpc>
              <a:spcBef>
                <a:spcPts val="0"/>
              </a:spcBef>
              <a:spcAft>
                <a:spcPts val="0"/>
              </a:spcAft>
            </a:pPr>
            <a:r>
              <a:rPr sz="1300" b="0">
                <a:solidFill>
                  <a:srgbClr val="4A4F57"/>
                </a:solidFill>
                <a:latin typeface="Calibri"/>
              </a:rPr>
              <a:t>Before the fix, the only thing between that curve and production was that somebody had to approve it. The constraint now carries a mandatory written reason, because the reason is the only thing the modeller sees when it fires.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parameter is barely identified, and the specification says so</a:t>
            </a:r>
          </a:p>
          <a:p>
            <a:pPr lvl="1">
              <a:lnSpc>
                <a:spcPct val="120000"/>
              </a:lnSpc>
              <a:spcBef>
                <a:spcPts val="0"/>
              </a:spcBef>
              <a:spcAft>
                <a:spcPts val="0"/>
              </a:spcAft>
            </a:pPr>
            <a:r>
              <a:rPr sz="1300" b="0">
                <a:solidFill>
                  <a:srgbClr val="4A4F57"/>
                </a:solidFill>
                <a:latin typeface="Calibri"/>
              </a:rPr>
              <a:t>Trebling the decay constant from 1.06 to 3.37 costs less than half a basis point over 7,683 pillars. Read day by day the best value wanders over a factor of four on data whose value never moved. That is not the market; it is an unidentified parameter reading its own noise.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THE LOADING BUG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same code, three comparisons, two different answers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84</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The desk's implementation divides by τ where it should divide by τ/λ — the commonest error there is in this model. The wrong loading is the right one divided by λ, so at λ = 1 the two are identical. λ = 1 is the round number a developer puts in a smoke test, and MAYA's differential test uses the developer's own sample.</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gate passes on the first two, because it asks whether the last comparison agreed everywhere it looked — and it did, at one parameter value chosen by the developer. The reviewer catches it, and what she needs is now printed beside the count: the values it was run at.</a:t>
            </a:r>
          </a:p>
        </p:txBody>
      </p:sp>
      <p:graphicFrame>
        <p:nvGraphicFramePr>
          <p:cNvPr id="13" name="Table 12"/>
          <p:cNvGraphicFramePr>
            <a:graphicFrameLocks noGrp="1"/>
          </p:cNvGraphicFramePr>
          <p:nvPr/>
        </p:nvGraphicFramePr>
        <p:xfrm>
          <a:off x="777240" y="2284984"/>
          <a:ext cx="10637214" cy="1547431"/>
        </p:xfrm>
        <a:graphic>
          <a:graphicData uri="http://schemas.openxmlformats.org/drawingml/2006/table">
            <a:tbl>
              <a:tblPr firstRow="1">
                <a:tableStyleId>{5C22544A-7EE6-4342-B048-85BDC9FD1C3A}</a:tableStyleId>
              </a:tblPr>
              <a:tblGrid>
                <a:gridCol w="3545738"/>
                <a:gridCol w="3545738"/>
                <a:gridCol w="3545738"/>
              </a:tblGrid>
              <a:tr h="318579">
                <a:tc>
                  <a:txBody>
                    <a:bodyPr wrap="square"/>
                    <a:lstStyle/>
                    <a:p>
                      <a:r>
                        <a:rPr sz="1300" b="1">
                          <a:solidFill>
                            <a:srgbClr val="FFFFFF"/>
                          </a:solidFill>
                          <a:latin typeface="Calibri"/>
                        </a:rPr>
                        <a:t>Comparison</a:t>
                      </a:r>
                    </a:p>
                  </a:txBody>
                  <a:tcPr marL="82296" marR="64008" marT="32004" marB="32004" anchor="ctr">
                    <a:solidFill>
                      <a:srgbClr val="A51C30"/>
                    </a:solidFill>
                  </a:tcPr>
                </a:tc>
                <a:tc>
                  <a:txBody>
                    <a:bodyPr wrap="square"/>
                    <a:lstStyle/>
                    <a:p>
                      <a:r>
                        <a:rPr sz="1300" b="1">
                          <a:solidFill>
                            <a:srgbClr val="FFFFFF"/>
                          </a:solidFill>
                          <a:latin typeface="Calibri"/>
                        </a:rPr>
                        <a:t>At which parameter values</a:t>
                      </a:r>
                    </a:p>
                  </a:txBody>
                  <a:tcPr marL="82296" marR="64008" marT="32004" marB="32004" anchor="ctr">
                    <a:solidFill>
                      <a:srgbClr val="A51C30"/>
                    </a:solidFill>
                  </a:tcPr>
                </a:tc>
                <a:tc>
                  <a:txBody>
                    <a:bodyPr wrap="square"/>
                    <a:lstStyle/>
                    <a:p>
                      <a:r>
                        <a:rPr sz="1300" b="1">
                          <a:solidFill>
                            <a:srgbClr val="FFFFFF"/>
                          </a:solidFill>
                          <a:latin typeface="Calibri"/>
                        </a:rPr>
                        <a:t>Agreement</a:t>
                      </a:r>
                    </a:p>
                  </a:txBody>
                  <a:tcPr marL="82296" marR="64008" marT="32004" marB="32004" anchor="ctr">
                    <a:solidFill>
                      <a:srgbClr val="A51C30"/>
                    </a:solidFill>
                  </a:tcPr>
                </a:tc>
              </a:tr>
              <a:tr h="334645">
                <a:tc>
                  <a:txBody>
                    <a:bodyPr wrap="square"/>
                    <a:lstStyle/>
                    <a:p>
                      <a:r>
                        <a:rPr sz="1400" b="1">
                          <a:solidFill>
                            <a:srgbClr val="761422"/>
                          </a:solidFill>
                          <a:latin typeface="Calibri"/>
                        </a:rPr>
                        <a:t>Default domain, on upload</a:t>
                      </a:r>
                    </a:p>
                  </a:txBody>
                  <a:tcPr marL="82296" marR="64008" marT="32004" marB="32004" anchor="ctr">
                    <a:solidFill>
                      <a:srgbClr val="FFFFFF"/>
                    </a:solidFill>
                  </a:tcPr>
                </a:tc>
                <a:tc>
                  <a:txBody>
                    <a:bodyPr wrap="square"/>
                    <a:lstStyle/>
                    <a:p>
                      <a:r>
                        <a:rPr sz="1400" b="0">
                          <a:solidFill>
                            <a:srgbClr val="1C1C1E"/>
                          </a:solidFill>
                          <a:latin typeface="Calibri"/>
                        </a:rPr>
                        <a:t>The desk's own: λ = 1</a:t>
                      </a:r>
                    </a:p>
                  </a:txBody>
                  <a:tcPr marL="82296" marR="64008" marT="32004" marB="32004" anchor="ctr">
                    <a:solidFill>
                      <a:srgbClr val="FFFFFF"/>
                    </a:solidFill>
                  </a:tcPr>
                </a:tc>
                <a:tc>
                  <a:txBody>
                    <a:bodyPr wrap="square"/>
                    <a:lstStyle/>
                    <a:p>
                      <a:r>
                        <a:rPr sz="1400" b="0">
                          <a:solidFill>
                            <a:srgbClr val="1C1C1E"/>
                          </a:solidFill>
                          <a:latin typeface="Calibri"/>
                        </a:rPr>
                        <a:t>2,000 of 2,000</a:t>
                      </a:r>
                    </a:p>
                  </a:txBody>
                  <a:tcPr marL="82296" marR="64008" marT="32004" marB="32004" anchor="ctr">
                    <a:solidFill>
                      <a:srgbClr val="FFFFFF"/>
                    </a:solidFill>
                  </a:tcPr>
                </a:tc>
              </a:tr>
              <a:tr h="334645">
                <a:tc>
                  <a:txBody>
                    <a:bodyPr wrap="square"/>
                    <a:lstStyle/>
                    <a:p>
                      <a:r>
                        <a:rPr sz="1400" b="1">
                          <a:solidFill>
                            <a:srgbClr val="761422"/>
                          </a:solidFill>
                          <a:latin typeface="Calibri"/>
                        </a:rPr>
                        <a:t>The pinned curve, 10,962 rows</a:t>
                      </a:r>
                    </a:p>
                  </a:txBody>
                  <a:tcPr marL="82296" marR="64008" marT="32004" marB="32004" anchor="ctr">
                    <a:solidFill>
                      <a:srgbClr val="F6F3EF"/>
                    </a:solidFill>
                  </a:tcPr>
                </a:tc>
                <a:tc>
                  <a:txBody>
                    <a:bodyPr wrap="square"/>
                    <a:lstStyle/>
                    <a:p>
                      <a:r>
                        <a:rPr sz="1400" b="0">
                          <a:solidFill>
                            <a:srgbClr val="1C1C1E"/>
                          </a:solidFill>
                          <a:latin typeface="Calibri"/>
                        </a:rPr>
                        <a:t>The desk's own: λ = 1</a:t>
                      </a:r>
                    </a:p>
                  </a:txBody>
                  <a:tcPr marL="82296" marR="64008" marT="32004" marB="32004" anchor="ctr">
                    <a:solidFill>
                      <a:srgbClr val="F6F3EF"/>
                    </a:solidFill>
                  </a:tcPr>
                </a:tc>
                <a:tc>
                  <a:txBody>
                    <a:bodyPr wrap="square"/>
                    <a:lstStyle/>
                    <a:p>
                      <a:r>
                        <a:rPr sz="1400" b="0">
                          <a:solidFill>
                            <a:srgbClr val="1C1C1E"/>
                          </a:solidFill>
                          <a:latin typeface="Calibri"/>
                        </a:rPr>
                        <a:t>2,000 of 2,000</a:t>
                      </a:r>
                    </a:p>
                  </a:txBody>
                  <a:tcPr marL="82296" marR="64008" marT="32004" marB="32004" anchor="ctr">
                    <a:solidFill>
                      <a:srgbClr val="F6F3EF"/>
                    </a:solidFill>
                  </a:tcPr>
                </a:tc>
              </a:tr>
              <a:tr h="559562">
                <a:tc>
                  <a:txBody>
                    <a:bodyPr wrap="square"/>
                    <a:lstStyle/>
                    <a:p>
                      <a:r>
                        <a:rPr sz="1400" b="1">
                          <a:solidFill>
                            <a:srgbClr val="761422"/>
                          </a:solidFill>
                          <a:latin typeface="Calibri"/>
                        </a:rPr>
                        <a:t>The pinned curve, 10,962 rows</a:t>
                      </a:r>
                    </a:p>
                  </a:txBody>
                  <a:tcPr marL="82296" marR="64008" marT="32004" marB="32004" anchor="ctr">
                    <a:solidFill>
                      <a:srgbClr val="FFFFFF"/>
                    </a:solidFill>
                  </a:tcPr>
                </a:tc>
                <a:tc>
                  <a:txBody>
                    <a:bodyPr wrap="square"/>
                    <a:lstStyle/>
                    <a:p>
                      <a:r>
                        <a:rPr sz="1400" b="0">
                          <a:solidFill>
                            <a:srgbClr val="1C1C1E"/>
                          </a:solidFill>
                          <a:latin typeface="Calibri"/>
                        </a:rPr>
                        <a:t>MAYA's, drawn from the declared bounds: λ = 3.804</a:t>
                      </a:r>
                    </a:p>
                  </a:txBody>
                  <a:tcPr marL="82296" marR="64008" marT="32004" marB="32004" anchor="ctr">
                    <a:solidFill>
                      <a:srgbClr val="FFFFFF"/>
                    </a:solidFill>
                  </a:tcPr>
                </a:tc>
                <a:tc>
                  <a:txBody>
                    <a:bodyPr wrap="square"/>
                    <a:lstStyle/>
                    <a:p>
                      <a:r>
                        <a:rPr sz="1400" b="0">
                          <a:solidFill>
                            <a:srgbClr val="1C1C1E"/>
                          </a:solidFill>
                          <a:latin typeface="Calibri"/>
                        </a:rPr>
                        <a:t>0 of 2,000</a:t>
                      </a:r>
                    </a:p>
                  </a:txBody>
                  <a:tcPr marL="82296" marR="64008" marT="32004" marB="32004"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11 · WHY IT IS INVISIBLE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C1C1E"/>
                </a:solidFill>
                <a:latin typeface="Georgia"/>
              </a:rPr>
              <a:t>The wrong loadings span the same space, so the fit absorbs the bug exactly</a:t>
            </a:r>
          </a:p>
        </p:txBody>
      </p:sp>
      <p:sp>
        <p:nvSpPr>
          <p:cNvPr id="6" name="Rectangle 5"/>
          <p:cNvSpPr/>
          <p:nvPr/>
        </p:nvSpPr>
        <p:spPr>
          <a:xfrm>
            <a:off x="777240" y="148386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85</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This is the clearest argument in the repository for generating the reference implementation from the mathematics rather than reviewing the code by eye.</a:t>
            </a:r>
          </a:p>
        </p:txBody>
      </p:sp>
      <p:sp>
        <p:nvSpPr>
          <p:cNvPr id="12" name="TextBox 11"/>
          <p:cNvSpPr txBox="1"/>
          <p:nvPr/>
        </p:nvSpPr>
        <p:spPr>
          <a:xfrm>
            <a:off x="777240" y="1611884"/>
            <a:ext cx="10637215" cy="406653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Recalibration hides it completely</a:t>
            </a:r>
          </a:p>
          <a:p>
            <a:pPr lvl="1">
              <a:lnSpc>
                <a:spcPct val="120000"/>
              </a:lnSpc>
              <a:spcBef>
                <a:spcPts val="0"/>
              </a:spcBef>
              <a:spcAft>
                <a:spcPts val="0"/>
              </a:spcAft>
            </a:pPr>
            <a:r>
              <a:rPr sz="1550" b="0">
                <a:solidFill>
                  <a:srgbClr val="4A4F57"/>
                </a:solidFill>
                <a:latin typeface="Calibri"/>
              </a:rPr>
              <a:t>Both wrong loadings are combinations of the same three functions the correct model spans. Least squares against the buggy code lands on exactly the same curve at shifted coordinates, so in-sample error is identical to a millionth of a basis point.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Every test the desk would write, passes</a:t>
            </a:r>
          </a:p>
          <a:p>
            <a:pPr lvl="1">
              <a:lnSpc>
                <a:spcPct val="120000"/>
              </a:lnSpc>
              <a:spcBef>
                <a:spcPts val="0"/>
              </a:spcBef>
              <a:spcAft>
                <a:spcPts val="0"/>
              </a:spcAft>
            </a:pPr>
            <a:r>
              <a:rPr sz="1550" b="0">
                <a:solidFill>
                  <a:srgbClr val="4A4F57"/>
                </a:solidFill>
                <a:latin typeface="Calibri"/>
              </a:rPr>
              <a:t>Smoke test at λ = 1: passes. Refit and check the residuals: passes. Compare against yesterday's curve: passes. Backtest: passes.</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Only reading the code against the specification finds it</a:t>
            </a:r>
          </a:p>
          <a:p>
            <a:pPr lvl="1">
              <a:lnSpc>
                <a:spcPct val="120000"/>
              </a:lnSpc>
              <a:spcBef>
                <a:spcPts val="0"/>
              </a:spcBef>
              <a:spcAft>
                <a:spcPts val="0"/>
              </a:spcAft>
            </a:pPr>
            <a:r>
              <a:rPr sz="1550" b="0">
                <a:solidFill>
                  <a:srgbClr val="4A4F57"/>
                </a:solidFill>
                <a:latin typeface="Calibri"/>
              </a:rPr>
              <a:t>Which is what a differential test is — and it finds it only when it is run at values the developer did not choose. On the validation pillars, scored blind with the approved parameters, the buggy code is out by 54 basis points against the 18 it reports in sample.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06 · IFRS 9</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models and two decisions, governed as one object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86</a:t>
            </a:r>
          </a:p>
        </p:txBody>
      </p:sp>
      <p:sp>
        <p:nvSpPr>
          <p:cNvPr id="10" name="TextBox 9"/>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Expected credit loss is the product of three estimates, taken over twelve months or a lifetime according to a stage test. Three of those are models. Two — the significant-increase threshold and the lifetime multiple — are decisions an impairment committee argues about, and they belong to no member.</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The committee's decision is uploaded as an approved parameter set with a written justification, because its provenance is minutes rather than a download MAYA issued — and quoting the training data's checksum to clear the flag would have been a small lie.</a:t>
            </a:r>
          </a:p>
        </p:txBody>
      </p:sp>
      <p:sp>
        <p:nvSpPr>
          <p:cNvPr id="13" name="Rectangle 12"/>
          <p:cNvSpPr/>
          <p:nvPr/>
        </p:nvSpPr>
        <p:spPr>
          <a:xfrm>
            <a:off x="777240"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MAYA computed for itself</a:t>
            </a:r>
          </a:p>
        </p:txBody>
      </p:sp>
      <p:sp>
        <p:nvSpPr>
          <p:cNvPr id="16" name="TextBox 15"/>
          <p:cNvSpPr txBox="1"/>
          <p:nvPr/>
        </p:nvSpPr>
        <p:spPr>
          <a:xfrm>
            <a:off x="777240" y="2797048"/>
            <a:ext cx="5135727" cy="2680208"/>
          </a:xfrm>
          <a:prstGeom prst="rect">
            <a:avLst/>
          </a:prstGeom>
          <a:noFill/>
        </p:spPr>
        <p:txBody>
          <a:bodyPr wrap="square" lIns="0" rIns="0" tIns="0" bIns="0" anchor="t">
            <a:spAutoFit/>
          </a:bodyPr>
          <a:lstStyle/>
          <a:p>
            <a:pPr algn="l">
              <a:lnSpc>
                <a:spcPct val="120000"/>
              </a:lnSpc>
              <a:spcBef>
                <a:spcPts val="0"/>
              </a:spcBef>
              <a:spcAft>
                <a:spcPts val="0"/>
              </a:spcAft>
            </a:pPr>
            <a:r>
              <a:rPr sz="1450" b="1">
                <a:solidFill>
                  <a:srgbClr val="A51C30"/>
                </a:solidFill>
                <a:latin typeface="Calibri"/>
              </a:rPr>
              <a:t>▪  </a:t>
            </a:r>
            <a:r>
              <a:rPr sz="1450" b="0">
                <a:solidFill>
                  <a:srgbClr val="1C1C1E"/>
                </a:solidFill>
                <a:latin typeface="Calibri"/>
              </a:rPr>
              <a:t>The composite's input contract, as the union of its members' — seven inputs, each naming which members need it</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Which of those are features the feature set must supply, and which are parameters somebody has to approve</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The maturity of the whole, capped at its least mature member</a:t>
            </a:r>
          </a:p>
          <a:p>
            <a:pPr>
              <a:lnSpc>
                <a:spcPct val="120000"/>
              </a:lnSpc>
              <a:spcBef>
                <a:spcPts val="600"/>
              </a:spcBef>
              <a:spcAft>
                <a:spcPts val="0"/>
              </a:spcAft>
            </a:pPr>
            <a:r>
              <a:rPr sz="1450" b="1">
                <a:solidFill>
                  <a:srgbClr val="A51C30"/>
                </a:solidFill>
                <a:latin typeface="Calibri"/>
              </a:rPr>
              <a:t>▪  </a:t>
            </a:r>
            <a:r>
              <a:rPr sz="1450" b="0">
                <a:solidFill>
                  <a:srgbClr val="1C1C1E"/>
                </a:solidFill>
                <a:latin typeface="Calibri"/>
              </a:rPr>
              <a:t>That the seal was still owed the combiner's own two parameters</a:t>
            </a:r>
          </a:p>
        </p:txBody>
      </p:sp>
      <p:sp>
        <p:nvSpPr>
          <p:cNvPr id="17" name="Rectangle 16"/>
          <p:cNvSpPr/>
          <p:nvPr/>
        </p:nvSpPr>
        <p:spPr>
          <a:xfrm>
            <a:off x="6278727" y="2284984"/>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228498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235813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study had to change</a:t>
            </a:r>
          </a:p>
        </p:txBody>
      </p:sp>
      <p:sp>
        <p:nvSpPr>
          <p:cNvPr id="20" name="TextBox 19"/>
          <p:cNvSpPr txBox="1"/>
          <p:nvPr/>
        </p:nvSpPr>
        <p:spPr>
          <a:xfrm>
            <a:off x="6278727" y="2797048"/>
            <a:ext cx="5135727" cy="2680208"/>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The union contract took only the members' declarations, so the combiner's own parameters were declared nowhere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 bounds check therefore had nothing to look for, and the warrant would seal with the two most argued-over numbers in the model unapproved</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They are part of the contract now, and the refusal names what is outstanding: 'the combiner's own parameters'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STUDY 06 · WHAT IT FOUND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test that can actually fail, and did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87</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2.67×</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the allowance the model implies, against the loss actually realised</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82.8%</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of accounts in stage 2, contributing 99.5% of the allowance</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−90.7%</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the blind per-account error against holding no allowance at all</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31%</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still over realised loss at a threshold nobody would defend</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 — figures from a live run.</a:t>
            </a:r>
          </a:p>
        </p:txBody>
      </p:sp>
      <p:sp>
        <p:nvSpPr>
          <p:cNvPr id="28" name="TextBox 27"/>
          <p:cNvSpPr txBox="1"/>
          <p:nvPr/>
        </p:nvSpPr>
        <p:spPr>
          <a:xfrm>
            <a:off x="777240" y="2740279"/>
            <a:ext cx="10637215" cy="3139313"/>
          </a:xfrm>
          <a:prstGeom prst="rect">
            <a:avLst/>
          </a:prstGeom>
          <a:noFill/>
        </p:spPr>
        <p:txBody>
          <a:bodyPr wrap="square" lIns="0" rIns="0" tIns="0" bIns="0" anchor="t">
            <a:spAutoFit/>
          </a:bodyPr>
          <a:lstStyle/>
          <a:p>
            <a:pPr algn="l">
              <a:lnSpc>
                <a:spcPct val="120000"/>
              </a:lnSpc>
              <a:spcBef>
                <a:spcPts val="0"/>
              </a:spcBef>
              <a:spcAft>
                <a:spcPts val="0"/>
              </a:spcAft>
            </a:pPr>
            <a:r>
              <a:rPr sz="1550" b="1">
                <a:solidFill>
                  <a:srgbClr val="A51C30"/>
                </a:solidFill>
                <a:latin typeface="Calibri"/>
              </a:rPr>
              <a:t>▪  </a:t>
            </a:r>
            <a:r>
              <a:rPr sz="1550" b="0">
                <a:solidFill>
                  <a:srgbClr val="1C1C1E"/>
                </a:solidFill>
                <a:latin typeface="Calibri"/>
              </a:rPr>
              <a:t>The per-account error is worse than predicting zero for everybody, and it should be: realised loss is zero on 92.4% of rows, so predicting zero is the best per-account guess and an expected-loss model deliberately does not make it. A per-account error cannot distinguish a well-levelled allowance from a badly levelled one, and quoting one as accuracy would mislead. Both attempts are counted on the warrant, so the comparison is on the record rather than in a README.</a:t>
            </a:r>
          </a:p>
          <a:p>
            <a:pPr>
              <a:lnSpc>
                <a:spcPct val="120000"/>
              </a:lnSpc>
              <a:spcBef>
                <a:spcPts val="600"/>
              </a:spcBef>
              <a:spcAft>
                <a:spcPts val="0"/>
              </a:spcAft>
            </a:pPr>
            <a:r>
              <a:rPr sz="1550" b="1">
                <a:solidFill>
                  <a:srgbClr val="A51C30"/>
                </a:solidFill>
                <a:latin typeface="Calibri"/>
              </a:rPr>
              <a:t>▪  </a:t>
            </a:r>
            <a:r>
              <a:rPr sz="1550" b="0">
                <a:solidFill>
                  <a:srgbClr val="1C1C1E"/>
                </a:solidFill>
                <a:latin typeface="Calibri"/>
              </a:rPr>
              <a:t>The threshold grid shows the committee's choice explains part of the coverage gap and not the rest of it: even at forty times the threshold the allowance is still a third above realised loss. The study records the residual as an open finding rather than choosing the number that would have closed it.</a:t>
            </a:r>
          </a:p>
          <a:p>
            <a:pPr>
              <a:lnSpc>
                <a:spcPct val="120000"/>
              </a:lnSpc>
              <a:spcBef>
                <a:spcPts val="600"/>
              </a:spcBef>
              <a:spcAft>
                <a:spcPts val="0"/>
              </a:spcAft>
            </a:pPr>
            <a:r>
              <a:rPr sz="1550" b="1">
                <a:solidFill>
                  <a:srgbClr val="A51C30"/>
                </a:solidFill>
                <a:latin typeface="Calibri"/>
              </a:rPr>
              <a:t>▪  </a:t>
            </a:r>
            <a:r>
              <a:rPr sz="1550" b="0">
                <a:solidFill>
                  <a:srgbClr val="1C1C1E"/>
                </a:solidFill>
                <a:latin typeface="Calibri"/>
              </a:rPr>
              <a:t>Every fitted coefficient is attenuated toward the generating process's, which the study notes rather than presenting the fit as a recovery of truth.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STUDIES, ONE LESSON EACH</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 each of them is actually evidence for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Four models, carried the whole way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88</a:t>
            </a:r>
          </a:p>
        </p:txBody>
      </p:sp>
      <p:sp>
        <p:nvSpPr>
          <p:cNvPr id="10" name="Rectangle 9"/>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All nine studies run in seconds against a throwaway instance: .venv/bin/python case_studies/&lt;study&gt;/run.py</a:t>
            </a:r>
          </a:p>
        </p:txBody>
      </p:sp>
      <p:sp>
        <p:nvSpPr>
          <p:cNvPr id="12" name="Rectangle 11"/>
          <p:cNvSpPr/>
          <p:nvPr/>
        </p:nvSpPr>
        <p:spPr>
          <a:xfrm>
            <a:off x="777240" y="1386967"/>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01</a:t>
            </a:r>
          </a:p>
        </p:txBody>
      </p:sp>
      <p:sp>
        <p:nvSpPr>
          <p:cNvPr id="15" name="TextBox 14"/>
          <p:cNvSpPr txBox="1"/>
          <p:nvPr/>
        </p:nvSpPr>
        <p:spPr>
          <a:xfrm>
            <a:off x="960120"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chain holds under a real model</a:t>
            </a:r>
          </a:p>
        </p:txBody>
      </p:sp>
      <p:sp>
        <p:nvSpPr>
          <p:cNvPr id="16" name="TextBox 15"/>
          <p:cNvSpPr txBox="1"/>
          <p:nvPr/>
        </p:nvSpPr>
        <p:spPr>
          <a:xfrm>
            <a:off x="960120" y="2156079"/>
            <a:ext cx="4870551" cy="126688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Every object in Part 1 appears, every refusal is a rule somebody wrote down, and the two unflattering findings are in the specification rather than in a footnote.</a:t>
            </a:r>
          </a:p>
        </p:txBody>
      </p:sp>
      <p:sp>
        <p:nvSpPr>
          <p:cNvPr id="17" name="Rectangle 16"/>
          <p:cNvSpPr/>
          <p:nvPr/>
        </p:nvSpPr>
        <p:spPr>
          <a:xfrm>
            <a:off x="6178143" y="1386967"/>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8143" y="1386967"/>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1023" y="1551559"/>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07</a:t>
            </a:r>
          </a:p>
        </p:txBody>
      </p:sp>
      <p:sp>
        <p:nvSpPr>
          <p:cNvPr id="20" name="TextBox 19"/>
          <p:cNvSpPr txBox="1"/>
          <p:nvPr/>
        </p:nvSpPr>
        <p:spPr>
          <a:xfrm>
            <a:off x="6361023" y="1807591"/>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Opacity is a declaration with consequences</a:t>
            </a:r>
          </a:p>
        </p:txBody>
      </p:sp>
      <p:sp>
        <p:nvSpPr>
          <p:cNvPr id="21" name="TextBox 20"/>
          <p:cNvSpPr txBox="1"/>
          <p:nvPr/>
        </p:nvSpPr>
        <p:spPr>
          <a:xfrm>
            <a:off x="6361023" y="2413127"/>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governs what it can and refuses the rest by name. The study argues against its own model, and the platform defect it found was a check guarding on the wrong thing.</a:t>
            </a:r>
          </a:p>
        </p:txBody>
      </p:sp>
      <p:sp>
        <p:nvSpPr>
          <p:cNvPr id="22" name="Rectangle 21"/>
          <p:cNvSpPr/>
          <p:nvPr/>
        </p:nvSpPr>
        <p:spPr>
          <a:xfrm>
            <a:off x="777240" y="3715575"/>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1557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388016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11</a:t>
            </a:r>
          </a:p>
        </p:txBody>
      </p:sp>
      <p:sp>
        <p:nvSpPr>
          <p:cNvPr id="25" name="TextBox 24"/>
          <p:cNvSpPr txBox="1"/>
          <p:nvPr/>
        </p:nvSpPr>
        <p:spPr>
          <a:xfrm>
            <a:off x="960120" y="413619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 specification you can execute catches what review cannot</a:t>
            </a:r>
          </a:p>
        </p:txBody>
      </p:sp>
      <p:sp>
        <p:nvSpPr>
          <p:cNvPr id="26" name="TextBox 25"/>
          <p:cNvSpPr txBox="1"/>
          <p:nvPr/>
        </p:nvSpPr>
        <p:spPr>
          <a:xfrm>
            <a:off x="960120" y="4741735"/>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one-character error that survives every test a desk would write, found by comparing code against mathematics at values the developer did not choose.</a:t>
            </a:r>
          </a:p>
        </p:txBody>
      </p:sp>
      <p:sp>
        <p:nvSpPr>
          <p:cNvPr id="27" name="Rectangle 26"/>
          <p:cNvSpPr/>
          <p:nvPr/>
        </p:nvSpPr>
        <p:spPr>
          <a:xfrm>
            <a:off x="6178143" y="3715575"/>
            <a:ext cx="5236311" cy="2164016"/>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143" y="3715575"/>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1023" y="3880167"/>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06</a:t>
            </a:r>
          </a:p>
        </p:txBody>
      </p:sp>
      <p:sp>
        <p:nvSpPr>
          <p:cNvPr id="30" name="TextBox 29"/>
          <p:cNvSpPr txBox="1"/>
          <p:nvPr/>
        </p:nvSpPr>
        <p:spPr>
          <a:xfrm>
            <a:off x="6361023" y="4136199"/>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The hardest numbers are the ones nobody fitted</a:t>
            </a:r>
          </a:p>
        </p:txBody>
      </p:sp>
      <p:sp>
        <p:nvSpPr>
          <p:cNvPr id="31" name="TextBox 30"/>
          <p:cNvSpPr txBox="1"/>
          <p:nvPr/>
        </p:nvSpPr>
        <p:spPr>
          <a:xfrm>
            <a:off x="6361023" y="4741735"/>
            <a:ext cx="4870551" cy="100984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committee's two judgements drive 99.5% of the allowance. They are now declared, bounded, approved and on the record — and the finding they leave open is recorded as open.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6</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2600" b="0" i="0">
                <a:solidFill>
                  <a:srgbClr val="FFFFFF"/>
                </a:solidFill>
                <a:latin typeface="Georgia"/>
              </a:rPr>
              <a:t>What is measured, and what MAYA does not do</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design without stated losses is a sales pitch. This part gives the numbers as they were measured, including the one target that is not met reliably, and then the things a buyer would otherwise have to find out for themselves.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What this version is</a:t>
            </a:r>
          </a:p>
          <a:p>
            <a:pPr>
              <a:lnSpc>
                <a:spcPct val="115000"/>
              </a:lnSpc>
              <a:spcBef>
                <a:spcPts val="0"/>
              </a:spcBef>
              <a:spcAft>
                <a:spcPts val="600"/>
              </a:spcAft>
            </a:pPr>
            <a:r>
              <a:rPr sz="1200" b="0" i="0">
                <a:solidFill>
                  <a:srgbClr val="F6E6E9"/>
                </a:solidFill>
                <a:latin typeface="Calibri"/>
              </a:rPr>
              <a:t>Seven targets met, one not reliably</a:t>
            </a:r>
          </a:p>
          <a:p>
            <a:pPr>
              <a:lnSpc>
                <a:spcPct val="115000"/>
              </a:lnSpc>
              <a:spcBef>
                <a:spcPts val="0"/>
              </a:spcBef>
              <a:spcAft>
                <a:spcPts val="600"/>
              </a:spcAft>
            </a:pPr>
            <a:r>
              <a:rPr sz="1200" b="0" i="0">
                <a:solidFill>
                  <a:srgbClr val="F6E6E9"/>
                </a:solidFill>
                <a:latin typeface="Calibri"/>
              </a:rPr>
              <a:t>The run that fell short, in full</a:t>
            </a:r>
          </a:p>
          <a:p>
            <a:pPr>
              <a:lnSpc>
                <a:spcPct val="115000"/>
              </a:lnSpc>
              <a:spcBef>
                <a:spcPts val="0"/>
              </a:spcBef>
              <a:spcAft>
                <a:spcPts val="600"/>
              </a:spcAft>
            </a:pPr>
            <a:r>
              <a:rPr sz="1200" b="0" i="0">
                <a:solidFill>
                  <a:srgbClr val="F6E6E9"/>
                </a:solidFill>
                <a:latin typeface="Calibri"/>
              </a:rPr>
              <a:t>Out of scope by decision</a:t>
            </a:r>
          </a:p>
          <a:p>
            <a:pPr>
              <a:lnSpc>
                <a:spcPct val="115000"/>
              </a:lnSpc>
              <a:spcBef>
                <a:spcPts val="0"/>
              </a:spcBef>
              <a:spcAft>
                <a:spcPts val="600"/>
              </a:spcAft>
            </a:pPr>
            <a:r>
              <a:rPr sz="1200" b="0" i="0">
                <a:solidFill>
                  <a:srgbClr val="F6E6E9"/>
                </a:solidFill>
                <a:latin typeface="Calibri"/>
              </a:rPr>
              <a:t>Not yet, stated so nobody discovers it</a:t>
            </a:r>
          </a:p>
          <a:p>
            <a:pPr>
              <a:lnSpc>
                <a:spcPct val="115000"/>
              </a:lnSpc>
              <a:spcBef>
                <a:spcPts val="0"/>
              </a:spcBef>
              <a:spcAft>
                <a:spcPts val="600"/>
              </a:spcAft>
            </a:pPr>
            <a:r>
              <a:rPr sz="1200" b="0" i="0">
                <a:solidFill>
                  <a:srgbClr val="F6E6E9"/>
                </a:solidFill>
                <a:latin typeface="Calibri"/>
              </a:rPr>
              <a:t>Accepted risks, and where MAYA chooses to lose</a:t>
            </a:r>
          </a:p>
          <a:p>
            <a:pPr>
              <a:lnSpc>
                <a:spcPct val="115000"/>
              </a:lnSpc>
              <a:spcBef>
                <a:spcPts val="0"/>
              </a:spcBef>
              <a:spcAft>
                <a:spcPts val="600"/>
              </a:spcAft>
            </a:pPr>
            <a:r>
              <a:rPr sz="1200" b="0" i="0">
                <a:solidFill>
                  <a:srgbClr val="F6E6E9"/>
                </a:solidFill>
                <a:latin typeface="Calibri"/>
              </a:rPr>
              <a:t>In one slide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STATUS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Version 0.3.0, built from specification revision 2.6</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What is measured, and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90</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0.3.0</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released 19 September 2026, from specification revision 2.6</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1,706</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tests on Linux; 1,696 pass on SQLite and 10 are opt-in or need PostgreSQL</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215</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4F57"/>
                </a:solidFill>
                <a:latin typeface="Calibri"/>
              </a:rPr>
              <a:t>endpoints, each with an SDK method, checked both ways by a gate</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92.9%</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line coverage, against a 90% floor in the gate ladder</a:t>
            </a:r>
          </a:p>
        </p:txBody>
      </p:sp>
      <p:sp>
        <p:nvSpPr>
          <p:cNvPr id="26" name="Rectangle 25"/>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status row and tools/ci/gates.py, both re-read for this deck.</a:t>
            </a:r>
          </a:p>
        </p:txBody>
      </p:sp>
      <p:sp>
        <p:nvSpPr>
          <p:cNvPr id="28" name="TextBox 27"/>
          <p:cNvSpPr txBox="1"/>
          <p:nvPr/>
        </p:nvSpPr>
        <p:spPr>
          <a:xfrm>
            <a:off x="777240" y="2740279"/>
            <a:ext cx="10637215" cy="3139313"/>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whole spine runs through all four surfaces: source, feature, feature set, pin, model, training warrant, parameter set, execution warrant, evidence bundle.</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The suite last ran green on PostgreSQL 16, 17 and 18 at 1,262 tests; the ones added since have run on SQLite only. With every optional accelerator on its fallback it passed at 1,150 tests and has not been rerun since.</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It includes real-browser tests in headless Chrome, several web processes on one node over PostgreSQL, and a two-year-old training run reproduced byte for byte from its evidence bundle alone.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Model Management Formalism and System Design</dc:title>
  <dc:subject>What a model is, what follows from that, and what MAYA does about it</dc:subject>
  <dc:creator>Ashutosh Sinha</dc:creator>
  <cp:keywords>MAYA; model risk; governance</cp:keywords>
  <dc:description>Copyright (c) 2026 Ashutosh Sinha. All rights reserved.</dc:description>
  <cp:lastModifiedBy>Ashutosh Sinha</cp:lastModifiedBy>
  <cp:revision>1</cp:revision>
  <dcterms:created xsi:type="dcterms:W3CDTF">2026-09-19T12:00:00Z</dcterms:created>
  <dcterms:modified xsi:type="dcterms:W3CDTF">2026-09-19T12:00:00Z</dcterms:modified>
  <cp:category/>
</cp:coreProperties>
</file>