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822960"/>
            <a:ext cx="10637215"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E8B8C0"/>
                </a:solidFill>
                <a:latin typeface="Calibri"/>
              </a:rPr>
              <a:t/>
            </a:r>
          </a:p>
        </p:txBody>
      </p:sp>
      <p:sp>
        <p:nvSpPr>
          <p:cNvPr id="7" name="TextBox 6"/>
          <p:cNvSpPr txBox="1"/>
          <p:nvPr/>
        </p:nvSpPr>
        <p:spPr>
          <a:xfrm>
            <a:off x="1051560" y="1280160"/>
            <a:ext cx="9573493" cy="1600200"/>
          </a:xfrm>
          <a:prstGeom prst="rect">
            <a:avLst/>
          </a:prstGeom>
          <a:noFill/>
        </p:spPr>
        <p:txBody>
          <a:bodyPr wrap="square" lIns="0" rIns="0" tIns="0" bIns="0" anchor="t">
            <a:spAutoFit/>
          </a:bodyPr>
          <a:lstStyle/>
          <a:p>
            <a:pPr algn="l">
              <a:lnSpc>
                <a:spcPct val="110000"/>
              </a:lnSpc>
              <a:spcBef>
                <a:spcPts val="0"/>
              </a:spcBef>
              <a:spcAft>
                <a:spcPts val="0"/>
              </a:spcAft>
            </a:pPr>
            <a:r>
              <a:rPr sz="3800" b="0" i="0">
                <a:solidFill>
                  <a:srgbClr val="FFFFFF"/>
                </a:solidFill>
                <a:latin typeface="Georgia"/>
              </a:rPr>
              <a:t>MAYA : Model Management</a:t>
            </a:r>
          </a:p>
          <a:p>
            <a:pPr>
              <a:lnSpc>
                <a:spcPct val="110000"/>
              </a:lnSpc>
              <a:spcBef>
                <a:spcPts val="0"/>
              </a:spcBef>
              <a:spcAft>
                <a:spcPts val="0"/>
              </a:spcAft>
            </a:pPr>
            <a:r>
              <a:rPr sz="3800" b="0" i="0">
                <a:solidFill>
                  <a:srgbClr val="FFFFFF"/>
                </a:solidFill>
                <a:latin typeface="Georgia"/>
              </a:rPr>
              <a:t>&amp; System Design</a:t>
            </a:r>
          </a:p>
        </p:txBody>
      </p:sp>
      <p:sp>
        <p:nvSpPr>
          <p:cNvPr id="8" name="Rectangle 7"/>
          <p:cNvSpPr/>
          <p:nvPr/>
        </p:nvSpPr>
        <p:spPr>
          <a:xfrm>
            <a:off x="1051560" y="297180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3127248"/>
            <a:ext cx="9041632" cy="731520"/>
          </a:xfrm>
          <a:prstGeom prst="rect">
            <a:avLst/>
          </a:prstGeom>
          <a:noFill/>
        </p:spPr>
        <p:txBody>
          <a:bodyPr wrap="square" lIns="0" rIns="0" tIns="0" bIns="0" anchor="t">
            <a:spAutoFit/>
          </a:bodyPr>
          <a:lstStyle/>
          <a:p>
            <a:pPr algn="l">
              <a:lnSpc>
                <a:spcPct val="120000"/>
              </a:lnSpc>
              <a:spcBef>
                <a:spcPts val="0"/>
              </a:spcBef>
              <a:spcAft>
                <a:spcPts val="0"/>
              </a:spcAft>
            </a:pPr>
            <a:r>
              <a:rPr sz="2500" b="0" i="1">
                <a:solidFill>
                  <a:srgbClr val="FFFFFF"/>
                </a:solidFill>
                <a:latin typeface="Georgia"/>
              </a:rPr>
              <a:t>Evidence, not assertion.</a:t>
            </a:r>
          </a:p>
        </p:txBody>
      </p:sp>
      <p:sp>
        <p:nvSpPr>
          <p:cNvPr id="10" name="TextBox 9"/>
          <p:cNvSpPr txBox="1"/>
          <p:nvPr/>
        </p:nvSpPr>
        <p:spPr>
          <a:xfrm>
            <a:off x="1051560" y="4343400"/>
            <a:ext cx="5318607" cy="109728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C1C1E"/>
                </a:solidFill>
                <a:latin typeface="Georgia"/>
              </a:rPr>
              <a:t>Ashutosh Sinha</a:t>
            </a:r>
          </a:p>
          <a:p>
            <a:pPr>
              <a:lnSpc>
                <a:spcPct val="120000"/>
              </a:lnSpc>
              <a:spcBef>
                <a:spcPts val="0"/>
              </a:spcBef>
              <a:spcAft>
                <a:spcPts val="100"/>
              </a:spcAft>
            </a:pPr>
            <a:r>
              <a:rPr sz="1200" b="0" i="0">
                <a:solidFill>
                  <a:srgbClr val="A51C30"/>
                </a:solidFill>
                <a:latin typeface="Calibri"/>
              </a:rPr>
              <a:t>September 2026</a:t>
            </a:r>
          </a:p>
          <a:p>
            <a:pPr>
              <a:lnSpc>
                <a:spcPct val="120000"/>
              </a:lnSpc>
              <a:spcBef>
                <a:spcPts val="0"/>
              </a:spcBef>
              <a:spcAft>
                <a:spcPts val="0"/>
              </a:spcAft>
            </a:pPr>
            <a:r>
              <a:rPr sz="1100" b="0" i="0">
                <a:solidFill>
                  <a:srgbClr val="4A4F57"/>
                </a:solidFill>
                <a:latin typeface="Calibri"/>
              </a:rPr>
              <a:t>MAYA 1.0.0 · specification revision 2.7</a:t>
            </a:r>
          </a:p>
        </p:txBody>
      </p:sp>
      <p:sp>
        <p:nvSpPr>
          <p:cNvPr id="11" name="TextBox 10"/>
          <p:cNvSpPr txBox="1"/>
          <p:nvPr/>
        </p:nvSpPr>
        <p:spPr>
          <a:xfrm>
            <a:off x="6734080" y="4297680"/>
            <a:ext cx="4680374" cy="2011680"/>
          </a:xfrm>
          <a:prstGeom prst="rect">
            <a:avLst/>
          </a:prstGeom>
          <a:noFill/>
        </p:spPr>
        <p:txBody>
          <a:bodyPr wrap="square" lIns="0" rIns="0" tIns="0" bIns="0" anchor="t">
            <a:spAutoFit/>
          </a:bodyPr>
          <a:lstStyle/>
          <a:p>
            <a:pPr algn="l">
              <a:lnSpc>
                <a:spcPct val="120000"/>
              </a:lnSpc>
              <a:spcBef>
                <a:spcPts val="0"/>
              </a:spcBef>
              <a:spcAft>
                <a:spcPts val="600"/>
              </a:spcAft>
            </a:pPr>
            <a:r>
              <a:rPr sz="950" b="1" i="0">
                <a:solidFill>
                  <a:srgbClr val="A51C30"/>
                </a:solidFill>
                <a:latin typeface="Calibri"/>
              </a:rPr>
              <a:t>IN THIS DECK</a:t>
            </a:r>
          </a:p>
          <a:p>
            <a:pPr>
              <a:lnSpc>
                <a:spcPct val="120000"/>
              </a:lnSpc>
              <a:spcBef>
                <a:spcPts val="0"/>
              </a:spcBef>
              <a:spcAft>
                <a:spcPts val="300"/>
              </a:spcAft>
            </a:pPr>
            <a:r>
              <a:rPr sz="950" b="1">
                <a:solidFill>
                  <a:srgbClr val="A51C30"/>
                </a:solidFill>
                <a:latin typeface="Calibri"/>
              </a:rPr>
              <a:t>1   </a:t>
            </a:r>
            <a:r>
              <a:rPr sz="950" b="0">
                <a:solidFill>
                  <a:srgbClr val="4A4F57"/>
                </a:solidFill>
                <a:latin typeface="Calibri"/>
              </a:rPr>
              <a:t>Why model governance fails</a:t>
            </a:r>
          </a:p>
          <a:p>
            <a:pPr>
              <a:lnSpc>
                <a:spcPct val="120000"/>
              </a:lnSpc>
              <a:spcBef>
                <a:spcPts val="0"/>
              </a:spcBef>
              <a:spcAft>
                <a:spcPts val="300"/>
              </a:spcAft>
            </a:pPr>
            <a:r>
              <a:rPr sz="950" b="1">
                <a:solidFill>
                  <a:srgbClr val="A51C30"/>
                </a:solidFill>
                <a:latin typeface="Calibri"/>
              </a:rPr>
              <a:t>2   </a:t>
            </a:r>
            <a:r>
              <a:rPr sz="950" b="0">
                <a:solidFill>
                  <a:srgbClr val="4A4F57"/>
                </a:solidFill>
                <a:latin typeface="Calibri"/>
              </a:rPr>
              <a:t>The vocabulary, from nothing</a:t>
            </a:r>
          </a:p>
          <a:p>
            <a:pPr>
              <a:lnSpc>
                <a:spcPct val="120000"/>
              </a:lnSpc>
              <a:spcBef>
                <a:spcPts val="0"/>
              </a:spcBef>
              <a:spcAft>
                <a:spcPts val="300"/>
              </a:spcAft>
            </a:pPr>
            <a:r>
              <a:rPr sz="950" b="1">
                <a:solidFill>
                  <a:srgbClr val="A51C30"/>
                </a:solidFill>
                <a:latin typeface="Calibri"/>
              </a:rPr>
              <a:t>3   </a:t>
            </a:r>
            <a:r>
              <a:rPr sz="950" b="0">
                <a:solidFill>
                  <a:srgbClr val="4A4F57"/>
                </a:solidFill>
                <a:latin typeface="Calibri"/>
              </a:rPr>
              <a:t>The lifecycle, end to end</a:t>
            </a:r>
          </a:p>
          <a:p>
            <a:pPr>
              <a:lnSpc>
                <a:spcPct val="120000"/>
              </a:lnSpc>
              <a:spcBef>
                <a:spcPts val="0"/>
              </a:spcBef>
              <a:spcAft>
                <a:spcPts val="300"/>
              </a:spcAft>
            </a:pPr>
            <a:r>
              <a:rPr sz="950" b="1">
                <a:solidFill>
                  <a:srgbClr val="A51C30"/>
                </a:solidFill>
                <a:latin typeface="Calibri"/>
              </a:rPr>
              <a:t>4   </a:t>
            </a:r>
            <a:r>
              <a:rPr sz="950" b="0">
                <a:solidFill>
                  <a:srgbClr val="4A4F57"/>
                </a:solidFill>
                <a:latin typeface="Calibri"/>
              </a:rPr>
              <a:t>Governance a model risk function works in</a:t>
            </a:r>
          </a:p>
          <a:p>
            <a:pPr>
              <a:lnSpc>
                <a:spcPct val="120000"/>
              </a:lnSpc>
              <a:spcBef>
                <a:spcPts val="0"/>
              </a:spcBef>
              <a:spcAft>
                <a:spcPts val="300"/>
              </a:spcAft>
            </a:pPr>
            <a:r>
              <a:rPr sz="950" b="1">
                <a:solidFill>
                  <a:srgbClr val="A51C30"/>
                </a:solidFill>
                <a:latin typeface="Calibri"/>
              </a:rPr>
              <a:t>5   </a:t>
            </a:r>
            <a:r>
              <a:rPr sz="950" b="0">
                <a:solidFill>
                  <a:srgbClr val="4A4F57"/>
                </a:solidFill>
                <a:latin typeface="Calibri"/>
              </a:rPr>
              <a:t>Beyond formulas</a:t>
            </a:r>
          </a:p>
          <a:p>
            <a:pPr>
              <a:lnSpc>
                <a:spcPct val="120000"/>
              </a:lnSpc>
              <a:spcBef>
                <a:spcPts val="0"/>
              </a:spcBef>
              <a:spcAft>
                <a:spcPts val="300"/>
              </a:spcAft>
            </a:pPr>
            <a:r>
              <a:rPr sz="950" b="1">
                <a:solidFill>
                  <a:srgbClr val="A51C30"/>
                </a:solidFill>
                <a:latin typeface="Calibri"/>
              </a:rPr>
              <a:t>6   </a:t>
            </a:r>
            <a:r>
              <a:rPr sz="950" b="0">
                <a:solidFill>
                  <a:srgbClr val="4A4F57"/>
                </a:solidFill>
                <a:latin typeface="Calibri"/>
              </a:rPr>
              <a:t>The formal core</a:t>
            </a:r>
          </a:p>
          <a:p>
            <a:pPr>
              <a:lnSpc>
                <a:spcPct val="120000"/>
              </a:lnSpc>
              <a:spcBef>
                <a:spcPts val="0"/>
              </a:spcBef>
              <a:spcAft>
                <a:spcPts val="300"/>
              </a:spcAft>
            </a:pPr>
            <a:r>
              <a:rPr sz="950" b="1">
                <a:solidFill>
                  <a:srgbClr val="A51C30"/>
                </a:solidFill>
                <a:latin typeface="Calibri"/>
              </a:rPr>
              <a:t>7   </a:t>
            </a:r>
            <a:r>
              <a:rPr sz="950" b="0">
                <a:solidFill>
                  <a:srgbClr val="4A4F57"/>
                </a:solidFill>
                <a:latin typeface="Calibri"/>
              </a:rPr>
              <a:t>How it runs</a:t>
            </a:r>
          </a:p>
          <a:p>
            <a:pPr>
              <a:lnSpc>
                <a:spcPct val="120000"/>
              </a:lnSpc>
              <a:spcBef>
                <a:spcPts val="0"/>
              </a:spcBef>
              <a:spcAft>
                <a:spcPts val="300"/>
              </a:spcAft>
            </a:pPr>
            <a:r>
              <a:rPr sz="950" b="1">
                <a:solidFill>
                  <a:srgbClr val="A51C30"/>
                </a:solidFill>
                <a:latin typeface="Calibri"/>
              </a:rPr>
              <a:t>8   </a:t>
            </a:r>
            <a:r>
              <a:rPr sz="950" b="0">
                <a:solidFill>
                  <a:srgbClr val="4A4F57"/>
                </a:solidFill>
                <a:latin typeface="Calibri"/>
              </a:rPr>
              <a:t>Fourteen models, carried the whole way</a:t>
            </a:r>
          </a:p>
          <a:p>
            <a:pPr>
              <a:lnSpc>
                <a:spcPct val="120000"/>
              </a:lnSpc>
              <a:spcBef>
                <a:spcPts val="0"/>
              </a:spcBef>
              <a:spcAft>
                <a:spcPts val="300"/>
              </a:spcAft>
            </a:pPr>
            <a:r>
              <a:rPr sz="950" b="1">
                <a:solidFill>
                  <a:srgbClr val="A51C30"/>
                </a:solidFill>
                <a:latin typeface="Calibri"/>
              </a:rPr>
              <a:t>9   </a:t>
            </a:r>
            <a:r>
              <a:rPr sz="950" b="0">
                <a:solidFill>
                  <a:srgbClr val="4A4F57"/>
                </a:solidFill>
                <a:latin typeface="Calibri"/>
              </a:rPr>
              <a:t>What is measured, and what MAYA does not do</a:t>
            </a:r>
          </a:p>
        </p:txBody>
      </p:sp>
      <p:sp>
        <p:nvSpPr>
          <p:cNvPr id="12" name="Rectangle 11"/>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MAYA · Model Management</a:t>
            </a:r>
          </a:p>
        </p:txBody>
      </p:sp>
      <p:sp>
        <p:nvSpPr>
          <p:cNvPr id="14" name="TextBox 13"/>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1</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200" b="0" i="0">
                <a:solidFill>
                  <a:srgbClr val="FFFFFF"/>
                </a:solidFill>
                <a:latin typeface="Georgia"/>
              </a:rPr>
              <a:t>Why model governance fails</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Every bank keeps a model register, and most registers are lists of things people typed. This part says what supervisors now expect, where a typed register breaks, and what MAYA is in one sentence: a system of record whose facts are derived from the work, not declared about it.</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The question every model must answer</a:t>
            </a:r>
          </a:p>
          <a:p>
            <a:pPr>
              <a:lnSpc>
                <a:spcPct val="115000"/>
              </a:lnSpc>
              <a:spcBef>
                <a:spcPts val="0"/>
              </a:spcBef>
              <a:spcAft>
                <a:spcPts val="600"/>
              </a:spcAft>
            </a:pPr>
            <a:r>
              <a:rPr sz="1200" b="0" i="0">
                <a:solidFill>
                  <a:srgbClr val="F6E6E9"/>
                </a:solidFill>
                <a:latin typeface="Calibri"/>
              </a:rPr>
              <a:t>What SR 11-7 and SS1/23 ask for</a:t>
            </a:r>
          </a:p>
          <a:p>
            <a:pPr>
              <a:lnSpc>
                <a:spcPct val="115000"/>
              </a:lnSpc>
              <a:spcBef>
                <a:spcPts val="0"/>
              </a:spcBef>
              <a:spcAft>
                <a:spcPts val="600"/>
              </a:spcAft>
            </a:pPr>
            <a:r>
              <a:rPr sz="1200" b="0" i="0">
                <a:solidFill>
                  <a:srgbClr val="F6E6E9"/>
                </a:solidFill>
                <a:latin typeface="Calibri"/>
              </a:rPr>
              <a:t>Four places a register breaks</a:t>
            </a:r>
          </a:p>
          <a:p>
            <a:pPr>
              <a:lnSpc>
                <a:spcPct val="115000"/>
              </a:lnSpc>
              <a:spcBef>
                <a:spcPts val="0"/>
              </a:spcBef>
              <a:spcAft>
                <a:spcPts val="600"/>
              </a:spcAft>
            </a:pPr>
            <a:r>
              <a:rPr sz="1200" b="0" i="0">
                <a:solidFill>
                  <a:srgbClr val="F6E6E9"/>
                </a:solidFill>
                <a:latin typeface="Calibri"/>
              </a:rPr>
              <a:t>MAYA, in one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QUESTION</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C1C1E"/>
                </a:solidFill>
                <a:latin typeface="Georgia"/>
              </a:rPr>
              <a:t>Months later: which data, which mathematics, whose approval</a:t>
            </a:r>
          </a:p>
        </p:txBody>
      </p:sp>
      <p:sp>
        <p:nvSpPr>
          <p:cNvPr id="6" name="Rectangle 5"/>
          <p:cNvSpPr/>
          <p:nvPr/>
        </p:nvSpPr>
        <p:spPr>
          <a:xfrm>
            <a:off x="777240" y="1226820"/>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Why model governance fails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a:t>
            </a:r>
          </a:p>
        </p:txBody>
      </p:sp>
      <p:sp>
        <p:nvSpPr>
          <p:cNvPr id="10" name="TextBox 9"/>
          <p:cNvSpPr txBox="1"/>
          <p:nvPr/>
        </p:nvSpPr>
        <p:spPr>
          <a:xfrm>
            <a:off x="777240" y="1354836"/>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committee asks about one number in last March's impairment charge. Three questions follow, and in most quantitative shops each is answered by archaeology rather than by a query. Everything in this deck exists to make all three a lookup.</a:t>
            </a:r>
          </a:p>
        </p:txBody>
      </p:sp>
      <p:sp>
        <p:nvSpPr>
          <p:cNvPr id="11" name="Rectangle 10"/>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§1, the four reproducibility failures. Every part of this deck traces back to one of these three questions.</a:t>
            </a:r>
          </a:p>
        </p:txBody>
      </p:sp>
      <p:sp>
        <p:nvSpPr>
          <p:cNvPr id="13" name="TextBox 12"/>
          <p:cNvSpPr txBox="1"/>
          <p:nvPr/>
        </p:nvSpPr>
        <p:spPr>
          <a:xfrm>
            <a:off x="777240" y="2252853"/>
            <a:ext cx="10637215" cy="3626739"/>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Which data did it see?</a:t>
            </a:r>
          </a:p>
          <a:p>
            <a:pPr lvl="1">
              <a:lnSpc>
                <a:spcPct val="120000"/>
              </a:lnSpc>
              <a:spcBef>
                <a:spcPts val="0"/>
              </a:spcBef>
              <a:spcAft>
                <a:spcPts val="0"/>
              </a:spcAft>
            </a:pPr>
            <a:r>
              <a:rPr sz="1350" b="0">
                <a:solidFill>
                  <a:srgbClr val="4A4F57"/>
                </a:solidFill>
                <a:latin typeface="Calibri"/>
              </a:rPr>
              <a:t>Not which table — which rows, with which values, as they stood on the day. The table has moved since: a vendor restated two quarters in August and the warehouse row was updated in place, so the number the model saw in March no longer exists anywhere.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Which mathematics did it run?</a:t>
            </a:r>
          </a:p>
          <a:p>
            <a:pPr lvl="1">
              <a:lnSpc>
                <a:spcPct val="120000"/>
              </a:lnSpc>
              <a:spcBef>
                <a:spcPts val="0"/>
              </a:spcBef>
              <a:spcAft>
                <a:spcPts val="0"/>
              </a:spcAft>
            </a:pPr>
            <a:r>
              <a:rPr sz="1350" b="0">
                <a:solidFill>
                  <a:srgbClr val="4A4F57"/>
                </a:solidFill>
                <a:latin typeface="Calibri"/>
              </a:rPr>
              <a:t>There is a PDF that describes the model, a repository that implements it, and a spreadsheet the desk actually uses. All three were correct once. Nobody knows which of them is the model, and no test compares them.</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Whose approval was it running under?</a:t>
            </a:r>
          </a:p>
          <a:p>
            <a:pPr lvl="1">
              <a:lnSpc>
                <a:spcPct val="120000"/>
              </a:lnSpc>
              <a:spcBef>
                <a:spcPts val="0"/>
              </a:spcBef>
              <a:spcAft>
                <a:spcPts val="0"/>
              </a:spcAft>
            </a:pPr>
            <a:r>
              <a:rPr sz="1350" b="0">
                <a:solidFill>
                  <a:srgbClr val="4A4F57"/>
                </a:solidFill>
                <a:latin typeface="Calibri"/>
              </a:rPr>
              <a:t>There is an approval memo with a date. It does not name the version of the code, the numbers in the parameters, or the data the numbers were fitted on, so it approves a thing that cannot now be identified.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None of these is a documentation problem</a:t>
            </a:r>
          </a:p>
          <a:p>
            <a:pPr lvl="1">
              <a:lnSpc>
                <a:spcPct val="120000"/>
              </a:lnSpc>
              <a:spcBef>
                <a:spcPts val="0"/>
              </a:spcBef>
              <a:spcAft>
                <a:spcPts val="0"/>
              </a:spcAft>
            </a:pPr>
            <a:r>
              <a:rPr sz="1350" b="0">
                <a:solidFill>
                  <a:srgbClr val="4A4F57"/>
                </a:solidFill>
                <a:latin typeface="Calibri"/>
              </a:rPr>
              <a:t>Each is a question about an object that was never stored. A better template does not help; the answer has to be a consequence of how the work is done.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WHAT SUPERVISORS ASK</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Two supervisory statements, one set of expectations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Why model governance fails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Federal Reserve's SR 11-7 (2011) and the PRA's SS1/23 (2024) are written a decade apart and ask for the same things. Each row is an expectation, and where MAYA answers it from records it already keeps rather than from a form somebody fills in.</a:t>
            </a:r>
          </a:p>
        </p:txBody>
      </p:sp>
      <p:graphicFrame>
        <p:nvGraphicFramePr>
          <p:cNvPr id="11" name="Table 10"/>
          <p:cNvGraphicFramePr>
            <a:graphicFrameLocks noGrp="1"/>
          </p:cNvGraphicFramePr>
          <p:nvPr/>
        </p:nvGraphicFramePr>
        <p:xfrm>
          <a:off x="777240" y="2284984"/>
          <a:ext cx="10637214" cy="3900867"/>
        </p:xfrm>
        <a:graphic>
          <a:graphicData uri="http://schemas.openxmlformats.org/drawingml/2006/table">
            <a:tbl>
              <a:tblPr firstRow="1">
                <a:tableStyleId>{5C22544A-7EE6-4342-B048-85BDC9FD1C3A}</a:tableStyleId>
              </a:tblPr>
              <a:tblGrid>
                <a:gridCol w="3545738"/>
                <a:gridCol w="3545738"/>
                <a:gridCol w="3545738"/>
              </a:tblGrid>
              <a:tr h="318579">
                <a:tc>
                  <a:txBody>
                    <a:bodyPr wrap="square"/>
                    <a:lstStyle/>
                    <a:p>
                      <a:r>
                        <a:rPr sz="1300" b="1">
                          <a:solidFill>
                            <a:srgbClr val="FFFFFF"/>
                          </a:solidFill>
                          <a:latin typeface="Calibri"/>
                        </a:rPr>
                        <a:t>Expectation</a:t>
                      </a:r>
                    </a:p>
                  </a:txBody>
                  <a:tcPr marL="82296" marR="64008" marT="32004" marB="32004" anchor="ctr">
                    <a:solidFill>
                      <a:srgbClr val="A51C30"/>
                    </a:solidFill>
                  </a:tcPr>
                </a:tc>
                <a:tc>
                  <a:txBody>
                    <a:bodyPr wrap="square"/>
                    <a:lstStyle/>
                    <a:p>
                      <a:r>
                        <a:rPr sz="1300" b="1">
                          <a:solidFill>
                            <a:srgbClr val="FFFFFF"/>
                          </a:solidFill>
                          <a:latin typeface="Calibri"/>
                        </a:rPr>
                        <a:t>SR 11-7 · SS1/23</a:t>
                      </a:r>
                    </a:p>
                  </a:txBody>
                  <a:tcPr marL="82296" marR="64008" marT="32004" marB="32004" anchor="ctr">
                    <a:solidFill>
                      <a:srgbClr val="A51C30"/>
                    </a:solidFill>
                  </a:tcPr>
                </a:tc>
                <a:tc>
                  <a:txBody>
                    <a:bodyPr wrap="square"/>
                    <a:lstStyle/>
                    <a:p>
                      <a:r>
                        <a:rPr sz="1300" b="1">
                          <a:solidFill>
                            <a:srgbClr val="FFFFFF"/>
                          </a:solidFill>
                          <a:latin typeface="Calibri"/>
                        </a:rPr>
                        <a:t>Where MAYA answers it</a:t>
                      </a:r>
                    </a:p>
                  </a:txBody>
                  <a:tcPr marL="82296" marR="64008" marT="32004" marB="32004" anchor="ctr">
                    <a:solidFill>
                      <a:srgbClr val="A51C30"/>
                    </a:solidFill>
                  </a:tcPr>
                </a:tc>
              </a:tr>
              <a:tr h="736282">
                <a:tc>
                  <a:txBody>
                    <a:bodyPr wrap="square"/>
                    <a:lstStyle/>
                    <a:p>
                      <a:r>
                        <a:rPr sz="1300" b="1">
                          <a:solidFill>
                            <a:srgbClr val="761422"/>
                          </a:solidFill>
                          <a:latin typeface="Calibri"/>
                        </a:rPr>
                        <a:t>A complete inventory, with materiality</a:t>
                      </a:r>
                    </a:p>
                  </a:txBody>
                  <a:tcPr marL="82296" marR="64008" marT="32004" marB="32004" anchor="ctr">
                    <a:solidFill>
                      <a:srgbClr val="FFFFFF"/>
                    </a:solidFill>
                  </a:tcPr>
                </a:tc>
                <a:tc>
                  <a:txBody>
                    <a:bodyPr wrap="square"/>
                    <a:lstStyle/>
                    <a:p>
                      <a:r>
                        <a:rPr sz="1300" b="0">
                          <a:solidFill>
                            <a:srgbClr val="1C1C1E"/>
                          </a:solidFill>
                          <a:latin typeface="Calibri"/>
                        </a:rPr>
                        <a:t>Inventory · Principle 1, model tiering</a:t>
                      </a:r>
                    </a:p>
                  </a:txBody>
                  <a:tcPr marL="82296" marR="64008" marT="32004" marB="32004" anchor="ctr">
                    <a:solidFill>
                      <a:srgbClr val="FFFFFF"/>
                    </a:solidFill>
                  </a:tcPr>
                </a:tc>
                <a:tc>
                  <a:txBody>
                    <a:bodyPr wrap="square"/>
                    <a:lstStyle/>
                    <a:p>
                      <a:r>
                        <a:rPr sz="1300" b="0">
                          <a:solidFill>
                            <a:srgbClr val="1C1C1E"/>
                          </a:solidFill>
                          <a:latin typeface="Calibri"/>
                        </a:rPr>
                        <a:t>The inventory export, tier derived from use, exposure, reach and a questionnaire</a:t>
                      </a:r>
                    </a:p>
                  </a:txBody>
                  <a:tcPr marL="82296" marR="64008" marT="32004" marB="32004" anchor="ctr">
                    <a:solidFill>
                      <a:srgbClr val="FFFFFF"/>
                    </a:solidFill>
                  </a:tcPr>
                </a:tc>
              </a:tr>
              <a:tr h="527431">
                <a:tc>
                  <a:txBody>
                    <a:bodyPr wrap="square"/>
                    <a:lstStyle/>
                    <a:p>
                      <a:r>
                        <a:rPr sz="1300" b="1">
                          <a:solidFill>
                            <a:srgbClr val="761422"/>
                          </a:solidFill>
                          <a:latin typeface="Calibri"/>
                        </a:rPr>
                        <a:t>Sound development and documentation</a:t>
                      </a:r>
                    </a:p>
                  </a:txBody>
                  <a:tcPr marL="82296" marR="64008" marT="32004" marB="32004" anchor="ctr">
                    <a:solidFill>
                      <a:srgbClr val="F6F3EF"/>
                    </a:solidFill>
                  </a:tcPr>
                </a:tc>
                <a:tc>
                  <a:txBody>
                    <a:bodyPr wrap="square"/>
                    <a:lstStyle/>
                    <a:p>
                      <a:r>
                        <a:rPr sz="1300" b="0">
                          <a:solidFill>
                            <a:srgbClr val="1C1C1E"/>
                          </a:solidFill>
                          <a:latin typeface="Calibri"/>
                        </a:rPr>
                        <a:t>Development · Principle 3</a:t>
                      </a:r>
                    </a:p>
                  </a:txBody>
                  <a:tcPr marL="82296" marR="64008" marT="32004" marB="32004" anchor="ctr">
                    <a:solidFill>
                      <a:srgbClr val="F6F3EF"/>
                    </a:solidFill>
                  </a:tcPr>
                </a:tc>
                <a:tc>
                  <a:txBody>
                    <a:bodyPr wrap="square"/>
                    <a:lstStyle/>
                    <a:p>
                      <a:r>
                        <a:rPr sz="1300" b="0">
                          <a:solidFill>
                            <a:srgbClr val="1C1C1E"/>
                          </a:solidFill>
                          <a:latin typeface="Calibri"/>
                        </a:rPr>
                        <a:t>A specification bound to the formula's hash; nine required sections</a:t>
                      </a:r>
                    </a:p>
                  </a:txBody>
                  <a:tcPr marL="82296" marR="64008" marT="32004" marB="32004" anchor="ctr">
                    <a:solidFill>
                      <a:srgbClr val="F6F3EF"/>
                    </a:solidFill>
                  </a:tcPr>
                </a:tc>
              </a:tr>
              <a:tr h="736282">
                <a:tc>
                  <a:txBody>
                    <a:bodyPr wrap="square"/>
                    <a:lstStyle/>
                    <a:p>
                      <a:r>
                        <a:rPr sz="1300" b="1">
                          <a:solidFill>
                            <a:srgbClr val="761422"/>
                          </a:solidFill>
                          <a:latin typeface="Calibri"/>
                        </a:rPr>
                        <a:t>Independent validation</a:t>
                      </a:r>
                    </a:p>
                  </a:txBody>
                  <a:tcPr marL="82296" marR="64008" marT="32004" marB="32004" anchor="ctr">
                    <a:solidFill>
                      <a:srgbClr val="FFFFFF"/>
                    </a:solidFill>
                  </a:tcPr>
                </a:tc>
                <a:tc>
                  <a:txBody>
                    <a:bodyPr wrap="square"/>
                    <a:lstStyle/>
                    <a:p>
                      <a:r>
                        <a:rPr sz="1300" b="0">
                          <a:solidFill>
                            <a:srgbClr val="1C1C1E"/>
                          </a:solidFill>
                          <a:latin typeface="Calibri"/>
                        </a:rPr>
                        <a:t>Validation · Principle 4</a:t>
                      </a:r>
                    </a:p>
                  </a:txBody>
                  <a:tcPr marL="82296" marR="64008" marT="32004" marB="32004" anchor="ctr">
                    <a:solidFill>
                      <a:srgbClr val="FFFFFF"/>
                    </a:solidFill>
                  </a:tcPr>
                </a:tc>
                <a:tc>
                  <a:txBody>
                    <a:bodyPr wrap="square"/>
                    <a:lstStyle/>
                    <a:p>
                      <a:r>
                        <a:rPr sz="1300" b="0">
                          <a:solidFill>
                            <a:srgbClr val="1C1C1E"/>
                          </a:solidFill>
                          <a:latin typeface="Calibri"/>
                        </a:rPr>
                        <a:t>Blind scoring on escrowed data; reconciliation; champion and challenger</a:t>
                      </a:r>
                    </a:p>
                  </a:txBody>
                  <a:tcPr marL="82296" marR="64008" marT="32004" marB="32004" anchor="ctr">
                    <a:solidFill>
                      <a:srgbClr val="FFFFFF"/>
                    </a:solidFill>
                  </a:tcPr>
                </a:tc>
              </a:tr>
              <a:tr h="527431">
                <a:tc>
                  <a:txBody>
                    <a:bodyPr wrap="square"/>
                    <a:lstStyle/>
                    <a:p>
                      <a:r>
                        <a:rPr sz="1300" b="1">
                          <a:solidFill>
                            <a:srgbClr val="761422"/>
                          </a:solidFill>
                          <a:latin typeface="Calibri"/>
                        </a:rPr>
                        <a:t>Ongoing monitoring</a:t>
                      </a:r>
                    </a:p>
                  </a:txBody>
                  <a:tcPr marL="82296" marR="64008" marT="32004" marB="32004" anchor="ctr">
                    <a:solidFill>
                      <a:srgbClr val="F6F3EF"/>
                    </a:solidFill>
                  </a:tcPr>
                </a:tc>
                <a:tc>
                  <a:txBody>
                    <a:bodyPr wrap="square"/>
                    <a:lstStyle/>
                    <a:p>
                      <a:r>
                        <a:rPr sz="1300" b="0">
                          <a:solidFill>
                            <a:srgbClr val="1C1C1E"/>
                          </a:solidFill>
                          <a:latin typeface="Calibri"/>
                        </a:rPr>
                        <a:t>Monitoring · Principle 4.4</a:t>
                      </a:r>
                    </a:p>
                  </a:txBody>
                  <a:tcPr marL="82296" marR="64008" marT="32004" marB="32004" anchor="ctr">
                    <a:solidFill>
                      <a:srgbClr val="F6F3EF"/>
                    </a:solidFill>
                  </a:tcPr>
                </a:tc>
                <a:tc>
                  <a:txBody>
                    <a:bodyPr wrap="square"/>
                    <a:lstStyle/>
                    <a:p>
                      <a:r>
                        <a:rPr sz="1300" b="0">
                          <a:solidFill>
                            <a:srgbClr val="1C1C1E"/>
                          </a:solidFill>
                          <a:latin typeface="Calibri"/>
                        </a:rPr>
                        <a:t>Covenants on every reported run; dashboards graded ok, watch, breach</a:t>
                      </a:r>
                    </a:p>
                  </a:txBody>
                  <a:tcPr marL="82296" marR="64008" marT="32004" marB="32004" anchor="ctr">
                    <a:solidFill>
                      <a:srgbClr val="F6F3EF"/>
                    </a:solidFill>
                  </a:tcPr>
                </a:tc>
              </a:tr>
              <a:tr h="527431">
                <a:tc>
                  <a:txBody>
                    <a:bodyPr wrap="square"/>
                    <a:lstStyle/>
                    <a:p>
                      <a:r>
                        <a:rPr sz="1300" b="1">
                          <a:solidFill>
                            <a:srgbClr val="761422"/>
                          </a:solidFill>
                          <a:latin typeface="Calibri"/>
                        </a:rPr>
                        <a:t>Issues tracked to closure</a:t>
                      </a:r>
                    </a:p>
                  </a:txBody>
                  <a:tcPr marL="82296" marR="64008" marT="32004" marB="32004" anchor="ctr">
                    <a:solidFill>
                      <a:srgbClr val="FFFFFF"/>
                    </a:solidFill>
                  </a:tcPr>
                </a:tc>
                <a:tc>
                  <a:txBody>
                    <a:bodyPr wrap="square"/>
                    <a:lstStyle/>
                    <a:p>
                      <a:r>
                        <a:rPr sz="1300" b="0">
                          <a:solidFill>
                            <a:srgbClr val="1C1C1E"/>
                          </a:solidFill>
                          <a:latin typeface="Calibri"/>
                        </a:rPr>
                        <a:t>Governance · Principle 2</a:t>
                      </a:r>
                    </a:p>
                  </a:txBody>
                  <a:tcPr marL="82296" marR="64008" marT="32004" marB="32004" anchor="ctr">
                    <a:solidFill>
                      <a:srgbClr val="FFFFFF"/>
                    </a:solidFill>
                  </a:tcPr>
                </a:tc>
                <a:tc>
                  <a:txBody>
                    <a:bodyPr wrap="square"/>
                    <a:lstStyle/>
                    <a:p>
                      <a:r>
                        <a:rPr sz="1300" b="0">
                          <a:solidFill>
                            <a:srgbClr val="1C1C1E"/>
                          </a:solidFill>
                          <a:latin typeface="Calibri"/>
                        </a:rPr>
                        <a:t>A findings register; nobody closes their own fix</a:t>
                      </a:r>
                    </a:p>
                  </a:txBody>
                  <a:tcPr marL="82296" marR="64008" marT="32004" marB="32004" anchor="ctr">
                    <a:solidFill>
                      <a:srgbClr val="FFFFFF"/>
                    </a:solidFill>
                  </a:tcPr>
                </a:tc>
              </a:tr>
              <a:tr h="527431">
                <a:tc>
                  <a:txBody>
                    <a:bodyPr wrap="square"/>
                    <a:lstStyle/>
                    <a:p>
                      <a:r>
                        <a:rPr sz="1300" b="1">
                          <a:solidFill>
                            <a:srgbClr val="761422"/>
                          </a:solidFill>
                          <a:latin typeface="Calibri"/>
                        </a:rPr>
                        <a:t>Periodic review, and limits on use</a:t>
                      </a:r>
                    </a:p>
                  </a:txBody>
                  <a:tcPr marL="82296" marR="64008" marT="32004" marB="32004" anchor="ctr">
                    <a:solidFill>
                      <a:srgbClr val="F6F3EF"/>
                    </a:solidFill>
                  </a:tcPr>
                </a:tc>
                <a:tc>
                  <a:txBody>
                    <a:bodyPr wrap="square"/>
                    <a:lstStyle/>
                    <a:p>
                      <a:r>
                        <a:rPr sz="1300" b="0">
                          <a:solidFill>
                            <a:srgbClr val="1C1C1E"/>
                          </a:solidFill>
                          <a:latin typeface="Calibri"/>
                        </a:rPr>
                        <a:t>Governance · Principle 5</a:t>
                      </a:r>
                    </a:p>
                  </a:txBody>
                  <a:tcPr marL="82296" marR="64008" marT="32004" marB="32004" anchor="ctr">
                    <a:solidFill>
                      <a:srgbClr val="F6F3EF"/>
                    </a:solidFill>
                  </a:tcPr>
                </a:tc>
                <a:tc>
                  <a:txBody>
                    <a:bodyPr wrap="square"/>
                    <a:lstStyle/>
                    <a:p>
                      <a:r>
                        <a:rPr sz="1300" b="0">
                          <a:solidFill>
                            <a:srgbClr val="1C1C1E"/>
                          </a:solidFill>
                          <a:latin typeface="Calibri"/>
                        </a:rPr>
                        <a:t>Review intervals by tier; an overdue review suspends the model</a:t>
                      </a:r>
                    </a:p>
                  </a:txBody>
                  <a:tcPr marL="82296" marR="64008" marT="32004" marB="32004" anchor="ctr">
                    <a:solidFill>
                      <a:srgbClr val="F6F3E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A REGISTER BREAKS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Four failures a typed register cannot see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Why model governance fails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a:t>
            </a:r>
          </a:p>
        </p:txBody>
      </p:sp>
      <p:sp>
        <p:nvSpPr>
          <p:cNvPr id="10" name="Rectangle 9"/>
          <p:cNvSpPr/>
          <p:nvPr/>
        </p:nvSpPr>
        <p:spPr>
          <a:xfrm>
            <a:off x="777240" y="1386967"/>
            <a:ext cx="5236311" cy="2346896"/>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THE DATA MOVED</a:t>
            </a:r>
          </a:p>
        </p:txBody>
      </p:sp>
      <p:sp>
        <p:nvSpPr>
          <p:cNvPr id="13" name="TextBox 12"/>
          <p:cNvSpPr txBox="1"/>
          <p:nvPr/>
        </p:nvSpPr>
        <p:spPr>
          <a:xfrm>
            <a:off x="960120" y="1807591"/>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Nobody can say which rows a model saw</a:t>
            </a:r>
          </a:p>
        </p:txBody>
      </p:sp>
      <p:sp>
        <p:nvSpPr>
          <p:cNvPr id="14" name="TextBox 13"/>
          <p:cNvSpPr txBox="1"/>
          <p:nvPr/>
        </p:nvSpPr>
        <p:spPr>
          <a:xfrm>
            <a:off x="960120" y="2156079"/>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warehouse row was restated in place in August. The number the model read in March no longer exists anywhere, and the register still says “trained on the loans table”.</a:t>
            </a:r>
          </a:p>
        </p:txBody>
      </p:sp>
      <p:sp>
        <p:nvSpPr>
          <p:cNvPr id="15" name="Rectangle 14"/>
          <p:cNvSpPr/>
          <p:nvPr/>
        </p:nvSpPr>
        <p:spPr>
          <a:xfrm>
            <a:off x="6178143" y="1386967"/>
            <a:ext cx="5236311" cy="2346896"/>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86967"/>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51559"/>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THE CODE IS NOT THE MATHS</a:t>
            </a:r>
          </a:p>
        </p:txBody>
      </p:sp>
      <p:sp>
        <p:nvSpPr>
          <p:cNvPr id="18" name="TextBox 17"/>
          <p:cNvSpPr txBox="1"/>
          <p:nvPr/>
        </p:nvSpPr>
        <p:spPr>
          <a:xfrm>
            <a:off x="6361023" y="1807591"/>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Three artefacts, each correct once</a:t>
            </a:r>
          </a:p>
        </p:txBody>
      </p:sp>
      <p:sp>
        <p:nvSpPr>
          <p:cNvPr id="19" name="TextBox 18"/>
          <p:cNvSpPr txBox="1"/>
          <p:nvPr/>
        </p:nvSpPr>
        <p:spPr>
          <a:xfrm>
            <a:off x="6361023" y="2156079"/>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PDF describes the model, a repository implements it, and the desk runs a spreadsheet. No test compares them, so nobody knows which of the three is the model.</a:t>
            </a:r>
          </a:p>
        </p:txBody>
      </p:sp>
      <p:sp>
        <p:nvSpPr>
          <p:cNvPr id="20" name="Rectangle 19"/>
          <p:cNvSpPr/>
          <p:nvPr/>
        </p:nvSpPr>
        <p:spPr>
          <a:xfrm>
            <a:off x="777240" y="3898455"/>
            <a:ext cx="5236311" cy="2346896"/>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898455"/>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63047"/>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THE BLACK BOX</a:t>
            </a:r>
          </a:p>
        </p:txBody>
      </p:sp>
      <p:sp>
        <p:nvSpPr>
          <p:cNvPr id="23" name="TextBox 22"/>
          <p:cNvSpPr txBox="1"/>
          <p:nvPr/>
        </p:nvSpPr>
        <p:spPr>
          <a:xfrm>
            <a:off x="960120" y="4319079"/>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Bought, opaque, and still in use</a:t>
            </a:r>
          </a:p>
        </p:txBody>
      </p:sp>
      <p:sp>
        <p:nvSpPr>
          <p:cNvPr id="24" name="TextBox 23"/>
          <p:cNvSpPr txBox="1"/>
          <p:nvPr/>
        </p:nvSpPr>
        <p:spPr>
          <a:xfrm>
            <a:off x="960120" y="4667567"/>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vendor score or a neural network has no formula to review. A register records that it exists; it cannot record whether it still works on today's population.</a:t>
            </a:r>
          </a:p>
        </p:txBody>
      </p:sp>
      <p:sp>
        <p:nvSpPr>
          <p:cNvPr id="25" name="Rectangle 24"/>
          <p:cNvSpPr/>
          <p:nvPr/>
        </p:nvSpPr>
        <p:spPr>
          <a:xfrm>
            <a:off x="6178143" y="3898455"/>
            <a:ext cx="5236311" cy="2346896"/>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898455"/>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63047"/>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THE PROMPT</a:t>
            </a:r>
          </a:p>
        </p:txBody>
      </p:sp>
      <p:sp>
        <p:nvSpPr>
          <p:cNvPr id="28" name="TextBox 27"/>
          <p:cNvSpPr txBox="1"/>
          <p:nvPr/>
        </p:nvSpPr>
        <p:spPr>
          <a:xfrm>
            <a:off x="6361023" y="4319079"/>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An LLM application nobody versioned</a:t>
            </a:r>
          </a:p>
        </p:txBody>
      </p:sp>
      <p:sp>
        <p:nvSpPr>
          <p:cNvPr id="29" name="TextBox 28"/>
          <p:cNvSpPr txBox="1"/>
          <p:nvPr/>
        </p:nvSpPr>
        <p:spPr>
          <a:xfrm>
            <a:off x="6361023" y="4667567"/>
            <a:ext cx="4870551" cy="144976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prompt edited on a Friday changes the model's behaviour as surely as a new coefficient, and no register sees the change or asks what it was tested 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MAYA, IN ONE SLIDE</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A system of record whose facts are derived, not declared</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1 · Why model governance fails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a:t>
            </a:r>
          </a:p>
        </p:txBody>
      </p:sp>
      <p:sp>
        <p:nvSpPr>
          <p:cNvPr id="10" name="TextBox 9"/>
          <p:cNvSpPr txBox="1"/>
          <p:nvPr/>
        </p:nvSpPr>
        <p:spPr>
          <a:xfrm>
            <a:off x="777240" y="1370901"/>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MAYA holds the models, the data they read and the licences to fit and run them, and derives the facts a register would ask somebody to type. It never trains a model and never serves a prediction: it is where the evidence lives, not where the arithmetic runs.</a:t>
            </a:r>
          </a:p>
        </p:txBody>
      </p:sp>
      <p:sp>
        <p:nvSpPr>
          <p:cNvPr id="11" name="TextBox 10"/>
          <p:cNvSpPr txBox="1"/>
          <p:nvPr/>
        </p:nvSpPr>
        <p:spPr>
          <a:xfrm>
            <a:off x="777240" y="2268918"/>
            <a:ext cx="10637215" cy="3976433"/>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Data, frozen by content</a:t>
            </a:r>
          </a:p>
          <a:p>
            <a:pPr lvl="1">
              <a:lnSpc>
                <a:spcPct val="120000"/>
              </a:lnSpc>
              <a:spcBef>
                <a:spcPts val="0"/>
              </a:spcBef>
              <a:spcAft>
                <a:spcPts val="0"/>
              </a:spcAft>
            </a:pPr>
            <a:r>
              <a:rPr sz="1550" b="0">
                <a:solidFill>
                  <a:srgbClr val="4A4F57"/>
                </a:solidFill>
                <a:latin typeface="Calibri"/>
              </a:rPr>
              <a:t>Features with two clocks — when a value was true and when it was known — and pins sealed by the hash of their rows.</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Mathematics, as a typed tree</a:t>
            </a:r>
          </a:p>
          <a:p>
            <a:pPr lvl="1">
              <a:lnSpc>
                <a:spcPct val="120000"/>
              </a:lnSpc>
              <a:spcBef>
                <a:spcPts val="0"/>
              </a:spcBef>
              <a:spcAft>
                <a:spcPts val="0"/>
              </a:spcAft>
            </a:pPr>
            <a:r>
              <a:rPr sz="1550" b="0">
                <a:solidFill>
                  <a:srgbClr val="4A4F57"/>
                </a:solidFill>
                <a:latin typeface="Calibri"/>
              </a:rPr>
              <a:t>A model's formula parsed from LaTeX, Python or Excel; code checked against it; a black box declared as one.</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Licences, not documents</a:t>
            </a:r>
          </a:p>
          <a:p>
            <a:pPr lvl="1">
              <a:lnSpc>
                <a:spcPct val="120000"/>
              </a:lnSpc>
              <a:spcBef>
                <a:spcPts val="0"/>
              </a:spcBef>
              <a:spcAft>
                <a:spcPts val="0"/>
              </a:spcAft>
            </a:pPr>
            <a:r>
              <a:rPr sz="1550" b="0">
                <a:solidFill>
                  <a:srgbClr val="4A4F57"/>
                </a:solidFill>
                <a:latin typeface="Calibri"/>
              </a:rPr>
              <a:t>Training and execution warrants that bind a model to data, expire, suspend themselves on a breach, and prove themselves offline.</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Governance, from the same records</a:t>
            </a:r>
          </a:p>
          <a:p>
            <a:pPr lvl="1">
              <a:lnSpc>
                <a:spcPct val="120000"/>
              </a:lnSpc>
              <a:spcBef>
                <a:spcPts val="0"/>
              </a:spcBef>
              <a:spcAft>
                <a:spcPts val="0"/>
              </a:spcAft>
            </a:pPr>
            <a:r>
              <a:rPr sz="1550" b="0">
                <a:solidFill>
                  <a:srgbClr val="4A4F57"/>
                </a:solidFill>
                <a:latin typeface="Calibri"/>
              </a:rPr>
              <a:t>Findings, tiers, reviews, monitoring, challengers, fairness evidence and the supervisory inventory, all read from the objects above.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2</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800" b="0" i="0">
                <a:solidFill>
                  <a:srgbClr val="FFFFFF"/>
                </a:solidFill>
                <a:latin typeface="Georgia"/>
              </a:rPr>
              <a:t>The vocabulary, from nothing</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Nothing in this deck is used before it is defined. This part builds the vocabulary from nothing — kernel, parameter, feature, clock, feature set, training, pin, warrant — one idea to a slide, each carried by an example from a bank and each earning its place by naming the failure it prevents.</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The question every model must answer</a:t>
            </a:r>
          </a:p>
          <a:p>
            <a:pPr>
              <a:lnSpc>
                <a:spcPct val="115000"/>
              </a:lnSpc>
              <a:spcBef>
                <a:spcPts val="0"/>
              </a:spcBef>
              <a:spcAft>
                <a:spcPts val="600"/>
              </a:spcAft>
            </a:pPr>
            <a:r>
              <a:rPr sz="1200" b="0" i="0">
                <a:solidFill>
                  <a:srgbClr val="F6E6E9"/>
                </a:solidFill>
                <a:latin typeface="Calibri"/>
              </a:rPr>
              <a:t>A kernel, and its dials</a:t>
            </a:r>
          </a:p>
          <a:p>
            <a:pPr>
              <a:lnSpc>
                <a:spcPct val="115000"/>
              </a:lnSpc>
              <a:spcBef>
                <a:spcPts val="0"/>
              </a:spcBef>
              <a:spcAft>
                <a:spcPts val="600"/>
              </a:spcAft>
            </a:pPr>
            <a:r>
              <a:rPr sz="1200" b="0" i="0">
                <a:solidFill>
                  <a:srgbClr val="F6E6E9"/>
                </a:solidFill>
                <a:latin typeface="Calibri"/>
              </a:rPr>
              <a:t>Parameters, and the six ways they get set</a:t>
            </a:r>
          </a:p>
          <a:p>
            <a:pPr>
              <a:lnSpc>
                <a:spcPct val="115000"/>
              </a:lnSpc>
              <a:spcBef>
                <a:spcPts val="0"/>
              </a:spcBef>
              <a:spcAft>
                <a:spcPts val="600"/>
              </a:spcAft>
            </a:pPr>
            <a:r>
              <a:rPr sz="1200" b="0" i="0">
                <a:solidFill>
                  <a:srgbClr val="F6E6E9"/>
                </a:solidFill>
                <a:latin typeface="Calibri"/>
              </a:rPr>
              <a:t>Features, and the two clocks</a:t>
            </a:r>
          </a:p>
          <a:p>
            <a:pPr>
              <a:lnSpc>
                <a:spcPct val="115000"/>
              </a:lnSpc>
              <a:spcBef>
                <a:spcPts val="0"/>
              </a:spcBef>
              <a:spcAft>
                <a:spcPts val="600"/>
              </a:spcAft>
            </a:pPr>
            <a:r>
              <a:rPr sz="1200" b="0" i="0">
                <a:solidFill>
                  <a:srgbClr val="F6E6E9"/>
                </a:solidFill>
                <a:latin typeface="Calibri"/>
              </a:rPr>
              <a:t>Feature sets, and what a model reads</a:t>
            </a:r>
          </a:p>
          <a:p>
            <a:pPr>
              <a:lnSpc>
                <a:spcPct val="115000"/>
              </a:lnSpc>
              <a:spcBef>
                <a:spcPts val="0"/>
              </a:spcBef>
              <a:spcAft>
                <a:spcPts val="600"/>
              </a:spcAft>
            </a:pPr>
            <a:r>
              <a:rPr sz="1200" b="0" i="0">
                <a:solidFill>
                  <a:srgbClr val="F6E6E9"/>
                </a:solidFill>
                <a:latin typeface="Calibri"/>
              </a:rPr>
              <a:t>What training means, precisely</a:t>
            </a:r>
          </a:p>
          <a:p>
            <a:pPr>
              <a:lnSpc>
                <a:spcPct val="115000"/>
              </a:lnSpc>
              <a:spcBef>
                <a:spcPts val="0"/>
              </a:spcBef>
              <a:spcAft>
                <a:spcPts val="600"/>
              </a:spcAft>
            </a:pPr>
            <a:r>
              <a:rPr sz="1200" b="0" i="0">
                <a:solidFill>
                  <a:srgbClr val="F6E6E9"/>
                </a:solidFill>
                <a:latin typeface="Calibri"/>
              </a:rPr>
              <a:t>What pinning means</a:t>
            </a:r>
          </a:p>
          <a:p>
            <a:pPr>
              <a:lnSpc>
                <a:spcPct val="115000"/>
              </a:lnSpc>
              <a:spcBef>
                <a:spcPts val="0"/>
              </a:spcBef>
              <a:spcAft>
                <a:spcPts val="600"/>
              </a:spcAft>
            </a:pPr>
            <a:r>
              <a:rPr sz="1200" b="0" i="0">
                <a:solidFill>
                  <a:srgbClr val="F6E6E9"/>
                </a:solidFill>
                <a:latin typeface="Calibri"/>
              </a:rPr>
              <a:t>Warrants, and the vocabulary assembled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DEFINITION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model is a compute kernel, and a set of dials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8</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Strip away the implementation and every model has the same shape: something goes in, something comes out, and a set of numbers held apart from the machinery decides how it behaves. Those numbers are the parameters, and separating them from the machine is where everything else in this deck comes from.</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§2.2, the definition of a model as a kernel with a parameter object. The separation is not a modelling convenience: the derived facts of Part 6 and the warrants of Part 3 both follow from it.</a:t>
            </a:r>
          </a:p>
        </p:txBody>
      </p:sp>
      <p:sp>
        <p:nvSpPr>
          <p:cNvPr id="13" name="Rectangle 12"/>
          <p:cNvSpPr/>
          <p:nvPr/>
        </p:nvSpPr>
        <p:spPr>
          <a:xfrm>
            <a:off x="777240"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shape</a:t>
            </a:r>
          </a:p>
        </p:txBody>
      </p:sp>
      <p:sp>
        <p:nvSpPr>
          <p:cNvPr id="16" name="TextBox 15"/>
          <p:cNvSpPr txBox="1"/>
          <p:nvPr/>
        </p:nvSpPr>
        <p:spPr>
          <a:xfrm>
            <a:off x="777240" y="2797048"/>
            <a:ext cx="5135727" cy="2881375"/>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Inputs</a:t>
            </a:r>
          </a:p>
          <a:p>
            <a:pPr lvl="1">
              <a:lnSpc>
                <a:spcPct val="120000"/>
              </a:lnSpc>
              <a:spcBef>
                <a:spcPts val="0"/>
              </a:spcBef>
              <a:spcAft>
                <a:spcPts val="0"/>
              </a:spcAft>
            </a:pPr>
            <a:r>
              <a:rPr sz="1300" b="0">
                <a:solidFill>
                  <a:srgbClr val="4A4F57"/>
                </a:solidFill>
                <a:latin typeface="Calibri"/>
              </a:rPr>
              <a:t>The things that vary from one row to the next: this borrower's arrears, this option's strike. One value per row, per input.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kernel</a:t>
            </a:r>
          </a:p>
          <a:p>
            <a:pPr lvl="1">
              <a:lnSpc>
                <a:spcPct val="120000"/>
              </a:lnSpc>
              <a:spcBef>
                <a:spcPts val="0"/>
              </a:spcBef>
              <a:spcAft>
                <a:spcPts val="0"/>
              </a:spcAft>
            </a:pPr>
            <a:r>
              <a:rPr sz="1300" b="0">
                <a:solidFill>
                  <a:srgbClr val="4A4F57"/>
                </a:solidFill>
                <a:latin typeface="Calibri"/>
              </a:rPr>
              <a:t>The fixed arithmetic that turns those inputs into an output. It does not change between rows and it does not change between runs.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dials</a:t>
            </a:r>
          </a:p>
          <a:p>
            <a:pPr lvl="1">
              <a:lnSpc>
                <a:spcPct val="120000"/>
              </a:lnSpc>
              <a:spcBef>
                <a:spcPts val="0"/>
              </a:spcBef>
              <a:spcAft>
                <a:spcPts val="0"/>
              </a:spcAft>
            </a:pPr>
            <a:r>
              <a:rPr sz="1300" b="0">
                <a:solidFill>
                  <a:srgbClr val="4A4F57"/>
                </a:solidFill>
                <a:latin typeface="Calibri"/>
              </a:rPr>
              <a:t>Numbers that are the same for every row of a run, and that decide what the kernel does with the inputs. A coefficient, a threshold, a volatility.</a:t>
            </a:r>
          </a:p>
        </p:txBody>
      </p:sp>
      <p:sp>
        <p:nvSpPr>
          <p:cNvPr id="17" name="Rectangle 16"/>
          <p:cNvSpPr/>
          <p:nvPr/>
        </p:nvSpPr>
        <p:spPr>
          <a:xfrm>
            <a:off x="6278727"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Why hold the dials apart</a:t>
            </a:r>
          </a:p>
        </p:txBody>
      </p:sp>
      <p:sp>
        <p:nvSpPr>
          <p:cNvPr id="20" name="TextBox 19"/>
          <p:cNvSpPr txBox="1"/>
          <p:nvPr/>
        </p:nvSpPr>
        <p:spPr>
          <a:xfrm>
            <a:off x="6278727" y="2797048"/>
            <a:ext cx="5135727" cy="2881375"/>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Because they change on a different clock</a:t>
            </a:r>
          </a:p>
          <a:p>
            <a:pPr lvl="1">
              <a:lnSpc>
                <a:spcPct val="120000"/>
              </a:lnSpc>
              <a:spcBef>
                <a:spcPts val="0"/>
              </a:spcBef>
              <a:spcAft>
                <a:spcPts val="0"/>
              </a:spcAft>
            </a:pPr>
            <a:r>
              <a:rPr sz="1200" b="0">
                <a:solidFill>
                  <a:srgbClr val="4A4F57"/>
                </a:solidFill>
                <a:latin typeface="Calibri"/>
              </a:rPr>
              <a:t>The arithmetic changes when somebody redesigns the model. The dials change every time it is refitted. Recording both as one thing loses the distinction a supervisor is asking about.</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Because they are what evidence is about</a:t>
            </a:r>
          </a:p>
          <a:p>
            <a:pPr lvl="1">
              <a:lnSpc>
                <a:spcPct val="120000"/>
              </a:lnSpc>
              <a:spcBef>
                <a:spcPts val="0"/>
              </a:spcBef>
              <a:spcAft>
                <a:spcPts val="0"/>
              </a:spcAft>
            </a:pPr>
            <a:r>
              <a:rPr sz="1200" b="0">
                <a:solidFill>
                  <a:srgbClr val="4A4F57"/>
                </a:solidFill>
                <a:latin typeface="Calibri"/>
              </a:rPr>
              <a:t>Almost every question a reviewer asks — what sample, what estimator, what window, whose sign-off — is a question about how the dials were set, not about the arithmetic.</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Because the output may be a distribution</a:t>
            </a:r>
          </a:p>
          <a:p>
            <a:pPr lvl="1">
              <a:lnSpc>
                <a:spcPct val="120000"/>
              </a:lnSpc>
              <a:spcBef>
                <a:spcPts val="0"/>
              </a:spcBef>
              <a:spcAft>
                <a:spcPts val="0"/>
              </a:spcAft>
            </a:pPr>
            <a:r>
              <a:rPr sz="1200" b="0">
                <a:solidFill>
                  <a:srgbClr val="4A4F57"/>
                </a:solidFill>
                <a:latin typeface="Calibri"/>
              </a:rPr>
              <a:t>Nothing here requires the kernel to return one number. It may return a spread of them, so a model that samples is an instance of the definition rather than an exception to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PARAMETERS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C1C1E"/>
                </a:solidFill>
                <a:latin typeface="Georgia"/>
              </a:rPr>
              <a:t>A dial is not an input, and the difference is a declaration</a:t>
            </a:r>
          </a:p>
        </p:txBody>
      </p:sp>
      <p:sp>
        <p:nvSpPr>
          <p:cNvPr id="6" name="Rectangle 5"/>
          <p:cNvSpPr/>
          <p:nvPr/>
        </p:nvSpPr>
        <p:spPr>
          <a:xfrm>
            <a:off x="777240" y="1226820"/>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9</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maya/formula/ir.py: every input of a registered model carries a role — feature, parameter or constant — and a parameter carries its bounds. The bounds are checked when numbers are uploaded, not when they first produce a strange answer.</a:t>
            </a:r>
          </a:p>
        </p:txBody>
      </p:sp>
      <p:sp>
        <p:nvSpPr>
          <p:cNvPr id="12" name="TextBox 11"/>
          <p:cNvSpPr txBox="1"/>
          <p:nvPr/>
        </p:nvSpPr>
        <p:spPr>
          <a:xfrm>
            <a:off x="777240" y="1354836"/>
            <a:ext cx="10637215" cy="432358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C1C1E"/>
                </a:solidFill>
                <a:latin typeface="Calibri"/>
              </a:rPr>
              <a:t>An input varies per row; a parameter does not</a:t>
            </a:r>
          </a:p>
          <a:p>
            <a:pPr lvl="1">
              <a:lnSpc>
                <a:spcPct val="120000"/>
              </a:lnSpc>
              <a:spcBef>
                <a:spcPts val="0"/>
              </a:spcBef>
              <a:spcAft>
                <a:spcPts val="0"/>
              </a:spcAft>
            </a:pPr>
            <a:r>
              <a:rPr sz="1450" b="0">
                <a:solidFill>
                  <a:srgbClr val="4A4F57"/>
                </a:solidFill>
                <a:latin typeface="Calibri"/>
              </a:rPr>
              <a:t>Feed a thousand borrowers through a scorecard and each has their own arrears figure. All thousand are scored with the same forty-two coefficients. That is the whole of the distinction, and it is a statement about the run rather than about the symbol.</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So the same symbol can be either, and it matters which</a:t>
            </a:r>
          </a:p>
          <a:p>
            <a:pPr lvl="1">
              <a:lnSpc>
                <a:spcPct val="120000"/>
              </a:lnSpc>
              <a:spcBef>
                <a:spcPts val="0"/>
              </a:spcBef>
              <a:spcAft>
                <a:spcPts val="0"/>
              </a:spcAft>
            </a:pPr>
            <a:r>
              <a:rPr sz="1450" b="0">
                <a:solidFill>
                  <a:srgbClr val="4A4F57"/>
                </a:solidFill>
                <a:latin typeface="Calibri"/>
              </a:rPr>
              <a:t>Volatility is an input to a Black–Scholes pricer: it arrives per option. In a calibrated volatility surface it is the thing being solved for, so it is a dial. Same letter, same arithmetic, different object — and the evidence each owes is different.</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Which is why the role is declared rather than inferred</a:t>
            </a:r>
          </a:p>
          <a:p>
            <a:pPr lvl="1">
              <a:lnSpc>
                <a:spcPct val="120000"/>
              </a:lnSpc>
              <a:spcBef>
                <a:spcPts val="0"/>
              </a:spcBef>
              <a:spcAft>
                <a:spcPts val="0"/>
              </a:spcAft>
            </a:pPr>
            <a:r>
              <a:rPr sz="1450" b="0">
                <a:solidFill>
                  <a:srgbClr val="4A4F57"/>
                </a:solidFill>
                <a:latin typeface="Calibri"/>
              </a:rPr>
              <a:t>Whoever writes the mathematics says, symbol by symbol, whether it is an input, a dial or a constant. A system that guessed would guess wrong on exactly the cases where it matters, and would do so silently.</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And a dial usually carries a range it is allowed to sit in</a:t>
            </a:r>
          </a:p>
          <a:p>
            <a:pPr lvl="1">
              <a:lnSpc>
                <a:spcPct val="120000"/>
              </a:lnSpc>
              <a:spcBef>
                <a:spcPts val="0"/>
              </a:spcBef>
              <a:spcAft>
                <a:spcPts val="0"/>
              </a:spcAft>
            </a:pPr>
            <a:r>
              <a:rPr sz="1450" b="0">
                <a:solidFill>
                  <a:srgbClr val="4A4F57"/>
                </a:solidFill>
                <a:latin typeface="Calibri"/>
              </a:rPr>
              <a:t>A probability between zero and one; a conversion factor at or above zero; a correlation inside minus one and one. A number outside its range is not a poor fit, it is an arithmetic error that has not yet surfaced.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THE NUMBERS COME FROM</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Six ways a dial gets set, and training is one of them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10</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These are not six kinds of model. They are six routes into the same set of dials, and which route was taken decides what evidence can exist — before anybody gets as far as asking for it.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§2.3. Two further routes exist and are taken up in Part 6: configuration, where the dials are a base model, a prompt and a corpus; and somebody else's fitting, where the dials exist behind a contract and cannot be reached at all.</a:t>
            </a:r>
          </a:p>
        </p:txBody>
      </p:sp>
      <p:graphicFrame>
        <p:nvGraphicFramePr>
          <p:cNvPr id="13" name="Table 12"/>
          <p:cNvGraphicFramePr>
            <a:graphicFrameLocks noGrp="1"/>
          </p:cNvGraphicFramePr>
          <p:nvPr/>
        </p:nvGraphicFramePr>
        <p:xfrm>
          <a:off x="777240" y="2040509"/>
          <a:ext cx="10637213" cy="3467095"/>
        </p:xfrm>
        <a:graphic>
          <a:graphicData uri="http://schemas.openxmlformats.org/drawingml/2006/table">
            <a:tbl>
              <a:tblPr firstRow="1">
                <a:tableStyleId>{5C22544A-7EE6-4342-B048-85BDC9FD1C3A}</a:tableStyleId>
              </a:tblPr>
              <a:tblGrid>
                <a:gridCol w="1375501"/>
                <a:gridCol w="3209504"/>
                <a:gridCol w="2934404"/>
                <a:gridCol w="3117804"/>
              </a:tblGrid>
              <a:tr h="302514">
                <a:tc>
                  <a:txBody>
                    <a:bodyPr wrap="square"/>
                    <a:lstStyle/>
                    <a:p>
                      <a:r>
                        <a:rPr sz="1200" b="1">
                          <a:solidFill>
                            <a:srgbClr val="FFFFFF"/>
                          </a:solidFill>
                          <a:latin typeface="Calibri"/>
                        </a:rPr>
                        <a:t>The act</a:t>
                      </a:r>
                    </a:p>
                  </a:txBody>
                  <a:tcPr marL="82296" marR="64008" marT="32004" marB="32004" anchor="ctr">
                    <a:solidFill>
                      <a:srgbClr val="A51C30"/>
                    </a:solidFill>
                  </a:tcPr>
                </a:tc>
                <a:tc>
                  <a:txBody>
                    <a:bodyPr wrap="square"/>
                    <a:lstStyle/>
                    <a:p>
                      <a:r>
                        <a:rPr sz="1200" b="1">
                          <a:solidFill>
                            <a:srgbClr val="FFFFFF"/>
                          </a:solidFill>
                          <a:latin typeface="Calibri"/>
                        </a:rPr>
                        <a:t>What it does</a:t>
                      </a:r>
                    </a:p>
                  </a:txBody>
                  <a:tcPr marL="82296" marR="64008" marT="32004" marB="32004" anchor="ctr">
                    <a:solidFill>
                      <a:srgbClr val="A51C30"/>
                    </a:solidFill>
                  </a:tcPr>
                </a:tc>
                <a:tc>
                  <a:txBody>
                    <a:bodyPr wrap="square"/>
                    <a:lstStyle/>
                    <a:p>
                      <a:r>
                        <a:rPr sz="1200" b="1">
                          <a:solidFill>
                            <a:srgbClr val="FFFFFF"/>
                          </a:solidFill>
                          <a:latin typeface="Calibri"/>
                        </a:rPr>
                        <a:t>A banking example</a:t>
                      </a:r>
                    </a:p>
                  </a:txBody>
                  <a:tcPr marL="82296" marR="64008" marT="32004" marB="32004" anchor="ctr">
                    <a:solidFill>
                      <a:srgbClr val="A51C30"/>
                    </a:solidFill>
                  </a:tcPr>
                </a:tc>
                <a:tc>
                  <a:txBody>
                    <a:bodyPr wrap="square"/>
                    <a:lstStyle/>
                    <a:p>
                      <a:r>
                        <a:rPr sz="1200" b="1">
                          <a:solidFill>
                            <a:srgbClr val="FFFFFF"/>
                          </a:solidFill>
                          <a:latin typeface="Calibri"/>
                        </a:rPr>
                        <a:t>What it owes a reviewer</a:t>
                      </a:r>
                    </a:p>
                  </a:txBody>
                  <a:tcPr marL="82296" marR="64008" marT="32004" marB="32004" anchor="ctr">
                    <a:solidFill>
                      <a:srgbClr val="A51C30"/>
                    </a:solidFill>
                  </a:tcPr>
                </a:tc>
              </a:tr>
              <a:tr h="495299">
                <a:tc>
                  <a:txBody>
                    <a:bodyPr wrap="square"/>
                    <a:lstStyle/>
                    <a:p>
                      <a:r>
                        <a:rPr sz="1200" b="1">
                          <a:solidFill>
                            <a:srgbClr val="761422"/>
                          </a:solidFill>
                          <a:latin typeface="Calibri"/>
                        </a:rPr>
                        <a:t>Theory</a:t>
                      </a:r>
                    </a:p>
                  </a:txBody>
                  <a:tcPr marL="82296" marR="64008" marT="32004" marB="32004" anchor="ctr">
                    <a:solidFill>
                      <a:srgbClr val="FFFFFF"/>
                    </a:solidFill>
                  </a:tcPr>
                </a:tc>
                <a:tc>
                  <a:txBody>
                    <a:bodyPr wrap="square"/>
                    <a:lstStyle/>
                    <a:p>
                      <a:r>
                        <a:rPr sz="1200" b="0">
                          <a:solidFill>
                            <a:srgbClr val="1C1C1E"/>
                          </a:solidFill>
                          <a:latin typeface="Calibri"/>
                        </a:rPr>
                        <a:t>Nothing: the formula prescribes the behaviour and leaves no dials</a:t>
                      </a:r>
                    </a:p>
                  </a:txBody>
                  <a:tcPr marL="82296" marR="64008" marT="32004" marB="32004" anchor="ctr">
                    <a:solidFill>
                      <a:srgbClr val="FFFFFF"/>
                    </a:solidFill>
                  </a:tcPr>
                </a:tc>
                <a:tc>
                  <a:txBody>
                    <a:bodyPr wrap="square"/>
                    <a:lstStyle/>
                    <a:p>
                      <a:r>
                        <a:rPr sz="1200" b="0">
                          <a:solidFill>
                            <a:srgbClr val="1C1C1E"/>
                          </a:solidFill>
                          <a:latin typeface="Calibri"/>
                        </a:rPr>
                        <a:t>A regulatory exposure calculator</a:t>
                      </a:r>
                    </a:p>
                  </a:txBody>
                  <a:tcPr marL="82296" marR="64008" marT="32004" marB="32004" anchor="ctr">
                    <a:solidFill>
                      <a:srgbClr val="FFFFFF"/>
                    </a:solidFill>
                  </a:tcPr>
                </a:tc>
                <a:tc>
                  <a:txBody>
                    <a:bodyPr wrap="square"/>
                    <a:lstStyle/>
                    <a:p>
                      <a:r>
                        <a:rPr sz="1200" b="0">
                          <a:solidFill>
                            <a:srgbClr val="1C1C1E"/>
                          </a:solidFill>
                          <a:latin typeface="Calibri"/>
                        </a:rPr>
                        <a:t>That the code computes what the text says</a:t>
                      </a:r>
                    </a:p>
                  </a:txBody>
                  <a:tcPr marL="82296" marR="64008" marT="32004" marB="32004" anchor="ctr">
                    <a:solidFill>
                      <a:srgbClr val="FFFFFF"/>
                    </a:solidFill>
                  </a:tcPr>
                </a:tc>
              </a:tr>
              <a:tr h="688086">
                <a:tc>
                  <a:txBody>
                    <a:bodyPr wrap="square"/>
                    <a:lstStyle/>
                    <a:p>
                      <a:r>
                        <a:rPr sz="1200" b="1">
                          <a:solidFill>
                            <a:srgbClr val="761422"/>
                          </a:solidFill>
                          <a:latin typeface="Calibri"/>
                        </a:rPr>
                        <a:t>Calibration</a:t>
                      </a:r>
                    </a:p>
                  </a:txBody>
                  <a:tcPr marL="82296" marR="64008" marT="32004" marB="32004" anchor="ctr">
                    <a:solidFill>
                      <a:srgbClr val="F6F3EF"/>
                    </a:solidFill>
                  </a:tcPr>
                </a:tc>
                <a:tc>
                  <a:txBody>
                    <a:bodyPr wrap="square"/>
                    <a:lstStyle/>
                    <a:p>
                      <a:r>
                        <a:rPr sz="1200" b="0">
                          <a:solidFill>
                            <a:srgbClr val="1C1C1E"/>
                          </a:solidFill>
                          <a:latin typeface="Calibri"/>
                        </a:rPr>
                        <a:t>Solves the dials so the model reproduces prices the market is quoting now</a:t>
                      </a:r>
                    </a:p>
                  </a:txBody>
                  <a:tcPr marL="82296" marR="64008" marT="32004" marB="32004" anchor="ctr">
                    <a:solidFill>
                      <a:srgbClr val="F6F3EF"/>
                    </a:solidFill>
                  </a:tcPr>
                </a:tc>
                <a:tc>
                  <a:txBody>
                    <a:bodyPr wrap="square"/>
                    <a:lstStyle/>
                    <a:p>
                      <a:r>
                        <a:rPr sz="1200" b="0">
                          <a:solidFill>
                            <a:srgbClr val="1C1C1E"/>
                          </a:solidFill>
                          <a:latin typeface="Calibri"/>
                        </a:rPr>
                        <a:t>A volatility surface, four numbers re-solved each morning</a:t>
                      </a:r>
                    </a:p>
                  </a:txBody>
                  <a:tcPr marL="82296" marR="64008" marT="32004" marB="32004" anchor="ctr">
                    <a:solidFill>
                      <a:srgbClr val="F6F3EF"/>
                    </a:solidFill>
                  </a:tcPr>
                </a:tc>
                <a:tc>
                  <a:txBody>
                    <a:bodyPr wrap="square"/>
                    <a:lstStyle/>
                    <a:p>
                      <a:r>
                        <a:rPr sz="1200" b="0">
                          <a:solidFill>
                            <a:srgbClr val="1C1C1E"/>
                          </a:solidFill>
                          <a:latin typeface="Calibri"/>
                        </a:rPr>
                        <a:t>The instruments, and the residuals left over</a:t>
                      </a:r>
                    </a:p>
                  </a:txBody>
                  <a:tcPr marL="82296" marR="64008" marT="32004" marB="32004" anchor="ctr">
                    <a:solidFill>
                      <a:srgbClr val="F6F3EF"/>
                    </a:solidFill>
                  </a:tcPr>
                </a:tc>
              </a:tr>
              <a:tr h="495299">
                <a:tc>
                  <a:txBody>
                    <a:bodyPr wrap="square"/>
                    <a:lstStyle/>
                    <a:p>
                      <a:r>
                        <a:rPr sz="1200" b="1">
                          <a:solidFill>
                            <a:srgbClr val="761422"/>
                          </a:solidFill>
                          <a:latin typeface="Calibri"/>
                        </a:rPr>
                        <a:t>Estimation</a:t>
                      </a:r>
                    </a:p>
                  </a:txBody>
                  <a:tcPr marL="82296" marR="64008" marT="32004" marB="32004" anchor="ctr">
                    <a:solidFill>
                      <a:srgbClr val="FFFFFF"/>
                    </a:solidFill>
                  </a:tcPr>
                </a:tc>
                <a:tc>
                  <a:txBody>
                    <a:bodyPr wrap="square"/>
                    <a:lstStyle/>
                    <a:p>
                      <a:r>
                        <a:rPr sz="1200" b="0">
                          <a:solidFill>
                            <a:srgbClr val="1C1C1E"/>
                          </a:solidFill>
                          <a:latin typeface="Calibri"/>
                        </a:rPr>
                        <a:t>Fits the dials to a sample by a named statistical procedure</a:t>
                      </a:r>
                    </a:p>
                  </a:txBody>
                  <a:tcPr marL="82296" marR="64008" marT="32004" marB="32004" anchor="ctr">
                    <a:solidFill>
                      <a:srgbClr val="FFFFFF"/>
                    </a:solidFill>
                  </a:tcPr>
                </a:tc>
                <a:tc>
                  <a:txBody>
                    <a:bodyPr wrap="square"/>
                    <a:lstStyle/>
                    <a:p>
                      <a:r>
                        <a:rPr sz="1200" b="0">
                          <a:solidFill>
                            <a:srgbClr val="1C1C1E"/>
                          </a:solidFill>
                          <a:latin typeface="Calibri"/>
                        </a:rPr>
                        <a:t>A PD scorecard, forty-two coefficients over eight years</a:t>
                      </a:r>
                    </a:p>
                  </a:txBody>
                  <a:tcPr marL="82296" marR="64008" marT="32004" marB="32004" anchor="ctr">
                    <a:solidFill>
                      <a:srgbClr val="FFFFFF"/>
                    </a:solidFill>
                  </a:tcPr>
                </a:tc>
                <a:tc>
                  <a:txBody>
                    <a:bodyPr wrap="square"/>
                    <a:lstStyle/>
                    <a:p>
                      <a:r>
                        <a:rPr sz="1200" b="0">
                          <a:solidFill>
                            <a:srgbClr val="1C1C1E"/>
                          </a:solidFill>
                          <a:latin typeface="Calibri"/>
                        </a:rPr>
                        <a:t>The sample, the estimator, performance out of time</a:t>
                      </a:r>
                    </a:p>
                  </a:txBody>
                  <a:tcPr marL="82296" marR="64008" marT="32004" marB="32004" anchor="ctr">
                    <a:solidFill>
                      <a:srgbClr val="FFFFFF"/>
                    </a:solidFill>
                  </a:tcPr>
                </a:tc>
              </a:tr>
              <a:tr h="495299">
                <a:tc>
                  <a:txBody>
                    <a:bodyPr wrap="square"/>
                    <a:lstStyle/>
                    <a:p>
                      <a:r>
                        <a:rPr sz="1200" b="1">
                          <a:solidFill>
                            <a:srgbClr val="761422"/>
                          </a:solidFill>
                          <a:latin typeface="Calibri"/>
                        </a:rPr>
                        <a:t>Training</a:t>
                      </a:r>
                    </a:p>
                  </a:txBody>
                  <a:tcPr marL="82296" marR="64008" marT="32004" marB="32004" anchor="ctr">
                    <a:solidFill>
                      <a:srgbClr val="F6F3EF"/>
                    </a:solidFill>
                  </a:tcPr>
                </a:tc>
                <a:tc>
                  <a:txBody>
                    <a:bodyPr wrap="square"/>
                    <a:lstStyle/>
                    <a:p>
                      <a:r>
                        <a:rPr sz="1200" b="0">
                          <a:solidFill>
                            <a:srgbClr val="1C1C1E"/>
                          </a:solidFill>
                          <a:latin typeface="Calibri"/>
                        </a:rPr>
                        <a:t>The same act where the dials are too many to be individually meaningful</a:t>
                      </a:r>
                    </a:p>
                  </a:txBody>
                  <a:tcPr marL="82296" marR="64008" marT="32004" marB="32004" anchor="ctr">
                    <a:solidFill>
                      <a:srgbClr val="F6F3EF"/>
                    </a:solidFill>
                  </a:tcPr>
                </a:tc>
                <a:tc>
                  <a:txBody>
                    <a:bodyPr wrap="square"/>
                    <a:lstStyle/>
                    <a:p>
                      <a:r>
                        <a:rPr sz="1200" b="0">
                          <a:solidFill>
                            <a:srgbClr val="1C1C1E"/>
                          </a:solidFill>
                          <a:latin typeface="Calibri"/>
                        </a:rPr>
                        <a:t>A card-fraud network with thousands of weights</a:t>
                      </a:r>
                    </a:p>
                  </a:txBody>
                  <a:tcPr marL="82296" marR="64008" marT="32004" marB="32004" anchor="ctr">
                    <a:solidFill>
                      <a:srgbClr val="F6F3EF"/>
                    </a:solidFill>
                  </a:tcPr>
                </a:tc>
                <a:tc>
                  <a:txBody>
                    <a:bodyPr wrap="square"/>
                    <a:lstStyle/>
                    <a:p>
                      <a:r>
                        <a:rPr sz="1200" b="0">
                          <a:solidFill>
                            <a:srgbClr val="1C1C1E"/>
                          </a:solidFill>
                          <a:latin typeface="Calibri"/>
                        </a:rPr>
                        <a:t>The frozen input, the target, and the record of the run</a:t>
                      </a:r>
                    </a:p>
                  </a:txBody>
                  <a:tcPr marL="82296" marR="64008" marT="32004" marB="32004" anchor="ctr">
                    <a:solidFill>
                      <a:srgbClr val="F6F3EF"/>
                    </a:solidFill>
                  </a:tcPr>
                </a:tc>
              </a:tr>
              <a:tr h="495299">
                <a:tc>
                  <a:txBody>
                    <a:bodyPr wrap="square"/>
                    <a:lstStyle/>
                    <a:p>
                      <a:r>
                        <a:rPr sz="1200" b="1">
                          <a:solidFill>
                            <a:srgbClr val="761422"/>
                          </a:solidFill>
                          <a:latin typeface="Calibri"/>
                        </a:rPr>
                        <a:t>Elicitation</a:t>
                      </a:r>
                    </a:p>
                  </a:txBody>
                  <a:tcPr marL="82296" marR="64008" marT="32004" marB="32004" anchor="ctr">
                    <a:solidFill>
                      <a:srgbClr val="FFFFFF"/>
                    </a:solidFill>
                  </a:tcPr>
                </a:tc>
                <a:tc>
                  <a:txBody>
                    <a:bodyPr wrap="square"/>
                    <a:lstStyle/>
                    <a:p>
                      <a:r>
                        <a:rPr sz="1200" b="0">
                          <a:solidFill>
                            <a:srgbClr val="1C1C1E"/>
                          </a:solidFill>
                          <a:latin typeface="Calibri"/>
                        </a:rPr>
                        <a:t>A panel agrees the numbers, because there is no data to fit them to</a:t>
                      </a:r>
                    </a:p>
                  </a:txBody>
                  <a:tcPr marL="82296" marR="64008" marT="32004" marB="32004" anchor="ctr">
                    <a:solidFill>
                      <a:srgbClr val="FFFFFF"/>
                    </a:solidFill>
                  </a:tcPr>
                </a:tc>
                <a:tc>
                  <a:txBody>
                    <a:bodyPr wrap="square"/>
                    <a:lstStyle/>
                    <a:p>
                      <a:r>
                        <a:rPr sz="1200" b="0">
                          <a:solidFill>
                            <a:srgbClr val="1C1C1E"/>
                          </a:solidFill>
                          <a:latin typeface="Calibri"/>
                        </a:rPr>
                        <a:t>An impairment committee's lifetime multiple</a:t>
                      </a:r>
                    </a:p>
                  </a:txBody>
                  <a:tcPr marL="82296" marR="64008" marT="32004" marB="32004" anchor="ctr">
                    <a:solidFill>
                      <a:srgbClr val="FFFFFF"/>
                    </a:solidFill>
                  </a:tcPr>
                </a:tc>
                <a:tc>
                  <a:txBody>
                    <a:bodyPr wrap="square"/>
                    <a:lstStyle/>
                    <a:p>
                      <a:r>
                        <a:rPr sz="1200" b="0">
                          <a:solidFill>
                            <a:srgbClr val="1C1C1E"/>
                          </a:solidFill>
                          <a:latin typeface="Calibri"/>
                        </a:rPr>
                        <a:t>Who agreed, when, and on what reasoning</a:t>
                      </a:r>
                    </a:p>
                  </a:txBody>
                  <a:tcPr marL="82296" marR="64008" marT="32004" marB="32004" anchor="ctr">
                    <a:solidFill>
                      <a:srgbClr val="FFFFFF"/>
                    </a:solidFill>
                  </a:tcPr>
                </a:tc>
              </a:tr>
              <a:tr h="495299">
                <a:tc>
                  <a:txBody>
                    <a:bodyPr wrap="square"/>
                    <a:lstStyle/>
                    <a:p>
                      <a:r>
                        <a:rPr sz="1200" b="1">
                          <a:solidFill>
                            <a:srgbClr val="761422"/>
                          </a:solidFill>
                          <a:latin typeface="Calibri"/>
                        </a:rPr>
                        <a:t>Authorship</a:t>
                      </a:r>
                    </a:p>
                  </a:txBody>
                  <a:tcPr marL="82296" marR="64008" marT="32004" marB="32004" anchor="ctr">
                    <a:solidFill>
                      <a:srgbClr val="F6F3EF"/>
                    </a:solidFill>
                  </a:tcPr>
                </a:tc>
                <a:tc>
                  <a:txBody>
                    <a:bodyPr wrap="square"/>
                    <a:lstStyle/>
                    <a:p>
                      <a:r>
                        <a:rPr sz="1200" b="0">
                          <a:solidFill>
                            <a:srgbClr val="1C1C1E"/>
                          </a:solidFill>
                          <a:latin typeface="Calibri"/>
                        </a:rPr>
                        <a:t>Somebody writes the numbers down as policy</a:t>
                      </a:r>
                    </a:p>
                  </a:txBody>
                  <a:tcPr marL="82296" marR="64008" marT="32004" marB="32004" anchor="ctr">
                    <a:solidFill>
                      <a:srgbClr val="F6F3EF"/>
                    </a:solidFill>
                  </a:tcPr>
                </a:tc>
                <a:tc>
                  <a:txBody>
                    <a:bodyPr wrap="square"/>
                    <a:lstStyle/>
                    <a:p>
                      <a:r>
                        <a:rPr sz="1200" b="0">
                          <a:solidFill>
                            <a:srgbClr val="1C1C1E"/>
                          </a:solidFill>
                          <a:latin typeface="Calibri"/>
                        </a:rPr>
                        <a:t>A sanctions screening rule set</a:t>
                      </a:r>
                    </a:p>
                  </a:txBody>
                  <a:tcPr marL="82296" marR="64008" marT="32004" marB="32004" anchor="ctr">
                    <a:solidFill>
                      <a:srgbClr val="F6F3EF"/>
                    </a:solidFill>
                  </a:tcPr>
                </a:tc>
                <a:tc>
                  <a:txBody>
                    <a:bodyPr wrap="square"/>
                    <a:lstStyle/>
                    <a:p>
                      <a:r>
                        <a:rPr sz="1200" b="0">
                          <a:solidFill>
                            <a:srgbClr val="1C1C1E"/>
                          </a:solidFill>
                          <a:latin typeface="Calibri"/>
                        </a:rPr>
                        <a:t>The policy decision that caused the change</a:t>
                      </a:r>
                    </a:p>
                  </a:txBody>
                  <a:tcPr marL="82296" marR="64008" marT="32004" marB="32004" anchor="ctr">
                    <a:solidFill>
                      <a:srgbClr val="F6F3E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FEATURES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 input is not a column in somebody's table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11</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model reads inputs. Where those inputs come from is usually treated as plumbing, and that is where reproducibility is lost. A feature is what an input is when it has been given an identity.</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§5. A feature is the unit MAYA governs; the four things on the right are what make the two-desk disagreement a conversation that has to happen before the second definition exists rather than after both have been used.</a:t>
            </a:r>
          </a:p>
        </p:txBody>
      </p:sp>
      <p:sp>
        <p:nvSpPr>
          <p:cNvPr id="13" name="Rectangle 12"/>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failure it prevents</a:t>
            </a:r>
          </a:p>
        </p:txBody>
      </p:sp>
      <p:sp>
        <p:nvSpPr>
          <p:cNvPr id="16" name="TextBox 15"/>
          <p:cNvSpPr txBox="1"/>
          <p:nvPr/>
        </p:nvSpPr>
        <p:spPr>
          <a:xfrm>
            <a:off x="777240"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Two desks, one name, two numbers</a:t>
            </a:r>
          </a:p>
          <a:p>
            <a:pPr lvl="1">
              <a:lnSpc>
                <a:spcPct val="120000"/>
              </a:lnSpc>
              <a:spcBef>
                <a:spcPts val="0"/>
              </a:spcBef>
              <a:spcAft>
                <a:spcPts val="0"/>
              </a:spcAft>
            </a:pPr>
            <a:r>
              <a:rPr sz="1250" b="0">
                <a:solidFill>
                  <a:srgbClr val="4A4F57"/>
                </a:solidFill>
                <a:latin typeface="Calibri"/>
              </a:rPr>
              <a:t>Both compute “adjusted close”. One adjusts for dividends and splits, the other for splits alone. Neither is wrong; they are answering different questions under one name, and the name is what travels.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Nobody notices, because both are plausible</a:t>
            </a:r>
          </a:p>
          <a:p>
            <a:pPr lvl="1">
              <a:lnSpc>
                <a:spcPct val="120000"/>
              </a:lnSpc>
              <a:spcBef>
                <a:spcPts val="0"/>
              </a:spcBef>
              <a:spcAft>
                <a:spcPts val="0"/>
              </a:spcAft>
            </a:pPr>
            <a:r>
              <a:rPr sz="1250" b="0">
                <a:solidFill>
                  <a:srgbClr val="4A4F57"/>
                </a:solidFill>
                <a:latin typeface="Calibri"/>
              </a:rPr>
              <a:t>The two numbers differ by a few per cent. Every downstream check passes. The disagreement surfaces years later, in a reconciliation nobody budgeted for.</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A column cannot fix this</a:t>
            </a:r>
          </a:p>
          <a:p>
            <a:pPr lvl="1">
              <a:lnSpc>
                <a:spcPct val="120000"/>
              </a:lnSpc>
              <a:spcBef>
                <a:spcPts val="0"/>
              </a:spcBef>
              <a:spcAft>
                <a:spcPts val="0"/>
              </a:spcAft>
            </a:pPr>
            <a:r>
              <a:rPr sz="1250" b="0">
                <a:solidFill>
                  <a:srgbClr val="4A4F57"/>
                </a:solidFill>
                <a:latin typeface="Calibri"/>
              </a:rPr>
              <a:t>A column is a place values sit. It has no owner, no definition and no history, so there is nothing for the two desks to disagree about explicitly.</a:t>
            </a:r>
          </a:p>
        </p:txBody>
      </p:sp>
      <p:sp>
        <p:nvSpPr>
          <p:cNvPr id="17" name="Rectangle 16"/>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a feature adds</a:t>
            </a:r>
          </a:p>
        </p:txBody>
      </p:sp>
      <p:sp>
        <p:nvSpPr>
          <p:cNvPr id="20" name="TextBox 19"/>
          <p:cNvSpPr txBox="1"/>
          <p:nvPr/>
        </p:nvSpPr>
        <p:spPr>
          <a:xfrm>
            <a:off x="6278727"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300" b="1">
                <a:solidFill>
                  <a:srgbClr val="A51C30"/>
                </a:solidFill>
                <a:latin typeface="Calibri"/>
              </a:rPr>
              <a:t>▪  </a:t>
            </a:r>
            <a:r>
              <a:rPr sz="1300" b="1">
                <a:solidFill>
                  <a:srgbClr val="1C1C1E"/>
                </a:solidFill>
                <a:latin typeface="Calibri"/>
              </a:rPr>
              <a:t>A name, a namespace and an owner</a:t>
            </a:r>
          </a:p>
          <a:p>
            <a:pPr lvl="1">
              <a:lnSpc>
                <a:spcPct val="120000"/>
              </a:lnSpc>
              <a:spcBef>
                <a:spcPts val="0"/>
              </a:spcBef>
              <a:spcAft>
                <a:spcPts val="0"/>
              </a:spcAft>
            </a:pPr>
            <a:r>
              <a:rPr sz="1150" b="0">
                <a:solidFill>
                  <a:srgbClr val="4A4F57"/>
                </a:solidFill>
                <a:latin typeface="Calibri"/>
              </a:rPr>
              <a:t>So there is exactly one adjusted close in a namespace, and somebody answerable for what it means.</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A typed schema and an index</a:t>
            </a:r>
          </a:p>
          <a:p>
            <a:pPr lvl="1">
              <a:lnSpc>
                <a:spcPct val="120000"/>
              </a:lnSpc>
              <a:spcBef>
                <a:spcPts val="0"/>
              </a:spcBef>
              <a:spcAft>
                <a:spcPts val="0"/>
              </a:spcAft>
            </a:pPr>
            <a:r>
              <a:rPr sz="1150" b="0">
                <a:solidFill>
                  <a:srgbClr val="4A4F57"/>
                </a:solidFill>
                <a:latin typeface="Calibri"/>
              </a:rPr>
              <a:t>The attributes with their types and units, and the columns that identify a row — a date, and usually an entity. The index is fixed for the life of the feature.</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A statement of where rows come from</a:t>
            </a:r>
          </a:p>
          <a:p>
            <a:pPr lvl="1">
              <a:lnSpc>
                <a:spcPct val="120000"/>
              </a:lnSpc>
              <a:spcBef>
                <a:spcPts val="0"/>
              </a:spcBef>
              <a:spcAft>
                <a:spcPts val="0"/>
              </a:spcAft>
            </a:pPr>
            <a:r>
              <a:rPr sz="1150" b="0">
                <a:solidFill>
                  <a:srgbClr val="4A4F57"/>
                </a:solidFill>
                <a:latin typeface="Calibri"/>
              </a:rPr>
              <a:t>A file, a read-only query, a reviewed producer, or an expression over other features. Not “somebody loads it”.</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And a rule for the gaps</a:t>
            </a:r>
          </a:p>
          <a:p>
            <a:pPr lvl="1">
              <a:lnSpc>
                <a:spcPct val="120000"/>
              </a:lnSpc>
              <a:spcBef>
                <a:spcPts val="0"/>
              </a:spcBef>
              <a:spcAft>
                <a:spcPts val="0"/>
              </a:spcAft>
            </a:pPr>
            <a:r>
              <a:rPr sz="1150" b="0">
                <a:solidFill>
                  <a:srgbClr val="4A4F57"/>
                </a:solidFill>
                <a:latin typeface="Calibri"/>
              </a:rPr>
              <a:t>What to do when a date has no value: leave it null, carry the last one forward for at most n days, or interpolate. Declared once, not decided afresh in each query.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TWO CLOCKS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When it was true, and when you found out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12</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Every fact a model reads carries two independent times. Treating them as one is the dominant silent failure in this domain, because it improves every metric it corrupts — so nothing in the numbers ever asks to be investigated.</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§5.1 and paper §5.1. maya/resolution/resolver.py holds the cut; tests/test_properties.py::test_a_restatement_never_overwrites holds the append. The next slide is why this is worth two columns of a schema.</a:t>
            </a:r>
          </a:p>
        </p:txBody>
      </p:sp>
      <p:sp>
        <p:nvSpPr>
          <p:cNvPr id="13" name="Rectangle 12"/>
          <p:cNvSpPr/>
          <p:nvPr/>
        </p:nvSpPr>
        <p:spPr>
          <a:xfrm>
            <a:off x="777240"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two times</a:t>
            </a:r>
          </a:p>
        </p:txBody>
      </p:sp>
      <p:sp>
        <p:nvSpPr>
          <p:cNvPr id="16" name="TextBox 15"/>
          <p:cNvSpPr txBox="1"/>
          <p:nvPr/>
        </p:nvSpPr>
        <p:spPr>
          <a:xfrm>
            <a:off x="777240" y="2797048"/>
            <a:ext cx="5135727" cy="2680208"/>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Event time</a:t>
            </a:r>
          </a:p>
          <a:p>
            <a:pPr lvl="1">
              <a:lnSpc>
                <a:spcPct val="120000"/>
              </a:lnSpc>
              <a:spcBef>
                <a:spcPts val="0"/>
              </a:spcBef>
              <a:spcAft>
                <a:spcPts val="0"/>
              </a:spcAft>
            </a:pPr>
            <a:r>
              <a:rPr sz="1200" b="0">
                <a:solidFill>
                  <a:srgbClr val="4A4F57"/>
                </a:solidFill>
                <a:latin typeface="Calibri"/>
              </a:rPr>
              <a:t>The moment the fact held in the world. The quarter a set of accounts is about; the day a balance stood at that level.</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Ingest time</a:t>
            </a:r>
          </a:p>
          <a:p>
            <a:pPr lvl="1">
              <a:lnSpc>
                <a:spcPct val="120000"/>
              </a:lnSpc>
              <a:spcBef>
                <a:spcPts val="0"/>
              </a:spcBef>
              <a:spcAft>
                <a:spcPts val="0"/>
              </a:spcAft>
            </a:pPr>
            <a:r>
              <a:rPr sz="1200" b="0">
                <a:solidFill>
                  <a:srgbClr val="4A4F57"/>
                </a:solidFill>
                <a:latin typeface="Calibri"/>
              </a:rPr>
              <a:t>The moment the recording system could first have known it. The day the accounts landed in the warehouse; the night the file was loaded.</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They are not the same, and the gap is not small</a:t>
            </a:r>
          </a:p>
          <a:p>
            <a:pPr lvl="1">
              <a:lnSpc>
                <a:spcPct val="120000"/>
              </a:lnSpc>
              <a:spcBef>
                <a:spcPts val="0"/>
              </a:spcBef>
              <a:spcAft>
                <a:spcPts val="0"/>
              </a:spcAft>
            </a:pPr>
            <a:r>
              <a:rPr sz="1200" b="0">
                <a:solidFill>
                  <a:srgbClr val="4A4F57"/>
                </a:solidFill>
                <a:latin typeface="Calibri"/>
              </a:rPr>
              <a:t>Filed accounts reach a bank weeks after the quarter they describe. A default is confirmed months after the missed payment that caused it.</a:t>
            </a:r>
          </a:p>
        </p:txBody>
      </p:sp>
      <p:sp>
        <p:nvSpPr>
          <p:cNvPr id="17" name="Rectangle 16"/>
          <p:cNvSpPr/>
          <p:nvPr/>
        </p:nvSpPr>
        <p:spPr>
          <a:xfrm>
            <a:off x="6278727"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follows</a:t>
            </a:r>
          </a:p>
        </p:txBody>
      </p:sp>
      <p:sp>
        <p:nvSpPr>
          <p:cNvPr id="20" name="TextBox 19"/>
          <p:cNvSpPr txBox="1"/>
          <p:nvPr/>
        </p:nvSpPr>
        <p:spPr>
          <a:xfrm>
            <a:off x="6278727" y="2797048"/>
            <a:ext cx="5135727" cy="2680208"/>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A correction is a new record, not an edit</a:t>
            </a:r>
          </a:p>
          <a:p>
            <a:pPr lvl="1">
              <a:lnSpc>
                <a:spcPct val="120000"/>
              </a:lnSpc>
              <a:spcBef>
                <a:spcPts val="0"/>
              </a:spcBef>
              <a:spcAft>
                <a:spcPts val="0"/>
              </a:spcAft>
            </a:pPr>
            <a:r>
              <a:rPr sz="1200" b="0">
                <a:solidFill>
                  <a:srgbClr val="4A4F57"/>
                </a:solidFill>
                <a:latin typeface="Calibri"/>
              </a:rPr>
              <a:t>Same event time, later ingest time, nothing overwritten. Both rows are true: one is what was known then, the other what is known now.</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So “what did we know on 31 March” is a filter</a:t>
            </a:r>
          </a:p>
          <a:p>
            <a:pPr lvl="1">
              <a:lnSpc>
                <a:spcPct val="120000"/>
              </a:lnSpc>
              <a:spcBef>
                <a:spcPts val="0"/>
              </a:spcBef>
              <a:spcAft>
                <a:spcPts val="0"/>
              </a:spcAft>
            </a:pPr>
            <a:r>
              <a:rPr sz="1200" b="0">
                <a:solidFill>
                  <a:srgbClr val="4A4F57"/>
                </a:solidFill>
                <a:latin typeface="Calibri"/>
              </a:rPr>
              <a:t>Rather than an archaeology project. Keep every row whose ingest time is at or before the cut, then take the latest per key.</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And a store that overwrites cannot answer it at all</a:t>
            </a:r>
          </a:p>
          <a:p>
            <a:pPr lvl="1">
              <a:lnSpc>
                <a:spcPct val="120000"/>
              </a:lnSpc>
              <a:spcBef>
                <a:spcPts val="0"/>
              </a:spcBef>
              <a:spcAft>
                <a:spcPts val="0"/>
              </a:spcAft>
            </a:pPr>
            <a:r>
              <a:rPr sz="1200" b="0">
                <a:solidFill>
                  <a:srgbClr val="4A4F57"/>
                </a:solidFill>
                <a:latin typeface="Calibri"/>
              </a:rPr>
              <a:t>Not slowly — at all. Once the correction has replaced the earlier row, what the decision saw is gone, and no query written afterwards can recover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FEATURE SETS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named bundle of features, aligned on one index</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model is not defined over a feature. It is defined over several of them, lined up so that each row carries a value for every input. That object has a name of its own because it is versioned, approved and pinned as a unit.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§6; maya/resolution/featureset.py. A member index carrying columns the set does not have is refused unless an aggregation is declared for them, because silently collapsing rows is a modelling decision and not a plumbing one.</a:t>
            </a:r>
          </a:p>
        </p:txBody>
      </p:sp>
      <p:sp>
        <p:nvSpPr>
          <p:cNvPr id="13" name="Rectangle 12"/>
          <p:cNvSpPr/>
          <p:nvPr/>
        </p:nvSpPr>
        <p:spPr>
          <a:xfrm>
            <a:off x="777240"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it holds</a:t>
            </a:r>
          </a:p>
        </p:txBody>
      </p:sp>
      <p:sp>
        <p:nvSpPr>
          <p:cNvPr id="16" name="TextBox 15"/>
          <p:cNvSpPr txBox="1"/>
          <p:nvPr/>
        </p:nvSpPr>
        <p:spPr>
          <a:xfrm>
            <a:off x="777240" y="2797048"/>
            <a:ext cx="5135727" cy="2881375"/>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Attributes mapped from members</a:t>
            </a:r>
          </a:p>
          <a:p>
            <a:pPr lvl="1">
              <a:lnSpc>
                <a:spcPct val="120000"/>
              </a:lnSpc>
              <a:spcBef>
                <a:spcPts val="0"/>
              </a:spcBef>
              <a:spcAft>
                <a:spcPts val="0"/>
              </a:spcAft>
            </a:pPr>
            <a:r>
              <a:rPr sz="1300" b="0">
                <a:solidFill>
                  <a:srgbClr val="4A4F57"/>
                </a:solidFill>
                <a:latin typeface="Calibri"/>
              </a:rPr>
              <a:t>Each attribute of the set names the feature it comes from, the attribute inside that feature, and any cast or override it needs.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One index for all of them</a:t>
            </a:r>
          </a:p>
          <a:p>
            <a:pPr lvl="1">
              <a:lnSpc>
                <a:spcPct val="120000"/>
              </a:lnSpc>
              <a:spcBef>
                <a:spcPts val="0"/>
              </a:spcBef>
              <a:spcAft>
                <a:spcPts val="0"/>
              </a:spcAft>
            </a:pPr>
            <a:r>
              <a:rPr sz="1300" b="0">
                <a:solidFill>
                  <a:srgbClr val="4A4F57"/>
                </a:solidFill>
                <a:latin typeface="Calibri"/>
              </a:rPr>
              <a:t>The members may be daily, monthly and event-driven. The set declares the grid every row sits on, and how each member is brought onto it.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An alignment rule, stated</a:t>
            </a:r>
          </a:p>
          <a:p>
            <a:pPr lvl="1">
              <a:lnSpc>
                <a:spcPct val="120000"/>
              </a:lnSpc>
              <a:spcBef>
                <a:spcPts val="0"/>
              </a:spcBef>
              <a:spcAft>
                <a:spcPts val="0"/>
              </a:spcAft>
            </a:pPr>
            <a:r>
              <a:rPr sz="1300" b="0">
                <a:solidFill>
                  <a:srgbClr val="4A4F57"/>
                </a:solidFill>
                <a:latin typeface="Calibri"/>
              </a:rPr>
              <a:t>Inner keeps only rows every member has; outer keeps them all; left follows one member; as-of takes the most recent value within a stated tolerance.</a:t>
            </a:r>
          </a:p>
        </p:txBody>
      </p:sp>
      <p:sp>
        <p:nvSpPr>
          <p:cNvPr id="17" name="Rectangle 16"/>
          <p:cNvSpPr/>
          <p:nvPr/>
        </p:nvSpPr>
        <p:spPr>
          <a:xfrm>
            <a:off x="6278727" y="228498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28498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35813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Why it is a separate object</a:t>
            </a:r>
          </a:p>
        </p:txBody>
      </p:sp>
      <p:sp>
        <p:nvSpPr>
          <p:cNvPr id="20" name="TextBox 19"/>
          <p:cNvSpPr txBox="1"/>
          <p:nvPr/>
        </p:nvSpPr>
        <p:spPr>
          <a:xfrm>
            <a:off x="6278727" y="2797048"/>
            <a:ext cx="5135727" cy="2881375"/>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Because the join is where judgement hides</a:t>
            </a:r>
          </a:p>
          <a:p>
            <a:pPr lvl="1">
              <a:lnSpc>
                <a:spcPct val="120000"/>
              </a:lnSpc>
              <a:spcBef>
                <a:spcPts val="0"/>
              </a:spcBef>
              <a:spcAft>
                <a:spcPts val="0"/>
              </a:spcAft>
            </a:pPr>
            <a:r>
              <a:rPr sz="1200" b="0">
                <a:solidFill>
                  <a:srgbClr val="4A4F57"/>
                </a:solidFill>
                <a:latin typeface="Calibri"/>
              </a:rPr>
              <a:t>Whether a monthly figure is carried forward into daily rows, and for how long, changes the numbers materially. Written in a query, it is invisible; written in the set, it is reviewable.</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Because a model reads a set, not a feature</a:t>
            </a:r>
          </a:p>
          <a:p>
            <a:pPr lvl="1">
              <a:lnSpc>
                <a:spcPct val="120000"/>
              </a:lnSpc>
              <a:spcBef>
                <a:spcPts val="0"/>
              </a:spcBef>
              <a:spcAft>
                <a:spcPts val="0"/>
              </a:spcAft>
            </a:pPr>
            <a:r>
              <a:rPr sz="1200" b="0">
                <a:solidFill>
                  <a:srgbClr val="4A4F57"/>
                </a:solidFill>
                <a:latin typeface="Calibri"/>
              </a:rPr>
              <a:t>So the question “does this data fit this model” is asked once, against one object, rather than once per input by whoever wrote the script.</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Because it stores nothing until it is asked to</a:t>
            </a:r>
          </a:p>
          <a:p>
            <a:pPr lvl="1">
              <a:lnSpc>
                <a:spcPct val="120000"/>
              </a:lnSpc>
              <a:spcBef>
                <a:spcPts val="0"/>
              </a:spcBef>
              <a:spcAft>
                <a:spcPts val="0"/>
              </a:spcAft>
            </a:pPr>
            <a:r>
              <a:rPr sz="1200" b="0">
                <a:solidFill>
                  <a:srgbClr val="4A4F57"/>
                </a:solidFill>
                <a:latin typeface="Calibri"/>
              </a:rPr>
              <a:t>A feature set is a view. It holds the recipe, and produces rows when somebody resolves it — which keeps the definition and the data separate all the way up.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TRAINING</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Choosing the dials from data — and the three things that takes</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§2.2, the fitting morphism. In MAYA the four boxes are, in order: a pinned feature set, the declared target attribute, the training run on the firm's own compute, and the parameter set with its provenance.</a:t>
            </a:r>
          </a:p>
        </p:txBody>
      </p:sp>
      <p:sp>
        <p:nvSpPr>
          <p:cNvPr id="12" name="Rectangle 11"/>
          <p:cNvSpPr/>
          <p:nvPr/>
        </p:nvSpPr>
        <p:spPr>
          <a:xfrm>
            <a:off x="777240" y="1338770"/>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38770"/>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03362"/>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frozen input</a:t>
            </a:r>
          </a:p>
        </p:txBody>
      </p:sp>
      <p:sp>
        <p:nvSpPr>
          <p:cNvPr id="15" name="TextBox 14"/>
          <p:cNvSpPr txBox="1"/>
          <p:nvPr/>
        </p:nvSpPr>
        <p:spPr>
          <a:xfrm>
            <a:off x="960120" y="1851850"/>
            <a:ext cx="2101519"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An exact, unchanging set of rows: these borrowers, these dates, these values</a:t>
            </a:r>
          </a:p>
        </p:txBody>
      </p:sp>
      <p:sp>
        <p:nvSpPr>
          <p:cNvPr id="16" name="Rectangle 15"/>
          <p:cNvSpPr/>
          <p:nvPr/>
        </p:nvSpPr>
        <p:spPr>
          <a:xfrm>
            <a:off x="3500551" y="1338770"/>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0551" y="1338770"/>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83431" y="1503362"/>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target</a:t>
            </a:r>
          </a:p>
        </p:txBody>
      </p:sp>
      <p:sp>
        <p:nvSpPr>
          <p:cNvPr id="19" name="TextBox 18"/>
          <p:cNvSpPr txBox="1"/>
          <p:nvPr/>
        </p:nvSpPr>
        <p:spPr>
          <a:xfrm>
            <a:off x="3683431" y="1851850"/>
            <a:ext cx="2101519" cy="109626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The thing the dials are chosen to reproduce — the outcome, named and dated</a:t>
            </a:r>
          </a:p>
        </p:txBody>
      </p:sp>
      <p:cxnSp>
        <p:nvCxnSpPr>
          <p:cNvPr id="20" name="Connector 19"/>
          <p:cNvCxnSpPr/>
          <p:nvPr/>
        </p:nvCxnSpPr>
        <p:spPr>
          <a:xfrm>
            <a:off x="3271951" y="2207450"/>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23863" y="1338770"/>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3863" y="1338770"/>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6743" y="1503362"/>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procedure</a:t>
            </a:r>
          </a:p>
        </p:txBody>
      </p:sp>
      <p:sp>
        <p:nvSpPr>
          <p:cNvPr id="24" name="TextBox 23"/>
          <p:cNvSpPr txBox="1"/>
          <p:nvPr/>
        </p:nvSpPr>
        <p:spPr>
          <a:xfrm>
            <a:off x="6406743" y="1851850"/>
            <a:ext cx="2101519"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estimator or optimiser, with its settings and its seed</a:t>
            </a:r>
          </a:p>
        </p:txBody>
      </p:sp>
      <p:cxnSp>
        <p:nvCxnSpPr>
          <p:cNvPr id="25" name="Connector 24"/>
          <p:cNvCxnSpPr/>
          <p:nvPr/>
        </p:nvCxnSpPr>
        <p:spPr>
          <a:xfrm>
            <a:off x="5995263" y="2207450"/>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947175" y="1338770"/>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7175" y="1338770"/>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0055" y="1503362"/>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 record</a:t>
            </a:r>
          </a:p>
        </p:txBody>
      </p:sp>
      <p:sp>
        <p:nvSpPr>
          <p:cNvPr id="29" name="TextBox 28"/>
          <p:cNvSpPr txBox="1"/>
          <p:nvPr/>
        </p:nvSpPr>
        <p:spPr>
          <a:xfrm>
            <a:off x="9130055" y="1851850"/>
            <a:ext cx="2101519"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Which dials came out, from which rows, by which act, and who ran it</a:t>
            </a:r>
          </a:p>
        </p:txBody>
      </p:sp>
      <p:cxnSp>
        <p:nvCxnSpPr>
          <p:cNvPr id="30" name="Connector 29"/>
          <p:cNvCxnSpPr/>
          <p:nvPr/>
        </p:nvCxnSpPr>
        <p:spPr>
          <a:xfrm>
            <a:off x="8718575" y="2207450"/>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3286442"/>
            <a:ext cx="10637215" cy="2391981"/>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Training is this and nothing more: searching the space of dial settings for the one that best reproduces the target on the frozen input. The word carries connotations of scale and of neural networks; neither is part of the definition.</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Calibration and estimation are the same construction with different search procedures and different targets. Elicitation and authorship skip the search, which is precisely why they owe a minute rather than a sample.</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Every one of the four boxes above is an object that has to exist somewhere. Where one of them does not, the fit cannot be challenged — and the next slide is what each absence actually costs.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PINNING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version freezes how; a pin freezes what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15</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third layer, promised earlier. A pin is a materialisation of one version of one feature, computed once and then immutable — the exact rows, with the exact values, as they stood when it was taken.</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§4 and §7.2; maya/services/feature_data.py. Only a pinned object claims to be reproducible: a version resolved twice may legitimately differ, and MAYA does not pretend otherwise.</a:t>
            </a:r>
          </a:p>
        </p:txBody>
      </p:sp>
      <p:sp>
        <p:nvSpPr>
          <p:cNvPr id="13" name="Rectangle 12"/>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failure it prevents</a:t>
            </a:r>
          </a:p>
        </p:txBody>
      </p:sp>
      <p:sp>
        <p:nvSpPr>
          <p:cNvPr id="16" name="TextBox 15"/>
          <p:cNvSpPr txBox="1"/>
          <p:nvPr/>
        </p:nvSpPr>
        <p:spPr>
          <a:xfrm>
            <a:off x="777240"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350" b="1">
                <a:solidFill>
                  <a:srgbClr val="A51C30"/>
                </a:solidFill>
                <a:latin typeface="Calibri"/>
              </a:rPr>
              <a:t>▪  </a:t>
            </a:r>
            <a:r>
              <a:rPr sz="1350" b="1">
                <a:solidFill>
                  <a:srgbClr val="1C1C1E"/>
                </a:solidFill>
                <a:latin typeface="Calibri"/>
              </a:rPr>
              <a:t>A stable name over moving contents</a:t>
            </a:r>
          </a:p>
          <a:p>
            <a:pPr lvl="1">
              <a:lnSpc>
                <a:spcPct val="120000"/>
              </a:lnSpc>
              <a:spcBef>
                <a:spcPts val="0"/>
              </a:spcBef>
              <a:spcAft>
                <a:spcPts val="0"/>
              </a:spcAft>
            </a:pPr>
            <a:r>
              <a:rPr sz="1200" b="0">
                <a:solidFill>
                  <a:srgbClr val="4A4F57"/>
                </a:solidFill>
                <a:latin typeface="Calibri"/>
              </a:rPr>
              <a:t>“The March training set” names a file on a share drive. The file is regenerated in April from a corrected feed, under the same name. Nothing records that it changed, and every document that cites it now cites something else.</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Which is not carelessness</a:t>
            </a:r>
          </a:p>
          <a:p>
            <a:pPr lvl="1">
              <a:lnSpc>
                <a:spcPct val="120000"/>
              </a:lnSpc>
              <a:spcBef>
                <a:spcPts val="0"/>
              </a:spcBef>
              <a:spcAft>
                <a:spcPts val="0"/>
              </a:spcAft>
            </a:pPr>
            <a:r>
              <a:rPr sz="1200" b="0">
                <a:solidFill>
                  <a:srgbClr val="4A4F57"/>
                </a:solidFill>
                <a:latin typeface="Calibri"/>
              </a:rPr>
              <a:t>It is the default behaviour of every path, table and view anybody has. Reproducibility is not something a careful team achieves by being careful; it is a property a store either has or lacks.</a:t>
            </a:r>
          </a:p>
          <a:p>
            <a:pPr>
              <a:lnSpc>
                <a:spcPct val="120000"/>
              </a:lnSpc>
              <a:spcBef>
                <a:spcPts val="500"/>
              </a:spcBef>
              <a:spcAft>
                <a:spcPts val="100"/>
              </a:spcAft>
            </a:pPr>
            <a:r>
              <a:rPr sz="1350" b="1">
                <a:solidFill>
                  <a:srgbClr val="A51C30"/>
                </a:solidFill>
                <a:latin typeface="Calibri"/>
              </a:rPr>
              <a:t>▪  </a:t>
            </a:r>
            <a:r>
              <a:rPr sz="1350" b="1">
                <a:solidFill>
                  <a:srgbClr val="1C1C1E"/>
                </a:solidFill>
                <a:latin typeface="Calibri"/>
              </a:rPr>
              <a:t>And it fails silently, in the useful direction</a:t>
            </a:r>
          </a:p>
          <a:p>
            <a:pPr lvl="1">
              <a:lnSpc>
                <a:spcPct val="120000"/>
              </a:lnSpc>
              <a:spcBef>
                <a:spcPts val="0"/>
              </a:spcBef>
              <a:spcAft>
                <a:spcPts val="0"/>
              </a:spcAft>
            </a:pPr>
            <a:r>
              <a:rPr sz="1200" b="0">
                <a:solidFill>
                  <a:srgbClr val="4A4F57"/>
                </a:solidFill>
                <a:latin typeface="Calibri"/>
              </a:rPr>
              <a:t>The regenerated file is better data. The re-run gives better numbers. Nobody investigates an improvement.</a:t>
            </a:r>
          </a:p>
        </p:txBody>
      </p:sp>
      <p:sp>
        <p:nvSpPr>
          <p:cNvPr id="17" name="Rectangle 16"/>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a pin is</a:t>
            </a:r>
          </a:p>
        </p:txBody>
      </p:sp>
      <p:sp>
        <p:nvSpPr>
          <p:cNvPr id="20" name="TextBox 19"/>
          <p:cNvSpPr txBox="1"/>
          <p:nvPr/>
        </p:nvSpPr>
        <p:spPr>
          <a:xfrm>
            <a:off x="6278727"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Values, resolved and sealed</a:t>
            </a:r>
          </a:p>
          <a:p>
            <a:pPr lvl="1">
              <a:lnSpc>
                <a:spcPct val="120000"/>
              </a:lnSpc>
              <a:spcBef>
                <a:spcPts val="0"/>
              </a:spcBef>
              <a:spcAft>
                <a:spcPts val="0"/>
              </a:spcAft>
            </a:pPr>
            <a:r>
              <a:rPr sz="1350" b="0">
                <a:solidFill>
                  <a:srgbClr val="4A4F57"/>
                </a:solidFill>
                <a:latin typeface="Calibri"/>
              </a:rPr>
              <a:t>One version, read as of a stated date under the declared fill rules, written down, and never recomputed.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Immutable, by construction rather than by policy</a:t>
            </a:r>
          </a:p>
          <a:p>
            <a:pPr lvl="1">
              <a:lnSpc>
                <a:spcPct val="120000"/>
              </a:lnSpc>
              <a:spcBef>
                <a:spcPts val="0"/>
              </a:spcBef>
              <a:spcAft>
                <a:spcPts val="0"/>
              </a:spcAft>
            </a:pPr>
            <a:r>
              <a:rPr sz="1350" b="0">
                <a:solidFill>
                  <a:srgbClr val="4A4F57"/>
                </a:solidFill>
                <a:latin typeface="Calibri"/>
              </a:rPr>
              <a:t>There is no operation that edits a pin. A correction produces a new pin, and the old one keeps returning the bytes it always returned.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Carrying what it took to make it</a:t>
            </a:r>
          </a:p>
          <a:p>
            <a:pPr lvl="1">
              <a:lnSpc>
                <a:spcPct val="120000"/>
              </a:lnSpc>
              <a:spcBef>
                <a:spcPts val="0"/>
              </a:spcBef>
              <a:spcAft>
                <a:spcPts val="0"/>
              </a:spcAft>
            </a:pPr>
            <a:r>
              <a:rPr sz="1350" b="0">
                <a:solidFill>
                  <a:srgbClr val="4A4F57"/>
                </a:solidFill>
                <a:latin typeface="Calibri"/>
              </a:rPr>
              <a:t>The version, the as-of date, the fill report — how many rows each rule filled and the longest run it filled — and the backends that produced 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CONTENT ADDRESSING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pin is named by the hash of what is in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16</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maya/core/canonical.py is the definition of the hash and maya/core/chunker.py the fragment boundaries; tests/test_features.py::test_sc1_repin_is_byte_identical_and_changed_data_is_not, and ::test_sc12_unchanged_month_costs_under_five_percent for the sharing.</a:t>
            </a:r>
          </a:p>
        </p:txBody>
      </p:sp>
      <p:sp>
        <p:nvSpPr>
          <p:cNvPr id="12" name="TextBox 11"/>
          <p:cNvSpPr txBox="1"/>
          <p:nvPr/>
        </p:nvSpPr>
        <p:spPr>
          <a:xfrm>
            <a:off x="777240" y="1386967"/>
            <a:ext cx="10637215" cy="4090289"/>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C1C1E"/>
                </a:solidFill>
                <a:latin typeface="Calibri"/>
              </a:rPr>
              <a:t>The name is computed, not chosen</a:t>
            </a:r>
          </a:p>
          <a:p>
            <a:pPr lvl="1">
              <a:lnSpc>
                <a:spcPct val="120000"/>
              </a:lnSpc>
              <a:spcBef>
                <a:spcPts val="0"/>
              </a:spcBef>
              <a:spcAft>
                <a:spcPts val="0"/>
              </a:spcAft>
            </a:pPr>
            <a:r>
              <a:rPr sz="1450" b="0">
                <a:solidFill>
                  <a:srgbClr val="4A4F57"/>
                </a:solidFill>
                <a:latin typeface="Calibri"/>
              </a:rPr>
              <a:t>A pin's identity is a hash over its own contents. Two pins of the same values have the same hash; change one value anywhere and the hash changes. There is no way to have a name that agrees while the contents differ.</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Over values, not over file bytes</a:t>
            </a:r>
          </a:p>
          <a:p>
            <a:pPr lvl="1">
              <a:lnSpc>
                <a:spcPct val="120000"/>
              </a:lnSpc>
              <a:spcBef>
                <a:spcPts val="0"/>
              </a:spcBef>
              <a:spcAft>
                <a:spcPts val="0"/>
              </a:spcAft>
            </a:pPr>
            <a:r>
              <a:rPr sz="1450" b="0">
                <a:solidFill>
                  <a:srgbClr val="4A4F57"/>
                </a:solidFill>
                <a:latin typeface="Calibri"/>
              </a:rPr>
              <a:t>The hash is taken over a canonical form of the data, so column order does not affect it, and two pins taken on different machines with different library versions agree if and only if the numbers agree.</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Which makes verification a computation rather than a trust exercise</a:t>
            </a:r>
          </a:p>
          <a:p>
            <a:pPr lvl="1">
              <a:lnSpc>
                <a:spcPct val="120000"/>
              </a:lnSpc>
              <a:spcBef>
                <a:spcPts val="0"/>
              </a:spcBef>
              <a:spcAft>
                <a:spcPts val="0"/>
              </a:spcAft>
            </a:pPr>
            <a:r>
              <a:rPr sz="1450" b="0">
                <a:solidFill>
                  <a:srgbClr val="4A4F57"/>
                </a:solidFill>
                <a:latin typeface="Calibri"/>
              </a:rPr>
              <a:t>Hand a pin to somebody outside the firm and they can recompute the hash themselves. They are not taking the platform's word for anything: the name either follows from the contents or it does not.</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And re-pinning unchanged data costs nothing and changes nothing</a:t>
            </a:r>
          </a:p>
          <a:p>
            <a:pPr lvl="1">
              <a:lnSpc>
                <a:spcPct val="120000"/>
              </a:lnSpc>
              <a:spcBef>
                <a:spcPts val="0"/>
              </a:spcBef>
              <a:spcAft>
                <a:spcPts val="0"/>
              </a:spcAft>
            </a:pPr>
            <a:r>
              <a:rPr sz="1450" b="0">
                <a:solidFill>
                  <a:srgbClr val="4A4F57"/>
                </a:solidFill>
                <a:latin typeface="Calibri"/>
              </a:rPr>
              <a:t>The same rows produce the same hash and the same stored fragments, so a month-end pin of a slow-moving feature shares almost everything with last month's. The storage cost of freezing history is the part that actually changed.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WARRANTS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licence to compute, rather than a document about one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17</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last word in the vocabulary. A warrant binds a model, a set of data and a set of dials into one object that can be granted, checked, transferred and withdrawn — which an approval memo cannot.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Specification §29.4 and §29.5; maya/services/warrants.py and execution.py. The middle step between the two — fitting on the firm's own compute and uploading the dials against a checksum — is in Part 3.</a:t>
            </a:r>
          </a:p>
        </p:txBody>
      </p:sp>
      <p:sp>
        <p:nvSpPr>
          <p:cNvPr id="13" name="Rectangle 12"/>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 training warrant</a:t>
            </a:r>
          </a:p>
        </p:txBody>
      </p:sp>
      <p:sp>
        <p:nvSpPr>
          <p:cNvPr id="16" name="TextBox 15"/>
          <p:cNvSpPr txBox="1"/>
          <p:nvPr/>
        </p:nvSpPr>
        <p:spPr>
          <a:xfrm>
            <a:off x="777240"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Names what may be fitted, on what</a:t>
            </a:r>
          </a:p>
          <a:p>
            <a:pPr lvl="1">
              <a:lnSpc>
                <a:spcPct val="120000"/>
              </a:lnSpc>
              <a:spcBef>
                <a:spcPts val="0"/>
              </a:spcBef>
              <a:spcAft>
                <a:spcPts val="0"/>
              </a:spcAft>
            </a:pPr>
            <a:r>
              <a:rPr sz="1350" b="0">
                <a:solidFill>
                  <a:srgbClr val="4A4F57"/>
                </a:solidFill>
                <a:latin typeface="Calibri"/>
              </a:rPr>
              <a:t>This approved model version, against this pinned feature set, by these people, until this date.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Drawn only when the contract is satisfied</a:t>
            </a:r>
          </a:p>
          <a:p>
            <a:pPr lvl="1">
              <a:lnSpc>
                <a:spcPct val="120000"/>
              </a:lnSpc>
              <a:spcBef>
                <a:spcPts val="0"/>
              </a:spcBef>
              <a:spcAft>
                <a:spcPts val="0"/>
              </a:spcAft>
            </a:pPr>
            <a:r>
              <a:rPr sz="1350" b="0">
                <a:solidFill>
                  <a:srgbClr val="4A4F57"/>
                </a:solidFill>
                <a:latin typeface="Calibri"/>
              </a:rPr>
              <a:t>The set's schema must provide what the model declares it reads. Where it does not, the warrant is refused with every missing attribute named.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And it certifies the data before the work starts</a:t>
            </a:r>
          </a:p>
          <a:p>
            <a:pPr lvl="1">
              <a:lnSpc>
                <a:spcPct val="120000"/>
              </a:lnSpc>
              <a:spcBef>
                <a:spcPts val="0"/>
              </a:spcBef>
              <a:spcAft>
                <a:spcPts val="0"/>
              </a:spcAft>
            </a:pPr>
            <a:r>
              <a:rPr sz="1350" b="0">
                <a:solidFill>
                  <a:srgbClr val="4A4F57"/>
                </a:solidFill>
                <a:latin typeface="Calibri"/>
              </a:rPr>
              <a:t>A signed statement that no row in the frame was known later than the decision it describes — so look-ahead is ruled out at the point it could still be corrected.</a:t>
            </a:r>
          </a:p>
        </p:txBody>
      </p:sp>
      <p:sp>
        <p:nvSpPr>
          <p:cNvPr id="17" name="Rectangle 16"/>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An execution warrant</a:t>
            </a:r>
          </a:p>
        </p:txBody>
      </p:sp>
      <p:sp>
        <p:nvSpPr>
          <p:cNvPr id="20" name="TextBox 19"/>
          <p:cNvSpPr txBox="1"/>
          <p:nvPr/>
        </p:nvSpPr>
        <p:spPr>
          <a:xfrm>
            <a:off x="6278727"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Names what may be run, with what</a:t>
            </a:r>
          </a:p>
          <a:p>
            <a:pPr lvl="1">
              <a:lnSpc>
                <a:spcPct val="120000"/>
              </a:lnSpc>
              <a:spcBef>
                <a:spcPts val="0"/>
              </a:spcBef>
              <a:spcAft>
                <a:spcPts val="0"/>
              </a:spcAft>
            </a:pPr>
            <a:r>
              <a:rPr sz="1350" b="0">
                <a:solidFill>
                  <a:srgbClr val="4A4F57"/>
                </a:solidFill>
                <a:latin typeface="Calibri"/>
              </a:rPr>
              <a:t>This model version, these approved dials, in this environment. It is what a downstream system or a regulator is handed.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It is alive</a:t>
            </a:r>
          </a:p>
          <a:p>
            <a:pPr lvl="1">
              <a:lnSpc>
                <a:spcPct val="120000"/>
              </a:lnSpc>
              <a:spcBef>
                <a:spcPts val="0"/>
              </a:spcBef>
              <a:spcAft>
                <a:spcPts val="0"/>
              </a:spcAft>
            </a:pPr>
            <a:r>
              <a:rPr sz="1350" b="0">
                <a:solidFill>
                  <a:srgbClr val="4A4F57"/>
                </a:solidFill>
                <a:latin typeface="Calibri"/>
              </a:rPr>
              <a:t>It expires on a date. It can be revoked. And it carries covenants — bounds on its own inputs and outputs whose breach suspends it automatically.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So a wrong model stops running</a:t>
            </a:r>
          </a:p>
          <a:p>
            <a:pPr lvl="1">
              <a:lnSpc>
                <a:spcPct val="120000"/>
              </a:lnSpc>
              <a:spcBef>
                <a:spcPts val="0"/>
              </a:spcBef>
              <a:spcAft>
                <a:spcPts val="0"/>
              </a:spcAft>
            </a:pPr>
            <a:r>
              <a:rPr sz="1350" b="0">
                <a:solidFill>
                  <a:srgbClr val="4A4F57"/>
                </a:solidFill>
                <a:latin typeface="Calibri"/>
              </a:rPr>
              <a:t>Rather than continuing until somebody remembers to send an email. Every consuming call fails closed, naming the covenant that broke.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VOCABULARY ASSEMBLED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Seven words, and each one now means something</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18</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README, “The shape of the thing”. The same spine runs through the web interface, the REST API, the Python SDK and the command line, and the interface is itself a client of the SDK with no private path of its own.</a:t>
            </a:r>
          </a:p>
        </p:txBody>
      </p:sp>
      <p:sp>
        <p:nvSpPr>
          <p:cNvPr id="12" name="Rectangle 11"/>
          <p:cNvSpPr/>
          <p:nvPr/>
        </p:nvSpPr>
        <p:spPr>
          <a:xfrm>
            <a:off x="777240"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Source</a:t>
            </a:r>
          </a:p>
        </p:txBody>
      </p:sp>
      <p:sp>
        <p:nvSpPr>
          <p:cNvPr id="15" name="TextBox 14"/>
          <p:cNvSpPr txBox="1"/>
          <p:nvPr/>
        </p:nvSpPr>
        <p:spPr>
          <a:xfrm>
            <a:off x="960120" y="1900047"/>
            <a:ext cx="1193749" cy="959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Where rows come from, declared</a:t>
            </a:r>
          </a:p>
        </p:txBody>
      </p:sp>
      <p:sp>
        <p:nvSpPr>
          <p:cNvPr id="16" name="Rectangle 15"/>
          <p:cNvSpPr/>
          <p:nvPr/>
        </p:nvSpPr>
        <p:spPr>
          <a:xfrm>
            <a:off x="2592781"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592781"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75661"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Feature</a:t>
            </a:r>
          </a:p>
        </p:txBody>
      </p:sp>
      <p:sp>
        <p:nvSpPr>
          <p:cNvPr id="19" name="TextBox 18"/>
          <p:cNvSpPr txBox="1"/>
          <p:nvPr/>
        </p:nvSpPr>
        <p:spPr>
          <a:xfrm>
            <a:off x="2775661" y="1900047"/>
            <a:ext cx="1193749" cy="959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An input with an identity and two clocks</a:t>
            </a:r>
          </a:p>
        </p:txBody>
      </p:sp>
      <p:cxnSp>
        <p:nvCxnSpPr>
          <p:cNvPr id="20" name="Connector 19"/>
          <p:cNvCxnSpPr/>
          <p:nvPr/>
        </p:nvCxnSpPr>
        <p:spPr>
          <a:xfrm>
            <a:off x="2364181" y="21870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408322"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08322"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91202"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Pin</a:t>
            </a:r>
          </a:p>
        </p:txBody>
      </p:sp>
      <p:sp>
        <p:nvSpPr>
          <p:cNvPr id="24" name="TextBox 23"/>
          <p:cNvSpPr txBox="1"/>
          <p:nvPr/>
        </p:nvSpPr>
        <p:spPr>
          <a:xfrm>
            <a:off x="4591202" y="1900047"/>
            <a:ext cx="1193749" cy="959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Those rows, frozen and named by their hash</a:t>
            </a:r>
          </a:p>
        </p:txBody>
      </p:sp>
      <p:cxnSp>
        <p:nvCxnSpPr>
          <p:cNvPr id="25" name="Connector 24"/>
          <p:cNvCxnSpPr/>
          <p:nvPr/>
        </p:nvCxnSpPr>
        <p:spPr>
          <a:xfrm>
            <a:off x="4179722" y="21870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223863"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23863"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6743"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Model</a:t>
            </a:r>
          </a:p>
        </p:txBody>
      </p:sp>
      <p:sp>
        <p:nvSpPr>
          <p:cNvPr id="29" name="TextBox 28"/>
          <p:cNvSpPr txBox="1"/>
          <p:nvPr/>
        </p:nvSpPr>
        <p:spPr>
          <a:xfrm>
            <a:off x="6406743" y="1900047"/>
            <a:ext cx="1193749" cy="959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kernel, and the dials it reads</a:t>
            </a:r>
          </a:p>
        </p:txBody>
      </p:sp>
      <p:cxnSp>
        <p:nvCxnSpPr>
          <p:cNvPr id="30" name="Connector 29"/>
          <p:cNvCxnSpPr/>
          <p:nvPr/>
        </p:nvCxnSpPr>
        <p:spPr>
          <a:xfrm>
            <a:off x="5995263" y="21870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039404"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39404"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2284"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550" b="1" i="0">
                <a:solidFill>
                  <a:srgbClr val="1C1C1E"/>
                </a:solidFill>
                <a:latin typeface="Georgia"/>
              </a:rPr>
              <a:t>Parameters</a:t>
            </a:r>
          </a:p>
        </p:txBody>
      </p:sp>
      <p:sp>
        <p:nvSpPr>
          <p:cNvPr id="34" name="TextBox 33"/>
          <p:cNvSpPr txBox="1"/>
          <p:nvPr/>
        </p:nvSpPr>
        <p:spPr>
          <a:xfrm>
            <a:off x="8222284" y="1892014"/>
            <a:ext cx="1193749" cy="967136"/>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dials, with how they were set</a:t>
            </a:r>
          </a:p>
        </p:txBody>
      </p:sp>
      <p:cxnSp>
        <p:nvCxnSpPr>
          <p:cNvPr id="35" name="Connector 34"/>
          <p:cNvCxnSpPr/>
          <p:nvPr/>
        </p:nvCxnSpPr>
        <p:spPr>
          <a:xfrm>
            <a:off x="7810804" y="21870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854946" y="1386967"/>
            <a:ext cx="1559509" cy="16002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854946" y="1386967"/>
            <a:ext cx="155950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37826" y="1551559"/>
            <a:ext cx="119374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Warrant</a:t>
            </a:r>
          </a:p>
        </p:txBody>
      </p:sp>
      <p:sp>
        <p:nvSpPr>
          <p:cNvPr id="39" name="TextBox 38"/>
          <p:cNvSpPr txBox="1"/>
          <p:nvPr/>
        </p:nvSpPr>
        <p:spPr>
          <a:xfrm>
            <a:off x="10037826" y="1900047"/>
            <a:ext cx="1193749" cy="9591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licence binding all of it</a:t>
            </a:r>
          </a:p>
        </p:txBody>
      </p:sp>
      <p:cxnSp>
        <p:nvCxnSpPr>
          <p:cNvPr id="40" name="Connector 39"/>
          <p:cNvCxnSpPr/>
          <p:nvPr/>
        </p:nvCxnSpPr>
        <p:spPr>
          <a:xfrm>
            <a:off x="9626346" y="21870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77240" y="3197479"/>
            <a:ext cx="10637215" cy="2480944"/>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Nothing in the rest of this deck introduces a concept that is not on this line. Part 3 carries it end to end, Part 4 governs it, and Part 6 shows that four facts a register normally asks somebody to type are consequences of this structure.</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The line runs in one direction and every arrow is checked. A model may not be bound to data whose schema does not satisfy it; a warrant may not be drawn against unpinned data; an execution warrant may not be sealed on dials that were never approved.</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It is also the answer to the three questions this part opened with. Which data: the pin. Which mathematics: the model version. Whose approval: the warrant.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3</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3200" b="0" i="0">
                <a:solidFill>
                  <a:srgbClr val="FFFFFF"/>
                </a:solidFill>
                <a:latin typeface="Georgia"/>
              </a:rPr>
              <a:t>The lifecycle, end to end</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One chain, from a delivered file to a model running under a live licence and reporting back. Each link is a governed object with an owner, a version and an approval, and each one refuses something on purpose.</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What MAYA sits between</a:t>
            </a:r>
          </a:p>
          <a:p>
            <a:pPr>
              <a:lnSpc>
                <a:spcPct val="115000"/>
              </a:lnSpc>
              <a:spcBef>
                <a:spcPts val="0"/>
              </a:spcBef>
              <a:spcAft>
                <a:spcPts val="600"/>
              </a:spcAft>
            </a:pPr>
            <a:r>
              <a:rPr sz="1200" b="0" i="0">
                <a:solidFill>
                  <a:srgbClr val="F6E6E9"/>
                </a:solidFill>
                <a:latin typeface="Calibri"/>
              </a:rPr>
              <a:t>The chain, in one picture</a:t>
            </a:r>
          </a:p>
          <a:p>
            <a:pPr>
              <a:lnSpc>
                <a:spcPct val="115000"/>
              </a:lnSpc>
              <a:spcBef>
                <a:spcPts val="0"/>
              </a:spcBef>
              <a:spcAft>
                <a:spcPts val="600"/>
              </a:spcAft>
            </a:pPr>
            <a:r>
              <a:rPr sz="1200" b="0" i="0">
                <a:solidFill>
                  <a:srgbClr val="F6E6E9"/>
                </a:solidFill>
                <a:latin typeface="Calibri"/>
              </a:rPr>
              <a:t>Writing the mathematics</a:t>
            </a:r>
          </a:p>
          <a:p>
            <a:pPr>
              <a:lnSpc>
                <a:spcPct val="115000"/>
              </a:lnSpc>
              <a:spcBef>
                <a:spcPts val="0"/>
              </a:spcBef>
              <a:spcAft>
                <a:spcPts val="600"/>
              </a:spcAft>
            </a:pPr>
            <a:r>
              <a:rPr sz="1200" b="0" i="0">
                <a:solidFill>
                  <a:srgbClr val="F6E6E9"/>
                </a:solidFill>
                <a:latin typeface="Calibri"/>
              </a:rPr>
              <a:t>Fitting under a warrant</a:t>
            </a:r>
          </a:p>
          <a:p>
            <a:pPr>
              <a:lnSpc>
                <a:spcPct val="115000"/>
              </a:lnSpc>
              <a:spcBef>
                <a:spcPts val="0"/>
              </a:spcBef>
              <a:spcAft>
                <a:spcPts val="600"/>
              </a:spcAft>
            </a:pPr>
            <a:r>
              <a:rPr sz="1200" b="0" i="0">
                <a:solidFill>
                  <a:srgbClr val="F6E6E9"/>
                </a:solidFill>
                <a:latin typeface="Calibri"/>
              </a:rPr>
              <a:t>Running under a licence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SYSTEM CONTEXT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What MAYA sits between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20</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MAYA is a system of record, not an execution engine: it never trains a model and never serves a prediction.</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Outside the line, deliberately: whatever trains the model and whatever serves it. A platform that ran the artefacts it governs would be checking its own work.</a:t>
            </a:r>
          </a:p>
        </p:txBody>
      </p:sp>
      <p:cxnSp>
        <p:nvCxnSpPr>
          <p:cNvPr id="13" name="Connector 12"/>
          <p:cNvCxnSpPr/>
          <p:nvPr/>
        </p:nvCxnSpPr>
        <p:spPr>
          <a:xfrm>
            <a:off x="2479194" y="2997327"/>
            <a:ext cx="0" cy="237439"/>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308591" y="2997327"/>
            <a:ext cx="0" cy="237439"/>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9712500" y="2997327"/>
            <a:ext cx="0" cy="237439"/>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479194" y="4162044"/>
            <a:ext cx="0" cy="392734"/>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701954" y="4280687"/>
            <a:ext cx="1554480"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0">
                <a:solidFill>
                  <a:srgbClr val="4A4F57"/>
                </a:solidFill>
                <a:latin typeface="Calibri"/>
              </a:rPr>
              <a:t>rows and pins</a:t>
            </a:r>
          </a:p>
        </p:txBody>
      </p:sp>
      <p:cxnSp>
        <p:nvCxnSpPr>
          <p:cNvPr id="18" name="Connector 17"/>
          <p:cNvCxnSpPr/>
          <p:nvPr/>
        </p:nvCxnSpPr>
        <p:spPr>
          <a:xfrm>
            <a:off x="4713009" y="4162044"/>
            <a:ext cx="0" cy="392734"/>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935769" y="4280687"/>
            <a:ext cx="1554480"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0">
                <a:solidFill>
                  <a:srgbClr val="4A4F57"/>
                </a:solidFill>
                <a:latin typeface="Calibri"/>
              </a:rPr>
              <a:t>objects and audit</a:t>
            </a:r>
          </a:p>
        </p:txBody>
      </p:sp>
      <p:cxnSp>
        <p:nvCxnSpPr>
          <p:cNvPr id="20" name="Connector 19"/>
          <p:cNvCxnSpPr/>
          <p:nvPr/>
        </p:nvCxnSpPr>
        <p:spPr>
          <a:xfrm>
            <a:off x="7478685" y="4162044"/>
            <a:ext cx="0" cy="392734"/>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01445" y="4280687"/>
            <a:ext cx="1554480"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0">
                <a:solidFill>
                  <a:srgbClr val="4A4F57"/>
                </a:solidFill>
                <a:latin typeface="Calibri"/>
              </a:rPr>
              <a:t>artifact runs</a:t>
            </a:r>
          </a:p>
        </p:txBody>
      </p:sp>
      <p:cxnSp>
        <p:nvCxnSpPr>
          <p:cNvPr id="22" name="Connector 21"/>
          <p:cNvCxnSpPr/>
          <p:nvPr/>
        </p:nvCxnSpPr>
        <p:spPr>
          <a:xfrm>
            <a:off x="9712500" y="4162044"/>
            <a:ext cx="0" cy="392734"/>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935260" y="4280687"/>
            <a:ext cx="1554480"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0">
                <a:solidFill>
                  <a:srgbClr val="4A4F57"/>
                </a:solidFill>
                <a:latin typeface="Calibri"/>
              </a:rPr>
              <a:t>exported</a:t>
            </a:r>
          </a:p>
        </p:txBody>
      </p:sp>
      <p:sp>
        <p:nvSpPr>
          <p:cNvPr id="24" name="Rectangle 23"/>
          <p:cNvSpPr/>
          <p:nvPr/>
        </p:nvSpPr>
        <p:spPr>
          <a:xfrm>
            <a:off x="777240" y="1796034"/>
            <a:ext cx="2340187" cy="116471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179603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196062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Source systems</a:t>
            </a:r>
          </a:p>
        </p:txBody>
      </p:sp>
      <p:sp>
        <p:nvSpPr>
          <p:cNvPr id="27" name="TextBox 26"/>
          <p:cNvSpPr txBox="1"/>
          <p:nvPr/>
        </p:nvSpPr>
        <p:spPr>
          <a:xfrm>
            <a:off x="960120" y="2309114"/>
            <a:ext cx="1974427" cy="5236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Pulled, never read through.</a:t>
            </a:r>
          </a:p>
        </p:txBody>
      </p:sp>
      <p:sp>
        <p:nvSpPr>
          <p:cNvPr id="28" name="Rectangle 27"/>
          <p:cNvSpPr/>
          <p:nvPr/>
        </p:nvSpPr>
        <p:spPr>
          <a:xfrm>
            <a:off x="4925753" y="1796034"/>
            <a:ext cx="2765675" cy="116471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25753" y="1796034"/>
            <a:ext cx="276567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08633" y="1960626"/>
            <a:ext cx="2399915"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People, with roles</a:t>
            </a:r>
          </a:p>
        </p:txBody>
      </p:sp>
      <p:sp>
        <p:nvSpPr>
          <p:cNvPr id="31" name="TextBox 30"/>
          <p:cNvSpPr txBox="1"/>
          <p:nvPr/>
        </p:nvSpPr>
        <p:spPr>
          <a:xfrm>
            <a:off x="5108633" y="2309114"/>
            <a:ext cx="2399915" cy="5236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Designers, managers, owners.</a:t>
            </a:r>
          </a:p>
        </p:txBody>
      </p:sp>
      <p:sp>
        <p:nvSpPr>
          <p:cNvPr id="32" name="Rectangle 31"/>
          <p:cNvSpPr/>
          <p:nvPr/>
        </p:nvSpPr>
        <p:spPr>
          <a:xfrm>
            <a:off x="9074267" y="1796034"/>
            <a:ext cx="2340187" cy="1164717"/>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74267" y="179603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57147" y="196062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Identity provider</a:t>
            </a:r>
          </a:p>
        </p:txBody>
      </p:sp>
      <p:sp>
        <p:nvSpPr>
          <p:cNvPr id="35" name="TextBox 34"/>
          <p:cNvSpPr txBox="1"/>
          <p:nvPr/>
        </p:nvSpPr>
        <p:spPr>
          <a:xfrm>
            <a:off x="9257147" y="2566162"/>
            <a:ext cx="1974427" cy="26657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OIDC or SAML.</a:t>
            </a:r>
          </a:p>
        </p:txBody>
      </p:sp>
      <p:sp>
        <p:nvSpPr>
          <p:cNvPr id="36" name="Rectangle 35"/>
          <p:cNvSpPr/>
          <p:nvPr/>
        </p:nvSpPr>
        <p:spPr>
          <a:xfrm>
            <a:off x="1840961" y="3271342"/>
            <a:ext cx="8509772" cy="854125"/>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40961" y="3271342"/>
            <a:ext cx="850977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23841" y="3435934"/>
            <a:ext cx="8144012"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MAYA — one API, four ways to reach it</a:t>
            </a:r>
          </a:p>
        </p:txBody>
      </p:sp>
      <p:sp>
        <p:nvSpPr>
          <p:cNvPr id="39" name="TextBox 38"/>
          <p:cNvSpPr txBox="1"/>
          <p:nvPr/>
        </p:nvSpPr>
        <p:spPr>
          <a:xfrm>
            <a:off x="2023841" y="3784422"/>
            <a:ext cx="8144012" cy="213029"/>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Web, SDK, CLI and REST over 246 operations.</a:t>
            </a:r>
          </a:p>
        </p:txBody>
      </p:sp>
      <p:sp>
        <p:nvSpPr>
          <p:cNvPr id="40" name="Rectangle 39"/>
          <p:cNvSpPr/>
          <p:nvPr/>
        </p:nvSpPr>
        <p:spPr>
          <a:xfrm>
            <a:off x="777240" y="4591354"/>
            <a:ext cx="2340187" cy="1087069"/>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459135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0120" y="475594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maya_delta</a:t>
            </a:r>
          </a:p>
        </p:txBody>
      </p:sp>
      <p:sp>
        <p:nvSpPr>
          <p:cNvPr id="43" name="TextBox 42"/>
          <p:cNvSpPr txBox="1"/>
          <p:nvPr/>
        </p:nvSpPr>
        <p:spPr>
          <a:xfrm>
            <a:off x="960120" y="5104434"/>
            <a:ext cx="1974427" cy="445973"/>
          </a:xfrm>
          <a:prstGeom prst="rect">
            <a:avLst/>
          </a:prstGeom>
          <a:noFill/>
        </p:spPr>
        <p:txBody>
          <a:bodyPr wrap="square" lIns="0" rIns="0" tIns="0" bIns="0" anchor="t">
            <a:spAutoFit/>
          </a:bodyPr>
          <a:lstStyle/>
          <a:p>
            <a:pPr algn="l">
              <a:lnSpc>
                <a:spcPct val="120000"/>
              </a:lnSpc>
              <a:spcBef>
                <a:spcPts val="0"/>
              </a:spcBef>
              <a:spcAft>
                <a:spcPts val="0"/>
              </a:spcAft>
            </a:pPr>
            <a:r>
              <a:rPr sz="1350" b="0" i="0">
                <a:solidFill>
                  <a:srgbClr val="4A4F57"/>
                </a:solidFill>
                <a:latin typeface="Calibri"/>
              </a:rPr>
              <a:t>Data and sealed pins.</a:t>
            </a:r>
          </a:p>
        </p:txBody>
      </p:sp>
      <p:sp>
        <p:nvSpPr>
          <p:cNvPr id="44" name="Rectangle 43"/>
          <p:cNvSpPr/>
          <p:nvPr/>
        </p:nvSpPr>
        <p:spPr>
          <a:xfrm>
            <a:off x="3542915" y="4591354"/>
            <a:ext cx="2340187" cy="1087069"/>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542915" y="459135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25795" y="475594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Metadata database</a:t>
            </a:r>
          </a:p>
        </p:txBody>
      </p:sp>
      <p:sp>
        <p:nvSpPr>
          <p:cNvPr id="47" name="TextBox 46"/>
          <p:cNvSpPr txBox="1"/>
          <p:nvPr/>
        </p:nvSpPr>
        <p:spPr>
          <a:xfrm>
            <a:off x="3725795" y="5361482"/>
            <a:ext cx="1974427" cy="188925"/>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4A4F57"/>
                </a:solidFill>
                <a:latin typeface="Calibri"/>
              </a:rPr>
              <a:t>SQLite, or PostgreSQL.</a:t>
            </a:r>
          </a:p>
        </p:txBody>
      </p:sp>
      <p:sp>
        <p:nvSpPr>
          <p:cNvPr id="48" name="Rectangle 47"/>
          <p:cNvSpPr/>
          <p:nvPr/>
        </p:nvSpPr>
        <p:spPr>
          <a:xfrm>
            <a:off x="6308591" y="4591354"/>
            <a:ext cx="2340187" cy="1087069"/>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08591" y="459135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91471" y="475594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The sandbox</a:t>
            </a:r>
          </a:p>
        </p:txBody>
      </p:sp>
      <p:sp>
        <p:nvSpPr>
          <p:cNvPr id="51" name="TextBox 50"/>
          <p:cNvSpPr txBox="1"/>
          <p:nvPr/>
        </p:nvSpPr>
        <p:spPr>
          <a:xfrm>
            <a:off x="6491471" y="5104434"/>
            <a:ext cx="1974427" cy="44597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Where an artifact runs.</a:t>
            </a:r>
          </a:p>
        </p:txBody>
      </p:sp>
      <p:sp>
        <p:nvSpPr>
          <p:cNvPr id="52" name="Rectangle 51"/>
          <p:cNvSpPr/>
          <p:nvPr/>
        </p:nvSpPr>
        <p:spPr>
          <a:xfrm>
            <a:off x="9074267" y="4591354"/>
            <a:ext cx="2340187" cy="1087069"/>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074267" y="4591354"/>
            <a:ext cx="23401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57147" y="4755946"/>
            <a:ext cx="197442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Evidence bundles</a:t>
            </a:r>
          </a:p>
        </p:txBody>
      </p:sp>
      <p:sp>
        <p:nvSpPr>
          <p:cNvPr id="55" name="TextBox 54"/>
          <p:cNvSpPr txBox="1"/>
          <p:nvPr/>
        </p:nvSpPr>
        <p:spPr>
          <a:xfrm>
            <a:off x="9257147" y="5104434"/>
            <a:ext cx="1974427" cy="44597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Verified without MAYA.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CHAIN</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From a delivered file to a model reporting back</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21</a:t>
            </a:r>
          </a:p>
        </p:txBody>
      </p:sp>
      <p:sp>
        <p:nvSpPr>
          <p:cNvPr id="10" name="Rectangle 9"/>
          <p:cNvSpPr/>
          <p:nvPr/>
        </p:nvSpPr>
        <p:spPr>
          <a:xfrm>
            <a:off x="777240"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Feature</a:t>
            </a:r>
          </a:p>
        </p:txBody>
      </p:sp>
      <p:sp>
        <p:nvSpPr>
          <p:cNvPr id="13" name="TextBox 12"/>
          <p:cNvSpPr txBox="1"/>
          <p:nvPr/>
        </p:nvSpPr>
        <p:spPr>
          <a:xfrm>
            <a:off x="960120"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A feed defined, loaded with its knowledge times, approved by somebody else</a:t>
            </a:r>
          </a:p>
        </p:txBody>
      </p:sp>
      <p:sp>
        <p:nvSpPr>
          <p:cNvPr id="14" name="Rectangle 13"/>
          <p:cNvSpPr/>
          <p:nvPr/>
        </p:nvSpPr>
        <p:spPr>
          <a:xfrm>
            <a:off x="2955889"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5889"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8769"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Pin</a:t>
            </a:r>
          </a:p>
        </p:txBody>
      </p:sp>
      <p:sp>
        <p:nvSpPr>
          <p:cNvPr id="17" name="TextBox 16"/>
          <p:cNvSpPr txBox="1"/>
          <p:nvPr/>
        </p:nvSpPr>
        <p:spPr>
          <a:xfrm>
            <a:off x="3138769"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A feature set frozen as of a date, sealed by the hash of its rows</a:t>
            </a:r>
          </a:p>
        </p:txBody>
      </p:sp>
      <p:cxnSp>
        <p:nvCxnSpPr>
          <p:cNvPr id="18" name="Connector 17"/>
          <p:cNvCxnSpPr/>
          <p:nvPr/>
        </p:nvCxnSpPr>
        <p:spPr>
          <a:xfrm>
            <a:off x="2727289"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34538"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3453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741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Model</a:t>
            </a:r>
          </a:p>
        </p:txBody>
      </p:sp>
      <p:sp>
        <p:nvSpPr>
          <p:cNvPr id="22" name="TextBox 21"/>
          <p:cNvSpPr txBox="1"/>
          <p:nvPr/>
        </p:nvSpPr>
        <p:spPr>
          <a:xfrm>
            <a:off x="5317418"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The mathematics as a typed tree, with its specification, approved</a:t>
            </a:r>
          </a:p>
        </p:txBody>
      </p:sp>
      <p:cxnSp>
        <p:nvCxnSpPr>
          <p:cNvPr id="23" name="Connector 22"/>
          <p:cNvCxnSpPr/>
          <p:nvPr/>
        </p:nvCxnSpPr>
        <p:spPr>
          <a:xfrm>
            <a:off x="4905938"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13188"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318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606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Training warrant</a:t>
            </a:r>
          </a:p>
        </p:txBody>
      </p:sp>
      <p:sp>
        <p:nvSpPr>
          <p:cNvPr id="27" name="TextBox 26"/>
          <p:cNvSpPr txBox="1"/>
          <p:nvPr/>
        </p:nvSpPr>
        <p:spPr>
          <a:xfrm>
            <a:off x="7496068" y="2157095"/>
            <a:ext cx="1556857" cy="839215"/>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Model and pin bound; the holdout escrowed; leakage certified</a:t>
            </a:r>
          </a:p>
        </p:txBody>
      </p:sp>
      <p:cxnSp>
        <p:nvCxnSpPr>
          <p:cNvPr id="28" name="Connector 27"/>
          <p:cNvCxnSpPr/>
          <p:nvPr/>
        </p:nvCxnSpPr>
        <p:spPr>
          <a:xfrm>
            <a:off x="7084588"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491837"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91837"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4717"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Execution warrant</a:t>
            </a:r>
          </a:p>
        </p:txBody>
      </p:sp>
      <p:sp>
        <p:nvSpPr>
          <p:cNvPr id="32" name="TextBox 31"/>
          <p:cNvSpPr txBox="1"/>
          <p:nvPr/>
        </p:nvSpPr>
        <p:spPr>
          <a:xfrm>
            <a:off x="9674717" y="2157095"/>
            <a:ext cx="1556857" cy="839215"/>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4A4F57"/>
                </a:solidFill>
                <a:latin typeface="Calibri"/>
              </a:rPr>
              <a:t>Approved parameters licensed to run, with covenants, until a date</a:t>
            </a:r>
          </a:p>
        </p:txBody>
      </p:sp>
      <p:cxnSp>
        <p:nvCxnSpPr>
          <p:cNvPr id="33" name="Connector 32"/>
          <p:cNvCxnSpPr/>
          <p:nvPr/>
        </p:nvCxnSpPr>
        <p:spPr>
          <a:xfrm>
            <a:off x="9263237"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34639"/>
            <a:ext cx="10637215" cy="2910713"/>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Every arrow is a refusal waiting to happen: an unapproved feature cannot be pinned, an unpinned set cannot be warranted, a model whose inputs the pin lacks cannot be bound, and parameters fitted on data MAYA did not issue cannot be approved.</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The chain is the same whether the model is a two-line formula, a neural network, a vendor's score or an LLM application — what changes is which evidence each link can produce.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COMPUTE-KERNEL WIZARD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Write the mathematics; read back what MAYA made of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22</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Web page /models/kernel; API POST /formula/kernel; SDK client.models.kernel. maya/formula/parse.py and codegen.py; tests/test_compute_kernel.py::test_the_kernel_is_one_function_and_nothing_else.</a:t>
            </a:r>
          </a:p>
        </p:txBody>
      </p:sp>
      <p:sp>
        <p:nvSpPr>
          <p:cNvPr id="12" name="Rectangle 11"/>
          <p:cNvSpPr/>
          <p:nvPr/>
        </p:nvSpPr>
        <p:spPr>
          <a:xfrm>
            <a:off x="777240"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Write</a:t>
            </a:r>
          </a:p>
        </p:txBody>
      </p:sp>
      <p:sp>
        <p:nvSpPr>
          <p:cNvPr id="15" name="TextBox 14"/>
          <p:cNvSpPr txBox="1"/>
          <p:nvPr/>
        </p:nvSpPr>
        <p:spPr>
          <a:xfrm>
            <a:off x="960120"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As LaTeX or plain text, and say which symbols are the dials</a:t>
            </a:r>
          </a:p>
        </p:txBody>
      </p:sp>
      <p:sp>
        <p:nvSpPr>
          <p:cNvPr id="16" name="Rectangle 15"/>
          <p:cNvSpPr/>
          <p:nvPr/>
        </p:nvSpPr>
        <p:spPr>
          <a:xfrm>
            <a:off x="3500551"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500551"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83431"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Translate</a:t>
            </a:r>
          </a:p>
        </p:txBody>
      </p:sp>
      <p:sp>
        <p:nvSpPr>
          <p:cNvPr id="19" name="TextBox 18"/>
          <p:cNvSpPr txBox="1"/>
          <p:nvPr/>
        </p:nvSpPr>
        <p:spPr>
          <a:xfrm>
            <a:off x="3683431"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MAYA parses it into the typed tree, or refuses and names the position</a:t>
            </a:r>
          </a:p>
        </p:txBody>
      </p:sp>
      <p:cxnSp>
        <p:nvCxnSpPr>
          <p:cNvPr id="20" name="Connector 19"/>
          <p:cNvCxnSpPr/>
          <p:nvPr/>
        </p:nvCxnSpPr>
        <p:spPr>
          <a:xfrm>
            <a:off x="3271951"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23863"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3863"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6743"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Read back</a:t>
            </a:r>
          </a:p>
        </p:txBody>
      </p:sp>
      <p:sp>
        <p:nvSpPr>
          <p:cNvPr id="24" name="TextBox 23"/>
          <p:cNvSpPr txBox="1"/>
          <p:nvPr/>
        </p:nvSpPr>
        <p:spPr>
          <a:xfrm>
            <a:off x="6406743"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tree, the LaTeX it renders as, each input with the role it was given, the intermediates in order</a:t>
            </a:r>
          </a:p>
        </p:txBody>
      </p:sp>
      <p:cxnSp>
        <p:nvCxnSpPr>
          <p:cNvPr id="25" name="Connector 24"/>
          <p:cNvCxnSpPr/>
          <p:nvPr/>
        </p:nvCxnSpPr>
        <p:spPr>
          <a:xfrm>
            <a:off x="5995263"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8947175" y="1386967"/>
            <a:ext cx="2467279" cy="18288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7175" y="1386967"/>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0055" y="1551559"/>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Take the function</a:t>
            </a:r>
          </a:p>
        </p:txBody>
      </p:sp>
      <p:sp>
        <p:nvSpPr>
          <p:cNvPr id="29" name="TextBox 28"/>
          <p:cNvSpPr txBox="1"/>
          <p:nvPr/>
        </p:nvSpPr>
        <p:spPr>
          <a:xfrm>
            <a:off x="9130055" y="1900047"/>
            <a:ext cx="2101519" cy="118770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One portable function, or the full reference module</a:t>
            </a:r>
          </a:p>
        </p:txBody>
      </p:sp>
      <p:cxnSp>
        <p:nvCxnSpPr>
          <p:cNvPr id="30" name="Connector 29"/>
          <p:cNvCxnSpPr/>
          <p:nvPr/>
        </p:nvCxnSpPr>
        <p:spPr>
          <a:xfrm>
            <a:off x="8718575" y="230136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3426079"/>
            <a:ext cx="10637215" cy="2252344"/>
          </a:xfrm>
          <a:prstGeom prst="rect">
            <a:avLst/>
          </a:prstGeom>
          <a:noFill/>
        </p:spPr>
        <p:txBody>
          <a:bodyPr wrap="square" lIns="0" rIns="0" tIns="0" bIns="0" anchor="t">
            <a:spAutoFit/>
          </a:bodyPr>
          <a:lstStyle/>
          <a:p>
            <a:pPr algn="l">
              <a:lnSpc>
                <a:spcPct val="120000"/>
              </a:lnSpc>
              <a:spcBef>
                <a:spcPts val="0"/>
              </a:spcBef>
              <a:spcAft>
                <a:spcPts val="0"/>
              </a:spcAft>
            </a:pPr>
            <a:r>
              <a:rPr sz="1350" b="1">
                <a:solidFill>
                  <a:srgbClr val="A51C30"/>
                </a:solidFill>
                <a:latin typeface="Calibri"/>
              </a:rPr>
              <a:t>▪  </a:t>
            </a:r>
            <a:r>
              <a:rPr sz="1350" b="0">
                <a:solidFill>
                  <a:srgbClr val="1C1C1E"/>
                </a:solidFill>
                <a:latin typeface="Calibri"/>
              </a:rPr>
              <a:t>It reads nothing and writes nothing. Whoever wrote the mathematics sees what MAYA made of it before a model version exists to attach it to; the alternative is finding out at registration, which is later and more expensive.</a:t>
            </a:r>
          </a:p>
          <a:p>
            <a:pPr>
              <a:lnSpc>
                <a:spcPct val="120000"/>
              </a:lnSpc>
              <a:spcBef>
                <a:spcPts val="600"/>
              </a:spcBef>
              <a:spcAft>
                <a:spcPts val="0"/>
              </a:spcAft>
            </a:pPr>
            <a:r>
              <a:rPr sz="1350" b="1">
                <a:solidFill>
                  <a:srgbClr val="A51C30"/>
                </a:solidFill>
                <a:latin typeface="Calibri"/>
              </a:rPr>
              <a:t>▪  </a:t>
            </a:r>
            <a:r>
              <a:rPr sz="1350" b="0">
                <a:solidFill>
                  <a:srgbClr val="1C1C1E"/>
                </a:solidFill>
                <a:latin typeface="Calibri"/>
              </a:rPr>
              <a:t>The emitted kernel is one self-contained function taking the inputs and the dials and returning one value per row. Imports and helpers sit inside the function body, and it needs numpy alone unless the formula uses a normal distribution.</a:t>
            </a:r>
          </a:p>
          <a:p>
            <a:pPr>
              <a:lnSpc>
                <a:spcPct val="120000"/>
              </a:lnSpc>
              <a:spcBef>
                <a:spcPts val="600"/>
              </a:spcBef>
              <a:spcAft>
                <a:spcPts val="0"/>
              </a:spcAft>
            </a:pPr>
            <a:r>
              <a:rPr sz="1350" b="1">
                <a:solidFill>
                  <a:srgbClr val="A51C30"/>
                </a:solidFill>
                <a:latin typeface="Calibri"/>
              </a:rPr>
              <a:t>▪  </a:t>
            </a:r>
            <a:r>
              <a:rPr sz="1350" b="0">
                <a:solidFill>
                  <a:srgbClr val="1C1C1E"/>
                </a:solidFill>
                <a:latin typeface="Calibri"/>
              </a:rPr>
              <a:t>The same parser and the same code emitter serve registration, so the wizard shows what a registered version would hold rather than a mock-up of it. Black–Scholes, a logistic probability of default and a Nelson–Siegel curve ship as worked examples on the page.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TRAINING WARRANTS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checksum cycle that turns paperwork into a control</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23</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maya/services/warrants.py; tests/test_warrants.py::test_the_checksum_cycle_seal_score_execute_and_bundle and ::test_contract_mismatch_is_refused_listing_every_attribute.</a:t>
            </a:r>
          </a:p>
        </p:txBody>
      </p:sp>
      <p:sp>
        <p:nvSpPr>
          <p:cNvPr id="12" name="Rectangle 11"/>
          <p:cNvSpPr/>
          <p:nvPr/>
        </p:nvSpPr>
        <p:spPr>
          <a:xfrm>
            <a:off x="777240"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Draw</a:t>
            </a:r>
          </a:p>
        </p:txBody>
      </p:sp>
      <p:sp>
        <p:nvSpPr>
          <p:cNvPr id="15" name="TextBox 14"/>
          <p:cNvSpPr txBox="1"/>
          <p:nvPr/>
        </p:nvSpPr>
        <p:spPr>
          <a:xfrm>
            <a:off x="960120"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An approved model against a pinned feature set; the contract is checked and every miss listed</a:t>
            </a:r>
          </a:p>
        </p:txBody>
      </p:sp>
      <p:sp>
        <p:nvSpPr>
          <p:cNvPr id="16" name="Rectangle 15"/>
          <p:cNvSpPr/>
          <p:nvPr/>
        </p:nvSpPr>
        <p:spPr>
          <a:xfrm>
            <a:off x="2955889"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5889"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38769"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Certify</a:t>
            </a:r>
          </a:p>
        </p:txBody>
      </p:sp>
      <p:sp>
        <p:nvSpPr>
          <p:cNvPr id="19" name="TextBox 18"/>
          <p:cNvSpPr txBox="1"/>
          <p:nvPr/>
        </p:nvSpPr>
        <p:spPr>
          <a:xfrm>
            <a:off x="3138769"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signed leakage certificate is issued with the warrant, or refuses it</a:t>
            </a:r>
          </a:p>
        </p:txBody>
      </p:sp>
      <p:cxnSp>
        <p:nvCxnSpPr>
          <p:cNvPr id="20" name="Connector 19"/>
          <p:cNvCxnSpPr/>
          <p:nvPr/>
        </p:nvCxnSpPr>
        <p:spPr>
          <a:xfrm>
            <a:off x="2727289"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134538"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3453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1741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Download</a:t>
            </a:r>
          </a:p>
        </p:txBody>
      </p:sp>
      <p:sp>
        <p:nvSpPr>
          <p:cNvPr id="24" name="TextBox 23"/>
          <p:cNvSpPr txBox="1"/>
          <p:nvPr/>
        </p:nvSpPr>
        <p:spPr>
          <a:xfrm>
            <a:off x="5317418"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Train and validation only; who, when and the content hash recorded</a:t>
            </a:r>
          </a:p>
        </p:txBody>
      </p:sp>
      <p:cxnSp>
        <p:nvCxnSpPr>
          <p:cNvPr id="25" name="Connector 24"/>
          <p:cNvCxnSpPr/>
          <p:nvPr/>
        </p:nvCxnSpPr>
        <p:spPr>
          <a:xfrm>
            <a:off x="4905938"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13188"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318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606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Upload</a:t>
            </a:r>
          </a:p>
        </p:txBody>
      </p:sp>
      <p:sp>
        <p:nvSpPr>
          <p:cNvPr id="29" name="TextBox 28"/>
          <p:cNvSpPr txBox="1"/>
          <p:nvPr/>
        </p:nvSpPr>
        <p:spPr>
          <a:xfrm>
            <a:off x="7496068"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Dials checked against that hash, against their bounds, and against any joint constraint</a:t>
            </a:r>
          </a:p>
        </p:txBody>
      </p:sp>
      <p:cxnSp>
        <p:nvCxnSpPr>
          <p:cNvPr id="30" name="Connector 29"/>
          <p:cNvCxnSpPr/>
          <p:nvPr/>
        </p:nvCxnSpPr>
        <p:spPr>
          <a:xfrm>
            <a:off x="7084588"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491837" y="1386967"/>
            <a:ext cx="1922617"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491837"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74717"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Seal</a:t>
            </a:r>
          </a:p>
        </p:txBody>
      </p:sp>
      <p:sp>
        <p:nvSpPr>
          <p:cNvPr id="34" name="TextBox 33"/>
          <p:cNvSpPr txBox="1"/>
          <p:nvPr/>
        </p:nvSpPr>
        <p:spPr>
          <a:xfrm>
            <a:off x="9674717" y="1900047"/>
            <a:ext cx="1556857" cy="127914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Approval by policy; every referenced object becomes undeletable</a:t>
            </a:r>
          </a:p>
        </p:txBody>
      </p:sp>
      <p:cxnSp>
        <p:nvCxnSpPr>
          <p:cNvPr id="35" name="Connector 34"/>
          <p:cNvCxnSpPr/>
          <p:nvPr/>
        </p:nvCxnSpPr>
        <p:spPr>
          <a:xfrm>
            <a:off x="9263237" y="234708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3517519"/>
            <a:ext cx="10637215" cy="2160905"/>
          </a:xfrm>
          <a:prstGeom prst="rect">
            <a:avLst/>
          </a:prstGeom>
          <a:noFill/>
        </p:spPr>
        <p:txBody>
          <a:bodyPr wrap="square" lIns="0" rIns="0" tIns="0" bIns="0" anchor="t">
            <a:spAutoFit/>
          </a:bodyPr>
          <a:lstStyle/>
          <a:p>
            <a:pPr algn="l">
              <a:lnSpc>
                <a:spcPct val="120000"/>
              </a:lnSpc>
              <a:spcBef>
                <a:spcPts val="0"/>
              </a:spcBef>
              <a:spcAft>
                <a:spcPts val="0"/>
              </a:spcAft>
            </a:pPr>
            <a:r>
              <a:rPr sz="1450" b="1">
                <a:solidFill>
                  <a:srgbClr val="A51C30"/>
                </a:solidFill>
                <a:latin typeface="Calibri"/>
              </a:rPr>
              <a:t>▪  </a:t>
            </a:r>
            <a:r>
              <a:rPr sz="1450" b="0">
                <a:solidFill>
                  <a:srgbClr val="1C1C1E"/>
                </a:solidFill>
                <a:latin typeface="Calibri"/>
              </a:rPr>
              <a:t>The test partition is escrowed: hashed and its row count fixed when the warrant is drawn, and not included in the download. MAYA scores uploaded dials against it, returns metrics only, and numbers every attempt on the warrant.</a:t>
            </a:r>
          </a:p>
          <a:p>
            <a:pPr>
              <a:lnSpc>
                <a:spcPct val="120000"/>
              </a:lnSpc>
              <a:spcBef>
                <a:spcPts val="600"/>
              </a:spcBef>
              <a:spcAft>
                <a:spcPts val="0"/>
              </a:spcAft>
            </a:pPr>
            <a:r>
              <a:rPr sz="1450" b="1">
                <a:solidFill>
                  <a:srgbClr val="A51C30"/>
                </a:solidFill>
                <a:latin typeface="Calibri"/>
              </a:rPr>
              <a:t>▪  </a:t>
            </a:r>
            <a:r>
              <a:rPr sz="1450" b="0">
                <a:solidFill>
                  <a:srgbClr val="1C1C1E"/>
                </a:solidFill>
                <a:latin typeface="Calibri"/>
              </a:rPr>
              <a:t>Dials fitted on data matching no checksum MAYA issued are flagged and cannot be approved without an explicit written justification. That is how a judgement, as distinct from a fit, gets recorded honestly rather than disguised as one.</a:t>
            </a:r>
          </a:p>
          <a:p>
            <a:pPr>
              <a:lnSpc>
                <a:spcPct val="120000"/>
              </a:lnSpc>
              <a:spcBef>
                <a:spcPts val="600"/>
              </a:spcBef>
              <a:spcAft>
                <a:spcPts val="0"/>
              </a:spcAft>
            </a:pPr>
            <a:r>
              <a:rPr sz="1450" b="1">
                <a:solidFill>
                  <a:srgbClr val="A51C30"/>
                </a:solidFill>
                <a:latin typeface="Calibri"/>
              </a:rPr>
              <a:t>▪  </a:t>
            </a:r>
            <a:r>
              <a:rPr sz="1450" b="0">
                <a:solidFill>
                  <a:srgbClr val="1C1C1E"/>
                </a:solidFill>
                <a:latin typeface="Calibri"/>
              </a:rPr>
              <a:t>A warrant defaults to a 70 / 15 / 15 split, seed 42, an escrowed holdout and a year's expiry — all overridable, and all recorded on the warrant rather than remembered.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LOOK-AHEAD, AND THE HOLDOUT</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The leakage certificate, and what the developer never receives</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maya/services/warrants.py; tests/test_warrants.py::test_leakage_certificate_refuses_late_knowledge; ADR-007, which states that exception and no more.</a:t>
            </a:r>
          </a:p>
        </p:txBody>
      </p:sp>
      <p:sp>
        <p:nvSpPr>
          <p:cNvPr id="12" name="Rectangle 11"/>
          <p:cNvSpPr/>
          <p:nvPr/>
        </p:nvSpPr>
        <p:spPr>
          <a:xfrm>
            <a:off x="777240"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leakage certificate</a:t>
            </a:r>
          </a:p>
        </p:txBody>
      </p:sp>
      <p:sp>
        <p:nvSpPr>
          <p:cNvPr id="15" name="TextBox 14"/>
          <p:cNvSpPr txBox="1"/>
          <p:nvPr/>
        </p:nvSpPr>
        <p:spPr>
          <a:xfrm>
            <a:off x="777240" y="1850834"/>
            <a:ext cx="5135727" cy="3827589"/>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The rule</a:t>
            </a:r>
          </a:p>
          <a:p>
            <a:pPr lvl="1">
              <a:lnSpc>
                <a:spcPct val="120000"/>
              </a:lnSpc>
              <a:spcBef>
                <a:spcPts val="0"/>
              </a:spcBef>
              <a:spcAft>
                <a:spcPts val="0"/>
              </a:spcAft>
            </a:pPr>
            <a:r>
              <a:rPr sz="1250" b="0">
                <a:solidFill>
                  <a:srgbClr val="4A4F57"/>
                </a:solidFill>
                <a:latin typeface="Calibri"/>
              </a:rPr>
              <a:t>Every row's ingest time is at or before its event date plus the declared lag, one day by default. That is Part 6's operator, checked over the frame that was actually assembled.</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Three verdicts</a:t>
            </a:r>
          </a:p>
          <a:p>
            <a:pPr lvl="1">
              <a:lnSpc>
                <a:spcPct val="120000"/>
              </a:lnSpc>
              <a:spcBef>
                <a:spcPts val="0"/>
              </a:spcBef>
              <a:spcAft>
                <a:spcPts val="0"/>
              </a:spcAft>
            </a:pPr>
            <a:r>
              <a:rPr sz="1250" b="0">
                <a:solidFill>
                  <a:srgbClr val="4A4F57"/>
                </a:solidFill>
                <a:latin typeface="Calibri"/>
              </a:rPr>
              <a:t>Certified; certified with exceptions, where every exception carries a written justification; or refused.</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Signed, and specific</a:t>
            </a:r>
          </a:p>
          <a:p>
            <a:pPr lvl="1">
              <a:lnSpc>
                <a:spcPct val="120000"/>
              </a:lnSpc>
              <a:spcBef>
                <a:spcPts val="0"/>
              </a:spcBef>
              <a:spcAft>
                <a:spcPts val="0"/>
              </a:spcAft>
            </a:pPr>
            <a:r>
              <a:rPr sz="1250" b="0">
                <a:solidFill>
                  <a:srgbClr val="4A4F57"/>
                </a:solidFill>
                <a:latin typeface="Calibri"/>
              </a:rPr>
              <a:t>Rows examined, the violations with up to twenty example rows, and each exception's reason. Without a signing backend it says it is unsigned, and why.</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Honest about its own scope</a:t>
            </a:r>
          </a:p>
          <a:p>
            <a:pPr lvl="1">
              <a:lnSpc>
                <a:spcPct val="120000"/>
              </a:lnSpc>
              <a:spcBef>
                <a:spcPts val="0"/>
              </a:spcBef>
              <a:spcAft>
                <a:spcPts val="0"/>
              </a:spcAft>
            </a:pPr>
            <a:r>
              <a:rPr sz="1250" b="0">
                <a:solidFill>
                  <a:srgbClr val="4A4F57"/>
                </a:solidFill>
                <a:latin typeface="Calibri"/>
              </a:rPr>
              <a:t>It examines the rows the frame carries an ingest time for, and states how many it read rather than implying it read them all.</a:t>
            </a:r>
          </a:p>
        </p:txBody>
      </p:sp>
      <p:sp>
        <p:nvSpPr>
          <p:cNvPr id="16" name="Rectangle 15"/>
          <p:cNvSpPr/>
          <p:nvPr/>
        </p:nvSpPr>
        <p:spPr>
          <a:xfrm>
            <a:off x="6278727" y="1338770"/>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38770"/>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11922"/>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escrowed holdout</a:t>
            </a:r>
          </a:p>
        </p:txBody>
      </p:sp>
      <p:sp>
        <p:nvSpPr>
          <p:cNvPr id="19" name="TextBox 18"/>
          <p:cNvSpPr txBox="1"/>
          <p:nvPr/>
        </p:nvSpPr>
        <p:spPr>
          <a:xfrm>
            <a:off x="6278727" y="1850834"/>
            <a:ext cx="5135727" cy="3827589"/>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Fixed when the warrant is drawn</a:t>
            </a:r>
          </a:p>
          <a:p>
            <a:pPr lvl="1">
              <a:lnSpc>
                <a:spcPct val="120000"/>
              </a:lnSpc>
              <a:spcBef>
                <a:spcPts val="0"/>
              </a:spcBef>
              <a:spcAft>
                <a:spcPts val="0"/>
              </a:spcAft>
            </a:pPr>
            <a:r>
              <a:rPr sz="1250" b="0">
                <a:solidFill>
                  <a:srgbClr val="4A4F57"/>
                </a:solidFill>
                <a:latin typeface="Calibri"/>
              </a:rPr>
              <a:t>The test partition is hashed and its row count recorded at that moment, so the set cannot move afterwards.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Scored by MAYA, not by the developer</a:t>
            </a:r>
          </a:p>
          <a:p>
            <a:pPr lvl="1">
              <a:lnSpc>
                <a:spcPct val="120000"/>
              </a:lnSpc>
              <a:spcBef>
                <a:spcPts val="0"/>
              </a:spcBef>
              <a:spcAft>
                <a:spcPts val="0"/>
              </a:spcAft>
            </a:pPr>
            <a:r>
              <a:rPr sz="1250" b="0">
                <a:solidFill>
                  <a:srgbClr val="4A4F57"/>
                </a:solidFill>
                <a:latin typeface="Calibri"/>
              </a:rPr>
              <a:t>MAYA re-derives the split, refuses if the escrowed set has moved, evaluates the mathematics in process, and returns metrics only.</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Every attempt numbered</a:t>
            </a:r>
          </a:p>
          <a:p>
            <a:pPr lvl="1">
              <a:lnSpc>
                <a:spcPct val="120000"/>
              </a:lnSpc>
              <a:spcBef>
                <a:spcPts val="0"/>
              </a:spcBef>
              <a:spcAft>
                <a:spcPts val="0"/>
              </a:spcAft>
            </a:pPr>
            <a:r>
              <a:rPr sz="1250" b="0">
                <a:solidFill>
                  <a:srgbClr val="4A4F57"/>
                </a:solidFill>
                <a:latin typeface="Calibri"/>
              </a:rPr>
              <a:t>Because “scored forty times, best reported” is a fact a reviewer should be able to see, and it is not visible anywhere else.</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The one runtime exception MAYA concedes</a:t>
            </a:r>
          </a:p>
          <a:p>
            <a:pPr lvl="1">
              <a:lnSpc>
                <a:spcPct val="120000"/>
              </a:lnSpc>
              <a:spcBef>
                <a:spcPts val="0"/>
              </a:spcBef>
              <a:spcAft>
                <a:spcPts val="0"/>
              </a:spcAft>
            </a:pPr>
            <a:r>
              <a:rPr sz="1250" b="0">
                <a:solidFill>
                  <a:srgbClr val="4A4F57"/>
                </a:solidFill>
                <a:latin typeface="Calibri"/>
              </a:rPr>
              <a:t>It scores the mathematics and never the uploaded artifact — and for a declared black box there is no mathematics to score, so it refuses by name.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EXECUTION WARRANTS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A live licence: it expires, it is revoked, and it suspends itself</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25</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maya/services/execution.py; tests/test_security_regressions.py::test_each_covenant and ::test_execution_limits. A revoked, expired or suspended warrant fails every consuming call closed, naming the covenant that broke or the person to contact.</a:t>
            </a:r>
          </a:p>
        </p:txBody>
      </p:sp>
      <p:graphicFrame>
        <p:nvGraphicFramePr>
          <p:cNvPr id="12" name="Table 11"/>
          <p:cNvGraphicFramePr>
            <a:graphicFrameLocks noGrp="1"/>
          </p:cNvGraphicFramePr>
          <p:nvPr/>
        </p:nvGraphicFramePr>
        <p:xfrm>
          <a:off x="777240" y="1322705"/>
          <a:ext cx="10637214" cy="4235513"/>
        </p:xfrm>
        <a:graphic>
          <a:graphicData uri="http://schemas.openxmlformats.org/drawingml/2006/table">
            <a:tbl>
              <a:tblPr firstRow="1">
                <a:tableStyleId>{5C22544A-7EE6-4342-B048-85BDC9FD1C3A}</a:tableStyleId>
              </a:tblPr>
              <a:tblGrid>
                <a:gridCol w="1834002"/>
                <a:gridCol w="8803212"/>
              </a:tblGrid>
              <a:tr h="318579">
                <a:tc>
                  <a:txBody>
                    <a:bodyPr wrap="square"/>
                    <a:lstStyle/>
                    <a:p>
                      <a:r>
                        <a:rPr sz="1300" b="1">
                          <a:solidFill>
                            <a:srgbClr val="FFFFFF"/>
                          </a:solidFill>
                          <a:latin typeface="Calibri"/>
                        </a:rPr>
                        <a:t>Control</a:t>
                      </a:r>
                    </a:p>
                  </a:txBody>
                  <a:tcPr marL="82296" marR="64008" marT="32004" marB="32004" anchor="ctr">
                    <a:solidFill>
                      <a:srgbClr val="A51C30"/>
                    </a:solidFill>
                  </a:tcPr>
                </a:tc>
                <a:tc>
                  <a:txBody>
                    <a:bodyPr wrap="square"/>
                    <a:lstStyle/>
                    <a:p>
                      <a:r>
                        <a:rPr sz="1300" b="1">
                          <a:solidFill>
                            <a:srgbClr val="FFFFFF"/>
                          </a:solidFill>
                          <a:latin typeface="Calibri"/>
                        </a:rPr>
                        <a:t>Behaviour</a:t>
                      </a:r>
                    </a:p>
                  </a:txBody>
                  <a:tcPr marL="82296" marR="64008" marT="32004" marB="32004" anchor="ctr">
                    <a:solidFill>
                      <a:srgbClr val="A51C30"/>
                    </a:solidFill>
                  </a:tcPr>
                </a:tc>
              </a:tr>
              <a:tr h="559562">
                <a:tc>
                  <a:txBody>
                    <a:bodyPr wrap="square"/>
                    <a:lstStyle/>
                    <a:p>
                      <a:r>
                        <a:rPr sz="1400" b="1">
                          <a:solidFill>
                            <a:srgbClr val="761422"/>
                          </a:solidFill>
                          <a:latin typeface="Calibri"/>
                        </a:rPr>
                        <a:t>Drawn from</a:t>
                      </a:r>
                    </a:p>
                  </a:txBody>
                  <a:tcPr marL="82296" marR="64008" marT="32004" marB="32004" anchor="ctr">
                    <a:solidFill>
                      <a:srgbClr val="FFFFFF"/>
                    </a:solidFill>
                  </a:tcPr>
                </a:tc>
                <a:tc>
                  <a:txBody>
                    <a:bodyPr wrap="square"/>
                    <a:lstStyle/>
                    <a:p>
                      <a:r>
                        <a:rPr sz="1400" b="0">
                          <a:solidFill>
                            <a:srgbClr val="1C1C1E"/>
                          </a:solidFill>
                          <a:latin typeface="Calibri"/>
                        </a:rPr>
                        <a:t>A training warrant and an approved parameter set, or straight from a model that takes no dials at all</a:t>
                      </a:r>
                    </a:p>
                  </a:txBody>
                  <a:tcPr marL="82296" marR="64008" marT="32004" marB="32004" anchor="ctr">
                    <a:solidFill>
                      <a:srgbClr val="FFFFFF"/>
                    </a:solidFill>
                  </a:tcPr>
                </a:tc>
              </a:tr>
              <a:tr h="334645">
                <a:tc>
                  <a:txBody>
                    <a:bodyPr wrap="square"/>
                    <a:lstStyle/>
                    <a:p>
                      <a:r>
                        <a:rPr sz="1400" b="1">
                          <a:solidFill>
                            <a:srgbClr val="761422"/>
                          </a:solidFill>
                          <a:latin typeface="Calibri"/>
                        </a:rPr>
                        <a:t>Environments</a:t>
                      </a:r>
                    </a:p>
                  </a:txBody>
                  <a:tcPr marL="82296" marR="64008" marT="32004" marB="32004" anchor="ctr">
                    <a:solidFill>
                      <a:srgbClr val="F6F3EF"/>
                    </a:solidFill>
                  </a:tcPr>
                </a:tc>
                <a:tc>
                  <a:txBody>
                    <a:bodyPr wrap="square"/>
                    <a:lstStyle/>
                    <a:p>
                      <a:r>
                        <a:rPr sz="1400" b="0">
                          <a:solidFill>
                            <a:srgbClr val="1C1C1E"/>
                          </a:solidFill>
                          <a:latin typeface="Calibri"/>
                        </a:rPr>
                        <a:t>dev, uat, prod — each permitted explicitly, and an approval may be required only for prod</a:t>
                      </a:r>
                    </a:p>
                  </a:txBody>
                  <a:tcPr marL="82296" marR="64008" marT="32004" marB="32004" anchor="ctr">
                    <a:solidFill>
                      <a:srgbClr val="F6F3EF"/>
                    </a:solidFill>
                  </a:tcPr>
                </a:tc>
              </a:tr>
              <a:tr h="784479">
                <a:tc>
                  <a:txBody>
                    <a:bodyPr wrap="square"/>
                    <a:lstStyle/>
                    <a:p>
                      <a:r>
                        <a:rPr sz="1400" b="1">
                          <a:solidFill>
                            <a:srgbClr val="761422"/>
                          </a:solidFill>
                          <a:latin typeface="Calibri"/>
                        </a:rPr>
                        <a:t>Covenants</a:t>
                      </a:r>
                    </a:p>
                  </a:txBody>
                  <a:tcPr marL="82296" marR="64008" marT="32004" marB="32004" anchor="ctr">
                    <a:solidFill>
                      <a:srgbClr val="FFFFFF"/>
                    </a:solidFill>
                  </a:tcPr>
                </a:tc>
                <a:tc>
                  <a:txBody>
                    <a:bodyPr wrap="square"/>
                    <a:lstStyle/>
                    <a:p>
                      <a:r>
                        <a:rPr sz="1400" b="0">
                          <a:solidFill>
                            <a:srgbClr val="1C1C1E"/>
                          </a:solidFill>
                          <a:latin typeface="Calibri"/>
                        </a:rPr>
                        <a:t>Input null rate, input range, input population stability, output range, maximum rows per day, staleness in days. A breach suspends the warrant at once, writes a custody event and notifies the owner</a:t>
                      </a:r>
                    </a:p>
                  </a:txBody>
                  <a:tcPr marL="82296" marR="64008" marT="32004" marB="32004" anchor="ctr">
                    <a:solidFill>
                      <a:srgbClr val="FFFFFF"/>
                    </a:solidFill>
                  </a:tcPr>
                </a:tc>
              </a:tr>
              <a:tr h="559562">
                <a:tc>
                  <a:txBody>
                    <a:bodyPr wrap="square"/>
                    <a:lstStyle/>
                    <a:p>
                      <a:r>
                        <a:rPr sz="1400" b="1">
                          <a:solidFill>
                            <a:srgbClr val="761422"/>
                          </a:solidFill>
                          <a:latin typeface="Calibri"/>
                        </a:rPr>
                        <a:t>Population drift</a:t>
                      </a:r>
                    </a:p>
                  </a:txBody>
                  <a:tcPr marL="82296" marR="64008" marT="32004" marB="32004" anchor="ctr">
                    <a:solidFill>
                      <a:srgbClr val="F6F3EF"/>
                    </a:solidFill>
                  </a:tcPr>
                </a:tc>
                <a:tc>
                  <a:txBody>
                    <a:bodyPr wrap="square"/>
                    <a:lstStyle/>
                    <a:p>
                      <a:r>
                        <a:rPr sz="1400" b="0">
                          <a:solidFill>
                            <a:srgbClr val="1C1C1E"/>
                          </a:solidFill>
                          <a:latin typeface="Calibri"/>
                        </a:rPr>
                        <a:t>A population stability index against a baseline fixed when the warrant was drawn, so the baseline cannot move later; the default ceiling is 0.25 over ten bins</a:t>
                      </a:r>
                    </a:p>
                  </a:txBody>
                  <a:tcPr marL="82296" marR="64008" marT="32004" marB="32004" anchor="ctr">
                    <a:solidFill>
                      <a:srgbClr val="F6F3EF"/>
                    </a:solidFill>
                  </a:tcPr>
                </a:tc>
              </a:tr>
              <a:tr h="559562">
                <a:tc>
                  <a:txBody>
                    <a:bodyPr wrap="square"/>
                    <a:lstStyle/>
                    <a:p>
                      <a:r>
                        <a:rPr sz="1400" b="1">
                          <a:solidFill>
                            <a:srgbClr val="761422"/>
                          </a:solidFill>
                          <a:latin typeface="Calibri"/>
                        </a:rPr>
                        <a:t>Limits</a:t>
                      </a:r>
                    </a:p>
                  </a:txBody>
                  <a:tcPr marL="82296" marR="64008" marT="32004" marB="32004" anchor="ctr">
                    <a:solidFill>
                      <a:srgbClr val="FFFFFF"/>
                    </a:solidFill>
                  </a:tcPr>
                </a:tc>
                <a:tc>
                  <a:txBody>
                    <a:bodyPr wrap="square"/>
                    <a:lstStyle/>
                    <a:p>
                      <a:r>
                        <a:rPr sz="1400" b="0">
                          <a:solidFill>
                            <a:srgbClr val="1C1C1E"/>
                          </a:solidFill>
                          <a:latin typeface="Calibri"/>
                        </a:rPr>
                        <a:t>Calls per day, rows per call, rows per day — these throttle and record overage; they do not suspend</a:t>
                      </a:r>
                    </a:p>
                  </a:txBody>
                  <a:tcPr marL="82296" marR="64008" marT="32004" marB="32004" anchor="ctr">
                    <a:solidFill>
                      <a:srgbClr val="FFFFFF"/>
                    </a:solidFill>
                  </a:tcPr>
                </a:tc>
              </a:tr>
              <a:tr h="784479">
                <a:tc>
                  <a:txBody>
                    <a:bodyPr wrap="square"/>
                    <a:lstStyle/>
                    <a:p>
                      <a:r>
                        <a:rPr sz="1400" b="1">
                          <a:solidFill>
                            <a:srgbClr val="761422"/>
                          </a:solidFill>
                          <a:latin typeface="Calibri"/>
                        </a:rPr>
                        <a:t>Reinstatement</a:t>
                      </a:r>
                    </a:p>
                  </a:txBody>
                  <a:tcPr marL="82296" marR="64008" marT="32004" marB="32004" anchor="ctr">
                    <a:solidFill>
                      <a:srgbClr val="F6F3EF"/>
                    </a:solidFill>
                  </a:tcPr>
                </a:tc>
                <a:tc>
                  <a:txBody>
                    <a:bodyPr wrap="square"/>
                    <a:lstStyle/>
                    <a:p>
                      <a:r>
                        <a:rPr sz="1400" b="0">
                          <a:solidFill>
                            <a:srgbClr val="1C1C1E"/>
                          </a:solidFill>
                          <a:latin typeface="Calibri"/>
                        </a:rPr>
                        <a:t>By the model owner or an administrator, with a written reason. A covenant naming no output on a multi-output model is refused at creation: a covenant with nothing to compare against is worse than none</a:t>
                      </a:r>
                    </a:p>
                  </a:txBody>
                  <a:tcPr marL="82296" marR="64008" marT="32004" marB="32004" anchor="ctr">
                    <a:solidFill>
                      <a:srgbClr val="F6F3EF"/>
                    </a:solidFill>
                  </a:tcPr>
                </a:tc>
              </a:tr>
              <a:tr h="334645">
                <a:tc>
                  <a:txBody>
                    <a:bodyPr wrap="square"/>
                    <a:lstStyle/>
                    <a:p>
                      <a:r>
                        <a:rPr sz="1400" b="1">
                          <a:solidFill>
                            <a:srgbClr val="761422"/>
                          </a:solidFill>
                          <a:latin typeface="Calibri"/>
                        </a:rPr>
                        <a:t>Offline use</a:t>
                      </a:r>
                    </a:p>
                  </a:txBody>
                  <a:tcPr marL="82296" marR="64008" marT="32004" marB="32004" anchor="ctr">
                    <a:solidFill>
                      <a:srgbClr val="FFFFFF"/>
                    </a:solidFill>
                  </a:tcPr>
                </a:tc>
                <a:tc>
                  <a:txBody>
                    <a:bodyPr wrap="square"/>
                    <a:lstStyle/>
                    <a:p>
                      <a:r>
                        <a:rPr sz="1400" b="0">
                          <a:solidFill>
                            <a:srgbClr val="1C1C1E"/>
                          </a:solidFill>
                          <a:latin typeface="Calibri"/>
                        </a:rPr>
                        <a:t>Permitted, and both the copy and the warrant are labelled unattested for good</a:t>
                      </a:r>
                    </a:p>
                  </a:txBody>
                  <a:tcPr marL="82296" marR="64008" marT="32004" marB="32004"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bundle that proves itself on a machine with no MAYA</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3 · The lifecycle, end to end</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26</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maya/services/bundle.py, maya/sdk/offline.py; tests/test_sdk_modes.py::test_a_tampered_bundle_is_refused_before_anything_is_read and tests/test_sc2_aged_warrant.py, which reproduces a warrant aged two years in the fixture.</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is in the archive</a:t>
            </a:r>
          </a:p>
        </p:txBody>
      </p:sp>
      <p:sp>
        <p:nvSpPr>
          <p:cNvPr id="15" name="TextBox 14"/>
          <p:cNvSpPr txBox="1"/>
          <p:nvPr/>
        </p:nvSpPr>
        <p:spPr>
          <a:xfrm>
            <a:off x="777240"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The subject and its data</a:t>
            </a:r>
          </a:p>
          <a:p>
            <a:pPr lvl="1">
              <a:lnSpc>
                <a:spcPct val="120000"/>
              </a:lnSpc>
              <a:spcBef>
                <a:spcPts val="0"/>
              </a:spcBef>
              <a:spcAft>
                <a:spcPts val="0"/>
              </a:spcAft>
            </a:pPr>
            <a:r>
              <a:rPr sz="1300" b="0">
                <a:solidFill>
                  <a:srgbClr val="4A4F57"/>
                </a:solidFill>
                <a:latin typeface="Calibri"/>
              </a:rPr>
              <a:t>Warrant, model version and mathematics, the specification source, the code artifact and its report, the dials, the leakage certificate, the training frame, the feature-set pin's manifest and its member pins, the Python version and the resolved backends.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definition of the hash</a:t>
            </a:r>
          </a:p>
          <a:p>
            <a:pPr lvl="1">
              <a:lnSpc>
                <a:spcPct val="120000"/>
              </a:lnSpc>
              <a:spcBef>
                <a:spcPts val="0"/>
              </a:spcBef>
              <a:spcAft>
                <a:spcPts val="0"/>
              </a:spcAft>
            </a:pPr>
            <a:r>
              <a:rPr sz="1300" b="0">
                <a:solidFill>
                  <a:srgbClr val="4A4F57"/>
                </a:solidFill>
                <a:latin typeface="Calibri"/>
              </a:rPr>
              <a:t>MAYA's own canonical encoder and fragment chunker ship inside the bundle, because they are the definition of the hash rather than a description of it.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A signed manifest</a:t>
            </a:r>
          </a:p>
          <a:p>
            <a:pPr lvl="1">
              <a:lnSpc>
                <a:spcPct val="120000"/>
              </a:lnSpc>
              <a:spcBef>
                <a:spcPts val="0"/>
              </a:spcBef>
              <a:spcAft>
                <a:spcPts val="0"/>
              </a:spcAft>
            </a:pPr>
            <a:r>
              <a:rPr sz="1300" b="0">
                <a:solidFill>
                  <a:srgbClr val="4A4F57"/>
                </a:solidFill>
                <a:latin typeface="Calibri"/>
              </a:rPr>
              <a:t>Every file's digest, the data's content hash, the expected output hash, and whether re-execution is possible — with the reason when it is not.</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the verifier does</a:t>
            </a:r>
          </a:p>
        </p:txBody>
      </p:sp>
      <p:sp>
        <p:nvSpPr>
          <p:cNvPr id="19" name="TextBox 18"/>
          <p:cNvSpPr txBox="1"/>
          <p:nvPr/>
        </p:nvSpPr>
        <p:spPr>
          <a:xfrm>
            <a:off x="6278727" y="1899031"/>
            <a:ext cx="5135727" cy="357822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Needs Python, pyarrow and numpy</a:t>
            </a:r>
          </a:p>
          <a:p>
            <a:pPr lvl="1">
              <a:lnSpc>
                <a:spcPct val="120000"/>
              </a:lnSpc>
              <a:spcBef>
                <a:spcPts val="0"/>
              </a:spcBef>
              <a:spcAft>
                <a:spcPts val="0"/>
              </a:spcAft>
            </a:pPr>
            <a:r>
              <a:rPr sz="1350" b="0">
                <a:solidFill>
                  <a:srgbClr val="4A4F57"/>
                </a:solidFill>
                <a:latin typeface="Calibri"/>
              </a:rPr>
              <a:t>Nothing from MAYA, and no network.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Bounds the archive first</a:t>
            </a:r>
          </a:p>
          <a:p>
            <a:pPr lvl="1">
              <a:lnSpc>
                <a:spcPct val="120000"/>
              </a:lnSpc>
              <a:spcBef>
                <a:spcPts val="0"/>
              </a:spcBef>
              <a:spcAft>
                <a:spcPts val="0"/>
              </a:spcAft>
            </a:pPr>
            <a:r>
              <a:rPr sz="1350" b="0">
                <a:solidFill>
                  <a:srgbClr val="4A4F57"/>
                </a:solidFill>
                <a:latin typeface="Calibri"/>
              </a:rPr>
              <a:t>Entry count, expanded size, compression ratio and path traversal, before a byte is read.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Recomputes, then re-executes</a:t>
            </a:r>
          </a:p>
          <a:p>
            <a:pPr lvl="1">
              <a:lnSpc>
                <a:spcPct val="120000"/>
              </a:lnSpc>
              <a:spcBef>
                <a:spcPts val="0"/>
              </a:spcBef>
              <a:spcAft>
                <a:spcPts val="0"/>
              </a:spcAft>
            </a:pPr>
            <a:r>
              <a:rPr sz="1350" b="0">
                <a:solidFill>
                  <a:srgbClr val="4A4F57"/>
                </a:solidFill>
                <a:latin typeface="Calibri"/>
              </a:rPr>
              <a:t>Every file digest, the signature, the data's content hash using the shipped encoder, and the model's outputs against the expected hash.</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Refuses on one changed byte</a:t>
            </a:r>
          </a:p>
          <a:p>
            <a:pPr lvl="1">
              <a:lnSpc>
                <a:spcPct val="120000"/>
              </a:lnSpc>
              <a:spcBef>
                <a:spcPts val="0"/>
              </a:spcBef>
              <a:spcAft>
                <a:spcPts val="0"/>
              </a:spcAft>
            </a:pPr>
            <a:r>
              <a:rPr sz="1350" b="0">
                <a:solidFill>
                  <a:srgbClr val="4A4F57"/>
                </a:solidFill>
                <a:latin typeface="Calibri"/>
              </a:rPr>
              <a:t>A tampered bundle is refused before anything is served, not partly served.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4</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Governance a model risk function works in</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Version 1.0.0 adds the layer a model risk function spends its days in. Nothing in it is a new form: every screen reads the warrants, pins, scores and reports the lifecycle already produced.</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Findings, tracked to independent closure</a:t>
            </a:r>
          </a:p>
          <a:p>
            <a:pPr>
              <a:lnSpc>
                <a:spcPct val="115000"/>
              </a:lnSpc>
              <a:spcBef>
                <a:spcPts val="0"/>
              </a:spcBef>
              <a:spcAft>
                <a:spcPts val="600"/>
              </a:spcAft>
            </a:pPr>
            <a:r>
              <a:rPr sz="1200" b="0" i="0">
                <a:solidFill>
                  <a:srgbClr val="F6E6E9"/>
                </a:solidFill>
                <a:latin typeface="Calibri"/>
              </a:rPr>
              <a:t>Materiality, derived</a:t>
            </a:r>
          </a:p>
          <a:p>
            <a:pPr>
              <a:lnSpc>
                <a:spcPct val="115000"/>
              </a:lnSpc>
              <a:spcBef>
                <a:spcPts val="0"/>
              </a:spcBef>
              <a:spcAft>
                <a:spcPts val="600"/>
              </a:spcAft>
            </a:pPr>
            <a:r>
              <a:rPr sz="1200" b="0" i="0">
                <a:solidFill>
                  <a:srgbClr val="F6E6E9"/>
                </a:solidFill>
                <a:latin typeface="Calibri"/>
              </a:rPr>
              <a:t>Periodic review, with teeth</a:t>
            </a:r>
          </a:p>
          <a:p>
            <a:pPr>
              <a:lnSpc>
                <a:spcPct val="115000"/>
              </a:lnSpc>
              <a:spcBef>
                <a:spcPts val="0"/>
              </a:spcBef>
              <a:spcAft>
                <a:spcPts val="600"/>
              </a:spcAft>
            </a:pPr>
            <a:r>
              <a:rPr sz="1200" b="0" i="0">
                <a:solidFill>
                  <a:srgbClr val="F6E6E9"/>
                </a:solidFill>
                <a:latin typeface="Calibri"/>
              </a:rPr>
              <a:t>Monitoring dashboards</a:t>
            </a:r>
          </a:p>
          <a:p>
            <a:pPr>
              <a:lnSpc>
                <a:spcPct val="115000"/>
              </a:lnSpc>
              <a:spcBef>
                <a:spcPts val="0"/>
              </a:spcBef>
              <a:spcAft>
                <a:spcPts val="600"/>
              </a:spcAft>
            </a:pPr>
            <a:r>
              <a:rPr sz="1200" b="0" i="0">
                <a:solidFill>
                  <a:srgbClr val="F6E6E9"/>
                </a:solidFill>
                <a:latin typeface="Calibri"/>
              </a:rPr>
              <a:t>Champion and challenger</a:t>
            </a:r>
          </a:p>
          <a:p>
            <a:pPr>
              <a:lnSpc>
                <a:spcPct val="115000"/>
              </a:lnSpc>
              <a:spcBef>
                <a:spcPts val="0"/>
              </a:spcBef>
              <a:spcAft>
                <a:spcPts val="600"/>
              </a:spcAft>
            </a:pPr>
            <a:r>
              <a:rPr sz="1200" b="0" i="0">
                <a:solidFill>
                  <a:srgbClr val="F6E6E9"/>
                </a:solidFill>
                <a:latin typeface="Calibri"/>
              </a:rPr>
              <a:t>Fairness and explainability</a:t>
            </a:r>
          </a:p>
          <a:p>
            <a:pPr>
              <a:lnSpc>
                <a:spcPct val="115000"/>
              </a:lnSpc>
              <a:spcBef>
                <a:spcPts val="0"/>
              </a:spcBef>
              <a:spcAft>
                <a:spcPts val="600"/>
              </a:spcAft>
            </a:pPr>
            <a:r>
              <a:rPr sz="1200" b="0" i="0">
                <a:solidFill>
                  <a:srgbClr val="F6E6E9"/>
                </a:solidFill>
                <a:latin typeface="Calibri"/>
              </a:rPr>
              <a:t>The supervisory inventory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FINDINGS</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A defect has an owner, a due date — and an independent closer</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28</a:t>
            </a:r>
          </a:p>
        </p:txBody>
      </p:sp>
      <p:sp>
        <p:nvSpPr>
          <p:cNvPr id="10" name="TextBox 9"/>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validator finds something wrong; the owner fixes it; somebody who did not make the fix confirms it, or the risk is accepted in writing. Every move is kept on the finding and in the audit chain.</a:t>
            </a:r>
          </a:p>
        </p:txBody>
      </p:sp>
      <p:sp>
        <p:nvSpPr>
          <p:cNvPr id="11" name="Rectangle 10"/>
          <p:cNvSpPr/>
          <p:nvPr/>
        </p:nvSpPr>
        <p:spPr>
          <a:xfrm>
            <a:off x="777240" y="1992312"/>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92312"/>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065464"/>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lifecycle</a:t>
            </a:r>
          </a:p>
        </p:txBody>
      </p:sp>
      <p:sp>
        <p:nvSpPr>
          <p:cNvPr id="14" name="TextBox 13"/>
          <p:cNvSpPr txBox="1"/>
          <p:nvPr/>
        </p:nvSpPr>
        <p:spPr>
          <a:xfrm>
            <a:off x="777240" y="2504376"/>
            <a:ext cx="5135727" cy="374097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Raised</a:t>
            </a:r>
          </a:p>
          <a:p>
            <a:pPr lvl="1">
              <a:lnSpc>
                <a:spcPct val="120000"/>
              </a:lnSpc>
              <a:spcBef>
                <a:spcPts val="0"/>
              </a:spcBef>
              <a:spcAft>
                <a:spcPts val="0"/>
              </a:spcAft>
            </a:pPr>
            <a:r>
              <a:rPr sz="1350" b="0">
                <a:solidFill>
                  <a:srgbClr val="4A4F57"/>
                </a:solidFill>
                <a:latin typeface="Calibri"/>
              </a:rPr>
              <a:t>With a severity; the owner defaults to the model's, the due date to the severity's window: 30, 90, 180 or 365 days.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Remediated</a:t>
            </a:r>
          </a:p>
          <a:p>
            <a:pPr lvl="1">
              <a:lnSpc>
                <a:spcPct val="120000"/>
              </a:lnSpc>
              <a:spcBef>
                <a:spcPts val="0"/>
              </a:spcBef>
              <a:spcAft>
                <a:spcPts val="0"/>
              </a:spcAft>
            </a:pPr>
            <a:r>
              <a:rPr sz="1350" b="0">
                <a:solidFill>
                  <a:srgbClr val="4A4F57"/>
                </a:solidFill>
                <a:latin typeface="Calibri"/>
              </a:rPr>
              <a:t>By the owner, often as a new model version.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Closed</a:t>
            </a:r>
          </a:p>
          <a:p>
            <a:pPr lvl="1">
              <a:lnSpc>
                <a:spcPct val="120000"/>
              </a:lnSpc>
              <a:spcBef>
                <a:spcPts val="0"/>
              </a:spcBef>
              <a:spcAft>
                <a:spcPts val="0"/>
              </a:spcAft>
            </a:pPr>
            <a:r>
              <a:rPr sz="1350" b="0">
                <a:solidFill>
                  <a:srgbClr val="4A4F57"/>
                </a:solidFill>
                <a:latin typeface="Calibri"/>
              </a:rPr>
              <a:t>Only by someone who did not remediate it — or sent back as not fixed.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Accepted</a:t>
            </a:r>
          </a:p>
          <a:p>
            <a:pPr lvl="1">
              <a:lnSpc>
                <a:spcPct val="120000"/>
              </a:lnSpc>
              <a:spcBef>
                <a:spcPts val="0"/>
              </a:spcBef>
              <a:spcAft>
                <a:spcPts val="0"/>
              </a:spcAft>
            </a:pPr>
            <a:r>
              <a:rPr sz="1350" b="0">
                <a:solidFill>
                  <a:srgbClr val="4A4F57"/>
                </a:solidFill>
                <a:latin typeface="Calibri"/>
              </a:rPr>
              <a:t>The risk kept rather than fixed: a written reason, never the model owner's call.</a:t>
            </a:r>
          </a:p>
        </p:txBody>
      </p:sp>
      <p:sp>
        <p:nvSpPr>
          <p:cNvPr id="15" name="Rectangle 14"/>
          <p:cNvSpPr/>
          <p:nvPr/>
        </p:nvSpPr>
        <p:spPr>
          <a:xfrm>
            <a:off x="6278727" y="1992312"/>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1992312"/>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065464"/>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In a case study</a:t>
            </a:r>
          </a:p>
        </p:txBody>
      </p:sp>
      <p:sp>
        <p:nvSpPr>
          <p:cNvPr id="18" name="TextBox 17"/>
          <p:cNvSpPr txBox="1"/>
          <p:nvPr/>
        </p:nvSpPr>
        <p:spPr>
          <a:xfrm>
            <a:off x="6278727" y="2504376"/>
            <a:ext cx="5135727" cy="374097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Study 09</a:t>
            </a:r>
          </a:p>
          <a:p>
            <a:pPr lvl="1">
              <a:lnSpc>
                <a:spcPct val="120000"/>
              </a:lnSpc>
              <a:spcBef>
                <a:spcPts val="0"/>
              </a:spcBef>
              <a:spcAft>
                <a:spcPts val="0"/>
              </a:spcAft>
            </a:pPr>
            <a:r>
              <a:rPr sz="1350" b="0">
                <a:solidFill>
                  <a:srgbClr val="4A4F57"/>
                </a:solidFill>
                <a:latin typeface="Calibri"/>
              </a:rPr>
              <a:t>Version 1 of the Basel formula misses the maturity floor and cap: a high finding, fixed as version 2, the owner refused when she tries to close her own fix.</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Study 45</a:t>
            </a:r>
          </a:p>
          <a:p>
            <a:pPr lvl="1">
              <a:lnSpc>
                <a:spcPct val="120000"/>
              </a:lnSpc>
              <a:spcBef>
                <a:spcPts val="0"/>
              </a:spcBef>
              <a:spcAft>
                <a:spcPts val="0"/>
              </a:spcAft>
            </a:pPr>
            <a:r>
              <a:rPr sz="1350" b="0">
                <a:solidFill>
                  <a:srgbClr val="4A4F57"/>
                </a:solidFill>
                <a:latin typeface="Calibri"/>
              </a:rPr>
              <a:t>A unisex mortality table's bias by sex: a finding accepted by a manager, citing the ruling that forbids pricing by sex.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MATERIALITY</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C1C1E"/>
                </a:solidFill>
                <a:latin typeface="Georgia"/>
              </a:rPr>
              <a:t>A tier derived from evidence, then from the firm's own questionnaire</a:t>
            </a:r>
          </a:p>
        </p:txBody>
      </p:sp>
      <p:sp>
        <p:nvSpPr>
          <p:cNvPr id="6" name="Rectangle 5"/>
          <p:cNvSpPr/>
          <p:nvPr/>
        </p:nvSpPr>
        <p:spPr>
          <a:xfrm>
            <a:off x="777240" y="1178623"/>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29</a:t>
            </a:r>
          </a:p>
        </p:txBody>
      </p:sp>
      <p:sp>
        <p:nvSpPr>
          <p:cNvPr id="10" name="TextBox 9"/>
          <p:cNvSpPr txBox="1"/>
          <p:nvPr/>
        </p:nvSpPr>
        <p:spPr>
          <a:xfrm>
            <a:off x="777240" y="1306639"/>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Tier 1 is the most material. The tier is the highest driver's score — one tier higher for a black box — and every driver is shown beside it. An override needs a reason, and one that lowers materiality is flagged.</a:t>
            </a:r>
          </a:p>
        </p:txBody>
      </p:sp>
      <p:graphicFrame>
        <p:nvGraphicFramePr>
          <p:cNvPr id="11" name="Table 10"/>
          <p:cNvGraphicFramePr>
            <a:graphicFrameLocks noGrp="1"/>
          </p:cNvGraphicFramePr>
          <p:nvPr/>
        </p:nvGraphicFramePr>
        <p:xfrm>
          <a:off x="777240" y="1960181"/>
          <a:ext cx="10637214" cy="3341306"/>
        </p:xfrm>
        <a:graphic>
          <a:graphicData uri="http://schemas.openxmlformats.org/drawingml/2006/table">
            <a:tbl>
              <a:tblPr firstRow="1">
                <a:tableStyleId>{5C22544A-7EE6-4342-B048-85BDC9FD1C3A}</a:tableStyleId>
              </a:tblPr>
              <a:tblGrid>
                <a:gridCol w="3545738"/>
                <a:gridCol w="3545738"/>
                <a:gridCol w="3545738"/>
              </a:tblGrid>
              <a:tr h="318579">
                <a:tc>
                  <a:txBody>
                    <a:bodyPr wrap="square"/>
                    <a:lstStyle/>
                    <a:p>
                      <a:r>
                        <a:rPr sz="1300" b="1">
                          <a:solidFill>
                            <a:srgbClr val="FFFFFF"/>
                          </a:solidFill>
                          <a:latin typeface="Calibri"/>
                        </a:rPr>
                        <a:t>Driver</a:t>
                      </a:r>
                    </a:p>
                  </a:txBody>
                  <a:tcPr marL="82296" marR="64008" marT="32004" marB="32004" anchor="ctr">
                    <a:solidFill>
                      <a:srgbClr val="A51C30"/>
                    </a:solidFill>
                  </a:tcPr>
                </a:tc>
                <a:tc>
                  <a:txBody>
                    <a:bodyPr wrap="square"/>
                    <a:lstStyle/>
                    <a:p>
                      <a:r>
                        <a:rPr sz="1300" b="1">
                          <a:solidFill>
                            <a:srgbClr val="FFFFFF"/>
                          </a:solidFill>
                          <a:latin typeface="Calibri"/>
                        </a:rPr>
                        <a:t>Where it comes from</a:t>
                      </a:r>
                    </a:p>
                  </a:txBody>
                  <a:tcPr marL="82296" marR="64008" marT="32004" marB="32004" anchor="ctr">
                    <a:solidFill>
                      <a:srgbClr val="A51C30"/>
                    </a:solidFill>
                  </a:tcPr>
                </a:tc>
                <a:tc>
                  <a:txBody>
                    <a:bodyPr wrap="square"/>
                    <a:lstStyle/>
                    <a:p>
                      <a:r>
                        <a:rPr sz="1300" b="1">
                          <a:solidFill>
                            <a:srgbClr val="FFFFFF"/>
                          </a:solidFill>
                          <a:latin typeface="Calibri"/>
                        </a:rPr>
                        <a:t>Scores</a:t>
                      </a:r>
                    </a:p>
                  </a:txBody>
                  <a:tcPr marL="82296" marR="64008" marT="32004" marB="32004" anchor="ctr">
                    <a:solidFill>
                      <a:srgbClr val="A51C30"/>
                    </a:solidFill>
                  </a:tcPr>
                </a:tc>
              </a:tr>
              <a:tr h="784479">
                <a:tc>
                  <a:txBody>
                    <a:bodyPr wrap="square"/>
                    <a:lstStyle/>
                    <a:p>
                      <a:r>
                        <a:rPr sz="1400" b="1">
                          <a:solidFill>
                            <a:srgbClr val="761422"/>
                          </a:solidFill>
                          <a:latin typeface="Calibri"/>
                        </a:rPr>
                        <a:t>Use</a:t>
                      </a:r>
                    </a:p>
                  </a:txBody>
                  <a:tcPr marL="82296" marR="64008" marT="32004" marB="32004" anchor="ctr">
                    <a:solidFill>
                      <a:srgbClr val="FFFFFF"/>
                    </a:solidFill>
                  </a:tcPr>
                </a:tc>
                <a:tc>
                  <a:txBody>
                    <a:bodyPr wrap="square"/>
                    <a:lstStyle/>
                    <a:p>
                      <a:r>
                        <a:rPr sz="1400" b="0">
                          <a:solidFill>
                            <a:srgbClr val="1C1C1E"/>
                          </a:solidFill>
                          <a:latin typeface="Calibri"/>
                        </a:rPr>
                        <a:t>Declared by the owner: regulatory, financial reporting, business decision, internal</a:t>
                      </a:r>
                    </a:p>
                  </a:txBody>
                  <a:tcPr marL="82296" marR="64008" marT="32004" marB="32004" anchor="ctr">
                    <a:solidFill>
                      <a:srgbClr val="FFFFFF"/>
                    </a:solidFill>
                  </a:tcPr>
                </a:tc>
                <a:tc>
                  <a:txBody>
                    <a:bodyPr wrap="square"/>
                    <a:lstStyle/>
                    <a:p>
                      <a:r>
                        <a:rPr sz="1400" b="0">
                          <a:solidFill>
                            <a:srgbClr val="1C1C1E"/>
                          </a:solidFill>
                          <a:latin typeface="Calibri"/>
                        </a:rPr>
                        <a:t>3 · 3 · 2 · 1</a:t>
                      </a:r>
                    </a:p>
                  </a:txBody>
                  <a:tcPr marL="82296" marR="64008" marT="32004" marB="32004" anchor="ctr">
                    <a:solidFill>
                      <a:srgbClr val="FFFFFF"/>
                    </a:solidFill>
                  </a:tcPr>
                </a:tc>
              </a:tr>
              <a:tr h="334645">
                <a:tc>
                  <a:txBody>
                    <a:bodyPr wrap="square"/>
                    <a:lstStyle/>
                    <a:p>
                      <a:r>
                        <a:rPr sz="1400" b="1">
                          <a:solidFill>
                            <a:srgbClr val="761422"/>
                          </a:solidFill>
                          <a:latin typeface="Calibri"/>
                        </a:rPr>
                        <a:t>Exposure</a:t>
                      </a:r>
                    </a:p>
                  </a:txBody>
                  <a:tcPr marL="82296" marR="64008" marT="32004" marB="32004" anchor="ctr">
                    <a:solidFill>
                      <a:srgbClr val="F6F3EF"/>
                    </a:solidFill>
                  </a:tcPr>
                </a:tc>
                <a:tc>
                  <a:txBody>
                    <a:bodyPr wrap="square"/>
                    <a:lstStyle/>
                    <a:p>
                      <a:r>
                        <a:rPr sz="1400" b="0">
                          <a:solidFill>
                            <a:srgbClr val="1C1C1E"/>
                          </a:solidFill>
                          <a:latin typeface="Calibri"/>
                        </a:rPr>
                        <a:t>Declared by the owner</a:t>
                      </a:r>
                    </a:p>
                  </a:txBody>
                  <a:tcPr marL="82296" marR="64008" marT="32004" marB="32004" anchor="ctr">
                    <a:solidFill>
                      <a:srgbClr val="F6F3EF"/>
                    </a:solidFill>
                  </a:tcPr>
                </a:tc>
                <a:tc>
                  <a:txBody>
                    <a:bodyPr wrap="square"/>
                    <a:lstStyle/>
                    <a:p>
                      <a:r>
                        <a:rPr sz="1400" b="0">
                          <a:solidFill>
                            <a:srgbClr val="1C1C1E"/>
                          </a:solidFill>
                          <a:latin typeface="Calibri"/>
                        </a:rPr>
                        <a:t>3 over 1bn, 2 over 10m</a:t>
                      </a:r>
                    </a:p>
                  </a:txBody>
                  <a:tcPr marL="82296" marR="64008" marT="32004" marB="32004" anchor="ctr">
                    <a:solidFill>
                      <a:srgbClr val="F6F3EF"/>
                    </a:solidFill>
                  </a:tcPr>
                </a:tc>
              </a:tr>
              <a:tr h="559562">
                <a:tc>
                  <a:txBody>
                    <a:bodyPr wrap="square"/>
                    <a:lstStyle/>
                    <a:p>
                      <a:r>
                        <a:rPr sz="1400" b="1">
                          <a:solidFill>
                            <a:srgbClr val="761422"/>
                          </a:solidFill>
                          <a:latin typeface="Calibri"/>
                        </a:rPr>
                        <a:t>Reach</a:t>
                      </a:r>
                    </a:p>
                  </a:txBody>
                  <a:tcPr marL="82296" marR="64008" marT="32004" marB="32004" anchor="ctr">
                    <a:solidFill>
                      <a:srgbClr val="FFFFFF"/>
                    </a:solidFill>
                  </a:tcPr>
                </a:tc>
                <a:tc>
                  <a:txBody>
                    <a:bodyPr wrap="square"/>
                    <a:lstStyle/>
                    <a:p>
                      <a:r>
                        <a:rPr sz="1400" b="0">
                          <a:solidFill>
                            <a:srgbClr val="1C1C1E"/>
                          </a:solidFill>
                          <a:latin typeface="Calibri"/>
                        </a:rPr>
                        <a:t>Measured: live execution warrants and executions</a:t>
                      </a:r>
                    </a:p>
                  </a:txBody>
                  <a:tcPr marL="82296" marR="64008" marT="32004" marB="32004" anchor="ctr">
                    <a:solidFill>
                      <a:srgbClr val="FFFFFF"/>
                    </a:solidFill>
                  </a:tcPr>
                </a:tc>
                <a:tc>
                  <a:txBody>
                    <a:bodyPr wrap="square"/>
                    <a:lstStyle/>
                    <a:p>
                      <a:r>
                        <a:rPr sz="1400" b="0">
                          <a:solidFill>
                            <a:srgbClr val="1C1C1E"/>
                          </a:solidFill>
                          <a:latin typeface="Calibri"/>
                        </a:rPr>
                        <a:t>3 at three warrants or 10,000 runs</a:t>
                      </a:r>
                    </a:p>
                  </a:txBody>
                  <a:tcPr marL="82296" marR="64008" marT="32004" marB="32004" anchor="ctr">
                    <a:solidFill>
                      <a:srgbClr val="FFFFFF"/>
                    </a:solidFill>
                  </a:tcPr>
                </a:tc>
              </a:tr>
              <a:tr h="334645">
                <a:tc>
                  <a:txBody>
                    <a:bodyPr wrap="square"/>
                    <a:lstStyle/>
                    <a:p>
                      <a:r>
                        <a:rPr sz="1400" b="1">
                          <a:solidFill>
                            <a:srgbClr val="761422"/>
                          </a:solidFill>
                          <a:latin typeface="Calibri"/>
                        </a:rPr>
                        <a:t>Transparency</a:t>
                      </a:r>
                    </a:p>
                  </a:txBody>
                  <a:tcPr marL="82296" marR="64008" marT="32004" marB="32004" anchor="ctr">
                    <a:solidFill>
                      <a:srgbClr val="F6F3EF"/>
                    </a:solidFill>
                  </a:tcPr>
                </a:tc>
                <a:tc>
                  <a:txBody>
                    <a:bodyPr wrap="square"/>
                    <a:lstStyle/>
                    <a:p>
                      <a:r>
                        <a:rPr sz="1400" b="0">
                          <a:solidFill>
                            <a:srgbClr val="1C1C1E"/>
                          </a:solidFill>
                          <a:latin typeface="Calibri"/>
                        </a:rPr>
                        <a:t>Measured: formula or black box</a:t>
                      </a:r>
                    </a:p>
                  </a:txBody>
                  <a:tcPr marL="82296" marR="64008" marT="32004" marB="32004" anchor="ctr">
                    <a:solidFill>
                      <a:srgbClr val="F6F3EF"/>
                    </a:solidFill>
                  </a:tcPr>
                </a:tc>
                <a:tc>
                  <a:txBody>
                    <a:bodyPr wrap="square"/>
                    <a:lstStyle/>
                    <a:p>
                      <a:r>
                        <a:rPr sz="1400" b="0">
                          <a:solidFill>
                            <a:srgbClr val="1C1C1E"/>
                          </a:solidFill>
                          <a:latin typeface="Calibri"/>
                        </a:rPr>
                        <a:t>+1 tier for a black box</a:t>
                      </a:r>
                    </a:p>
                  </a:txBody>
                  <a:tcPr marL="82296" marR="64008" marT="32004" marB="32004" anchor="ctr">
                    <a:solidFill>
                      <a:srgbClr val="F6F3EF"/>
                    </a:solidFill>
                  </a:tcPr>
                </a:tc>
              </a:tr>
              <a:tr h="1009396">
                <a:tc>
                  <a:txBody>
                    <a:bodyPr wrap="square"/>
                    <a:lstStyle/>
                    <a:p>
                      <a:r>
                        <a:rPr sz="1400" b="1">
                          <a:solidFill>
                            <a:srgbClr val="761422"/>
                          </a:solidFill>
                          <a:latin typeface="Calibri"/>
                        </a:rPr>
                        <a:t>Questionnaire</a:t>
                      </a:r>
                    </a:p>
                  </a:txBody>
                  <a:tcPr marL="82296" marR="64008" marT="32004" marB="32004" anchor="ctr">
                    <a:solidFill>
                      <a:srgbClr val="FFFFFF"/>
                    </a:solidFill>
                  </a:tcPr>
                </a:tc>
                <a:tc>
                  <a:txBody>
                    <a:bodyPr wrap="square"/>
                    <a:lstStyle/>
                    <a:p>
                      <a:r>
                        <a:rPr sz="1400" b="0">
                          <a:solidFill>
                            <a:srgbClr val="1C1C1E"/>
                          </a:solidFill>
                          <a:latin typeface="Calibri"/>
                        </a:rPr>
                        <a:t>The firm's file, config/tiering.yaml: automation, customer impact, reporting, complexity</a:t>
                      </a:r>
                    </a:p>
                  </a:txBody>
                  <a:tcPr marL="82296" marR="64008" marT="32004" marB="32004" anchor="ctr">
                    <a:solidFill>
                      <a:srgbClr val="FFFFFF"/>
                    </a:solidFill>
                  </a:tcPr>
                </a:tc>
                <a:tc>
                  <a:txBody>
                    <a:bodyPr wrap="square"/>
                    <a:lstStyle/>
                    <a:p>
                      <a:r>
                        <a:rPr sz="1400" b="0">
                          <a:solidFill>
                            <a:srgbClr val="1C1C1E"/>
                          </a:solidFill>
                          <a:latin typeface="Calibri"/>
                        </a:rPr>
                        <a:t>The highest answer, or points against thresholds</a:t>
                      </a:r>
                    </a:p>
                  </a:txBody>
                  <a:tcPr marL="82296" marR="64008" marT="32004" marB="32004"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PERIODIC REVIEW</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 overdue review stops the model running</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30</a:t>
            </a:r>
          </a:p>
        </p:txBody>
      </p:sp>
      <p:sp>
        <p:nvSpPr>
          <p:cNvPr id="10" name="Rectangle 9"/>
          <p:cNvSpPr/>
          <p:nvPr/>
        </p:nvSpPr>
        <p:spPr>
          <a:xfrm>
            <a:off x="777240"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Tier sets the interval</a:t>
            </a:r>
          </a:p>
        </p:txBody>
      </p:sp>
      <p:sp>
        <p:nvSpPr>
          <p:cNvPr id="13" name="TextBox 12"/>
          <p:cNvSpPr txBox="1"/>
          <p:nvPr/>
        </p:nvSpPr>
        <p:spPr>
          <a:xfrm>
            <a:off x="960120" y="2157095"/>
            <a:ext cx="1556857" cy="839215"/>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One, two or three years, or per model</a:t>
            </a:r>
          </a:p>
        </p:txBody>
      </p:sp>
      <p:sp>
        <p:nvSpPr>
          <p:cNvPr id="14" name="Rectangle 13"/>
          <p:cNvSpPr/>
          <p:nvPr/>
        </p:nvSpPr>
        <p:spPr>
          <a:xfrm>
            <a:off x="2955889"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5889"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38769"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Due date</a:t>
            </a:r>
          </a:p>
        </p:txBody>
      </p:sp>
      <p:sp>
        <p:nvSpPr>
          <p:cNvPr id="17" name="TextBox 16"/>
          <p:cNvSpPr txBox="1"/>
          <p:nvPr/>
        </p:nvSpPr>
        <p:spPr>
          <a:xfrm>
            <a:off x="3138769"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From the last review, or the first approval</a:t>
            </a:r>
          </a:p>
        </p:txBody>
      </p:sp>
      <p:cxnSp>
        <p:nvCxnSpPr>
          <p:cNvPr id="18" name="Connector 17"/>
          <p:cNvCxnSpPr/>
          <p:nvPr/>
        </p:nvCxnSpPr>
        <p:spPr>
          <a:xfrm>
            <a:off x="2727289"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34538"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3453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1741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The sweep</a:t>
            </a:r>
          </a:p>
        </p:txBody>
      </p:sp>
      <p:sp>
        <p:nvSpPr>
          <p:cNvPr id="22" name="TextBox 21"/>
          <p:cNvSpPr txBox="1"/>
          <p:nvPr/>
        </p:nvSpPr>
        <p:spPr>
          <a:xfrm>
            <a:off x="5317418"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Hourly: an overdue model's live warrants are suspended</a:t>
            </a:r>
          </a:p>
        </p:txBody>
      </p:sp>
      <p:cxnSp>
        <p:nvCxnSpPr>
          <p:cNvPr id="23" name="Connector 22"/>
          <p:cNvCxnSpPr/>
          <p:nvPr/>
        </p:nvCxnSpPr>
        <p:spPr>
          <a:xfrm>
            <a:off x="4905938"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13188"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3188"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6068"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The review</a:t>
            </a:r>
          </a:p>
        </p:txBody>
      </p:sp>
      <p:sp>
        <p:nvSpPr>
          <p:cNvPr id="27" name="TextBox 26"/>
          <p:cNvSpPr txBox="1"/>
          <p:nvPr/>
        </p:nvSpPr>
        <p:spPr>
          <a:xfrm>
            <a:off x="7496068"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Recorded by someone other than the owner</a:t>
            </a:r>
          </a:p>
        </p:txBody>
      </p:sp>
      <p:cxnSp>
        <p:nvCxnSpPr>
          <p:cNvPr id="28" name="Connector 27"/>
          <p:cNvCxnSpPr/>
          <p:nvPr/>
        </p:nvCxnSpPr>
        <p:spPr>
          <a:xfrm>
            <a:off x="7084588"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491837" y="1386967"/>
            <a:ext cx="1922617"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91837" y="1386967"/>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4717" y="1551559"/>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Lifted</a:t>
            </a:r>
          </a:p>
        </p:txBody>
      </p:sp>
      <p:sp>
        <p:nvSpPr>
          <p:cNvPr id="32" name="TextBox 31"/>
          <p:cNvSpPr txBox="1"/>
          <p:nvPr/>
        </p:nvSpPr>
        <p:spPr>
          <a:xfrm>
            <a:off x="9674717" y="1900047"/>
            <a:ext cx="1556857" cy="1096263"/>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Exactly the suspensions the sweep made, and no others</a:t>
            </a:r>
          </a:p>
        </p:txBody>
      </p:sp>
      <p:cxnSp>
        <p:nvCxnSpPr>
          <p:cNvPr id="33" name="Connector 32"/>
          <p:cNvCxnSpPr/>
          <p:nvPr/>
        </p:nvCxnSpPr>
        <p:spPr>
          <a:xfrm>
            <a:off x="9263237" y="2255647"/>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34639"/>
            <a:ext cx="10637215" cy="2910713"/>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Suspension is the same mechanism a covenant breach uses, so a production service asking for its bundle is refused and told whom to contact. A review is not a reminder in someone's calendar; it is a condition of running.</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A warrant suspended for a breach stays suspended when a review is recorded: lifting one kind of suspension never lifts another.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ONGOING MONITORING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Every live model graded ok, watch or breach</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31</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Each attested run reports its row count and per-input statistics. The dashboards read those reports as series, and grade every sealed warrant.</a:t>
            </a:r>
          </a:p>
        </p:txBody>
      </p:sp>
      <p:sp>
        <p:nvSpPr>
          <p:cNvPr id="11" name="Rectangle 10"/>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grades</a:t>
            </a:r>
          </a:p>
        </p:txBody>
      </p:sp>
      <p:sp>
        <p:nvSpPr>
          <p:cNvPr id="14" name="TextBox 13"/>
          <p:cNvSpPr txBox="1"/>
          <p:nvPr/>
        </p:nvSpPr>
        <p:spPr>
          <a:xfrm>
            <a:off x="777240"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Breach</a:t>
            </a:r>
          </a:p>
          <a:p>
            <a:pPr lvl="1">
              <a:lnSpc>
                <a:spcPct val="120000"/>
              </a:lnSpc>
              <a:spcBef>
                <a:spcPts val="0"/>
              </a:spcBef>
              <a:spcAft>
                <a:spcPts val="0"/>
              </a:spcAft>
            </a:pPr>
            <a:r>
              <a:rPr sz="1350" b="0">
                <a:solidFill>
                  <a:srgbClr val="4A4F57"/>
                </a:solidFill>
                <a:latin typeface="Calibri"/>
              </a:rPr>
              <a:t>Suspended, or a covenant broken in the last seven days.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Watch</a:t>
            </a:r>
          </a:p>
          <a:p>
            <a:pPr lvl="1">
              <a:lnSpc>
                <a:spcPct val="120000"/>
              </a:lnSpc>
              <a:spcBef>
                <a:spcPts val="0"/>
              </a:spcBef>
              <a:spcAft>
                <a:spcPts val="0"/>
              </a:spcAft>
            </a:pPr>
            <a:r>
              <a:rPr sz="1350" b="0">
                <a:solidFill>
                  <a:srgbClr val="4A4F57"/>
                </a:solidFill>
                <a:latin typeface="Calibri"/>
              </a:rPr>
              <a:t>A population stability index between 0.10 and the covenant; a null rate at least double its median; a live model silent for thirty days.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Ok</a:t>
            </a:r>
          </a:p>
          <a:p>
            <a:pPr lvl="1">
              <a:lnSpc>
                <a:spcPct val="120000"/>
              </a:lnSpc>
              <a:spcBef>
                <a:spcPts val="0"/>
              </a:spcBef>
              <a:spcAft>
                <a:spcPts val="0"/>
              </a:spcAft>
            </a:pPr>
            <a:r>
              <a:rPr sz="1350" b="0">
                <a:solidFill>
                  <a:srgbClr val="4A4F57"/>
                </a:solidFill>
                <a:latin typeface="Calibri"/>
              </a:rPr>
              <a:t>None of those.</a:t>
            </a:r>
          </a:p>
        </p:txBody>
      </p:sp>
      <p:sp>
        <p:nvSpPr>
          <p:cNvPr id="15" name="Rectangle 14"/>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Per warrant</a:t>
            </a:r>
          </a:p>
        </p:txBody>
      </p:sp>
      <p:sp>
        <p:nvSpPr>
          <p:cNvPr id="18" name="TextBox 17"/>
          <p:cNvSpPr txBox="1"/>
          <p:nvPr/>
        </p:nvSpPr>
        <p:spPr>
          <a:xfrm>
            <a:off x="6278727"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Volume</a:t>
            </a:r>
          </a:p>
          <a:p>
            <a:pPr lvl="1">
              <a:lnSpc>
                <a:spcPct val="120000"/>
              </a:lnSpc>
              <a:spcBef>
                <a:spcPts val="0"/>
              </a:spcBef>
              <a:spcAft>
                <a:spcPts val="0"/>
              </a:spcAft>
            </a:pPr>
            <a:r>
              <a:rPr sz="1350" b="0">
                <a:solidFill>
                  <a:srgbClr val="4A4F57"/>
                </a:solidFill>
                <a:latin typeface="Calibri"/>
              </a:rPr>
              <a:t>Rows and runs per day.</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Per input and output</a:t>
            </a:r>
          </a:p>
          <a:p>
            <a:pPr lvl="1">
              <a:lnSpc>
                <a:spcPct val="120000"/>
              </a:lnSpc>
              <a:spcBef>
                <a:spcPts val="0"/>
              </a:spcBef>
              <a:spcAft>
                <a:spcPts val="0"/>
              </a:spcAft>
            </a:pPr>
            <a:r>
              <a:rPr sz="1350" b="0">
                <a:solidFill>
                  <a:srgbClr val="4A4F57"/>
                </a:solidFill>
                <a:latin typeface="Calibri"/>
              </a:rPr>
              <a:t>PSI against the baseline the covenant was drawn with, null rate, mean — covenant bounds drawn as lines, breaches marked on the time axis.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Study 19</a:t>
            </a:r>
          </a:p>
          <a:p>
            <a:pPr lvl="1">
              <a:lnSpc>
                <a:spcPct val="120000"/>
              </a:lnSpc>
              <a:spcBef>
                <a:spcPts val="0"/>
              </a:spcBef>
              <a:spcAft>
                <a:spcPts val="0"/>
              </a:spcAft>
            </a:pPr>
            <a:r>
              <a:rPr sz="1350" b="0">
                <a:solidFill>
                  <a:srgbClr val="4A4F57"/>
                </a:solidFill>
                <a:latin typeface="Calibri"/>
              </a:rPr>
              <a:t>A bureau score goes ok, watch, breach over three months as utilisation drifts: PSI 0.009, 0.109, 0.438.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CHAMPION AND CHALLENGER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Replacing a model on evidence, not on two numbers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32</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Two warrants drawn on the same pin with the same seed hold the same escrowed rows. MAYA scores both, keeps the per-row errors to itself, and compares them row by row.</a:t>
            </a:r>
          </a:p>
        </p:txBody>
      </p:sp>
      <p:sp>
        <p:nvSpPr>
          <p:cNvPr id="11" name="Rectangle 10"/>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is reported</a:t>
            </a:r>
          </a:p>
        </p:txBody>
      </p:sp>
      <p:sp>
        <p:nvSpPr>
          <p:cNvPr id="14" name="TextBox 13"/>
          <p:cNvSpPr txBox="1"/>
          <p:nvPr/>
        </p:nvSpPr>
        <p:spPr>
          <a:xfrm>
            <a:off x="777240"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difference</a:t>
            </a:r>
          </a:p>
          <a:p>
            <a:pPr lvl="1">
              <a:lnSpc>
                <a:spcPct val="120000"/>
              </a:lnSpc>
              <a:spcBef>
                <a:spcPts val="0"/>
              </a:spcBef>
              <a:spcAft>
                <a:spcPts val="0"/>
              </a:spcAft>
            </a:pPr>
            <a:r>
              <a:rPr sz="1350" b="0">
                <a:solidFill>
                  <a:srgbClr val="4A4F57"/>
                </a:solidFill>
                <a:latin typeface="Calibri"/>
              </a:rPr>
              <a:t>In RMSE or MAE, challenger minus champion.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A paired bootstrap interval</a:t>
            </a:r>
          </a:p>
          <a:p>
            <a:pPr lvl="1">
              <a:lnSpc>
                <a:spcPct val="120000"/>
              </a:lnSpc>
              <a:spcBef>
                <a:spcPts val="0"/>
              </a:spcBef>
              <a:spcAft>
                <a:spcPts val="0"/>
              </a:spcAft>
            </a:pPr>
            <a:r>
              <a:rPr sz="1350" b="0">
                <a:solidFill>
                  <a:srgbClr val="4A4F57"/>
                </a:solidFill>
                <a:latin typeface="Calibri"/>
              </a:rPr>
              <a:t>95%, 2,000 draws, a fixed seed: the same challenge gives the same interval anywhere.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verdict</a:t>
            </a:r>
          </a:p>
          <a:p>
            <a:pPr lvl="1">
              <a:lnSpc>
                <a:spcPct val="120000"/>
              </a:lnSpc>
              <a:spcBef>
                <a:spcPts val="0"/>
              </a:spcBef>
              <a:spcAft>
                <a:spcPts val="0"/>
              </a:spcAft>
            </a:pPr>
            <a:r>
              <a:rPr sz="1350" b="0">
                <a:solidFill>
                  <a:srgbClr val="4A4F57"/>
                </a:solidFill>
                <a:latin typeface="Calibri"/>
              </a:rPr>
              <a:t>Challenger better only if the whole interval is below zero.</a:t>
            </a:r>
          </a:p>
        </p:txBody>
      </p:sp>
      <p:sp>
        <p:nvSpPr>
          <p:cNvPr id="15" name="Rectangle 14"/>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is refused</a:t>
            </a:r>
          </a:p>
        </p:txBody>
      </p:sp>
      <p:sp>
        <p:nvSpPr>
          <p:cNvPr id="18" name="TextBox 17"/>
          <p:cNvSpPr txBox="1"/>
          <p:nvPr/>
        </p:nvSpPr>
        <p:spPr>
          <a:xfrm>
            <a:off x="6278727"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Different holdouts</a:t>
            </a:r>
          </a:p>
          <a:p>
            <a:pPr lvl="1">
              <a:lnSpc>
                <a:spcPct val="120000"/>
              </a:lnSpc>
              <a:spcBef>
                <a:spcPts val="0"/>
              </a:spcBef>
              <a:spcAft>
                <a:spcPts val="0"/>
              </a:spcAft>
            </a:pPr>
            <a:r>
              <a:rPr sz="1350" b="0">
                <a:solidFill>
                  <a:srgbClr val="4A4F57"/>
                </a:solidFill>
                <a:latin typeface="Calibri"/>
              </a:rPr>
              <a:t>Warrants whose holdout hashes differ are not compared at all.</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author deciding</a:t>
            </a:r>
          </a:p>
          <a:p>
            <a:pPr lvl="1">
              <a:lnSpc>
                <a:spcPct val="120000"/>
              </a:lnSpc>
              <a:spcBef>
                <a:spcPts val="0"/>
              </a:spcBef>
              <a:spcAft>
                <a:spcPts val="0"/>
              </a:spcAft>
            </a:pPr>
            <a:r>
              <a:rPr sz="1350" b="0">
                <a:solidFill>
                  <a:srgbClr val="4A4F57"/>
                </a:solidFill>
                <a:latin typeface="Calibri"/>
              </a:rPr>
              <a:t>Whoever owns the challenger does not decide whether it replaces the champion.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Study 42</a:t>
            </a:r>
          </a:p>
          <a:p>
            <a:pPr lvl="1">
              <a:lnSpc>
                <a:spcPct val="120000"/>
              </a:lnSpc>
              <a:spcBef>
                <a:spcPts val="0"/>
              </a:spcBef>
              <a:spcAft>
                <a:spcPts val="0"/>
              </a:spcAft>
            </a:pPr>
            <a:r>
              <a:rPr sz="1350" b="0">
                <a:solidFill>
                  <a:srgbClr val="4A4F57"/>
                </a:solidFill>
                <a:latin typeface="Calibri"/>
              </a:rPr>
              <a:t>A log-log demand model beats the linear champion: −0.031, interval [−0.040, −0.022], winning only 60% of rows.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FAIRNESS AND EXPLAINABILITY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Error by segment, and what the model leans on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Computed on the escrowed holdout, so each run counts as a holdout attempt; only aggregates are kept.</a:t>
            </a:r>
          </a:p>
        </p:txBody>
      </p:sp>
      <p:sp>
        <p:nvSpPr>
          <p:cNvPr id="11" name="Rectangle 10"/>
          <p:cNvSpPr/>
          <p:nvPr/>
        </p:nvSpPr>
        <p:spPr>
          <a:xfrm>
            <a:off x="777240" y="179603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79603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186918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By segment</a:t>
            </a:r>
          </a:p>
        </p:txBody>
      </p:sp>
      <p:sp>
        <p:nvSpPr>
          <p:cNvPr id="14" name="TextBox 13"/>
          <p:cNvSpPr txBox="1"/>
          <p:nvPr/>
        </p:nvSpPr>
        <p:spPr>
          <a:xfrm>
            <a:off x="777240" y="2308098"/>
            <a:ext cx="5135727" cy="3937254"/>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Per segment</a:t>
            </a:r>
          </a:p>
          <a:p>
            <a:pPr lvl="1">
              <a:lnSpc>
                <a:spcPct val="120000"/>
              </a:lnSpc>
              <a:spcBef>
                <a:spcPts val="0"/>
              </a:spcBef>
              <a:spcAft>
                <a:spcPts val="0"/>
              </a:spcAft>
            </a:pPr>
            <a:r>
              <a:rPr sz="1350" b="0">
                <a:solidFill>
                  <a:srgbClr val="4A4F57"/>
                </a:solidFill>
                <a:latin typeface="Calibri"/>
              </a:rPr>
              <a:t>RMSE, MAE, bias and mean prediction for each value of a column you name.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Flagged</a:t>
            </a:r>
          </a:p>
          <a:p>
            <a:pPr lvl="1">
              <a:lnSpc>
                <a:spcPct val="120000"/>
              </a:lnSpc>
              <a:spcBef>
                <a:spcPts val="0"/>
              </a:spcBef>
              <a:spcAft>
                <a:spcPts val="0"/>
              </a:spcAft>
            </a:pPr>
            <a:r>
              <a:rPr sz="1350" b="0">
                <a:solidFill>
                  <a:srgbClr val="4A4F57"/>
                </a:solidFill>
                <a:latin typeface="Calibri"/>
              </a:rPr>
              <a:t>MAE more than a quarter above the overall figure.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Systematic</a:t>
            </a:r>
          </a:p>
          <a:p>
            <a:pPr lvl="1">
              <a:lnSpc>
                <a:spcPct val="120000"/>
              </a:lnSpc>
              <a:spcBef>
                <a:spcPts val="0"/>
              </a:spcBef>
              <a:spcAft>
                <a:spcPts val="0"/>
              </a:spcAft>
            </a:pPr>
            <a:r>
              <a:rPr sz="1350" b="0">
                <a:solidFill>
                  <a:srgbClr val="4A4F57"/>
                </a:solidFill>
                <a:latin typeface="Calibri"/>
              </a:rPr>
              <a:t>Bias more than half the MAE: wrong mostly in one direction, which equal MAEs hide.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Suppressed</a:t>
            </a:r>
          </a:p>
          <a:p>
            <a:pPr lvl="1">
              <a:lnSpc>
                <a:spcPct val="120000"/>
              </a:lnSpc>
              <a:spcBef>
                <a:spcPts val="0"/>
              </a:spcBef>
              <a:spcAft>
                <a:spcPts val="0"/>
              </a:spcAft>
            </a:pPr>
            <a:r>
              <a:rPr sz="1350" b="0">
                <a:solidFill>
                  <a:srgbClr val="4A4F57"/>
                </a:solidFill>
                <a:latin typeface="Calibri"/>
              </a:rPr>
              <a:t>A segment under twenty rows gets no figures: a mean over three rows is three rows.</a:t>
            </a:r>
          </a:p>
        </p:txBody>
      </p:sp>
      <p:sp>
        <p:nvSpPr>
          <p:cNvPr id="15" name="Rectangle 14"/>
          <p:cNvSpPr/>
          <p:nvPr/>
        </p:nvSpPr>
        <p:spPr>
          <a:xfrm>
            <a:off x="6278727" y="179603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179603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186918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drives it</a:t>
            </a:r>
          </a:p>
        </p:txBody>
      </p:sp>
      <p:sp>
        <p:nvSpPr>
          <p:cNvPr id="18" name="TextBox 17"/>
          <p:cNvSpPr txBox="1"/>
          <p:nvPr/>
        </p:nvSpPr>
        <p:spPr>
          <a:xfrm>
            <a:off x="6278727" y="2308098"/>
            <a:ext cx="5135727" cy="3937254"/>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Permutation importance</a:t>
            </a:r>
          </a:p>
          <a:p>
            <a:pPr lvl="1">
              <a:lnSpc>
                <a:spcPct val="120000"/>
              </a:lnSpc>
              <a:spcBef>
                <a:spcPts val="0"/>
              </a:spcBef>
              <a:spcAft>
                <a:spcPts val="0"/>
              </a:spcAft>
            </a:pPr>
            <a:r>
              <a:rPr sz="1350" b="0">
                <a:solidFill>
                  <a:srgbClr val="4A4F57"/>
                </a:solidFill>
                <a:latin typeface="Calibri"/>
              </a:rPr>
              <a:t>Each input shuffled, seeded and repeated; the rise in error is its importance.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Black boxes too</a:t>
            </a:r>
          </a:p>
          <a:p>
            <a:pPr lvl="1">
              <a:lnSpc>
                <a:spcPct val="120000"/>
              </a:lnSpc>
              <a:spcBef>
                <a:spcPts val="0"/>
              </a:spcBef>
              <a:spcAft>
                <a:spcPts val="0"/>
              </a:spcAft>
            </a:pPr>
            <a:r>
              <a:rPr sz="1350" b="0">
                <a:solidFill>
                  <a:srgbClr val="4A4F57"/>
                </a:solidFill>
                <a:latin typeface="Calibri"/>
              </a:rPr>
              <a:t>It needs only predictions, so a black box is measured through the sandbox.</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Study 45</a:t>
            </a:r>
          </a:p>
          <a:p>
            <a:pPr lvl="1">
              <a:lnSpc>
                <a:spcPct val="120000"/>
              </a:lnSpc>
              <a:spcBef>
                <a:spcPts val="0"/>
              </a:spcBef>
              <a:spcAft>
                <a:spcPts val="0"/>
              </a:spcAft>
            </a:pPr>
            <a:r>
              <a:rPr sz="1350" b="0">
                <a:solidFill>
                  <a:srgbClr val="4A4F57"/>
                </a:solidFill>
                <a:latin typeface="Calibri"/>
              </a:rPr>
              <a:t>Men's and women's errors are the same size — MAE ratio 1.08 — and in opposite directions: both segments systematic.</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SUPERVISORY INVENTORY</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C1C1E"/>
                </a:solidFill>
                <a:latin typeface="Georgia"/>
              </a:rPr>
              <a:t>One row per model, in the layout the supervisor asks for</a:t>
            </a:r>
          </a:p>
        </p:txBody>
      </p:sp>
      <p:sp>
        <p:nvSpPr>
          <p:cNvPr id="6" name="Rectangle 5"/>
          <p:cNvSpPr/>
          <p:nvPr/>
        </p:nvSpPr>
        <p:spPr>
          <a:xfrm>
            <a:off x="777240" y="1242885"/>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4 · Governance a model risk function works in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34</a:t>
            </a:r>
          </a:p>
        </p:txBody>
      </p:sp>
      <p:sp>
        <p:nvSpPr>
          <p:cNvPr id="10" name="TextBox 9"/>
          <p:cNvSpPr txBox="1"/>
          <p:nvPr/>
        </p:nvSpPr>
        <p:spPr>
          <a:xfrm>
            <a:off x="777240" y="1370901"/>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Exported as Excel, CSV or JSON in an SR 11-7 or SS1/23 layout, built from the records MAYA keeps, so it cannot drift from them. The file says how many models the exporter could not see.</a:t>
            </a:r>
          </a:p>
        </p:txBody>
      </p:sp>
      <p:graphicFrame>
        <p:nvGraphicFramePr>
          <p:cNvPr id="11" name="Table 10"/>
          <p:cNvGraphicFramePr>
            <a:graphicFrameLocks noGrp="1"/>
          </p:cNvGraphicFramePr>
          <p:nvPr/>
        </p:nvGraphicFramePr>
        <p:xfrm>
          <a:off x="777240" y="2024443"/>
          <a:ext cx="10637214" cy="2891472"/>
        </p:xfrm>
        <a:graphic>
          <a:graphicData uri="http://schemas.openxmlformats.org/drawingml/2006/table">
            <a:tbl>
              <a:tblPr firstRow="1">
                <a:tableStyleId>{5C22544A-7EE6-4342-B048-85BDC9FD1C3A}</a:tableStyleId>
              </a:tblPr>
              <a:tblGrid>
                <a:gridCol w="5318607"/>
                <a:gridCol w="5318607"/>
              </a:tblGrid>
              <a:tr h="318579">
                <a:tc>
                  <a:txBody>
                    <a:bodyPr wrap="square"/>
                    <a:lstStyle/>
                    <a:p>
                      <a:r>
                        <a:rPr sz="1300" b="1">
                          <a:solidFill>
                            <a:srgbClr val="FFFFFF"/>
                          </a:solidFill>
                          <a:latin typeface="Calibri"/>
                        </a:rPr>
                        <a:t>Column group</a:t>
                      </a:r>
                    </a:p>
                  </a:txBody>
                  <a:tcPr marL="82296" marR="64008" marT="32004" marB="32004" anchor="ctr">
                    <a:solidFill>
                      <a:srgbClr val="A51C30"/>
                    </a:solidFill>
                  </a:tcPr>
                </a:tc>
                <a:tc>
                  <a:txBody>
                    <a:bodyPr wrap="square"/>
                    <a:lstStyle/>
                    <a:p>
                      <a:r>
                        <a:rPr sz="1300" b="1">
                          <a:solidFill>
                            <a:srgbClr val="FFFFFF"/>
                          </a:solidFill>
                          <a:latin typeface="Calibri"/>
                        </a:rPr>
                        <a:t>What it holds</a:t>
                      </a:r>
                    </a:p>
                  </a:txBody>
                  <a:tcPr marL="82296" marR="64008" marT="32004" marB="32004" anchor="ctr">
                    <a:solidFill>
                      <a:srgbClr val="A51C30"/>
                    </a:solidFill>
                  </a:tcPr>
                </a:tc>
              </a:tr>
              <a:tr h="334645">
                <a:tc>
                  <a:txBody>
                    <a:bodyPr wrap="square"/>
                    <a:lstStyle/>
                    <a:p>
                      <a:r>
                        <a:rPr sz="1400" b="1">
                          <a:solidFill>
                            <a:srgbClr val="761422"/>
                          </a:solidFill>
                          <a:latin typeface="Calibri"/>
                        </a:rPr>
                        <a:t>Identity</a:t>
                      </a:r>
                    </a:p>
                  </a:txBody>
                  <a:tcPr marL="82296" marR="64008" marT="32004" marB="32004" anchor="ctr">
                    <a:solidFill>
                      <a:srgbClr val="FFFFFF"/>
                    </a:solidFill>
                  </a:tcPr>
                </a:tc>
                <a:tc>
                  <a:txBody>
                    <a:bodyPr wrap="square"/>
                    <a:lstStyle/>
                    <a:p>
                      <a:r>
                        <a:rPr sz="1400" b="0">
                          <a:solidFill>
                            <a:srgbClr val="1C1C1E"/>
                          </a:solidFill>
                          <a:latin typeface="Calibri"/>
                        </a:rPr>
                        <a:t>Purpose, use, type, vendor or provider, owner</a:t>
                      </a:r>
                    </a:p>
                  </a:txBody>
                  <a:tcPr marL="82296" marR="64008" marT="32004" marB="32004" anchor="ctr">
                    <a:solidFill>
                      <a:srgbClr val="FFFFFF"/>
                    </a:solidFill>
                  </a:tcPr>
                </a:tc>
              </a:tr>
              <a:tr h="559562">
                <a:tc>
                  <a:txBody>
                    <a:bodyPr wrap="square"/>
                    <a:lstStyle/>
                    <a:p>
                      <a:r>
                        <a:rPr sz="1400" b="1">
                          <a:solidFill>
                            <a:srgbClr val="761422"/>
                          </a:solidFill>
                          <a:latin typeface="Calibri"/>
                        </a:rPr>
                        <a:t>Materiality</a:t>
                      </a:r>
                    </a:p>
                  </a:txBody>
                  <a:tcPr marL="82296" marR="64008" marT="32004" marB="32004" anchor="ctr">
                    <a:solidFill>
                      <a:srgbClr val="F6F3EF"/>
                    </a:solidFill>
                  </a:tcPr>
                </a:tc>
                <a:tc>
                  <a:txBody>
                    <a:bodyPr wrap="square"/>
                    <a:lstStyle/>
                    <a:p>
                      <a:r>
                        <a:rPr sz="1400" b="0">
                          <a:solidFill>
                            <a:srgbClr val="1C1C1E"/>
                          </a:solidFill>
                          <a:latin typeface="Calibri"/>
                        </a:rPr>
                        <a:t>Tier, derived tier, its basis, any override and its reason, exposure</a:t>
                      </a:r>
                    </a:p>
                  </a:txBody>
                  <a:tcPr marL="82296" marR="64008" marT="32004" marB="32004" anchor="ctr">
                    <a:solidFill>
                      <a:srgbClr val="F6F3EF"/>
                    </a:solidFill>
                  </a:tcPr>
                </a:tc>
              </a:tr>
              <a:tr h="559562">
                <a:tc>
                  <a:txBody>
                    <a:bodyPr wrap="square"/>
                    <a:lstStyle/>
                    <a:p>
                      <a:r>
                        <a:rPr sz="1400" b="1">
                          <a:solidFill>
                            <a:srgbClr val="761422"/>
                          </a:solidFill>
                          <a:latin typeface="Calibri"/>
                        </a:rPr>
                        <a:t>Approval and evidence</a:t>
                      </a:r>
                    </a:p>
                  </a:txBody>
                  <a:tcPr marL="82296" marR="64008" marT="32004" marB="32004" anchor="ctr">
                    <a:solidFill>
                      <a:srgbClr val="FFFFFF"/>
                    </a:solidFill>
                  </a:tcPr>
                </a:tc>
                <a:tc>
                  <a:txBody>
                    <a:bodyPr wrap="square"/>
                    <a:lstStyle/>
                    <a:p>
                      <a:r>
                        <a:rPr sz="1400" b="0">
                          <a:solidFill>
                            <a:srgbClr val="1C1C1E"/>
                          </a:solidFill>
                          <a:latin typeface="Calibri"/>
                        </a:rPr>
                        <a:t>Status, approval, and what shows the implementation computes the model</a:t>
                      </a:r>
                    </a:p>
                  </a:txBody>
                  <a:tcPr marL="82296" marR="64008" marT="32004" marB="32004" anchor="ctr">
                    <a:solidFill>
                      <a:srgbClr val="FFFFFF"/>
                    </a:solidFill>
                  </a:tcPr>
                </a:tc>
              </a:tr>
              <a:tr h="559562">
                <a:tc>
                  <a:txBody>
                    <a:bodyPr wrap="square"/>
                    <a:lstStyle/>
                    <a:p>
                      <a:r>
                        <a:rPr sz="1400" b="1">
                          <a:solidFill>
                            <a:srgbClr val="761422"/>
                          </a:solidFill>
                          <a:latin typeface="Calibri"/>
                        </a:rPr>
                        <a:t>Review and findings</a:t>
                      </a:r>
                    </a:p>
                  </a:txBody>
                  <a:tcPr marL="82296" marR="64008" marT="32004" marB="32004" anchor="ctr">
                    <a:solidFill>
                      <a:srgbClr val="F6F3EF"/>
                    </a:solidFill>
                  </a:tcPr>
                </a:tc>
                <a:tc>
                  <a:txBody>
                    <a:bodyPr wrap="square"/>
                    <a:lstStyle/>
                    <a:p>
                      <a:r>
                        <a:rPr sz="1400" b="0">
                          <a:solidFill>
                            <a:srgbClr val="1C1C1E"/>
                          </a:solidFill>
                          <a:latin typeface="Calibri"/>
                        </a:rPr>
                        <a:t>Last review and outcome, next due, open, overdue and accepted findings</a:t>
                      </a:r>
                    </a:p>
                  </a:txBody>
                  <a:tcPr marL="82296" marR="64008" marT="32004" marB="32004" anchor="ctr">
                    <a:solidFill>
                      <a:srgbClr val="F6F3EF"/>
                    </a:solidFill>
                  </a:tcPr>
                </a:tc>
              </a:tr>
              <a:tr h="559562">
                <a:tc>
                  <a:txBody>
                    <a:bodyPr wrap="square"/>
                    <a:lstStyle/>
                    <a:p>
                      <a:r>
                        <a:rPr sz="1400" b="1">
                          <a:solidFill>
                            <a:srgbClr val="761422"/>
                          </a:solidFill>
                          <a:latin typeface="Calibri"/>
                        </a:rPr>
                        <a:t>Use</a:t>
                      </a:r>
                    </a:p>
                  </a:txBody>
                  <a:tcPr marL="82296" marR="64008" marT="32004" marB="32004" anchor="ctr">
                    <a:solidFill>
                      <a:srgbClr val="FFFFFF"/>
                    </a:solidFill>
                  </a:tcPr>
                </a:tc>
                <a:tc>
                  <a:txBody>
                    <a:bodyPr wrap="square"/>
                    <a:lstStyle/>
                    <a:p>
                      <a:r>
                        <a:rPr sz="1400" b="0">
                          <a:solidFill>
                            <a:srgbClr val="1C1C1E"/>
                          </a:solidFill>
                          <a:latin typeface="Calibri"/>
                        </a:rPr>
                        <a:t>Live warrants, environments, executions, monitoring grade, restrictions on use</a:t>
                      </a:r>
                    </a:p>
                  </a:txBody>
                  <a:tcPr marL="82296" marR="64008" marT="32004" marB="32004" anchor="ctr">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5</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Beyond formulas</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Most of what a bank now runs is not a formula anyone can read: bought scores, networks, and applications built on a large language model. Each gets the same chain, and each forfeits exactly the evidence it cannot give — and no more.</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Black boxes, scored blind</a:t>
            </a:r>
          </a:p>
          <a:p>
            <a:pPr>
              <a:lnSpc>
                <a:spcPct val="115000"/>
              </a:lnSpc>
              <a:spcBef>
                <a:spcPts val="0"/>
              </a:spcBef>
              <a:spcAft>
                <a:spcPts val="600"/>
              </a:spcAft>
            </a:pPr>
            <a:r>
              <a:rPr sz="1200" b="0" i="0">
                <a:solidFill>
                  <a:srgbClr val="F6E6E9"/>
                </a:solidFill>
                <a:latin typeface="Calibri"/>
              </a:rPr>
              <a:t>Models from MLflow and SageMaker</a:t>
            </a:r>
          </a:p>
          <a:p>
            <a:pPr>
              <a:lnSpc>
                <a:spcPct val="115000"/>
              </a:lnSpc>
              <a:spcBef>
                <a:spcPts val="0"/>
              </a:spcBef>
              <a:spcAft>
                <a:spcPts val="600"/>
              </a:spcAft>
            </a:pPr>
            <a:r>
              <a:rPr sz="1200" b="0" i="0">
                <a:solidFill>
                  <a:srgbClr val="F6E6E9"/>
                </a:solidFill>
                <a:latin typeface="Calibri"/>
              </a:rPr>
              <a:t>Beside your ML platform</a:t>
            </a:r>
          </a:p>
          <a:p>
            <a:pPr>
              <a:lnSpc>
                <a:spcPct val="115000"/>
              </a:lnSpc>
              <a:spcBef>
                <a:spcPts val="0"/>
              </a:spcBef>
              <a:spcAft>
                <a:spcPts val="600"/>
              </a:spcAft>
            </a:pPr>
            <a:r>
              <a:rPr sz="1200" b="0" i="0">
                <a:solidFill>
                  <a:srgbClr val="F6E6E9"/>
                </a:solidFill>
                <a:latin typeface="Calibri"/>
              </a:rPr>
              <a:t>LLM applications</a:t>
            </a:r>
          </a:p>
          <a:p>
            <a:pPr>
              <a:lnSpc>
                <a:spcPct val="115000"/>
              </a:lnSpc>
              <a:spcBef>
                <a:spcPts val="0"/>
              </a:spcBef>
              <a:spcAft>
                <a:spcPts val="600"/>
              </a:spcAft>
            </a:pPr>
            <a:r>
              <a:rPr sz="1200" b="0" i="0">
                <a:solidFill>
                  <a:srgbClr val="F6E6E9"/>
                </a:solidFill>
                <a:latin typeface="Calibri"/>
              </a:rPr>
              <a:t>Evaluation sets and guardrails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BLACK BOXES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C1C1E"/>
                </a:solidFill>
                <a:latin typeface="Georgia"/>
              </a:rPr>
              <a:t>A model nobody can read, run where nobody can see the data</a:t>
            </a:r>
          </a:p>
        </p:txBody>
      </p:sp>
      <p:sp>
        <p:nvSpPr>
          <p:cNvPr id="6" name="Rectangle 5"/>
          <p:cNvSpPr/>
          <p:nvPr/>
        </p:nvSpPr>
        <p:spPr>
          <a:xfrm>
            <a:off x="777240" y="1226820"/>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36</a:t>
            </a:r>
          </a:p>
        </p:txBody>
      </p:sp>
      <p:sp>
        <p:nvSpPr>
          <p:cNvPr id="10" name="Rectangle 9"/>
          <p:cNvSpPr/>
          <p:nvPr/>
        </p:nvSpPr>
        <p:spPr>
          <a:xfrm>
            <a:off x="777240" y="1354836"/>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54836"/>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9428"/>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Declared</a:t>
            </a:r>
          </a:p>
        </p:txBody>
      </p:sp>
      <p:sp>
        <p:nvSpPr>
          <p:cNvPr id="13" name="TextBox 12"/>
          <p:cNvSpPr txBox="1"/>
          <p:nvPr/>
        </p:nvSpPr>
        <p:spPr>
          <a:xfrm>
            <a:off x="960120" y="1867916"/>
            <a:ext cx="2101519" cy="109626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A black box states what it estimates and how it is built</a:t>
            </a:r>
          </a:p>
        </p:txBody>
      </p:sp>
      <p:sp>
        <p:nvSpPr>
          <p:cNvPr id="14" name="Rectangle 13"/>
          <p:cNvSpPr/>
          <p:nvPr/>
        </p:nvSpPr>
        <p:spPr>
          <a:xfrm>
            <a:off x="3500551" y="1354836"/>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0551" y="1354836"/>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3431" y="1519428"/>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Validated</a:t>
            </a:r>
          </a:p>
        </p:txBody>
      </p:sp>
      <p:sp>
        <p:nvSpPr>
          <p:cNvPr id="17" name="TextBox 16"/>
          <p:cNvSpPr txBox="1"/>
          <p:nvPr/>
        </p:nvSpPr>
        <p:spPr>
          <a:xfrm>
            <a:off x="3683431" y="1867916"/>
            <a:ext cx="2101519" cy="109626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Its code through six rungs, run twice in the sandbox</a:t>
            </a:r>
          </a:p>
        </p:txBody>
      </p:sp>
      <p:cxnSp>
        <p:nvCxnSpPr>
          <p:cNvPr id="18" name="Connector 17"/>
          <p:cNvCxnSpPr/>
          <p:nvPr/>
        </p:nvCxnSpPr>
        <p:spPr>
          <a:xfrm>
            <a:off x="3271951" y="2223516"/>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23863" y="1354836"/>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3863" y="1354836"/>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6743" y="1519428"/>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Scored blind</a:t>
            </a:r>
          </a:p>
        </p:txBody>
      </p:sp>
      <p:sp>
        <p:nvSpPr>
          <p:cNvPr id="22" name="TextBox 21"/>
          <p:cNvSpPr txBox="1"/>
          <p:nvPr/>
        </p:nvSpPr>
        <p:spPr>
          <a:xfrm>
            <a:off x="6406743" y="1867916"/>
            <a:ext cx="2101519" cy="109626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code, in the sandbox, on the holdout's inputs only</a:t>
            </a:r>
          </a:p>
        </p:txBody>
      </p:sp>
      <p:cxnSp>
        <p:nvCxnSpPr>
          <p:cNvPr id="23" name="Connector 22"/>
          <p:cNvCxnSpPr/>
          <p:nvPr/>
        </p:nvCxnSpPr>
        <p:spPr>
          <a:xfrm>
            <a:off x="5995263" y="2223516"/>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947175" y="1354836"/>
            <a:ext cx="2467279"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7175" y="1354836"/>
            <a:ext cx="2467279"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30055" y="1519428"/>
            <a:ext cx="2101519"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Metrics out</a:t>
            </a:r>
          </a:p>
        </p:txBody>
      </p:sp>
      <p:sp>
        <p:nvSpPr>
          <p:cNvPr id="27" name="TextBox 26"/>
          <p:cNvSpPr txBox="1"/>
          <p:nvPr/>
        </p:nvSpPr>
        <p:spPr>
          <a:xfrm>
            <a:off x="9130055" y="1867916"/>
            <a:ext cx="2101519" cy="109626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MAYA computes them; rows never leave</a:t>
            </a:r>
          </a:p>
        </p:txBody>
      </p:sp>
      <p:cxnSp>
        <p:nvCxnSpPr>
          <p:cNvPr id="28" name="Connector 27"/>
          <p:cNvCxnSpPr/>
          <p:nvPr/>
        </p:nvCxnSpPr>
        <p:spPr>
          <a:xfrm>
            <a:off x="8718575" y="2223516"/>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302508"/>
            <a:ext cx="10637215" cy="2942844"/>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C1C1E"/>
                </a:solidFill>
                <a:latin typeface="Calibri"/>
              </a:rPr>
              <a:t>MAYA cannot evaluate a model it cannot read, but it can run one it has validated. The target never enters the sandbox; the sandbox has no network and no view of storage; the score records the artifact's hash and the sandbox tier.</a:t>
            </a:r>
          </a:p>
          <a:p>
            <a:pPr>
              <a:lnSpc>
                <a:spcPct val="120000"/>
              </a:lnSpc>
              <a:spcBef>
                <a:spcPts val="600"/>
              </a:spcBef>
              <a:spcAft>
                <a:spcPts val="0"/>
              </a:spcAft>
            </a:pPr>
            <a:r>
              <a:rPr sz="1500" b="1">
                <a:solidFill>
                  <a:srgbClr val="A51C30"/>
                </a:solidFill>
                <a:latin typeface="Calibri"/>
              </a:rPr>
              <a:t>▪  </a:t>
            </a:r>
            <a:r>
              <a:rPr sz="1500" b="0">
                <a:solidFill>
                  <a:srgbClr val="1C1C1E"/>
                </a:solidFill>
                <a:latin typeface="Calibri"/>
              </a:rPr>
              <a:t>A black box with no validated artifact is refused by name, and one that reads the target as an input is refused rather than handed the answer.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IS THE CODE THE MATHEMATICS?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Differential testing, and what a black box forfeits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37</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model has two descriptions: the tree MAYA holds, and the Python somebody uploaded. Nothing guarantees they agree, so MAYA compares them on numbers rather than asking anybody to assert it.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maya/formula/conformance.py and maya/services/models.py; ADR-007. Part 8 carries two studies through on these terms: a card-fraud network as a declared black box, and a yield curve whose planted bug only conformance testing can see.</a:t>
            </a:r>
          </a:p>
        </p:txBody>
      </p:sp>
      <p:sp>
        <p:nvSpPr>
          <p:cNvPr id="13" name="Rectangle 12"/>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Conformance testing</a:t>
            </a:r>
          </a:p>
        </p:txBody>
      </p:sp>
      <p:sp>
        <p:nvSpPr>
          <p:cNvPr id="16" name="TextBox 15"/>
          <p:cNvSpPr txBox="1"/>
          <p:nvPr/>
        </p:nvSpPr>
        <p:spPr>
          <a:xfrm>
            <a:off x="777240"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250" b="1">
                <a:solidFill>
                  <a:srgbClr val="A51C30"/>
                </a:solidFill>
                <a:latin typeface="Calibri"/>
              </a:rPr>
              <a:t>▪  </a:t>
            </a:r>
            <a:r>
              <a:rPr sz="1250" b="1">
                <a:solidFill>
                  <a:srgbClr val="1C1C1E"/>
                </a:solidFill>
                <a:latin typeface="Calibri"/>
              </a:rPr>
              <a:t>The comparison</a:t>
            </a:r>
          </a:p>
          <a:p>
            <a:pPr lvl="1">
              <a:lnSpc>
                <a:spcPct val="120000"/>
              </a:lnSpc>
              <a:spcBef>
                <a:spcPts val="0"/>
              </a:spcBef>
              <a:spcAft>
                <a:spcPts val="0"/>
              </a:spcAft>
            </a:pPr>
            <a:r>
              <a:rPr sz="1100" b="0">
                <a:solidFill>
                  <a:srgbClr val="4A4F57"/>
                </a:solidFill>
                <a:latin typeface="Calibri"/>
              </a:rPr>
              <a:t>The uploaded code is run against MAYA's own evaluation of the documented mathematics on sampled inputs, to a relative tolerance of 1e-9.</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Counterexamples, not a verdict</a:t>
            </a:r>
          </a:p>
          <a:p>
            <a:pPr lvl="1">
              <a:lnSpc>
                <a:spcPct val="120000"/>
              </a:lnSpc>
              <a:spcBef>
                <a:spcPts val="0"/>
              </a:spcBef>
              <a:spcAft>
                <a:spcPts val="0"/>
              </a:spcAft>
            </a:pPr>
            <a:r>
              <a:rPr sz="1100" b="0">
                <a:solidFill>
                  <a:srgbClr val="4A4F57"/>
                </a:solidFill>
                <a:latin typeface="Calibri"/>
              </a:rPr>
              <a:t>Up to ten disagreeing rows with the expected and the actual value, so the argument is about numbers.</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Tied to the exact artifact</a:t>
            </a:r>
          </a:p>
          <a:p>
            <a:pPr lvl="1">
              <a:lnSpc>
                <a:spcPct val="120000"/>
              </a:lnSpc>
              <a:spcBef>
                <a:spcPts val="0"/>
              </a:spcBef>
              <a:spcAft>
                <a:spcPts val="0"/>
              </a:spcAft>
            </a:pPr>
            <a:r>
              <a:rPr sz="1100" b="0">
                <a:solidFill>
                  <a:srgbClr val="4A4F57"/>
                </a:solidFill>
                <a:latin typeface="Calibri"/>
              </a:rPr>
              <a:t>A version with code cannot advance until conformance has run against that artifact hash and agreed everywhere sampled.</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Honest about itself, in its first four words</a:t>
            </a:r>
          </a:p>
          <a:p>
            <a:pPr lvl="1">
              <a:lnSpc>
                <a:spcPct val="120000"/>
              </a:lnSpc>
              <a:spcBef>
                <a:spcPts val="0"/>
              </a:spcBef>
              <a:spcAft>
                <a:spcPts val="0"/>
              </a:spcAft>
            </a:pPr>
            <a:r>
              <a:rPr sz="1100" b="0">
                <a:solidFill>
                  <a:srgbClr val="4A4F57"/>
                </a:solidFill>
                <a:latin typeface="Calibri"/>
              </a:rPr>
              <a:t>Sampled agreement is not proof, and MAYA cannot know whether a feature set is representative. An undeclared dial is placed off-centre inside its bounds so a comparison cannot miss a bug by landing on a round number.</a:t>
            </a:r>
          </a:p>
        </p:txBody>
      </p:sp>
      <p:sp>
        <p:nvSpPr>
          <p:cNvPr id="17" name="Rectangle 16"/>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Declared black boxes</a:t>
            </a:r>
          </a:p>
        </p:txBody>
      </p:sp>
      <p:sp>
        <p:nvSpPr>
          <p:cNvPr id="20" name="TextBox 19"/>
          <p:cNvSpPr txBox="1"/>
          <p:nvPr/>
        </p:nvSpPr>
        <p:spPr>
          <a:xfrm>
            <a:off x="6278727" y="2552573"/>
            <a:ext cx="5135727" cy="3125850"/>
          </a:xfrm>
          <a:prstGeom prst="rect">
            <a:avLst/>
          </a:prstGeom>
          <a:noFill/>
        </p:spPr>
        <p:txBody>
          <a:bodyPr wrap="square" lIns="0" rIns="0" tIns="0" bIns="0" anchor="t">
            <a:spAutoFit/>
          </a:bodyPr>
          <a:lstStyle/>
          <a:p>
            <a:pPr algn="l">
              <a:lnSpc>
                <a:spcPct val="120000"/>
              </a:lnSpc>
              <a:spcBef>
                <a:spcPts val="0"/>
              </a:spcBef>
              <a:spcAft>
                <a:spcPts val="100"/>
              </a:spcAft>
            </a:pPr>
            <a:r>
              <a:rPr sz="1300" b="1">
                <a:solidFill>
                  <a:srgbClr val="A51C30"/>
                </a:solidFill>
                <a:latin typeface="Calibri"/>
              </a:rPr>
              <a:t>▪  </a:t>
            </a:r>
            <a:r>
              <a:rPr sz="1300" b="1">
                <a:solidFill>
                  <a:srgbClr val="1C1C1E"/>
                </a:solidFill>
                <a:latin typeface="Calibri"/>
              </a:rPr>
              <a:t>Registered, not excluded</a:t>
            </a:r>
          </a:p>
          <a:p>
            <a:pPr lvl="1">
              <a:lnSpc>
                <a:spcPct val="120000"/>
              </a:lnSpc>
              <a:spcBef>
                <a:spcPts val="0"/>
              </a:spcBef>
              <a:spcAft>
                <a:spcPts val="0"/>
              </a:spcAft>
            </a:pPr>
            <a:r>
              <a:rPr sz="1150" b="0">
                <a:solidFill>
                  <a:srgbClr val="4A4F57"/>
                </a:solidFill>
                <a:latin typeface="Calibri"/>
              </a:rPr>
              <a:t>With the estimate and the architecture declared, the input contract enforced, and warrants that behave exactly as they do for anything else.</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Conformance is skipped and says so</a:t>
            </a:r>
          </a:p>
          <a:p>
            <a:pPr lvl="1">
              <a:lnSpc>
                <a:spcPct val="120000"/>
              </a:lnSpc>
              <a:spcBef>
                <a:spcPts val="0"/>
              </a:spcBef>
              <a:spcAft>
                <a:spcPts val="0"/>
              </a:spcAft>
            </a:pPr>
            <a:r>
              <a:rPr sz="1150" b="0">
                <a:solidFill>
                  <a:srgbClr val="4A4F57"/>
                </a:solidFill>
                <a:latin typeface="Calibri"/>
              </a:rPr>
              <a:t>There is no documented closed form to test against, and the report states that rather than passing quietly.</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Blind scoring is refused by name</a:t>
            </a:r>
          </a:p>
          <a:p>
            <a:pPr lvl="1">
              <a:lnSpc>
                <a:spcPct val="120000"/>
              </a:lnSpc>
              <a:spcBef>
                <a:spcPts val="0"/>
              </a:spcBef>
              <a:spcAft>
                <a:spcPts val="0"/>
              </a:spcAft>
            </a:pPr>
            <a:r>
              <a:rPr sz="1150" b="0">
                <a:solidFill>
                  <a:srgbClr val="4A4F57"/>
                </a:solidFill>
                <a:latin typeface="Calibri"/>
              </a:rPr>
              <a:t>Scoring evaluates the mathematics in process and never runs the uploaded artifact, so for a declared black box there is nothing to score.</a:t>
            </a:r>
          </a:p>
          <a:p>
            <a:pPr>
              <a:lnSpc>
                <a:spcPct val="120000"/>
              </a:lnSpc>
              <a:spcBef>
                <a:spcPts val="500"/>
              </a:spcBef>
              <a:spcAft>
                <a:spcPts val="100"/>
              </a:spcAft>
            </a:pPr>
            <a:r>
              <a:rPr sz="1300" b="1">
                <a:solidFill>
                  <a:srgbClr val="A51C30"/>
                </a:solidFill>
                <a:latin typeface="Calibri"/>
              </a:rPr>
              <a:t>▪  </a:t>
            </a:r>
            <a:r>
              <a:rPr sz="1300" b="1">
                <a:solidFill>
                  <a:srgbClr val="1C1C1E"/>
                </a:solidFill>
                <a:latin typeface="Calibri"/>
              </a:rPr>
              <a:t>Covenants become the control</a:t>
            </a:r>
          </a:p>
          <a:p>
            <a:pPr lvl="1">
              <a:lnSpc>
                <a:spcPct val="120000"/>
              </a:lnSpc>
              <a:spcBef>
                <a:spcPts val="0"/>
              </a:spcBef>
              <a:spcAft>
                <a:spcPts val="0"/>
              </a:spcAft>
            </a:pPr>
            <a:r>
              <a:rPr sz="1150" b="0">
                <a:solidFill>
                  <a:srgbClr val="4A4F57"/>
                </a:solidFill>
                <a:latin typeface="Calibri"/>
              </a:rPr>
              <a:t>For an opaque model they are the only one available, which is exactly where Part 6 said the review effort belongs.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CONNECTORS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Models trained elsewhere come in; lineage goes out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38</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Tested against the documents each system publishes and a recorded HTTP exchange — not yet against a live service, which the documentation says.</a:t>
            </a:r>
          </a:p>
        </p:txBody>
      </p:sp>
      <p:graphicFrame>
        <p:nvGraphicFramePr>
          <p:cNvPr id="11" name="Table 10"/>
          <p:cNvGraphicFramePr>
            <a:graphicFrameLocks noGrp="1"/>
          </p:cNvGraphicFramePr>
          <p:nvPr/>
        </p:nvGraphicFramePr>
        <p:xfrm>
          <a:off x="777240" y="2040509"/>
          <a:ext cx="10637214" cy="3231578"/>
        </p:xfrm>
        <a:graphic>
          <a:graphicData uri="http://schemas.openxmlformats.org/drawingml/2006/table">
            <a:tbl>
              <a:tblPr firstRow="1">
                <a:tableStyleId>{5C22544A-7EE6-4342-B048-85BDC9FD1C3A}</a:tableStyleId>
              </a:tblPr>
              <a:tblGrid>
                <a:gridCol w="3545738"/>
                <a:gridCol w="3545738"/>
                <a:gridCol w="3545738"/>
              </a:tblGrid>
              <a:tr h="318579">
                <a:tc>
                  <a:txBody>
                    <a:bodyPr wrap="square"/>
                    <a:lstStyle/>
                    <a:p>
                      <a:r>
                        <a:rPr sz="1300" b="1">
                          <a:solidFill>
                            <a:srgbClr val="FFFFFF"/>
                          </a:solidFill>
                          <a:latin typeface="Calibri"/>
                        </a:rPr>
                        <a:t>System</a:t>
                      </a:r>
                    </a:p>
                  </a:txBody>
                  <a:tcPr marL="82296" marR="64008" marT="32004" marB="32004" anchor="ctr">
                    <a:solidFill>
                      <a:srgbClr val="A51C30"/>
                    </a:solidFill>
                  </a:tcPr>
                </a:tc>
                <a:tc>
                  <a:txBody>
                    <a:bodyPr wrap="square"/>
                    <a:lstStyle/>
                    <a:p>
                      <a:r>
                        <a:rPr sz="1300" b="1">
                          <a:solidFill>
                            <a:srgbClr val="FFFFFF"/>
                          </a:solidFill>
                          <a:latin typeface="Calibri"/>
                        </a:rPr>
                        <a:t>What MAYA does</a:t>
                      </a:r>
                    </a:p>
                  </a:txBody>
                  <a:tcPr marL="82296" marR="64008" marT="32004" marB="32004" anchor="ctr">
                    <a:solidFill>
                      <a:srgbClr val="A51C30"/>
                    </a:solidFill>
                  </a:tcPr>
                </a:tc>
                <a:tc>
                  <a:txBody>
                    <a:bodyPr wrap="square"/>
                    <a:lstStyle/>
                    <a:p>
                      <a:r>
                        <a:rPr sz="1300" b="1">
                          <a:solidFill>
                            <a:srgbClr val="FFFFFF"/>
                          </a:solidFill>
                          <a:latin typeface="Calibri"/>
                        </a:rPr>
                        <a:t>What it insists on</a:t>
                      </a:r>
                    </a:p>
                  </a:txBody>
                  <a:tcPr marL="82296" marR="64008" marT="32004" marB="32004" anchor="ctr">
                    <a:solidFill>
                      <a:srgbClr val="A51C30"/>
                    </a:solidFill>
                  </a:tcPr>
                </a:tc>
              </a:tr>
              <a:tr h="784479">
                <a:tc>
                  <a:txBody>
                    <a:bodyPr wrap="square"/>
                    <a:lstStyle/>
                    <a:p>
                      <a:r>
                        <a:rPr sz="1400" b="1">
                          <a:solidFill>
                            <a:srgbClr val="761422"/>
                          </a:solidFill>
                          <a:latin typeface="Calibri"/>
                        </a:rPr>
                        <a:t>MLflow</a:t>
                      </a:r>
                    </a:p>
                  </a:txBody>
                  <a:tcPr marL="82296" marR="64008" marT="32004" marB="32004" anchor="ctr">
                    <a:solidFill>
                      <a:srgbClr val="FFFFFF"/>
                    </a:solidFill>
                  </a:tcPr>
                </a:tc>
                <a:tc>
                  <a:txBody>
                    <a:bodyPr wrap="square"/>
                    <a:lstStyle/>
                    <a:p>
                      <a:r>
                        <a:rPr sz="1400" b="0">
                          <a:solidFill>
                            <a:srgbClr val="1C1C1E"/>
                          </a:solidFill>
                          <a:latin typeface="Calibri"/>
                        </a:rPr>
                        <a:t>Imports a model from its MLmodel file, or fetches it from the configured tracking server</a:t>
                      </a:r>
                    </a:p>
                  </a:txBody>
                  <a:tcPr marL="82296" marR="64008" marT="32004" marB="32004" anchor="ctr">
                    <a:solidFill>
                      <a:srgbClr val="FFFFFF"/>
                    </a:solidFill>
                  </a:tcPr>
                </a:tc>
                <a:tc>
                  <a:txBody>
                    <a:bodyPr wrap="square"/>
                    <a:lstStyle/>
                    <a:p>
                      <a:r>
                        <a:rPr sz="1400" b="0">
                          <a:solidFill>
                            <a:srgbClr val="1C1C1E"/>
                          </a:solidFill>
                          <a:latin typeface="Calibri"/>
                        </a:rPr>
                        <a:t>A signature: the input contract is the vendor's, never a guess</a:t>
                      </a:r>
                    </a:p>
                  </a:txBody>
                  <a:tcPr marL="82296" marR="64008" marT="32004" marB="32004" anchor="ctr">
                    <a:solidFill>
                      <a:srgbClr val="FFFFFF"/>
                    </a:solidFill>
                  </a:tcPr>
                </a:tc>
              </a:tr>
              <a:tr h="784479">
                <a:tc>
                  <a:txBody>
                    <a:bodyPr wrap="square"/>
                    <a:lstStyle/>
                    <a:p>
                      <a:r>
                        <a:rPr sz="1400" b="1">
                          <a:solidFill>
                            <a:srgbClr val="761422"/>
                          </a:solidFill>
                          <a:latin typeface="Calibri"/>
                        </a:rPr>
                        <a:t>Amazon SageMaker</a:t>
                      </a:r>
                    </a:p>
                  </a:txBody>
                  <a:tcPr marL="82296" marR="64008" marT="32004" marB="32004" anchor="ctr">
                    <a:solidFill>
                      <a:srgbClr val="F6F3EF"/>
                    </a:solidFill>
                  </a:tcPr>
                </a:tc>
                <a:tc>
                  <a:txBody>
                    <a:bodyPr wrap="square"/>
                    <a:lstStyle/>
                    <a:p>
                      <a:r>
                        <a:rPr sz="1400" b="0">
                          <a:solidFill>
                            <a:srgbClr val="1C1C1E"/>
                          </a:solidFill>
                          <a:latin typeface="Calibri"/>
                        </a:rPr>
                        <a:t>Imports a model package from its description: image, data, framework, approval</a:t>
                      </a:r>
                    </a:p>
                  </a:txBody>
                  <a:tcPr marL="82296" marR="64008" marT="32004" marB="32004" anchor="ctr">
                    <a:solidFill>
                      <a:srgbClr val="F6F3EF"/>
                    </a:solidFill>
                  </a:tcPr>
                </a:tc>
                <a:tc>
                  <a:txBody>
                    <a:bodyPr wrap="square"/>
                    <a:lstStyle/>
                    <a:p>
                      <a:r>
                        <a:rPr sz="1400" b="0">
                          <a:solidFill>
                            <a:srgbClr val="1C1C1E"/>
                          </a:solidFill>
                          <a:latin typeface="Calibri"/>
                        </a:rPr>
                        <a:t>Inputs named, since SageMaker records none</a:t>
                      </a:r>
                    </a:p>
                  </a:txBody>
                  <a:tcPr marL="82296" marR="64008" marT="32004" marB="32004" anchor="ctr">
                    <a:solidFill>
                      <a:srgbClr val="F6F3EF"/>
                    </a:solidFill>
                  </a:tcPr>
                </a:tc>
              </a:tr>
              <a:tr h="784479">
                <a:tc>
                  <a:txBody>
                    <a:bodyPr wrap="square"/>
                    <a:lstStyle/>
                    <a:p>
                      <a:r>
                        <a:rPr sz="1400" b="1">
                          <a:solidFill>
                            <a:srgbClr val="761422"/>
                          </a:solidFill>
                          <a:latin typeface="Calibri"/>
                        </a:rPr>
                        <a:t>OpenLineage</a:t>
                      </a:r>
                    </a:p>
                  </a:txBody>
                  <a:tcPr marL="82296" marR="64008" marT="32004" marB="32004" anchor="ctr">
                    <a:solidFill>
                      <a:srgbClr val="FFFFFF"/>
                    </a:solidFill>
                  </a:tcPr>
                </a:tc>
                <a:tc>
                  <a:txBody>
                    <a:bodyPr wrap="square"/>
                    <a:lstStyle/>
                    <a:p>
                      <a:r>
                        <a:rPr sz="1400" b="0">
                          <a:solidFill>
                            <a:srgbClr val="1C1C1E"/>
                          </a:solidFill>
                          <a:latin typeface="Calibri"/>
                        </a:rPr>
                        <a:t>Every lineage edge as a RunEvent, downloaded or posted to Marquez or any consumer</a:t>
                      </a:r>
                    </a:p>
                  </a:txBody>
                  <a:tcPr marL="82296" marR="64008" marT="32004" marB="32004" anchor="ctr">
                    <a:solidFill>
                      <a:srgbClr val="FFFFFF"/>
                    </a:solidFill>
                  </a:tcPr>
                </a:tc>
                <a:tc>
                  <a:txBody>
                    <a:bodyPr wrap="square"/>
                    <a:lstStyle/>
                    <a:p>
                      <a:r>
                        <a:rPr sz="1400" b="0">
                          <a:solidFill>
                            <a:srgbClr val="1C1C1E"/>
                          </a:solidFill>
                          <a:latin typeface="Calibri"/>
                        </a:rPr>
                        <a:t>Administrators only</a:t>
                      </a:r>
                    </a:p>
                  </a:txBody>
                  <a:tcPr marL="82296" marR="64008" marT="32004" marB="32004" anchor="ctr">
                    <a:solidFill>
                      <a:srgbClr val="FFFFFF"/>
                    </a:solidFill>
                  </a:tcPr>
                </a:tc>
              </a:tr>
              <a:tr h="559562">
                <a:tc>
                  <a:txBody>
                    <a:bodyPr wrap="square"/>
                    <a:lstStyle/>
                    <a:p>
                      <a:r>
                        <a:rPr sz="1400" b="1">
                          <a:solidFill>
                            <a:srgbClr val="761422"/>
                          </a:solidFill>
                          <a:latin typeface="Calibri"/>
                        </a:rPr>
                        <a:t>Snowflake, Databricks</a:t>
                      </a:r>
                    </a:p>
                  </a:txBody>
                  <a:tcPr marL="82296" marR="64008" marT="32004" marB="32004" anchor="ctr">
                    <a:solidFill>
                      <a:srgbClr val="F6F3EF"/>
                    </a:solidFill>
                  </a:tcPr>
                </a:tc>
                <a:tc>
                  <a:txBody>
                    <a:bodyPr wrap="square"/>
                    <a:lstStyle/>
                    <a:p>
                      <a:r>
                        <a:rPr sz="1400" b="0">
                          <a:solidFill>
                            <a:srgbClr val="1C1C1E"/>
                          </a:solidFill>
                          <a:latin typeface="Calibri"/>
                        </a:rPr>
                        <a:t>Read-only SQL sources through their SQLAlchemy dialects</a:t>
                      </a:r>
                    </a:p>
                  </a:txBody>
                  <a:tcPr marL="82296" marR="64008" marT="32004" marB="32004" anchor="ctr">
                    <a:solidFill>
                      <a:srgbClr val="F6F3EF"/>
                    </a:solidFill>
                  </a:tcPr>
                </a:tc>
                <a:tc>
                  <a:txBody>
                    <a:bodyPr wrap="square"/>
                    <a:lstStyle/>
                    <a:p>
                      <a:r>
                        <a:rPr sz="1400" b="0">
                          <a:solidFill>
                            <a:srgbClr val="1C1C1E"/>
                          </a:solidFill>
                          <a:latin typeface="Calibri"/>
                        </a:rPr>
                        <a:t>A named read-only role; SELECT only</a:t>
                      </a:r>
                    </a:p>
                  </a:txBody>
                  <a:tcPr marL="82296" marR="64008" marT="32004" marB="32004" anchor="ctr">
                    <a:solidFill>
                      <a:srgbClr val="F6F3E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BESIDE YOUR ML PLATFORM</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licence reaches the platform that trains and serves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39</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MAYA trains and serves nothing itself. It licenses what your platform does, and keeps the evidence of each step.</a:t>
            </a:r>
          </a:p>
        </p:txBody>
      </p:sp>
      <p:graphicFrame>
        <p:nvGraphicFramePr>
          <p:cNvPr id="11" name="Table 10"/>
          <p:cNvGraphicFramePr>
            <a:graphicFrameLocks noGrp="1"/>
          </p:cNvGraphicFramePr>
          <p:nvPr/>
        </p:nvGraphicFramePr>
        <p:xfrm>
          <a:off x="777240" y="2040509"/>
          <a:ext cx="10637214" cy="4120479"/>
        </p:xfrm>
        <a:graphic>
          <a:graphicData uri="http://schemas.openxmlformats.org/drawingml/2006/table">
            <a:tbl>
              <a:tblPr firstRow="1">
                <a:tableStyleId>{5C22544A-7EE6-4342-B048-85BDC9FD1C3A}</a:tableStyleId>
              </a:tblPr>
              <a:tblGrid>
                <a:gridCol w="3545738"/>
                <a:gridCol w="3545738"/>
                <a:gridCol w="3545738"/>
              </a:tblGrid>
              <a:tr h="318579">
                <a:tc>
                  <a:txBody>
                    <a:bodyPr wrap="square"/>
                    <a:lstStyle/>
                    <a:p>
                      <a:r>
                        <a:rPr sz="1300" b="1">
                          <a:solidFill>
                            <a:srgbClr val="FFFFFF"/>
                          </a:solidFill>
                          <a:latin typeface="Calibri"/>
                        </a:rPr>
                        <a:t>Step</a:t>
                      </a:r>
                    </a:p>
                  </a:txBody>
                  <a:tcPr marL="82296" marR="64008" marT="32004" marB="32004" anchor="ctr">
                    <a:solidFill>
                      <a:srgbClr val="A51C30"/>
                    </a:solidFill>
                  </a:tcPr>
                </a:tc>
                <a:tc>
                  <a:txBody>
                    <a:bodyPr wrap="square"/>
                    <a:lstStyle/>
                    <a:p>
                      <a:r>
                        <a:rPr sz="1300" b="1">
                          <a:solidFill>
                            <a:srgbClr val="FFFFFF"/>
                          </a:solidFill>
                          <a:latin typeface="Calibri"/>
                        </a:rPr>
                        <a:t>What MAYA does</a:t>
                      </a:r>
                    </a:p>
                  </a:txBody>
                  <a:tcPr marL="82296" marR="64008" marT="32004" marB="32004" anchor="ctr">
                    <a:solidFill>
                      <a:srgbClr val="A51C30"/>
                    </a:solidFill>
                  </a:tcPr>
                </a:tc>
                <a:tc>
                  <a:txBody>
                    <a:bodyPr wrap="square"/>
                    <a:lstStyle/>
                    <a:p>
                      <a:r>
                        <a:rPr sz="1300" b="1">
                          <a:solidFill>
                            <a:srgbClr val="FFFFFF"/>
                          </a:solidFill>
                          <a:latin typeface="Calibri"/>
                        </a:rPr>
                        <a:t>What it never does</a:t>
                      </a:r>
                    </a:p>
                  </a:txBody>
                  <a:tcPr marL="82296" marR="64008" marT="32004" marB="32004" anchor="ctr">
                    <a:solidFill>
                      <a:srgbClr val="A51C30"/>
                    </a:solidFill>
                  </a:tcPr>
                </a:tc>
              </a:tr>
              <a:tr h="760380">
                <a:tc>
                  <a:txBody>
                    <a:bodyPr wrap="square"/>
                    <a:lstStyle/>
                    <a:p>
                      <a:r>
                        <a:rPr sz="1350" b="1">
                          <a:solidFill>
                            <a:srgbClr val="761422"/>
                          </a:solidFill>
                          <a:latin typeface="Calibri"/>
                        </a:rPr>
                        <a:t>Registry</a:t>
                      </a:r>
                    </a:p>
                  </a:txBody>
                  <a:tcPr marL="82296" marR="64008" marT="32004" marB="32004" anchor="ctr">
                    <a:solidFill>
                      <a:srgbClr val="FFFFFF"/>
                    </a:solidFill>
                  </a:tcPr>
                </a:tc>
                <a:tc>
                  <a:txBody>
                    <a:bodyPr wrap="square"/>
                    <a:lstStyle/>
                    <a:p>
                      <a:r>
                        <a:rPr sz="1350" b="0">
                          <a:solidFill>
                            <a:srgbClr val="1C1C1E"/>
                          </a:solidFill>
                          <a:latin typeface="Calibri"/>
                        </a:rPr>
                        <a:t>Sets an MLflow alias on a version while its execution warrant is live, removes it when not</a:t>
                      </a:r>
                    </a:p>
                  </a:txBody>
                  <a:tcPr marL="82296" marR="64008" marT="32004" marB="32004" anchor="ctr">
                    <a:solidFill>
                      <a:srgbClr val="FFFFFF"/>
                    </a:solidFill>
                  </a:tcPr>
                </a:tc>
                <a:tc>
                  <a:txBody>
                    <a:bodyPr wrap="square"/>
                    <a:lstStyle/>
                    <a:p>
                      <a:r>
                        <a:rPr sz="1350" b="0">
                          <a:solidFill>
                            <a:srgbClr val="1C1C1E"/>
                          </a:solidFill>
                          <a:latin typeface="Calibri"/>
                        </a:rPr>
                        <a:t>Deploy: the alias is what your deployment follows</a:t>
                      </a:r>
                    </a:p>
                  </a:txBody>
                  <a:tcPr marL="82296" marR="64008" marT="32004" marB="32004" anchor="ctr">
                    <a:solidFill>
                      <a:srgbClr val="FFFFFF"/>
                    </a:solidFill>
                  </a:tcPr>
                </a:tc>
              </a:tr>
              <a:tr h="760380">
                <a:tc>
                  <a:txBody>
                    <a:bodyPr wrap="square"/>
                    <a:lstStyle/>
                    <a:p>
                      <a:r>
                        <a:rPr sz="1350" b="1">
                          <a:solidFill>
                            <a:srgbClr val="761422"/>
                          </a:solidFill>
                          <a:latin typeface="Calibri"/>
                        </a:rPr>
                        <a:t>Scoring call</a:t>
                      </a:r>
                    </a:p>
                  </a:txBody>
                  <a:tcPr marL="82296" marR="64008" marT="32004" marB="32004" anchor="ctr">
                    <a:solidFill>
                      <a:srgbClr val="F6F3EF"/>
                    </a:solidFill>
                  </a:tcPr>
                </a:tc>
                <a:tc>
                  <a:txBody>
                    <a:bodyPr wrap="square"/>
                    <a:lstStyle/>
                    <a:p>
                      <a:r>
                        <a:rPr sz="1350" b="0">
                          <a:solidFill>
                            <a:srgbClr val="1C1C1E"/>
                          </a:solidFill>
                          <a:latin typeface="Calibri"/>
                        </a:rPr>
                        <a:t>An SDK guard checks the warrant before each call and reports the run after it</a:t>
                      </a:r>
                    </a:p>
                  </a:txBody>
                  <a:tcPr marL="82296" marR="64008" marT="32004" marB="32004" anchor="ctr">
                    <a:solidFill>
                      <a:srgbClr val="F6F3EF"/>
                    </a:solidFill>
                  </a:tcPr>
                </a:tc>
                <a:tc>
                  <a:txBody>
                    <a:bodyPr wrap="square"/>
                    <a:lstStyle/>
                    <a:p>
                      <a:r>
                        <a:rPr sz="1350" b="0">
                          <a:solidFill>
                            <a:srgbClr val="1C1C1E"/>
                          </a:solidFill>
                          <a:latin typeface="Calibri"/>
                        </a:rPr>
                        <a:t>Sit in the request path of your service</a:t>
                      </a:r>
                    </a:p>
                  </a:txBody>
                  <a:tcPr marL="82296" marR="64008" marT="32004" marB="32004" anchor="ctr">
                    <a:solidFill>
                      <a:srgbClr val="F6F3EF"/>
                    </a:solidFill>
                  </a:tcPr>
                </a:tc>
              </a:tr>
              <a:tr h="760380">
                <a:tc>
                  <a:txBody>
                    <a:bodyPr wrap="square"/>
                    <a:lstStyle/>
                    <a:p>
                      <a:r>
                        <a:rPr sz="1350" b="1">
                          <a:solidFill>
                            <a:srgbClr val="761422"/>
                          </a:solidFill>
                          <a:latin typeface="Calibri"/>
                        </a:rPr>
                        <a:t>Training</a:t>
                      </a:r>
                    </a:p>
                  </a:txBody>
                  <a:tcPr marL="82296" marR="64008" marT="32004" marB="32004" anchor="ctr">
                    <a:solidFill>
                      <a:srgbClr val="FFFFFF"/>
                    </a:solidFill>
                  </a:tcPr>
                </a:tc>
                <a:tc>
                  <a:txBody>
                    <a:bodyPr wrap="square"/>
                    <a:lstStyle/>
                    <a:p>
                      <a:r>
                        <a:rPr sz="1350" b="0">
                          <a:solidFill>
                            <a:srgbClr val="1C1C1E"/>
                          </a:solidFill>
                          <a:latin typeface="Calibri"/>
                        </a:rPr>
                        <a:t>Turns a training warrant into a signed Kubernetes or SageMaker job with a one-day key</a:t>
                      </a:r>
                    </a:p>
                  </a:txBody>
                  <a:tcPr marL="82296" marR="64008" marT="32004" marB="32004" anchor="ctr">
                    <a:solidFill>
                      <a:srgbClr val="FFFFFF"/>
                    </a:solidFill>
                  </a:tcPr>
                </a:tc>
                <a:tc>
                  <a:txBody>
                    <a:bodyPr wrap="square"/>
                    <a:lstStyle/>
                    <a:p>
                      <a:r>
                        <a:rPr sz="1350" b="0">
                          <a:solidFill>
                            <a:srgbClr val="1C1C1E"/>
                          </a:solidFill>
                          <a:latin typeface="Calibri"/>
                        </a:rPr>
                        <a:t>Run the job: it goes to your compute</a:t>
                      </a:r>
                    </a:p>
                  </a:txBody>
                  <a:tcPr marL="82296" marR="64008" marT="32004" marB="32004" anchor="ctr">
                    <a:solidFill>
                      <a:srgbClr val="FFFFFF"/>
                    </a:solidFill>
                  </a:tcPr>
                </a:tc>
              </a:tr>
              <a:tr h="760380">
                <a:tc>
                  <a:txBody>
                    <a:bodyPr wrap="square"/>
                    <a:lstStyle/>
                    <a:p>
                      <a:r>
                        <a:rPr sz="1350" b="1">
                          <a:solidFill>
                            <a:srgbClr val="761422"/>
                          </a:solidFill>
                          <a:latin typeface="Calibri"/>
                        </a:rPr>
                        <a:t>A second fit</a:t>
                      </a:r>
                    </a:p>
                  </a:txBody>
                  <a:tcPr marL="82296" marR="64008" marT="32004" marB="32004" anchor="ctr">
                    <a:solidFill>
                      <a:srgbClr val="F6F3EF"/>
                    </a:solidFill>
                  </a:tcPr>
                </a:tc>
                <a:tc>
                  <a:txBody>
                    <a:bodyPr wrap="square"/>
                    <a:lstStyle/>
                    <a:p>
                      <a:r>
                        <a:rPr sz="1350" b="0">
                          <a:solidFill>
                            <a:srgbClr val="1C1C1E"/>
                          </a:solidFill>
                          <a:latin typeface="Calibri"/>
                        </a:rPr>
                        <a:t>Fits a closed-form model itself on the training rows and compares, as evidence</a:t>
                      </a:r>
                    </a:p>
                  </a:txBody>
                  <a:tcPr marL="82296" marR="64008" marT="32004" marB="32004" anchor="ctr">
                    <a:solidFill>
                      <a:srgbClr val="F6F3EF"/>
                    </a:solidFill>
                  </a:tcPr>
                </a:tc>
                <a:tc>
                  <a:txBody>
                    <a:bodyPr wrap="square"/>
                    <a:lstStyle/>
                    <a:p>
                      <a:r>
                        <a:rPr sz="1350" b="0">
                          <a:solidFill>
                            <a:srgbClr val="1C1C1E"/>
                          </a:solidFill>
                          <a:latin typeface="Calibri"/>
                        </a:rPr>
                        <a:t>Supply the parameters it checks</a:t>
                      </a:r>
                    </a:p>
                  </a:txBody>
                  <a:tcPr marL="82296" marR="64008" marT="32004" marB="32004" anchor="ctr">
                    <a:solidFill>
                      <a:srgbClr val="F6F3EF"/>
                    </a:solidFill>
                  </a:tcPr>
                </a:tc>
              </a:tr>
              <a:tr h="760380">
                <a:tc>
                  <a:txBody>
                    <a:bodyPr wrap="square"/>
                    <a:lstStyle/>
                    <a:p>
                      <a:r>
                        <a:rPr sz="1350" b="1">
                          <a:solidFill>
                            <a:srgbClr val="761422"/>
                          </a:solidFill>
                          <a:latin typeface="Calibri"/>
                        </a:rPr>
                        <a:t>Batch scoring</a:t>
                      </a:r>
                    </a:p>
                  </a:txBody>
                  <a:tcPr marL="82296" marR="64008" marT="32004" marB="32004" anchor="ctr">
                    <a:solidFill>
                      <a:srgbClr val="FFFFFF"/>
                    </a:solidFill>
                  </a:tcPr>
                </a:tc>
                <a:tc>
                  <a:txBody>
                    <a:bodyPr wrap="square"/>
                    <a:lstStyle/>
                    <a:p>
                      <a:r>
                        <a:rPr sz="1350" b="0">
                          <a:solidFill>
                            <a:srgbClr val="1C1C1E"/>
                          </a:solidFill>
                          <a:latin typeface="Calibri"/>
                        </a:rPr>
                        <a:t>Scores a pinned table under a live warrant: output sealed by hash, run reported, custody updated</a:t>
                      </a:r>
                    </a:p>
                  </a:txBody>
                  <a:tcPr marL="82296" marR="64008" marT="32004" marB="32004" anchor="ctr">
                    <a:solidFill>
                      <a:srgbClr val="FFFFFF"/>
                    </a:solidFill>
                  </a:tcPr>
                </a:tc>
                <a:tc>
                  <a:txBody>
                    <a:bodyPr wrap="square"/>
                    <a:lstStyle/>
                    <a:p>
                      <a:r>
                        <a:rPr sz="1350" b="0">
                          <a:solidFill>
                            <a:srgbClr val="1C1C1E"/>
                          </a:solidFill>
                          <a:latin typeface="Calibri"/>
                        </a:rPr>
                        <a:t>Serve online</a:t>
                      </a:r>
                    </a:p>
                  </a:txBody>
                  <a:tcPr marL="82296" marR="64008" marT="32004" marB="32004"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LLM APPLICATIONS</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A prompt is a model's parameters, so it is versioned like them</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40</a:t>
            </a:r>
          </a:p>
        </p:txBody>
      </p:sp>
      <p:sp>
        <p:nvSpPr>
          <p:cNvPr id="10" name="TextBox 9"/>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MAYA cannot read the weights, so it governs what can be pinned down — and approves only on evidence gathered on exactly that definition.</a:t>
            </a:r>
          </a:p>
        </p:txBody>
      </p:sp>
      <p:sp>
        <p:nvSpPr>
          <p:cNvPr id="11" name="Rectangle 10"/>
          <p:cNvSpPr/>
          <p:nvPr/>
        </p:nvSpPr>
        <p:spPr>
          <a:xfrm>
            <a:off x="777240" y="1992312"/>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1992312"/>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065464"/>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a version seals</a:t>
            </a:r>
          </a:p>
        </p:txBody>
      </p:sp>
      <p:sp>
        <p:nvSpPr>
          <p:cNvPr id="14" name="TextBox 13"/>
          <p:cNvSpPr txBox="1"/>
          <p:nvPr/>
        </p:nvSpPr>
        <p:spPr>
          <a:xfrm>
            <a:off x="777240" y="2504376"/>
            <a:ext cx="5135727" cy="374097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Provider and model</a:t>
            </a:r>
          </a:p>
          <a:p>
            <a:pPr lvl="1">
              <a:lnSpc>
                <a:spcPct val="120000"/>
              </a:lnSpc>
              <a:spcBef>
                <a:spcPts val="0"/>
              </a:spcBef>
              <a:spcAft>
                <a:spcPts val="0"/>
              </a:spcAft>
            </a:pPr>
            <a:r>
              <a:rPr sz="1350" b="0">
                <a:solidFill>
                  <a:srgbClr val="4A4F57"/>
                </a:solidFill>
                <a:latin typeface="Calibri"/>
              </a:rPr>
              <a:t>OpenAI, Azure, Bedrock, Vertex, a self-hosted model, or any other.</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System prompt and template</a:t>
            </a:r>
          </a:p>
          <a:p>
            <a:pPr lvl="1">
              <a:lnSpc>
                <a:spcPct val="120000"/>
              </a:lnSpc>
              <a:spcBef>
                <a:spcPts val="0"/>
              </a:spcBef>
              <a:spcAft>
                <a:spcPts val="0"/>
              </a:spcAft>
            </a:pPr>
            <a:r>
              <a:rPr sz="1350" b="0">
                <a:solidFill>
                  <a:srgbClr val="4A4F57"/>
                </a:solidFill>
                <a:latin typeface="Calibri"/>
              </a:rPr>
              <a:t>The template's placeholders filled from each evaluation case.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Parameters and guardrails</a:t>
            </a:r>
          </a:p>
          <a:p>
            <a:pPr lvl="1">
              <a:lnSpc>
                <a:spcPct val="120000"/>
              </a:lnSpc>
              <a:spcBef>
                <a:spcPts val="0"/>
              </a:spcBef>
              <a:spcAft>
                <a:spcPts val="0"/>
              </a:spcAft>
            </a:pPr>
            <a:r>
              <a:rPr sz="1350" b="0">
                <a:solidFill>
                  <a:srgbClr val="4A4F57"/>
                </a:solidFill>
                <a:latin typeface="Calibri"/>
              </a:rPr>
              <a:t>Temperature and limits; blocked terms, a length cap, personal data.</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One definition hash</a:t>
            </a:r>
          </a:p>
          <a:p>
            <a:pPr lvl="1">
              <a:lnSpc>
                <a:spcPct val="120000"/>
              </a:lnSpc>
              <a:spcBef>
                <a:spcPts val="0"/>
              </a:spcBef>
              <a:spcAft>
                <a:spcPts val="0"/>
              </a:spcAft>
            </a:pPr>
            <a:r>
              <a:rPr sz="1350" b="0">
                <a:solidFill>
                  <a:srgbClr val="4A4F57"/>
                </a:solidFill>
                <a:latin typeface="Calibri"/>
              </a:rPr>
              <a:t>Change anything and it is a new definition, judged again.</a:t>
            </a:r>
          </a:p>
        </p:txBody>
      </p:sp>
      <p:sp>
        <p:nvSpPr>
          <p:cNvPr id="15" name="Rectangle 14"/>
          <p:cNvSpPr/>
          <p:nvPr/>
        </p:nvSpPr>
        <p:spPr>
          <a:xfrm>
            <a:off x="6278727" y="1992312"/>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1992312"/>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065464"/>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How it is approved</a:t>
            </a:r>
          </a:p>
        </p:txBody>
      </p:sp>
      <p:sp>
        <p:nvSpPr>
          <p:cNvPr id="18" name="TextBox 17"/>
          <p:cNvSpPr txBox="1"/>
          <p:nvPr/>
        </p:nvSpPr>
        <p:spPr>
          <a:xfrm>
            <a:off x="6278727" y="2504376"/>
            <a:ext cx="5135727" cy="374097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A run on this definition</a:t>
            </a:r>
          </a:p>
          <a:p>
            <a:pPr lvl="1">
              <a:lnSpc>
                <a:spcPct val="120000"/>
              </a:lnSpc>
              <a:spcBef>
                <a:spcPts val="0"/>
              </a:spcBef>
              <a:spcAft>
                <a:spcPts val="0"/>
              </a:spcAft>
            </a:pPr>
            <a:r>
              <a:rPr sz="1350" b="0">
                <a:solidFill>
                  <a:srgbClr val="4A4F57"/>
                </a:solidFill>
                <a:latin typeface="Calibri"/>
              </a:rPr>
              <a:t>Against the evaluation set as it now stands.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Clean</a:t>
            </a:r>
          </a:p>
          <a:p>
            <a:pPr lvl="1">
              <a:lnSpc>
                <a:spcPct val="120000"/>
              </a:lnSpc>
              <a:spcBef>
                <a:spcPts val="0"/>
              </a:spcBef>
              <a:spcAft>
                <a:spcPts val="0"/>
              </a:spcAft>
            </a:pPr>
            <a:r>
              <a:rPr sz="1350" b="0">
                <a:solidFill>
                  <a:srgbClr val="4A4F57"/>
                </a:solidFill>
                <a:latin typeface="Calibri"/>
              </a:rPr>
              <a:t>Meeting the pass rate, with no guardrail violation.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Independent</a:t>
            </a:r>
          </a:p>
          <a:p>
            <a:pPr lvl="1">
              <a:lnSpc>
                <a:spcPct val="120000"/>
              </a:lnSpc>
              <a:spcBef>
                <a:spcPts val="0"/>
              </a:spcBef>
              <a:spcAft>
                <a:spcPts val="0"/>
              </a:spcAft>
            </a:pPr>
            <a:r>
              <a:rPr sz="1350" b="0">
                <a:solidFill>
                  <a:srgbClr val="4A4F57"/>
                </a:solidFill>
                <a:latin typeface="Calibri"/>
              </a:rPr>
              <a:t>A model manager who neither owns nor submitted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Study 49</a:t>
            </a:r>
          </a:p>
          <a:p>
            <a:pPr lvl="1">
              <a:lnSpc>
                <a:spcPct val="120000"/>
              </a:lnSpc>
              <a:spcBef>
                <a:spcPts val="0"/>
              </a:spcBef>
              <a:spcAft>
                <a:spcPts val="0"/>
              </a:spcAft>
            </a:pPr>
            <a:r>
              <a:rPr sz="1350" b="0">
                <a:solidFill>
                  <a:srgbClr val="4A4F57"/>
                </a:solidFill>
                <a:latin typeface="Calibri"/>
              </a:rPr>
              <a:t>Version 1 gets every category right and still fails: it read a customer's card number back.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EVALUATION</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C1C1E"/>
                </a:solidFill>
                <a:latin typeface="Georgia"/>
              </a:rPr>
              <a:t>Deterministic checks, because a judgement MAYA cannot reproduce is not evidence</a:t>
            </a:r>
          </a:p>
        </p:txBody>
      </p:sp>
      <p:sp>
        <p:nvSpPr>
          <p:cNvPr id="6" name="Rectangle 5"/>
          <p:cNvSpPr/>
          <p:nvPr/>
        </p:nvSpPr>
        <p:spPr>
          <a:xfrm>
            <a:off x="777240" y="148386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5 · Beyond formulas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41</a:t>
            </a:r>
          </a:p>
        </p:txBody>
      </p:sp>
      <p:sp>
        <p:nvSpPr>
          <p:cNvPr id="10" name="TextBox 9"/>
          <p:cNvSpPr txBox="1"/>
          <p:nvPr/>
        </p:nvSpPr>
        <p:spPr>
          <a:xfrm>
            <a:off x="777240" y="1611884"/>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No model grades another model. Runs are recorded — answers produced wherever the application runs — or live, where MAYA calls the provider itself.</a:t>
            </a:r>
          </a:p>
        </p:txBody>
      </p:sp>
      <p:graphicFrame>
        <p:nvGraphicFramePr>
          <p:cNvPr id="11" name="Table 10"/>
          <p:cNvGraphicFramePr>
            <a:graphicFrameLocks noGrp="1"/>
          </p:cNvGraphicFramePr>
          <p:nvPr/>
        </p:nvGraphicFramePr>
        <p:xfrm>
          <a:off x="777240" y="2265426"/>
          <a:ext cx="10637214" cy="2441638"/>
        </p:xfrm>
        <a:graphic>
          <a:graphicData uri="http://schemas.openxmlformats.org/drawingml/2006/table">
            <a:tbl>
              <a:tblPr firstRow="1">
                <a:tableStyleId>{5C22544A-7EE6-4342-B048-85BDC9FD1C3A}</a:tableStyleId>
              </a:tblPr>
              <a:tblGrid>
                <a:gridCol w="5318607"/>
                <a:gridCol w="5318607"/>
              </a:tblGrid>
              <a:tr h="318579">
                <a:tc>
                  <a:txBody>
                    <a:bodyPr wrap="square"/>
                    <a:lstStyle/>
                    <a:p>
                      <a:r>
                        <a:rPr sz="1300" b="1">
                          <a:solidFill>
                            <a:srgbClr val="FFFFFF"/>
                          </a:solidFill>
                          <a:latin typeface="Calibri"/>
                        </a:rPr>
                        <a:t>Check or guardrail</a:t>
                      </a:r>
                    </a:p>
                  </a:txBody>
                  <a:tcPr marL="82296" marR="64008" marT="32004" marB="32004" anchor="ctr">
                    <a:solidFill>
                      <a:srgbClr val="A51C30"/>
                    </a:solidFill>
                  </a:tcPr>
                </a:tc>
                <a:tc>
                  <a:txBody>
                    <a:bodyPr wrap="square"/>
                    <a:lstStyle/>
                    <a:p>
                      <a:r>
                        <a:rPr sz="1300" b="1">
                          <a:solidFill>
                            <a:srgbClr val="FFFFFF"/>
                          </a:solidFill>
                          <a:latin typeface="Calibri"/>
                        </a:rPr>
                        <a:t>Passes when</a:t>
                      </a:r>
                    </a:p>
                  </a:txBody>
                  <a:tcPr marL="82296" marR="64008" marT="32004" marB="32004" anchor="ctr">
                    <a:solidFill>
                      <a:srgbClr val="A51C30"/>
                    </a:solidFill>
                  </a:tcPr>
                </a:tc>
              </a:tr>
              <a:tr h="559562">
                <a:tc>
                  <a:txBody>
                    <a:bodyPr wrap="square"/>
                    <a:lstStyle/>
                    <a:p>
                      <a:r>
                        <a:rPr sz="1400" b="1">
                          <a:solidFill>
                            <a:srgbClr val="761422"/>
                          </a:solidFill>
                          <a:latin typeface="Calibri"/>
                        </a:rPr>
                        <a:t>contains · not_contains · equals</a:t>
                      </a:r>
                    </a:p>
                  </a:txBody>
                  <a:tcPr marL="82296" marR="64008" marT="32004" marB="32004" anchor="ctr">
                    <a:solidFill>
                      <a:srgbClr val="FFFFFF"/>
                    </a:solidFill>
                  </a:tcPr>
                </a:tc>
                <a:tc>
                  <a:txBody>
                    <a:bodyPr wrap="square"/>
                    <a:lstStyle/>
                    <a:p>
                      <a:r>
                        <a:rPr sz="1400" b="0">
                          <a:solidFill>
                            <a:srgbClr val="1C1C1E"/>
                          </a:solidFill>
                          <a:latin typeface="Calibri"/>
                        </a:rPr>
                        <a:t>The answer does, or does not, contain the value; or equals the reference</a:t>
                      </a:r>
                    </a:p>
                  </a:txBody>
                  <a:tcPr marL="82296" marR="64008" marT="32004" marB="32004" anchor="ctr">
                    <a:solidFill>
                      <a:srgbClr val="FFFFFF"/>
                    </a:solidFill>
                  </a:tcPr>
                </a:tc>
              </a:tr>
              <a:tr h="334645">
                <a:tc>
                  <a:txBody>
                    <a:bodyPr wrap="square"/>
                    <a:lstStyle/>
                    <a:p>
                      <a:r>
                        <a:rPr sz="1400" b="1">
                          <a:solidFill>
                            <a:srgbClr val="761422"/>
                          </a:solidFill>
                          <a:latin typeface="Calibri"/>
                        </a:rPr>
                        <a:t>regex · max_chars</a:t>
                      </a:r>
                    </a:p>
                  </a:txBody>
                  <a:tcPr marL="82296" marR="64008" marT="32004" marB="32004" anchor="ctr">
                    <a:solidFill>
                      <a:srgbClr val="F6F3EF"/>
                    </a:solidFill>
                  </a:tcPr>
                </a:tc>
                <a:tc>
                  <a:txBody>
                    <a:bodyPr wrap="square"/>
                    <a:lstStyle/>
                    <a:p>
                      <a:r>
                        <a:rPr sz="1400" b="0">
                          <a:solidFill>
                            <a:srgbClr val="1C1C1E"/>
                          </a:solidFill>
                          <a:latin typeface="Calibri"/>
                        </a:rPr>
                        <a:t>The pattern matches; the answer is short enough</a:t>
                      </a:r>
                    </a:p>
                  </a:txBody>
                  <a:tcPr marL="82296" marR="64008" marT="32004" marB="32004" anchor="ctr">
                    <a:solidFill>
                      <a:srgbClr val="F6F3EF"/>
                    </a:solidFill>
                  </a:tcPr>
                </a:tc>
              </a:tr>
              <a:tr h="334645">
                <a:tc>
                  <a:txBody>
                    <a:bodyPr wrap="square"/>
                    <a:lstStyle/>
                    <a:p>
                      <a:r>
                        <a:rPr sz="1400" b="1">
                          <a:solidFill>
                            <a:srgbClr val="761422"/>
                          </a:solidFill>
                          <a:latin typeface="Calibri"/>
                        </a:rPr>
                        <a:t>json</a:t>
                      </a:r>
                    </a:p>
                  </a:txBody>
                  <a:tcPr marL="82296" marR="64008" marT="32004" marB="32004" anchor="ctr">
                    <a:solidFill>
                      <a:srgbClr val="FFFFFF"/>
                    </a:solidFill>
                  </a:tcPr>
                </a:tc>
                <a:tc>
                  <a:txBody>
                    <a:bodyPr wrap="square"/>
                    <a:lstStyle/>
                    <a:p>
                      <a:r>
                        <a:rPr sz="1400" b="0">
                          <a:solidFill>
                            <a:srgbClr val="1C1C1E"/>
                          </a:solidFill>
                          <a:latin typeface="Calibri"/>
                        </a:rPr>
                        <a:t>The answer parses, with the required keys</a:t>
                      </a:r>
                    </a:p>
                  </a:txBody>
                  <a:tcPr marL="82296" marR="64008" marT="32004" marB="32004" anchor="ctr">
                    <a:solidFill>
                      <a:srgbClr val="FFFFFF"/>
                    </a:solidFill>
                  </a:tcPr>
                </a:tc>
              </a:tr>
              <a:tr h="334645">
                <a:tc>
                  <a:txBody>
                    <a:bodyPr wrap="square"/>
                    <a:lstStyle/>
                    <a:p>
                      <a:r>
                        <a:rPr sz="1400" b="1">
                          <a:solidFill>
                            <a:srgbClr val="761422"/>
                          </a:solidFill>
                          <a:latin typeface="Calibri"/>
                        </a:rPr>
                        <a:t>Blocked terms</a:t>
                      </a:r>
                    </a:p>
                  </a:txBody>
                  <a:tcPr marL="82296" marR="64008" marT="32004" marB="32004" anchor="ctr">
                    <a:solidFill>
                      <a:srgbClr val="F6F3EF"/>
                    </a:solidFill>
                  </a:tcPr>
                </a:tc>
                <a:tc>
                  <a:txBody>
                    <a:bodyPr wrap="square"/>
                    <a:lstStyle/>
                    <a:p>
                      <a:r>
                        <a:rPr sz="1400" b="0">
                          <a:solidFill>
                            <a:srgbClr val="1C1C1E"/>
                          </a:solidFill>
                          <a:latin typeface="Calibri"/>
                        </a:rPr>
                        <a:t>None of the version's forbidden phrases appears</a:t>
                      </a:r>
                    </a:p>
                  </a:txBody>
                  <a:tcPr marL="82296" marR="64008" marT="32004" marB="32004" anchor="ctr">
                    <a:solidFill>
                      <a:srgbClr val="F6F3EF"/>
                    </a:solidFill>
                  </a:tcPr>
                </a:tc>
              </a:tr>
              <a:tr h="559562">
                <a:tc>
                  <a:txBody>
                    <a:bodyPr wrap="square"/>
                    <a:lstStyle/>
                    <a:p>
                      <a:r>
                        <a:rPr sz="1400" b="1">
                          <a:solidFill>
                            <a:srgbClr val="761422"/>
                          </a:solidFill>
                          <a:latin typeface="Calibri"/>
                        </a:rPr>
                        <a:t>Personal data</a:t>
                      </a:r>
                    </a:p>
                  </a:txBody>
                  <a:tcPr marL="82296" marR="64008" marT="32004" marB="32004" anchor="ctr">
                    <a:solidFill>
                      <a:srgbClr val="FFFFFF"/>
                    </a:solidFill>
                  </a:tcPr>
                </a:tc>
                <a:tc>
                  <a:txBody>
                    <a:bodyPr wrap="square"/>
                    <a:lstStyle/>
                    <a:p>
                      <a:r>
                        <a:rPr sz="1400" b="0">
                          <a:solidFill>
                            <a:srgbClr val="1C1C1E"/>
                          </a:solidFill>
                          <a:latin typeface="Calibri"/>
                        </a:rPr>
                        <a:t>No e-mail address, Luhn-valid card number or phone number</a:t>
                      </a:r>
                    </a:p>
                  </a:txBody>
                  <a:tcPr marL="82296" marR="64008" marT="32004" marB="32004"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6</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The formal core</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Why the facts above can be derived rather than typed. A model is a kernel over typed inputs and a parameter object; from that shape follow what can stand in for what, when a value was knowable, and what a result depends on. Proofs are in the research paper; this part gives the engineer's view.</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Four facts that rot</a:t>
            </a:r>
          </a:p>
          <a:p>
            <a:pPr>
              <a:lnSpc>
                <a:spcPct val="115000"/>
              </a:lnSpc>
              <a:spcBef>
                <a:spcPts val="0"/>
              </a:spcBef>
              <a:spcAft>
                <a:spcPts val="600"/>
              </a:spcAft>
            </a:pPr>
            <a:r>
              <a:rPr sz="1200" b="0" i="0">
                <a:solidFill>
                  <a:srgbClr val="F6E6E9"/>
                </a:solidFill>
                <a:latin typeface="Calibri"/>
              </a:rPr>
              <a:t>Approval as a relation</a:t>
            </a:r>
          </a:p>
          <a:p>
            <a:pPr>
              <a:lnSpc>
                <a:spcPct val="115000"/>
              </a:lnSpc>
              <a:spcBef>
                <a:spcPts val="0"/>
              </a:spcBef>
              <a:spcAft>
                <a:spcPts val="600"/>
              </a:spcAft>
            </a:pPr>
            <a:r>
              <a:rPr sz="1200" b="0" i="0">
                <a:solidFill>
                  <a:srgbClr val="F6E6E9"/>
                </a:solidFill>
                <a:latin typeface="Calibri"/>
              </a:rPr>
              <a:t>The point-in-time read</a:t>
            </a:r>
          </a:p>
          <a:p>
            <a:pPr>
              <a:lnSpc>
                <a:spcPct val="115000"/>
              </a:lnSpc>
              <a:spcBef>
                <a:spcPts val="0"/>
              </a:spcBef>
              <a:spcAft>
                <a:spcPts val="600"/>
              </a:spcAft>
            </a:pPr>
            <a:r>
              <a:rPr sz="1200" b="0" i="0">
                <a:solidFill>
                  <a:srgbClr val="F6E6E9"/>
                </a:solidFill>
                <a:latin typeface="Calibri"/>
              </a:rPr>
              <a:t>Reproducibility by content</a:t>
            </a:r>
          </a:p>
          <a:p>
            <a:pPr>
              <a:lnSpc>
                <a:spcPct val="115000"/>
              </a:lnSpc>
              <a:spcBef>
                <a:spcPts val="0"/>
              </a:spcBef>
              <a:spcAft>
                <a:spcPts val="600"/>
              </a:spcAft>
            </a:pPr>
            <a:r>
              <a:rPr sz="1200" b="0" i="0">
                <a:solidFill>
                  <a:srgbClr val="F6E6E9"/>
                </a:solidFill>
                <a:latin typeface="Calibri"/>
              </a:rPr>
              <a:t>Where a machine may do the work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PROBLEM WITH FORMS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Four declared facts, and how each one rots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These are not hypothetical. Each is a field that exists in registers now, each is filled in by a person, and each decays in a way that is invisible from the field itself — which is what makes a declared fact worse than an absent one.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§1. The claim of this part is narrow: each of these four is derivable from structure that has to exist anyway, and a derived fact cannot be typed wrong, cannot drift, and cannot disagree with the object it describes.</a:t>
            </a:r>
          </a:p>
        </p:txBody>
      </p:sp>
      <p:graphicFrame>
        <p:nvGraphicFramePr>
          <p:cNvPr id="13" name="Table 12"/>
          <p:cNvGraphicFramePr>
            <a:graphicFrameLocks noGrp="1"/>
          </p:cNvGraphicFramePr>
          <p:nvPr/>
        </p:nvGraphicFramePr>
        <p:xfrm>
          <a:off x="777240" y="2284984"/>
          <a:ext cx="10637213" cy="3360099"/>
        </p:xfrm>
        <a:graphic>
          <a:graphicData uri="http://schemas.openxmlformats.org/drawingml/2006/table">
            <a:tbl>
              <a:tblPr firstRow="1">
                <a:tableStyleId>{5C22544A-7EE6-4342-B048-85BDC9FD1C3A}</a:tableStyleId>
              </a:tblPr>
              <a:tblGrid>
                <a:gridCol w="1283801"/>
                <a:gridCol w="3026104"/>
                <a:gridCol w="2934404"/>
                <a:gridCol w="3392904"/>
              </a:tblGrid>
              <a:tr h="318579">
                <a:tc>
                  <a:txBody>
                    <a:bodyPr wrap="square"/>
                    <a:lstStyle/>
                    <a:p>
                      <a:r>
                        <a:rPr sz="1300" b="1">
                          <a:solidFill>
                            <a:srgbClr val="FFFFFF"/>
                          </a:solidFill>
                          <a:latin typeface="Calibri"/>
                        </a:rPr>
                        <a:t/>
                      </a:r>
                    </a:p>
                  </a:txBody>
                  <a:tcPr marL="82296" marR="64008" marT="32004" marB="32004" anchor="ctr">
                    <a:solidFill>
                      <a:srgbClr val="A51C30"/>
                    </a:solidFill>
                  </a:tcPr>
                </a:tc>
                <a:tc>
                  <a:txBody>
                    <a:bodyPr wrap="square"/>
                    <a:lstStyle/>
                    <a:p>
                      <a:r>
                        <a:rPr sz="1300" b="1">
                          <a:solidFill>
                            <a:srgbClr val="FFFFFF"/>
                          </a:solidFill>
                          <a:latin typeface="Calibri"/>
                        </a:rPr>
                        <a:t>The declaration</a:t>
                      </a:r>
                    </a:p>
                  </a:txBody>
                  <a:tcPr marL="82296" marR="64008" marT="32004" marB="32004" anchor="ctr">
                    <a:solidFill>
                      <a:srgbClr val="A51C30"/>
                    </a:solidFill>
                  </a:tcPr>
                </a:tc>
                <a:tc>
                  <a:txBody>
                    <a:bodyPr wrap="square"/>
                    <a:lstStyle/>
                    <a:p>
                      <a:r>
                        <a:rPr sz="1300" b="1">
                          <a:solidFill>
                            <a:srgbClr val="FFFFFF"/>
                          </a:solidFill>
                          <a:latin typeface="Calibri"/>
                        </a:rPr>
                        <a:t>How it rots</a:t>
                      </a:r>
                    </a:p>
                  </a:txBody>
                  <a:tcPr marL="82296" marR="64008" marT="32004" marB="32004" anchor="ctr">
                    <a:solidFill>
                      <a:srgbClr val="A51C30"/>
                    </a:solidFill>
                  </a:tcPr>
                </a:tc>
                <a:tc>
                  <a:txBody>
                    <a:bodyPr wrap="square"/>
                    <a:lstStyle/>
                    <a:p>
                      <a:r>
                        <a:rPr sz="1300" b="1">
                          <a:solidFill>
                            <a:srgbClr val="FFFFFF"/>
                          </a:solidFill>
                          <a:latin typeface="Calibri"/>
                        </a:rPr>
                        <a:t>What the damage looks like</a:t>
                      </a:r>
                    </a:p>
                  </a:txBody>
                  <a:tcPr marL="82296" marR="64008" marT="32004" marB="32004" anchor="ctr">
                    <a:solidFill>
                      <a:srgbClr val="A51C30"/>
                    </a:solidFill>
                  </a:tcPr>
                </a:tc>
              </a:tr>
              <a:tr h="760380">
                <a:tc>
                  <a:txBody>
                    <a:bodyPr wrap="square"/>
                    <a:lstStyle/>
                    <a:p>
                      <a:r>
                        <a:rPr sz="1350" b="1">
                          <a:solidFill>
                            <a:srgbClr val="761422"/>
                          </a:solidFill>
                          <a:latin typeface="Calibri"/>
                        </a:rPr>
                        <a:t>D1  Kind</a:t>
                      </a:r>
                    </a:p>
                  </a:txBody>
                  <a:tcPr marL="82296" marR="64008" marT="32004" marB="32004" anchor="ctr">
                    <a:solidFill>
                      <a:srgbClr val="FFFFFF"/>
                    </a:solidFill>
                  </a:tcPr>
                </a:tc>
                <a:tc>
                  <a:txBody>
                    <a:bodyPr wrap="square"/>
                    <a:lstStyle/>
                    <a:p>
                      <a:r>
                        <a:rPr sz="1350" b="0">
                          <a:solidFill>
                            <a:srgbClr val="1C1C1E"/>
                          </a:solidFill>
                          <a:latin typeface="Calibri"/>
                        </a:rPr>
                        <a:t>What sort of artefact this is: pricer, scorecard, network, rule set</a:t>
                      </a:r>
                    </a:p>
                  </a:txBody>
                  <a:tcPr marL="82296" marR="64008" marT="32004" marB="32004" anchor="ctr">
                    <a:solidFill>
                      <a:srgbClr val="FFFFFF"/>
                    </a:solidFill>
                  </a:tcPr>
                </a:tc>
                <a:tc>
                  <a:txBody>
                    <a:bodyPr wrap="square"/>
                    <a:lstStyle/>
                    <a:p>
                      <a:r>
                        <a:rPr sz="1350" b="0">
                          <a:solidFill>
                            <a:srgbClr val="1C1C1E"/>
                          </a:solidFill>
                          <a:latin typeface="Calibri"/>
                        </a:rPr>
                        <a:t>Typed once, at registration, by whoever was filling the form</a:t>
                      </a:r>
                    </a:p>
                  </a:txBody>
                  <a:tcPr marL="82296" marR="64008" marT="32004" marB="32004" anchor="ctr">
                    <a:solidFill>
                      <a:srgbClr val="FFFFFF"/>
                    </a:solidFill>
                  </a:tcPr>
                </a:tc>
                <a:tc>
                  <a:txBody>
                    <a:bodyPr wrap="square"/>
                    <a:lstStyle/>
                    <a:p>
                      <a:r>
                        <a:rPr sz="1350" b="0">
                          <a:solidFill>
                            <a:srgbClr val="1C1C1E"/>
                          </a:solidFill>
                          <a:latin typeface="Calibri"/>
                        </a:rPr>
                        <a:t>A monitor that cannot detect anything runs for two years and reads as coverage</a:t>
                      </a:r>
                    </a:p>
                  </a:txBody>
                  <a:tcPr marL="82296" marR="64008" marT="32004" marB="32004" anchor="ctr">
                    <a:solidFill>
                      <a:srgbClr val="FFFFFF"/>
                    </a:solidFill>
                  </a:tcPr>
                </a:tc>
              </a:tr>
              <a:tr h="760380">
                <a:tc>
                  <a:txBody>
                    <a:bodyPr wrap="square"/>
                    <a:lstStyle/>
                    <a:p>
                      <a:r>
                        <a:rPr sz="1350" b="1">
                          <a:solidFill>
                            <a:srgbClr val="761422"/>
                          </a:solidFill>
                          <a:latin typeface="Calibri"/>
                        </a:rPr>
                        <a:t>D2  Fit</a:t>
                      </a:r>
                    </a:p>
                  </a:txBody>
                  <a:tcPr marL="82296" marR="64008" marT="32004" marB="32004" anchor="ctr">
                    <a:solidFill>
                      <a:srgbClr val="F6F3EF"/>
                    </a:solidFill>
                  </a:tcPr>
                </a:tc>
                <a:tc>
                  <a:txBody>
                    <a:bodyPr wrap="square"/>
                    <a:lstStyle/>
                    <a:p>
                      <a:r>
                        <a:rPr sz="1350" b="0">
                          <a:solidFill>
                            <a:srgbClr val="1C1C1E"/>
                          </a:solidFill>
                          <a:latin typeface="Calibri"/>
                        </a:rPr>
                        <a:t>Whether this data, or this replacement version, fits where the last one did</a:t>
                      </a:r>
                    </a:p>
                  </a:txBody>
                  <a:tcPr marL="82296" marR="64008" marT="32004" marB="32004" anchor="ctr">
                    <a:solidFill>
                      <a:srgbClr val="F6F3EF"/>
                    </a:solidFill>
                  </a:tcPr>
                </a:tc>
                <a:tc>
                  <a:txBody>
                    <a:bodyPr wrap="square"/>
                    <a:lstStyle/>
                    <a:p>
                      <a:r>
                        <a:rPr sz="1350" b="0">
                          <a:solidFill>
                            <a:srgbClr val="1C1C1E"/>
                          </a:solidFill>
                          <a:latin typeface="Calibri"/>
                        </a:rPr>
                        <a:t>Implemented four times in four code paths that drift apart</a:t>
                      </a:r>
                    </a:p>
                  </a:txBody>
                  <a:tcPr marL="82296" marR="64008" marT="32004" marB="32004" anchor="ctr">
                    <a:solidFill>
                      <a:srgbClr val="F6F3EF"/>
                    </a:solidFill>
                  </a:tcPr>
                </a:tc>
                <a:tc>
                  <a:txBody>
                    <a:bodyPr wrap="square"/>
                    <a:lstStyle/>
                    <a:p>
                      <a:r>
                        <a:rPr sz="1350" b="0">
                          <a:solidFill>
                            <a:srgbClr val="1C1C1E"/>
                          </a:solidFill>
                          <a:latin typeface="Calibri"/>
                        </a:rPr>
                        <a:t>They drift towards permitting more, because nobody files a bug against a check that wrongly allows</a:t>
                      </a:r>
                    </a:p>
                  </a:txBody>
                  <a:tcPr marL="82296" marR="64008" marT="32004" marB="32004" anchor="ctr">
                    <a:solidFill>
                      <a:srgbClr val="F6F3EF"/>
                    </a:solidFill>
                  </a:tcPr>
                </a:tc>
              </a:tr>
              <a:tr h="760380">
                <a:tc>
                  <a:txBody>
                    <a:bodyPr wrap="square"/>
                    <a:lstStyle/>
                    <a:p>
                      <a:r>
                        <a:rPr sz="1350" b="1">
                          <a:solidFill>
                            <a:srgbClr val="761422"/>
                          </a:solidFill>
                          <a:latin typeface="Calibri"/>
                        </a:rPr>
                        <a:t>D3  Currency</a:t>
                      </a:r>
                    </a:p>
                  </a:txBody>
                  <a:tcPr marL="82296" marR="64008" marT="32004" marB="32004" anchor="ctr">
                    <a:solidFill>
                      <a:srgbClr val="FFFFFF"/>
                    </a:solidFill>
                  </a:tcPr>
                </a:tc>
                <a:tc>
                  <a:txBody>
                    <a:bodyPr wrap="square"/>
                    <a:lstStyle/>
                    <a:p>
                      <a:r>
                        <a:rPr sz="1350" b="0">
                          <a:solidFill>
                            <a:srgbClr val="1C1C1E"/>
                          </a:solidFill>
                          <a:latin typeface="Calibri"/>
                        </a:rPr>
                        <a:t>What a training row could have known at the moment it describes</a:t>
                      </a:r>
                    </a:p>
                  </a:txBody>
                  <a:tcPr marL="82296" marR="64008" marT="32004" marB="32004" anchor="ctr">
                    <a:solidFill>
                      <a:srgbClr val="FFFFFF"/>
                    </a:solidFill>
                  </a:tcPr>
                </a:tc>
                <a:tc>
                  <a:txBody>
                    <a:bodyPr wrap="square"/>
                    <a:lstStyle/>
                    <a:p>
                      <a:r>
                        <a:rPr sz="1350" b="0">
                          <a:solidFill>
                            <a:srgbClr val="1C1C1E"/>
                          </a:solidFill>
                          <a:latin typeface="Calibri"/>
                        </a:rPr>
                        <a:t>A convention in whoever wrote the query, applied unevenly</a:t>
                      </a:r>
                    </a:p>
                  </a:txBody>
                  <a:tcPr marL="82296" marR="64008" marT="32004" marB="32004" anchor="ctr">
                    <a:solidFill>
                      <a:srgbClr val="FFFFFF"/>
                    </a:solidFill>
                  </a:tcPr>
                </a:tc>
                <a:tc>
                  <a:txBody>
                    <a:bodyPr wrap="square"/>
                    <a:lstStyle/>
                    <a:p>
                      <a:r>
                        <a:rPr sz="1350" b="0">
                          <a:solidFill>
                            <a:srgbClr val="1C1C1E"/>
                          </a:solidFill>
                          <a:latin typeface="Calibri"/>
                        </a:rPr>
                        <a:t>Look-ahead that improves every metric it corrupts, so nothing asks to be investigated</a:t>
                      </a:r>
                    </a:p>
                  </a:txBody>
                  <a:tcPr marL="82296" marR="64008" marT="32004" marB="32004" anchor="ctr">
                    <a:solidFill>
                      <a:srgbClr val="FFFFFF"/>
                    </a:solidFill>
                  </a:tcPr>
                </a:tc>
              </a:tr>
              <a:tr h="760380">
                <a:tc>
                  <a:txBody>
                    <a:bodyPr wrap="square"/>
                    <a:lstStyle/>
                    <a:p>
                      <a:r>
                        <a:rPr sz="1350" b="1">
                          <a:solidFill>
                            <a:srgbClr val="761422"/>
                          </a:solidFill>
                          <a:latin typeface="Calibri"/>
                        </a:rPr>
                        <a:t>D4  Support</a:t>
                      </a:r>
                    </a:p>
                  </a:txBody>
                  <a:tcPr marL="82296" marR="64008" marT="32004" marB="32004" anchor="ctr">
                    <a:solidFill>
                      <a:srgbClr val="F6F3EF"/>
                    </a:solidFill>
                  </a:tcPr>
                </a:tc>
                <a:tc>
                  <a:txBody>
                    <a:bodyPr wrap="square"/>
                    <a:lstStyle/>
                    <a:p>
                      <a:r>
                        <a:rPr sz="1350" b="0">
                          <a:solidFill>
                            <a:srgbClr val="1C1C1E"/>
                          </a:solidFill>
                          <a:latin typeface="Calibri"/>
                        </a:rPr>
                        <a:t>What a conclusion rests on: which tests, which approvals, which data</a:t>
                      </a:r>
                    </a:p>
                  </a:txBody>
                  <a:tcPr marL="82296" marR="64008" marT="32004" marB="32004" anchor="ctr">
                    <a:solidFill>
                      <a:srgbClr val="F6F3EF"/>
                    </a:solidFill>
                  </a:tcPr>
                </a:tc>
                <a:tc>
                  <a:txBody>
                    <a:bodyPr wrap="square"/>
                    <a:lstStyle/>
                    <a:p>
                      <a:r>
                        <a:rPr sz="1350" b="0">
                          <a:solidFill>
                            <a:srgbClr val="1C1C1E"/>
                          </a:solidFill>
                          <a:latin typeface="Calibri"/>
                        </a:rPr>
                        <a:t>A log of what happened, which is not the same as a derivation</a:t>
                      </a:r>
                    </a:p>
                  </a:txBody>
                  <a:tcPr marL="82296" marR="64008" marT="32004" marB="32004" anchor="ctr">
                    <a:solidFill>
                      <a:srgbClr val="F6F3EF"/>
                    </a:solidFill>
                  </a:tcPr>
                </a:tc>
                <a:tc>
                  <a:txBody>
                    <a:bodyPr wrap="square"/>
                    <a:lstStyle/>
                    <a:p>
                      <a:r>
                        <a:rPr sz="1350" b="0">
                          <a:solidFill>
                            <a:srgbClr val="1C1C1E"/>
                          </a:solidFill>
                          <a:latin typeface="Calibri"/>
                        </a:rPr>
                        <a:t>“Is this still supported?” cannot be answered without a person reading the log</a:t>
                      </a:r>
                    </a:p>
                  </a:txBody>
                  <a:tcPr marL="82296" marR="64008" marT="32004" marB="32004" anchor="ctr">
                    <a:solidFill>
                      <a:srgbClr val="F6F3E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D2 · FIT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Four questions that were one question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44</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Each of these is asked somewhere in a model register, and in the registers we have examined each has a code path of its own: a variance routine, a slot loop, a contract refinement check — and for the dependency edge, frequently nothing at all.</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§3.1 and §3.5. Four implementations of one relation are four opportunities to disagree — predictably in the direction of permitting more, because a check that wrongly refuses is reported within the hour and a check that wrongly allows is not reported at all.</a:t>
            </a:r>
          </a:p>
        </p:txBody>
      </p:sp>
      <p:graphicFrame>
        <p:nvGraphicFramePr>
          <p:cNvPr id="13" name="Table 12"/>
          <p:cNvGraphicFramePr>
            <a:graphicFrameLocks noGrp="1"/>
          </p:cNvGraphicFramePr>
          <p:nvPr/>
        </p:nvGraphicFramePr>
        <p:xfrm>
          <a:off x="777240" y="2284984"/>
          <a:ext cx="10637214" cy="2781744"/>
        </p:xfrm>
        <a:graphic>
          <a:graphicData uri="http://schemas.openxmlformats.org/drawingml/2006/table">
            <a:tbl>
              <a:tblPr firstRow="1">
                <a:tableStyleId>{5C22544A-7EE6-4342-B048-85BDC9FD1C3A}</a:tableStyleId>
              </a:tblPr>
              <a:tblGrid>
                <a:gridCol w="2200803"/>
                <a:gridCol w="3851405"/>
                <a:gridCol w="4585006"/>
              </a:tblGrid>
              <a:tr h="318579">
                <a:tc>
                  <a:txBody>
                    <a:bodyPr wrap="square"/>
                    <a:lstStyle/>
                    <a:p>
                      <a:r>
                        <a:rPr sz="1300" b="1">
                          <a:solidFill>
                            <a:srgbClr val="FFFFFF"/>
                          </a:solidFill>
                          <a:latin typeface="Calibri"/>
                        </a:rPr>
                        <a:t>Where it is asked</a:t>
                      </a:r>
                    </a:p>
                  </a:txBody>
                  <a:tcPr marL="82296" marR="64008" marT="32004" marB="32004" anchor="ctr">
                    <a:solidFill>
                      <a:srgbClr val="A51C30"/>
                    </a:solidFill>
                  </a:tcPr>
                </a:tc>
                <a:tc>
                  <a:txBody>
                    <a:bodyPr wrap="square"/>
                    <a:lstStyle/>
                    <a:p>
                      <a:r>
                        <a:rPr sz="1300" b="1">
                          <a:solidFill>
                            <a:srgbClr val="FFFFFF"/>
                          </a:solidFill>
                          <a:latin typeface="Calibri"/>
                        </a:rPr>
                        <a:t>What it actually asks</a:t>
                      </a:r>
                    </a:p>
                  </a:txBody>
                  <a:tcPr marL="82296" marR="64008" marT="32004" marB="32004" anchor="ctr">
                    <a:solidFill>
                      <a:srgbClr val="A51C30"/>
                    </a:solidFill>
                  </a:tcPr>
                </a:tc>
                <a:tc>
                  <a:txBody>
                    <a:bodyPr wrap="square"/>
                    <a:lstStyle/>
                    <a:p>
                      <a:r>
                        <a:rPr sz="1300" b="1">
                          <a:solidFill>
                            <a:srgbClr val="FFFFFF"/>
                          </a:solidFill>
                          <a:latin typeface="Calibri"/>
                        </a:rPr>
                        <a:t>The comparison</a:t>
                      </a:r>
                    </a:p>
                  </a:txBody>
                  <a:tcPr marL="82296" marR="64008" marT="32004" marB="32004" anchor="ctr">
                    <a:solidFill>
                      <a:srgbClr val="A51C30"/>
                    </a:solidFill>
                  </a:tcPr>
                </a:tc>
              </a:tr>
              <a:tr h="784479">
                <a:tc>
                  <a:txBody>
                    <a:bodyPr wrap="square"/>
                    <a:lstStyle/>
                    <a:p>
                      <a:r>
                        <a:rPr sz="1400" b="1">
                          <a:solidFill>
                            <a:srgbClr val="761422"/>
                          </a:solidFill>
                          <a:latin typeface="Calibri"/>
                        </a:rPr>
                        <a:t>A replacement version</a:t>
                      </a:r>
                    </a:p>
                  </a:txBody>
                  <a:tcPr marL="82296" marR="64008" marT="32004" marB="32004" anchor="ctr">
                    <a:solidFill>
                      <a:srgbClr val="FFFFFF"/>
                    </a:solidFill>
                  </a:tcPr>
                </a:tc>
                <a:tc>
                  <a:txBody>
                    <a:bodyPr wrap="square"/>
                    <a:lstStyle/>
                    <a:p>
                      <a:r>
                        <a:rPr sz="1400" b="0">
                          <a:solidFill>
                            <a:srgbClr val="1C1C1E"/>
                          </a:solidFill>
                          <a:latin typeface="Calibri"/>
                        </a:rPr>
                        <a:t>May this version stand where the incumbent stood?</a:t>
                      </a:r>
                    </a:p>
                  </a:txBody>
                  <a:tcPr marL="82296" marR="64008" marT="32004" marB="32004" anchor="ctr">
                    <a:solidFill>
                      <a:srgbClr val="FFFFFF"/>
                    </a:solidFill>
                  </a:tcPr>
                </a:tc>
                <a:tc>
                  <a:txBody>
                    <a:bodyPr wrap="square"/>
                    <a:lstStyle/>
                    <a:p>
                      <a:r>
                        <a:rPr sz="1400" b="0">
                          <a:solidFill>
                            <a:srgbClr val="1C1C1E"/>
                          </a:solidFill>
                          <a:latin typeface="Calibri"/>
                        </a:rPr>
                        <a:t>Its inputs accept at least what the incumbent's did, and its outputs still provide what the incumbent's provided</a:t>
                      </a:r>
                    </a:p>
                  </a:txBody>
                  <a:tcPr marL="82296" marR="64008" marT="32004" marB="32004" anchor="ctr">
                    <a:solidFill>
                      <a:srgbClr val="FFFFFF"/>
                    </a:solidFill>
                  </a:tcPr>
                </a:tc>
              </a:tr>
              <a:tr h="559562">
                <a:tc>
                  <a:txBody>
                    <a:bodyPr wrap="square"/>
                    <a:lstStyle/>
                    <a:p>
                      <a:r>
                        <a:rPr sz="1400" b="1">
                          <a:solidFill>
                            <a:srgbClr val="761422"/>
                          </a:solidFill>
                          <a:latin typeface="Calibri"/>
                        </a:rPr>
                        <a:t>Binding data to a model</a:t>
                      </a:r>
                    </a:p>
                  </a:txBody>
                  <a:tcPr marL="82296" marR="64008" marT="32004" marB="32004" anchor="ctr">
                    <a:solidFill>
                      <a:srgbClr val="F6F3EF"/>
                    </a:solidFill>
                  </a:tcPr>
                </a:tc>
                <a:tc>
                  <a:txBody>
                    <a:bodyPr wrap="square"/>
                    <a:lstStyle/>
                    <a:p>
                      <a:r>
                        <a:rPr sz="1400" b="0">
                          <a:solidFill>
                            <a:srgbClr val="1C1C1E"/>
                          </a:solidFill>
                          <a:latin typeface="Calibri"/>
                        </a:rPr>
                        <a:t>Does this feature set provide what the model declares it reads?</a:t>
                      </a:r>
                    </a:p>
                  </a:txBody>
                  <a:tcPr marL="82296" marR="64008" marT="32004" marB="32004" anchor="ctr">
                    <a:solidFill>
                      <a:srgbClr val="F6F3EF"/>
                    </a:solidFill>
                  </a:tcPr>
                </a:tc>
                <a:tc>
                  <a:txBody>
                    <a:bodyPr wrap="square"/>
                    <a:lstStyle/>
                    <a:p>
                      <a:r>
                        <a:rPr sz="1400" b="0">
                          <a:solidFill>
                            <a:srgbClr val="1C1C1E"/>
                          </a:solidFill>
                          <a:latin typeface="Calibri"/>
                        </a:rPr>
                        <a:t>The set's schema can stand in for the model's input contract</a:t>
                      </a:r>
                    </a:p>
                  </a:txBody>
                  <a:tcPr marL="82296" marR="64008" marT="32004" marB="32004" anchor="ctr">
                    <a:solidFill>
                      <a:srgbClr val="F6F3EF"/>
                    </a:solidFill>
                  </a:tcPr>
                </a:tc>
              </a:tr>
              <a:tr h="559562">
                <a:tc>
                  <a:txBody>
                    <a:bodyPr wrap="square"/>
                    <a:lstStyle/>
                    <a:p>
                      <a:r>
                        <a:rPr sz="1400" b="1">
                          <a:solidFill>
                            <a:srgbClr val="761422"/>
                          </a:solidFill>
                          <a:latin typeface="Calibri"/>
                        </a:rPr>
                        <a:t>A dependency edge</a:t>
                      </a:r>
                    </a:p>
                  </a:txBody>
                  <a:tcPr marL="82296" marR="64008" marT="32004" marB="32004" anchor="ctr">
                    <a:solidFill>
                      <a:srgbClr val="FFFFFF"/>
                    </a:solidFill>
                  </a:tcPr>
                </a:tc>
                <a:tc>
                  <a:txBody>
                    <a:bodyPr wrap="square"/>
                    <a:lstStyle/>
                    <a:p>
                      <a:r>
                        <a:rPr sz="1400" b="0">
                          <a:solidFill>
                            <a:srgbClr val="1C1C1E"/>
                          </a:solidFill>
                          <a:latin typeface="Calibri"/>
                        </a:rPr>
                        <a:t>Does what the source produces arrive where the target reads it?</a:t>
                      </a:r>
                    </a:p>
                  </a:txBody>
                  <a:tcPr marL="82296" marR="64008" marT="32004" marB="32004" anchor="ctr">
                    <a:solidFill>
                      <a:srgbClr val="FFFFFF"/>
                    </a:solidFill>
                  </a:tcPr>
                </a:tc>
                <a:tc>
                  <a:txBody>
                    <a:bodyPr wrap="square"/>
                    <a:lstStyle/>
                    <a:p>
                      <a:r>
                        <a:rPr sz="1400" b="0">
                          <a:solidFill>
                            <a:srgbClr val="1C1C1E"/>
                          </a:solidFill>
                          <a:latin typeface="Calibri"/>
                        </a:rPr>
                        <a:t>The source's output schema can stand in for the target's input contract</a:t>
                      </a:r>
                    </a:p>
                  </a:txBody>
                  <a:tcPr marL="82296" marR="64008" marT="32004" marB="32004" anchor="ctr">
                    <a:solidFill>
                      <a:srgbClr val="FFFFFF"/>
                    </a:solidFill>
                  </a:tcPr>
                </a:tc>
              </a:tr>
              <a:tr h="559562">
                <a:tc>
                  <a:txBody>
                    <a:bodyPr wrap="square"/>
                    <a:lstStyle/>
                    <a:p>
                      <a:r>
                        <a:rPr sz="1400" b="1">
                          <a:solidFill>
                            <a:srgbClr val="761422"/>
                          </a:solidFill>
                          <a:latin typeface="Calibri"/>
                        </a:rPr>
                        <a:t>One feature set, two models</a:t>
                      </a:r>
                    </a:p>
                  </a:txBody>
                  <a:tcPr marL="82296" marR="64008" marT="32004" marB="32004" anchor="ctr">
                    <a:solidFill>
                      <a:srgbClr val="F6F3EF"/>
                    </a:solidFill>
                  </a:tcPr>
                </a:tc>
                <a:tc>
                  <a:txBody>
                    <a:bodyPr wrap="square"/>
                    <a:lstStyle/>
                    <a:p>
                      <a:r>
                        <a:rPr sz="1400" b="0">
                          <a:solidFill>
                            <a:srgbClr val="1C1C1E"/>
                          </a:solidFill>
                          <a:latin typeface="Calibri"/>
                        </a:rPr>
                        <a:t>Can a single feature set serve both of these?</a:t>
                      </a:r>
                    </a:p>
                  </a:txBody>
                  <a:tcPr marL="82296" marR="64008" marT="32004" marB="32004" anchor="ctr">
                    <a:solidFill>
                      <a:srgbClr val="F6F3EF"/>
                    </a:solidFill>
                  </a:tcPr>
                </a:tc>
                <a:tc>
                  <a:txBody>
                    <a:bodyPr wrap="square"/>
                    <a:lstStyle/>
                    <a:p>
                      <a:r>
                        <a:rPr sz="1400" b="0">
                          <a:solidFill>
                            <a:srgbClr val="1C1C1E"/>
                          </a:solidFill>
                          <a:latin typeface="Calibri"/>
                        </a:rPr>
                        <a:t>The set can stand in for the greatest lower bound of the two contracts</a:t>
                      </a:r>
                    </a:p>
                  </a:txBody>
                  <a:tcPr marL="82296" marR="64008" marT="32004" marB="32004" anchor="ctr">
                    <a:solidFill>
                      <a:srgbClr val="F6F3E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ORDER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can stand in for B: one relation, written down once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45</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§3.2. This is why it is worth writing down as an order with a stated direction rather than as a rule of thumb: the failure a rule of thumb produces here is silent, and it is in the permissive direction.</a:t>
            </a:r>
          </a:p>
        </p:txBody>
      </p:sp>
      <p:sp>
        <p:nvSpPr>
          <p:cNvPr id="12" name="TextBox 11"/>
          <p:cNvSpPr txBox="1"/>
          <p:nvPr/>
        </p:nvSpPr>
        <p:spPr>
          <a:xfrm>
            <a:off x="777240" y="1386967"/>
            <a:ext cx="10637215" cy="4291457"/>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When one field accepts another</a:t>
            </a:r>
          </a:p>
          <a:p>
            <a:pPr lvl="1">
              <a:lnSpc>
                <a:spcPct val="120000"/>
              </a:lnSpc>
              <a:spcBef>
                <a:spcPts val="0"/>
              </a:spcBef>
              <a:spcAft>
                <a:spcPts val="0"/>
              </a:spcAft>
            </a:pPr>
            <a:r>
              <a:rPr sz="1300" b="0">
                <a:solidFill>
                  <a:srgbClr val="4A4F57"/>
                </a:solidFill>
                <a:latin typeface="Calibri"/>
              </a:rPr>
              <a:t>Same datatype; nullable if the other is; a lower bound no greater and an upper bound no less, an absent bound being the widest there is. A can stand in for B when every field B declares is present in A at a field that accepts it.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Extra fields are free</a:t>
            </a:r>
          </a:p>
          <a:p>
            <a:pPr lvl="1">
              <a:lnSpc>
                <a:spcPct val="120000"/>
              </a:lnSpc>
              <a:spcBef>
                <a:spcPts val="0"/>
              </a:spcBef>
              <a:spcAft>
                <a:spcPts val="0"/>
              </a:spcAft>
            </a:pPr>
            <a:r>
              <a:rPr sz="1300" b="0">
                <a:solidFill>
                  <a:srgbClr val="4A4F57"/>
                </a:solidFill>
                <a:latin typeface="Calibri"/>
              </a:rPr>
              <a:t>A may carry fields B does not. Nobody has to look at them, so a richer provider is always admissible — which is what makes the relation usable in a bank, where the feature set serving one model always carries more than that model reads.</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Being fussier is not free</a:t>
            </a:r>
          </a:p>
          <a:p>
            <a:pPr lvl="1">
              <a:lnSpc>
                <a:spcPct val="120000"/>
              </a:lnSpc>
              <a:spcBef>
                <a:spcPts val="0"/>
              </a:spcBef>
              <a:spcAft>
                <a:spcPts val="0"/>
              </a:spcAft>
            </a:pPr>
            <a:r>
              <a:rPr sz="1300" b="0">
                <a:solidFill>
                  <a:srgbClr val="4A4F57"/>
                </a:solidFill>
                <a:latin typeface="Calibri"/>
              </a:rPr>
              <a:t>Each shared field must accept at least what B's accepted. A replacement that rejects an input its predecessor took is a replacement that breaks a caller: somebody was relying on the old tolerance, and nothing recorded that they were.</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And the direction is the one nobody guesses</a:t>
            </a:r>
          </a:p>
          <a:p>
            <a:pPr lvl="1">
              <a:lnSpc>
                <a:spcPct val="120000"/>
              </a:lnSpc>
              <a:spcBef>
                <a:spcPts val="0"/>
              </a:spcBef>
              <a:spcAft>
                <a:spcPts val="0"/>
              </a:spcAft>
            </a:pPr>
            <a:r>
              <a:rPr sz="1300" b="0">
                <a:solidFill>
                  <a:srgbClr val="4A4F57"/>
                </a:solidFill>
                <a:latin typeface="Calibri"/>
              </a:rPr>
              <a:t>“Refinement” suggests narrowing, and a subtype is narrower in what it denotes. But a schema here is the set of inputs a slot will accept, and standing in for something means accepting at least what it accepted — so wider acceptance is admissible and narrower regresses. The two readings of “narrower” are easy to hold at once and impossible to hold consistently, and an order stated in the intuitive direction admits exactly the replacements that break callers.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D3 · CURRENCY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The point-in-time read, stated as an operator</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46</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Part 2 gave the rule in words: the latest fact that was both true by the decision date and known by the decision date. Written as an operator it acquires two properties a convention cannot have — it can be reasoned about, and it can be wrong in a way somebody notices.</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§5.2. That last bound is one character of the definition and it is the whole guarantee; its omission is invisible in every test that does not restate a fact.</a:t>
            </a:r>
          </a:p>
        </p:txBody>
      </p:sp>
      <p:sp>
        <p:nvSpPr>
          <p:cNvPr id="13" name="TextBox 12"/>
          <p:cNvSpPr txBox="1"/>
          <p:nvPr/>
        </p:nvSpPr>
        <p:spPr>
          <a:xfrm>
            <a:off x="777240" y="2284984"/>
            <a:ext cx="10637215" cy="3393439"/>
          </a:xfrm>
          <a:prstGeom prst="rect">
            <a:avLst/>
          </a:prstGeom>
          <a:noFill/>
        </p:spPr>
        <p:txBody>
          <a:bodyPr wrap="square" lIns="0" rIns="0" tIns="0" bIns="0" anchor="t">
            <a:spAutoFit/>
          </a:bodyPr>
          <a:lstStyle/>
          <a:p>
            <a:pPr algn="l">
              <a:lnSpc>
                <a:spcPct val="120000"/>
              </a:lnSpc>
              <a:spcBef>
                <a:spcPts val="0"/>
              </a:spcBef>
              <a:spcAft>
                <a:spcPts val="100"/>
              </a:spcAft>
            </a:pPr>
            <a:r>
              <a:rPr sz="1250" b="1">
                <a:solidFill>
                  <a:srgbClr val="A51C30"/>
                </a:solidFill>
                <a:latin typeface="Calibri"/>
              </a:rPr>
              <a:t>▪  </a:t>
            </a:r>
            <a:r>
              <a:rPr sz="1250" b="1">
                <a:solidFill>
                  <a:srgbClr val="1C1C1E"/>
                </a:solidFill>
                <a:latin typeface="Calibri"/>
              </a:rPr>
              <a:t>The admissible set</a:t>
            </a:r>
          </a:p>
          <a:p>
            <a:pPr lvl="1">
              <a:lnSpc>
                <a:spcPct val="120000"/>
              </a:lnSpc>
              <a:spcBef>
                <a:spcPts val="0"/>
              </a:spcBef>
              <a:spcAft>
                <a:spcPts val="0"/>
              </a:spcAft>
            </a:pPr>
            <a:r>
              <a:rPr sz="1100" b="0">
                <a:solidFill>
                  <a:srgbClr val="4A4F57"/>
                </a:solidFill>
                <a:latin typeface="Calibri"/>
              </a:rPr>
              <a:t>For a label time — the moment the decision was taken — and an observation time at which the assembly is run, the records admissible for a row are those whose event time is at or before the label, and whose ingest time is at or before the earlier of the label and the observation.</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The read</a:t>
            </a:r>
          </a:p>
          <a:p>
            <a:pPr lvl="1">
              <a:lnSpc>
                <a:spcPct val="120000"/>
              </a:lnSpc>
              <a:spcBef>
                <a:spcPts val="0"/>
              </a:spcBef>
              <a:spcAft>
                <a:spcPts val="0"/>
              </a:spcAft>
            </a:pPr>
            <a:r>
              <a:rPr sz="1100" b="0">
                <a:solidFill>
                  <a:srgbClr val="4A4F57"/>
                </a:solidFill>
                <a:latin typeface="Calibri"/>
              </a:rPr>
              <a:t>The latest admissible record, by event time and then by ingest time. It is undefined when nothing is admissible, rather than empty: a row for which nothing could have been known is a different fact about the world from a row whose value was zero, and an operator returning the same thing for both would lose it.</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Both bounds are present because they refuse different things</a:t>
            </a:r>
          </a:p>
          <a:p>
            <a:pPr lvl="1">
              <a:lnSpc>
                <a:spcPct val="120000"/>
              </a:lnSpc>
              <a:spcBef>
                <a:spcPts val="0"/>
              </a:spcBef>
              <a:spcAft>
                <a:spcPts val="0"/>
              </a:spcAft>
            </a:pPr>
            <a:r>
              <a:rPr sz="1100" b="0">
                <a:solidFill>
                  <a:srgbClr val="4A4F57"/>
                </a:solidFill>
                <a:latin typeface="Calibri"/>
              </a:rPr>
              <a:t>The event bound is what the world had done by the moment of the decision. The ingest bound is what could have been known at that moment. A read with one clock answers a question nobody asked — what do we think now about what was true then — and answers it without saying so.</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And the ingest bound is the earlier of the two, not the observation</a:t>
            </a:r>
          </a:p>
          <a:p>
            <a:pPr lvl="1">
              <a:lnSpc>
                <a:spcPct val="120000"/>
              </a:lnSpc>
              <a:spcBef>
                <a:spcPts val="0"/>
              </a:spcBef>
              <a:spcAft>
                <a:spcPts val="0"/>
              </a:spcAft>
            </a:pPr>
            <a:r>
              <a:rPr sz="1100" b="0">
                <a:solidFill>
                  <a:srgbClr val="4A4F57"/>
                </a:solidFill>
                <a:latin typeface="Calibri"/>
              </a:rPr>
              <a:t>The observation time is a single date for a whole assembly and is usually far later than any individual label. Bounding knowledge by the assembly date admits, for every early row, everything learned between that row's own decision date and the moment somebody pressed the button.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FOUR PROPERTIES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And the fourth one is reproducibility</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47</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Each is elementary to prove and none is ornamental. Together they are the difference between a read that is correct and a read that is stable — and the fourth makes reproducibility a property of the operator rather than of the discipline of whoever re-runs it.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§5.2. Without saturation a re-run quietly improves on the original, and the numbers then agree with nothing — including themselves. Nobody notices, because the second set is better by every measure that gets looked at.</a:t>
            </a:r>
          </a:p>
        </p:txBody>
      </p:sp>
      <p:graphicFrame>
        <p:nvGraphicFramePr>
          <p:cNvPr id="13" name="Table 12"/>
          <p:cNvGraphicFramePr>
            <a:graphicFrameLocks noGrp="1"/>
          </p:cNvGraphicFramePr>
          <p:nvPr/>
        </p:nvGraphicFramePr>
        <p:xfrm>
          <a:off x="777240" y="2284984"/>
          <a:ext cx="10637214" cy="3054856"/>
        </p:xfrm>
        <a:graphic>
          <a:graphicData uri="http://schemas.openxmlformats.org/drawingml/2006/table">
            <a:tbl>
              <a:tblPr firstRow="1">
                <a:tableStyleId>{5C22544A-7EE6-4342-B048-85BDC9FD1C3A}</a:tableStyleId>
              </a:tblPr>
              <a:tblGrid>
                <a:gridCol w="2292503"/>
                <a:gridCol w="3668005"/>
                <a:gridCol w="4676706"/>
              </a:tblGrid>
              <a:tr h="302514">
                <a:tc>
                  <a:txBody>
                    <a:bodyPr wrap="square"/>
                    <a:lstStyle/>
                    <a:p>
                      <a:r>
                        <a:rPr sz="1200" b="1">
                          <a:solidFill>
                            <a:srgbClr val="FFFFFF"/>
                          </a:solidFill>
                          <a:latin typeface="Calibri"/>
                        </a:rPr>
                        <a:t>Property</a:t>
                      </a:r>
                    </a:p>
                  </a:txBody>
                  <a:tcPr marL="82296" marR="64008" marT="32004" marB="32004" anchor="ctr">
                    <a:solidFill>
                      <a:srgbClr val="A51C30"/>
                    </a:solidFill>
                  </a:tcPr>
                </a:tc>
                <a:tc>
                  <a:txBody>
                    <a:bodyPr wrap="square"/>
                    <a:lstStyle/>
                    <a:p>
                      <a:r>
                        <a:rPr sz="1200" b="1">
                          <a:solidFill>
                            <a:srgbClr val="FFFFFF"/>
                          </a:solidFill>
                          <a:latin typeface="Calibri"/>
                        </a:rPr>
                        <a:t>What it says</a:t>
                      </a:r>
                    </a:p>
                  </a:txBody>
                  <a:tcPr marL="82296" marR="64008" marT="32004" marB="32004" anchor="ctr">
                    <a:solidFill>
                      <a:srgbClr val="A51C30"/>
                    </a:solidFill>
                  </a:tcPr>
                </a:tc>
                <a:tc>
                  <a:txBody>
                    <a:bodyPr wrap="square"/>
                    <a:lstStyle/>
                    <a:p>
                      <a:r>
                        <a:rPr sz="1200" b="1">
                          <a:solidFill>
                            <a:srgbClr val="FFFFFF"/>
                          </a:solidFill>
                          <a:latin typeface="Calibri"/>
                        </a:rPr>
                        <a:t>Why it is worth having</a:t>
                      </a:r>
                    </a:p>
                  </a:txBody>
                  <a:tcPr marL="82296" marR="64008" marT="32004" marB="32004" anchor="ctr">
                    <a:solidFill>
                      <a:srgbClr val="A51C30"/>
                    </a:solidFill>
                  </a:tcPr>
                </a:tc>
              </a:tr>
              <a:tr h="495299">
                <a:tc>
                  <a:txBody>
                    <a:bodyPr wrap="square"/>
                    <a:lstStyle/>
                    <a:p>
                      <a:r>
                        <a:rPr sz="1200" b="1">
                          <a:solidFill>
                            <a:srgbClr val="761422"/>
                          </a:solidFill>
                          <a:latin typeface="Calibri"/>
                        </a:rPr>
                        <a:t>Idempotent</a:t>
                      </a:r>
                    </a:p>
                  </a:txBody>
                  <a:tcPr marL="82296" marR="64008" marT="32004" marB="32004" anchor="ctr">
                    <a:solidFill>
                      <a:srgbClr val="FFFFFF"/>
                    </a:solidFill>
                  </a:tcPr>
                </a:tc>
                <a:tc>
                  <a:txBody>
                    <a:bodyPr wrap="square"/>
                    <a:lstStyle/>
                    <a:p>
                      <a:r>
                        <a:rPr sz="1200" b="0">
                          <a:solidFill>
                            <a:srgbClr val="1C1C1E"/>
                          </a:solidFill>
                          <a:latin typeface="Calibri"/>
                        </a:rPr>
                        <a:t>Reading the record it just returned returns that record</a:t>
                      </a:r>
                    </a:p>
                  </a:txBody>
                  <a:tcPr marL="82296" marR="64008" marT="32004" marB="32004" anchor="ctr">
                    <a:solidFill>
                      <a:srgbClr val="FFFFFF"/>
                    </a:solidFill>
                  </a:tcPr>
                </a:tc>
                <a:tc>
                  <a:txBody>
                    <a:bodyPr wrap="square"/>
                    <a:lstStyle/>
                    <a:p>
                      <a:r>
                        <a:rPr sz="1200" b="0">
                          <a:solidFill>
                            <a:srgbClr val="1C1C1E"/>
                          </a:solidFill>
                          <a:latin typeface="Calibri"/>
                        </a:rPr>
                        <a:t>A cached row and a recomputed row agree, so the operator may be applied twice without an answer moving</a:t>
                      </a:r>
                    </a:p>
                  </a:txBody>
                  <a:tcPr marL="82296" marR="64008" marT="32004" marB="32004" anchor="ctr">
                    <a:solidFill>
                      <a:srgbClr val="FFFFFF"/>
                    </a:solidFill>
                  </a:tcPr>
                </a:tc>
              </a:tr>
              <a:tr h="688086">
                <a:tc>
                  <a:txBody>
                    <a:bodyPr wrap="square"/>
                    <a:lstStyle/>
                    <a:p>
                      <a:r>
                        <a:rPr sz="1200" b="1">
                          <a:solidFill>
                            <a:srgbClr val="761422"/>
                          </a:solidFill>
                          <a:latin typeface="Calibri"/>
                        </a:rPr>
                        <a:t>Commutes with projection</a:t>
                      </a:r>
                    </a:p>
                  </a:txBody>
                  <a:tcPr marL="82296" marR="64008" marT="32004" marB="32004" anchor="ctr">
                    <a:solidFill>
                      <a:srgbClr val="F6F3EF"/>
                    </a:solidFill>
                  </a:tcPr>
                </a:tc>
                <a:tc>
                  <a:txBody>
                    <a:bodyPr wrap="square"/>
                    <a:lstStyle/>
                    <a:p>
                      <a:r>
                        <a:rPr sz="1200" b="0">
                          <a:solidFill>
                            <a:srgbClr val="1C1C1E"/>
                          </a:solidFill>
                          <a:latin typeface="Calibri"/>
                        </a:rPr>
                        <a:t>Dropping non-clock columns before or after the read gives the same row</a:t>
                      </a:r>
                    </a:p>
                  </a:txBody>
                  <a:tcPr marL="82296" marR="64008" marT="32004" marB="32004" anchor="ctr">
                    <a:solidFill>
                      <a:srgbClr val="F6F3EF"/>
                    </a:solidFill>
                  </a:tcPr>
                </a:tc>
                <a:tc>
                  <a:txBody>
                    <a:bodyPr wrap="square"/>
                    <a:lstStyle/>
                    <a:p>
                      <a:r>
                        <a:rPr sz="1200" b="0">
                          <a:solidFill>
                            <a:srgbClr val="1C1C1E"/>
                          </a:solidFill>
                          <a:latin typeface="Calibri"/>
                        </a:rPr>
                        <a:t>Admissibility depends on the two clocks alone, so a narrower query is the same query rather than a cheaper approximation of it</a:t>
                      </a:r>
                    </a:p>
                  </a:txBody>
                  <a:tcPr marL="82296" marR="64008" marT="32004" marB="32004" anchor="ctr">
                    <a:solidFill>
                      <a:srgbClr val="F6F3EF"/>
                    </a:solidFill>
                  </a:tcPr>
                </a:tc>
              </a:tr>
              <a:tr h="688086">
                <a:tc>
                  <a:txBody>
                    <a:bodyPr wrap="square"/>
                    <a:lstStyle/>
                    <a:p>
                      <a:r>
                        <a:rPr sz="1200" b="1">
                          <a:solidFill>
                            <a:srgbClr val="761422"/>
                          </a:solidFill>
                          <a:latin typeface="Calibri"/>
                        </a:rPr>
                        <a:t>Monotone in the observation time</a:t>
                      </a:r>
                    </a:p>
                  </a:txBody>
                  <a:tcPr marL="82296" marR="64008" marT="32004" marB="32004" anchor="ctr">
                    <a:solidFill>
                      <a:srgbClr val="FFFFFF"/>
                    </a:solidFill>
                  </a:tcPr>
                </a:tc>
                <a:tc>
                  <a:txBody>
                    <a:bodyPr wrap="square"/>
                    <a:lstStyle/>
                    <a:p>
                      <a:r>
                        <a:rPr sz="1200" b="0">
                          <a:solidFill>
                            <a:srgbClr val="1C1C1E"/>
                          </a:solidFill>
                          <a:latin typeface="Calibri"/>
                        </a:rPr>
                        <a:t>A later observation admits a superset</a:t>
                      </a:r>
                    </a:p>
                  </a:txBody>
                  <a:tcPr marL="82296" marR="64008" marT="32004" marB="32004" anchor="ctr">
                    <a:solidFill>
                      <a:srgbClr val="FFFFFF"/>
                    </a:solidFill>
                  </a:tcPr>
                </a:tc>
                <a:tc>
                  <a:txBody>
                    <a:bodyPr wrap="square"/>
                    <a:lstStyle/>
                    <a:p>
                      <a:r>
                        <a:rPr sz="1200" b="0">
                          <a:solidFill>
                            <a:srgbClr val="1C1C1E"/>
                          </a:solidFill>
                          <a:latin typeface="Calibri"/>
                        </a:rPr>
                        <a:t>Nothing that was knowable stops being knowable. It is monotonicity of the set and not of the chosen row, which is why the fourth property has to be separate</a:t>
                      </a:r>
                    </a:p>
                  </a:txBody>
                  <a:tcPr marL="82296" marR="64008" marT="32004" marB="32004" anchor="ctr">
                    <a:solidFill>
                      <a:srgbClr val="FFFFFF"/>
                    </a:solidFill>
                  </a:tcPr>
                </a:tc>
              </a:tr>
              <a:tr h="880871">
                <a:tc>
                  <a:txBody>
                    <a:bodyPr wrap="square"/>
                    <a:lstStyle/>
                    <a:p>
                      <a:r>
                        <a:rPr sz="1200" b="1">
                          <a:solidFill>
                            <a:srgbClr val="761422"/>
                          </a:solidFill>
                          <a:latin typeface="Calibri"/>
                        </a:rPr>
                        <a:t>Saturating at the label</a:t>
                      </a:r>
                    </a:p>
                  </a:txBody>
                  <a:tcPr marL="82296" marR="64008" marT="32004" marB="32004" anchor="ctr">
                    <a:solidFill>
                      <a:srgbClr val="F6F3EF"/>
                    </a:solidFill>
                  </a:tcPr>
                </a:tc>
                <a:tc>
                  <a:txBody>
                    <a:bodyPr wrap="square"/>
                    <a:lstStyle/>
                    <a:p>
                      <a:r>
                        <a:rPr sz="1200" b="0">
                          <a:solidFill>
                            <a:srgbClr val="1C1C1E"/>
                          </a:solidFill>
                          <a:latin typeface="Calibri"/>
                        </a:rPr>
                        <a:t>At every observation at or after the label, the admissible set is the same set</a:t>
                      </a:r>
                    </a:p>
                  </a:txBody>
                  <a:tcPr marL="82296" marR="64008" marT="32004" marB="32004" anchor="ctr">
                    <a:solidFill>
                      <a:srgbClr val="F6F3EF"/>
                    </a:solidFill>
                  </a:tcPr>
                </a:tc>
                <a:tc>
                  <a:txBody>
                    <a:bodyPr wrap="square"/>
                    <a:lstStyle/>
                    <a:p>
                      <a:r>
                        <a:rPr sz="1200" b="0">
                          <a:solidFill>
                            <a:srgbClr val="1C1C1E"/>
                          </a:solidFill>
                          <a:latin typeface="Calibri"/>
                        </a:rPr>
                        <a:t>A row assembled at any time after its label is the row that would have been assembled at the label, whatever arrived in between. This is reproducibility, and it is what the earlier-of-the-two bound buys</a:t>
                      </a:r>
                    </a:p>
                  </a:txBody>
                  <a:tcPr marL="82296" marR="64008" marT="32004" marB="32004" anchor="ctr">
                    <a:solidFill>
                      <a:srgbClr val="F6F3E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ONE LAYER ACROSS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C1C1E"/>
                </a:solidFill>
                <a:latin typeface="Georgia"/>
              </a:rPr>
              <a:t>The ingest clock of a derived feature, as arithmetic that cannot be forgotten</a:t>
            </a:r>
          </a:p>
        </p:txBody>
      </p:sp>
      <p:sp>
        <p:nvSpPr>
          <p:cNvPr id="6" name="Rectangle 5"/>
          <p:cNvSpPr/>
          <p:nvPr/>
        </p:nvSpPr>
        <p:spPr>
          <a:xfrm>
            <a:off x="777240" y="148386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48</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§6.2. Two routes to one answer are worth having only while they agree, so the identity between them is asserted rather than assumed.</a:t>
            </a:r>
          </a:p>
        </p:txBody>
      </p:sp>
      <p:sp>
        <p:nvSpPr>
          <p:cNvPr id="12" name="TextBox 11"/>
          <p:cNvSpPr txBox="1"/>
          <p:nvPr/>
        </p:nvSpPr>
        <p:spPr>
          <a:xfrm>
            <a:off x="777240" y="1611884"/>
            <a:ext cx="10637215" cy="4066539"/>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rule, as arithmetic</a:t>
            </a:r>
          </a:p>
          <a:p>
            <a:pPr lvl="1">
              <a:lnSpc>
                <a:spcPct val="120000"/>
              </a:lnSpc>
              <a:spcBef>
                <a:spcPts val="0"/>
              </a:spcBef>
              <a:spcAft>
                <a:spcPts val="0"/>
              </a:spcAft>
            </a:pPr>
            <a:r>
              <a:rPr sz="1350" b="0">
                <a:solidFill>
                  <a:srgbClr val="4A4F57"/>
                </a:solidFill>
                <a:latin typeface="Calibri"/>
              </a:rPr>
              <a:t>The moment a derived feature became knowable is the latest ingest time among the base features it reads. Stated that way it is a rule, and a rule can have exceptions somebody forgets.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rule, as a consequence of the derivation</a:t>
            </a:r>
          </a:p>
          <a:p>
            <a:pPr lvl="1">
              <a:lnSpc>
                <a:spcPct val="120000"/>
              </a:lnSpc>
              <a:spcBef>
                <a:spcPts val="0"/>
              </a:spcBef>
              <a:spcAft>
                <a:spcPts val="0"/>
              </a:spcAft>
            </a:pPr>
            <a:r>
              <a:rPr sz="1350" b="0">
                <a:solidFill>
                  <a:srgbClr val="4A4F57"/>
                </a:solidFill>
                <a:latin typeface="Calibri"/>
              </a:rPr>
              <a:t>It is the derivation itself, evaluated with each base feature replaced by its own ingest time. The upgrade is not cosmetic: every route to the number now goes through the same object, so there is no exception to forget.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What does this rest on?</a:t>
            </a:r>
          </a:p>
          <a:p>
            <a:pPr lvl="1">
              <a:lnSpc>
                <a:spcPct val="120000"/>
              </a:lnSpc>
              <a:spcBef>
                <a:spcPts val="0"/>
              </a:spcBef>
              <a:spcAft>
                <a:spcPts val="0"/>
              </a:spcAft>
            </a:pPr>
            <a:r>
              <a:rPr sz="1350" b="0">
                <a:solidFill>
                  <a:srgbClr val="4A4F57"/>
                </a:solidFill>
                <a:latin typeface="Calibri"/>
              </a:rPr>
              <a:t>The base features the derivation actually reads — deliberately not the transitive ancestor set, because the two answer different questions. The ancestor walk returns every ancestor, derived ones included, which is the right answer to what breaks if this changes. The base features are the right answer to what data this ultimately reads.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Does it touch the label?</a:t>
            </a:r>
          </a:p>
          <a:p>
            <a:pPr lvl="1">
              <a:lnSpc>
                <a:spcPct val="120000"/>
              </a:lnSpc>
              <a:spcBef>
                <a:spcPts val="0"/>
              </a:spcBef>
              <a:spcAft>
                <a:spcPts val="0"/>
              </a:spcAft>
            </a:pPr>
            <a:r>
              <a:rPr sz="1350" b="0">
                <a:solidFill>
                  <a:srgbClr val="4A4F57"/>
                </a:solidFill>
                <a:latin typeface="Calibri"/>
              </a:rPr>
              <a:t>Whether the target's own feature appears among those base features. A feature derived from a derivation of the target is still the target, so leakage detection becomes a membership test rather than a graph walk with a depth limit and a hope.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SAME BOUNDARY, FROM THE OTHER SIDE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Where a machine may do the work</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6 · The formal core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49</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300" b="0" i="0">
                <a:solidFill>
                  <a:srgbClr val="1C1C1E"/>
                </a:solidFill>
                <a:latin typeface="Calibri"/>
              </a:rPr>
              <a:t>If an answer can be checked it matters little what produced it: a wrong one is caught and discarded, and the only cost is wasted effort. If it cannot be checked, then trusting the answer is trusting the producer, and no amount of process changes that. So the useful question is not whether the generator is good enough but whether there is a check — and there is one exactly where the fact derives from structure.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Paper §9. MAYA's assistant sits entirely in the left column: it proposes, it never approves, it never blocks, and it never writes to a sealed object.</a:t>
            </a:r>
          </a:p>
        </p:txBody>
      </p:sp>
      <p:sp>
        <p:nvSpPr>
          <p:cNvPr id="13" name="Rectangle 12"/>
          <p:cNvSpPr/>
          <p:nvPr/>
        </p:nvSpPr>
        <p:spPr>
          <a:xfrm>
            <a:off x="777240" y="24596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4596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25327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A check exists, so an error costs throughput</a:t>
            </a:r>
          </a:p>
        </p:txBody>
      </p:sp>
      <p:sp>
        <p:nvSpPr>
          <p:cNvPr id="16" name="TextBox 15"/>
          <p:cNvSpPr txBox="1"/>
          <p:nvPr/>
        </p:nvSpPr>
        <p:spPr>
          <a:xfrm>
            <a:off x="777240" y="2971673"/>
            <a:ext cx="5135727" cy="2706750"/>
          </a:xfrm>
          <a:prstGeom prst="rect">
            <a:avLst/>
          </a:prstGeom>
          <a:noFill/>
        </p:spPr>
        <p:txBody>
          <a:bodyPr wrap="square" lIns="0" rIns="0" tIns="0" bIns="0" anchor="t">
            <a:spAutoFit/>
          </a:bodyPr>
          <a:lstStyle/>
          <a:p>
            <a:pPr algn="l">
              <a:lnSpc>
                <a:spcPct val="120000"/>
              </a:lnSpc>
              <a:spcBef>
                <a:spcPts val="0"/>
              </a:spcBef>
              <a:spcAft>
                <a:spcPts val="100"/>
              </a:spcAft>
            </a:pPr>
            <a:r>
              <a:rPr sz="1250" b="1">
                <a:solidFill>
                  <a:srgbClr val="A51C30"/>
                </a:solidFill>
                <a:latin typeface="Calibri"/>
              </a:rPr>
              <a:t>▪  </a:t>
            </a:r>
            <a:r>
              <a:rPr sz="1250" b="1">
                <a:solidFill>
                  <a:srgbClr val="1C1C1E"/>
                </a:solidFill>
                <a:latin typeface="Calibri"/>
              </a:rPr>
              <a:t>Encode a regulatory regime</a:t>
            </a:r>
          </a:p>
          <a:p>
            <a:pPr lvl="1">
              <a:lnSpc>
                <a:spcPct val="120000"/>
              </a:lnSpc>
              <a:spcBef>
                <a:spcPts val="0"/>
              </a:spcBef>
              <a:spcAft>
                <a:spcPts val="0"/>
              </a:spcAft>
            </a:pPr>
            <a:r>
              <a:rPr sz="1100" b="0">
                <a:solidFill>
                  <a:srgbClr val="4A4F57"/>
                </a:solidFill>
                <a:latin typeface="Calibri"/>
              </a:rPr>
              <a:t>An encoding either keeps truth invariant under translation or it does not. Expensive expert work becomes cheap proposal and mechanical verification, and the expert adjudicates rather than authors.</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Bind data to a model, or wire two models</a:t>
            </a:r>
          </a:p>
          <a:p>
            <a:pPr lvl="1">
              <a:lnSpc>
                <a:spcPct val="120000"/>
              </a:lnSpc>
              <a:spcBef>
                <a:spcPts val="0"/>
              </a:spcBef>
              <a:spcAft>
                <a:spcPts val="0"/>
              </a:spcAft>
            </a:pPr>
            <a:r>
              <a:rPr sz="1100" b="0">
                <a:solidFill>
                  <a:srgbClr val="4A4F57"/>
                </a:solidFill>
                <a:latin typeface="Calibri"/>
              </a:rPr>
              <a:t>Both are the one order of D2. A refusal names the slot that is missing or the one that narrowed.</a:t>
            </a:r>
          </a:p>
          <a:p>
            <a:pPr>
              <a:lnSpc>
                <a:spcPct val="120000"/>
              </a:lnSpc>
              <a:spcBef>
                <a:spcPts val="500"/>
              </a:spcBef>
              <a:spcAft>
                <a:spcPts val="100"/>
              </a:spcAft>
            </a:pPr>
            <a:r>
              <a:rPr sz="1250" b="1">
                <a:solidFill>
                  <a:srgbClr val="A51C30"/>
                </a:solidFill>
                <a:latin typeface="Calibri"/>
              </a:rPr>
              <a:t>▪  </a:t>
            </a:r>
            <a:r>
              <a:rPr sz="1250" b="1">
                <a:solidFill>
                  <a:srgbClr val="1C1C1E"/>
                </a:solidFill>
                <a:latin typeface="Calibri"/>
              </a:rPr>
              <a:t>Assemble fitting evidence, and cite it</a:t>
            </a:r>
          </a:p>
          <a:p>
            <a:pPr lvl="1">
              <a:lnSpc>
                <a:spcPct val="120000"/>
              </a:lnSpc>
              <a:spcBef>
                <a:spcPts val="0"/>
              </a:spcBef>
              <a:spcAft>
                <a:spcPts val="0"/>
              </a:spcAft>
            </a:pPr>
            <a:r>
              <a:rPr sz="1100" b="0">
                <a:solidFill>
                  <a:srgbClr val="4A4F57"/>
                </a:solidFill>
                <a:latin typeface="Calibri"/>
              </a:rPr>
              <a:t>The point-in-time operator, recomputed by a route that does not reuse the one that assembled the rows; and a citation checked by evaluating the derivation in true-or-false arithmetic.</a:t>
            </a:r>
          </a:p>
        </p:txBody>
      </p:sp>
      <p:sp>
        <p:nvSpPr>
          <p:cNvPr id="17" name="Rectangle 16"/>
          <p:cNvSpPr/>
          <p:nvPr/>
        </p:nvSpPr>
        <p:spPr>
          <a:xfrm>
            <a:off x="6278727" y="24596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78727" y="24596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3319" y="25327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No check exists, so the answer is its producer</a:t>
            </a:r>
          </a:p>
        </p:txBody>
      </p:sp>
      <p:sp>
        <p:nvSpPr>
          <p:cNvPr id="20" name="TextBox 19"/>
          <p:cNvSpPr txBox="1"/>
          <p:nvPr/>
        </p:nvSpPr>
        <p:spPr>
          <a:xfrm>
            <a:off x="6278727" y="2971673"/>
            <a:ext cx="5135727" cy="2706750"/>
          </a:xfrm>
          <a:prstGeom prst="rect">
            <a:avLst/>
          </a:prstGeom>
          <a:noFill/>
        </p:spPr>
        <p:txBody>
          <a:bodyPr wrap="square" lIns="0" rIns="0" tIns="0" bIns="0" anchor="t">
            <a:spAutoFit/>
          </a:bodyPr>
          <a:lstStyle/>
          <a:p>
            <a:pPr algn="l">
              <a:lnSpc>
                <a:spcPct val="120000"/>
              </a:lnSpc>
              <a:spcBef>
                <a:spcPts val="0"/>
              </a:spcBef>
              <a:spcAft>
                <a:spcPts val="100"/>
              </a:spcAft>
            </a:pPr>
            <a:r>
              <a:rPr sz="1200" b="1">
                <a:solidFill>
                  <a:srgbClr val="A51C30"/>
                </a:solidFill>
                <a:latin typeface="Calibri"/>
              </a:rPr>
              <a:t>▪  </a:t>
            </a:r>
            <a:r>
              <a:rPr sz="1200" b="1">
                <a:solidFill>
                  <a:srgbClr val="1C1C1E"/>
                </a:solidFill>
                <a:latin typeface="Calibri"/>
              </a:rPr>
              <a:t>Choose the tiering rule</a:t>
            </a:r>
          </a:p>
          <a:p>
            <a:pPr lvl="1">
              <a:lnSpc>
                <a:spcPct val="120000"/>
              </a:lnSpc>
              <a:spcBef>
                <a:spcPts val="0"/>
              </a:spcBef>
              <a:spcAft>
                <a:spcPts val="0"/>
              </a:spcAft>
            </a:pPr>
            <a:r>
              <a:rPr sz="1050" b="0">
                <a:solidFill>
                  <a:srgbClr val="4A4F57"/>
                </a:solidFill>
                <a:latin typeface="Calibri"/>
              </a:rPr>
              <a:t>It constitutes the standard, so there is nothing independent for it to be checked against.</a:t>
            </a:r>
          </a:p>
          <a:p>
            <a:pPr>
              <a:lnSpc>
                <a:spcPct val="120000"/>
              </a:lnSpc>
              <a:spcBef>
                <a:spcPts val="500"/>
              </a:spcBef>
              <a:spcAft>
                <a:spcPts val="100"/>
              </a:spcAft>
            </a:pPr>
            <a:r>
              <a:rPr sz="1200" b="1">
                <a:solidFill>
                  <a:srgbClr val="A51C30"/>
                </a:solidFill>
                <a:latin typeface="Calibri"/>
              </a:rPr>
              <a:t>▪  </a:t>
            </a:r>
            <a:r>
              <a:rPr sz="1200" b="1">
                <a:solidFill>
                  <a:srgbClr val="1C1C1E"/>
                </a:solidFill>
                <a:latin typeface="Calibri"/>
              </a:rPr>
              <a:t>Conclude a validation, or accept residual risk</a:t>
            </a:r>
          </a:p>
          <a:p>
            <a:pPr lvl="1">
              <a:lnSpc>
                <a:spcPct val="120000"/>
              </a:lnSpc>
              <a:spcBef>
                <a:spcPts val="0"/>
              </a:spcBef>
              <a:spcAft>
                <a:spcPts val="0"/>
              </a:spcAft>
            </a:pPr>
            <a:r>
              <a:rPr sz="1050" b="0">
                <a:solidFill>
                  <a:srgbClr val="4A4F57"/>
                </a:solidFill>
                <a:latin typeface="Calibri"/>
              </a:rPr>
              <a:t>Correctness here is not a property of the text. It is an exercise of authority, and the boundary is drawn by the mathematics rather than by risk appetite — which is worth scrutinising in proportion to how comfortable a conclusion it is.</a:t>
            </a:r>
          </a:p>
          <a:p>
            <a:pPr>
              <a:lnSpc>
                <a:spcPct val="120000"/>
              </a:lnSpc>
              <a:spcBef>
                <a:spcPts val="500"/>
              </a:spcBef>
              <a:spcAft>
                <a:spcPts val="100"/>
              </a:spcAft>
            </a:pPr>
            <a:r>
              <a:rPr sz="1200" b="1">
                <a:solidFill>
                  <a:srgbClr val="A51C30"/>
                </a:solidFill>
                <a:latin typeface="Calibri"/>
              </a:rPr>
              <a:t>▪  </a:t>
            </a:r>
            <a:r>
              <a:rPr sz="1200" b="1">
                <a:solidFill>
                  <a:srgbClr val="1C1C1E"/>
                </a:solidFill>
                <a:latin typeface="Calibri"/>
              </a:rPr>
              <a:t>And one honest exception</a:t>
            </a:r>
          </a:p>
          <a:p>
            <a:pPr lvl="1">
              <a:lnSpc>
                <a:spcPct val="120000"/>
              </a:lnSpc>
              <a:spcBef>
                <a:spcPts val="0"/>
              </a:spcBef>
              <a:spcAft>
                <a:spcPts val="0"/>
              </a:spcAft>
            </a:pPr>
            <a:r>
              <a:rPr sz="1050" b="0">
                <a:solidFill>
                  <a:srgbClr val="4A4F57"/>
                </a:solidFill>
                <a:latin typeface="Calibri"/>
              </a:rPr>
              <a:t>Sampled agreement between a stated formula and an implementation can refute the implementation and can never certify it, so however many samples it draws it is not a check in this sense. A report saying so in its first four words is worth more than one that passes quietly.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7</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4200" b="0" i="0">
                <a:solidFill>
                  <a:srgbClr val="FFFFFF"/>
                </a:solidFill>
                <a:latin typeface="Georgia"/>
              </a:rPr>
              <a:t>How it runs</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One platform reached six ways, one database at a time, a sandbox whose strength is verified rather than assumed, and an audit chain anchored outside the database.</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Six places, one set of objects</a:t>
            </a:r>
          </a:p>
          <a:p>
            <a:pPr>
              <a:lnSpc>
                <a:spcPct val="115000"/>
              </a:lnSpc>
              <a:spcBef>
                <a:spcPts val="0"/>
              </a:spcBef>
              <a:spcAft>
                <a:spcPts val="600"/>
              </a:spcAft>
            </a:pPr>
            <a:r>
              <a:rPr sz="1200" b="0" i="0">
                <a:solidFill>
                  <a:srgbClr val="F6E6E9"/>
                </a:solidFill>
                <a:latin typeface="Calibri"/>
              </a:rPr>
              <a:t>The REST API</a:t>
            </a:r>
          </a:p>
          <a:p>
            <a:pPr>
              <a:lnSpc>
                <a:spcPct val="115000"/>
              </a:lnSpc>
              <a:spcBef>
                <a:spcPts val="0"/>
              </a:spcBef>
              <a:spcAft>
                <a:spcPts val="600"/>
              </a:spcAft>
            </a:pPr>
            <a:r>
              <a:rPr sz="1200" b="0" i="0">
                <a:solidFill>
                  <a:srgbClr val="F6E6E9"/>
                </a:solidFill>
                <a:latin typeface="Calibri"/>
              </a:rPr>
              <a:t>Policy as data</a:t>
            </a:r>
          </a:p>
          <a:p>
            <a:pPr>
              <a:lnSpc>
                <a:spcPct val="115000"/>
              </a:lnSpc>
              <a:spcBef>
                <a:spcPts val="0"/>
              </a:spcBef>
              <a:spcAft>
                <a:spcPts val="600"/>
              </a:spcAft>
            </a:pPr>
            <a:r>
              <a:rPr sz="1200" b="0" i="0">
                <a:solidFill>
                  <a:srgbClr val="F6E6E9"/>
                </a:solidFill>
                <a:latin typeface="Calibri"/>
              </a:rPr>
              <a:t>The audit chain</a:t>
            </a:r>
          </a:p>
          <a:p>
            <a:pPr>
              <a:lnSpc>
                <a:spcPct val="115000"/>
              </a:lnSpc>
              <a:spcBef>
                <a:spcPts val="0"/>
              </a:spcBef>
              <a:spcAft>
                <a:spcPts val="600"/>
              </a:spcAft>
            </a:pPr>
            <a:r>
              <a:rPr sz="1200" b="0" i="0">
                <a:solidFill>
                  <a:srgbClr val="F6E6E9"/>
                </a:solidFill>
                <a:latin typeface="Calibri"/>
              </a:rPr>
              <a:t>Storage</a:t>
            </a:r>
          </a:p>
          <a:p>
            <a:pPr>
              <a:lnSpc>
                <a:spcPct val="115000"/>
              </a:lnSpc>
              <a:spcBef>
                <a:spcPts val="0"/>
              </a:spcBef>
              <a:spcAft>
                <a:spcPts val="600"/>
              </a:spcAft>
            </a:pPr>
            <a:r>
              <a:rPr sz="1200" b="0" i="0">
                <a:solidFill>
                  <a:srgbClr val="F6E6E9"/>
                </a:solidFill>
                <a:latin typeface="Calibri"/>
              </a:rPr>
              <a:t>The sandbox</a:t>
            </a:r>
          </a:p>
          <a:p>
            <a:pPr>
              <a:lnSpc>
                <a:spcPct val="115000"/>
              </a:lnSpc>
              <a:spcBef>
                <a:spcPts val="0"/>
              </a:spcBef>
              <a:spcAft>
                <a:spcPts val="600"/>
              </a:spcAft>
            </a:pPr>
            <a:r>
              <a:rPr sz="1200" b="0" i="0">
                <a:solidFill>
                  <a:srgbClr val="F6E6E9"/>
                </a:solidFill>
                <a:latin typeface="Calibri"/>
              </a:rPr>
              <a:t>Connectors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THE WORK HAPPENS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Six places, and the same objects visible from each</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51</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maya/web/routes/: workbench.py, catalog.py, models.py, warrants.py, home.py, admin.py, lineage.py, workflow.py, workspaces.py. Every page is rendered in tests/test_web.py::test_every_page_renders, and the journeys through them in tests/test_web_journeys.py.</a:t>
            </a:r>
          </a:p>
        </p:txBody>
      </p:sp>
      <p:sp>
        <p:nvSpPr>
          <p:cNvPr id="12" name="Rectangle 11"/>
          <p:cNvSpPr/>
          <p:nvPr/>
        </p:nvSpPr>
        <p:spPr>
          <a:xfrm>
            <a:off x="777240"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WORKBENCH</a:t>
            </a:r>
          </a:p>
        </p:txBody>
      </p:sp>
      <p:sp>
        <p:nvSpPr>
          <p:cNvPr id="15" name="TextBox 14"/>
          <p:cNvSpPr txBox="1"/>
          <p:nvPr/>
        </p:nvSpPr>
        <p:spPr>
          <a:xfrm>
            <a:off x="960120"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Author and rehearse</a:t>
            </a:r>
          </a:p>
        </p:txBody>
      </p:sp>
      <p:sp>
        <p:nvSpPr>
          <p:cNvPr id="16" name="TextBox 15"/>
          <p:cNvSpPr txBox="1"/>
          <p:nvPr/>
        </p:nvSpPr>
        <p:spPr>
          <a:xfrm>
            <a:off x="960120"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Define a feature, upload or pull its data, preview a resolution before it is pinned, build a feature set, open a workspace to try a change safely.</a:t>
            </a:r>
          </a:p>
        </p:txBody>
      </p:sp>
      <p:sp>
        <p:nvSpPr>
          <p:cNvPr id="17" name="Rectangle 16"/>
          <p:cNvSpPr/>
          <p:nvPr/>
        </p:nvSpPr>
        <p:spPr>
          <a:xfrm>
            <a:off x="4377842"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CATALOG</a:t>
            </a:r>
          </a:p>
        </p:txBody>
      </p:sp>
      <p:sp>
        <p:nvSpPr>
          <p:cNvPr id="20" name="TextBox 19"/>
          <p:cNvSpPr txBox="1"/>
          <p:nvPr/>
        </p:nvSpPr>
        <p:spPr>
          <a:xfrm>
            <a:off x="4560722"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Find and compare</a:t>
            </a:r>
          </a:p>
        </p:txBody>
      </p:sp>
      <p:sp>
        <p:nvSpPr>
          <p:cNvPr id="21" name="TextBox 20"/>
          <p:cNvSpPr txBox="1"/>
          <p:nvPr/>
        </p:nvSpPr>
        <p:spPr>
          <a:xfrm>
            <a:off x="4560722"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Features and feature sets with their versions, pins, lineage and quality history; compare two versions; download a pin as tabular or wide.</a:t>
            </a:r>
          </a:p>
        </p:txBody>
      </p:sp>
      <p:sp>
        <p:nvSpPr>
          <p:cNvPr id="22" name="Rectangle 21"/>
          <p:cNvSpPr/>
          <p:nvPr/>
        </p:nvSpPr>
        <p:spPr>
          <a:xfrm>
            <a:off x="7978444" y="138696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8696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5155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MODELS</a:t>
            </a:r>
          </a:p>
        </p:txBody>
      </p:sp>
      <p:sp>
        <p:nvSpPr>
          <p:cNvPr id="25" name="TextBox 24"/>
          <p:cNvSpPr txBox="1"/>
          <p:nvPr/>
        </p:nvSpPr>
        <p:spPr>
          <a:xfrm>
            <a:off x="8161324" y="180759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Register and review</a:t>
            </a:r>
          </a:p>
        </p:txBody>
      </p:sp>
      <p:sp>
        <p:nvSpPr>
          <p:cNvPr id="26" name="TextBox 25"/>
          <p:cNvSpPr txBox="1"/>
          <p:nvPr/>
        </p:nvSpPr>
        <p:spPr>
          <a:xfrm>
            <a:off x="8161324" y="215607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The kernel wizard, the mathematics, the code artifact and its ladder report, the specification document, the semantic diff between two versions.</a:t>
            </a:r>
          </a:p>
        </p:txBody>
      </p:sp>
      <p:sp>
        <p:nvSpPr>
          <p:cNvPr id="27" name="Rectangle 26"/>
          <p:cNvSpPr/>
          <p:nvPr/>
        </p:nvSpPr>
        <p:spPr>
          <a:xfrm>
            <a:off x="777240"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WARRANTS</a:t>
            </a:r>
          </a:p>
        </p:txBody>
      </p:sp>
      <p:sp>
        <p:nvSpPr>
          <p:cNvPr id="30" name="TextBox 29"/>
          <p:cNvSpPr txBox="1"/>
          <p:nvPr/>
        </p:nvSpPr>
        <p:spPr>
          <a:xfrm>
            <a:off x="960120"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Licence and verify</a:t>
            </a:r>
          </a:p>
        </p:txBody>
      </p:sp>
      <p:sp>
        <p:nvSpPr>
          <p:cNvPr id="31" name="TextBox 30"/>
          <p:cNvSpPr txBox="1"/>
          <p:nvPr/>
        </p:nvSpPr>
        <p:spPr>
          <a:xfrm>
            <a:off x="960120"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Draw a training warrant, fetch the data, upload dials, seal an execution warrant, export a bundle — and verify a bundle somebody hands you.</a:t>
            </a:r>
          </a:p>
        </p:txBody>
      </p:sp>
      <p:sp>
        <p:nvSpPr>
          <p:cNvPr id="32" name="Rectangle 31"/>
          <p:cNvSpPr/>
          <p:nvPr/>
        </p:nvSpPr>
        <p:spPr>
          <a:xfrm>
            <a:off x="4377842"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77842"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60722"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INBOX</a:t>
            </a:r>
          </a:p>
        </p:txBody>
      </p:sp>
      <p:sp>
        <p:nvSpPr>
          <p:cNvPr id="35" name="TextBox 34"/>
          <p:cNvSpPr txBox="1"/>
          <p:nvPr/>
        </p:nvSpPr>
        <p:spPr>
          <a:xfrm>
            <a:off x="4560722"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Decide</a:t>
            </a:r>
          </a:p>
        </p:txBody>
      </p:sp>
      <p:sp>
        <p:nvSpPr>
          <p:cNvPr id="36" name="TextBox 35"/>
          <p:cNvSpPr txBox="1"/>
          <p:nvPr/>
        </p:nvSpPr>
        <p:spPr>
          <a:xfrm>
            <a:off x="4560722"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review queue, scoped to what you may actually see, with what is overdue, what is blocked and by which named check.</a:t>
            </a:r>
          </a:p>
        </p:txBody>
      </p:sp>
      <p:sp>
        <p:nvSpPr>
          <p:cNvPr id="37" name="Rectangle 36"/>
          <p:cNvSpPr/>
          <p:nvPr/>
        </p:nvSpPr>
        <p:spPr>
          <a:xfrm>
            <a:off x="7978444" y="3514407"/>
            <a:ext cx="3436010" cy="1962848"/>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978444" y="3514407"/>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61324" y="3678999"/>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ADMIN</a:t>
            </a:r>
          </a:p>
        </p:txBody>
      </p:sp>
      <p:sp>
        <p:nvSpPr>
          <p:cNvPr id="40" name="TextBox 39"/>
          <p:cNvSpPr txBox="1"/>
          <p:nvPr/>
        </p:nvSpPr>
        <p:spPr>
          <a:xfrm>
            <a:off x="8161324" y="3935031"/>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Operate</a:t>
            </a:r>
          </a:p>
        </p:txBody>
      </p:sp>
      <p:sp>
        <p:nvSpPr>
          <p:cNvPr id="41" name="TextBox 40"/>
          <p:cNvSpPr txBox="1"/>
          <p:nvPr/>
        </p:nvSpPr>
        <p:spPr>
          <a:xfrm>
            <a:off x="8161324" y="4283519"/>
            <a:ext cx="3070250" cy="1065720"/>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4F57"/>
                </a:solidFill>
                <a:latin typeface="Calibri"/>
              </a:rPr>
              <a:t>Namespaces and grants, users and sign-on, sources, jobs, events and webhooks, storage, retention, custody anchors, and a health page naming every resolved seam.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FOUR SURFACES, ONE CONTRACT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Whatever you drive it with, it is the same platform</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52</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tools/ci/table_contract.py, sdk_parity.py, contrast.py; tests/test_web.py::test_web_imports_only_the_sdk; tests/test_browser.py::test_a_server_paged_table_pages_searches_and_sorts; docs/BENCHMARKS.md for the search figure.</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surfaces</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The web interface is an SDK client</a:t>
            </a:r>
          </a:p>
          <a:p>
            <a:pPr lvl="1">
              <a:lnSpc>
                <a:spcPct val="120000"/>
              </a:lnSpc>
              <a:spcBef>
                <a:spcPts val="0"/>
              </a:spcBef>
              <a:spcAft>
                <a:spcPts val="0"/>
              </a:spcAft>
            </a:pPr>
            <a:r>
              <a:rPr sz="1350" b="0">
                <a:solidFill>
                  <a:srgbClr val="4A4F57"/>
                </a:solidFill>
                <a:latin typeface="Calibri"/>
              </a:rPr>
              <a:t>It has no private path to the services; a gate fails the build if anything under the web tier imports past the SDK.</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REST API</a:t>
            </a:r>
          </a:p>
          <a:p>
            <a:pPr lvl="1">
              <a:lnSpc>
                <a:spcPct val="120000"/>
              </a:lnSpc>
              <a:spcBef>
                <a:spcPts val="0"/>
              </a:spcBef>
              <a:spcAft>
                <a:spcPts val="0"/>
              </a:spcAft>
            </a:pPr>
            <a:r>
              <a:rPr sz="1350" b="0">
                <a:solidFill>
                  <a:srgbClr val="4A4F57"/>
                </a:solidFill>
                <a:latin typeface="Calibri"/>
              </a:rPr>
              <a:t>246 endpoints, each with an SDK method and each method with an endpoint, checked both ways by a gate.</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Python SDK</a:t>
            </a:r>
          </a:p>
          <a:p>
            <a:pPr lvl="1">
              <a:lnSpc>
                <a:spcPct val="120000"/>
              </a:lnSpc>
              <a:spcBef>
                <a:spcPts val="0"/>
              </a:spcBef>
              <a:spcAft>
                <a:spcPts val="0"/>
              </a:spcAft>
            </a:pPr>
            <a:r>
              <a:rPr sz="1350" b="0">
                <a:solidFill>
                  <a:srgbClr val="4A4F57"/>
                </a:solidFill>
                <a:latin typeface="Calibri"/>
              </a:rPr>
              <a:t>Synchronous and asynchronous, with record and replay for tests, and an offline mode that serves a bundle and refuses everything the bundle does not hold.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The command line</a:t>
            </a:r>
          </a:p>
          <a:p>
            <a:pPr lvl="1">
              <a:lnSpc>
                <a:spcPct val="120000"/>
              </a:lnSpc>
              <a:spcBef>
                <a:spcPts val="0"/>
              </a:spcBef>
              <a:spcAft>
                <a:spcPts val="0"/>
              </a:spcAft>
            </a:pPr>
            <a:r>
              <a:rPr sz="1350" b="0">
                <a:solidFill>
                  <a:srgbClr val="4A4F57"/>
                </a:solidFill>
                <a:latin typeface="Calibri"/>
              </a:rPr>
              <a:t>The whole spine, including bundle export and offline verification.</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What every screen owes you</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C1C1E"/>
                </a:solidFill>
                <a:latin typeface="Calibri"/>
              </a:rPr>
              <a:t>Every table pages, searches and sorts</a:t>
            </a:r>
          </a:p>
          <a:p>
            <a:pPr lvl="1">
              <a:lnSpc>
                <a:spcPct val="120000"/>
              </a:lnSpc>
              <a:spcBef>
                <a:spcPts val="0"/>
              </a:spcBef>
              <a:spcAft>
                <a:spcPts val="0"/>
              </a:spcAft>
            </a:pPr>
            <a:r>
              <a:rPr sz="1250" b="0">
                <a:solidFill>
                  <a:srgbClr val="4A4F57"/>
                </a:solidFill>
                <a:latin typeface="Calibri"/>
              </a:rPr>
              <a:t>Rows per page remembered per table per user, sort applied to the whole result set rather than the visible page, export honouring the active filter. A crawler gate refuses any table not drawn by the one macro.</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Large tables page from the server</a:t>
            </a:r>
          </a:p>
          <a:p>
            <a:pPr lvl="1">
              <a:lnSpc>
                <a:spcPct val="120000"/>
              </a:lnSpc>
              <a:spcBef>
                <a:spcPts val="0"/>
              </a:spcBef>
              <a:spcAft>
                <a:spcPts val="0"/>
              </a:spcAft>
            </a:pPr>
            <a:r>
              <a:rPr sz="1250" b="0">
                <a:solidFill>
                  <a:srgbClr val="4A4F57"/>
                </a:solidFill>
                <a:latin typeface="Calibri"/>
              </a:rPr>
              <a:t>Signed cursors, the same controls, and an exact total counted in the database under row-level authorization.</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Search is MAYA's own index</a:t>
            </a:r>
          </a:p>
          <a:p>
            <a:pPr lvl="1">
              <a:lnSpc>
                <a:spcPct val="120000"/>
              </a:lnSpc>
              <a:spcBef>
                <a:spcPts val="0"/>
              </a:spcBef>
              <a:spcAft>
                <a:spcPts val="0"/>
              </a:spcAft>
            </a:pPr>
            <a:r>
              <a:rPr sz="1250" b="0">
                <a:solidFill>
                  <a:srgbClr val="4A4F57"/>
                </a:solidFill>
                <a:latin typeface="Calibri"/>
              </a:rPr>
              <a:t>Ranked, prefix-matched, every term required, filtered by read permission, kept current inside the writing transaction. p95 0.16 s over 100,000 objects.</a:t>
            </a:r>
          </a:p>
          <a:p>
            <a:pPr>
              <a:lnSpc>
                <a:spcPct val="120000"/>
              </a:lnSpc>
              <a:spcBef>
                <a:spcPts val="500"/>
              </a:spcBef>
              <a:spcAft>
                <a:spcPts val="100"/>
              </a:spcAft>
            </a:pPr>
            <a:r>
              <a:rPr sz="1400" b="1">
                <a:solidFill>
                  <a:srgbClr val="A51C30"/>
                </a:solidFill>
                <a:latin typeface="Calibri"/>
              </a:rPr>
              <a:t>▪  </a:t>
            </a:r>
            <a:r>
              <a:rPr sz="1400" b="1">
                <a:solidFill>
                  <a:srgbClr val="1C1C1E"/>
                </a:solidFill>
                <a:latin typeface="Calibri"/>
              </a:rPr>
              <a:t>Status is never colour alone</a:t>
            </a:r>
          </a:p>
          <a:p>
            <a:pPr lvl="1">
              <a:lnSpc>
                <a:spcPct val="120000"/>
              </a:lnSpc>
              <a:spcBef>
                <a:spcPts val="0"/>
              </a:spcBef>
              <a:spcAft>
                <a:spcPts val="0"/>
              </a:spcAft>
            </a:pPr>
            <a:r>
              <a:rPr sz="1250" b="0">
                <a:solidFill>
                  <a:srgbClr val="4A4F57"/>
                </a:solidFill>
                <a:latin typeface="Calibri"/>
              </a:rPr>
              <a:t>Every pill carries a glyph and a word, and the palette is recomputed by a gate against contrast floors.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API</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Everything the screen does is a documented HTTP call</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53</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The web UI, the Python SDK and the CLI all use the same 246 endpoints under /api/v1. docs/API_GUIDE.md walks them from a first curl to a sealed execution warrant, and the test suite executes every example in it.</a:t>
            </a:r>
          </a:p>
        </p:txBody>
      </p:sp>
      <p:sp>
        <p:nvSpPr>
          <p:cNvPr id="11" name="Rectangle 10"/>
          <p:cNvSpPr/>
          <p:nvPr/>
        </p:nvSpPr>
        <p:spPr>
          <a:xfrm>
            <a:off x="777240"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Conventions</a:t>
            </a:r>
          </a:p>
        </p:txBody>
      </p:sp>
      <p:sp>
        <p:nvSpPr>
          <p:cNvPr id="14" name="TextBox 13"/>
          <p:cNvSpPr txBox="1"/>
          <p:nvPr/>
        </p:nvSpPr>
        <p:spPr>
          <a:xfrm>
            <a:off x="777240"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Credentials</a:t>
            </a:r>
          </a:p>
          <a:p>
            <a:pPr lvl="1">
              <a:lnSpc>
                <a:spcPct val="120000"/>
              </a:lnSpc>
              <a:spcBef>
                <a:spcPts val="0"/>
              </a:spcBef>
              <a:spcAft>
                <a:spcPts val="0"/>
              </a:spcAft>
            </a:pPr>
            <a:r>
              <a:rPr sz="1350" b="0">
                <a:solidFill>
                  <a:srgbClr val="4A4F57"/>
                </a:solidFill>
                <a:latin typeface="Calibri"/>
              </a:rPr>
              <a:t>A session token, or an API key narrowed to roles, namespaces, actions and networks.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Problem documents</a:t>
            </a:r>
          </a:p>
          <a:p>
            <a:pPr lvl="1">
              <a:lnSpc>
                <a:spcPct val="120000"/>
              </a:lnSpc>
              <a:spcBef>
                <a:spcPts val="0"/>
              </a:spcBef>
              <a:spcAft>
                <a:spcPts val="0"/>
              </a:spcAft>
            </a:pPr>
            <a:r>
              <a:rPr sz="1350" b="0">
                <a:solidFill>
                  <a:srgbClr val="4A4F57"/>
                </a:solidFill>
                <a:latin typeface="Calibri"/>
              </a:rPr>
              <a:t>Every failure has a machine-readable type and a sentence saying what to do.</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Cursor paging, ETags</a:t>
            </a:r>
          </a:p>
          <a:p>
            <a:pPr lvl="1">
              <a:lnSpc>
                <a:spcPct val="120000"/>
              </a:lnSpc>
              <a:spcBef>
                <a:spcPts val="0"/>
              </a:spcBef>
              <a:spcAft>
                <a:spcPts val="0"/>
              </a:spcAft>
            </a:pPr>
            <a:r>
              <a:rPr sz="1350" b="0">
                <a:solidFill>
                  <a:srgbClr val="4A4F57"/>
                </a:solidFill>
                <a:latin typeface="Calibri"/>
              </a:rPr>
              <a:t>Conditional reads answer 304; guarded writes refuse a stale If-Match.</a:t>
            </a:r>
          </a:p>
        </p:txBody>
      </p:sp>
      <p:sp>
        <p:nvSpPr>
          <p:cNvPr id="15" name="Rectangle 14"/>
          <p:cNvSpPr/>
          <p:nvPr/>
        </p:nvSpPr>
        <p:spPr>
          <a:xfrm>
            <a:off x="6278727" y="2040509"/>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4050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1366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Safe to retry</a:t>
            </a:r>
          </a:p>
        </p:txBody>
      </p:sp>
      <p:sp>
        <p:nvSpPr>
          <p:cNvPr id="18" name="TextBox 17"/>
          <p:cNvSpPr txBox="1"/>
          <p:nvPr/>
        </p:nvSpPr>
        <p:spPr>
          <a:xfrm>
            <a:off x="6278727" y="2552573"/>
            <a:ext cx="5135727" cy="369277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Idempotency keys</a:t>
            </a:r>
          </a:p>
          <a:p>
            <a:pPr lvl="1">
              <a:lnSpc>
                <a:spcPct val="120000"/>
              </a:lnSpc>
              <a:spcBef>
                <a:spcPts val="0"/>
              </a:spcBef>
              <a:spcAft>
                <a:spcPts val="0"/>
              </a:spcAft>
            </a:pPr>
            <a:r>
              <a:rPr sz="1350" b="0">
                <a:solidFill>
                  <a:srgbClr val="4A4F57"/>
                </a:solidFill>
                <a:latin typeface="Calibri"/>
              </a:rPr>
              <a:t>A retried pin returns the original pin and job, before and after it seals.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Jobs</a:t>
            </a:r>
          </a:p>
          <a:p>
            <a:pPr lvl="1">
              <a:lnSpc>
                <a:spcPct val="120000"/>
              </a:lnSpc>
              <a:spcBef>
                <a:spcPts val="0"/>
              </a:spcBef>
              <a:spcAft>
                <a:spcPts val="0"/>
              </a:spcAft>
            </a:pPr>
            <a:r>
              <a:rPr sz="1350" b="0">
                <a:solidFill>
                  <a:srgbClr val="4A4F57"/>
                </a:solidFill>
                <a:latin typeface="Calibri"/>
              </a:rPr>
              <a:t>Slow work answers 202 and a job to poll or stream.</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Parity, enforced</a:t>
            </a:r>
          </a:p>
          <a:p>
            <a:pPr lvl="1">
              <a:lnSpc>
                <a:spcPct val="120000"/>
              </a:lnSpc>
              <a:spcBef>
                <a:spcPts val="0"/>
              </a:spcBef>
              <a:spcAft>
                <a:spcPts val="0"/>
              </a:spcAft>
            </a:pPr>
            <a:r>
              <a:rPr sz="1350" b="0">
                <a:solidFill>
                  <a:srgbClr val="4A4F57"/>
                </a:solidFill>
                <a:latin typeface="Calibri"/>
              </a:rPr>
              <a:t>A gate fails the build if an endpoint lacks an SDK method or a way to reach it from the UI.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WORKFLOW</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Policy is data, and the policy itself is governed</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54</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maya/workflow/ and maya/security/roles.py; tests/test_workflow_matrix.py, tests/test_delegation.py. The YAML projection round-trips byte-identically for whoever wants policy in a repository, but the database is the authority.</a:t>
            </a:r>
          </a:p>
        </p:txBody>
      </p:sp>
      <p:sp>
        <p:nvSpPr>
          <p:cNvPr id="12" name="Rectangle 11"/>
          <p:cNvSpPr/>
          <p:nvPr/>
        </p:nvSpPr>
        <p:spPr>
          <a:xfrm>
            <a:off x="777240"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How a transition is described</a:t>
            </a:r>
          </a:p>
        </p:txBody>
      </p:sp>
      <p:sp>
        <p:nvSpPr>
          <p:cNvPr id="15" name="TextBox 14"/>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Eight states, six object types</a:t>
            </a:r>
          </a:p>
          <a:p>
            <a:pPr lvl="1">
              <a:lnSpc>
                <a:spcPct val="120000"/>
              </a:lnSpc>
              <a:spcBef>
                <a:spcPts val="0"/>
              </a:spcBef>
              <a:spcAft>
                <a:spcPts val="0"/>
              </a:spcAft>
            </a:pPr>
            <a:r>
              <a:rPr sz="1350" b="0">
                <a:solidFill>
                  <a:srgbClr val="4A4F57"/>
                </a:solidFill>
                <a:latin typeface="Calibri"/>
              </a:rPr>
              <a:t>draft, in_review, changes_requested, approved, published, deprecated, retired, withdrawn — over every governed kind: features, feature sets, models, parameter sets and both warrants.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Checks and approvals by name</a:t>
            </a:r>
          </a:p>
          <a:p>
            <a:pPr lvl="1">
              <a:lnSpc>
                <a:spcPct val="120000"/>
              </a:lnSpc>
              <a:spcBef>
                <a:spcPts val="0"/>
              </a:spcBef>
              <a:spcAft>
                <a:spcPts val="0"/>
              </a:spcAft>
            </a:pPr>
            <a:r>
              <a:rPr sz="1350" b="0">
                <a:solidFill>
                  <a:srgbClr val="4A4F57"/>
                </a:solidFill>
                <a:latin typeface="Calibri"/>
              </a:rPr>
              <a:t>A transition lists the states it leaves, the capability it needs, the named checks to pass, and the approvals required as a role and a count — with a count that may apply only in production.</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Refused at edit time</a:t>
            </a:r>
          </a:p>
          <a:p>
            <a:pPr lvl="1">
              <a:lnSpc>
                <a:spcPct val="120000"/>
              </a:lnSpc>
              <a:spcBef>
                <a:spcPts val="0"/>
              </a:spcBef>
              <a:spcAft>
                <a:spcPts val="0"/>
              </a:spcAft>
            </a:pPr>
            <a:r>
              <a:rPr sz="1350" b="0">
                <a:solidFill>
                  <a:srgbClr val="4A4F57"/>
                </a:solidFill>
                <a:latin typeface="Calibri"/>
              </a:rPr>
              <a:t>An unreachable state, an unsatisfiable approval or an unknown condition is rejected when the policy is saved, so nothing fails open at approval time.</a:t>
            </a:r>
          </a:p>
        </p:txBody>
      </p:sp>
      <p:sp>
        <p:nvSpPr>
          <p:cNvPr id="16" name="Rectangle 15"/>
          <p:cNvSpPr/>
          <p:nvPr/>
        </p:nvSpPr>
        <p:spPr>
          <a:xfrm>
            <a:off x="6278727" y="1386967"/>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awkward cases</a:t>
            </a:r>
          </a:p>
        </p:txBody>
      </p:sp>
      <p:sp>
        <p:nvSpPr>
          <p:cNvPr id="19" name="TextBox 18"/>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Segregation of duties</a:t>
            </a:r>
          </a:p>
          <a:p>
            <a:pPr lvl="1">
              <a:lnSpc>
                <a:spcPct val="120000"/>
              </a:lnSpc>
              <a:spcBef>
                <a:spcPts val="0"/>
              </a:spcBef>
              <a:spcAft>
                <a:spcPts val="0"/>
              </a:spcAft>
            </a:pPr>
            <a:r>
              <a:rPr sz="1350" b="0">
                <a:solidFill>
                  <a:srgbClr val="4A4F57"/>
                </a:solidFill>
                <a:latin typeface="Calibri"/>
              </a:rPr>
              <a:t>Three levels, shipped as small-team, standard and regulated presets; under the strictest, nobody who created, submitted or updated an object may approve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Break-glass</a:t>
            </a:r>
          </a:p>
          <a:p>
            <a:pPr lvl="1">
              <a:lnSpc>
                <a:spcPct val="120000"/>
              </a:lnSpc>
              <a:spcBef>
                <a:spcPts val="0"/>
              </a:spcBef>
              <a:spcAft>
                <a:spcPts val="0"/>
              </a:spcAft>
            </a:pPr>
            <a:r>
              <a:rPr sz="1350" b="0">
                <a:solidFill>
                  <a:srgbClr val="4A4F57"/>
                </a:solidFill>
                <a:latin typeface="Calibri"/>
              </a:rPr>
              <a:t>Administrators only, a written reason of real length, marked forced on the record, audited as its own action, and the owner told whether or not they subscribed.</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Delegation and escalation</a:t>
            </a:r>
          </a:p>
          <a:p>
            <a:pPr lvl="1">
              <a:lnSpc>
                <a:spcPct val="120000"/>
              </a:lnSpc>
              <a:spcBef>
                <a:spcPts val="0"/>
              </a:spcBef>
              <a:spcAft>
                <a:spcPts val="0"/>
              </a:spcAft>
            </a:pPr>
            <a:r>
              <a:rPr sz="1350" b="0">
                <a:solidFill>
                  <a:srgbClr val="4A4F57"/>
                </a:solidFill>
                <a:latin typeface="Calibri"/>
              </a:rPr>
              <a:t>Only an approver may delegate, never to themselves, within dates; the approval records whose behalf it was on. Five days in review is the shipped service level, swept hourly.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LINEAGE AND CUSTODY</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C1C1E"/>
                </a:solidFill>
                <a:latin typeface="Georgia"/>
              </a:rPr>
              <a:t>Both directions, and an audit chain that anchors outside the database</a:t>
            </a:r>
          </a:p>
        </p:txBody>
      </p:sp>
      <p:sp>
        <p:nvSpPr>
          <p:cNvPr id="6" name="Rectangle 5"/>
          <p:cNvSpPr/>
          <p:nvPr/>
        </p:nvSpPr>
        <p:spPr>
          <a:xfrm>
            <a:off x="777240" y="116255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55</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maya/services/ops.py (lineage), maya/persistence/repositories/special.py (the chain), maya/services/custody.py (the anchors); tests/test_custody.py::test_an_anchor_catches_a_rechained_rewrite and ::test_a_real_tsa_signature_is_verified_against_its_ca.</a:t>
            </a:r>
          </a:p>
        </p:txBody>
      </p:sp>
      <p:sp>
        <p:nvSpPr>
          <p:cNvPr id="12" name="Rectangle 11"/>
          <p:cNvSpPr/>
          <p:nvPr/>
        </p:nvSpPr>
        <p:spPr>
          <a:xfrm>
            <a:off x="777240" y="129057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Lineage</a:t>
            </a:r>
          </a:p>
        </p:txBody>
      </p:sp>
      <p:sp>
        <p:nvSpPr>
          <p:cNvPr id="15" name="TextBox 14"/>
          <p:cNvSpPr txBox="1"/>
          <p:nvPr/>
        </p:nvSpPr>
        <p:spPr>
          <a:xfrm>
            <a:off x="777240" y="1802638"/>
            <a:ext cx="5135727" cy="387578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C1C1E"/>
                </a:solidFill>
                <a:latin typeface="Calibri"/>
              </a:rPr>
              <a:t>Upstream and downstream</a:t>
            </a:r>
          </a:p>
          <a:p>
            <a:pPr lvl="1">
              <a:lnSpc>
                <a:spcPct val="120000"/>
              </a:lnSpc>
              <a:spcBef>
                <a:spcPts val="0"/>
              </a:spcBef>
              <a:spcAft>
                <a:spcPts val="0"/>
              </a:spcAft>
            </a:pPr>
            <a:r>
              <a:rPr sz="1350" b="0">
                <a:solidFill>
                  <a:srgbClr val="4A4F57"/>
                </a:solidFill>
                <a:latin typeface="Calibri"/>
              </a:rPr>
              <a:t>From an execution warrant back to the source files, and from a source forward to every warrant that depends on it.</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Derived objects are nodes, not shortcuts</a:t>
            </a:r>
          </a:p>
          <a:p>
            <a:pPr lvl="1">
              <a:lnSpc>
                <a:spcPct val="120000"/>
              </a:lnSpc>
              <a:spcBef>
                <a:spcPts val="0"/>
              </a:spcBef>
              <a:spcAft>
                <a:spcPts val="0"/>
              </a:spcAft>
            </a:pPr>
            <a:r>
              <a:rPr sz="1350" b="0">
                <a:solidFill>
                  <a:srgbClr val="4A4F57"/>
                </a:solidFill>
                <a:latin typeface="Calibri"/>
              </a:rPr>
              <a:t>A derived feature keeps its expression in lineage rather than being flattened, so what a number ultimately reads is a traversal and not a guess.</a:t>
            </a:r>
          </a:p>
          <a:p>
            <a:pPr>
              <a:lnSpc>
                <a:spcPct val="120000"/>
              </a:lnSpc>
              <a:spcBef>
                <a:spcPts val="500"/>
              </a:spcBef>
              <a:spcAft>
                <a:spcPts val="100"/>
              </a:spcAft>
            </a:pPr>
            <a:r>
              <a:rPr sz="1500" b="1">
                <a:solidFill>
                  <a:srgbClr val="A51C30"/>
                </a:solidFill>
                <a:latin typeface="Calibri"/>
              </a:rPr>
              <a:t>▪  </a:t>
            </a:r>
            <a:r>
              <a:rPr sz="1500" b="1">
                <a:solidFill>
                  <a:srgbClr val="1C1C1E"/>
                </a:solidFill>
                <a:latin typeface="Calibri"/>
              </a:rPr>
              <a:t>Which is what makes a blast radius honest</a:t>
            </a:r>
          </a:p>
          <a:p>
            <a:pPr lvl="1">
              <a:lnSpc>
                <a:spcPct val="120000"/>
              </a:lnSpc>
              <a:spcBef>
                <a:spcPts val="0"/>
              </a:spcBef>
              <a:spcAft>
                <a:spcPts val="0"/>
              </a:spcAft>
            </a:pPr>
            <a:r>
              <a:rPr sz="1350" b="0">
                <a:solidFill>
                  <a:srgbClr val="4A4F57"/>
                </a:solidFill>
                <a:latin typeface="Calibri"/>
              </a:rPr>
              <a:t>It is computed from edges that were type-checked when they were recorded, so a line on the lineage graph is a claim that was checked, not a drawing.</a:t>
            </a:r>
          </a:p>
        </p:txBody>
      </p:sp>
      <p:sp>
        <p:nvSpPr>
          <p:cNvPr id="16" name="Rectangle 15"/>
          <p:cNvSpPr/>
          <p:nvPr/>
        </p:nvSpPr>
        <p:spPr>
          <a:xfrm>
            <a:off x="6278727" y="1290574"/>
            <a:ext cx="5135727" cy="3840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29057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36372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761422"/>
                </a:solidFill>
                <a:latin typeface="Calibri"/>
              </a:rPr>
              <a:t>The audit chain</a:t>
            </a:r>
          </a:p>
        </p:txBody>
      </p:sp>
      <p:sp>
        <p:nvSpPr>
          <p:cNvPr id="19" name="TextBox 18"/>
          <p:cNvSpPr txBox="1"/>
          <p:nvPr/>
        </p:nvSpPr>
        <p:spPr>
          <a:xfrm>
            <a:off x="6278727" y="1802638"/>
            <a:ext cx="5135727" cy="3875786"/>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Calibri"/>
              </a:rPr>
              <a:t>▪  </a:t>
            </a:r>
            <a:r>
              <a:rPr sz="1450" b="1">
                <a:solidFill>
                  <a:srgbClr val="1C1C1E"/>
                </a:solidFill>
                <a:latin typeface="Calibri"/>
              </a:rPr>
              <a:t>Hash-chained per entry</a:t>
            </a:r>
          </a:p>
          <a:p>
            <a:pPr lvl="1">
              <a:lnSpc>
                <a:spcPct val="120000"/>
              </a:lnSpc>
              <a:spcBef>
                <a:spcPts val="0"/>
              </a:spcBef>
              <a:spcAft>
                <a:spcPts val="0"/>
              </a:spcAft>
            </a:pPr>
            <a:r>
              <a:rPr sz="1300" b="0">
                <a:solidFill>
                  <a:srgbClr val="4A4F57"/>
                </a:solidFill>
                <a:latin typeface="Calibri"/>
              </a:rPr>
              <a:t>Each row's digest covers the previous digest and its own fields, so a rewritten row breaks every row after it.</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Anchored out of the database, hourly</a:t>
            </a:r>
          </a:p>
          <a:p>
            <a:pPr lvl="1">
              <a:lnSpc>
                <a:spcPct val="120000"/>
              </a:lnSpc>
              <a:spcBef>
                <a:spcPts val="0"/>
              </a:spcBef>
              <a:spcAft>
                <a:spcPts val="0"/>
              </a:spcAft>
            </a:pPr>
            <a:r>
              <a:rPr sz="1300" b="0">
                <a:solidFill>
                  <a:srgbClr val="4A4F57"/>
                </a:solidFill>
                <a:latin typeface="Calibri"/>
              </a:rPr>
              <a:t>The chain head is signed, appended to a file and emitted as an event. Timestamping by a third-party authority is opt-in, because it sends the head to a third party.</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It refuses to certify tampering</a:t>
            </a:r>
          </a:p>
          <a:p>
            <a:pPr lvl="1">
              <a:lnSpc>
                <a:spcPct val="120000"/>
              </a:lnSpc>
              <a:spcBef>
                <a:spcPts val="0"/>
              </a:spcBef>
              <a:spcAft>
                <a:spcPts val="0"/>
              </a:spcAft>
            </a:pPr>
            <a:r>
              <a:rPr sz="1300" b="0">
                <a:solidFill>
                  <a:srgbClr val="4A4F57"/>
                </a:solidFill>
                <a:latin typeface="Calibri"/>
              </a:rPr>
              <a:t>A chain that does not verify is not anchored, and verification names the sequence number where it broke.</a:t>
            </a:r>
          </a:p>
          <a:p>
            <a:pPr>
              <a:lnSpc>
                <a:spcPct val="120000"/>
              </a:lnSpc>
              <a:spcBef>
                <a:spcPts val="500"/>
              </a:spcBef>
              <a:spcAft>
                <a:spcPts val="100"/>
              </a:spcAft>
            </a:pPr>
            <a:r>
              <a:rPr sz="1450" b="1">
                <a:solidFill>
                  <a:srgbClr val="A51C30"/>
                </a:solidFill>
                <a:latin typeface="Calibri"/>
              </a:rPr>
              <a:t>▪  </a:t>
            </a:r>
            <a:r>
              <a:rPr sz="1450" b="1">
                <a:solidFill>
                  <a:srgbClr val="1C1C1E"/>
                </a:solidFill>
                <a:latin typeface="Calibri"/>
              </a:rPr>
              <a:t>The honest limit</a:t>
            </a:r>
          </a:p>
          <a:p>
            <a:pPr lvl="1">
              <a:lnSpc>
                <a:spcPct val="120000"/>
              </a:lnSpc>
              <a:spcBef>
                <a:spcPts val="0"/>
              </a:spcBef>
              <a:spcAft>
                <a:spcPts val="0"/>
              </a:spcAft>
            </a:pPr>
            <a:r>
              <a:rPr sz="1300" b="0">
                <a:solidFill>
                  <a:srgbClr val="4A4F57"/>
                </a:solidFill>
                <a:latin typeface="Calibri"/>
              </a:rPr>
              <a:t>An anchor is only as external as the file it is written to; point it at off-host or write-once storage.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PERSISTENCE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One database at a time, two generated schema files, no migrations</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56</a:t>
            </a:r>
          </a:p>
        </p:txBody>
      </p:sp>
      <p:sp>
        <p:nvSpPr>
          <p:cNvPr id="10" name="Rectangle 9"/>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maya/persistence/; tools/ci/gen_schema.py and import_boundaries.py; tests/test_foundation.py::test_shipped_schema_files_match_the_metadata, tests/test_workflow_and_estate.py::test_schema_mismatch_refuses_to_start.</a:t>
            </a:r>
          </a:p>
        </p:txBody>
      </p:sp>
      <p:sp>
        <p:nvSpPr>
          <p:cNvPr id="12" name="TextBox 11"/>
          <p:cNvSpPr txBox="1"/>
          <p:nvPr/>
        </p:nvSpPr>
        <p:spPr>
          <a:xfrm>
            <a:off x="777240" y="1322705"/>
            <a:ext cx="10637215" cy="4154551"/>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C1C1E"/>
                </a:solidFill>
                <a:latin typeface="Calibri"/>
              </a:rPr>
              <a:t>SQLite in the shipped configuration; PostgreSQL by setting one key</a:t>
            </a:r>
          </a:p>
          <a:p>
            <a:pPr lvl="1">
              <a:lnSpc>
                <a:spcPct val="120000"/>
              </a:lnSpc>
              <a:spcBef>
                <a:spcPts val="0"/>
              </a:spcBef>
              <a:spcAft>
                <a:spcPts val="0"/>
              </a:spcAft>
            </a:pPr>
            <a:r>
              <a:rPr sz="1450" b="0">
                <a:solidFill>
                  <a:srgbClr val="4A4F57"/>
                </a:solidFill>
                <a:latin typeface="Calibri"/>
              </a:rPr>
              <a:t>Never both, and never mixed. Several web processes on one node require PostgreSQL, and MAYA refuses them over SQLite rather than running them unsafely.</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One typed metadata, two DDL files</a:t>
            </a:r>
          </a:p>
          <a:p>
            <a:pPr lvl="1">
              <a:lnSpc>
                <a:spcPct val="120000"/>
              </a:lnSpc>
              <a:spcBef>
                <a:spcPts val="0"/>
              </a:spcBef>
              <a:spcAft>
                <a:spcPts val="0"/>
              </a:spcAft>
            </a:pPr>
            <a:r>
              <a:rPr sz="1450" b="0">
                <a:solidFill>
                  <a:srgbClr val="4A4F57"/>
                </a:solidFill>
                <a:latin typeface="Calibri"/>
              </a:rPr>
              <a:t>maya/persistence/schema/sqlite.sql and postgresql.sql are produced from the SQLAlchemy models; a gate regenerates both and fails on any difference, and a planted hand-edit is shown to trip it.</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A mismatched database is refused at startup</a:t>
            </a:r>
          </a:p>
          <a:p>
            <a:pPr lvl="1">
              <a:lnSpc>
                <a:spcPct val="120000"/>
              </a:lnSpc>
              <a:spcBef>
                <a:spcPts val="0"/>
              </a:spcBef>
              <a:spcAft>
                <a:spcPts val="0"/>
              </a:spcAft>
            </a:pPr>
            <a:r>
              <a:rPr sz="1450" b="0">
                <a:solidFill>
                  <a:srgbClr val="4A4F57"/>
                </a:solidFill>
                <a:latin typeface="Calibri"/>
              </a:rPr>
              <a:t>It is never upgraded in place. There is no migration tool, so there is no half-applied migration — and the upgrade is a procedure somebody has to run. The trade is stated rather than hidden.</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The upgrade path is export, recreate, import</a:t>
            </a:r>
          </a:p>
          <a:p>
            <a:pPr lvl="1">
              <a:lnSpc>
                <a:spcPct val="120000"/>
              </a:lnSpc>
              <a:spcBef>
                <a:spcPts val="0"/>
              </a:spcBef>
              <a:spcAft>
                <a:spcPts val="0"/>
              </a:spcAft>
            </a:pPr>
            <a:r>
              <a:rPr sz="1450" b="0">
                <a:solidFill>
                  <a:srgbClr val="4A4F57"/>
                </a:solidFill>
                <a:latin typeface="Calibri"/>
              </a:rPr>
              <a:t>The estate export reads the database as it stands, so it still works across the schema change that made it necessary, and a column it cannot fill is named rather than defaulted.</a:t>
            </a:r>
          </a:p>
          <a:p>
            <a:pPr>
              <a:lnSpc>
                <a:spcPct val="120000"/>
              </a:lnSpc>
              <a:spcBef>
                <a:spcPts val="500"/>
              </a:spcBef>
              <a:spcAft>
                <a:spcPts val="100"/>
              </a:spcAft>
            </a:pPr>
            <a:r>
              <a:rPr sz="1600" b="1">
                <a:solidFill>
                  <a:srgbClr val="A51C30"/>
                </a:solidFill>
                <a:latin typeface="Calibri"/>
              </a:rPr>
              <a:t>▪  </a:t>
            </a:r>
            <a:r>
              <a:rPr sz="1600" b="1">
                <a:solidFill>
                  <a:srgbClr val="1C1C1E"/>
                </a:solidFill>
                <a:latin typeface="Calibri"/>
              </a:rPr>
              <a:t>One door to the database</a:t>
            </a:r>
          </a:p>
          <a:p>
            <a:pPr lvl="1">
              <a:lnSpc>
                <a:spcPct val="120000"/>
              </a:lnSpc>
              <a:spcBef>
                <a:spcPts val="0"/>
              </a:spcBef>
              <a:spcAft>
                <a:spcPts val="0"/>
              </a:spcAft>
            </a:pPr>
            <a:r>
              <a:rPr sz="1450" b="0">
                <a:solidFill>
                  <a:srgbClr val="4A4F57"/>
                </a:solidFill>
                <a:latin typeface="Calibri"/>
              </a:rPr>
              <a:t>No SQLAlchemy import outside maya/persistence, held by a gate. The suite has run green on PostgreSQL 16, 17 and 18; 14 is the documented floor and has not been run.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CODE ARTIFACTS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Six rungs, one refusal each, then a sandbox tier that is declared</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57</a:t>
            </a:r>
          </a:p>
        </p:txBody>
      </p:sp>
      <p:sp>
        <p:nvSpPr>
          <p:cNvPr id="10" name="TextBox 9"/>
          <p:cNvSpPr txBox="1"/>
          <p:nvPr/>
        </p:nvSpPr>
        <p:spPr>
          <a:xfrm>
            <a:off x="777240" y="1322705"/>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model may carry uploaded Python. It is treated as hostile until proved otherwise, and the ladder stops at the first failing rung and records the rest as not run — so a report never implies a check it did not perform.</a:t>
            </a:r>
          </a:p>
        </p:txBody>
      </p:sp>
      <p:sp>
        <p:nvSpPr>
          <p:cNvPr id="11" name="Rectangle 10"/>
          <p:cNvSpPr/>
          <p:nvPr/>
        </p:nvSpPr>
        <p:spPr>
          <a:xfrm>
            <a:off x="777240" y="5641848"/>
            <a:ext cx="41148" cy="60350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41848"/>
            <a:ext cx="10362895" cy="621792"/>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maya/formula/artifact.py and maya/security/sandbox.py; tests/test_sandbox.py, tests/test_sandbox_linux.py. Rungs 1–5 decide the verdict. The tier is strong on Linux only when a probe child fails to escape a bubblewrap jail with a seccomp filter and a cgroup scope, and it is stamped on every artifact validated under it.</a:t>
            </a:r>
          </a:p>
        </p:txBody>
      </p:sp>
      <p:graphicFrame>
        <p:nvGraphicFramePr>
          <p:cNvPr id="13" name="Table 12"/>
          <p:cNvGraphicFramePr>
            <a:graphicFrameLocks noGrp="1"/>
          </p:cNvGraphicFramePr>
          <p:nvPr/>
        </p:nvGraphicFramePr>
        <p:xfrm>
          <a:off x="777240" y="1976247"/>
          <a:ext cx="10637214" cy="3451034"/>
        </p:xfrm>
        <a:graphic>
          <a:graphicData uri="http://schemas.openxmlformats.org/drawingml/2006/table">
            <a:tbl>
              <a:tblPr firstRow="1">
                <a:tableStyleId>{5C22544A-7EE6-4342-B048-85BDC9FD1C3A}</a:tableStyleId>
              </a:tblPr>
              <a:tblGrid>
                <a:gridCol w="1742302"/>
                <a:gridCol w="8894912"/>
              </a:tblGrid>
              <a:tr h="318579">
                <a:tc>
                  <a:txBody>
                    <a:bodyPr wrap="square"/>
                    <a:lstStyle/>
                    <a:p>
                      <a:r>
                        <a:rPr sz="1300" b="1">
                          <a:solidFill>
                            <a:srgbClr val="FFFFFF"/>
                          </a:solidFill>
                          <a:latin typeface="Calibri"/>
                        </a:rPr>
                        <a:t>Rung</a:t>
                      </a:r>
                    </a:p>
                  </a:txBody>
                  <a:tcPr marL="82296" marR="64008" marT="32004" marB="32004" anchor="ctr">
                    <a:solidFill>
                      <a:srgbClr val="A51C30"/>
                    </a:solidFill>
                  </a:tcPr>
                </a:tc>
                <a:tc>
                  <a:txBody>
                    <a:bodyPr wrap="square"/>
                    <a:lstStyle/>
                    <a:p>
                      <a:r>
                        <a:rPr sz="1300" b="1">
                          <a:solidFill>
                            <a:srgbClr val="FFFFFF"/>
                          </a:solidFill>
                          <a:latin typeface="Calibri"/>
                        </a:rPr>
                        <a:t>What it checks</a:t>
                      </a:r>
                    </a:p>
                  </a:txBody>
                  <a:tcPr marL="82296" marR="64008" marT="32004" marB="32004" anchor="ctr">
                    <a:solidFill>
                      <a:srgbClr val="A51C30"/>
                    </a:solidFill>
                  </a:tcPr>
                </a:tc>
              </a:tr>
              <a:tr h="559562">
                <a:tc>
                  <a:txBody>
                    <a:bodyPr wrap="square"/>
                    <a:lstStyle/>
                    <a:p>
                      <a:r>
                        <a:rPr sz="1400" b="1">
                          <a:solidFill>
                            <a:srgbClr val="761422"/>
                          </a:solidFill>
                          <a:latin typeface="Calibri"/>
                        </a:rPr>
                        <a:t>1  parse</a:t>
                      </a:r>
                    </a:p>
                  </a:txBody>
                  <a:tcPr marL="82296" marR="64008" marT="32004" marB="32004" anchor="ctr">
                    <a:solidFill>
                      <a:srgbClr val="FFFFFF"/>
                    </a:solidFill>
                  </a:tcPr>
                </a:tc>
                <a:tc>
                  <a:txBody>
                    <a:bodyPr wrap="square"/>
                    <a:lstStyle/>
                    <a:p>
                      <a:r>
                        <a:rPr sz="1400" b="0">
                          <a:solidFill>
                            <a:srgbClr val="1C1C1E"/>
                          </a:solidFill>
                          <a:latin typeface="Calibri"/>
                        </a:rPr>
                        <a:t>The source parses; a linter runs where it is installed, and whether it ran is recorded rather than assumed</a:t>
                      </a:r>
                    </a:p>
                  </a:txBody>
                  <a:tcPr marL="82296" marR="64008" marT="32004" marB="32004" anchor="ctr">
                    <a:solidFill>
                      <a:srgbClr val="FFFFFF"/>
                    </a:solidFill>
                  </a:tcPr>
                </a:tc>
              </a:tr>
              <a:tr h="559562">
                <a:tc>
                  <a:txBody>
                    <a:bodyPr wrap="square"/>
                    <a:lstStyle/>
                    <a:p>
                      <a:r>
                        <a:rPr sz="1400" b="1">
                          <a:solidFill>
                            <a:srgbClr val="761422"/>
                          </a:solidFill>
                          <a:latin typeface="Calibri"/>
                        </a:rPr>
                        <a:t>2  entry point</a:t>
                      </a:r>
                    </a:p>
                  </a:txBody>
                  <a:tcPr marL="82296" marR="64008" marT="32004" marB="32004" anchor="ctr">
                    <a:solidFill>
                      <a:srgbClr val="F6F3EF"/>
                    </a:solidFill>
                  </a:tcPr>
                </a:tc>
                <a:tc>
                  <a:txBody>
                    <a:bodyPr wrap="square"/>
                    <a:lstStyle/>
                    <a:p>
                      <a:r>
                        <a:rPr sz="1400" b="0">
                          <a:solidFill>
                            <a:srgbClr val="1C1C1E"/>
                          </a:solidFill>
                          <a:latin typeface="Calibri"/>
                        </a:rPr>
                        <a:t>The declared class implements the interface MAYA will call: fit and predict, with the signatures it expects</a:t>
                      </a:r>
                    </a:p>
                  </a:txBody>
                  <a:tcPr marL="82296" marR="64008" marT="32004" marB="32004" anchor="ctr">
                    <a:solidFill>
                      <a:srgbClr val="F6F3EF"/>
                    </a:solidFill>
                  </a:tcPr>
                </a:tc>
              </a:tr>
              <a:tr h="559562">
                <a:tc>
                  <a:txBody>
                    <a:bodyPr wrap="square"/>
                    <a:lstStyle/>
                    <a:p>
                      <a:r>
                        <a:rPr sz="1400" b="1">
                          <a:solidFill>
                            <a:srgbClr val="761422"/>
                          </a:solidFill>
                          <a:latin typeface="Calibri"/>
                        </a:rPr>
                        <a:t>3  import allowlist</a:t>
                      </a:r>
                    </a:p>
                  </a:txBody>
                  <a:tcPr marL="82296" marR="64008" marT="32004" marB="32004" anchor="ctr">
                    <a:solidFill>
                      <a:srgbClr val="FFFFFF"/>
                    </a:solidFill>
                  </a:tcPr>
                </a:tc>
                <a:tc>
                  <a:txBody>
                    <a:bodyPr wrap="square"/>
                    <a:lstStyle/>
                    <a:p>
                      <a:r>
                        <a:rPr sz="1400" b="0">
                          <a:solidFill>
                            <a:srgbClr val="1C1C1E"/>
                          </a:solidFill>
                          <a:latin typeface="Calibri"/>
                        </a:rPr>
                        <a:t>Numeric and data libraries only — math, statistics, itertools, numpy, pandas, polars, pyarrow, scipy, scikit-learn, statsmodels and a few more</a:t>
                      </a:r>
                    </a:p>
                  </a:txBody>
                  <a:tcPr marL="82296" marR="64008" marT="32004" marB="32004" anchor="ctr">
                    <a:solidFill>
                      <a:srgbClr val="FFFFFF"/>
                    </a:solidFill>
                  </a:tcPr>
                </a:tc>
              </a:tr>
              <a:tr h="559562">
                <a:tc>
                  <a:txBody>
                    <a:bodyPr wrap="square"/>
                    <a:lstStyle/>
                    <a:p>
                      <a:r>
                        <a:rPr sz="1400" b="1">
                          <a:solidFill>
                            <a:srgbClr val="761422"/>
                          </a:solidFill>
                          <a:latin typeface="Calibri"/>
                        </a:rPr>
                        <a:t>4  static ban</a:t>
                      </a:r>
                    </a:p>
                  </a:txBody>
                  <a:tcPr marL="82296" marR="64008" marT="32004" marB="32004" anchor="ctr">
                    <a:solidFill>
                      <a:srgbClr val="F6F3EF"/>
                    </a:solidFill>
                  </a:tcPr>
                </a:tc>
                <a:tc>
                  <a:txBody>
                    <a:bodyPr wrap="square"/>
                    <a:lstStyle/>
                    <a:p>
                      <a:r>
                        <a:rPr sz="1400" b="0">
                          <a:solidFill>
                            <a:srgbClr val="1C1C1E"/>
                          </a:solidFill>
                          <a:latin typeface="Calibri"/>
                        </a:rPr>
                        <a:t>No open, eval, exec, compile, dynamic import or dunder attribute access; no os, sys, subprocess, socket, pathlib, pickle or threading</a:t>
                      </a:r>
                    </a:p>
                  </a:txBody>
                  <a:tcPr marL="82296" marR="64008" marT="32004" marB="32004" anchor="ctr">
                    <a:solidFill>
                      <a:srgbClr val="F6F3EF"/>
                    </a:solidFill>
                  </a:tcPr>
                </a:tc>
              </a:tr>
              <a:tr h="334645">
                <a:tc>
                  <a:txBody>
                    <a:bodyPr wrap="square"/>
                    <a:lstStyle/>
                    <a:p>
                      <a:r>
                        <a:rPr sz="1400" b="1">
                          <a:solidFill>
                            <a:srgbClr val="761422"/>
                          </a:solidFill>
                          <a:latin typeface="Calibri"/>
                        </a:rPr>
                        <a:t>5  smoke run</a:t>
                      </a:r>
                    </a:p>
                  </a:txBody>
                  <a:tcPr marL="82296" marR="64008" marT="32004" marB="32004" anchor="ctr">
                    <a:solidFill>
                      <a:srgbClr val="FFFFFF"/>
                    </a:solidFill>
                  </a:tcPr>
                </a:tc>
                <a:tc>
                  <a:txBody>
                    <a:bodyPr wrap="square"/>
                    <a:lstStyle/>
                    <a:p>
                      <a:r>
                        <a:rPr sz="1400" b="0">
                          <a:solidFill>
                            <a:srgbClr val="1C1C1E"/>
                          </a:solidFill>
                          <a:latin typeface="Calibri"/>
                        </a:rPr>
                        <a:t>One run in the sandbox against a sample, under CPU, memory and wall-clock caps</a:t>
                      </a:r>
                    </a:p>
                  </a:txBody>
                  <a:tcPr marL="82296" marR="64008" marT="32004" marB="32004" anchor="ctr">
                    <a:solidFill>
                      <a:srgbClr val="FFFFFF"/>
                    </a:solidFill>
                  </a:tcPr>
                </a:tc>
              </a:tr>
              <a:tr h="559562">
                <a:tc>
                  <a:txBody>
                    <a:bodyPr wrap="square"/>
                    <a:lstStyle/>
                    <a:p>
                      <a:r>
                        <a:rPr sz="1400" b="1">
                          <a:solidFill>
                            <a:srgbClr val="761422"/>
                          </a:solidFill>
                          <a:latin typeface="Calibri"/>
                        </a:rPr>
                        <a:t>6  determinism</a:t>
                      </a:r>
                    </a:p>
                  </a:txBody>
                  <a:tcPr marL="82296" marR="64008" marT="32004" marB="32004" anchor="ctr">
                    <a:solidFill>
                      <a:srgbClr val="F6F3EF"/>
                    </a:solidFill>
                  </a:tcPr>
                </a:tc>
                <a:tc>
                  <a:txBody>
                    <a:bodyPr wrap="square"/>
                    <a:lstStyle/>
                    <a:p>
                      <a:r>
                        <a:rPr sz="1400" b="0">
                          <a:solidFill>
                            <a:srgbClr val="1C1C1E"/>
                          </a:solidFill>
                          <a:latin typeface="Calibri"/>
                        </a:rPr>
                        <a:t>The smoke run twice with the same seed, outputs compared — a mismatch is recorded as a warning, not a refusal</a:t>
                      </a:r>
                    </a:p>
                  </a:txBody>
                  <a:tcPr marL="82296" marR="64008" marT="32004" marB="32004" anchor="ctr">
                    <a:solidFill>
                      <a:srgbClr val="F6F3EF"/>
                    </a:solidFill>
                  </a:tcPr>
                </a:tc>
              </a:tr>
            </a:tbl>
          </a:graphicData>
        </a:graphic>
      </p:graphicFrame>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HELD BY GATES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One command, and never a remembered list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7 · How it runs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58</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Every architectural rule on the last ten slides is enforced by a program rather than by review, and each rung has been shown to catch a planted fault. A rule that is only written down holds until the first deadline.</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tools/ci/gates.py; tests/test_api_and_gates.py and tests/test_gate_ladder.py. The ladder runs locally and in the pre-commit hook on every commit; there is no hosted continuous integration, by decision.</a:t>
            </a:r>
          </a:p>
        </p:txBody>
      </p:sp>
      <p:graphicFrame>
        <p:nvGraphicFramePr>
          <p:cNvPr id="13" name="Table 12"/>
          <p:cNvGraphicFramePr>
            <a:graphicFrameLocks noGrp="1"/>
          </p:cNvGraphicFramePr>
          <p:nvPr/>
        </p:nvGraphicFramePr>
        <p:xfrm>
          <a:off x="777240" y="2040509"/>
          <a:ext cx="10637214" cy="2891472"/>
        </p:xfrm>
        <a:graphic>
          <a:graphicData uri="http://schemas.openxmlformats.org/drawingml/2006/table">
            <a:tbl>
              <a:tblPr firstRow="1">
                <a:tableStyleId>{5C22544A-7EE6-4342-B048-85BDC9FD1C3A}</a:tableStyleId>
              </a:tblPr>
              <a:tblGrid>
                <a:gridCol w="1558902"/>
                <a:gridCol w="9078312"/>
              </a:tblGrid>
              <a:tr h="318579">
                <a:tc>
                  <a:txBody>
                    <a:bodyPr wrap="square"/>
                    <a:lstStyle/>
                    <a:p>
                      <a:r>
                        <a:rPr sz="1300" b="1">
                          <a:solidFill>
                            <a:srgbClr val="FFFFFF"/>
                          </a:solidFill>
                          <a:latin typeface="Calibri"/>
                        </a:rPr>
                        <a:t>Stage</a:t>
                      </a:r>
                    </a:p>
                  </a:txBody>
                  <a:tcPr marL="82296" marR="64008" marT="32004" marB="32004" anchor="ctr">
                    <a:solidFill>
                      <a:srgbClr val="A51C30"/>
                    </a:solidFill>
                  </a:tcPr>
                </a:tc>
                <a:tc>
                  <a:txBody>
                    <a:bodyPr wrap="square"/>
                    <a:lstStyle/>
                    <a:p>
                      <a:r>
                        <a:rPr sz="1300" b="1">
                          <a:solidFill>
                            <a:srgbClr val="FFFFFF"/>
                          </a:solidFill>
                          <a:latin typeface="Calibri"/>
                        </a:rPr>
                        <a:t>What it checks</a:t>
                      </a:r>
                    </a:p>
                  </a:txBody>
                  <a:tcPr marL="82296" marR="64008" marT="32004" marB="32004" anchor="ctr">
                    <a:solidFill>
                      <a:srgbClr val="A51C30"/>
                    </a:solidFill>
                  </a:tcPr>
                </a:tc>
              </a:tr>
              <a:tr h="1009396">
                <a:tc>
                  <a:txBody>
                    <a:bodyPr wrap="square"/>
                    <a:lstStyle/>
                    <a:p>
                      <a:r>
                        <a:rPr sz="1400" b="1">
                          <a:solidFill>
                            <a:srgbClr val="761422"/>
                          </a:solidFill>
                          <a:latin typeface="Calibri"/>
                        </a:rPr>
                        <a:t>Static, every run</a:t>
                      </a:r>
                    </a:p>
                  </a:txBody>
                  <a:tcPr marL="82296" marR="64008" marT="32004" marB="32004" anchor="ctr">
                    <a:solidFill>
                      <a:srgbClr val="FFFFFF"/>
                    </a:solidFill>
                  </a:tcPr>
                </a:tc>
                <a:tc>
                  <a:txBody>
                    <a:bodyPr wrap="square"/>
                    <a:lstStyle/>
                    <a:p>
                      <a:r>
                        <a:rPr sz="1400" b="0">
                          <a:solidFill>
                            <a:srgbClr val="1C1C1E"/>
                          </a:solidFill>
                          <a:latin typeface="Calibri"/>
                        </a:rPr>
                        <a:t>Lint; strict typing of maya/services; file size; both import boundaries; import cycles; public names per module; seam imports; SDK public symbols; version single source; no secrets; the table contract; colour contrast; SDK↔API parity for 246 endpoints; UI↔SDK parity; the API contract snapshot; protocol literals; a security linter; schema drift</a:t>
                      </a:r>
                    </a:p>
                  </a:txBody>
                  <a:tcPr marL="82296" marR="64008" marT="32004" marB="32004" anchor="ctr">
                    <a:solidFill>
                      <a:srgbClr val="FFFFFF"/>
                    </a:solidFill>
                  </a:tcPr>
                </a:tc>
              </a:tr>
              <a:tr h="334645">
                <a:tc>
                  <a:txBody>
                    <a:bodyPr wrap="square"/>
                    <a:lstStyle/>
                    <a:p>
                      <a:r>
                        <a:rPr sz="1400" b="1">
                          <a:solidFill>
                            <a:srgbClr val="761422"/>
                          </a:solidFill>
                          <a:latin typeface="Calibri"/>
                        </a:rPr>
                        <a:t>--tests</a:t>
                      </a:r>
                    </a:p>
                  </a:txBody>
                  <a:tcPr marL="82296" marR="64008" marT="32004" marB="32004" anchor="ctr">
                    <a:solidFill>
                      <a:srgbClr val="F6F3EF"/>
                    </a:solidFill>
                  </a:tcPr>
                </a:tc>
                <a:tc>
                  <a:txBody>
                    <a:bodyPr wrap="square"/>
                    <a:lstStyle/>
                    <a:p>
                      <a:r>
                        <a:rPr sz="1400" b="0">
                          <a:solidFill>
                            <a:srgbClr val="1C1C1E"/>
                          </a:solidFill>
                          <a:latin typeface="Calibri"/>
                        </a:rPr>
                        <a:t>The whole suite under a 90% line-coverage floor; 92.9% at this release</a:t>
                      </a:r>
                    </a:p>
                  </a:txBody>
                  <a:tcPr marL="82296" marR="64008" marT="32004" marB="32004" anchor="ctr">
                    <a:solidFill>
                      <a:srgbClr val="F6F3EF"/>
                    </a:solidFill>
                  </a:tcPr>
                </a:tc>
              </a:tr>
              <a:tr h="559562">
                <a:tc>
                  <a:txBody>
                    <a:bodyPr wrap="square"/>
                    <a:lstStyle/>
                    <a:p>
                      <a:r>
                        <a:rPr sz="1400" b="1">
                          <a:solidFill>
                            <a:srgbClr val="761422"/>
                          </a:solidFill>
                          <a:latin typeface="Calibri"/>
                        </a:rPr>
                        <a:t>--fallback</a:t>
                      </a:r>
                    </a:p>
                  </a:txBody>
                  <a:tcPr marL="82296" marR="64008" marT="32004" marB="32004" anchor="ctr">
                    <a:solidFill>
                      <a:srgbClr val="FFFFFF"/>
                    </a:solidFill>
                  </a:tcPr>
                </a:tc>
                <a:tc>
                  <a:txBody>
                    <a:bodyPr wrap="square"/>
                    <a:lstStyle/>
                    <a:p>
                      <a:r>
                        <a:rPr sz="1400" b="0">
                          <a:solidFill>
                            <a:srgbClr val="1C1C1E"/>
                          </a:solidFill>
                          <a:latin typeface="Calibri"/>
                        </a:rPr>
                        <a:t>The suite again with every optional accelerator pinned to its pure-Python fallback, so the fallback is a tested path rather than a hope</a:t>
                      </a:r>
                    </a:p>
                  </a:txBody>
                  <a:tcPr marL="82296" marR="64008" marT="32004" marB="32004" anchor="ctr">
                    <a:solidFill>
                      <a:srgbClr val="FFFFFF"/>
                    </a:solidFill>
                  </a:tcPr>
                </a:tc>
              </a:tr>
              <a:tr h="334645">
                <a:tc>
                  <a:txBody>
                    <a:bodyPr wrap="square"/>
                    <a:lstStyle/>
                    <a:p>
                      <a:r>
                        <a:rPr sz="1400" b="1">
                          <a:solidFill>
                            <a:srgbClr val="761422"/>
                          </a:solidFill>
                          <a:latin typeface="Calibri"/>
                        </a:rPr>
                        <a:t>--security</a:t>
                      </a:r>
                    </a:p>
                  </a:txBody>
                  <a:tcPr marL="82296" marR="64008" marT="32004" marB="32004" anchor="ctr">
                    <a:solidFill>
                      <a:srgbClr val="F6F3EF"/>
                    </a:solidFill>
                  </a:tcPr>
                </a:tc>
                <a:tc>
                  <a:txBody>
                    <a:bodyPr wrap="square"/>
                    <a:lstStyle/>
                    <a:p>
                      <a:r>
                        <a:rPr sz="1400" b="0">
                          <a:solidFill>
                            <a:srgbClr val="1C1C1E"/>
                          </a:solidFill>
                          <a:latin typeface="Calibri"/>
                        </a:rPr>
                        <a:t>A dependency audit, and the sandbox escape tests</a:t>
                      </a:r>
                    </a:p>
                  </a:txBody>
                  <a:tcPr marL="82296" marR="64008" marT="32004" marB="32004" anchor="ctr">
                    <a:solidFill>
                      <a:srgbClr val="F6F3EF"/>
                    </a:solidFill>
                  </a:tcPr>
                </a:tc>
              </a:tr>
              <a:tr h="334645">
                <a:tc>
                  <a:txBody>
                    <a:bodyPr wrap="square"/>
                    <a:lstStyle/>
                    <a:p>
                      <a:r>
                        <a:rPr sz="1400" b="1">
                          <a:solidFill>
                            <a:srgbClr val="761422"/>
                          </a:solidFill>
                          <a:latin typeface="Calibri"/>
                        </a:rPr>
                        <a:t>--bench</a:t>
                      </a:r>
                    </a:p>
                  </a:txBody>
                  <a:tcPr marL="82296" marR="64008" marT="32004" marB="32004" anchor="ctr">
                    <a:solidFill>
                      <a:srgbClr val="FFFFFF"/>
                    </a:solidFill>
                  </a:tcPr>
                </a:tc>
                <a:tc>
                  <a:txBody>
                    <a:bodyPr wrap="square"/>
                    <a:lstStyle/>
                    <a:p>
                      <a:r>
                        <a:rPr sz="1400" b="0">
                          <a:solidFill>
                            <a:srgbClr val="1C1C1E"/>
                          </a:solidFill>
                          <a:latin typeface="Calibri"/>
                        </a:rPr>
                        <a:t>A benchmark regression of more than 10% needs a written note</a:t>
                      </a:r>
                    </a:p>
                  </a:txBody>
                  <a:tcPr marL="82296" marR="64008" marT="32004" marB="32004" anchor="ctr">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8</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Fifteen models, carried the whole way</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Each case study is a real modelling problem taken through MAYA end to end, by named people with real roles, so the refusals are the platform's. Each is chosen for a different thing it makes MAYA do, and the suite runs every one from nothing.</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The fifteen, and what each is about</a:t>
            </a:r>
          </a:p>
          <a:p>
            <a:pPr>
              <a:lnSpc>
                <a:spcPct val="115000"/>
              </a:lnSpc>
              <a:spcBef>
                <a:spcPts val="0"/>
              </a:spcBef>
              <a:spcAft>
                <a:spcPts val="600"/>
              </a:spcAft>
            </a:pPr>
            <a:r>
              <a:rPr sz="1200" b="0" i="0">
                <a:solidFill>
                  <a:srgbClr val="F6E6E9"/>
                </a:solidFill>
                <a:latin typeface="Calibri"/>
              </a:rPr>
              <a:t>A time series, split by date</a:t>
            </a:r>
          </a:p>
          <a:p>
            <a:pPr>
              <a:lnSpc>
                <a:spcPct val="115000"/>
              </a:lnSpc>
              <a:spcBef>
                <a:spcPts val="0"/>
              </a:spcBef>
              <a:spcAft>
                <a:spcPts val="600"/>
              </a:spcAft>
            </a:pPr>
            <a:r>
              <a:rPr sz="1200" b="0" i="0">
                <a:solidFill>
                  <a:srgbClr val="F6E6E9"/>
                </a:solidFill>
                <a:latin typeface="Calibri"/>
              </a:rPr>
              <a:t>A prescribed formula, and a finding</a:t>
            </a:r>
          </a:p>
          <a:p>
            <a:pPr>
              <a:lnSpc>
                <a:spcPct val="115000"/>
              </a:lnSpc>
              <a:spcBef>
                <a:spcPts val="0"/>
              </a:spcBef>
              <a:spcAft>
                <a:spcPts val="600"/>
              </a:spcAft>
            </a:pPr>
            <a:r>
              <a:rPr sz="1200" b="0" i="0">
                <a:solidFill>
                  <a:srgbClr val="F6E6E9"/>
                </a:solidFill>
                <a:latin typeface="Calibri"/>
              </a:rPr>
              <a:t>A bought score that drifts</a:t>
            </a:r>
          </a:p>
          <a:p>
            <a:pPr>
              <a:lnSpc>
                <a:spcPct val="115000"/>
              </a:lnSpc>
              <a:spcBef>
                <a:spcPts val="0"/>
              </a:spcBef>
              <a:spcAft>
                <a:spcPts val="600"/>
              </a:spcAft>
            </a:pPr>
            <a:r>
              <a:rPr sz="1200" b="0" i="0">
                <a:solidFill>
                  <a:srgbClr val="F6E6E9"/>
                </a:solidFill>
                <a:latin typeface="Calibri"/>
              </a:rPr>
              <a:t>A challenger that earns its place</a:t>
            </a:r>
          </a:p>
          <a:p>
            <a:pPr>
              <a:lnSpc>
                <a:spcPct val="115000"/>
              </a:lnSpc>
              <a:spcBef>
                <a:spcPts val="0"/>
              </a:spcBef>
              <a:spcAft>
                <a:spcPts val="600"/>
              </a:spcAft>
            </a:pPr>
            <a:r>
              <a:rPr sz="1200" b="0" i="0">
                <a:solidFill>
                  <a:srgbClr val="F6E6E9"/>
                </a:solidFill>
                <a:latin typeface="Calibri"/>
              </a:rPr>
              <a:t>A fairness question the law answers</a:t>
            </a:r>
          </a:p>
          <a:p>
            <a:pPr>
              <a:lnSpc>
                <a:spcPct val="115000"/>
              </a:lnSpc>
              <a:spcBef>
                <a:spcPts val="0"/>
              </a:spcBef>
              <a:spcAft>
                <a:spcPts val="600"/>
              </a:spcAft>
            </a:pPr>
            <a:r>
              <a:rPr sz="1200" b="0" i="0">
                <a:solidFill>
                  <a:srgbClr val="F6E6E9"/>
                </a:solidFill>
                <a:latin typeface="Calibri"/>
              </a:rPr>
              <a:t>An LLM application</a:t>
            </a:r>
          </a:p>
          <a:p>
            <a:pPr>
              <a:lnSpc>
                <a:spcPct val="115000"/>
              </a:lnSpc>
              <a:spcBef>
                <a:spcPts val="0"/>
              </a:spcBef>
              <a:spcAft>
                <a:spcPts val="600"/>
              </a:spcAft>
            </a:pPr>
            <a:r>
              <a:rPr sz="1200" b="0" i="0">
                <a:solidFill>
                  <a:srgbClr val="F6E6E9"/>
                </a:solidFill>
                <a:latin typeface="Calibri"/>
              </a:rPr>
              <a:t>Two of the originals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STUDIES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Fifteen, different in kind</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60</a:t>
            </a:r>
          </a:p>
        </p:txBody>
      </p:sp>
      <p:graphicFrame>
        <p:nvGraphicFramePr>
          <p:cNvPr id="10" name="Table 9"/>
          <p:cNvGraphicFramePr>
            <a:graphicFrameLocks noGrp="1"/>
          </p:cNvGraphicFramePr>
          <p:nvPr/>
        </p:nvGraphicFramePr>
        <p:xfrm>
          <a:off x="777240" y="1386967"/>
          <a:ext cx="10637214" cy="4529772"/>
        </p:xfrm>
        <a:graphic>
          <a:graphicData uri="http://schemas.openxmlformats.org/drawingml/2006/table">
            <a:tbl>
              <a:tblPr firstRow="1">
                <a:tableStyleId>{5C22544A-7EE6-4342-B048-85BDC9FD1C3A}</a:tableStyleId>
              </a:tblPr>
              <a:tblGrid>
                <a:gridCol w="3545738"/>
                <a:gridCol w="3545738"/>
                <a:gridCol w="3545738"/>
              </a:tblGrid>
              <a:tr h="274320">
                <a:tc>
                  <a:txBody>
                    <a:bodyPr wrap="square"/>
                    <a:lstStyle/>
                    <a:p>
                      <a:r>
                        <a:rPr sz="950" b="1">
                          <a:solidFill>
                            <a:srgbClr val="FFFFFF"/>
                          </a:solidFill>
                          <a:latin typeface="Calibri"/>
                        </a:rPr>
                        <a:t>Study</a:t>
                      </a:r>
                    </a:p>
                  </a:txBody>
                  <a:tcPr marL="82296" marR="64008" marT="32004" marB="32004" anchor="ctr">
                    <a:solidFill>
                      <a:srgbClr val="A51C30"/>
                    </a:solidFill>
                  </a:tcPr>
                </a:tc>
                <a:tc>
                  <a:txBody>
                    <a:bodyPr wrap="square"/>
                    <a:lstStyle/>
                    <a:p>
                      <a:r>
                        <a:rPr sz="950" b="1">
                          <a:solidFill>
                            <a:srgbClr val="FFFFFF"/>
                          </a:solidFill>
                          <a:latin typeface="Calibri"/>
                        </a:rPr>
                        <a:t>Model</a:t>
                      </a:r>
                    </a:p>
                  </a:txBody>
                  <a:tcPr marL="82296" marR="64008" marT="32004" marB="32004" anchor="ctr">
                    <a:solidFill>
                      <a:srgbClr val="A51C30"/>
                    </a:solidFill>
                  </a:tcPr>
                </a:tc>
                <a:tc>
                  <a:txBody>
                    <a:bodyPr wrap="square"/>
                    <a:lstStyle/>
                    <a:p>
                      <a:r>
                        <a:rPr sz="950" b="1">
                          <a:solidFill>
                            <a:srgbClr val="FFFFFF"/>
                          </a:solidFill>
                          <a:latin typeface="Calibri"/>
                        </a:rPr>
                        <a:t>What it is really about</a:t>
                      </a:r>
                    </a:p>
                  </a:txBody>
                  <a:tcPr marL="82296" marR="64008" marT="32004" marB="32004" anchor="ctr">
                    <a:solidFill>
                      <a:srgbClr val="A51C30"/>
                    </a:solidFill>
                  </a:tcPr>
                </a:tc>
              </a:tr>
              <a:tr h="274320">
                <a:tc>
                  <a:txBody>
                    <a:bodyPr wrap="square"/>
                    <a:lstStyle/>
                    <a:p>
                      <a:r>
                        <a:rPr sz="950" b="1">
                          <a:solidFill>
                            <a:srgbClr val="761422"/>
                          </a:solidFill>
                          <a:latin typeface="Calibri"/>
                        </a:rPr>
                        <a:t>01 Retail PD scorecard</a:t>
                      </a:r>
                    </a:p>
                  </a:txBody>
                  <a:tcPr marL="82296" marR="64008" marT="32004" marB="32004" anchor="ctr">
                    <a:solidFill>
                      <a:srgbClr val="FFFFFF"/>
                    </a:solidFill>
                  </a:tcPr>
                </a:tc>
                <a:tc>
                  <a:txBody>
                    <a:bodyPr wrap="square"/>
                    <a:lstStyle/>
                    <a:p>
                      <a:r>
                        <a:rPr sz="950" b="0">
                          <a:solidFill>
                            <a:srgbClr val="1C1C1E"/>
                          </a:solidFill>
                          <a:latin typeface="Calibri"/>
                        </a:rPr>
                        <a:t>Fitted logistic</a:t>
                      </a:r>
                    </a:p>
                  </a:txBody>
                  <a:tcPr marL="82296" marR="64008" marT="32004" marB="32004" anchor="ctr">
                    <a:solidFill>
                      <a:srgbClr val="FFFFFF"/>
                    </a:solidFill>
                  </a:tcPr>
                </a:tc>
                <a:tc>
                  <a:txBody>
                    <a:bodyPr wrap="square"/>
                    <a:lstStyle/>
                    <a:p>
                      <a:r>
                        <a:rPr sz="950" b="0">
                          <a:solidFill>
                            <a:srgbClr val="1C1C1E"/>
                          </a:solidFill>
                          <a:latin typeface="Calibri"/>
                        </a:rPr>
                        <a:t>Bitemporality; a certificate that refuses every row</a:t>
                      </a:r>
                    </a:p>
                  </a:txBody>
                  <a:tcPr marL="82296" marR="64008" marT="32004" marB="32004" anchor="ctr">
                    <a:solidFill>
                      <a:srgbClr val="FFFFFF"/>
                    </a:solidFill>
                  </a:tcPr>
                </a:tc>
              </a:tr>
              <a:tr h="274320">
                <a:tc>
                  <a:txBody>
                    <a:bodyPr wrap="square"/>
                    <a:lstStyle/>
                    <a:p>
                      <a:r>
                        <a:rPr sz="950" b="1">
                          <a:solidFill>
                            <a:srgbClr val="761422"/>
                          </a:solidFill>
                          <a:latin typeface="Calibri"/>
                        </a:rPr>
                        <a:t>02 Mortgage cashflow</a:t>
                      </a:r>
                    </a:p>
                  </a:txBody>
                  <a:tcPr marL="82296" marR="64008" marT="32004" marB="32004" anchor="ctr">
                    <a:solidFill>
                      <a:srgbClr val="F6F3EF"/>
                    </a:solidFill>
                  </a:tcPr>
                </a:tc>
                <a:tc>
                  <a:txBody>
                    <a:bodyPr wrap="square"/>
                    <a:lstStyle/>
                    <a:p>
                      <a:r>
                        <a:rPr sz="950" b="0">
                          <a:solidFill>
                            <a:srgbClr val="1C1C1E"/>
                          </a:solidFill>
                          <a:latin typeface="Calibri"/>
                        </a:rPr>
                        <a:t>Closed form, no fit</a:t>
                      </a:r>
                    </a:p>
                  </a:txBody>
                  <a:tcPr marL="82296" marR="64008" marT="32004" marB="32004" anchor="ctr">
                    <a:solidFill>
                      <a:srgbClr val="F6F3EF"/>
                    </a:solidFill>
                  </a:tcPr>
                </a:tc>
                <a:tc>
                  <a:txBody>
                    <a:bodyPr wrap="square"/>
                    <a:lstStyle/>
                    <a:p>
                      <a:r>
                        <a:rPr sz="950" b="0">
                          <a:solidFill>
                            <a:srgbClr val="1C1C1E"/>
                          </a:solidFill>
                          <a:latin typeface="Calibri"/>
                        </a:rPr>
                        <a:t>Whether the desk's code is the approved mathematics</a:t>
                      </a:r>
                    </a:p>
                  </a:txBody>
                  <a:tcPr marL="82296" marR="64008" marT="32004" marB="32004" anchor="ctr">
                    <a:solidFill>
                      <a:srgbClr val="F6F3EF"/>
                    </a:solidFill>
                  </a:tcPr>
                </a:tc>
              </a:tr>
              <a:tr h="274320">
                <a:tc>
                  <a:txBody>
                    <a:bodyPr wrap="square"/>
                    <a:lstStyle/>
                    <a:p>
                      <a:r>
                        <a:rPr sz="950" b="1">
                          <a:solidFill>
                            <a:srgbClr val="761422"/>
                          </a:solidFill>
                          <a:latin typeface="Calibri"/>
                        </a:rPr>
                        <a:t>03 Mortgage prepayment</a:t>
                      </a:r>
                    </a:p>
                  </a:txBody>
                  <a:tcPr marL="82296" marR="64008" marT="32004" marB="32004" anchor="ctr">
                    <a:solidFill>
                      <a:srgbClr val="FFFFFF"/>
                    </a:solidFill>
                  </a:tcPr>
                </a:tc>
                <a:tc>
                  <a:txBody>
                    <a:bodyPr wrap="square"/>
                    <a:lstStyle/>
                    <a:p>
                      <a:r>
                        <a:rPr sz="950" b="0">
                          <a:solidFill>
                            <a:srgbClr val="1C1C1E"/>
                          </a:solidFill>
                          <a:latin typeface="Calibri"/>
                        </a:rPr>
                        <a:t>Fitted hazard</a:t>
                      </a:r>
                    </a:p>
                  </a:txBody>
                  <a:tcPr marL="82296" marR="64008" marT="32004" marB="32004" anchor="ctr">
                    <a:solidFill>
                      <a:srgbClr val="FFFFFF"/>
                    </a:solidFill>
                  </a:tcPr>
                </a:tc>
                <a:tc>
                  <a:txBody>
                    <a:bodyPr wrap="square"/>
                    <a:lstStyle/>
                    <a:p>
                      <a:r>
                        <a:rPr sz="950" b="0">
                          <a:solidFill>
                            <a:srgbClr val="1C1C1E"/>
                          </a:solidFill>
                          <a:latin typeface="Calibri"/>
                        </a:rPr>
                        <a:t>A change priced by shadow replay before approval</a:t>
                      </a:r>
                    </a:p>
                  </a:txBody>
                  <a:tcPr marL="82296" marR="64008" marT="32004" marB="32004" anchor="ctr">
                    <a:solidFill>
                      <a:srgbClr val="FFFFFF"/>
                    </a:solidFill>
                  </a:tcPr>
                </a:tc>
              </a:tr>
              <a:tr h="274320">
                <a:tc>
                  <a:txBody>
                    <a:bodyPr wrap="square"/>
                    <a:lstStyle/>
                    <a:p>
                      <a:r>
                        <a:rPr sz="950" b="1">
                          <a:solidFill>
                            <a:srgbClr val="761422"/>
                          </a:solidFill>
                          <a:latin typeface="Calibri"/>
                        </a:rPr>
                        <a:t>04 HELOC exposure</a:t>
                      </a:r>
                    </a:p>
                  </a:txBody>
                  <a:tcPr marL="82296" marR="64008" marT="32004" marB="32004" anchor="ctr">
                    <a:solidFill>
                      <a:srgbClr val="F6F3EF"/>
                    </a:solidFill>
                  </a:tcPr>
                </a:tc>
                <a:tc>
                  <a:txBody>
                    <a:bodyPr wrap="square"/>
                    <a:lstStyle/>
                    <a:p>
                      <a:r>
                        <a:rPr sz="950" b="0">
                          <a:solidFill>
                            <a:srgbClr val="1C1C1E"/>
                          </a:solidFill>
                          <a:latin typeface="Calibri"/>
                        </a:rPr>
                        <a:t>Composite router</a:t>
                      </a:r>
                    </a:p>
                  </a:txBody>
                  <a:tcPr marL="82296" marR="64008" marT="32004" marB="32004" anchor="ctr">
                    <a:solidFill>
                      <a:srgbClr val="F6F3EF"/>
                    </a:solidFill>
                  </a:tcPr>
                </a:tc>
                <a:tc>
                  <a:txBody>
                    <a:bodyPr wrap="square"/>
                    <a:lstStyle/>
                    <a:p>
                      <a:r>
                        <a:rPr sz="950" b="0">
                          <a:solidFill>
                            <a:srgbClr val="1C1C1E"/>
                          </a:solidFill>
                          <a:latin typeface="Calibri"/>
                        </a:rPr>
                        <a:t>Two members, two parameter sets, one seal</a:t>
                      </a:r>
                    </a:p>
                  </a:txBody>
                  <a:tcPr marL="82296" marR="64008" marT="32004" marB="32004" anchor="ctr">
                    <a:solidFill>
                      <a:srgbClr val="F6F3EF"/>
                    </a:solidFill>
                  </a:tcPr>
                </a:tc>
              </a:tr>
              <a:tr h="274320">
                <a:tc>
                  <a:txBody>
                    <a:bodyPr wrap="square"/>
                    <a:lstStyle/>
                    <a:p>
                      <a:r>
                        <a:rPr sz="950" b="1">
                          <a:solidFill>
                            <a:srgbClr val="761422"/>
                          </a:solidFill>
                          <a:latin typeface="Calibri"/>
                        </a:rPr>
                        <a:t>05 Option pricing</a:t>
                      </a:r>
                    </a:p>
                  </a:txBody>
                  <a:tcPr marL="82296" marR="64008" marT="32004" marB="32004" anchor="ctr">
                    <a:solidFill>
                      <a:srgbClr val="FFFFFF"/>
                    </a:solidFill>
                  </a:tcPr>
                </a:tc>
                <a:tc>
                  <a:txBody>
                    <a:bodyPr wrap="square"/>
                    <a:lstStyle/>
                    <a:p>
                      <a:r>
                        <a:rPr sz="950" b="0">
                          <a:solidFill>
                            <a:srgbClr val="1C1C1E"/>
                          </a:solidFill>
                          <a:latin typeface="Calibri"/>
                        </a:rPr>
                        <a:t>Calibrated closed form</a:t>
                      </a:r>
                    </a:p>
                  </a:txBody>
                  <a:tcPr marL="82296" marR="64008" marT="32004" marB="32004" anchor="ctr">
                    <a:solidFill>
                      <a:srgbClr val="FFFFFF"/>
                    </a:solidFill>
                  </a:tcPr>
                </a:tc>
                <a:tc>
                  <a:txBody>
                    <a:bodyPr wrap="square"/>
                    <a:lstStyle/>
                    <a:p>
                      <a:r>
                        <a:rPr sz="950" b="0">
                          <a:solidFill>
                            <a:srgbClr val="1C1C1E"/>
                          </a:solidFill>
                          <a:latin typeface="Calibri"/>
                        </a:rPr>
                        <a:t>A parameter nobody can observe</a:t>
                      </a:r>
                    </a:p>
                  </a:txBody>
                  <a:tcPr marL="82296" marR="64008" marT="32004" marB="32004" anchor="ctr">
                    <a:solidFill>
                      <a:srgbClr val="FFFFFF"/>
                    </a:solidFill>
                  </a:tcPr>
                </a:tc>
              </a:tr>
              <a:tr h="274320">
                <a:tc>
                  <a:txBody>
                    <a:bodyPr wrap="square"/>
                    <a:lstStyle/>
                    <a:p>
                      <a:r>
                        <a:rPr sz="950" b="1">
                          <a:solidFill>
                            <a:srgbClr val="761422"/>
                          </a:solidFill>
                          <a:latin typeface="Calibri"/>
                        </a:rPr>
                        <a:t>06 IFRS 9 ECL</a:t>
                      </a:r>
                    </a:p>
                  </a:txBody>
                  <a:tcPr marL="82296" marR="64008" marT="32004" marB="32004" anchor="ctr">
                    <a:solidFill>
                      <a:srgbClr val="F6F3EF"/>
                    </a:solidFill>
                  </a:tcPr>
                </a:tc>
                <a:tc>
                  <a:txBody>
                    <a:bodyPr wrap="square"/>
                    <a:lstStyle/>
                    <a:p>
                      <a:r>
                        <a:rPr sz="950" b="0">
                          <a:solidFill>
                            <a:srgbClr val="1C1C1E"/>
                          </a:solidFill>
                          <a:latin typeface="Calibri"/>
                        </a:rPr>
                        <a:t>Composite</a:t>
                      </a:r>
                    </a:p>
                  </a:txBody>
                  <a:tcPr marL="82296" marR="64008" marT="32004" marB="32004" anchor="ctr">
                    <a:solidFill>
                      <a:srgbClr val="F6F3EF"/>
                    </a:solidFill>
                  </a:tcPr>
                </a:tc>
                <a:tc>
                  <a:txBody>
                    <a:bodyPr wrap="square"/>
                    <a:lstStyle/>
                    <a:p>
                      <a:r>
                        <a:rPr sz="950" b="0">
                          <a:solidFill>
                            <a:srgbClr val="1C1C1E"/>
                          </a:solidFill>
                          <a:latin typeface="Calibri"/>
                        </a:rPr>
                        <a:t>Committee judgements as approved parameter sets</a:t>
                      </a:r>
                    </a:p>
                  </a:txBody>
                  <a:tcPr marL="82296" marR="64008" marT="32004" marB="32004" anchor="ctr">
                    <a:solidFill>
                      <a:srgbClr val="F6F3EF"/>
                    </a:solidFill>
                  </a:tcPr>
                </a:tc>
              </a:tr>
              <a:tr h="274320">
                <a:tc>
                  <a:txBody>
                    <a:bodyPr wrap="square"/>
                    <a:lstStyle/>
                    <a:p>
                      <a:r>
                        <a:rPr sz="950" b="1">
                          <a:solidFill>
                            <a:srgbClr val="761422"/>
                          </a:solidFill>
                          <a:latin typeface="Calibri"/>
                        </a:rPr>
                        <a:t>07 Card-fraud network</a:t>
                      </a:r>
                    </a:p>
                  </a:txBody>
                  <a:tcPr marL="82296" marR="64008" marT="32004" marB="32004" anchor="ctr">
                    <a:solidFill>
                      <a:srgbClr val="FFFFFF"/>
                    </a:solidFill>
                  </a:tcPr>
                </a:tc>
                <a:tc>
                  <a:txBody>
                    <a:bodyPr wrap="square"/>
                    <a:lstStyle/>
                    <a:p>
                      <a:r>
                        <a:rPr sz="950" b="0">
                          <a:solidFill>
                            <a:srgbClr val="1C1C1E"/>
                          </a:solidFill>
                          <a:latin typeface="Calibri"/>
                        </a:rPr>
                        <a:t>Declared black box</a:t>
                      </a:r>
                    </a:p>
                  </a:txBody>
                  <a:tcPr marL="82296" marR="64008" marT="32004" marB="32004" anchor="ctr">
                    <a:solidFill>
                      <a:srgbClr val="FFFFFF"/>
                    </a:solidFill>
                  </a:tcPr>
                </a:tc>
                <a:tc>
                  <a:txBody>
                    <a:bodyPr wrap="square"/>
                    <a:lstStyle/>
                    <a:p>
                      <a:r>
                        <a:rPr sz="950" b="0">
                          <a:solidFill>
                            <a:srgbClr val="1C1C1E"/>
                          </a:solidFill>
                          <a:latin typeface="Calibri"/>
                        </a:rPr>
                        <a:t>What is left to hold to account</a:t>
                      </a:r>
                    </a:p>
                  </a:txBody>
                  <a:tcPr marL="82296" marR="64008" marT="32004" marB="32004" anchor="ctr">
                    <a:solidFill>
                      <a:srgbClr val="FFFFFF"/>
                    </a:solidFill>
                  </a:tcPr>
                </a:tc>
              </a:tr>
              <a:tr h="414972">
                <a:tc>
                  <a:txBody>
                    <a:bodyPr wrap="square"/>
                    <a:lstStyle/>
                    <a:p>
                      <a:r>
                        <a:rPr sz="950" b="1">
                          <a:solidFill>
                            <a:srgbClr val="761422"/>
                          </a:solidFill>
                          <a:latin typeface="Calibri"/>
                        </a:rPr>
                        <a:t>08 AR(2) and GARCH</a:t>
                      </a:r>
                    </a:p>
                  </a:txBody>
                  <a:tcPr marL="82296" marR="64008" marT="32004" marB="32004" anchor="ctr">
                    <a:solidFill>
                      <a:srgbClr val="F6F3EF"/>
                    </a:solidFill>
                  </a:tcPr>
                </a:tc>
                <a:tc>
                  <a:txBody>
                    <a:bodyPr wrap="square"/>
                    <a:lstStyle/>
                    <a:p>
                      <a:r>
                        <a:rPr sz="950" b="0">
                          <a:solidFill>
                            <a:srgbClr val="1C1C1E"/>
                          </a:solidFill>
                          <a:latin typeface="Calibri"/>
                        </a:rPr>
                        <a:t>Formula and black box</a:t>
                      </a:r>
                    </a:p>
                  </a:txBody>
                  <a:tcPr marL="82296" marR="64008" marT="32004" marB="32004" anchor="ctr">
                    <a:solidFill>
                      <a:srgbClr val="F6F3EF"/>
                    </a:solidFill>
                  </a:tcPr>
                </a:tc>
                <a:tc>
                  <a:txBody>
                    <a:bodyPr wrap="square"/>
                    <a:lstStyle/>
                    <a:p>
                      <a:r>
                        <a:rPr sz="950" b="0">
                          <a:solidFill>
                            <a:srgbClr val="1C1C1E"/>
                          </a:solidFill>
                          <a:latin typeface="Calibri"/>
                        </a:rPr>
                        <a:t>The last dates held out; joint stationarity constraints</a:t>
                      </a:r>
                    </a:p>
                  </a:txBody>
                  <a:tcPr marL="82296" marR="64008" marT="32004" marB="32004" anchor="ctr">
                    <a:solidFill>
                      <a:srgbClr val="F6F3EF"/>
                    </a:solidFill>
                  </a:tcPr>
                </a:tc>
              </a:tr>
              <a:tr h="274320">
                <a:tc>
                  <a:txBody>
                    <a:bodyPr wrap="square"/>
                    <a:lstStyle/>
                    <a:p>
                      <a:r>
                        <a:rPr sz="950" b="1">
                          <a:solidFill>
                            <a:srgbClr val="761422"/>
                          </a:solidFill>
                          <a:latin typeface="Calibri"/>
                        </a:rPr>
                        <a:t>09 Basel IRB capital</a:t>
                      </a:r>
                    </a:p>
                  </a:txBody>
                  <a:tcPr marL="82296" marR="64008" marT="32004" marB="32004" anchor="ctr">
                    <a:solidFill>
                      <a:srgbClr val="FFFFFF"/>
                    </a:solidFill>
                  </a:tcPr>
                </a:tc>
                <a:tc>
                  <a:txBody>
                    <a:bodyPr wrap="square"/>
                    <a:lstStyle/>
                    <a:p>
                      <a:r>
                        <a:rPr sz="950" b="0">
                          <a:solidFill>
                            <a:srgbClr val="1C1C1E"/>
                          </a:solidFill>
                          <a:latin typeface="Calibri"/>
                        </a:rPr>
                        <a:t>Prescribed formula</a:t>
                      </a:r>
                    </a:p>
                  </a:txBody>
                  <a:tcPr marL="82296" marR="64008" marT="32004" marB="32004" anchor="ctr">
                    <a:solidFill>
                      <a:srgbClr val="FFFFFF"/>
                    </a:solidFill>
                  </a:tcPr>
                </a:tc>
                <a:tc>
                  <a:txBody>
                    <a:bodyPr wrap="square"/>
                    <a:lstStyle/>
                    <a:p>
                      <a:r>
                        <a:rPr sz="950" b="0">
                          <a:solidFill>
                            <a:srgbClr val="1C1C1E"/>
                          </a:solidFill>
                          <a:latin typeface="Calibri"/>
                        </a:rPr>
                        <a:t>Reconciliation, a finding, independent closure</a:t>
                      </a:r>
                    </a:p>
                  </a:txBody>
                  <a:tcPr marL="82296" marR="64008" marT="32004" marB="32004" anchor="ctr">
                    <a:solidFill>
                      <a:srgbClr val="FFFFFF"/>
                    </a:solidFill>
                  </a:tcPr>
                </a:tc>
              </a:tr>
              <a:tr h="274320">
                <a:tc>
                  <a:txBody>
                    <a:bodyPr wrap="square"/>
                    <a:lstStyle/>
                    <a:p>
                      <a:r>
                        <a:rPr sz="950" b="1">
                          <a:solidFill>
                            <a:srgbClr val="761422"/>
                          </a:solidFill>
                          <a:latin typeface="Calibri"/>
                        </a:rPr>
                        <a:t>10 Factor models</a:t>
                      </a:r>
                    </a:p>
                  </a:txBody>
                  <a:tcPr marL="82296" marR="64008" marT="32004" marB="32004" anchor="ctr">
                    <a:solidFill>
                      <a:srgbClr val="F6F3EF"/>
                    </a:solidFill>
                  </a:tcPr>
                </a:tc>
                <a:tc>
                  <a:txBody>
                    <a:bodyPr wrap="square"/>
                    <a:lstStyle/>
                    <a:p>
                      <a:r>
                        <a:rPr sz="950" b="0">
                          <a:solidFill>
                            <a:srgbClr val="1C1C1E"/>
                          </a:solidFill>
                          <a:latin typeface="Calibri"/>
                        </a:rPr>
                        <a:t>Two versions</a:t>
                      </a:r>
                    </a:p>
                  </a:txBody>
                  <a:tcPr marL="82296" marR="64008" marT="32004" marB="32004" anchor="ctr">
                    <a:solidFill>
                      <a:srgbClr val="F6F3EF"/>
                    </a:solidFill>
                  </a:tcPr>
                </a:tc>
                <a:tc>
                  <a:txBody>
                    <a:bodyPr wrap="square"/>
                    <a:lstStyle/>
                    <a:p>
                      <a:r>
                        <a:rPr sz="950" b="0">
                          <a:solidFill>
                            <a:srgbClr val="1C1C1E"/>
                          </a:solidFill>
                          <a:latin typeface="Calibri"/>
                        </a:rPr>
                        <a:t>A semantic diff and the maturity ladder</a:t>
                      </a:r>
                    </a:p>
                  </a:txBody>
                  <a:tcPr marL="82296" marR="64008" marT="32004" marB="32004" anchor="ctr">
                    <a:solidFill>
                      <a:srgbClr val="F6F3EF"/>
                    </a:solidFill>
                  </a:tcPr>
                </a:tc>
              </a:tr>
              <a:tr h="274320">
                <a:tc>
                  <a:txBody>
                    <a:bodyPr wrap="square"/>
                    <a:lstStyle/>
                    <a:p>
                      <a:r>
                        <a:rPr sz="950" b="1">
                          <a:solidFill>
                            <a:srgbClr val="761422"/>
                          </a:solidFill>
                          <a:latin typeface="Calibri"/>
                        </a:rPr>
                        <a:t>11 Nelson–Siegel</a:t>
                      </a:r>
                    </a:p>
                  </a:txBody>
                  <a:tcPr marL="82296" marR="64008" marT="32004" marB="32004" anchor="ctr">
                    <a:solidFill>
                      <a:srgbClr val="FFFFFF"/>
                    </a:solidFill>
                  </a:tcPr>
                </a:tc>
                <a:tc>
                  <a:txBody>
                    <a:bodyPr wrap="square"/>
                    <a:lstStyle/>
                    <a:p>
                      <a:r>
                        <a:rPr sz="950" b="0">
                          <a:solidFill>
                            <a:srgbClr val="1C1C1E"/>
                          </a:solidFill>
                          <a:latin typeface="Calibri"/>
                        </a:rPr>
                        <a:t>Non-linear</a:t>
                      </a:r>
                    </a:p>
                  </a:txBody>
                  <a:tcPr marL="82296" marR="64008" marT="32004" marB="32004" anchor="ctr">
                    <a:solidFill>
                      <a:srgbClr val="FFFFFF"/>
                    </a:solidFill>
                  </a:tcPr>
                </a:tc>
                <a:tc>
                  <a:txBody>
                    <a:bodyPr wrap="square"/>
                    <a:lstStyle/>
                    <a:p>
                      <a:r>
                        <a:rPr sz="950" b="0">
                          <a:solidFill>
                            <a:srgbClr val="1C1C1E"/>
                          </a:solidFill>
                          <a:latin typeface="Calibri"/>
                        </a:rPr>
                        <a:t>A bug a recalibration absorbs exactly</a:t>
                      </a:r>
                    </a:p>
                  </a:txBody>
                  <a:tcPr marL="82296" marR="64008" marT="32004" marB="32004" anchor="ctr">
                    <a:solidFill>
                      <a:srgbClr val="FFFFFF"/>
                    </a:solidFill>
                  </a:tcPr>
                </a:tc>
              </a:tr>
              <a:tr h="274320">
                <a:tc>
                  <a:txBody>
                    <a:bodyPr wrap="square"/>
                    <a:lstStyle/>
                    <a:p>
                      <a:r>
                        <a:rPr sz="950" b="1">
                          <a:solidFill>
                            <a:srgbClr val="761422"/>
                          </a:solidFill>
                          <a:latin typeface="Calibri"/>
                        </a:rPr>
                        <a:t>19 Vendor bureau score</a:t>
                      </a:r>
                    </a:p>
                  </a:txBody>
                  <a:tcPr marL="82296" marR="64008" marT="32004" marB="32004" anchor="ctr">
                    <a:solidFill>
                      <a:srgbClr val="F6F3EF"/>
                    </a:solidFill>
                  </a:tcPr>
                </a:tc>
                <a:tc>
                  <a:txBody>
                    <a:bodyPr wrap="square"/>
                    <a:lstStyle/>
                    <a:p>
                      <a:r>
                        <a:rPr sz="950" b="0">
                          <a:solidFill>
                            <a:srgbClr val="1C1C1E"/>
                          </a:solidFill>
                          <a:latin typeface="Calibri"/>
                        </a:rPr>
                        <a:t>Bought, from MLflow</a:t>
                      </a:r>
                    </a:p>
                  </a:txBody>
                  <a:tcPr marL="82296" marR="64008" marT="32004" marB="32004" anchor="ctr">
                    <a:solidFill>
                      <a:srgbClr val="F6F3EF"/>
                    </a:solidFill>
                  </a:tcPr>
                </a:tc>
                <a:tc>
                  <a:txBody>
                    <a:bodyPr wrap="square"/>
                    <a:lstStyle/>
                    <a:p>
                      <a:r>
                        <a:rPr sz="950" b="0">
                          <a:solidFill>
                            <a:srgbClr val="1C1C1E"/>
                          </a:solidFill>
                          <a:latin typeface="Calibri"/>
                        </a:rPr>
                        <a:t>Blind scoring in the sandbox; drift to breach</a:t>
                      </a:r>
                    </a:p>
                  </a:txBody>
                  <a:tcPr marL="82296" marR="64008" marT="32004" marB="32004" anchor="ctr">
                    <a:solidFill>
                      <a:srgbClr val="F6F3EF"/>
                    </a:solidFill>
                  </a:tcPr>
                </a:tc>
              </a:tr>
              <a:tr h="274320">
                <a:tc>
                  <a:txBody>
                    <a:bodyPr wrap="square"/>
                    <a:lstStyle/>
                    <a:p>
                      <a:r>
                        <a:rPr sz="950" b="1">
                          <a:solidFill>
                            <a:srgbClr val="761422"/>
                          </a:solidFill>
                          <a:latin typeface="Calibri"/>
                        </a:rPr>
                        <a:t>42 Demand elasticity</a:t>
                      </a:r>
                    </a:p>
                  </a:txBody>
                  <a:tcPr marL="82296" marR="64008" marT="32004" marB="32004" anchor="ctr">
                    <a:solidFill>
                      <a:srgbClr val="FFFFFF"/>
                    </a:solidFill>
                  </a:tcPr>
                </a:tc>
                <a:tc>
                  <a:txBody>
                    <a:bodyPr wrap="square"/>
                    <a:lstStyle/>
                    <a:p>
                      <a:r>
                        <a:rPr sz="950" b="0">
                          <a:solidFill>
                            <a:srgbClr val="1C1C1E"/>
                          </a:solidFill>
                          <a:latin typeface="Calibri"/>
                        </a:rPr>
                        <a:t>Linear vs log-log</a:t>
                      </a:r>
                    </a:p>
                  </a:txBody>
                  <a:tcPr marL="82296" marR="64008" marT="32004" marB="32004" anchor="ctr">
                    <a:solidFill>
                      <a:srgbClr val="FFFFFF"/>
                    </a:solidFill>
                  </a:tcPr>
                </a:tc>
                <a:tc>
                  <a:txBody>
                    <a:bodyPr wrap="square"/>
                    <a:lstStyle/>
                    <a:p>
                      <a:r>
                        <a:rPr sz="950" b="0">
                          <a:solidFill>
                            <a:srgbClr val="1C1C1E"/>
                          </a:solidFill>
                          <a:latin typeface="Calibri"/>
                        </a:rPr>
                        <a:t>Champion and challenger with a paired interval</a:t>
                      </a:r>
                    </a:p>
                  </a:txBody>
                  <a:tcPr marL="82296" marR="64008" marT="32004" marB="32004" anchor="ctr">
                    <a:solidFill>
                      <a:srgbClr val="FFFFFF"/>
                    </a:solidFill>
                  </a:tcPr>
                </a:tc>
              </a:tr>
              <a:tr h="274320">
                <a:tc>
                  <a:txBody>
                    <a:bodyPr wrap="square"/>
                    <a:lstStyle/>
                    <a:p>
                      <a:r>
                        <a:rPr sz="950" b="1">
                          <a:solidFill>
                            <a:srgbClr val="761422"/>
                          </a:solidFill>
                          <a:latin typeface="Calibri"/>
                        </a:rPr>
                        <a:t>45 Mortality table</a:t>
                      </a:r>
                    </a:p>
                  </a:txBody>
                  <a:tcPr marL="82296" marR="64008" marT="32004" marB="32004" anchor="ctr">
                    <a:solidFill>
                      <a:srgbClr val="F6F3EF"/>
                    </a:solidFill>
                  </a:tcPr>
                </a:tc>
                <a:tc>
                  <a:txBody>
                    <a:bodyPr wrap="square"/>
                    <a:lstStyle/>
                    <a:p>
                      <a:r>
                        <a:rPr sz="950" b="0">
                          <a:solidFill>
                            <a:srgbClr val="1C1C1E"/>
                          </a:solidFill>
                          <a:latin typeface="Calibri"/>
                        </a:rPr>
                        <a:t>Non-linear law</a:t>
                      </a:r>
                    </a:p>
                  </a:txBody>
                  <a:tcPr marL="82296" marR="64008" marT="32004" marB="32004" anchor="ctr">
                    <a:solidFill>
                      <a:srgbClr val="F6F3EF"/>
                    </a:solidFill>
                  </a:tcPr>
                </a:tc>
                <a:tc>
                  <a:txBody>
                    <a:bodyPr wrap="square"/>
                    <a:lstStyle/>
                    <a:p>
                      <a:r>
                        <a:rPr sz="950" b="0">
                          <a:solidFill>
                            <a:srgbClr val="1C1C1E"/>
                          </a:solidFill>
                          <a:latin typeface="Calibri"/>
                        </a:rPr>
                        <a:t>A bias the law requires, accepted in writing</a:t>
                      </a:r>
                    </a:p>
                  </a:txBody>
                  <a:tcPr marL="82296" marR="64008" marT="32004" marB="32004" anchor="ctr">
                    <a:solidFill>
                      <a:srgbClr val="F6F3EF"/>
                    </a:solidFill>
                  </a:tcPr>
                </a:tc>
              </a:tr>
              <a:tr h="274320">
                <a:tc>
                  <a:txBody>
                    <a:bodyPr wrap="square"/>
                    <a:lstStyle/>
                    <a:p>
                      <a:r>
                        <a:rPr sz="950" b="1">
                          <a:solidFill>
                            <a:srgbClr val="761422"/>
                          </a:solidFill>
                          <a:latin typeface="Calibri"/>
                        </a:rPr>
                        <a:t>49 Complaint triage</a:t>
                      </a:r>
                    </a:p>
                  </a:txBody>
                  <a:tcPr marL="82296" marR="64008" marT="32004" marB="32004" anchor="ctr">
                    <a:solidFill>
                      <a:srgbClr val="FFFFFF"/>
                    </a:solidFill>
                  </a:tcPr>
                </a:tc>
                <a:tc>
                  <a:txBody>
                    <a:bodyPr wrap="square"/>
                    <a:lstStyle/>
                    <a:p>
                      <a:r>
                        <a:rPr sz="950" b="0">
                          <a:solidFill>
                            <a:srgbClr val="1C1C1E"/>
                          </a:solidFill>
                          <a:latin typeface="Calibri"/>
                        </a:rPr>
                        <a:t>LLM application</a:t>
                      </a:r>
                    </a:p>
                  </a:txBody>
                  <a:tcPr marL="82296" marR="64008" marT="32004" marB="32004" anchor="ctr">
                    <a:solidFill>
                      <a:srgbClr val="FFFFFF"/>
                    </a:solidFill>
                  </a:tcPr>
                </a:tc>
                <a:tc>
                  <a:txBody>
                    <a:bodyPr wrap="square"/>
                    <a:lstStyle/>
                    <a:p>
                      <a:r>
                        <a:rPr sz="950" b="0">
                          <a:solidFill>
                            <a:srgbClr val="1C1C1E"/>
                          </a:solidFill>
                          <a:latin typeface="Calibri"/>
                        </a:rPr>
                        <a:t>Guardrails, evaluation sets, approval on evidence</a:t>
                      </a:r>
                    </a:p>
                  </a:txBody>
                  <a:tcPr marL="82296" marR="64008" marT="32004" marB="32004" anchor="ctr">
                    <a:solidFill>
                      <a:srgbClr val="FFFF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08 · AR(2) AND GARCH(1,1)</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C1C1E"/>
                </a:solidFill>
                <a:latin typeface="Georgia"/>
              </a:rPr>
              <a:t>A recursion MAYA cannot write, scored blind on the last dates</a:t>
            </a:r>
          </a:p>
        </p:txBody>
      </p:sp>
      <p:sp>
        <p:nvSpPr>
          <p:cNvPr id="6" name="Rectangle 5"/>
          <p:cNvSpPr/>
          <p:nvPr/>
        </p:nvSpPr>
        <p:spPr>
          <a:xfrm>
            <a:off x="777240" y="1210754"/>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61</a:t>
            </a:r>
          </a:p>
        </p:txBody>
      </p:sp>
      <p:sp>
        <p:nvSpPr>
          <p:cNvPr id="10" name="Rectangle 9"/>
          <p:cNvSpPr/>
          <p:nvPr/>
        </p:nvSpPr>
        <p:spPr>
          <a:xfrm>
            <a:off x="777240"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0.9754</a:t>
            </a:r>
          </a:p>
        </p:txBody>
      </p:sp>
      <p:sp>
        <p:nvSpPr>
          <p:cNvPr id="13" name="TextBox 12"/>
          <p:cNvSpPr txBox="1"/>
          <p:nvPr/>
        </p:nvSpPr>
        <p:spPr>
          <a:xfrm>
            <a:off x="978408"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fitted GARCH persistence alpha + beta; the generating process has 0.972</a:t>
            </a:r>
          </a:p>
        </p:txBody>
      </p:sp>
      <p:sp>
        <p:nvSpPr>
          <p:cNvPr id="14" name="Rectangle 13"/>
          <p:cNvSpPr/>
          <p:nvPr/>
        </p:nvSpPr>
        <p:spPr>
          <a:xfrm>
            <a:off x="3486835"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840</a:t>
            </a:r>
          </a:p>
        </p:txBody>
      </p:sp>
      <p:sp>
        <p:nvSpPr>
          <p:cNvPr id="17" name="TextBox 16"/>
          <p:cNvSpPr txBox="1"/>
          <p:nvPr/>
        </p:nvSpPr>
        <p:spPr>
          <a:xfrm>
            <a:off x="3688003"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A4F57"/>
                </a:solidFill>
                <a:latin typeface="Calibri"/>
              </a:rPr>
              <a:t>escrowed rows: the last 280 days of each index, in date order</a:t>
            </a:r>
          </a:p>
        </p:txBody>
      </p:sp>
      <p:sp>
        <p:nvSpPr>
          <p:cNvPr id="18" name="Rectangle 17"/>
          <p:cNvSpPr/>
          <p:nvPr/>
        </p:nvSpPr>
        <p:spPr>
          <a:xfrm>
            <a:off x="6196431"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1.05</a:t>
            </a:r>
          </a:p>
        </p:txBody>
      </p:sp>
      <p:sp>
        <p:nvSpPr>
          <p:cNvPr id="21" name="TextBox 20"/>
          <p:cNvSpPr txBox="1"/>
          <p:nvPr/>
        </p:nvSpPr>
        <p:spPr>
          <a:xfrm>
            <a:off x="6397599"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a persistence offered and refused: each parameter fine, the pair explosive</a:t>
            </a:r>
          </a:p>
        </p:txBody>
      </p:sp>
      <p:sp>
        <p:nvSpPr>
          <p:cNvPr id="22" name="Rectangle 21"/>
          <p:cNvSpPr/>
          <p:nvPr/>
        </p:nvSpPr>
        <p:spPr>
          <a:xfrm>
            <a:off x="8906027" y="1338770"/>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38770"/>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466786"/>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8.7e-4</a:t>
            </a:r>
          </a:p>
        </p:txBody>
      </p:sp>
      <p:sp>
        <p:nvSpPr>
          <p:cNvPr id="25" name="TextBox 24"/>
          <p:cNvSpPr txBox="1"/>
          <p:nvPr/>
        </p:nvSpPr>
        <p:spPr>
          <a:xfrm>
            <a:off x="9107195" y="1942274"/>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forecast variance in a crash week, over the 6e-4 covenant: suspended</a:t>
            </a:r>
          </a:p>
        </p:txBody>
      </p:sp>
      <p:sp>
        <p:nvSpPr>
          <p:cNvPr id="26" name="TextBox 25"/>
          <p:cNvSpPr txBox="1"/>
          <p:nvPr/>
        </p:nvSpPr>
        <p:spPr>
          <a:xfrm>
            <a:off x="777240" y="2692082"/>
            <a:ext cx="10637215" cy="3553269"/>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The lags of the AR(2) are transforms on the governed feature, so the mean model is a formula. GARCH carries yesterday's variance as a state no column holds, so it is a declared black box, run in the sandbox on 840 rows the developer never saw.</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The warrants split by date: the earliest dates train and the last are the test. A random split trains on the future and scatters the rows a recursion must run through in order.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09 · BASEL IRB CAPITAL</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bracket left out, found by reconciling every obligor</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62</a:t>
            </a:r>
          </a:p>
        </p:txBody>
      </p:sp>
      <p:sp>
        <p:nvSpPr>
          <p:cNvPr id="10" name="Rectangle 9"/>
          <p:cNvSpPr/>
          <p:nvPr/>
        </p:nvSpPr>
        <p:spPr>
          <a:xfrm>
            <a:off x="777240"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0.00982</a:t>
            </a:r>
          </a:p>
        </p:txBody>
      </p:sp>
      <p:sp>
        <p:nvSpPr>
          <p:cNvPr id="13" name="TextBox 12"/>
          <p:cNvSpPr txBox="1"/>
          <p:nvPr/>
        </p:nvSpPr>
        <p:spPr>
          <a:xfrm>
            <a:off x="978408"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RMSE of K for version 1, reconciled blind against the regulator's reference</a:t>
            </a:r>
          </a:p>
        </p:txBody>
      </p:sp>
      <p:sp>
        <p:nvSpPr>
          <p:cNvPr id="14" name="Rectangle 13"/>
          <p:cNvSpPr/>
          <p:nvPr/>
        </p:nvSpPr>
        <p:spPr>
          <a:xfrm>
            <a:off x="3486835"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1.2e-16</a:t>
            </a:r>
          </a:p>
        </p:txBody>
      </p:sp>
      <p:sp>
        <p:nvSpPr>
          <p:cNvPr id="17" name="TextBox 16"/>
          <p:cNvSpPr txBox="1"/>
          <p:nvPr/>
        </p:nvSpPr>
        <p:spPr>
          <a:xfrm>
            <a:off x="3688003"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A4F57"/>
                </a:solidFill>
                <a:latin typeface="Calibri"/>
              </a:rPr>
              <a:t>largest miss with maturity inside one to five years: exact</a:t>
            </a:r>
          </a:p>
        </p:txBody>
      </p:sp>
      <p:sp>
        <p:nvSpPr>
          <p:cNvPr id="18" name="Rectangle 17"/>
          <p:cNvSpPr/>
          <p:nvPr/>
        </p:nvSpPr>
        <p:spPr>
          <a:xfrm>
            <a:off x="6196431"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6.5m</a:t>
            </a:r>
          </a:p>
        </p:txBody>
      </p:sp>
      <p:sp>
        <p:nvSpPr>
          <p:cNvPr id="21" name="TextBox 20"/>
          <p:cNvSpPr txBox="1"/>
          <p:nvPr/>
        </p:nvSpPr>
        <p:spPr>
          <a:xfrm>
            <a:off x="6397599"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capital overstated on the year-end book: 179.6m against 173.1m</a:t>
            </a:r>
          </a:p>
        </p:txBody>
      </p:sp>
      <p:sp>
        <p:nvSpPr>
          <p:cNvPr id="22" name="Rectangle 21"/>
          <p:cNvSpPr/>
          <p:nvPr/>
        </p:nvSpPr>
        <p:spPr>
          <a:xfrm>
            <a:off x="8906027"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5.7e-17</a:t>
            </a:r>
          </a:p>
        </p:txBody>
      </p:sp>
      <p:sp>
        <p:nvSpPr>
          <p:cNvPr id="25" name="TextBox 24"/>
          <p:cNvSpPr txBox="1"/>
          <p:nvPr/>
        </p:nvSpPr>
        <p:spPr>
          <a:xfrm>
            <a:off x="9107195"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RMSE of K for version 2, with the maturity floored at one year and capped at five</a:t>
            </a:r>
          </a:p>
        </p:txBody>
      </p:sp>
      <p:sp>
        <p:nvSpPr>
          <p:cNvPr id="26" name="TextBox 25"/>
          <p:cNvSpPr txBox="1"/>
          <p:nvPr/>
        </p:nvSpPr>
        <p:spPr>
          <a:xfrm>
            <a:off x="777240" y="2740279"/>
            <a:ext cx="10637215" cy="3505073"/>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A model with nothing to fit is proved by reconciliation, and MAYA's leakage certificate records a written exception, because a reporting calculation uses figures finalised after the quarter-end by design.</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The validator raised a high finding; the owner fixed it as version 2, whose semantic diff is one statement; the owner was refused when she tried to close it herself, and the validator closed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19 · VENDOR BUREAU SCORE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C1C1E"/>
                </a:solidFill>
                <a:latin typeface="Georgia"/>
              </a:rPr>
              <a:t>A bought score, validated blind and taken out of service by drift</a:t>
            </a:r>
          </a:p>
        </p:txBody>
      </p:sp>
      <p:sp>
        <p:nvSpPr>
          <p:cNvPr id="6" name="Rectangle 5"/>
          <p:cNvSpPr/>
          <p:nvPr/>
        </p:nvSpPr>
        <p:spPr>
          <a:xfrm>
            <a:off x="777240" y="1194689"/>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63</a:t>
            </a:r>
          </a:p>
        </p:txBody>
      </p:sp>
      <p:sp>
        <p:nvSpPr>
          <p:cNvPr id="10" name="TextBox 9"/>
          <p:cNvSpPr txBox="1"/>
          <p:nvPr/>
        </p:nvSpPr>
        <p:spPr>
          <a:xfrm>
            <a:off x="777240" y="1322705"/>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Imported from its MLflow signature, its code run through the ladder in the strong sandbox, scored blind on 171 held-out applications: Brier 0.082, utilisation 43% of the importance. Then three months in production:</a:t>
            </a:r>
          </a:p>
        </p:txBody>
      </p:sp>
      <p:graphicFrame>
        <p:nvGraphicFramePr>
          <p:cNvPr id="11" name="Table 10"/>
          <p:cNvGraphicFramePr>
            <a:graphicFrameLocks noGrp="1"/>
          </p:cNvGraphicFramePr>
          <p:nvPr/>
        </p:nvGraphicFramePr>
        <p:xfrm>
          <a:off x="777240" y="1976247"/>
          <a:ext cx="10637215" cy="1322514"/>
        </p:xfrm>
        <a:graphic>
          <a:graphicData uri="http://schemas.openxmlformats.org/drawingml/2006/table">
            <a:tbl>
              <a:tblPr firstRow="1">
                <a:tableStyleId>{5C22544A-7EE6-4342-B048-85BDC9FD1C3A}</a:tableStyleId>
              </a:tblPr>
              <a:tblGrid>
                <a:gridCol w="2127443"/>
                <a:gridCol w="2127443"/>
                <a:gridCol w="2127443"/>
                <a:gridCol w="2127443"/>
                <a:gridCol w="2127443"/>
              </a:tblGrid>
              <a:tr h="318579">
                <a:tc>
                  <a:txBody>
                    <a:bodyPr wrap="square"/>
                    <a:lstStyle/>
                    <a:p>
                      <a:r>
                        <a:rPr sz="1300" b="1">
                          <a:solidFill>
                            <a:srgbClr val="FFFFFF"/>
                          </a:solidFill>
                          <a:latin typeface="Calibri"/>
                        </a:rPr>
                        <a:t>Month</a:t>
                      </a:r>
                    </a:p>
                  </a:txBody>
                  <a:tcPr marL="82296" marR="64008" marT="32004" marB="32004" anchor="ctr">
                    <a:solidFill>
                      <a:srgbClr val="A51C30"/>
                    </a:solidFill>
                  </a:tcPr>
                </a:tc>
                <a:tc>
                  <a:txBody>
                    <a:bodyPr wrap="square"/>
                    <a:lstStyle/>
                    <a:p>
                      <a:r>
                        <a:rPr sz="1300" b="1">
                          <a:solidFill>
                            <a:srgbClr val="FFFFFF"/>
                          </a:solidFill>
                          <a:latin typeface="Calibri"/>
                        </a:rPr>
                        <a:t>Mean utilisation</a:t>
                      </a:r>
                    </a:p>
                  </a:txBody>
                  <a:tcPr marL="82296" marR="64008" marT="32004" marB="32004" anchor="ctr">
                    <a:solidFill>
                      <a:srgbClr val="A51C30"/>
                    </a:solidFill>
                  </a:tcPr>
                </a:tc>
                <a:tc>
                  <a:txBody>
                    <a:bodyPr wrap="square"/>
                    <a:lstStyle/>
                    <a:p>
                      <a:r>
                        <a:rPr sz="1300" b="1">
                          <a:solidFill>
                            <a:srgbClr val="FFFFFF"/>
                          </a:solidFill>
                          <a:latin typeface="Calibri"/>
                        </a:rPr>
                        <a:t>PSI</a:t>
                      </a:r>
                    </a:p>
                  </a:txBody>
                  <a:tcPr marL="82296" marR="64008" marT="32004" marB="32004" anchor="ctr">
                    <a:solidFill>
                      <a:srgbClr val="A51C30"/>
                    </a:solidFill>
                  </a:tcPr>
                </a:tc>
                <a:tc>
                  <a:txBody>
                    <a:bodyPr wrap="square"/>
                    <a:lstStyle/>
                    <a:p>
                      <a:r>
                        <a:rPr sz="1300" b="1">
                          <a:solidFill>
                            <a:srgbClr val="FFFFFF"/>
                          </a:solidFill>
                          <a:latin typeface="Calibri"/>
                        </a:rPr>
                        <a:t>Warrant</a:t>
                      </a:r>
                    </a:p>
                  </a:txBody>
                  <a:tcPr marL="82296" marR="64008" marT="32004" marB="32004" anchor="ctr">
                    <a:solidFill>
                      <a:srgbClr val="A51C30"/>
                    </a:solidFill>
                  </a:tcPr>
                </a:tc>
                <a:tc>
                  <a:txBody>
                    <a:bodyPr wrap="square"/>
                    <a:lstStyle/>
                    <a:p>
                      <a:r>
                        <a:rPr sz="1300" b="1">
                          <a:solidFill>
                            <a:srgbClr val="FFFFFF"/>
                          </a:solidFill>
                          <a:latin typeface="Calibri"/>
                        </a:rPr>
                        <a:t>Dashboard</a:t>
                      </a:r>
                    </a:p>
                  </a:txBody>
                  <a:tcPr marL="82296" marR="64008" marT="32004" marB="32004" anchor="ctr">
                    <a:solidFill>
                      <a:srgbClr val="A51C30"/>
                    </a:solidFill>
                  </a:tcPr>
                </a:tc>
              </a:tr>
              <a:tr h="334645">
                <a:tc>
                  <a:txBody>
                    <a:bodyPr wrap="square"/>
                    <a:lstStyle/>
                    <a:p>
                      <a:r>
                        <a:rPr sz="1400" b="1">
                          <a:solidFill>
                            <a:srgbClr val="761422"/>
                          </a:solidFill>
                          <a:latin typeface="Calibri"/>
                        </a:rPr>
                        <a:t>January</a:t>
                      </a:r>
                    </a:p>
                  </a:txBody>
                  <a:tcPr marL="82296" marR="64008" marT="32004" marB="32004" anchor="ctr">
                    <a:solidFill>
                      <a:srgbClr val="FFFFFF"/>
                    </a:solidFill>
                  </a:tcPr>
                </a:tc>
                <a:tc>
                  <a:txBody>
                    <a:bodyPr wrap="square"/>
                    <a:lstStyle/>
                    <a:p>
                      <a:r>
                        <a:rPr sz="1400" b="0">
                          <a:solidFill>
                            <a:srgbClr val="1C1C1E"/>
                          </a:solidFill>
                          <a:latin typeface="Calibri"/>
                        </a:rPr>
                        <a:t>0.411</a:t>
                      </a:r>
                    </a:p>
                  </a:txBody>
                  <a:tcPr marL="82296" marR="64008" marT="32004" marB="32004" anchor="ctr">
                    <a:solidFill>
                      <a:srgbClr val="FFFFFF"/>
                    </a:solidFill>
                  </a:tcPr>
                </a:tc>
                <a:tc>
                  <a:txBody>
                    <a:bodyPr wrap="square"/>
                    <a:lstStyle/>
                    <a:p>
                      <a:r>
                        <a:rPr sz="1400" b="0">
                          <a:solidFill>
                            <a:srgbClr val="1C1C1E"/>
                          </a:solidFill>
                          <a:latin typeface="Calibri"/>
                        </a:rPr>
                        <a:t>0.009</a:t>
                      </a:r>
                    </a:p>
                  </a:txBody>
                  <a:tcPr marL="82296" marR="64008" marT="32004" marB="32004" anchor="ctr">
                    <a:solidFill>
                      <a:srgbClr val="FFFFFF"/>
                    </a:solidFill>
                  </a:tcPr>
                </a:tc>
                <a:tc>
                  <a:txBody>
                    <a:bodyPr wrap="square"/>
                    <a:lstStyle/>
                    <a:p>
                      <a:r>
                        <a:rPr sz="1400" b="0">
                          <a:solidFill>
                            <a:srgbClr val="1C1C1E"/>
                          </a:solidFill>
                          <a:latin typeface="Calibri"/>
                        </a:rPr>
                        <a:t>live</a:t>
                      </a:r>
                    </a:p>
                  </a:txBody>
                  <a:tcPr marL="82296" marR="64008" marT="32004" marB="32004" anchor="ctr">
                    <a:solidFill>
                      <a:srgbClr val="FFFFFF"/>
                    </a:solidFill>
                  </a:tcPr>
                </a:tc>
                <a:tc>
                  <a:txBody>
                    <a:bodyPr wrap="square"/>
                    <a:lstStyle/>
                    <a:p>
                      <a:r>
                        <a:rPr sz="1400" b="0">
                          <a:solidFill>
                            <a:srgbClr val="1C1C1E"/>
                          </a:solidFill>
                          <a:latin typeface="Calibri"/>
                        </a:rPr>
                        <a:t>ok</a:t>
                      </a:r>
                    </a:p>
                  </a:txBody>
                  <a:tcPr marL="82296" marR="64008" marT="32004" marB="32004" anchor="ctr">
                    <a:solidFill>
                      <a:srgbClr val="FFFFFF"/>
                    </a:solidFill>
                  </a:tcPr>
                </a:tc>
              </a:tr>
              <a:tr h="334645">
                <a:tc>
                  <a:txBody>
                    <a:bodyPr wrap="square"/>
                    <a:lstStyle/>
                    <a:p>
                      <a:r>
                        <a:rPr sz="1400" b="1">
                          <a:solidFill>
                            <a:srgbClr val="761422"/>
                          </a:solidFill>
                          <a:latin typeface="Calibri"/>
                        </a:rPr>
                        <a:t>February</a:t>
                      </a:r>
                    </a:p>
                  </a:txBody>
                  <a:tcPr marL="82296" marR="64008" marT="32004" marB="32004" anchor="ctr">
                    <a:solidFill>
                      <a:srgbClr val="F6F3EF"/>
                    </a:solidFill>
                  </a:tcPr>
                </a:tc>
                <a:tc>
                  <a:txBody>
                    <a:bodyPr wrap="square"/>
                    <a:lstStyle/>
                    <a:p>
                      <a:r>
                        <a:rPr sz="1400" b="0">
                          <a:solidFill>
                            <a:srgbClr val="1C1C1E"/>
                          </a:solidFill>
                          <a:latin typeface="Calibri"/>
                        </a:rPr>
                        <a:t>0.451</a:t>
                      </a:r>
                    </a:p>
                  </a:txBody>
                  <a:tcPr marL="82296" marR="64008" marT="32004" marB="32004" anchor="ctr">
                    <a:solidFill>
                      <a:srgbClr val="F6F3EF"/>
                    </a:solidFill>
                  </a:tcPr>
                </a:tc>
                <a:tc>
                  <a:txBody>
                    <a:bodyPr wrap="square"/>
                    <a:lstStyle/>
                    <a:p>
                      <a:r>
                        <a:rPr sz="1400" b="0">
                          <a:solidFill>
                            <a:srgbClr val="1C1C1E"/>
                          </a:solidFill>
                          <a:latin typeface="Calibri"/>
                        </a:rPr>
                        <a:t>0.109</a:t>
                      </a:r>
                    </a:p>
                  </a:txBody>
                  <a:tcPr marL="82296" marR="64008" marT="32004" marB="32004" anchor="ctr">
                    <a:solidFill>
                      <a:srgbClr val="F6F3EF"/>
                    </a:solidFill>
                  </a:tcPr>
                </a:tc>
                <a:tc>
                  <a:txBody>
                    <a:bodyPr wrap="square"/>
                    <a:lstStyle/>
                    <a:p>
                      <a:r>
                        <a:rPr sz="1400" b="0">
                          <a:solidFill>
                            <a:srgbClr val="1C1C1E"/>
                          </a:solidFill>
                          <a:latin typeface="Calibri"/>
                        </a:rPr>
                        <a:t>live</a:t>
                      </a:r>
                    </a:p>
                  </a:txBody>
                  <a:tcPr marL="82296" marR="64008" marT="32004" marB="32004" anchor="ctr">
                    <a:solidFill>
                      <a:srgbClr val="F6F3EF"/>
                    </a:solidFill>
                  </a:tcPr>
                </a:tc>
                <a:tc>
                  <a:txBody>
                    <a:bodyPr wrap="square"/>
                    <a:lstStyle/>
                    <a:p>
                      <a:r>
                        <a:rPr sz="1400" b="0">
                          <a:solidFill>
                            <a:srgbClr val="1C1C1E"/>
                          </a:solidFill>
                          <a:latin typeface="Calibri"/>
                        </a:rPr>
                        <a:t>watch</a:t>
                      </a:r>
                    </a:p>
                  </a:txBody>
                  <a:tcPr marL="82296" marR="64008" marT="32004" marB="32004" anchor="ctr">
                    <a:solidFill>
                      <a:srgbClr val="F6F3EF"/>
                    </a:solidFill>
                  </a:tcPr>
                </a:tc>
              </a:tr>
              <a:tr h="334645">
                <a:tc>
                  <a:txBody>
                    <a:bodyPr wrap="square"/>
                    <a:lstStyle/>
                    <a:p>
                      <a:r>
                        <a:rPr sz="1400" b="1">
                          <a:solidFill>
                            <a:srgbClr val="761422"/>
                          </a:solidFill>
                          <a:latin typeface="Calibri"/>
                        </a:rPr>
                        <a:t>March</a:t>
                      </a:r>
                    </a:p>
                  </a:txBody>
                  <a:tcPr marL="82296" marR="64008" marT="32004" marB="32004" anchor="ctr">
                    <a:solidFill>
                      <a:srgbClr val="FFFFFF"/>
                    </a:solidFill>
                  </a:tcPr>
                </a:tc>
                <a:tc>
                  <a:txBody>
                    <a:bodyPr wrap="square"/>
                    <a:lstStyle/>
                    <a:p>
                      <a:r>
                        <a:rPr sz="1400" b="0">
                          <a:solidFill>
                            <a:srgbClr val="1C1C1E"/>
                          </a:solidFill>
                          <a:latin typeface="Calibri"/>
                        </a:rPr>
                        <a:t>0.497</a:t>
                      </a:r>
                    </a:p>
                  </a:txBody>
                  <a:tcPr marL="82296" marR="64008" marT="32004" marB="32004" anchor="ctr">
                    <a:solidFill>
                      <a:srgbClr val="FFFFFF"/>
                    </a:solidFill>
                  </a:tcPr>
                </a:tc>
                <a:tc>
                  <a:txBody>
                    <a:bodyPr wrap="square"/>
                    <a:lstStyle/>
                    <a:p>
                      <a:r>
                        <a:rPr sz="1400" b="0">
                          <a:solidFill>
                            <a:srgbClr val="1C1C1E"/>
                          </a:solidFill>
                          <a:latin typeface="Calibri"/>
                        </a:rPr>
                        <a:t>0.438</a:t>
                      </a:r>
                    </a:p>
                  </a:txBody>
                  <a:tcPr marL="82296" marR="64008" marT="32004" marB="32004" anchor="ctr">
                    <a:solidFill>
                      <a:srgbClr val="FFFFFF"/>
                    </a:solidFill>
                  </a:tcPr>
                </a:tc>
                <a:tc>
                  <a:txBody>
                    <a:bodyPr wrap="square"/>
                    <a:lstStyle/>
                    <a:p>
                      <a:r>
                        <a:rPr sz="1400" b="0">
                          <a:solidFill>
                            <a:srgbClr val="1C1C1E"/>
                          </a:solidFill>
                          <a:latin typeface="Calibri"/>
                        </a:rPr>
                        <a:t>suspended</a:t>
                      </a:r>
                    </a:p>
                  </a:txBody>
                  <a:tcPr marL="82296" marR="64008" marT="32004" marB="32004" anchor="ctr">
                    <a:solidFill>
                      <a:srgbClr val="FFFFFF"/>
                    </a:solidFill>
                  </a:tcPr>
                </a:tc>
                <a:tc>
                  <a:txBody>
                    <a:bodyPr wrap="square"/>
                    <a:lstStyle/>
                    <a:p>
                      <a:r>
                        <a:rPr sz="1400" b="0">
                          <a:solidFill>
                            <a:srgbClr val="1C1C1E"/>
                          </a:solidFill>
                          <a:latin typeface="Calibri"/>
                        </a:rPr>
                        <a:t>breach</a:t>
                      </a:r>
                    </a:p>
                  </a:txBody>
                  <a:tcPr marL="82296" marR="64008" marT="32004" marB="32004" anchor="ctr">
                    <a:solidFill>
                      <a:srgbClr val="FFFF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42 · DEMAND ELASTICITY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Winning 60% of rows, and still clearly better</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64</a:t>
            </a:r>
          </a:p>
        </p:txBody>
      </p:sp>
      <p:sp>
        <p:nvSpPr>
          <p:cNvPr id="10" name="Rectangle 9"/>
          <p:cNvSpPr/>
          <p:nvPr/>
        </p:nvSpPr>
        <p:spPr>
          <a:xfrm>
            <a:off x="777240"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0.2250</a:t>
            </a:r>
          </a:p>
        </p:txBody>
      </p:sp>
      <p:sp>
        <p:nvSpPr>
          <p:cNvPr id="13" name="TextBox 12"/>
          <p:cNvSpPr txBox="1"/>
          <p:nvPr/>
        </p:nvSpPr>
        <p:spPr>
          <a:xfrm>
            <a:off x="978408"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blind RMSE of the linear champion on 657 escrowed rows</a:t>
            </a:r>
          </a:p>
        </p:txBody>
      </p:sp>
      <p:sp>
        <p:nvSpPr>
          <p:cNvPr id="14" name="Rectangle 13"/>
          <p:cNvSpPr/>
          <p:nvPr/>
        </p:nvSpPr>
        <p:spPr>
          <a:xfrm>
            <a:off x="3486835"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0.1940</a:t>
            </a:r>
          </a:p>
        </p:txBody>
      </p:sp>
      <p:sp>
        <p:nvSpPr>
          <p:cNvPr id="17" name="TextBox 16"/>
          <p:cNvSpPr txBox="1"/>
          <p:nvPr/>
        </p:nvSpPr>
        <p:spPr>
          <a:xfrm>
            <a:off x="3688003"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blind RMSE of the log-log challenger on the same rows</a:t>
            </a:r>
          </a:p>
        </p:txBody>
      </p:sp>
      <p:sp>
        <p:nvSpPr>
          <p:cNvPr id="18" name="Rectangle 17"/>
          <p:cNvSpPr/>
          <p:nvPr/>
        </p:nvSpPr>
        <p:spPr>
          <a:xfrm>
            <a:off x="6196431"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1750" b="1" i="0">
                <a:solidFill>
                  <a:srgbClr val="A51C30"/>
                </a:solidFill>
                <a:latin typeface="Georgia"/>
              </a:rPr>
              <a:t>[−0.040, −0.022]</a:t>
            </a:r>
          </a:p>
        </p:txBody>
      </p:sp>
      <p:sp>
        <p:nvSpPr>
          <p:cNvPr id="21" name="TextBox 20"/>
          <p:cNvSpPr txBox="1"/>
          <p:nvPr/>
        </p:nvSpPr>
        <p:spPr>
          <a:xfrm>
            <a:off x="6397599"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95% paired bootstrap interval for the difference</a:t>
            </a:r>
          </a:p>
        </p:txBody>
      </p:sp>
      <p:sp>
        <p:nvSpPr>
          <p:cNvPr id="22" name="Rectangle 21"/>
          <p:cNvSpPr/>
          <p:nvPr/>
        </p:nvSpPr>
        <p:spPr>
          <a:xfrm>
            <a:off x="8906027"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−1.62</a:t>
            </a:r>
          </a:p>
        </p:txBody>
      </p:sp>
      <p:sp>
        <p:nvSpPr>
          <p:cNvPr id="25" name="TextBox 24"/>
          <p:cNvSpPr txBox="1"/>
          <p:nvPr/>
        </p:nvSpPr>
        <p:spPr>
          <a:xfrm>
            <a:off x="9107195"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the challenger's elasticity; the data's true value is −1.6</a:t>
            </a:r>
          </a:p>
        </p:txBody>
      </p:sp>
      <p:sp>
        <p:nvSpPr>
          <p:cNvPr id="26" name="TextBox 25"/>
          <p:cNvSpPr txBox="1"/>
          <p:nvPr/>
        </p:nvSpPr>
        <p:spPr>
          <a:xfrm>
            <a:off x="777240" y="2740279"/>
            <a:ext cx="10637215" cy="3505073"/>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The challenger wins only 60% of rows, but by more where it wins: at the deepest discount the straight line's error is 0.276 against 0.235, at the steepest rise 0.170 against 0.079. Two headline RMSEs hide that; a paired comparison shows it.</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A warrant drawn with another seed was refused rather than compared, and the challenger's developer was refused the decision; a second manager promoted it, and the champion's live use was untouched.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45 · GOMPERTZ–MAKEHAM MORTALITY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Wrong by the same amount, in opposite directions</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65</a:t>
            </a:r>
          </a:p>
        </p:txBody>
      </p:sp>
      <p:sp>
        <p:nvSpPr>
          <p:cNvPr id="10" name="Rectangle 9"/>
          <p:cNvSpPr/>
          <p:nvPr/>
        </p:nvSpPr>
        <p:spPr>
          <a:xfrm>
            <a:off x="777240"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1.08</a:t>
            </a:r>
          </a:p>
        </p:txBody>
      </p:sp>
      <p:sp>
        <p:nvSpPr>
          <p:cNvPr id="13" name="TextBox 12"/>
          <p:cNvSpPr txBox="1"/>
          <p:nvPr/>
        </p:nvSpPr>
        <p:spPr>
          <a:xfrm>
            <a:off x="978408"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A4F57"/>
                </a:solidFill>
                <a:latin typeface="Calibri"/>
              </a:rPr>
              <a:t>MAE ratio between the sexes: by error size, nothing stands out</a:t>
            </a:r>
          </a:p>
        </p:txBody>
      </p:sp>
      <p:sp>
        <p:nvSpPr>
          <p:cNvPr id="14" name="Rectangle 13"/>
          <p:cNvSpPr/>
          <p:nvPr/>
        </p:nvSpPr>
        <p:spPr>
          <a:xfrm>
            <a:off x="3486835"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+0.0259</a:t>
            </a:r>
          </a:p>
        </p:txBody>
      </p:sp>
      <p:sp>
        <p:nvSpPr>
          <p:cNvPr id="17" name="TextBox 16"/>
          <p:cNvSpPr txBox="1"/>
          <p:nvPr/>
        </p:nvSpPr>
        <p:spPr>
          <a:xfrm>
            <a:off x="3688003"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00" b="0" i="0">
                <a:solidFill>
                  <a:srgbClr val="4A4F57"/>
                </a:solidFill>
                <a:latin typeface="Calibri"/>
              </a:rPr>
              <a:t>bias for women: the unisex table overstates their mortality</a:t>
            </a:r>
          </a:p>
        </p:txBody>
      </p:sp>
      <p:sp>
        <p:nvSpPr>
          <p:cNvPr id="18" name="Rectangle 17"/>
          <p:cNvSpPr/>
          <p:nvPr/>
        </p:nvSpPr>
        <p:spPr>
          <a:xfrm>
            <a:off x="6196431"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−0.0240</a:t>
            </a:r>
          </a:p>
        </p:txBody>
      </p:sp>
      <p:sp>
        <p:nvSpPr>
          <p:cNvPr id="21" name="TextBox 20"/>
          <p:cNvSpPr txBox="1"/>
          <p:nvPr/>
        </p:nvSpPr>
        <p:spPr>
          <a:xfrm>
            <a:off x="6397599"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bias for men: it understates theirs</a:t>
            </a:r>
          </a:p>
        </p:txBody>
      </p:sp>
      <p:sp>
        <p:nvSpPr>
          <p:cNvPr id="22" name="Rectangle 21"/>
          <p:cNvSpPr/>
          <p:nvPr/>
        </p:nvSpPr>
        <p:spPr>
          <a:xfrm>
            <a:off x="8906027"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6.6 years</a:t>
            </a:r>
          </a:p>
        </p:txBody>
      </p:sp>
      <p:sp>
        <p:nvSpPr>
          <p:cNvPr id="25" name="TextBox 24"/>
          <p:cNvSpPr txBox="1"/>
          <p:nvPr/>
        </p:nvSpPr>
        <p:spPr>
          <a:xfrm>
            <a:off x="9107195"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of age for mortality to double, from the calibrated Gompertz slope</a:t>
            </a:r>
          </a:p>
        </p:txBody>
      </p:sp>
      <p:sp>
        <p:nvSpPr>
          <p:cNvPr id="26" name="TextBox 25"/>
          <p:cNvSpPr txBox="1"/>
          <p:nvPr/>
        </p:nvSpPr>
        <p:spPr>
          <a:xfrm>
            <a:off x="777240" y="2740279"/>
            <a:ext cx="10637215" cy="3505073"/>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For each sex the bias is nearly the whole error, so both segments are marked systematic. The first version of MAYA's fairness evidence flagged on MAE alone, ran this study, and reported nothing; the systematic flag is what it found.</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The table must be unisex by law, so the finding is accepted, not fixed: by a manager, not the owner, with the ruling cited and the cross-subsidy reserved for.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49 · LLM COMPLAINT TRIAGE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Right about every category, and still not fit to use</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66</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A triage application on the firm's own Azure OpenAI deployment, which MAYA does not call: answers are recorded where it runs and scored here.</a:t>
            </a:r>
          </a:p>
        </p:txBody>
      </p:sp>
      <p:graphicFrame>
        <p:nvGraphicFramePr>
          <p:cNvPr id="11" name="Table 10"/>
          <p:cNvGraphicFramePr>
            <a:graphicFrameLocks noGrp="1"/>
          </p:cNvGraphicFramePr>
          <p:nvPr/>
        </p:nvGraphicFramePr>
        <p:xfrm>
          <a:off x="777240" y="2040509"/>
          <a:ext cx="10637214" cy="3791140"/>
        </p:xfrm>
        <a:graphic>
          <a:graphicData uri="http://schemas.openxmlformats.org/drawingml/2006/table">
            <a:tbl>
              <a:tblPr firstRow="1">
                <a:tableStyleId>{5C22544A-7EE6-4342-B048-85BDC9FD1C3A}</a:tableStyleId>
              </a:tblPr>
              <a:tblGrid>
                <a:gridCol w="3545738"/>
                <a:gridCol w="3545738"/>
                <a:gridCol w="3545738"/>
              </a:tblGrid>
              <a:tr h="318579">
                <a:tc>
                  <a:txBody>
                    <a:bodyPr wrap="square"/>
                    <a:lstStyle/>
                    <a:p>
                      <a:r>
                        <a:rPr sz="1300" b="1">
                          <a:solidFill>
                            <a:srgbClr val="FFFFFF"/>
                          </a:solidFill>
                          <a:latin typeface="Calibri"/>
                        </a:rPr>
                        <a:t>Run</a:t>
                      </a:r>
                    </a:p>
                  </a:txBody>
                  <a:tcPr marL="82296" marR="64008" marT="32004" marB="32004" anchor="ctr">
                    <a:solidFill>
                      <a:srgbClr val="A51C30"/>
                    </a:solidFill>
                  </a:tcPr>
                </a:tc>
                <a:tc>
                  <a:txBody>
                    <a:bodyPr wrap="square"/>
                    <a:lstStyle/>
                    <a:p>
                      <a:r>
                        <a:rPr sz="1300" b="1">
                          <a:solidFill>
                            <a:srgbClr val="FFFFFF"/>
                          </a:solidFill>
                          <a:latin typeface="Calibri"/>
                        </a:rPr>
                        <a:t>Passed</a:t>
                      </a:r>
                    </a:p>
                  </a:txBody>
                  <a:tcPr marL="82296" marR="64008" marT="32004" marB="32004" anchor="ctr">
                    <a:solidFill>
                      <a:srgbClr val="A51C30"/>
                    </a:solidFill>
                  </a:tcPr>
                </a:tc>
                <a:tc>
                  <a:txBody>
                    <a:bodyPr wrap="square"/>
                    <a:lstStyle/>
                    <a:p>
                      <a:r>
                        <a:rPr sz="1300" b="1">
                          <a:solidFill>
                            <a:srgbClr val="FFFFFF"/>
                          </a:solidFill>
                          <a:latin typeface="Calibri"/>
                        </a:rPr>
                        <a:t>What happened</a:t>
                      </a:r>
                    </a:p>
                  </a:txBody>
                  <a:tcPr marL="82296" marR="64008" marT="32004" marB="32004" anchor="ctr">
                    <a:solidFill>
                      <a:srgbClr val="A51C30"/>
                    </a:solidFill>
                  </a:tcPr>
                </a:tc>
              </a:tr>
              <a:tr h="784479">
                <a:tc>
                  <a:txBody>
                    <a:bodyPr wrap="square"/>
                    <a:lstStyle/>
                    <a:p>
                      <a:r>
                        <a:rPr sz="1400" b="1">
                          <a:solidFill>
                            <a:srgbClr val="761422"/>
                          </a:solidFill>
                          <a:latin typeface="Calibri"/>
                        </a:rPr>
                        <a:t>Version 1</a:t>
                      </a:r>
                    </a:p>
                  </a:txBody>
                  <a:tcPr marL="82296" marR="64008" marT="32004" marB="32004" anchor="ctr">
                    <a:solidFill>
                      <a:srgbClr val="FFFFFF"/>
                    </a:solidFill>
                  </a:tcPr>
                </a:tc>
                <a:tc>
                  <a:txBody>
                    <a:bodyPr wrap="square"/>
                    <a:lstStyle/>
                    <a:p>
                      <a:r>
                        <a:rPr sz="1400" b="0">
                          <a:solidFill>
                            <a:srgbClr val="1C1C1E"/>
                          </a:solidFill>
                          <a:latin typeface="Calibri"/>
                        </a:rPr>
                        <a:t>21 of 24</a:t>
                      </a:r>
                    </a:p>
                  </a:txBody>
                  <a:tcPr marL="82296" marR="64008" marT="32004" marB="32004" anchor="ctr">
                    <a:solidFill>
                      <a:srgbClr val="FFFFFF"/>
                    </a:solidFill>
                  </a:tcPr>
                </a:tc>
                <a:tc>
                  <a:txBody>
                    <a:bodyPr wrap="square"/>
                    <a:lstStyle/>
                    <a:p>
                      <a:r>
                        <a:rPr sz="1400" b="0">
                          <a:solidFill>
                            <a:srgbClr val="1C1C1E"/>
                          </a:solidFill>
                          <a:latin typeface="Calibri"/>
                        </a:rPr>
                        <a:t>Every category right; one promises a refund, two give or repeat phone and card numbers</a:t>
                      </a:r>
                    </a:p>
                  </a:txBody>
                  <a:tcPr marL="82296" marR="64008" marT="32004" marB="32004" anchor="ctr">
                    <a:solidFill>
                      <a:srgbClr val="FFFFFF"/>
                    </a:solidFill>
                  </a:tcPr>
                </a:tc>
              </a:tr>
              <a:tr h="784479">
                <a:tc>
                  <a:txBody>
                    <a:bodyPr wrap="square"/>
                    <a:lstStyle/>
                    <a:p>
                      <a:r>
                        <a:rPr sz="1400" b="1">
                          <a:solidFill>
                            <a:srgbClr val="761422"/>
                          </a:solidFill>
                          <a:latin typeface="Calibri"/>
                        </a:rPr>
                        <a:t>Draft fixed</a:t>
                      </a:r>
                    </a:p>
                  </a:txBody>
                  <a:tcPr marL="82296" marR="64008" marT="32004" marB="32004" anchor="ctr">
                    <a:solidFill>
                      <a:srgbClr val="F6F3EF"/>
                    </a:solidFill>
                  </a:tcPr>
                </a:tc>
                <a:tc>
                  <a:txBody>
                    <a:bodyPr wrap="square"/>
                    <a:lstStyle/>
                    <a:p>
                      <a:r>
                        <a:rPr sz="1400" b="0">
                          <a:solidFill>
                            <a:srgbClr val="1C1C1E"/>
                          </a:solidFill>
                          <a:latin typeface="Calibri"/>
                        </a:rPr>
                        <a:t>24 of 24</a:t>
                      </a:r>
                    </a:p>
                  </a:txBody>
                  <a:tcPr marL="82296" marR="64008" marT="32004" marB="32004" anchor="ctr">
                    <a:solidFill>
                      <a:srgbClr val="F6F3EF"/>
                    </a:solidFill>
                  </a:tcPr>
                </a:tc>
                <a:tc>
                  <a:txBody>
                    <a:bodyPr wrap="square"/>
                    <a:lstStyle/>
                    <a:p>
                      <a:r>
                        <a:rPr sz="1400" b="0">
                          <a:solidFill>
                            <a:srgbClr val="1C1C1E"/>
                          </a:solidFill>
                          <a:latin typeface="Calibri"/>
                        </a:rPr>
                        <a:t>Same version, new definition hash: the failing run no longer describes it</a:t>
                      </a:r>
                    </a:p>
                  </a:txBody>
                  <a:tcPr marL="82296" marR="64008" marT="32004" marB="32004" anchor="ctr">
                    <a:solidFill>
                      <a:srgbClr val="F6F3EF"/>
                    </a:solidFill>
                  </a:tcPr>
                </a:tc>
              </a:tr>
              <a:tr h="559562">
                <a:tc>
                  <a:txBody>
                    <a:bodyPr wrap="square"/>
                    <a:lstStyle/>
                    <a:p>
                      <a:r>
                        <a:rPr sz="1400" b="1">
                          <a:solidFill>
                            <a:srgbClr val="761422"/>
                          </a:solidFill>
                          <a:latin typeface="Calibri"/>
                        </a:rPr>
                        <a:t>Set extended</a:t>
                      </a:r>
                    </a:p>
                  </a:txBody>
                  <a:tcPr marL="82296" marR="64008" marT="32004" marB="32004" anchor="ctr">
                    <a:solidFill>
                      <a:srgbClr val="FFFFFF"/>
                    </a:solidFill>
                  </a:tcPr>
                </a:tc>
                <a:tc>
                  <a:txBody>
                    <a:bodyPr wrap="square"/>
                    <a:lstStyle/>
                    <a:p>
                      <a:r>
                        <a:rPr sz="1400" b="0">
                          <a:solidFill>
                            <a:srgbClr val="1C1C1E"/>
                          </a:solidFill>
                          <a:latin typeface="Calibri"/>
                        </a:rPr>
                        <a:t>refused</a:t>
                      </a:r>
                    </a:p>
                  </a:txBody>
                  <a:tcPr marL="82296" marR="64008" marT="32004" marB="32004" anchor="ctr">
                    <a:solidFill>
                      <a:srgbClr val="FFFFFF"/>
                    </a:solidFill>
                  </a:tcPr>
                </a:tc>
                <a:tc>
                  <a:txBody>
                    <a:bodyPr wrap="square"/>
                    <a:lstStyle/>
                    <a:p>
                      <a:r>
                        <a:rPr sz="1400" b="0">
                          <a:solidFill>
                            <a:srgbClr val="1C1C1E"/>
                          </a:solidFill>
                          <a:latin typeface="Calibri"/>
                        </a:rPr>
                        <a:t>A validator adds a Welsh complaint; the clean run no longer counts</a:t>
                      </a:r>
                    </a:p>
                  </a:txBody>
                  <a:tcPr marL="82296" marR="64008" marT="32004" marB="32004" anchor="ctr">
                    <a:solidFill>
                      <a:srgbClr val="FFFFFF"/>
                    </a:solidFill>
                  </a:tcPr>
                </a:tc>
              </a:tr>
              <a:tr h="784479">
                <a:tc>
                  <a:txBody>
                    <a:bodyPr wrap="square"/>
                    <a:lstStyle/>
                    <a:p>
                      <a:r>
                        <a:rPr sz="1400" b="1">
                          <a:solidFill>
                            <a:srgbClr val="761422"/>
                          </a:solidFill>
                          <a:latin typeface="Calibri"/>
                        </a:rPr>
                        <a:t>Scored again</a:t>
                      </a:r>
                    </a:p>
                  </a:txBody>
                  <a:tcPr marL="82296" marR="64008" marT="32004" marB="32004" anchor="ctr">
                    <a:solidFill>
                      <a:srgbClr val="F6F3EF"/>
                    </a:solidFill>
                  </a:tcPr>
                </a:tc>
                <a:tc>
                  <a:txBody>
                    <a:bodyPr wrap="square"/>
                    <a:lstStyle/>
                    <a:p>
                      <a:r>
                        <a:rPr sz="1400" b="0">
                          <a:solidFill>
                            <a:srgbClr val="1C1C1E"/>
                          </a:solidFill>
                          <a:latin typeface="Calibri"/>
                        </a:rPr>
                        <a:t>25 of 25</a:t>
                      </a:r>
                    </a:p>
                  </a:txBody>
                  <a:tcPr marL="82296" marR="64008" marT="32004" marB="32004" anchor="ctr">
                    <a:solidFill>
                      <a:srgbClr val="F6F3EF"/>
                    </a:solidFill>
                  </a:tcPr>
                </a:tc>
                <a:tc>
                  <a:txBody>
                    <a:bodyPr wrap="square"/>
                    <a:lstStyle/>
                    <a:p>
                      <a:r>
                        <a:rPr sz="1400" b="0">
                          <a:solidFill>
                            <a:srgbClr val="1C1C1E"/>
                          </a:solidFill>
                          <a:latin typeface="Calibri"/>
                        </a:rPr>
                        <a:t>Submitted, the owner refused approval, approved by a model manager</a:t>
                      </a:r>
                    </a:p>
                  </a:txBody>
                  <a:tcPr marL="82296" marR="64008" marT="32004" marB="32004" anchor="ctr">
                    <a:solidFill>
                      <a:srgbClr val="F6F3EF"/>
                    </a:solidFill>
                  </a:tcPr>
                </a:tc>
              </a:tr>
              <a:tr h="559562">
                <a:tc>
                  <a:txBody>
                    <a:bodyPr wrap="square"/>
                    <a:lstStyle/>
                    <a:p>
                      <a:r>
                        <a:rPr sz="1400" b="1">
                          <a:solidFill>
                            <a:srgbClr val="761422"/>
                          </a:solidFill>
                          <a:latin typeface="Calibri"/>
                        </a:rPr>
                        <a:t>A later change</a:t>
                      </a:r>
                    </a:p>
                  </a:txBody>
                  <a:tcPr marL="82296" marR="64008" marT="32004" marB="32004" anchor="ctr">
                    <a:solidFill>
                      <a:srgbClr val="FFFFFF"/>
                    </a:solidFill>
                  </a:tcPr>
                </a:tc>
                <a:tc>
                  <a:txBody>
                    <a:bodyPr wrap="square"/>
                    <a:lstStyle/>
                    <a:p>
                      <a:r>
                        <a:rPr sz="1400" b="0">
                          <a:solidFill>
                            <a:srgbClr val="1C1C1E"/>
                          </a:solidFill>
                          <a:latin typeface="Calibri"/>
                        </a:rPr>
                        <a:t>v2 draft</a:t>
                      </a:r>
                    </a:p>
                  </a:txBody>
                  <a:tcPr marL="82296" marR="64008" marT="32004" marB="32004" anchor="ctr">
                    <a:solidFill>
                      <a:srgbClr val="FFFFFF"/>
                    </a:solidFill>
                  </a:tcPr>
                </a:tc>
                <a:tc>
                  <a:txBody>
                    <a:bodyPr wrap="square"/>
                    <a:lstStyle/>
                    <a:p>
                      <a:r>
                        <a:rPr sz="1400" b="0">
                          <a:solidFill>
                            <a:srgbClr val="1C1C1E"/>
                          </a:solidFill>
                          <a:latin typeface="Calibri"/>
                        </a:rPr>
                        <a:t>An approved definition never changes; version 1 stays in use</a:t>
                      </a:r>
                    </a:p>
                  </a:txBody>
                  <a:tcPr marL="82296" marR="64008" marT="32004" marB="32004" anchor="ctr">
                    <a:solidFill>
                      <a:srgbClr val="FFFF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01 · RETAIL CREDIT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A scorecard from three CSVs to a sealed licence to run</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67</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Seven scripts, run in order, each doing one step as a named person. Nothing in the study touches the database: every action goes through the SDK, as a user with the role for it.</a:t>
            </a:r>
          </a:p>
        </p:txBody>
      </p:sp>
      <p:sp>
        <p:nvSpPr>
          <p:cNvPr id="11" name="Rectangle 10"/>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case_studies/01-retail-credit-pd-scorecard — a twelve-month PD on revolving unsecured retail accounts, four drivers, fitted by IRLS in twelve lines of numpy.</a:t>
            </a:r>
          </a:p>
        </p:txBody>
      </p:sp>
      <p:sp>
        <p:nvSpPr>
          <p:cNvPr id="13" name="Rectangle 12"/>
          <p:cNvSpPr/>
          <p:nvPr/>
        </p:nvSpPr>
        <p:spPr>
          <a:xfrm>
            <a:off x="777240"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Ingest</a:t>
            </a:r>
          </a:p>
        </p:txBody>
      </p:sp>
      <p:sp>
        <p:nvSpPr>
          <p:cNvPr id="16" name="TextBox 15"/>
          <p:cNvSpPr txBox="1"/>
          <p:nvPr/>
        </p:nvSpPr>
        <p:spPr>
          <a:xfrm>
            <a:off x="960120" y="2553589"/>
            <a:ext cx="934386" cy="1096264"/>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Three features by dana, approved by mick</a:t>
            </a:r>
          </a:p>
        </p:txBody>
      </p:sp>
      <p:sp>
        <p:nvSpPr>
          <p:cNvPr id="17" name="Rectangle 16"/>
          <p:cNvSpPr/>
          <p:nvPr/>
        </p:nvSpPr>
        <p:spPr>
          <a:xfrm>
            <a:off x="2333418"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333418"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16298"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500" b="1" i="0">
                <a:solidFill>
                  <a:srgbClr val="1C1C1E"/>
                </a:solidFill>
                <a:latin typeface="Georgia"/>
              </a:rPr>
              <a:t>Assemble</a:t>
            </a:r>
          </a:p>
        </p:txBody>
      </p:sp>
      <p:sp>
        <p:nvSpPr>
          <p:cNvPr id="20" name="TextBox 19"/>
          <p:cNvSpPr txBox="1"/>
          <p:nvPr/>
        </p:nvSpPr>
        <p:spPr>
          <a:xfrm>
            <a:off x="2516298" y="2537523"/>
            <a:ext cx="934386" cy="111232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The panel by devi, approved by mick</a:t>
            </a:r>
          </a:p>
        </p:txBody>
      </p:sp>
      <p:cxnSp>
        <p:nvCxnSpPr>
          <p:cNvPr id="21" name="Connector 20"/>
          <p:cNvCxnSpPr/>
          <p:nvPr/>
        </p:nvCxnSpPr>
        <p:spPr>
          <a:xfrm>
            <a:off x="2104818"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3889596"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89596"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72476"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Pin</a:t>
            </a:r>
          </a:p>
        </p:txBody>
      </p:sp>
      <p:sp>
        <p:nvSpPr>
          <p:cNvPr id="25" name="TextBox 24"/>
          <p:cNvSpPr txBox="1"/>
          <p:nvPr/>
        </p:nvSpPr>
        <p:spPr>
          <a:xfrm>
            <a:off x="4072476" y="2553589"/>
            <a:ext cx="934386" cy="1096264"/>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Cascade, as of 2025-06-30, 9,600 rows</a:t>
            </a:r>
          </a:p>
        </p:txBody>
      </p:sp>
      <p:cxnSp>
        <p:nvCxnSpPr>
          <p:cNvPr id="26" name="Connector 25"/>
          <p:cNvCxnSpPr/>
          <p:nvPr/>
        </p:nvCxnSpPr>
        <p:spPr>
          <a:xfrm>
            <a:off x="3660996"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445774"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45774"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8654"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500" b="1" i="0">
                <a:solidFill>
                  <a:srgbClr val="1C1C1E"/>
                </a:solidFill>
                <a:latin typeface="Georgia"/>
              </a:rPr>
              <a:t>Register</a:t>
            </a:r>
          </a:p>
        </p:txBody>
      </p:sp>
      <p:sp>
        <p:nvSpPr>
          <p:cNvPr id="30" name="TextBox 29"/>
          <p:cNvSpPr txBox="1"/>
          <p:nvPr/>
        </p:nvSpPr>
        <p:spPr>
          <a:xfrm>
            <a:off x="5628654" y="2537523"/>
            <a:ext cx="934386" cy="1112329"/>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The formula by mona, approved by mgr</a:t>
            </a:r>
          </a:p>
        </p:txBody>
      </p:sp>
      <p:cxnSp>
        <p:nvCxnSpPr>
          <p:cNvPr id="31" name="Connector 30"/>
          <p:cNvCxnSpPr/>
          <p:nvPr/>
        </p:nvCxnSpPr>
        <p:spPr>
          <a:xfrm>
            <a:off x="5217174"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001952"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01952"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4832"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Fit</a:t>
            </a:r>
          </a:p>
        </p:txBody>
      </p:sp>
      <p:sp>
        <p:nvSpPr>
          <p:cNvPr id="35" name="TextBox 34"/>
          <p:cNvSpPr txBox="1"/>
          <p:nvPr/>
        </p:nvSpPr>
        <p:spPr>
          <a:xfrm>
            <a:off x="7184832" y="2553589"/>
            <a:ext cx="934386" cy="109626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4F57"/>
                </a:solidFill>
                <a:latin typeface="Calibri"/>
              </a:rPr>
              <a:t>Under a training warrant, by devi</a:t>
            </a:r>
          </a:p>
        </p:txBody>
      </p:sp>
      <p:cxnSp>
        <p:nvCxnSpPr>
          <p:cNvPr id="36" name="Connector 35"/>
          <p:cNvCxnSpPr/>
          <p:nvPr/>
        </p:nvCxnSpPr>
        <p:spPr>
          <a:xfrm>
            <a:off x="6773352"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558130"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58130"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41010"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Approve</a:t>
            </a:r>
          </a:p>
        </p:txBody>
      </p:sp>
      <p:sp>
        <p:nvSpPr>
          <p:cNvPr id="40" name="TextBox 39"/>
          <p:cNvSpPr txBox="1"/>
          <p:nvPr/>
        </p:nvSpPr>
        <p:spPr>
          <a:xfrm>
            <a:off x="8741010" y="2553589"/>
            <a:ext cx="934386" cy="1096264"/>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Parameters by mgr; the run is blind-scored</a:t>
            </a:r>
          </a:p>
        </p:txBody>
      </p:sp>
      <p:cxnSp>
        <p:nvCxnSpPr>
          <p:cNvPr id="41" name="Connector 40"/>
          <p:cNvCxnSpPr/>
          <p:nvPr/>
        </p:nvCxnSpPr>
        <p:spPr>
          <a:xfrm>
            <a:off x="8329530"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10114309" y="2040509"/>
            <a:ext cx="1300146" cy="17373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114309" y="2040509"/>
            <a:ext cx="1300146"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7189" y="2205101"/>
            <a:ext cx="934386" cy="658368"/>
          </a:xfrm>
          <a:prstGeom prst="rect">
            <a:avLst/>
          </a:prstGeom>
          <a:noFill/>
        </p:spPr>
        <p:txBody>
          <a:bodyPr wrap="square" lIns="0" rIns="0" tIns="0" bIns="0" anchor="t">
            <a:spAutoFit/>
          </a:bodyPr>
          <a:lstStyle/>
          <a:p>
            <a:pPr algn="l">
              <a:lnSpc>
                <a:spcPct val="112000"/>
              </a:lnSpc>
              <a:spcBef>
                <a:spcPts val="0"/>
              </a:spcBef>
              <a:spcAft>
                <a:spcPts val="0"/>
              </a:spcAft>
            </a:pPr>
            <a:r>
              <a:rPr sz="1600" b="1" i="0">
                <a:solidFill>
                  <a:srgbClr val="1C1C1E"/>
                </a:solidFill>
                <a:latin typeface="Georgia"/>
              </a:rPr>
              <a:t>Seal</a:t>
            </a:r>
          </a:p>
        </p:txBody>
      </p:sp>
      <p:sp>
        <p:nvSpPr>
          <p:cNvPr id="45" name="TextBox 44"/>
          <p:cNvSpPr txBox="1"/>
          <p:nvPr/>
        </p:nvSpPr>
        <p:spPr>
          <a:xfrm>
            <a:off x="10297189" y="2553589"/>
            <a:ext cx="934386" cy="1096264"/>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4F57"/>
                </a:solidFill>
                <a:latin typeface="Calibri"/>
              </a:rPr>
              <a:t>Execution warrant, second approver lara</a:t>
            </a:r>
          </a:p>
        </p:txBody>
      </p:sp>
      <p:cxnSp>
        <p:nvCxnSpPr>
          <p:cNvPr id="46" name="Connector 45"/>
          <p:cNvCxnSpPr/>
          <p:nvPr/>
        </p:nvCxnSpPr>
        <p:spPr>
          <a:xfrm>
            <a:off x="9885709" y="290918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STUDY 11 · WHY IT IS INVISIBLE</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C1C1E"/>
                </a:solidFill>
                <a:latin typeface="Georgia"/>
              </a:rPr>
              <a:t>The wrong loadings span the same space, so the fit absorbs the bug exactly</a:t>
            </a:r>
          </a:p>
        </p:txBody>
      </p:sp>
      <p:sp>
        <p:nvSpPr>
          <p:cNvPr id="6" name="Rectangle 5"/>
          <p:cNvSpPr/>
          <p:nvPr/>
        </p:nvSpPr>
        <p:spPr>
          <a:xfrm>
            <a:off x="777240" y="148386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8 · Fifteen models, carried the whole way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68</a:t>
            </a:r>
          </a:p>
        </p:txBody>
      </p:sp>
      <p:sp>
        <p:nvSpPr>
          <p:cNvPr id="10" name="Rectangle 9"/>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4F57"/>
                </a:solidFill>
                <a:latin typeface="Calibri"/>
              </a:rPr>
              <a:t>This is the clearest argument in the repository for generating the reference implementation from the mathematics rather than reviewing the code by eye.</a:t>
            </a:r>
          </a:p>
        </p:txBody>
      </p:sp>
      <p:sp>
        <p:nvSpPr>
          <p:cNvPr id="12" name="TextBox 11"/>
          <p:cNvSpPr txBox="1"/>
          <p:nvPr/>
        </p:nvSpPr>
        <p:spPr>
          <a:xfrm>
            <a:off x="777240" y="1611884"/>
            <a:ext cx="10637215" cy="4066539"/>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Recalibration hides it completely</a:t>
            </a:r>
          </a:p>
          <a:p>
            <a:pPr lvl="1">
              <a:lnSpc>
                <a:spcPct val="120000"/>
              </a:lnSpc>
              <a:spcBef>
                <a:spcPts val="0"/>
              </a:spcBef>
              <a:spcAft>
                <a:spcPts val="0"/>
              </a:spcAft>
            </a:pPr>
            <a:r>
              <a:rPr sz="1550" b="0">
                <a:solidFill>
                  <a:srgbClr val="4A4F57"/>
                </a:solidFill>
                <a:latin typeface="Calibri"/>
              </a:rPr>
              <a:t>Both wrong loadings are combinations of the same three functions the correct model spans. Least squares against the buggy code lands on exactly the same curve at shifted coordinates, so in-sample error is identical to a millionth of a basis point.</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Every test the desk would write, passes</a:t>
            </a:r>
          </a:p>
          <a:p>
            <a:pPr lvl="1">
              <a:lnSpc>
                <a:spcPct val="120000"/>
              </a:lnSpc>
              <a:spcBef>
                <a:spcPts val="0"/>
              </a:spcBef>
              <a:spcAft>
                <a:spcPts val="0"/>
              </a:spcAft>
            </a:pPr>
            <a:r>
              <a:rPr sz="1550" b="0">
                <a:solidFill>
                  <a:srgbClr val="4A4F57"/>
                </a:solidFill>
                <a:latin typeface="Calibri"/>
              </a:rPr>
              <a:t>Smoke test at λ = 1: passes. Refit and check the residuals: passes. Compare against yesterday's curve: passes. Backtest: passes.</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Only reading the code against the specification finds it</a:t>
            </a:r>
          </a:p>
          <a:p>
            <a:pPr lvl="1">
              <a:lnSpc>
                <a:spcPct val="120000"/>
              </a:lnSpc>
              <a:spcBef>
                <a:spcPts val="0"/>
              </a:spcBef>
              <a:spcAft>
                <a:spcPts val="0"/>
              </a:spcAft>
            </a:pPr>
            <a:r>
              <a:rPr sz="1550" b="0">
                <a:solidFill>
                  <a:srgbClr val="4A4F57"/>
                </a:solidFill>
                <a:latin typeface="Calibri"/>
              </a:rPr>
              <a:t>Which is what a differential test is — and it finds it only when it is run at values the developer did not choose. On the validation pillars, scored blind with the approved parameters, the buggy code is out by 54 basis points against the 18 it reports in sample.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E8B8C0"/>
                </a:solidFill>
                <a:latin typeface="Calibri"/>
              </a:rPr>
              <a:t>PART 9</a:t>
            </a:r>
          </a:p>
        </p:txBody>
      </p:sp>
      <p:sp>
        <p:nvSpPr>
          <p:cNvPr id="5" name="TextBox 4"/>
          <p:cNvSpPr txBox="1"/>
          <p:nvPr/>
        </p:nvSpPr>
        <p:spPr>
          <a:xfrm>
            <a:off x="1005840" y="2286000"/>
            <a:ext cx="6169584" cy="914400"/>
          </a:xfrm>
          <a:prstGeom prst="rect">
            <a:avLst/>
          </a:prstGeom>
          <a:noFill/>
        </p:spPr>
        <p:txBody>
          <a:bodyPr wrap="square" lIns="0" rIns="0" tIns="0" bIns="0" anchor="t">
            <a:spAutoFit/>
          </a:bodyPr>
          <a:lstStyle/>
          <a:p>
            <a:pPr algn="l">
              <a:lnSpc>
                <a:spcPct val="120000"/>
              </a:lnSpc>
              <a:spcBef>
                <a:spcPts val="0"/>
              </a:spcBef>
              <a:spcAft>
                <a:spcPts val="0"/>
              </a:spcAft>
            </a:pPr>
            <a:r>
              <a:rPr sz="2600" b="0" i="0">
                <a:solidFill>
                  <a:srgbClr val="FFFFFF"/>
                </a:solidFill>
                <a:latin typeface="Georgia"/>
              </a:rPr>
              <a:t>What is measured, and what MAYA does not do</a:t>
            </a:r>
          </a:p>
        </p:txBody>
      </p:sp>
      <p:sp>
        <p:nvSpPr>
          <p:cNvPr id="6" name="Rectangle 5"/>
          <p:cNvSpPr/>
          <p:nvPr/>
        </p:nvSpPr>
        <p:spPr>
          <a:xfrm>
            <a:off x="1005840" y="338328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11880"/>
            <a:ext cx="6169584" cy="173736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Calibri"/>
              </a:rPr>
              <a:t>The numbers a reviewer can check, the limits stated as decisions rather than left to be discovered, and where to start.</a:t>
            </a:r>
          </a:p>
        </p:txBody>
      </p:sp>
      <p:sp>
        <p:nvSpPr>
          <p:cNvPr id="8" name="TextBox 7"/>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E8B8C0"/>
                </a:solidFill>
                <a:latin typeface="Calibri"/>
              </a:rPr>
              <a:t>IN THIS PART</a:t>
            </a:r>
          </a:p>
        </p:txBody>
      </p:sp>
      <p:sp>
        <p:nvSpPr>
          <p:cNvPr id="9" name="TextBox 8"/>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00" b="0" i="0">
                <a:solidFill>
                  <a:srgbClr val="F6E6E9"/>
                </a:solidFill>
                <a:latin typeface="Calibri"/>
              </a:rPr>
              <a:t>What is measured</a:t>
            </a:r>
          </a:p>
          <a:p>
            <a:pPr>
              <a:lnSpc>
                <a:spcPct val="115000"/>
              </a:lnSpc>
              <a:spcBef>
                <a:spcPts val="0"/>
              </a:spcBef>
              <a:spcAft>
                <a:spcPts val="600"/>
              </a:spcAft>
            </a:pPr>
            <a:r>
              <a:rPr sz="1200" b="0" i="0">
                <a:solidFill>
                  <a:srgbClr val="F6E6E9"/>
                </a:solidFill>
                <a:latin typeface="Calibri"/>
              </a:rPr>
              <a:t>What MAYA does not do</a:t>
            </a:r>
          </a:p>
          <a:p>
            <a:pPr>
              <a:lnSpc>
                <a:spcPct val="115000"/>
              </a:lnSpc>
              <a:spcBef>
                <a:spcPts val="0"/>
              </a:spcBef>
              <a:spcAft>
                <a:spcPts val="600"/>
              </a:spcAft>
            </a:pPr>
            <a:r>
              <a:rPr sz="1200" b="0" i="0">
                <a:solidFill>
                  <a:srgbClr val="F6E6E9"/>
                </a:solidFill>
                <a:latin typeface="Calibri"/>
              </a:rPr>
              <a:t>Where to start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MEASURED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Version 1.0.0, and the evidence for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9 · What is measured, and what MAYA does not do</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70</a:t>
            </a:r>
          </a:p>
        </p:txBody>
      </p:sp>
      <p:sp>
        <p:nvSpPr>
          <p:cNvPr id="10" name="Rectangle 9"/>
          <p:cNvSpPr/>
          <p:nvPr/>
        </p:nvSpPr>
        <p:spPr>
          <a:xfrm>
            <a:off x="777240"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2,109</a:t>
            </a:r>
          </a:p>
        </p:txBody>
      </p:sp>
      <p:sp>
        <p:nvSpPr>
          <p:cNvPr id="13" name="TextBox 12"/>
          <p:cNvSpPr txBox="1"/>
          <p:nvPr/>
        </p:nvSpPr>
        <p:spPr>
          <a:xfrm>
            <a:off x="978408"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4A4F57"/>
                </a:solidFill>
                <a:latin typeface="Calibri"/>
              </a:rPr>
              <a:t>tests: 2,084 pass on SQLite and 25 are skipped by design (Keycloak, PostgreSQL-only, opt-in)</a:t>
            </a:r>
          </a:p>
        </p:txBody>
      </p:sp>
      <p:sp>
        <p:nvSpPr>
          <p:cNvPr id="14" name="Rectangle 13"/>
          <p:cNvSpPr/>
          <p:nvPr/>
        </p:nvSpPr>
        <p:spPr>
          <a:xfrm>
            <a:off x="3486835"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18</a:t>
            </a:r>
          </a:p>
        </p:txBody>
      </p:sp>
      <p:sp>
        <p:nvSpPr>
          <p:cNvPr id="17" name="TextBox 16"/>
          <p:cNvSpPr txBox="1"/>
          <p:nvPr/>
        </p:nvSpPr>
        <p:spPr>
          <a:xfrm>
            <a:off x="3688003"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4A4F57"/>
                </a:solidFill>
                <a:latin typeface="Calibri"/>
              </a:rPr>
              <a:t>gates that fail the build: typing, boundaries, parity, contrast, the API snapshot, security</a:t>
            </a:r>
          </a:p>
        </p:txBody>
      </p:sp>
      <p:sp>
        <p:nvSpPr>
          <p:cNvPr id="18" name="Rectangle 17"/>
          <p:cNvSpPr/>
          <p:nvPr/>
        </p:nvSpPr>
        <p:spPr>
          <a:xfrm>
            <a:off x="6196431"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252</a:t>
            </a:r>
          </a:p>
        </p:txBody>
      </p:sp>
      <p:sp>
        <p:nvSpPr>
          <p:cNvPr id="21" name="TextBox 20"/>
          <p:cNvSpPr txBox="1"/>
          <p:nvPr/>
        </p:nvSpPr>
        <p:spPr>
          <a:xfrm>
            <a:off x="6397599"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4F57"/>
                </a:solidFill>
                <a:latin typeface="Calibri"/>
              </a:rPr>
              <a:t>API endpoints, each with an SDK method and a way to reach it from the UI</a:t>
            </a:r>
          </a:p>
        </p:txBody>
      </p:sp>
      <p:sp>
        <p:nvSpPr>
          <p:cNvPr id="22" name="Rectangle 21"/>
          <p:cNvSpPr/>
          <p:nvPr/>
        </p:nvSpPr>
        <p:spPr>
          <a:xfrm>
            <a:off x="8906027" y="1386967"/>
            <a:ext cx="2508427"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38696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14983"/>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15</a:t>
            </a:r>
          </a:p>
        </p:txBody>
      </p:sp>
      <p:sp>
        <p:nvSpPr>
          <p:cNvPr id="25" name="TextBox 24"/>
          <p:cNvSpPr txBox="1"/>
          <p:nvPr/>
        </p:nvSpPr>
        <p:spPr>
          <a:xfrm>
            <a:off x="9107195" y="1990471"/>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4F57"/>
                </a:solidFill>
                <a:latin typeface="Calibri"/>
              </a:rPr>
              <a:t>case studies, each run from nothing by the suite</a:t>
            </a:r>
          </a:p>
        </p:txBody>
      </p:sp>
      <p:sp>
        <p:nvSpPr>
          <p:cNvPr id="26" name="TextBox 25"/>
          <p:cNvSpPr txBox="1"/>
          <p:nvPr/>
        </p:nvSpPr>
        <p:spPr>
          <a:xfrm>
            <a:off x="777240" y="2740279"/>
            <a:ext cx="10637215" cy="3505073"/>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C1C1E"/>
                </a:solidFill>
                <a:latin typeface="Calibri"/>
              </a:rPr>
              <a:t>Every example in the API guide and every step of the quick start was executed against a fresh install before it was written down.</a:t>
            </a:r>
          </a:p>
          <a:p>
            <a:pPr>
              <a:lnSpc>
                <a:spcPct val="120000"/>
              </a:lnSpc>
              <a:spcBef>
                <a:spcPts val="600"/>
              </a:spcBef>
              <a:spcAft>
                <a:spcPts val="0"/>
              </a:spcAft>
            </a:pPr>
            <a:r>
              <a:rPr sz="1600" b="1">
                <a:solidFill>
                  <a:srgbClr val="A51C30"/>
                </a:solidFill>
                <a:latin typeface="Calibri"/>
              </a:rPr>
              <a:t>▪  </a:t>
            </a:r>
            <a:r>
              <a:rPr sz="1600" b="0">
                <a:solidFill>
                  <a:srgbClr val="1C1C1E"/>
                </a:solidFill>
                <a:latin typeface="Calibri"/>
              </a:rPr>
              <a:t>Benchmarks, the capacity targets and their measurement machine are in docs/BENCHMARKS.md; the one target not met reliably on a shared workstation, 200 users on one node, is stated there.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LIMITS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What MAYA does not do, stated rather than discovered</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9 · What is measured, and what MAYA does not do</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71</a:t>
            </a:r>
          </a:p>
        </p:txBody>
      </p:sp>
      <p:graphicFrame>
        <p:nvGraphicFramePr>
          <p:cNvPr id="10" name="Table 9"/>
          <p:cNvGraphicFramePr>
            <a:graphicFrameLocks noGrp="1"/>
          </p:cNvGraphicFramePr>
          <p:nvPr/>
        </p:nvGraphicFramePr>
        <p:xfrm>
          <a:off x="777240" y="1386967"/>
          <a:ext cx="10637214" cy="3341306"/>
        </p:xfrm>
        <a:graphic>
          <a:graphicData uri="http://schemas.openxmlformats.org/drawingml/2006/table">
            <a:tbl>
              <a:tblPr firstRow="1">
                <a:tableStyleId>{5C22544A-7EE6-4342-B048-85BDC9FD1C3A}</a:tableStyleId>
              </a:tblPr>
              <a:tblGrid>
                <a:gridCol w="5318607"/>
                <a:gridCol w="5318607"/>
              </a:tblGrid>
              <a:tr h="318579">
                <a:tc>
                  <a:txBody>
                    <a:bodyPr wrap="square"/>
                    <a:lstStyle/>
                    <a:p>
                      <a:r>
                        <a:rPr sz="1300" b="1">
                          <a:solidFill>
                            <a:srgbClr val="FFFFFF"/>
                          </a:solidFill>
                          <a:latin typeface="Calibri"/>
                        </a:rPr>
                        <a:t>Limit</a:t>
                      </a:r>
                    </a:p>
                  </a:txBody>
                  <a:tcPr marL="82296" marR="64008" marT="32004" marB="32004" anchor="ctr">
                    <a:solidFill>
                      <a:srgbClr val="A51C30"/>
                    </a:solidFill>
                  </a:tcPr>
                </a:tc>
                <a:tc>
                  <a:txBody>
                    <a:bodyPr wrap="square"/>
                    <a:lstStyle/>
                    <a:p>
                      <a:r>
                        <a:rPr sz="1300" b="1">
                          <a:solidFill>
                            <a:srgbClr val="FFFFFF"/>
                          </a:solidFill>
                          <a:latin typeface="Calibri"/>
                        </a:rPr>
                        <a:t>Why, and what it costs</a:t>
                      </a:r>
                    </a:p>
                  </a:txBody>
                  <a:tcPr marL="82296" marR="64008" marT="32004" marB="32004" anchor="ctr">
                    <a:solidFill>
                      <a:srgbClr val="A51C30"/>
                    </a:solidFill>
                  </a:tcPr>
                </a:tc>
              </a:tr>
              <a:tr h="559562">
                <a:tc>
                  <a:txBody>
                    <a:bodyPr wrap="square"/>
                    <a:lstStyle/>
                    <a:p>
                      <a:r>
                        <a:rPr sz="1400" b="1">
                          <a:solidFill>
                            <a:srgbClr val="761422"/>
                          </a:solidFill>
                          <a:latin typeface="Calibri"/>
                        </a:rPr>
                        <a:t>It trains and serves nothing itself</a:t>
                      </a:r>
                    </a:p>
                  </a:txBody>
                  <a:tcPr marL="82296" marR="64008" marT="32004" marB="32004" anchor="ctr">
                    <a:solidFill>
                      <a:srgbClr val="FFFFFF"/>
                    </a:solidFill>
                  </a:tcPr>
                </a:tc>
                <a:tc>
                  <a:txBody>
                    <a:bodyPr wrap="square"/>
                    <a:lstStyle/>
                    <a:p>
                      <a:r>
                        <a:rPr sz="1400" b="0">
                          <a:solidFill>
                            <a:srgbClr val="1C1C1E"/>
                          </a:solidFill>
                          <a:latin typeface="Calibri"/>
                        </a:rPr>
                        <a:t>By design: it licenses what an ML platform does, and batch-scores only what it can attest</a:t>
                      </a:r>
                    </a:p>
                  </a:txBody>
                  <a:tcPr marL="82296" marR="64008" marT="32004" marB="32004" anchor="ctr">
                    <a:solidFill>
                      <a:srgbClr val="FFFFFF"/>
                    </a:solidFill>
                  </a:tcPr>
                </a:tc>
              </a:tr>
              <a:tr h="784479">
                <a:tc>
                  <a:txBody>
                    <a:bodyPr wrap="square"/>
                    <a:lstStyle/>
                    <a:p>
                      <a:r>
                        <a:rPr sz="1400" b="1">
                          <a:solidFill>
                            <a:srgbClr val="761422"/>
                          </a:solidFill>
                          <a:latin typeface="Calibri"/>
                        </a:rPr>
                        <a:t>Linux is what is tested</a:t>
                      </a:r>
                    </a:p>
                  </a:txBody>
                  <a:tcPr marL="82296" marR="64008" marT="32004" marB="32004" anchor="ctr">
                    <a:solidFill>
                      <a:srgbClr val="F6F3EF"/>
                    </a:solidFill>
                  </a:tcPr>
                </a:tc>
                <a:tc>
                  <a:txBody>
                    <a:bodyPr wrap="square"/>
                    <a:lstStyle/>
                    <a:p>
                      <a:r>
                        <a:rPr sz="1400" b="0">
                          <a:solidFill>
                            <a:srgbClr val="1C1C1E"/>
                          </a:solidFill>
                          <a:latin typeface="Calibri"/>
                        </a:rPr>
                        <a:t>The case studies have run on Windows, but it is outside the test matrix and its sandbox has no OS isolation</a:t>
                      </a:r>
                    </a:p>
                  </a:txBody>
                  <a:tcPr marL="82296" marR="64008" marT="32004" marB="32004" anchor="ctr">
                    <a:solidFill>
                      <a:srgbClr val="F6F3EF"/>
                    </a:solidFill>
                  </a:tcPr>
                </a:tc>
              </a:tr>
              <a:tr h="559562">
                <a:tc>
                  <a:txBody>
                    <a:bodyPr wrap="square"/>
                    <a:lstStyle/>
                    <a:p>
                      <a:r>
                        <a:rPr sz="1400" b="1">
                          <a:solidFill>
                            <a:srgbClr val="761422"/>
                          </a:solidFill>
                          <a:latin typeface="Calibri"/>
                        </a:rPr>
                        <a:t>Connectors not met live</a:t>
                      </a:r>
                    </a:p>
                  </a:txBody>
                  <a:tcPr marL="82296" marR="64008" marT="32004" marB="32004" anchor="ctr">
                    <a:solidFill>
                      <a:srgbClr val="FFFFFF"/>
                    </a:solidFill>
                  </a:tcPr>
                </a:tc>
                <a:tc>
                  <a:txBody>
                    <a:bodyPr wrap="square"/>
                    <a:lstStyle/>
                    <a:p>
                      <a:r>
                        <a:rPr sz="1400" b="0">
                          <a:solidFill>
                            <a:srgbClr val="1C1C1E"/>
                          </a:solidFill>
                          <a:latin typeface="Calibri"/>
                        </a:rPr>
                        <a:t>MLflow, SageMaker, OpenLineage, Snowflake, Databricks tested against published documents only</a:t>
                      </a:r>
                    </a:p>
                  </a:txBody>
                  <a:tcPr marL="82296" marR="64008" marT="32004" marB="32004" anchor="ctr">
                    <a:solidFill>
                      <a:srgbClr val="FFFFFF"/>
                    </a:solidFill>
                  </a:tcPr>
                </a:tc>
              </a:tr>
              <a:tr h="559562">
                <a:tc>
                  <a:txBody>
                    <a:bodyPr wrap="square"/>
                    <a:lstStyle/>
                    <a:p>
                      <a:r>
                        <a:rPr sz="1400" b="1">
                          <a:solidFill>
                            <a:srgbClr val="761422"/>
                          </a:solidFill>
                          <a:latin typeface="Calibri"/>
                        </a:rPr>
                        <a:t>Live LLM runs, stubbed</a:t>
                      </a:r>
                    </a:p>
                  </a:txBody>
                  <a:tcPr marL="82296" marR="64008" marT="32004" marB="32004" anchor="ctr">
                    <a:solidFill>
                      <a:srgbClr val="F6F3EF"/>
                    </a:solidFill>
                  </a:tcPr>
                </a:tc>
                <a:tc>
                  <a:txBody>
                    <a:bodyPr wrap="square"/>
                    <a:lstStyle/>
                    <a:p>
                      <a:r>
                        <a:rPr sz="1400" b="0">
                          <a:solidFill>
                            <a:srgbClr val="1C1C1E"/>
                          </a:solidFill>
                          <a:latin typeface="Calibri"/>
                        </a:rPr>
                        <a:t>MAYA's own calls to a provider are tested against a stub; recorded runs are unaffected</a:t>
                      </a:r>
                    </a:p>
                  </a:txBody>
                  <a:tcPr marL="82296" marR="64008" marT="32004" marB="32004" anchor="ctr">
                    <a:solidFill>
                      <a:srgbClr val="F6F3EF"/>
                    </a:solidFill>
                  </a:tcPr>
                </a:tc>
              </a:tr>
              <a:tr h="559562">
                <a:tc>
                  <a:txBody>
                    <a:bodyPr wrap="square"/>
                    <a:lstStyle/>
                    <a:p>
                      <a:r>
                        <a:rPr sz="1400" b="1">
                          <a:solidFill>
                            <a:srgbClr val="761422"/>
                          </a:solidFill>
                          <a:latin typeface="Calibri"/>
                        </a:rPr>
                        <a:t>Not yet deployed at a supervised firm</a:t>
                      </a:r>
                    </a:p>
                  </a:txBody>
                  <a:tcPr marL="82296" marR="64008" marT="32004" marB="32004" anchor="ctr">
                    <a:solidFill>
                      <a:srgbClr val="FFFFFF"/>
                    </a:solidFill>
                  </a:tcPr>
                </a:tc>
                <a:tc>
                  <a:txBody>
                    <a:bodyPr wrap="square"/>
                    <a:lstStyle/>
                    <a:p>
                      <a:r>
                        <a:rPr sz="1400" b="0">
                          <a:solidFill>
                            <a:srgbClr val="1C1C1E"/>
                          </a:solidFill>
                          <a:latin typeface="Calibri"/>
                        </a:rPr>
                        <a:t>No external security review; one author's work, open for inspection</a:t>
                      </a:r>
                    </a:p>
                  </a:txBody>
                  <a:tcPr marL="82296" marR="64008" marT="32004" marB="32004" anchor="ctr">
                    <a:solidFill>
                      <a:srgbClr val="FFFF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TO START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C1C1E"/>
                </a:solidFill>
                <a:latin typeface="Georgia"/>
              </a:rPr>
              <a:t>Fifteen minutes to a running MAYA with a model in it</a:t>
            </a:r>
          </a:p>
        </p:txBody>
      </p:sp>
      <p:sp>
        <p:nvSpPr>
          <p:cNvPr id="6" name="Rectangle 5"/>
          <p:cNvSpPr/>
          <p:nvPr/>
        </p:nvSpPr>
        <p:spPr>
          <a:xfrm>
            <a:off x="777240" y="1258951"/>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7A7F87"/>
                </a:solidFill>
                <a:latin typeface="Calibri"/>
              </a:rPr>
              <a:t>9 · What is measured, and what MAYA does not do</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7A7F87"/>
                </a:solidFill>
                <a:latin typeface="Calibri"/>
              </a:rPr>
              <a:t>72</a:t>
            </a:r>
          </a:p>
        </p:txBody>
      </p:sp>
      <p:sp>
        <p:nvSpPr>
          <p:cNvPr id="10" name="TextBox 9"/>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C1C1E"/>
                </a:solidFill>
                <a:latin typeface="Calibri"/>
              </a:rPr>
              <a:t>Three commands on a Linux machine with Python 3.13, then a case study to fill it.</a:t>
            </a:r>
          </a:p>
        </p:txBody>
      </p:sp>
      <p:sp>
        <p:nvSpPr>
          <p:cNvPr id="11" name="TextBox 10"/>
          <p:cNvSpPr txBox="1"/>
          <p:nvPr/>
        </p:nvSpPr>
        <p:spPr>
          <a:xfrm>
            <a:off x="777240" y="1796034"/>
            <a:ext cx="10637215" cy="4449317"/>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C1C1E"/>
                </a:solidFill>
                <a:latin typeface="Calibri"/>
              </a:rPr>
              <a:t>docs/QUICKSTART.md</a:t>
            </a:r>
          </a:p>
          <a:p>
            <a:pPr lvl="1">
              <a:lnSpc>
                <a:spcPct val="120000"/>
              </a:lnSpc>
              <a:spcBef>
                <a:spcPts val="0"/>
              </a:spcBef>
              <a:spcAft>
                <a:spcPts val="0"/>
              </a:spcAft>
            </a:pPr>
            <a:r>
              <a:rPr sz="1550" b="0">
                <a:solidFill>
                  <a:srgbClr val="4A4F57"/>
                </a:solidFill>
                <a:latin typeface="Calibri"/>
              </a:rPr>
              <a:t>Nine steps, each saying what you should see and what to do if you do not; followed literally on a fresh clone.</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case_studies/</a:t>
            </a:r>
          </a:p>
          <a:p>
            <a:pPr lvl="1">
              <a:lnSpc>
                <a:spcPct val="120000"/>
              </a:lnSpc>
              <a:spcBef>
                <a:spcPts val="0"/>
              </a:spcBef>
              <a:spcAft>
                <a:spcPts val="0"/>
              </a:spcAft>
            </a:pPr>
            <a:r>
              <a:rPr sz="1550" b="0">
                <a:solidFill>
                  <a:srgbClr val="4A4F57"/>
                </a:solidFill>
                <a:latin typeface="Calibri"/>
              </a:rPr>
              <a:t>Fifteen worked models; any one runs in well under a minute and fills the catalog.</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docs/API_GUIDE.md</a:t>
            </a:r>
          </a:p>
          <a:p>
            <a:pPr lvl="1">
              <a:lnSpc>
                <a:spcPct val="120000"/>
              </a:lnSpc>
              <a:spcBef>
                <a:spcPts val="0"/>
              </a:spcBef>
              <a:spcAft>
                <a:spcPts val="0"/>
              </a:spcAft>
            </a:pPr>
            <a:r>
              <a:rPr sz="1550" b="0">
                <a:solidFill>
                  <a:srgbClr val="4A4F57"/>
                </a:solidFill>
                <a:latin typeface="Calibri"/>
              </a:rPr>
              <a:t>The REST API from first curl to a sealed execution warrant, every example executed by the tests.</a:t>
            </a:r>
          </a:p>
          <a:p>
            <a:pPr>
              <a:lnSpc>
                <a:spcPct val="120000"/>
              </a:lnSpc>
              <a:spcBef>
                <a:spcPts val="500"/>
              </a:spcBef>
              <a:spcAft>
                <a:spcPts val="100"/>
              </a:spcAft>
            </a:pPr>
            <a:r>
              <a:rPr sz="1700" b="1">
                <a:solidFill>
                  <a:srgbClr val="A51C30"/>
                </a:solidFill>
                <a:latin typeface="Calibri"/>
              </a:rPr>
              <a:t>▪  </a:t>
            </a:r>
            <a:r>
              <a:rPr sz="1700" b="1">
                <a:solidFill>
                  <a:srgbClr val="1C1C1E"/>
                </a:solidFill>
                <a:latin typeface="Calibri"/>
              </a:rPr>
              <a:t>docs/research/</a:t>
            </a:r>
          </a:p>
          <a:p>
            <a:pPr lvl="1">
              <a:lnSpc>
                <a:spcPct val="120000"/>
              </a:lnSpc>
              <a:spcBef>
                <a:spcPts val="0"/>
              </a:spcBef>
              <a:spcAft>
                <a:spcPts val="0"/>
              </a:spcAft>
            </a:pPr>
            <a:r>
              <a:rPr sz="1550" b="0">
                <a:solidFill>
                  <a:srgbClr val="4A4F57"/>
                </a:solidFill>
                <a:latin typeface="Calibri"/>
              </a:rPr>
              <a:t>The research paper: the formal account, with the proofs this deck points 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MAYA — Model Management Formalism and System Design</dc:title>
  <dc:subject>Why model governance fails, what MAYA does about it, and the evidence</dc:subject>
  <dc:creator>Ashutosh Sinha</dc:creator>
  <cp:keywords>MAYA; model risk; governance</cp:keywords>
  <dc:description>Copyright (c) 2026 Ashutosh Sinha. All rights reserved.</dc:description>
  <cp:lastModifiedBy>Ashutosh Sinha</cp:lastModifiedBy>
  <cp:revision>1</cp:revision>
  <dcterms:created xsi:type="dcterms:W3CDTF">2026-09-19T12:00:00Z</dcterms:created>
  <dcterms:modified xsi:type="dcterms:W3CDTF">2026-09-19T12:00:00Z</dcterms:modified>
  <cp:category/>
</cp:coreProperties>
</file>