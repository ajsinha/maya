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9319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12191695" cy="54864"/>
          </a:xfrm>
          <a:prstGeom prst="rect">
            <a:avLst/>
          </a:prstGeom>
          <a:solidFill>
            <a:srgbClr val="B8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393192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822960"/>
            <a:ext cx="10637215" cy="310896"/>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E8B8C0"/>
                </a:solidFill>
                <a:latin typeface="Calibri"/>
              </a:rPr>
              <a:t>CONCEPTS, MATHEMATICS AND FORMALISM  ·  AN ORDER, AN OPERATOR AND A POLYNOMIAL</a:t>
            </a:r>
          </a:p>
        </p:txBody>
      </p:sp>
      <p:sp>
        <p:nvSpPr>
          <p:cNvPr id="7" name="TextBox 6"/>
          <p:cNvSpPr txBox="1"/>
          <p:nvPr/>
        </p:nvSpPr>
        <p:spPr>
          <a:xfrm>
            <a:off x="1051560" y="1280160"/>
            <a:ext cx="9573493" cy="1600200"/>
          </a:xfrm>
          <a:prstGeom prst="rect">
            <a:avLst/>
          </a:prstGeom>
          <a:noFill/>
        </p:spPr>
        <p:txBody>
          <a:bodyPr wrap="square" lIns="0" rIns="0" tIns="0" bIns="0" anchor="t">
            <a:spAutoFit/>
          </a:bodyPr>
          <a:lstStyle/>
          <a:p>
            <a:pPr algn="l">
              <a:lnSpc>
                <a:spcPct val="110000"/>
              </a:lnSpc>
              <a:spcBef>
                <a:spcPts val="0"/>
              </a:spcBef>
              <a:spcAft>
                <a:spcPts val="0"/>
              </a:spcAft>
            </a:pPr>
            <a:r>
              <a:rPr sz="3800" b="0" i="0">
                <a:solidFill>
                  <a:srgbClr val="FFFFFF"/>
                </a:solidFill>
                <a:latin typeface="Georgia"/>
              </a:rPr>
              <a:t>Four facts nobody</a:t>
            </a:r>
          </a:p>
          <a:p>
            <a:pPr>
              <a:lnSpc>
                <a:spcPct val="110000"/>
              </a:lnSpc>
              <a:spcBef>
                <a:spcPts val="0"/>
              </a:spcBef>
              <a:spcAft>
                <a:spcPts val="0"/>
              </a:spcAft>
            </a:pPr>
            <a:r>
              <a:rPr sz="3800" b="0" i="0">
                <a:solidFill>
                  <a:srgbClr val="FFFFFF"/>
                </a:solidFill>
                <a:latin typeface="Georgia"/>
              </a:rPr>
              <a:t>should have to declare</a:t>
            </a:r>
          </a:p>
        </p:txBody>
      </p:sp>
      <p:sp>
        <p:nvSpPr>
          <p:cNvPr id="8" name="Rectangle 7"/>
          <p:cNvSpPr/>
          <p:nvPr/>
        </p:nvSpPr>
        <p:spPr>
          <a:xfrm>
            <a:off x="1051560" y="297180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54680"/>
            <a:ext cx="9041632" cy="640080"/>
          </a:xfrm>
          <a:prstGeom prst="rect">
            <a:avLst/>
          </a:prstGeom>
          <a:noFill/>
        </p:spPr>
        <p:txBody>
          <a:bodyPr wrap="square" lIns="0" rIns="0" tIns="0" bIns="0" anchor="t">
            <a:spAutoFit/>
          </a:bodyPr>
          <a:lstStyle/>
          <a:p>
            <a:pPr algn="l">
              <a:lnSpc>
                <a:spcPct val="120000"/>
              </a:lnSpc>
              <a:spcBef>
                <a:spcPts val="0"/>
              </a:spcBef>
              <a:spcAft>
                <a:spcPts val="0"/>
              </a:spcAft>
            </a:pPr>
            <a:r>
              <a:rPr sz="1500" b="0" i="1">
                <a:solidFill>
                  <a:srgbClr val="F6E6E9"/>
                </a:solidFill>
                <a:latin typeface="Calibri"/>
              </a:rPr>
              <a:t>The mathematics MAYA is shaped by, and the two results that bound it.</a:t>
            </a:r>
          </a:p>
        </p:txBody>
      </p:sp>
      <p:sp>
        <p:nvSpPr>
          <p:cNvPr id="10" name="TextBox 9"/>
          <p:cNvSpPr txBox="1"/>
          <p:nvPr/>
        </p:nvSpPr>
        <p:spPr>
          <a:xfrm>
            <a:off x="1051560" y="4343400"/>
            <a:ext cx="5318607" cy="1097280"/>
          </a:xfrm>
          <a:prstGeom prst="rect">
            <a:avLst/>
          </a:prstGeom>
          <a:noFill/>
        </p:spPr>
        <p:txBody>
          <a:bodyPr wrap="square" lIns="0" rIns="0" tIns="0" bIns="0" anchor="t">
            <a:spAutoFit/>
          </a:bodyPr>
          <a:lstStyle/>
          <a:p>
            <a:pPr algn="l">
              <a:lnSpc>
                <a:spcPct val="120000"/>
              </a:lnSpc>
              <a:spcBef>
                <a:spcPts val="0"/>
              </a:spcBef>
              <a:spcAft>
                <a:spcPts val="300"/>
              </a:spcAft>
            </a:pPr>
            <a:r>
              <a:rPr sz="2000" b="1" i="0">
                <a:solidFill>
                  <a:srgbClr val="1C1C1E"/>
                </a:solidFill>
                <a:latin typeface="Georgia"/>
              </a:rPr>
              <a:t>Ashutosh Sinha</a:t>
            </a:r>
          </a:p>
          <a:p>
            <a:pPr>
              <a:lnSpc>
                <a:spcPct val="120000"/>
              </a:lnSpc>
              <a:spcBef>
                <a:spcPts val="0"/>
              </a:spcBef>
              <a:spcAft>
                <a:spcPts val="100"/>
              </a:spcAft>
            </a:pPr>
            <a:r>
              <a:rPr sz="1200" b="0" i="0">
                <a:solidFill>
                  <a:srgbClr val="A51C30"/>
                </a:solidFill>
                <a:latin typeface="Calibri"/>
              </a:rPr>
              <a:t>September 2026</a:t>
            </a:r>
          </a:p>
          <a:p>
            <a:pPr>
              <a:lnSpc>
                <a:spcPct val="120000"/>
              </a:lnSpc>
              <a:spcBef>
                <a:spcPts val="0"/>
              </a:spcBef>
              <a:spcAft>
                <a:spcPts val="0"/>
              </a:spcAft>
            </a:pPr>
            <a:r>
              <a:rPr sz="1100" b="0" i="0">
                <a:solidFill>
                  <a:srgbClr val="4A4F57"/>
                </a:solidFill>
                <a:latin typeface="Calibri"/>
              </a:rPr>
              <a:t>MAYA 0.3.0 · specification revision 2.3</a:t>
            </a:r>
          </a:p>
        </p:txBody>
      </p:sp>
      <p:sp>
        <p:nvSpPr>
          <p:cNvPr id="11" name="TextBox 10"/>
          <p:cNvSpPr txBox="1"/>
          <p:nvPr/>
        </p:nvSpPr>
        <p:spPr>
          <a:xfrm>
            <a:off x="6734080" y="4297680"/>
            <a:ext cx="4680374" cy="2011680"/>
          </a:xfrm>
          <a:prstGeom prst="rect">
            <a:avLst/>
          </a:prstGeom>
          <a:noFill/>
        </p:spPr>
        <p:txBody>
          <a:bodyPr wrap="square" lIns="0" rIns="0" tIns="0" bIns="0" anchor="t">
            <a:spAutoFit/>
          </a:bodyPr>
          <a:lstStyle/>
          <a:p>
            <a:pPr algn="l">
              <a:lnSpc>
                <a:spcPct val="120000"/>
              </a:lnSpc>
              <a:spcBef>
                <a:spcPts val="0"/>
              </a:spcBef>
              <a:spcAft>
                <a:spcPts val="600"/>
              </a:spcAft>
            </a:pPr>
            <a:r>
              <a:rPr sz="950" b="1" i="0">
                <a:solidFill>
                  <a:srgbClr val="A51C30"/>
                </a:solidFill>
                <a:latin typeface="Calibri"/>
              </a:rPr>
              <a:t>IN THIS DECK</a:t>
            </a:r>
          </a:p>
          <a:p>
            <a:pPr>
              <a:lnSpc>
                <a:spcPct val="120000"/>
              </a:lnSpc>
              <a:spcBef>
                <a:spcPts val="0"/>
              </a:spcBef>
              <a:spcAft>
                <a:spcPts val="300"/>
              </a:spcAft>
            </a:pPr>
            <a:r>
              <a:rPr sz="1200" b="1">
                <a:solidFill>
                  <a:srgbClr val="A51C30"/>
                </a:solidFill>
                <a:latin typeface="Calibri"/>
              </a:rPr>
              <a:t>1   </a:t>
            </a:r>
            <a:r>
              <a:rPr sz="1200" b="0">
                <a:solidFill>
                  <a:srgbClr val="4A4F57"/>
                </a:solidFill>
                <a:latin typeface="Calibri"/>
              </a:rPr>
              <a:t>A model, and its dials</a:t>
            </a:r>
          </a:p>
          <a:p>
            <a:pPr>
              <a:lnSpc>
                <a:spcPct val="120000"/>
              </a:lnSpc>
              <a:spcBef>
                <a:spcPts val="0"/>
              </a:spcBef>
              <a:spcAft>
                <a:spcPts val="300"/>
              </a:spcAft>
            </a:pPr>
            <a:r>
              <a:rPr sz="1200" b="1">
                <a:solidFill>
                  <a:srgbClr val="A51C30"/>
                </a:solidFill>
                <a:latin typeface="Calibri"/>
              </a:rPr>
              <a:t>2   </a:t>
            </a:r>
            <a:r>
              <a:rPr sz="1200" b="0">
                <a:solidFill>
                  <a:srgbClr val="4A4F57"/>
                </a:solidFill>
                <a:latin typeface="Calibri"/>
              </a:rPr>
              <a:t>One order: can this stand in for that?</a:t>
            </a:r>
          </a:p>
          <a:p>
            <a:pPr>
              <a:lnSpc>
                <a:spcPct val="120000"/>
              </a:lnSpc>
              <a:spcBef>
                <a:spcPts val="0"/>
              </a:spcBef>
              <a:spcAft>
                <a:spcPts val="300"/>
              </a:spcAft>
            </a:pPr>
            <a:r>
              <a:rPr sz="1200" b="1">
                <a:solidFill>
                  <a:srgbClr val="A51C30"/>
                </a:solidFill>
                <a:latin typeface="Calibri"/>
              </a:rPr>
              <a:t>3   </a:t>
            </a:r>
            <a:r>
              <a:rPr sz="1200" b="0">
                <a:solidFill>
                  <a:srgbClr val="4A4F57"/>
                </a:solidFill>
                <a:latin typeface="Calibri"/>
              </a:rPr>
              <a:t>Composition, and the risk that does not compose</a:t>
            </a:r>
          </a:p>
          <a:p>
            <a:pPr>
              <a:lnSpc>
                <a:spcPct val="120000"/>
              </a:lnSpc>
              <a:spcBef>
                <a:spcPts val="0"/>
              </a:spcBef>
              <a:spcAft>
                <a:spcPts val="300"/>
              </a:spcAft>
            </a:pPr>
            <a:r>
              <a:rPr sz="1200" b="1">
                <a:solidFill>
                  <a:srgbClr val="A51C30"/>
                </a:solidFill>
                <a:latin typeface="Calibri"/>
              </a:rPr>
              <a:t>4   </a:t>
            </a:r>
            <a:r>
              <a:rPr sz="1200" b="0">
                <a:solidFill>
                  <a:srgbClr val="4A4F57"/>
                </a:solidFill>
                <a:latin typeface="Calibri"/>
              </a:rPr>
              <a:t>One operator: what could have been known</a:t>
            </a:r>
          </a:p>
          <a:p>
            <a:pPr>
              <a:lnSpc>
                <a:spcPct val="120000"/>
              </a:lnSpc>
              <a:spcBef>
                <a:spcPts val="0"/>
              </a:spcBef>
              <a:spcAft>
                <a:spcPts val="300"/>
              </a:spcAft>
            </a:pPr>
            <a:r>
              <a:rPr sz="1200" b="1">
                <a:solidFill>
                  <a:srgbClr val="A51C30"/>
                </a:solidFill>
                <a:latin typeface="Calibri"/>
              </a:rPr>
              <a:t>5   </a:t>
            </a:r>
            <a:r>
              <a:rPr sz="1200" b="0">
                <a:solidFill>
                  <a:srgbClr val="4A4F57"/>
                </a:solidFill>
                <a:latin typeface="Calibri"/>
              </a:rPr>
              <a:t>One polynomial: what a claim rests on</a:t>
            </a:r>
          </a:p>
          <a:p>
            <a:pPr>
              <a:lnSpc>
                <a:spcPct val="120000"/>
              </a:lnSpc>
              <a:spcBef>
                <a:spcPts val="0"/>
              </a:spcBef>
              <a:spcAft>
                <a:spcPts val="300"/>
              </a:spcAft>
            </a:pPr>
            <a:r>
              <a:rPr sz="1200" b="1">
                <a:solidFill>
                  <a:srgbClr val="A51C30"/>
                </a:solidFill>
                <a:latin typeface="Calibri"/>
              </a:rPr>
              <a:t>6   </a:t>
            </a:r>
            <a:r>
              <a:rPr sz="1200" b="0">
                <a:solidFill>
                  <a:srgbClr val="4A4F57"/>
                </a:solidFill>
                <a:latin typeface="Calibri"/>
              </a:rPr>
              <a:t>What must still be declared</a:t>
            </a:r>
          </a:p>
        </p:txBody>
      </p:sp>
      <p:sp>
        <p:nvSpPr>
          <p:cNvPr id="12" name="Rectangle 11"/>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MAYA · Concepts and Formalism</a:t>
            </a:r>
          </a:p>
        </p:txBody>
      </p:sp>
      <p:sp>
        <p:nvSpPr>
          <p:cNvPr id="14" name="TextBox 13"/>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1</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800" b="0" i="0">
                <a:solidFill>
                  <a:srgbClr val="FFFFFF"/>
                </a:solidFill>
                <a:latin typeface="Georgia"/>
              </a:rPr>
              <a:t>A model, and its dials</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 closed-form pricer, a calibrated surface, a retrained classifier, an elicited rating scheme and a bought-in black box have nothing in common at the level of implementation. They have one shape — a kernel, and a parameter object that decides how it behaves — and what each one owes a reviewer follows from how that object is filled.</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A parameter object and a kernel</a:t>
            </a:r>
          </a:p>
          <a:p>
            <a:pPr>
              <a:lnSpc>
                <a:spcPct val="115000"/>
              </a:lnSpc>
              <a:spcBef>
                <a:spcPts val="0"/>
              </a:spcBef>
              <a:spcAft>
                <a:spcPts val="600"/>
              </a:spcAft>
            </a:pPr>
            <a:r>
              <a:rPr sz="1200" b="0" i="0">
                <a:solidFill>
                  <a:srgbClr val="F6E6E9"/>
                </a:solidFill>
                <a:latin typeface="Calibri"/>
              </a:rPr>
              <a:t>Nine classes, one kind of thing</a:t>
            </a:r>
          </a:p>
          <a:p>
            <a:pPr>
              <a:lnSpc>
                <a:spcPct val="115000"/>
              </a:lnSpc>
              <a:spcBef>
                <a:spcPts val="0"/>
              </a:spcBef>
              <a:spcAft>
                <a:spcPts val="600"/>
              </a:spcAft>
            </a:pPr>
            <a:r>
              <a:rPr sz="1200" b="0" i="0">
                <a:solidFill>
                  <a:srgbClr val="F6E6E9"/>
                </a:solidFill>
                <a:latin typeface="Calibri"/>
              </a:rPr>
              <a:t>Evidence demands that are well-typed</a:t>
            </a:r>
          </a:p>
          <a:p>
            <a:pPr>
              <a:lnSpc>
                <a:spcPct val="115000"/>
              </a:lnSpc>
              <a:spcBef>
                <a:spcPts val="0"/>
              </a:spcBef>
              <a:spcAft>
                <a:spcPts val="600"/>
              </a:spcAft>
            </a:pPr>
            <a:r>
              <a:rPr sz="1200" b="0" i="0">
                <a:solidFill>
                  <a:srgbClr val="F6E6E9"/>
                </a:solidFill>
                <a:latin typeface="Calibri"/>
              </a:rPr>
              <a:t>A refit is a point, not a version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DEFINITION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kernel, and the dials that decide what it does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A model, and its dials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§2.2, the definition of a model as a morphism with a parameter object and of a fitting morphism into it, with the worked pair of a closed-form pricer and a calibrated surface.</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a model is</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A parameter object P and a kernel</a:t>
            </a:r>
          </a:p>
          <a:p>
            <a:pPr lvl="1">
              <a:lnSpc>
                <a:spcPct val="120000"/>
              </a:lnSpc>
              <a:spcBef>
                <a:spcPts val="0"/>
              </a:spcBef>
              <a:spcAft>
                <a:spcPts val="0"/>
              </a:spcAft>
            </a:pPr>
            <a:r>
              <a:rPr sz="1300" b="0">
                <a:solidFill>
                  <a:srgbClr val="4A4F57"/>
                </a:solidFill>
                <a:latin typeface="Calibri"/>
              </a:rPr>
              <a:t>f : P ⊗ X → Y. X is what goes in, Y is what comes out, and P is the dials that decide how the machine behaves. The definition insists on holding the dials apart from the machinery, because that separation is where every consequence in this deck comes from.</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output is allowed to be random</a:t>
            </a:r>
          </a:p>
          <a:p>
            <a:pPr lvl="1">
              <a:lnSpc>
                <a:spcPct val="120000"/>
              </a:lnSpc>
              <a:spcBef>
                <a:spcPts val="0"/>
              </a:spcBef>
              <a:spcAft>
                <a:spcPts val="0"/>
              </a:spcAft>
            </a:pPr>
            <a:r>
              <a:rPr sz="1300" b="0">
                <a:solidFill>
                  <a:srgbClr val="4A4F57"/>
                </a:solidFill>
                <a:latin typeface="Calibri"/>
              </a:rPr>
              <a:t>A kernel returns a distribution rather than a value, so a language model sampling text is an instance rather than an exception, and deterministic behaviour is the special case where the randomness is trivial.</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Composition keeps both sets of dials</a:t>
            </a:r>
          </a:p>
          <a:p>
            <a:pPr lvl="1">
              <a:lnSpc>
                <a:spcPct val="120000"/>
              </a:lnSpc>
              <a:spcBef>
                <a:spcPts val="0"/>
              </a:spcBef>
              <a:spcAft>
                <a:spcPts val="0"/>
              </a:spcAft>
            </a:pPr>
            <a:r>
              <a:rPr sz="1300" b="0">
                <a:solidFill>
                  <a:srgbClr val="4A4F57"/>
                </a:solidFill>
                <a:latin typeface="Calibri"/>
              </a:rPr>
              <a:t>Plug one model into another and the combined parameter object is Q ⊗ P. Nothing is absorbed, which is why an upstream recalibration is formally a change to everything downstream of it.</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How the dials get filled</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One construction, seven acts</a:t>
            </a:r>
          </a:p>
          <a:p>
            <a:pPr lvl="1">
              <a:lnSpc>
                <a:spcPct val="120000"/>
              </a:lnSpc>
              <a:spcBef>
                <a:spcPts val="0"/>
              </a:spcBef>
              <a:spcAft>
                <a:spcPts val="0"/>
              </a:spcAft>
            </a:pPr>
            <a:r>
              <a:rPr sz="1200" b="0">
                <a:solidFill>
                  <a:srgbClr val="4A4F57"/>
                </a:solidFill>
                <a:latin typeface="Calibri"/>
              </a:rPr>
              <a:t>A fitting morphism carries evidence into the parameter object. Estimation, calibration, training, elicitation, configuration and authorship are not different kinds of model; they are different ways into the same P — which is the observation the rest of this part rests on.</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Accompanied, or opaque</a:t>
            </a:r>
          </a:p>
          <a:p>
            <a:pPr lvl="1">
              <a:lnSpc>
                <a:spcPct val="120000"/>
              </a:lnSpc>
              <a:spcBef>
                <a:spcPts val="0"/>
              </a:spcBef>
              <a:spcAft>
                <a:spcPts val="0"/>
              </a:spcAft>
            </a:pPr>
            <a:r>
              <a:rPr sz="1200" b="0">
                <a:solidFill>
                  <a:srgbClr val="4A4F57"/>
                </a:solidFill>
                <a:latin typeface="Calibri"/>
              </a:rPr>
              <a:t>A model is accompanied when the fitting morphism is available to whoever governs it, and opaque when it is not. That decides what evidence can exist at all, before anybody gets as far as asking for it.</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Same shape, different reality</a:t>
            </a:r>
          </a:p>
          <a:p>
            <a:pPr lvl="1">
              <a:lnSpc>
                <a:spcPct val="120000"/>
              </a:lnSpc>
              <a:spcBef>
                <a:spcPts val="0"/>
              </a:spcBef>
              <a:spcAft>
                <a:spcPts val="0"/>
              </a:spcAft>
            </a:pPr>
            <a:r>
              <a:rPr sz="1200" b="0">
                <a:solidFill>
                  <a:srgbClr val="4A4F57"/>
                </a:solidFill>
                <a:latin typeface="Calibri"/>
              </a:rPr>
              <a:t>Black–Scholes takes spot, strike, tenor, rate and volatility and has no dials: fed the same inputs it returns the same price forever. A SABR surface has the same shape and four numbers solved afresh against every morning's quotes. The whole of the difference lives in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CLASSIFICATION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Nine classes, and not one of them is typed into a form</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A model, and its dials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300" b="0" i="0">
                <a:solidFill>
                  <a:srgbClr val="1C1C1E"/>
                </a:solidFill>
                <a:latin typeface="Calibri"/>
              </a:rPr>
              <a:t>The class is a total function of three things: whether the parameter object is empty, whether it is reachable, and which act filled it. It is computed when it is asked for and never stored, so it cannot drift from the artefact it describes — and the argument about whether a pricer or a rule set “is a model” dissolves, because these are one kind of thing distinguished by how the dials get set.</a:t>
            </a:r>
          </a:p>
        </p:txBody>
      </p:sp>
      <p:sp>
        <p:nvSpPr>
          <p:cNvPr id="11" name="Rectangle 10"/>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§2.3, “Trainability is derived”: the classification proposition and the table that follows it. The two ends carry the argument — at the top the dials do not exist, so asking about them is meaningless; at T6 they exist behind a contract, so asking about them is futile.</a:t>
            </a:r>
          </a:p>
        </p:txBody>
      </p:sp>
      <p:graphicFrame>
        <p:nvGraphicFramePr>
          <p:cNvPr id="13" name="Table 12"/>
          <p:cNvGraphicFramePr>
            <a:graphicFrameLocks noGrp="1"/>
          </p:cNvGraphicFramePr>
          <p:nvPr/>
        </p:nvGraphicFramePr>
        <p:xfrm>
          <a:off x="777240" y="2459609"/>
          <a:ext cx="10637213" cy="2944810"/>
        </p:xfrm>
        <a:graphic>
          <a:graphicData uri="http://schemas.openxmlformats.org/drawingml/2006/table">
            <a:tbl>
              <a:tblPr firstRow="1">
                <a:tableStyleId>{5C22544A-7EE6-4342-B048-85BDC9FD1C3A}</a:tableStyleId>
              </a:tblPr>
              <a:tblGrid>
                <a:gridCol w="1756604"/>
                <a:gridCol w="2830084"/>
                <a:gridCol w="3220441"/>
                <a:gridCol w="2830084"/>
              </a:tblGrid>
              <a:tr h="294481">
                <a:tc>
                  <a:txBody>
                    <a:bodyPr wrap="square"/>
                    <a:lstStyle/>
                    <a:p>
                      <a:r>
                        <a:rPr sz="1150" b="1">
                          <a:solidFill>
                            <a:srgbClr val="FFFFFF"/>
                          </a:solidFill>
                          <a:latin typeface="Calibri"/>
                        </a:rPr>
                        <a:t>Class</a:t>
                      </a:r>
                    </a:p>
                  </a:txBody>
                  <a:tcPr marL="82296" marR="64008" marT="32004" marB="32004" anchor="ctr">
                    <a:solidFill>
                      <a:srgbClr val="A51C30"/>
                    </a:solidFill>
                  </a:tcPr>
                </a:tc>
                <a:tc>
                  <a:txBody>
                    <a:bodyPr wrap="square"/>
                    <a:lstStyle/>
                    <a:p>
                      <a:r>
                        <a:rPr sz="1150" b="1">
                          <a:solidFill>
                            <a:srgbClr val="FFFFFF"/>
                          </a:solidFill>
                          <a:latin typeface="Calibri"/>
                        </a:rPr>
                        <a:t>The parameter object</a:t>
                      </a:r>
                    </a:p>
                  </a:txBody>
                  <a:tcPr marL="82296" marR="64008" marT="32004" marB="32004" anchor="ctr">
                    <a:solidFill>
                      <a:srgbClr val="A51C30"/>
                    </a:solidFill>
                  </a:tcPr>
                </a:tc>
                <a:tc>
                  <a:txBody>
                    <a:bodyPr wrap="square"/>
                    <a:lstStyle/>
                    <a:p>
                      <a:r>
                        <a:rPr sz="1150" b="1">
                          <a:solidFill>
                            <a:srgbClr val="FFFFFF"/>
                          </a:solidFill>
                          <a:latin typeface="Calibri"/>
                        </a:rPr>
                        <a:t>The act that fills it</a:t>
                      </a:r>
                    </a:p>
                  </a:txBody>
                  <a:tcPr marL="82296" marR="64008" marT="32004" marB="32004" anchor="ctr">
                    <a:solidFill>
                      <a:srgbClr val="A51C30"/>
                    </a:solidFill>
                  </a:tcPr>
                </a:tc>
                <a:tc>
                  <a:txBody>
                    <a:bodyPr wrap="square"/>
                    <a:lstStyle/>
                    <a:p>
                      <a:r>
                        <a:rPr sz="1150" b="1">
                          <a:solidFill>
                            <a:srgbClr val="FFFFFF"/>
                          </a:solidFill>
                          <a:latin typeface="Calibri"/>
                        </a:rPr>
                        <a:t>What triggers a refresh</a:t>
                      </a:r>
                    </a:p>
                  </a:txBody>
                  <a:tcPr marL="82296" marR="64008" marT="32004" marB="32004" anchor="ctr">
                    <a:solidFill>
                      <a:srgbClr val="A51C30"/>
                    </a:solidFill>
                  </a:tcPr>
                </a:tc>
              </a:tr>
              <a:tr h="294481">
                <a:tc>
                  <a:txBody>
                    <a:bodyPr wrap="square"/>
                    <a:lstStyle/>
                    <a:p>
                      <a:r>
                        <a:rPr sz="1150" b="1">
                          <a:solidFill>
                            <a:srgbClr val="761422"/>
                          </a:solidFill>
                          <a:latin typeface="Calibri"/>
                        </a:rPr>
                        <a:t>T0  Analytical</a:t>
                      </a:r>
                    </a:p>
                  </a:txBody>
                  <a:tcPr marL="82296" marR="64008" marT="32004" marB="32004" anchor="ctr">
                    <a:solidFill>
                      <a:srgbClr val="FFFFFF"/>
                    </a:solidFill>
                  </a:tcPr>
                </a:tc>
                <a:tc>
                  <a:txBody>
                    <a:bodyPr wrap="square"/>
                    <a:lstStyle/>
                    <a:p>
                      <a:r>
                        <a:rPr sz="1150" b="0">
                          <a:solidFill>
                            <a:srgbClr val="1C1C1E"/>
                          </a:solidFill>
                          <a:latin typeface="Calibri"/>
                        </a:rPr>
                        <a:t>empty — there are no dials</a:t>
                      </a:r>
                    </a:p>
                  </a:txBody>
                  <a:tcPr marL="82296" marR="64008" marT="32004" marB="32004" anchor="ctr">
                    <a:solidFill>
                      <a:srgbClr val="FFFFFF"/>
                    </a:solidFill>
                  </a:tcPr>
                </a:tc>
                <a:tc>
                  <a:txBody>
                    <a:bodyPr wrap="square"/>
                    <a:lstStyle/>
                    <a:p>
                      <a:r>
                        <a:rPr sz="1150" b="0">
                          <a:solidFill>
                            <a:srgbClr val="1C1C1E"/>
                          </a:solidFill>
                          <a:latin typeface="Calibri"/>
                        </a:rPr>
                        <a:t>none; there is nothing to fit</a:t>
                      </a:r>
                    </a:p>
                  </a:txBody>
                  <a:tcPr marL="82296" marR="64008" marT="32004" marB="32004" anchor="ctr">
                    <a:solidFill>
                      <a:srgbClr val="FFFFFF"/>
                    </a:solidFill>
                  </a:tcPr>
                </a:tc>
                <a:tc>
                  <a:txBody>
                    <a:bodyPr wrap="square"/>
                    <a:lstStyle/>
                    <a:p>
                      <a:r>
                        <a:rPr sz="1150" b="0">
                          <a:solidFill>
                            <a:srgbClr val="1C1C1E"/>
                          </a:solidFill>
                          <a:latin typeface="Calibri"/>
                        </a:rPr>
                        <a:t>the specification, or regulation</a:t>
                      </a:r>
                    </a:p>
                  </a:txBody>
                  <a:tcPr marL="82296" marR="64008" marT="32004" marB="32004" anchor="ctr">
                    <a:solidFill>
                      <a:srgbClr val="FFFFFF"/>
                    </a:solidFill>
                  </a:tcPr>
                </a:tc>
              </a:tr>
              <a:tr h="294481">
                <a:tc>
                  <a:txBody>
                    <a:bodyPr wrap="square"/>
                    <a:lstStyle/>
                    <a:p>
                      <a:r>
                        <a:rPr sz="1150" b="1">
                          <a:solidFill>
                            <a:srgbClr val="761422"/>
                          </a:solidFill>
                          <a:latin typeface="Calibri"/>
                        </a:rPr>
                        <a:t>T1  Calibrated</a:t>
                      </a:r>
                    </a:p>
                  </a:txBody>
                  <a:tcPr marL="82296" marR="64008" marT="32004" marB="32004" anchor="ctr">
                    <a:solidFill>
                      <a:srgbClr val="F6F3EF"/>
                    </a:solidFill>
                  </a:tcPr>
                </a:tc>
                <a:tc>
                  <a:txBody>
                    <a:bodyPr wrap="square"/>
                    <a:lstStyle/>
                    <a:p>
                      <a:r>
                        <a:rPr sz="1150" b="0">
                          <a:solidFill>
                            <a:srgbClr val="1C1C1E"/>
                          </a:solidFill>
                          <a:latin typeface="Calibri"/>
                        </a:rPr>
                        <a:t>a calibration set</a:t>
                      </a:r>
                    </a:p>
                  </a:txBody>
                  <a:tcPr marL="82296" marR="64008" marT="32004" marB="32004" anchor="ctr">
                    <a:solidFill>
                      <a:srgbClr val="F6F3EF"/>
                    </a:solidFill>
                  </a:tcPr>
                </a:tc>
                <a:tc>
                  <a:txBody>
                    <a:bodyPr wrap="square"/>
                    <a:lstStyle/>
                    <a:p>
                      <a:r>
                        <a:rPr sz="1150" b="0">
                          <a:solidFill>
                            <a:srgbClr val="1C1C1E"/>
                          </a:solidFill>
                          <a:latin typeface="Calibri"/>
                        </a:rPr>
                        <a:t>a solver on quoted instruments</a:t>
                      </a:r>
                    </a:p>
                  </a:txBody>
                  <a:tcPr marL="82296" marR="64008" marT="32004" marB="32004" anchor="ctr">
                    <a:solidFill>
                      <a:srgbClr val="F6F3EF"/>
                    </a:solidFill>
                  </a:tcPr>
                </a:tc>
                <a:tc>
                  <a:txBody>
                    <a:bodyPr wrap="square"/>
                    <a:lstStyle/>
                    <a:p>
                      <a:r>
                        <a:rPr sz="1150" b="0">
                          <a:solidFill>
                            <a:srgbClr val="1C1C1E"/>
                          </a:solidFill>
                          <a:latin typeface="Calibri"/>
                        </a:rPr>
                        <a:t>each market close</a:t>
                      </a:r>
                    </a:p>
                  </a:txBody>
                  <a:tcPr marL="82296" marR="64008" marT="32004" marB="32004" anchor="ctr">
                    <a:solidFill>
                      <a:srgbClr val="F6F3EF"/>
                    </a:solidFill>
                  </a:tcPr>
                </a:tc>
              </a:tr>
              <a:tr h="294481">
                <a:tc>
                  <a:txBody>
                    <a:bodyPr wrap="square"/>
                    <a:lstStyle/>
                    <a:p>
                      <a:r>
                        <a:rPr sz="1150" b="1">
                          <a:solidFill>
                            <a:srgbClr val="761422"/>
                          </a:solidFill>
                          <a:latin typeface="Calibri"/>
                        </a:rPr>
                        <a:t>T2  Estimated</a:t>
                      </a:r>
                    </a:p>
                  </a:txBody>
                  <a:tcPr marL="82296" marR="64008" marT="32004" marB="32004" anchor="ctr">
                    <a:solidFill>
                      <a:srgbClr val="FFFFFF"/>
                    </a:solidFill>
                  </a:tcPr>
                </a:tc>
                <a:tc>
                  <a:txBody>
                    <a:bodyPr wrap="square"/>
                    <a:lstStyle/>
                    <a:p>
                      <a:r>
                        <a:rPr sz="1150" b="0">
                          <a:solidFill>
                            <a:srgbClr val="1C1C1E"/>
                          </a:solidFill>
                          <a:latin typeface="Calibri"/>
                        </a:rPr>
                        <a:t>coefficients</a:t>
                      </a:r>
                    </a:p>
                  </a:txBody>
                  <a:tcPr marL="82296" marR="64008" marT="32004" marB="32004" anchor="ctr">
                    <a:solidFill>
                      <a:srgbClr val="FFFFFF"/>
                    </a:solidFill>
                  </a:tcPr>
                </a:tc>
                <a:tc>
                  <a:txBody>
                    <a:bodyPr wrap="square"/>
                    <a:lstStyle/>
                    <a:p>
                      <a:r>
                        <a:rPr sz="1150" b="0">
                          <a:solidFill>
                            <a:srgbClr val="1C1C1E"/>
                          </a:solidFill>
                          <a:latin typeface="Calibri"/>
                        </a:rPr>
                        <a:t>an estimator on a sample</a:t>
                      </a:r>
                    </a:p>
                  </a:txBody>
                  <a:tcPr marL="82296" marR="64008" marT="32004" marB="32004" anchor="ctr">
                    <a:solidFill>
                      <a:srgbClr val="FFFFFF"/>
                    </a:solidFill>
                  </a:tcPr>
                </a:tc>
                <a:tc>
                  <a:txBody>
                    <a:bodyPr wrap="square"/>
                    <a:lstStyle/>
                    <a:p>
                      <a:r>
                        <a:rPr sz="1150" b="0">
                          <a:solidFill>
                            <a:srgbClr val="1C1C1E"/>
                          </a:solidFill>
                          <a:latin typeface="Calibri"/>
                        </a:rPr>
                        <a:t>a periodic refit</a:t>
                      </a:r>
                    </a:p>
                  </a:txBody>
                  <a:tcPr marL="82296" marR="64008" marT="32004" marB="32004" anchor="ctr">
                    <a:solidFill>
                      <a:srgbClr val="FFFFFF"/>
                    </a:solidFill>
                  </a:tcPr>
                </a:tc>
              </a:tr>
              <a:tr h="294481">
                <a:tc>
                  <a:txBody>
                    <a:bodyPr wrap="square"/>
                    <a:lstStyle/>
                    <a:p>
                      <a:r>
                        <a:rPr sz="1150" b="1">
                          <a:solidFill>
                            <a:srgbClr val="761422"/>
                          </a:solidFill>
                          <a:latin typeface="Calibri"/>
                        </a:rPr>
                        <a:t>T3  Learned</a:t>
                      </a:r>
                    </a:p>
                  </a:txBody>
                  <a:tcPr marL="82296" marR="64008" marT="32004" marB="32004" anchor="ctr">
                    <a:solidFill>
                      <a:srgbClr val="F6F3EF"/>
                    </a:solidFill>
                  </a:tcPr>
                </a:tc>
                <a:tc>
                  <a:txBody>
                    <a:bodyPr wrap="square"/>
                    <a:lstStyle/>
                    <a:p>
                      <a:r>
                        <a:rPr sz="1150" b="0">
                          <a:solidFill>
                            <a:srgbClr val="1C1C1E"/>
                          </a:solidFill>
                          <a:latin typeface="Calibri"/>
                        </a:rPr>
                        <a:t>weights</a:t>
                      </a:r>
                    </a:p>
                  </a:txBody>
                  <a:tcPr marL="82296" marR="64008" marT="32004" marB="32004" anchor="ctr">
                    <a:solidFill>
                      <a:srgbClr val="F6F3EF"/>
                    </a:solidFill>
                  </a:tcPr>
                </a:tc>
                <a:tc>
                  <a:txBody>
                    <a:bodyPr wrap="square"/>
                    <a:lstStyle/>
                    <a:p>
                      <a:r>
                        <a:rPr sz="1150" b="0">
                          <a:solidFill>
                            <a:srgbClr val="1C1C1E"/>
                          </a:solidFill>
                          <a:latin typeface="Calibri"/>
                        </a:rPr>
                        <a:t>a training run</a:t>
                      </a:r>
                    </a:p>
                  </a:txBody>
                  <a:tcPr marL="82296" marR="64008" marT="32004" marB="32004" anchor="ctr">
                    <a:solidFill>
                      <a:srgbClr val="F6F3EF"/>
                    </a:solidFill>
                  </a:tcPr>
                </a:tc>
                <a:tc>
                  <a:txBody>
                    <a:bodyPr wrap="square"/>
                    <a:lstStyle/>
                    <a:p>
                      <a:r>
                        <a:rPr sz="1150" b="0">
                          <a:solidFill>
                            <a:srgbClr val="1C1C1E"/>
                          </a:solidFill>
                          <a:latin typeface="Calibri"/>
                        </a:rPr>
                        <a:t>schedule, drift or decay</a:t>
                      </a:r>
                    </a:p>
                  </a:txBody>
                  <a:tcPr marL="82296" marR="64008" marT="32004" marB="32004" anchor="ctr">
                    <a:solidFill>
                      <a:srgbClr val="F6F3EF"/>
                    </a:solidFill>
                  </a:tcPr>
                </a:tc>
              </a:tr>
              <a:tr h="294481">
                <a:tc>
                  <a:txBody>
                    <a:bodyPr wrap="square"/>
                    <a:lstStyle/>
                    <a:p>
                      <a:r>
                        <a:rPr sz="1150" b="1">
                          <a:solidFill>
                            <a:srgbClr val="761422"/>
                          </a:solidFill>
                          <a:latin typeface="Calibri"/>
                        </a:rPr>
                        <a:t>T4  Adaptive</a:t>
                      </a:r>
                    </a:p>
                  </a:txBody>
                  <a:tcPr marL="82296" marR="64008" marT="32004" marB="32004" anchor="ctr">
                    <a:solidFill>
                      <a:srgbClr val="FFFFFF"/>
                    </a:solidFill>
                  </a:tcPr>
                </a:tc>
                <a:tc>
                  <a:txBody>
                    <a:bodyPr wrap="square"/>
                    <a:lstStyle/>
                    <a:p>
                      <a:r>
                        <a:rPr sz="1150" b="0">
                          <a:solidFill>
                            <a:srgbClr val="1C1C1E"/>
                          </a:solidFill>
                          <a:latin typeface="Calibri"/>
                        </a:rPr>
                        <a:t>weights that move in production</a:t>
                      </a:r>
                    </a:p>
                  </a:txBody>
                  <a:tcPr marL="82296" marR="64008" marT="32004" marB="32004" anchor="ctr">
                    <a:solidFill>
                      <a:srgbClr val="FFFFFF"/>
                    </a:solidFill>
                  </a:tcPr>
                </a:tc>
                <a:tc>
                  <a:txBody>
                    <a:bodyPr wrap="square"/>
                    <a:lstStyle/>
                    <a:p>
                      <a:r>
                        <a:rPr sz="1150" b="0">
                          <a:solidFill>
                            <a:srgbClr val="1C1C1E"/>
                          </a:solidFill>
                          <a:latin typeface="Calibri"/>
                        </a:rPr>
                        <a:t>a training run, and then itself</a:t>
                      </a:r>
                    </a:p>
                  </a:txBody>
                  <a:tcPr marL="82296" marR="64008" marT="32004" marB="32004" anchor="ctr">
                    <a:solidFill>
                      <a:srgbClr val="FFFFFF"/>
                    </a:solidFill>
                  </a:tcPr>
                </a:tc>
                <a:tc>
                  <a:txBody>
                    <a:bodyPr wrap="square"/>
                    <a:lstStyle/>
                    <a:p>
                      <a:r>
                        <a:rPr sz="1150" b="0">
                          <a:solidFill>
                            <a:srgbClr val="1C1C1E"/>
                          </a:solidFill>
                          <a:latin typeface="Calibri"/>
                        </a:rPr>
                        <a:t>continuously, by the model</a:t>
                      </a:r>
                    </a:p>
                  </a:txBody>
                  <a:tcPr marL="82296" marR="64008" marT="32004" marB="32004" anchor="ctr">
                    <a:solidFill>
                      <a:srgbClr val="FFFFFF"/>
                    </a:solidFill>
                  </a:tcPr>
                </a:tc>
              </a:tr>
              <a:tr h="294481">
                <a:tc>
                  <a:txBody>
                    <a:bodyPr wrap="square"/>
                    <a:lstStyle/>
                    <a:p>
                      <a:r>
                        <a:rPr sz="1150" b="1">
                          <a:solidFill>
                            <a:srgbClr val="761422"/>
                          </a:solidFill>
                          <a:latin typeface="Calibri"/>
                        </a:rPr>
                        <a:t>T5  Configured</a:t>
                      </a:r>
                    </a:p>
                  </a:txBody>
                  <a:tcPr marL="82296" marR="64008" marT="32004" marB="32004" anchor="ctr">
                    <a:solidFill>
                      <a:srgbClr val="F6F3EF"/>
                    </a:solidFill>
                  </a:tcPr>
                </a:tc>
                <a:tc>
                  <a:txBody>
                    <a:bodyPr wrap="square"/>
                    <a:lstStyle/>
                    <a:p>
                      <a:r>
                        <a:rPr sz="1150" b="0">
                          <a:solidFill>
                            <a:srgbClr val="1C1C1E"/>
                          </a:solidFill>
                          <a:latin typeface="Calibri"/>
                        </a:rPr>
                        <a:t>base model, prompt, corpus, tools</a:t>
                      </a:r>
                    </a:p>
                  </a:txBody>
                  <a:tcPr marL="82296" marR="64008" marT="32004" marB="32004" anchor="ctr">
                    <a:solidFill>
                      <a:srgbClr val="F6F3EF"/>
                    </a:solidFill>
                  </a:tcPr>
                </a:tc>
                <a:tc>
                  <a:txBody>
                    <a:bodyPr wrap="square"/>
                    <a:lstStyle/>
                    <a:p>
                      <a:r>
                        <a:rPr sz="1150" b="0">
                          <a:solidFill>
                            <a:srgbClr val="1C1C1E"/>
                          </a:solidFill>
                          <a:latin typeface="Calibri"/>
                        </a:rPr>
                        <a:t>configuration and retrieval</a:t>
                      </a:r>
                    </a:p>
                  </a:txBody>
                  <a:tcPr marL="82296" marR="64008" marT="32004" marB="32004" anchor="ctr">
                    <a:solidFill>
                      <a:srgbClr val="F6F3EF"/>
                    </a:solidFill>
                  </a:tcPr>
                </a:tc>
                <a:tc>
                  <a:txBody>
                    <a:bodyPr wrap="square"/>
                    <a:lstStyle/>
                    <a:p>
                      <a:r>
                        <a:rPr sz="1150" b="0">
                          <a:solidFill>
                            <a:srgbClr val="1C1C1E"/>
                          </a:solidFill>
                          <a:latin typeface="Calibri"/>
                        </a:rPr>
                        <a:t>any of those, or the base model</a:t>
                      </a:r>
                    </a:p>
                  </a:txBody>
                  <a:tcPr marL="82296" marR="64008" marT="32004" marB="32004" anchor="ctr">
                    <a:solidFill>
                      <a:srgbClr val="F6F3EF"/>
                    </a:solidFill>
                  </a:tcPr>
                </a:tc>
              </a:tr>
              <a:tr h="294481">
                <a:tc>
                  <a:txBody>
                    <a:bodyPr wrap="square"/>
                    <a:lstStyle/>
                    <a:p>
                      <a:r>
                        <a:rPr sz="1150" b="1">
                          <a:solidFill>
                            <a:srgbClr val="761422"/>
                          </a:solidFill>
                          <a:latin typeface="Calibri"/>
                        </a:rPr>
                        <a:t>T6  Opaque</a:t>
                      </a:r>
                    </a:p>
                  </a:txBody>
                  <a:tcPr marL="82296" marR="64008" marT="32004" marB="32004" anchor="ctr">
                    <a:solidFill>
                      <a:srgbClr val="FFFFFF"/>
                    </a:solidFill>
                  </a:tcPr>
                </a:tc>
                <a:tc>
                  <a:txBody>
                    <a:bodyPr wrap="square"/>
                    <a:lstStyle/>
                    <a:p>
                      <a:r>
                        <a:rPr sz="1150" b="0">
                          <a:solidFill>
                            <a:srgbClr val="1C1C1E"/>
                          </a:solidFill>
                          <a:latin typeface="Calibri"/>
                        </a:rPr>
                        <a:t>exists, and is unreachable</a:t>
                      </a:r>
                    </a:p>
                  </a:txBody>
                  <a:tcPr marL="82296" marR="64008" marT="32004" marB="32004" anchor="ctr">
                    <a:solidFill>
                      <a:srgbClr val="FFFFFF"/>
                    </a:solidFill>
                  </a:tcPr>
                </a:tc>
                <a:tc>
                  <a:txBody>
                    <a:bodyPr wrap="square"/>
                    <a:lstStyle/>
                    <a:p>
                      <a:r>
                        <a:rPr sz="1150" b="0">
                          <a:solidFill>
                            <a:srgbClr val="1C1C1E"/>
                          </a:solidFill>
                          <a:latin typeface="Calibri"/>
                        </a:rPr>
                        <a:t>somebody else's, unavailable</a:t>
                      </a:r>
                    </a:p>
                  </a:txBody>
                  <a:tcPr marL="82296" marR="64008" marT="32004" marB="32004" anchor="ctr">
                    <a:solidFill>
                      <a:srgbClr val="FFFFFF"/>
                    </a:solidFill>
                  </a:tcPr>
                </a:tc>
                <a:tc>
                  <a:txBody>
                    <a:bodyPr wrap="square"/>
                    <a:lstStyle/>
                    <a:p>
                      <a:r>
                        <a:rPr sz="1150" b="0">
                          <a:solidFill>
                            <a:srgbClr val="1C1C1E"/>
                          </a:solidFill>
                          <a:latin typeface="Calibri"/>
                        </a:rPr>
                        <a:t>a vendor release</a:t>
                      </a:r>
                    </a:p>
                  </a:txBody>
                  <a:tcPr marL="82296" marR="64008" marT="32004" marB="32004" anchor="ctr">
                    <a:solidFill>
                      <a:srgbClr val="FFFFFF"/>
                    </a:solidFill>
                  </a:tcPr>
                </a:tc>
              </a:tr>
              <a:tr h="294481">
                <a:tc>
                  <a:txBody>
                    <a:bodyPr wrap="square"/>
                    <a:lstStyle/>
                    <a:p>
                      <a:r>
                        <a:rPr sz="1150" b="1">
                          <a:solidFill>
                            <a:srgbClr val="761422"/>
                          </a:solidFill>
                          <a:latin typeface="Calibri"/>
                        </a:rPr>
                        <a:t>T7  Elicited</a:t>
                      </a:r>
                    </a:p>
                  </a:txBody>
                  <a:tcPr marL="82296" marR="64008" marT="32004" marB="32004" anchor="ctr">
                    <a:solidFill>
                      <a:srgbClr val="F6F3EF"/>
                    </a:solidFill>
                  </a:tcPr>
                </a:tc>
                <a:tc>
                  <a:txBody>
                    <a:bodyPr wrap="square"/>
                    <a:lstStyle/>
                    <a:p>
                      <a:r>
                        <a:rPr sz="1150" b="0">
                          <a:solidFill>
                            <a:srgbClr val="1C1C1E"/>
                          </a:solidFill>
                          <a:latin typeface="Calibri"/>
                        </a:rPr>
                        <a:t>weights a panel agreed</a:t>
                      </a:r>
                    </a:p>
                  </a:txBody>
                  <a:tcPr marL="82296" marR="64008" marT="32004" marB="32004" anchor="ctr">
                    <a:solidFill>
                      <a:srgbClr val="F6F3EF"/>
                    </a:solidFill>
                  </a:tcPr>
                </a:tc>
                <a:tc>
                  <a:txBody>
                    <a:bodyPr wrap="square"/>
                    <a:lstStyle/>
                    <a:p>
                      <a:r>
                        <a:rPr sz="1150" b="0">
                          <a:solidFill>
                            <a:srgbClr val="1C1C1E"/>
                          </a:solidFill>
                          <a:latin typeface="Calibri"/>
                        </a:rPr>
                        <a:t>an elicitation protocol</a:t>
                      </a:r>
                    </a:p>
                  </a:txBody>
                  <a:tcPr marL="82296" marR="64008" marT="32004" marB="32004" anchor="ctr">
                    <a:solidFill>
                      <a:srgbClr val="F6F3EF"/>
                    </a:solidFill>
                  </a:tcPr>
                </a:tc>
                <a:tc>
                  <a:txBody>
                    <a:bodyPr wrap="square"/>
                    <a:lstStyle/>
                    <a:p>
                      <a:r>
                        <a:rPr sz="1150" b="0">
                          <a:solidFill>
                            <a:srgbClr val="1C1C1E"/>
                          </a:solidFill>
                          <a:latin typeface="Calibri"/>
                        </a:rPr>
                        <a:t>the committee cycle</a:t>
                      </a:r>
                    </a:p>
                  </a:txBody>
                  <a:tcPr marL="82296" marR="64008" marT="32004" marB="32004" anchor="ctr">
                    <a:solidFill>
                      <a:srgbClr val="F6F3EF"/>
                    </a:solidFill>
                  </a:tcPr>
                </a:tc>
              </a:tr>
              <a:tr h="294481">
                <a:tc>
                  <a:txBody>
                    <a:bodyPr wrap="square"/>
                    <a:lstStyle/>
                    <a:p>
                      <a:r>
                        <a:rPr sz="1150" b="1">
                          <a:solidFill>
                            <a:srgbClr val="761422"/>
                          </a:solidFill>
                          <a:latin typeface="Calibri"/>
                        </a:rPr>
                        <a:t>T8  Authored</a:t>
                      </a:r>
                    </a:p>
                  </a:txBody>
                  <a:tcPr marL="82296" marR="64008" marT="32004" marB="32004" anchor="ctr">
                    <a:solidFill>
                      <a:srgbClr val="FFFFFF"/>
                    </a:solidFill>
                  </a:tcPr>
                </a:tc>
                <a:tc>
                  <a:txBody>
                    <a:bodyPr wrap="square"/>
                    <a:lstStyle/>
                    <a:p>
                      <a:r>
                        <a:rPr sz="1150" b="0">
                          <a:solidFill>
                            <a:srgbClr val="1C1C1E"/>
                          </a:solidFill>
                          <a:latin typeface="Calibri"/>
                        </a:rPr>
                        <a:t>a rule set</a:t>
                      </a:r>
                    </a:p>
                  </a:txBody>
                  <a:tcPr marL="82296" marR="64008" marT="32004" marB="32004" anchor="ctr">
                    <a:solidFill>
                      <a:srgbClr val="FFFFFF"/>
                    </a:solidFill>
                  </a:tcPr>
                </a:tc>
                <a:tc>
                  <a:txBody>
                    <a:bodyPr wrap="square"/>
                    <a:lstStyle/>
                    <a:p>
                      <a:r>
                        <a:rPr sz="1150" b="0">
                          <a:solidFill>
                            <a:srgbClr val="1C1C1E"/>
                          </a:solidFill>
                          <a:latin typeface="Calibri"/>
                        </a:rPr>
                        <a:t>authorship</a:t>
                      </a:r>
                    </a:p>
                  </a:txBody>
                  <a:tcPr marL="82296" marR="64008" marT="32004" marB="32004" anchor="ctr">
                    <a:solidFill>
                      <a:srgbClr val="FFFFFF"/>
                    </a:solidFill>
                  </a:tcPr>
                </a:tc>
                <a:tc>
                  <a:txBody>
                    <a:bodyPr wrap="square"/>
                    <a:lstStyle/>
                    <a:p>
                      <a:r>
                        <a:rPr sz="1150" b="0">
                          <a:solidFill>
                            <a:srgbClr val="1C1C1E"/>
                          </a:solidFill>
                          <a:latin typeface="Calibri"/>
                        </a:rPr>
                        <a:t>a policy change</a:t>
                      </a:r>
                    </a:p>
                  </a:txBody>
                  <a:tcPr marL="82296" marR="64008" marT="32004" marB="32004"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WHAT EACH ONE OWES A REVIEWER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Three artefacts, one lens, three different questions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A model, and its dials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§2.3, the corollary that a demand for fitting evidence is well-typed exactly when the parameter object is neither empty nor unreachable, and the worked triple that follows it.</a:t>
            </a:r>
          </a:p>
        </p:txBody>
      </p:sp>
      <p:sp>
        <p:nvSpPr>
          <p:cNvPr id="12" name="Rectangle 11"/>
          <p:cNvSpPr/>
          <p:nvPr/>
        </p:nvSpPr>
        <p:spPr>
          <a:xfrm>
            <a:off x="777240" y="1386967"/>
            <a:ext cx="3436010" cy="4291457"/>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T0 · ANALYTICAL</a:t>
            </a:r>
          </a:p>
        </p:txBody>
      </p:sp>
      <p:sp>
        <p:nvSpPr>
          <p:cNvPr id="15" name="TextBox 14"/>
          <p:cNvSpPr txBox="1"/>
          <p:nvPr/>
        </p:nvSpPr>
        <p:spPr>
          <a:xfrm>
            <a:off x="960120"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regulatory exposure calculator</a:t>
            </a:r>
          </a:p>
        </p:txBody>
      </p:sp>
      <p:sp>
        <p:nvSpPr>
          <p:cNvPr id="16" name="TextBox 15"/>
          <p:cNvSpPr txBox="1"/>
          <p:nvPr/>
        </p:nvSpPr>
        <p:spPr>
          <a:xfrm>
            <a:off x="960120" y="2413127"/>
            <a:ext cx="3070250" cy="313728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formula is prescribed, so there are no dials. No sample, no estimator, no retraining schedule. What must be evidenced is that the implementation computes what the regulation says: a suite against reference values. A register that demands a training set here is not recording a missing value — it is asking an ill-typed question and getting a meaningless answer typed into a mandatory field.</a:t>
            </a:r>
          </a:p>
        </p:txBody>
      </p:sp>
      <p:sp>
        <p:nvSpPr>
          <p:cNvPr id="17" name="Rectangle 16"/>
          <p:cNvSpPr/>
          <p:nvPr/>
        </p:nvSpPr>
        <p:spPr>
          <a:xfrm>
            <a:off x="4377842" y="1386967"/>
            <a:ext cx="3436010" cy="4291457"/>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T2 · ESTIMATED</a:t>
            </a:r>
          </a:p>
        </p:txBody>
      </p:sp>
      <p:sp>
        <p:nvSpPr>
          <p:cNvPr id="20" name="TextBox 19"/>
          <p:cNvSpPr txBox="1"/>
          <p:nvPr/>
        </p:nvSpPr>
        <p:spPr>
          <a:xfrm>
            <a:off x="4560722"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small-business PD scorecard</a:t>
            </a:r>
          </a:p>
        </p:txBody>
      </p:sp>
      <p:sp>
        <p:nvSpPr>
          <p:cNvPr id="21" name="TextBox 20"/>
          <p:cNvSpPr txBox="1"/>
          <p:nvPr/>
        </p:nvSpPr>
        <p:spPr>
          <a:xfrm>
            <a:off x="4560722" y="2413127"/>
            <a:ext cx="3070250" cy="313728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Forty-two coefficients, from a logistic regression over eight years of originations. Here the fitting questions are exactly the right ones: the sample and whether it is representative, the estimator, out-of-time performance, calibration. This is the artefact the whole evidence apparatus was designed around, which is why it is the one that never causes trouble.</a:t>
            </a:r>
          </a:p>
        </p:txBody>
      </p:sp>
      <p:sp>
        <p:nvSpPr>
          <p:cNvPr id="22" name="Rectangle 21"/>
          <p:cNvSpPr/>
          <p:nvPr/>
        </p:nvSpPr>
        <p:spPr>
          <a:xfrm>
            <a:off x="7978444" y="1386967"/>
            <a:ext cx="3436010" cy="4291457"/>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T6 · OPAQUE</a:t>
            </a:r>
          </a:p>
        </p:txBody>
      </p:sp>
      <p:sp>
        <p:nvSpPr>
          <p:cNvPr id="25" name="TextBox 24"/>
          <p:cNvSpPr txBox="1"/>
          <p:nvPr/>
        </p:nvSpPr>
        <p:spPr>
          <a:xfrm>
            <a:off x="8161324"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bought-in bureau score</a:t>
            </a:r>
          </a:p>
        </p:txBody>
      </p:sp>
      <p:sp>
        <p:nvSpPr>
          <p:cNvPr id="26" name="TextBox 25"/>
          <p:cNvSpPr txBox="1"/>
          <p:nvPr/>
        </p:nvSpPr>
        <p:spPr>
          <a:xfrm>
            <a:off x="8161324" y="2156079"/>
            <a:ext cx="3070250" cy="339432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dials exist — somebody at the bureau fitted them — and neither they nor the act that set them is reachable. Demanding development documentation is futile. Watching the composite against your own realised defaults is not a compromise forced by commercial reality; it is what the structure says is the only evidence obtainable, so it is where the review effort belongs.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WHY THE CLASS HAS TO BE COMPUTED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monitor that ran for two years and meant nothing</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A model, and its dials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Evidence requirements, lifecycles, monitors and compilable documents are one family indexed by kind of artefact. Two properties of such a family are worth having, and an index somebody types in cannot deliver both.</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§2.4, “The classification is the index”: conservative extension, totality, and the proposition that a declared base admits no total family of obligations.</a:t>
            </a:r>
          </a:p>
        </p:txBody>
      </p:sp>
      <p:sp>
        <p:nvSpPr>
          <p:cNvPr id="13" name="TextBox 12"/>
          <p:cNvSpPr txBox="1"/>
          <p:nvPr/>
        </p:nvSpPr>
        <p:spPr>
          <a:xfrm>
            <a:off x="777240" y="2040509"/>
            <a:ext cx="10637215" cy="3637914"/>
          </a:xfrm>
          <a:prstGeom prst="rect">
            <a:avLst/>
          </a:prstGeom>
          <a:noFill/>
        </p:spPr>
        <p:txBody>
          <a:bodyPr wrap="square" lIns="0" rIns="0" tIns="0" bIns="0" anchor="t">
            <a:spAutoFit/>
          </a:bodyPr>
          <a:lstStyle/>
          <a:p>
            <a:pPr algn="l">
              <a:lnSpc>
                <a:spcPct val="120000"/>
              </a:lnSpc>
              <a:spcBef>
                <a:spcPts val="0"/>
              </a:spcBef>
              <a:spcAft>
                <a:spcPts val="100"/>
              </a:spcAft>
            </a:pPr>
            <a:r>
              <a:rPr sz="1300" b="1">
                <a:solidFill>
                  <a:srgbClr val="A51C30"/>
                </a:solidFill>
                <a:latin typeface="Calibri"/>
              </a:rPr>
              <a:t>▪  </a:t>
            </a:r>
            <a:r>
              <a:rPr sz="1300" b="1">
                <a:solidFill>
                  <a:srgbClr val="1C1C1E"/>
                </a:solidFill>
                <a:latin typeface="Calibri"/>
              </a:rPr>
              <a:t>The story</a:t>
            </a:r>
          </a:p>
          <a:p>
            <a:pPr lvl="1">
              <a:lnSpc>
                <a:spcPct val="120000"/>
              </a:lnSpc>
              <a:spcBef>
                <a:spcPts val="0"/>
              </a:spcBef>
              <a:spcAft>
                <a:spcPts val="0"/>
              </a:spcAft>
            </a:pPr>
            <a:r>
              <a:rPr sz="1150" b="0">
                <a:solidFill>
                  <a:srgbClr val="4A4F57"/>
                </a:solidFill>
                <a:latin typeface="Calibri"/>
              </a:rPr>
              <a:t>A discount-curve pricer is registered, and somebody attaches a performance monitor: discrimination against realised outcomes, evaluated monthly. It runs. It never fires. On the estate screen the model is green and monitored.</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Why it meant nothing</a:t>
            </a:r>
          </a:p>
          <a:p>
            <a:pPr lvl="1">
              <a:lnSpc>
                <a:spcPct val="120000"/>
              </a:lnSpc>
              <a:spcBef>
                <a:spcPts val="0"/>
              </a:spcBef>
              <a:spcAft>
                <a:spcPts val="0"/>
              </a:spcAft>
            </a:pPr>
            <a:r>
              <a:rPr sz="1150" b="0">
                <a:solidFill>
                  <a:srgbClr val="4A4F57"/>
                </a:solidFill>
                <a:latin typeface="Calibri"/>
              </a:rPr>
              <a:t>The pricer has no parameters and no fitted relationship to outcomes, so discrimination is not a question about it. The monitor was not failing to detect anything; there was nothing of that kind to detect. And that is worse than an absent monitor, because an absent one appears in the coverage worklist and a meaningless one reads as coverage.</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Adding a kind should cost only that kind</a:t>
            </a:r>
          </a:p>
          <a:p>
            <a:pPr lvl="1">
              <a:lnSpc>
                <a:spcPct val="120000"/>
              </a:lnSpc>
              <a:spcBef>
                <a:spcPts val="0"/>
              </a:spcBef>
              <a:spcAft>
                <a:spcPts val="0"/>
              </a:spcAft>
            </a:pPr>
            <a:r>
              <a:rPr sz="1150" b="0">
                <a:solidFill>
                  <a:srgbClr val="4A4F57"/>
                </a:solidFill>
                <a:latin typeface="Calibri"/>
              </a:rPr>
              <a:t>Supply the requirements for a new class and nothing already judged is disturbed: every existing kind keeps exactly the obligations it had. That guarantee is worth having, and it is worth nothing unless every kind actually carries its requirements — a drawer with no forms in it is worse than an absent drawer, because the cabinet looks complete.</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Which is why the index is computed, not recorded</a:t>
            </a:r>
          </a:p>
          <a:p>
            <a:pPr lvl="1">
              <a:lnSpc>
                <a:spcPct val="120000"/>
              </a:lnSpc>
              <a:spcBef>
                <a:spcPts val="0"/>
              </a:spcBef>
              <a:spcAft>
                <a:spcPts val="0"/>
              </a:spcAft>
            </a:pPr>
            <a:r>
              <a:rPr sz="1150" b="0">
                <a:solidFill>
                  <a:srgbClr val="4A4F57"/>
                </a:solidFill>
                <a:latin typeface="Calibri"/>
              </a:rPr>
              <a:t>If the admissible kinds are a closed list, admitting a new one edits the index rather than supplying requirements, and the guarantee no longer describes what adding a kind costs. If the list is open, a kind with no requirements can be written down at any moment, so the completeness check quantifies over a set that does not contain the values in use, and passes. An index computed from the artefact has neither horn: it cannot be typed wrong, cannot be extended by accident, and cannot disagree with the thing it indexes.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POINTS OF THE PARAMETER OBJECT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refit is a new point, not a new model</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A model, and its dials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7</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§2.7, “Points of P, and what a version is”: refitting preserves the morphism, parameters accumulate along a composite, and the worked recalibration that shows why the distinction is not pedantry.</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Two different events, usually recorded as one</a:t>
            </a:r>
          </a:p>
          <a:p>
            <a:pPr lvl="1">
              <a:lnSpc>
                <a:spcPct val="120000"/>
              </a:lnSpc>
              <a:spcBef>
                <a:spcPts val="0"/>
              </a:spcBef>
              <a:spcAft>
                <a:spcPts val="0"/>
              </a:spcAft>
            </a:pPr>
            <a:r>
              <a:rPr sz="1200" b="0">
                <a:solidFill>
                  <a:srgbClr val="4A4F57"/>
                </a:solidFill>
                <a:latin typeface="Calibri"/>
              </a:rPr>
              <a:t>A new fitting procedure, parameter object, input or output is a change of the model. New numbers from the same procedure on newer data is a change of point within it: the morphism is untouched, because the parameters are inhabitants of its parameter object rather than distinct morphisms. Mint a version for both and a supervisor asking whether the model changed between two dates has asked a question with two answers.</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So an inhabitant of P is a record in its own right</a:t>
            </a:r>
          </a:p>
          <a:p>
            <a:pPr lvl="1">
              <a:lnSpc>
                <a:spcPct val="120000"/>
              </a:lnSpc>
              <a:spcBef>
                <a:spcPts val="0"/>
              </a:spcBef>
              <a:spcAft>
                <a:spcPts val="0"/>
              </a:spcAft>
            </a:pPr>
            <a:r>
              <a:rPr sz="1200" b="0">
                <a:solidFill>
                  <a:srgbClr val="4A4F57"/>
                </a:solidFill>
                <a:latin typeface="Calibri"/>
              </a:rPr>
              <a:t>With its own identity, immutability and provenance: which act produced it, from which data, over which window. A daily recalibration then governs the procedure once and a periodic re-estimation governs each inhabitant, and the two are the same construction at different frequencies rather than two policies.</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Parameters accumulate along a network</a:t>
            </a:r>
          </a:p>
          <a:p>
            <a:pPr lvl="1">
              <a:lnSpc>
                <a:spcPct val="120000"/>
              </a:lnSpc>
              <a:spcBef>
                <a:spcPts val="0"/>
              </a:spcBef>
              <a:spcAft>
                <a:spcPts val="0"/>
              </a:spcAft>
            </a:pPr>
            <a:r>
              <a:rPr sz="1200" b="0">
                <a:solidFill>
                  <a:srgbClr val="4A4F57"/>
                </a:solidFill>
                <a:latin typeface="Calibri"/>
              </a:rPr>
              <a:t>The parameter object of a composite is the tensor of every constituent's, so any change to a constituent's numbers changes the composite's. Recalibrating an upstream artefact is, formally, a change event for every artefact downstream.</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The daily recalibration nobody calls a change</a:t>
            </a:r>
          </a:p>
          <a:p>
            <a:pPr lvl="1">
              <a:lnSpc>
                <a:spcPct val="120000"/>
              </a:lnSpc>
              <a:spcBef>
                <a:spcPts val="0"/>
              </a:spcBef>
              <a:spcAft>
                <a:spcPts val="0"/>
              </a:spcAft>
            </a:pPr>
            <a:r>
              <a:rPr sz="1200" b="0">
                <a:solidFill>
                  <a:srgbClr val="4A4F57"/>
                </a:solidFill>
                <a:latin typeface="Calibri"/>
              </a:rPr>
              <a:t>At 6:30 each morning a discount curve is re-solved against market instruments. Downstream sit a swaption pricer, an XVA engine, a VaR engine, a capital calculator and a capital plan, and formally every one of them has just changed. The change process records nothing, because curves are “market data”. Both readings are defensible; the usual resolution is that routine recalibration inside a declared tolerance is governed by monitoring and recalibration outside it is a change event. The formalism does not choose. It forces somebody to notice that a choice is being made, and to write the tolerance 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2</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One order</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Four places in a register ask whether one thing fits where another fitted. In the registers we have examined each has its own code path, and four implementations of one relation are four opportunities to disagree — predictably in the direction of permitting more, because nobody files a bug against a check that wrongly allows.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Four questions, one comparison</a:t>
            </a:r>
          </a:p>
          <a:p>
            <a:pPr>
              <a:lnSpc>
                <a:spcPct val="115000"/>
              </a:lnSpc>
              <a:spcBef>
                <a:spcPts val="0"/>
              </a:spcBef>
              <a:spcAft>
                <a:spcPts val="600"/>
              </a:spcAft>
            </a:pPr>
            <a:r>
              <a:rPr sz="1200" b="0" i="0">
                <a:solidFill>
                  <a:srgbClr val="F6E6E9"/>
                </a:solidFill>
                <a:latin typeface="Calibri"/>
              </a:rPr>
              <a:t>A ⊑ B: A can stand in for B</a:t>
            </a:r>
          </a:p>
          <a:p>
            <a:pPr>
              <a:lnSpc>
                <a:spcPct val="115000"/>
              </a:lnSpc>
              <a:spcBef>
                <a:spcPts val="0"/>
              </a:spcBef>
              <a:spcAft>
                <a:spcPts val="600"/>
              </a:spcAft>
            </a:pPr>
            <a:r>
              <a:rPr sz="1200" b="0" i="0">
                <a:solidFill>
                  <a:srgbClr val="F6E6E9"/>
                </a:solidFill>
                <a:latin typeface="Calibri"/>
              </a:rPr>
              <a:t>A lattice, and a partial meet</a:t>
            </a:r>
          </a:p>
          <a:p>
            <a:pPr>
              <a:lnSpc>
                <a:spcPct val="115000"/>
              </a:lnSpc>
              <a:spcBef>
                <a:spcPts val="0"/>
              </a:spcBef>
              <a:spcAft>
                <a:spcPts val="600"/>
              </a:spcAft>
            </a:pPr>
            <a:r>
              <a:rPr sz="1200" b="0" i="0">
                <a:solidFill>
                  <a:srgbClr val="F6E6E9"/>
                </a:solidFill>
                <a:latin typeface="Calibri"/>
              </a:rPr>
              <a:t>A refusal that names the remedy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FIT IS ASKED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Four questions that were one question</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One order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9</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variance routine, a slot loop, a contract refinement check — and, for the dependency edge, frequently nothing at all. The fourth row is the worst of them, because a graph whose edges were never checked is followed by a blast radius that trusts them.</a:t>
            </a:r>
          </a:p>
        </p:txBody>
      </p:sp>
      <p:sp>
        <p:nvSpPr>
          <p:cNvPr id="11" name="Rectangle 10"/>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§3.1 and §3.5, “Four questions that were one question” and “One relation, four answers”. The fourth line is the meet doing work, and when the meet does not exist the honest answer is that no feature set can serve both, with the offending slot named.</a:t>
            </a:r>
          </a:p>
        </p:txBody>
      </p:sp>
      <p:graphicFrame>
        <p:nvGraphicFramePr>
          <p:cNvPr id="13" name="Table 12"/>
          <p:cNvGraphicFramePr>
            <a:graphicFrameLocks noGrp="1"/>
          </p:cNvGraphicFramePr>
          <p:nvPr/>
        </p:nvGraphicFramePr>
        <p:xfrm>
          <a:off x="777240" y="2284984"/>
          <a:ext cx="10637214" cy="2556827"/>
        </p:xfrm>
        <a:graphic>
          <a:graphicData uri="http://schemas.openxmlformats.org/drawingml/2006/table">
            <a:tbl>
              <a:tblPr firstRow="1">
                <a:tableStyleId>{5C22544A-7EE6-4342-B048-85BDC9FD1C3A}</a:tableStyleId>
              </a:tblPr>
              <a:tblGrid>
                <a:gridCol w="2384203"/>
                <a:gridCol w="4493306"/>
                <a:gridCol w="3759705"/>
              </a:tblGrid>
              <a:tr h="318579">
                <a:tc>
                  <a:txBody>
                    <a:bodyPr wrap="square"/>
                    <a:lstStyle/>
                    <a:p>
                      <a:r>
                        <a:rPr sz="1300" b="1">
                          <a:solidFill>
                            <a:srgbClr val="FFFFFF"/>
                          </a:solidFill>
                          <a:latin typeface="Calibri"/>
                        </a:rPr>
                        <a:t>Where it is asked</a:t>
                      </a:r>
                    </a:p>
                  </a:txBody>
                  <a:tcPr marL="82296" marR="64008" marT="32004" marB="32004" anchor="ctr">
                    <a:solidFill>
                      <a:srgbClr val="A51C30"/>
                    </a:solidFill>
                  </a:tcPr>
                </a:tc>
                <a:tc>
                  <a:txBody>
                    <a:bodyPr wrap="square"/>
                    <a:lstStyle/>
                    <a:p>
                      <a:r>
                        <a:rPr sz="1300" b="1">
                          <a:solidFill>
                            <a:srgbClr val="FFFFFF"/>
                          </a:solidFill>
                          <a:latin typeface="Calibri"/>
                        </a:rPr>
                        <a:t>What it actually asks</a:t>
                      </a:r>
                    </a:p>
                  </a:txBody>
                  <a:tcPr marL="82296" marR="64008" marT="32004" marB="32004" anchor="ctr">
                    <a:solidFill>
                      <a:srgbClr val="A51C30"/>
                    </a:solidFill>
                  </a:tcPr>
                </a:tc>
                <a:tc>
                  <a:txBody>
                    <a:bodyPr wrap="square"/>
                    <a:lstStyle/>
                    <a:p>
                      <a:r>
                        <a:rPr sz="1300" b="1">
                          <a:solidFill>
                            <a:srgbClr val="FFFFFF"/>
                          </a:solidFill>
                          <a:latin typeface="Calibri"/>
                        </a:rPr>
                        <a:t>The comparison</a:t>
                      </a:r>
                    </a:p>
                  </a:txBody>
                  <a:tcPr marL="82296" marR="64008" marT="32004" marB="32004" anchor="ctr">
                    <a:solidFill>
                      <a:srgbClr val="A51C30"/>
                    </a:solidFill>
                  </a:tcPr>
                </a:tc>
              </a:tr>
              <a:tr h="559562">
                <a:tc>
                  <a:txBody>
                    <a:bodyPr wrap="square"/>
                    <a:lstStyle/>
                    <a:p>
                      <a:r>
                        <a:rPr sz="1400" b="1">
                          <a:solidFill>
                            <a:srgbClr val="761422"/>
                          </a:solidFill>
                          <a:latin typeface="Calibri"/>
                        </a:rPr>
                        <a:t>A replacement version</a:t>
                      </a:r>
                    </a:p>
                  </a:txBody>
                  <a:tcPr marL="82296" marR="64008" marT="32004" marB="32004" anchor="ctr">
                    <a:solidFill>
                      <a:srgbClr val="FFFFFF"/>
                    </a:solidFill>
                  </a:tcPr>
                </a:tc>
                <a:tc>
                  <a:txBody>
                    <a:bodyPr wrap="square"/>
                    <a:lstStyle/>
                    <a:p>
                      <a:r>
                        <a:rPr sz="1400" b="0">
                          <a:solidFill>
                            <a:srgbClr val="1C1C1E"/>
                          </a:solidFill>
                          <a:latin typeface="Calibri"/>
                        </a:rPr>
                        <a:t>May this version stand where the incumbent stood?</a:t>
                      </a:r>
                    </a:p>
                  </a:txBody>
                  <a:tcPr marL="82296" marR="64008" marT="32004" marB="32004" anchor="ctr">
                    <a:solidFill>
                      <a:srgbClr val="FFFFFF"/>
                    </a:solidFill>
                  </a:tcPr>
                </a:tc>
                <a:tc>
                  <a:txBody>
                    <a:bodyPr wrap="square"/>
                    <a:lstStyle/>
                    <a:p>
                      <a:r>
                        <a:rPr sz="1400" b="0">
                          <a:solidFill>
                            <a:srgbClr val="1C1C1E"/>
                          </a:solidFill>
                          <a:latin typeface="Calibri"/>
                        </a:rPr>
                        <a:t>in(v') ⊑ in(v), and out(v') still provides out(v)</a:t>
                      </a:r>
                    </a:p>
                  </a:txBody>
                  <a:tcPr marL="82296" marR="64008" marT="32004" marB="32004" anchor="ctr">
                    <a:solidFill>
                      <a:srgbClr val="FFFFFF"/>
                    </a:solidFill>
                  </a:tcPr>
                </a:tc>
              </a:tr>
              <a:tr h="559562">
                <a:tc>
                  <a:txBody>
                    <a:bodyPr wrap="square"/>
                    <a:lstStyle/>
                    <a:p>
                      <a:r>
                        <a:rPr sz="1400" b="1">
                          <a:solidFill>
                            <a:srgbClr val="761422"/>
                          </a:solidFill>
                          <a:latin typeface="Calibri"/>
                        </a:rPr>
                        <a:t>Binding data to a model</a:t>
                      </a:r>
                    </a:p>
                  </a:txBody>
                  <a:tcPr marL="82296" marR="64008" marT="32004" marB="32004" anchor="ctr">
                    <a:solidFill>
                      <a:srgbClr val="F6F3EF"/>
                    </a:solidFill>
                  </a:tcPr>
                </a:tc>
                <a:tc>
                  <a:txBody>
                    <a:bodyPr wrap="square"/>
                    <a:lstStyle/>
                    <a:p>
                      <a:r>
                        <a:rPr sz="1400" b="0">
                          <a:solidFill>
                            <a:srgbClr val="1C1C1E"/>
                          </a:solidFill>
                          <a:latin typeface="Calibri"/>
                        </a:rPr>
                        <a:t>Does this feature set provide what the kernel declares it reads?</a:t>
                      </a:r>
                    </a:p>
                  </a:txBody>
                  <a:tcPr marL="82296" marR="64008" marT="32004" marB="32004" anchor="ctr">
                    <a:solidFill>
                      <a:srgbClr val="F6F3EF"/>
                    </a:solidFill>
                  </a:tcPr>
                </a:tc>
                <a:tc>
                  <a:txBody>
                    <a:bodyPr wrap="square"/>
                    <a:lstStyle/>
                    <a:p>
                      <a:r>
                        <a:rPr sz="1400" b="0">
                          <a:solidFill>
                            <a:srgbClr val="1C1C1E"/>
                          </a:solidFill>
                          <a:latin typeface="Calibri"/>
                        </a:rPr>
                        <a:t>S(F) ⊑ in(k)</a:t>
                      </a:r>
                    </a:p>
                  </a:txBody>
                  <a:tcPr marL="82296" marR="64008" marT="32004" marB="32004" anchor="ctr">
                    <a:solidFill>
                      <a:srgbClr val="F6F3EF"/>
                    </a:solidFill>
                  </a:tcPr>
                </a:tc>
              </a:tr>
              <a:tr h="559562">
                <a:tc>
                  <a:txBody>
                    <a:bodyPr wrap="square"/>
                    <a:lstStyle/>
                    <a:p>
                      <a:r>
                        <a:rPr sz="1400" b="1">
                          <a:solidFill>
                            <a:srgbClr val="761422"/>
                          </a:solidFill>
                          <a:latin typeface="Calibri"/>
                        </a:rPr>
                        <a:t>A dependency edge</a:t>
                      </a:r>
                    </a:p>
                  </a:txBody>
                  <a:tcPr marL="82296" marR="64008" marT="32004" marB="32004" anchor="ctr">
                    <a:solidFill>
                      <a:srgbClr val="FFFFFF"/>
                    </a:solidFill>
                  </a:tcPr>
                </a:tc>
                <a:tc>
                  <a:txBody>
                    <a:bodyPr wrap="square"/>
                    <a:lstStyle/>
                    <a:p>
                      <a:r>
                        <a:rPr sz="1400" b="0">
                          <a:solidFill>
                            <a:srgbClr val="1C1C1E"/>
                          </a:solidFill>
                          <a:latin typeface="Calibri"/>
                        </a:rPr>
                        <a:t>Does what the source produces arrive where the target reads it?</a:t>
                      </a:r>
                    </a:p>
                  </a:txBody>
                  <a:tcPr marL="82296" marR="64008" marT="32004" marB="32004" anchor="ctr">
                    <a:solidFill>
                      <a:srgbClr val="FFFFFF"/>
                    </a:solidFill>
                  </a:tcPr>
                </a:tc>
                <a:tc>
                  <a:txBody>
                    <a:bodyPr wrap="square"/>
                    <a:lstStyle/>
                    <a:p>
                      <a:r>
                        <a:rPr sz="1400" b="0">
                          <a:solidFill>
                            <a:srgbClr val="1C1C1E"/>
                          </a:solidFill>
                          <a:latin typeface="Calibri"/>
                        </a:rPr>
                        <a:t>out(a) ⊑ in(b)</a:t>
                      </a:r>
                    </a:p>
                  </a:txBody>
                  <a:tcPr marL="82296" marR="64008" marT="32004" marB="32004" anchor="ctr">
                    <a:solidFill>
                      <a:srgbClr val="FFFFFF"/>
                    </a:solidFill>
                  </a:tcPr>
                </a:tc>
              </a:tr>
              <a:tr h="559562">
                <a:tc>
                  <a:txBody>
                    <a:bodyPr wrap="square"/>
                    <a:lstStyle/>
                    <a:p>
                      <a:r>
                        <a:rPr sz="1400" b="1">
                          <a:solidFill>
                            <a:srgbClr val="761422"/>
                          </a:solidFill>
                          <a:latin typeface="Calibri"/>
                        </a:rPr>
                        <a:t>One feature set, two models</a:t>
                      </a:r>
                    </a:p>
                  </a:txBody>
                  <a:tcPr marL="82296" marR="64008" marT="32004" marB="32004" anchor="ctr">
                    <a:solidFill>
                      <a:srgbClr val="F6F3EF"/>
                    </a:solidFill>
                  </a:tcPr>
                </a:tc>
                <a:tc>
                  <a:txBody>
                    <a:bodyPr wrap="square"/>
                    <a:lstStyle/>
                    <a:p>
                      <a:r>
                        <a:rPr sz="1400" b="0">
                          <a:solidFill>
                            <a:srgbClr val="1C1C1E"/>
                          </a:solidFill>
                          <a:latin typeface="Calibri"/>
                        </a:rPr>
                        <a:t>Can a single feature set serve both of these?</a:t>
                      </a:r>
                    </a:p>
                  </a:txBody>
                  <a:tcPr marL="82296" marR="64008" marT="32004" marB="32004" anchor="ctr">
                    <a:solidFill>
                      <a:srgbClr val="F6F3EF"/>
                    </a:solidFill>
                  </a:tcPr>
                </a:tc>
                <a:tc>
                  <a:txBody>
                    <a:bodyPr wrap="square"/>
                    <a:lstStyle/>
                    <a:p>
                      <a:r>
                        <a:rPr sz="1400" b="0">
                          <a:solidFill>
                            <a:srgbClr val="1C1C1E"/>
                          </a:solidFill>
                          <a:latin typeface="Calibri"/>
                        </a:rPr>
                        <a:t>S(F) ⊑ in(k1) ⊓ in(k2)</a:t>
                      </a:r>
                    </a:p>
                  </a:txBody>
                  <a:tcPr marL="82296" marR="64008" marT="32004" marB="32004" anchor="ctr">
                    <a:solidFill>
                      <a:srgbClr val="F6F3E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ORDER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 B, read: A can stand in for B</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One order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10</a:t>
            </a:r>
          </a:p>
        </p:txBody>
      </p:sp>
      <p:sp>
        <p:nvSpPr>
          <p:cNvPr id="10" name="Rectangle 9"/>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§3.2, “The order”: field acceptance, the schema order, and the remark on why the direction is the one nobody guesses.</a:t>
            </a:r>
          </a:p>
        </p:txBody>
      </p:sp>
      <p:sp>
        <p:nvSpPr>
          <p:cNvPr id="12" name="TextBox 11"/>
          <p:cNvSpPr txBox="1"/>
          <p:nvPr/>
        </p:nvSpPr>
        <p:spPr>
          <a:xfrm>
            <a:off x="777240" y="1386967"/>
            <a:ext cx="10637215" cy="449262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One field accepts another</a:t>
            </a:r>
          </a:p>
          <a:p>
            <a:pPr lvl="1">
              <a:lnSpc>
                <a:spcPct val="120000"/>
              </a:lnSpc>
              <a:spcBef>
                <a:spcPts val="0"/>
              </a:spcBef>
              <a:spcAft>
                <a:spcPts val="0"/>
              </a:spcAft>
            </a:pPr>
            <a:r>
              <a:rPr sz="1350" b="0">
                <a:solidFill>
                  <a:srgbClr val="4A4F57"/>
                </a:solidFill>
                <a:latin typeface="Calibri"/>
              </a:rPr>
              <a:t>Same datatype; nullable if the other is; a lower bound no greater and an upper bound no less, an absent bound being the widest there is. A ⊑ B holds when every field B declares is present in A at a field that accepts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Extra fields are free</a:t>
            </a:r>
          </a:p>
          <a:p>
            <a:pPr lvl="1">
              <a:lnSpc>
                <a:spcPct val="120000"/>
              </a:lnSpc>
              <a:spcBef>
                <a:spcPts val="0"/>
              </a:spcBef>
              <a:spcAft>
                <a:spcPts val="0"/>
              </a:spcAft>
            </a:pPr>
            <a:r>
              <a:rPr sz="1350" b="0">
                <a:solidFill>
                  <a:srgbClr val="4A4F57"/>
                </a:solidFill>
                <a:latin typeface="Calibri"/>
              </a:rPr>
              <a:t>A may carry fields B does not. Nobody has to look at them, so a richer provider is always admissible — which is what makes the relation usable in a bank, where the feature set that serves one model always carries more than that model reads.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Being fussier is not free</a:t>
            </a:r>
          </a:p>
          <a:p>
            <a:pPr lvl="1">
              <a:lnSpc>
                <a:spcPct val="120000"/>
              </a:lnSpc>
              <a:spcBef>
                <a:spcPts val="0"/>
              </a:spcBef>
              <a:spcAft>
                <a:spcPts val="0"/>
              </a:spcAft>
            </a:pPr>
            <a:r>
              <a:rPr sz="1350" b="0">
                <a:solidFill>
                  <a:srgbClr val="4A4F57"/>
                </a:solidFill>
                <a:latin typeface="Calibri"/>
              </a:rPr>
              <a:t>Each shared field must accept at least what B's accepted, because a replacement that rejects an input its predecessor took is a replacement that breaks a caller. Somebody was relying on the old tolerance.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And the direction is counterintuitive, reliably so</a:t>
            </a:r>
          </a:p>
          <a:p>
            <a:pPr lvl="1">
              <a:lnSpc>
                <a:spcPct val="120000"/>
              </a:lnSpc>
              <a:spcBef>
                <a:spcPts val="0"/>
              </a:spcBef>
              <a:spcAft>
                <a:spcPts val="0"/>
              </a:spcAft>
            </a:pPr>
            <a:r>
              <a:rPr sz="1350" b="0">
                <a:solidFill>
                  <a:srgbClr val="4A4F57"/>
                </a:solidFill>
                <a:latin typeface="Calibri"/>
              </a:rPr>
              <a:t>“Refinement” suggests narrowing, and a subtype is narrower in the values it denotes. But a schema here is read as the set of inputs a slot will accept, and standing in for something requires accepting at least what it accepted — so a wider acceptance is admissible and a narrower one regresses. The two readings of “narrower” are easy to hold at once and impossible to hold consistently, and the failure they produce is silent: an order stated in the intuitive direction admits exactly the replacements that break callers. That is why it is worth writing down as an order with a stated direction rather than as a rule of thumb.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 LATTICE</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The meet and the join, and the question each one answers</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One order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11</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§3.3, “It is a lattice”: the meet and join, the lattice theorem, and the absorption law that makes this a lattice order rather than an order with two unrelated operations.</a:t>
            </a:r>
          </a:p>
        </p:txBody>
      </p:sp>
      <p:sp>
        <p:nvSpPr>
          <p:cNvPr id="12" name="Rectangle 11"/>
          <p:cNvSpPr/>
          <p:nvPr/>
        </p:nvSpPr>
        <p:spPr>
          <a:xfrm>
            <a:off x="777240"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Meet  ⊓  — what can serve both</a:t>
            </a:r>
          </a:p>
        </p:txBody>
      </p:sp>
      <p:sp>
        <p:nvSpPr>
          <p:cNvPr id="15" name="TextBox 14"/>
          <p:cNvSpPr txBox="1"/>
          <p:nvPr/>
        </p:nvSpPr>
        <p:spPr>
          <a:xfrm>
            <a:off x="777240" y="1882965"/>
            <a:ext cx="5135727" cy="379545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All the fields either one had, each loosened</a:t>
            </a:r>
          </a:p>
          <a:p>
            <a:pPr lvl="1">
              <a:lnSpc>
                <a:spcPct val="120000"/>
              </a:lnSpc>
              <a:spcBef>
                <a:spcPts val="0"/>
              </a:spcBef>
              <a:spcAft>
                <a:spcPts val="0"/>
              </a:spcAft>
            </a:pPr>
            <a:r>
              <a:rPr sz="1350" b="0">
                <a:solidFill>
                  <a:srgbClr val="4A4F57"/>
                </a:solidFill>
                <a:latin typeface="Calibri"/>
              </a:rPr>
              <a:t>Nullable if either is, the lesser lower bound, the greater upper bound, and an absent bound absorbing.</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question it answers</a:t>
            </a:r>
          </a:p>
          <a:p>
            <a:pPr lvl="1">
              <a:lnSpc>
                <a:spcPct val="120000"/>
              </a:lnSpc>
              <a:spcBef>
                <a:spcPts val="0"/>
              </a:spcBef>
              <a:spcAft>
                <a:spcPts val="0"/>
              </a:spcAft>
            </a:pPr>
            <a:r>
              <a:rPr sz="1350" b="0">
                <a:solidFill>
                  <a:srgbClr val="4A4F57"/>
                </a:solidFill>
                <a:latin typeface="Calibri"/>
              </a:rPr>
              <a:t>What would a single feature set have to provide in order to serve both of these models? Nothing weaker than the meet will do, and anything at least as strong will.</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It is a greatest lower bound</a:t>
            </a:r>
          </a:p>
          <a:p>
            <a:pPr lvl="1">
              <a:lnSpc>
                <a:spcPct val="120000"/>
              </a:lnSpc>
              <a:spcBef>
                <a:spcPts val="0"/>
              </a:spcBef>
              <a:spcAft>
                <a:spcPts val="0"/>
              </a:spcAft>
            </a:pPr>
            <a:r>
              <a:rPr sz="1350" b="0">
                <a:solidFill>
                  <a:srgbClr val="4A4F57"/>
                </a:solidFill>
                <a:latin typeface="Calibri"/>
              </a:rPr>
              <a:t>So a refusal derived from it is not a heuristic. Everything that serves both stands in for the meet, which is what makes the comparison against the meet the whole of the test rather than a first pass.</a:t>
            </a:r>
          </a:p>
        </p:txBody>
      </p:sp>
      <p:sp>
        <p:nvSpPr>
          <p:cNvPr id="16" name="Rectangle 15"/>
          <p:cNvSpPr/>
          <p:nvPr/>
        </p:nvSpPr>
        <p:spPr>
          <a:xfrm>
            <a:off x="6278727" y="1370901"/>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7090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4405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Join  ⊔  — what both promise</a:t>
            </a:r>
          </a:p>
        </p:txBody>
      </p:sp>
      <p:sp>
        <p:nvSpPr>
          <p:cNvPr id="19" name="TextBox 18"/>
          <p:cNvSpPr txBox="1"/>
          <p:nvPr/>
        </p:nvSpPr>
        <p:spPr>
          <a:xfrm>
            <a:off x="6278727" y="1882965"/>
            <a:ext cx="5135727" cy="379545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Only the fields both have, each tightened</a:t>
            </a:r>
          </a:p>
          <a:p>
            <a:pPr lvl="1">
              <a:lnSpc>
                <a:spcPct val="120000"/>
              </a:lnSpc>
              <a:spcBef>
                <a:spcPts val="0"/>
              </a:spcBef>
              <a:spcAft>
                <a:spcPts val="0"/>
              </a:spcAft>
            </a:pPr>
            <a:r>
              <a:rPr sz="1350" b="0">
                <a:solidFill>
                  <a:srgbClr val="4A4F57"/>
                </a:solidFill>
                <a:latin typeface="Calibri"/>
              </a:rPr>
              <a:t>Nullable only if both are, the greater lower bound, the lesser upper bound.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question it answers</a:t>
            </a:r>
          </a:p>
          <a:p>
            <a:pPr lvl="1">
              <a:lnSpc>
                <a:spcPct val="120000"/>
              </a:lnSpc>
              <a:spcBef>
                <a:spcPts val="0"/>
              </a:spcBef>
              <a:spcAft>
                <a:spcPts val="0"/>
              </a:spcAft>
            </a:pPr>
            <a:r>
              <a:rPr sz="1350" b="0">
                <a:solidFill>
                  <a:srgbClr val="4A4F57"/>
                </a:solidFill>
                <a:latin typeface="Calibri"/>
              </a:rPr>
              <a:t>What may a consumer of either of these rely on? That is the contract a downstream model may be written against when its input might come from either source.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top, and no bottom</a:t>
            </a:r>
          </a:p>
          <a:p>
            <a:pPr lvl="1">
              <a:lnSpc>
                <a:spcPct val="120000"/>
              </a:lnSpc>
              <a:spcBef>
                <a:spcPts val="0"/>
              </a:spcBef>
              <a:spcAft>
                <a:spcPts val="0"/>
              </a:spcAft>
            </a:pPr>
            <a:r>
              <a:rPr sz="1350" b="0">
                <a:solidFill>
                  <a:srgbClr val="4A4F57"/>
                </a:solidFill>
                <a:latin typeface="Calibri"/>
              </a:rPr>
              <a:t>The empty schema imposes no condition, so everything can stand in for it. There is no least element, because it would have to carry every field name that could ever exist. The structure is a lattice on each finite fragment, which is the only fragment anything inhabits.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PARTIALITY IS THE USEFUL PART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No meet, and the refusal that names the remedy</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One order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12</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§3.4 and §3.6: the proposition that two schemas disagreeing on a datatype have no meet, and the observation that a failure of the order splits into missing and narrowed.</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Two schemas can have no lower bound at all</a:t>
            </a:r>
          </a:p>
          <a:p>
            <a:pPr lvl="1">
              <a:lnSpc>
                <a:spcPct val="120000"/>
              </a:lnSpc>
              <a:spcBef>
                <a:spcPts val="0"/>
              </a:spcBef>
              <a:spcAft>
                <a:spcPts val="0"/>
              </a:spcAft>
            </a:pPr>
            <a:r>
              <a:rPr sz="1350" b="0">
                <a:solidFill>
                  <a:srgbClr val="4A4F57"/>
                </a:solidFill>
                <a:latin typeface="Calibri"/>
              </a:rPr>
              <a:t>If a shared field name carries a different datatype on each side then no field accepts both, so nothing can serve both. The meet is partial, and the partiality is the informative part rather than a gap in the construction.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 empty answer is worse than an error</a:t>
            </a:r>
          </a:p>
          <a:p>
            <a:pPr lvl="1">
              <a:lnSpc>
                <a:spcPct val="120000"/>
              </a:lnSpc>
              <a:spcBef>
                <a:spcPts val="0"/>
              </a:spcBef>
              <a:spcAft>
                <a:spcPts val="0"/>
              </a:spcAft>
            </a:pPr>
            <a:r>
              <a:rPr sz="1350" b="0">
                <a:solidFill>
                  <a:srgbClr val="4A4F57"/>
                </a:solidFill>
                <a:latin typeface="Calibri"/>
              </a:rPr>
              <a:t>Whoever asked for the meet has a decision to make, usually that these two models cannot share a feature set. An absent value threaded through three layers becomes a silent empty schema somewhere downstream; a named refusal carrying the slot, both datatypes and which side wanted each is the answer to the question that was actually asked.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failure of the order decomposes into two different mistakes</a:t>
            </a:r>
          </a:p>
          <a:p>
            <a:pPr lvl="1">
              <a:lnSpc>
                <a:spcPct val="120000"/>
              </a:lnSpc>
              <a:spcBef>
                <a:spcPts val="0"/>
              </a:spcBef>
              <a:spcAft>
                <a:spcPts val="0"/>
              </a:spcAft>
            </a:pPr>
            <a:r>
              <a:rPr sz="1350" b="0">
                <a:solidFill>
                  <a:srgbClr val="4A4F57"/>
                </a:solidFill>
                <a:latin typeface="Calibri"/>
              </a:rPr>
              <a:t>Names B has that A lacks are missing. Names A has that accept less than B's did are narrowed. They have different remedies: a missing slot means the wrong data was bound, and a narrowed one means somebody tightened a constraint without noticing it was a promise.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Which changes the character of a control</a:t>
            </a:r>
          </a:p>
          <a:p>
            <a:pPr lvl="1">
              <a:lnSpc>
                <a:spcPct val="120000"/>
              </a:lnSpc>
              <a:spcBef>
                <a:spcPts val="0"/>
              </a:spcBef>
              <a:spcAft>
                <a:spcPts val="0"/>
              </a:spcAft>
            </a:pPr>
            <a:r>
              <a:rPr sz="1350" b="0">
                <a:solidFill>
                  <a:srgbClr val="4A4F57"/>
                </a:solidFill>
                <a:latin typeface="Calibri"/>
              </a:rPr>
              <a:t>“Incompatible” is a message. “Does not provide turnover; accepts less than before at dscr” is an instruction. And reporting every failure rather than the first is the difference between one round of correction and six — a refusal that reveals one obstacle at a time is a refusal whose author never computed the obstruction 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3</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Composition, and the risk that does not compose</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Wiring one model into another is a type-check, and decidable. What cannot be had at all is an aggregate risk figure that both adds up from its parts and notices a single point of failure — and the obstruction is a piece of structure rather than a modelling difficulty a better dependency assumption removes.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An edge is a claim about types</a:t>
            </a:r>
          </a:p>
          <a:p>
            <a:pPr>
              <a:lnSpc>
                <a:spcPct val="115000"/>
              </a:lnSpc>
              <a:spcBef>
                <a:spcPts val="0"/>
              </a:spcBef>
              <a:spcAft>
                <a:spcPts val="600"/>
              </a:spcAft>
            </a:pPr>
            <a:r>
              <a:rPr sz="1200" b="0" i="0">
                <a:solidFill>
                  <a:srgbClr val="F6E6E9"/>
                </a:solidFill>
                <a:latin typeface="Calibri"/>
              </a:rPr>
              <a:t>Two banks, one curve or two</a:t>
            </a:r>
          </a:p>
          <a:p>
            <a:pPr>
              <a:lnSpc>
                <a:spcPct val="115000"/>
              </a:lnSpc>
              <a:spcBef>
                <a:spcPts val="0"/>
              </a:spcBef>
              <a:spcAft>
                <a:spcPts val="600"/>
              </a:spcAft>
            </a:pPr>
            <a:r>
              <a:rPr sz="1200" b="0" i="0">
                <a:solidFill>
                  <a:srgbClr val="F6E6E9"/>
                </a:solidFill>
                <a:latin typeface="Calibri"/>
              </a:rPr>
              <a:t>The obstruction, and what laxity leaves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COMPOSITION AS A TYPE-CHECK</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An edge is a claim about types, not a line on a diagram</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Composition, and the risk that does not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14</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§4.1, “An edge is a claim about types”: the composition type-check, and the remark that vocabulary is part of the formalism — an edge named “feeds” is read in a bank as a nightly data drop, and the defect is in the account rather than the audience.</a:t>
            </a:r>
          </a:p>
        </p:txBody>
      </p:sp>
      <p:sp>
        <p:nvSpPr>
          <p:cNvPr id="12" name="TextBox 11"/>
          <p:cNvSpPr txBox="1"/>
          <p:nvPr/>
        </p:nvSpPr>
        <p:spPr>
          <a:xfrm>
            <a:off x="777240" y="1386967"/>
            <a:ext cx="10637215" cy="4090289"/>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The check</a:t>
            </a:r>
          </a:p>
          <a:p>
            <a:pPr lvl="1">
              <a:lnSpc>
                <a:spcPct val="120000"/>
              </a:lnSpc>
              <a:spcBef>
                <a:spcPts val="0"/>
              </a:spcBef>
              <a:spcAft>
                <a:spcPts val="0"/>
              </a:spcAft>
            </a:pPr>
            <a:r>
              <a:rPr sz="1250" b="0">
                <a:solidFill>
                  <a:srgbClr val="4A4F57"/>
                </a:solidFill>
                <a:latin typeface="Calibri"/>
              </a:rPr>
              <a:t>An edge from a to b asserts that a's output is read as an input by b, and holds only when out(a) ⊑ in(b). Where it holds the composite's signature is derived — a's inputs, b's outputs — and type-correctness of a whole wiring is decidable.</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Extra outputs are fine; a missing one is not</a:t>
            </a:r>
          </a:p>
          <a:p>
            <a:pPr lvl="1">
              <a:lnSpc>
                <a:spcPct val="120000"/>
              </a:lnSpc>
              <a:spcBef>
                <a:spcPts val="0"/>
              </a:spcBef>
              <a:spcAft>
                <a:spcPts val="0"/>
              </a:spcAft>
            </a:pPr>
            <a:r>
              <a:rPr sz="1250" b="0">
                <a:solidFill>
                  <a:srgbClr val="4A4F57"/>
                </a:solidFill>
                <a:latin typeface="Calibri"/>
              </a:rPr>
              <a:t>A richer output composes, because the surplus is simply unread. A name the target reads and the source does not produce is a wire to nowhere, and the refusal names it.</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A composite's schema is derived, never written down</a:t>
            </a:r>
          </a:p>
          <a:p>
            <a:pPr lvl="1">
              <a:lnSpc>
                <a:spcPct val="120000"/>
              </a:lnSpc>
              <a:spcBef>
                <a:spcPts val="0"/>
              </a:spcBef>
              <a:spcAft>
                <a:spcPts val="0"/>
              </a:spcAft>
            </a:pPr>
            <a:r>
              <a:rPr sz="1250" b="0">
                <a:solidFill>
                  <a:srgbClr val="4A4F57"/>
                </a:solidFill>
                <a:latin typeface="Calibri"/>
              </a:rPr>
              <a:t>A signature somebody typed is a signature that can disagree with its parts. The composite's input contract is the partial meet of its members', so two members wanting one attribute at two datatypes is refused when the composite is defined rather than discovered when it runs.</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Not every relation between two models is a wire</a:t>
            </a:r>
          </a:p>
          <a:p>
            <a:pPr lvl="1">
              <a:lnSpc>
                <a:spcPct val="120000"/>
              </a:lnSpc>
              <a:spcBef>
                <a:spcPts val="0"/>
              </a:spcBef>
              <a:spcAft>
                <a:spcPts val="0"/>
              </a:spcAft>
            </a:pPr>
            <a:r>
              <a:rPr sz="1250" b="0">
                <a:solidFill>
                  <a:srgbClr val="4A4F57"/>
                </a:solidFill>
                <a:latin typeface="Calibri"/>
              </a:rPr>
              <a:t>“Challenger of” and “benchmark for” record how somebody thinks about a model. There is no wire, so there is nothing to type — and treating a challenger as a dependency would inflate every blast radius it appears in.</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What composes, and what does not</a:t>
            </a:r>
          </a:p>
          <a:p>
            <a:pPr lvl="1">
              <a:lnSpc>
                <a:spcPct val="120000"/>
              </a:lnSpc>
              <a:spcBef>
                <a:spcPts val="0"/>
              </a:spcBef>
              <a:spcAft>
                <a:spcPts val="0"/>
              </a:spcAft>
            </a:pPr>
            <a:r>
              <a:rPr sz="1250" b="0">
                <a:solidFill>
                  <a:srgbClr val="4A4F57"/>
                </a:solidFill>
                <a:latin typeface="Calibri"/>
              </a:rPr>
              <a:t>A composite's maturity is capped at its least mature member's: a meet on a finite chain, which composes, and every member below the target named rather than the first. A risk magnitude is what does not compose, and the next two slides are why.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WORKED EXAMPLE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wire that was a drawing</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Composition, and the risk that does not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15</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An expected-credit-loss stack records that a PD model feeds a provisioning engine. Both entries have existed for two years and the edge is on the diagram in every committee pack.</a:t>
            </a:r>
          </a:p>
        </p:txBody>
      </p:sp>
      <p:sp>
        <p:nvSpPr>
          <p:cNvPr id="11" name="Rectangle 10"/>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§4.1, the worked example following the composition type-check.</a:t>
            </a:r>
          </a:p>
        </p:txBody>
      </p:sp>
      <p:sp>
        <p:nvSpPr>
          <p:cNvPr id="13" name="TextBox 12"/>
          <p:cNvSpPr txBox="1"/>
          <p:nvPr/>
        </p:nvSpPr>
        <p:spPr>
          <a:xfrm>
            <a:off x="777240" y="2040509"/>
            <a:ext cx="10637215" cy="3839083"/>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C1C1E"/>
                </a:solidFill>
                <a:latin typeface="Calibri"/>
              </a:rPr>
              <a:t>What the register held</a:t>
            </a:r>
          </a:p>
          <a:p>
            <a:pPr lvl="1">
              <a:lnSpc>
                <a:spcPct val="120000"/>
              </a:lnSpc>
              <a:spcBef>
                <a:spcPts val="0"/>
              </a:spcBef>
              <a:spcAft>
                <a:spcPts val="0"/>
              </a:spcAft>
            </a:pPr>
            <a:r>
              <a:rPr sz="1450" b="0">
                <a:solidFill>
                  <a:srgbClr val="4A4F57"/>
                </a:solidFill>
                <a:latin typeface="Calibri"/>
              </a:rPr>
              <a:t>The PD model's current version produces pd_12m. The provisioning engine's current version reads pd_lifetime. Nobody had wired the two systems together.</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What was actually there</a:t>
            </a:r>
          </a:p>
          <a:p>
            <a:pPr lvl="1">
              <a:lnSpc>
                <a:spcPct val="120000"/>
              </a:lnSpc>
              <a:spcBef>
                <a:spcPts val="0"/>
              </a:spcBef>
              <a:spcAft>
                <a:spcPts val="0"/>
              </a:spcAft>
            </a:pPr>
            <a:r>
              <a:rPr sz="1450" b="0">
                <a:solidFill>
                  <a:srgbClr val="4A4F57"/>
                </a:solidFill>
                <a:latin typeface="Calibri"/>
              </a:rPr>
              <a:t>An adapter in between, computing one from the other using a term structure that belongs to a third model — which is not in the register at all.</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What the unchecked edge reports</a:t>
            </a:r>
          </a:p>
          <a:p>
            <a:pPr lvl="1">
              <a:lnSpc>
                <a:spcPct val="120000"/>
              </a:lnSpc>
              <a:spcBef>
                <a:spcPts val="0"/>
              </a:spcBef>
              <a:spcAft>
                <a:spcPts val="0"/>
              </a:spcAft>
            </a:pPr>
            <a:r>
              <a:rPr sz="1450" b="0">
                <a:solidFill>
                  <a:srgbClr val="4A4F57"/>
                </a:solidFill>
                <a:latin typeface="Calibri"/>
              </a:rPr>
              <a:t>A two-node dependency, and a blast radius wrong in both directions at once: it claims a change to the PD model reaches provisioning directly, and it omits the term structure entirely. Nothing about the drawing said so.</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What the check does instead</a:t>
            </a:r>
          </a:p>
          <a:p>
            <a:pPr lvl="1">
              <a:lnSpc>
                <a:spcPct val="120000"/>
              </a:lnSpc>
              <a:spcBef>
                <a:spcPts val="0"/>
              </a:spcBef>
              <a:spcAft>
                <a:spcPts val="0"/>
              </a:spcAft>
            </a:pPr>
            <a:r>
              <a:rPr sz="1450" b="0">
                <a:solidFill>
                  <a:srgbClr val="4A4F57"/>
                </a:solidFill>
                <a:latin typeface="Calibri"/>
              </a:rPr>
              <a:t>The edge is refused at the moment somebody records it, with pd_lifetime named as the output that does not exist. The conversation that follows is the one that discovers the third model — which is the whole value of the refusal, and it is available only because the edge asserts something checkable.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AGGREGATE RISK</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Two banks, one curve or two</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Composition, and the risk that does not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16</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Supervisory guidance asks that risk be assessed both individually and in aggregate, reflecting interactions and dependencies among models and reliance on common assumptions, data or methodologies. That expectation has precise formal content: it asserts that compositionality fails.</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§4.2, “Aggregate risk”: the definitions of a risk assignment and of fragility, and the theorem that no assignment is both compositional and fragility-sensitive.</a:t>
            </a:r>
          </a:p>
        </p:txBody>
      </p:sp>
      <p:sp>
        <p:nvSpPr>
          <p:cNvPr id="13" name="TextBox 12"/>
          <p:cNvSpPr txBox="1"/>
          <p:nvPr/>
        </p:nvSpPr>
        <p:spPr>
          <a:xfrm>
            <a:off x="777240" y="2284984"/>
            <a:ext cx="10637215" cy="3393439"/>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The two banks</a:t>
            </a:r>
          </a:p>
          <a:p>
            <a:pPr lvl="1">
              <a:lnSpc>
                <a:spcPct val="120000"/>
              </a:lnSpc>
              <a:spcBef>
                <a:spcPts val="0"/>
              </a:spcBef>
              <a:spcAft>
                <a:spcPts val="0"/>
              </a:spcAft>
            </a:pPr>
            <a:r>
              <a:rPr sz="1300" b="0">
                <a:solidFill>
                  <a:srgbClr val="4A4F57"/>
                </a:solidFill>
                <a:latin typeface="Calibri"/>
              </a:rPr>
              <a:t>Each runs one curve model and two pricers. Bank A feeds both pricers from a single curve. Bank B built two curves independently, one for each pricer.</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Rated individually they are identical</a:t>
            </a:r>
          </a:p>
          <a:p>
            <a:pPr lvl="1">
              <a:lnSpc>
                <a:spcPct val="120000"/>
              </a:lnSpc>
              <a:spcBef>
                <a:spcPts val="0"/>
              </a:spcBef>
              <a:spcAft>
                <a:spcPts val="0"/>
              </a:spcAft>
            </a:pPr>
            <a:r>
              <a:rPr sz="1300" b="0">
                <a:solidFill>
                  <a:srgbClr val="4A4F57"/>
                </a:solidFill>
                <a:latin typeface="Calibri"/>
              </a:rPr>
              <a:t>Same curve rating, same two pricer ratings. So any method that computes the total from the constituent ratings — taking the maximum, or the join, which is standard practice — returns the same answer for both banks.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They are not the same bank</a:t>
            </a:r>
          </a:p>
          <a:p>
            <a:pPr lvl="1">
              <a:lnSpc>
                <a:spcPct val="120000"/>
              </a:lnSpc>
              <a:spcBef>
                <a:spcPts val="0"/>
              </a:spcBef>
              <a:spcAft>
                <a:spcPts val="0"/>
              </a:spcAft>
            </a:pPr>
            <a:r>
              <a:rPr sz="1300" b="0">
                <a:solidFill>
                  <a:srgbClr val="4A4F57"/>
                </a:solidFill>
                <a:latin typeface="Calibri"/>
              </a:rPr>
              <a:t>Bank A has a single point of failure and Bank B does not. That is the whole of it: the risk of the whole is not a function of the risks of the parts, because part of it lives in the wiring.</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Stated exactly</a:t>
            </a:r>
          </a:p>
          <a:p>
            <a:pPr lvl="1">
              <a:lnSpc>
                <a:spcPct val="120000"/>
              </a:lnSpc>
              <a:spcBef>
                <a:spcPts val="0"/>
              </a:spcBef>
              <a:spcAft>
                <a:spcPts val="0"/>
              </a:spcAft>
            </a:pPr>
            <a:r>
              <a:rPr sz="1300" b="0">
                <a:solidFill>
                  <a:srgbClr val="4A4F57"/>
                </a:solidFill>
                <a:latin typeface="Calibri"/>
              </a:rPr>
              <a:t>No risk assignment is both compositional — the whole being the join of its parts — and fragility-sensitive, where a network in which one artefact reaches more of the outputs rates strictly higher than one in which it reaches fewer, the multiset of constituent risks being equal. Two distinct ratings in the scale are enough to force the contradiction, so no richer scale escapes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OBSTRUCTION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It is the copy map, so it cannot be approximated away</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Composition, and the risk that does not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17</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§4.2, the remark identifying the copy map as the obstruction and the corollary that laxity is necessary, with the interaction premium as the discrepancy.</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two networks differ in exactly one thing</a:t>
            </a:r>
          </a:p>
          <a:p>
            <a:pPr lvl="1">
              <a:lnSpc>
                <a:spcPct val="120000"/>
              </a:lnSpc>
              <a:spcBef>
                <a:spcPts val="0"/>
              </a:spcBef>
              <a:spcAft>
                <a:spcPts val="0"/>
              </a:spcAft>
            </a:pPr>
            <a:r>
              <a:rPr sz="1350" b="0">
                <a:solidFill>
                  <a:srgbClr val="4A4F57"/>
                </a:solidFill>
                <a:latin typeface="Calibri"/>
              </a:rPr>
              <a:t>One copies an output and hands it to two consumers; the other runs two independent instances. Shared dependency is that copy — a piece of the algebra, not a correlation assumption somebody chose badly.</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Which is why the ambient setting matters</a:t>
            </a:r>
          </a:p>
          <a:p>
            <a:pPr lvl="1">
              <a:lnSpc>
                <a:spcPct val="120000"/>
              </a:lnSpc>
              <a:spcBef>
                <a:spcPts val="0"/>
              </a:spcBef>
              <a:spcAft>
                <a:spcPts val="0"/>
              </a:spcAft>
            </a:pPr>
            <a:r>
              <a:rPr sz="1350" b="0">
                <a:solidFill>
                  <a:srgbClr val="4A4F57"/>
                </a:solidFill>
                <a:latin typeface="Calibri"/>
              </a:rPr>
              <a:t>Where copying is implicit it is structurally invisible, and the distinction between the two banks cannot be expressed at the level of the algebra at all. Making the copy explicit is a concrete reason to work in a setting that names it, even when every governed artefact is deterministic.</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So the result is a constraint, not a measure</a:t>
            </a:r>
          </a:p>
          <a:p>
            <a:pPr lvl="1">
              <a:lnSpc>
                <a:spcPct val="120000"/>
              </a:lnSpc>
              <a:spcBef>
                <a:spcPts val="0"/>
              </a:spcBef>
              <a:spcAft>
                <a:spcPts val="0"/>
              </a:spcAft>
            </a:pPr>
            <a:r>
              <a:rPr sz="1350" b="0">
                <a:solidFill>
                  <a:srgbClr val="4A4F57"/>
                </a:solidFill>
                <a:latin typeface="Calibri"/>
              </a:rPr>
              <a:t>It says what a correct aggregate cannot be. It does not construct one, and an account that claimed otherwise would be selling the thing it had just proved impossible.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What remains is laxity</a:t>
            </a:r>
          </a:p>
          <a:p>
            <a:pPr lvl="1">
              <a:lnSpc>
                <a:spcPct val="120000"/>
              </a:lnSpc>
              <a:spcBef>
                <a:spcPts val="0"/>
              </a:spcBef>
              <a:spcAft>
                <a:spcPts val="0"/>
              </a:spcAft>
            </a:pPr>
            <a:r>
              <a:rPr sz="1350" b="0">
                <a:solidFill>
                  <a:srgbClr val="4A4F57"/>
                </a:solidFill>
                <a:latin typeface="Calibri"/>
              </a:rPr>
              <a:t>Any fragility-sensitive assignment is at best lax: the whole is at least the join of its parts. The discrepancy is the interaction premium, and it is the quantity the guidance is actually asking about.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And therefore what a correct aggregate must report</a:t>
            </a:r>
          </a:p>
          <a:p>
            <a:pPr lvl="1">
              <a:lnSpc>
                <a:spcPct val="120000"/>
              </a:lnSpc>
              <a:spcBef>
                <a:spcPts val="0"/>
              </a:spcBef>
              <a:spcAft>
                <a:spcPts val="0"/>
              </a:spcAft>
            </a:pPr>
            <a:r>
              <a:rPr sz="1350" b="0">
                <a:solidFill>
                  <a:srgbClr val="4A4F57"/>
                </a:solidFill>
                <a:latin typeface="Calibri"/>
              </a:rPr>
              <a:t>The join of the constituents and the composite figure, with the difference attributed — to common parameter objects, common inputs, common fitting evidence, common methodology. The first three are computable from a typed graph. The fourth is not, and an aggregate that implies it is becomes decorative.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4</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One operator</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 fact carries two independent times: the moment it held in the world, and the moment the recording system learned it. Conflating them is the dominant silent failure in this domain, because it improves every metric it corrupts. The remedy is not a convention in whoever wrote the query; it is an operator with laws.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Two clocks, and the one people drop</a:t>
            </a:r>
          </a:p>
          <a:p>
            <a:pPr>
              <a:lnSpc>
                <a:spcPct val="115000"/>
              </a:lnSpc>
              <a:spcBef>
                <a:spcPts val="0"/>
              </a:spcBef>
              <a:spcAft>
                <a:spcPts val="600"/>
              </a:spcAft>
            </a:pPr>
            <a:r>
              <a:rPr sz="1200" b="0" i="0">
                <a:solidFill>
                  <a:srgbClr val="F6E6E9"/>
                </a:solidFill>
                <a:latin typeface="Calibri"/>
              </a:rPr>
              <a:t>The admissible set, and the read</a:t>
            </a:r>
          </a:p>
          <a:p>
            <a:pPr>
              <a:lnSpc>
                <a:spcPct val="115000"/>
              </a:lnSpc>
              <a:spcBef>
                <a:spcPts val="0"/>
              </a:spcBef>
              <a:spcAft>
                <a:spcPts val="600"/>
              </a:spcAft>
            </a:pPr>
            <a:r>
              <a:rPr sz="1200" b="0" i="0">
                <a:solidFill>
                  <a:srgbClr val="F6E6E9"/>
                </a:solidFill>
                <a:latin typeface="Calibri"/>
              </a:rPr>
              <a:t>Four properties, and the min</a:t>
            </a:r>
          </a:p>
          <a:p>
            <a:pPr>
              <a:lnSpc>
                <a:spcPct val="115000"/>
              </a:lnSpc>
              <a:spcBef>
                <a:spcPts val="0"/>
              </a:spcBef>
              <a:spcAft>
                <a:spcPts val="600"/>
              </a:spcAft>
            </a:pPr>
            <a:r>
              <a:rPr sz="1200" b="0" i="0">
                <a:solidFill>
                  <a:srgbClr val="F6E6E9"/>
                </a:solidFill>
                <a:latin typeface="Calibri"/>
              </a:rPr>
              <a:t>Where the data may live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TWO CLOCKS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When it was true, and when you found out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One operator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19</a:t>
            </a:r>
          </a:p>
        </p:txBody>
      </p:sp>
      <p:sp>
        <p:nvSpPr>
          <p:cNvPr id="10" name="Rectangle 9"/>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§5.1, “Two clocks”, and the plain-terms gloss that follows it.</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a record carries</a:t>
            </a:r>
          </a:p>
        </p:txBody>
      </p:sp>
      <p:sp>
        <p:nvSpPr>
          <p:cNvPr id="15" name="TextBox 14"/>
          <p:cNvSpPr txBox="1"/>
          <p:nvPr/>
        </p:nvSpPr>
        <p:spPr>
          <a:xfrm>
            <a:off x="777240" y="1899031"/>
            <a:ext cx="5135727" cy="398056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Event time</a:t>
            </a:r>
          </a:p>
          <a:p>
            <a:pPr lvl="1">
              <a:lnSpc>
                <a:spcPct val="120000"/>
              </a:lnSpc>
              <a:spcBef>
                <a:spcPts val="0"/>
              </a:spcBef>
              <a:spcAft>
                <a:spcPts val="0"/>
              </a:spcAft>
            </a:pPr>
            <a:r>
              <a:rPr sz="1350" b="0">
                <a:solidFill>
                  <a:srgbClr val="4A4F57"/>
                </a:solidFill>
                <a:latin typeface="Calibri"/>
              </a:rPr>
              <a:t>The moment the fact held in the world — the date a value is about.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Ingest time</a:t>
            </a:r>
          </a:p>
          <a:p>
            <a:pPr lvl="1">
              <a:lnSpc>
                <a:spcPct val="120000"/>
              </a:lnSpc>
              <a:spcBef>
                <a:spcPts val="0"/>
              </a:spcBef>
              <a:spcAft>
                <a:spcPts val="0"/>
              </a:spcAft>
            </a:pPr>
            <a:r>
              <a:rPr sz="1350" b="0">
                <a:solidFill>
                  <a:srgbClr val="4A4F57"/>
                </a:solidFill>
                <a:latin typeface="Calibri"/>
              </a:rPr>
              <a:t>The moment the recording system could first have known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So a restatement is a new record</a:t>
            </a:r>
          </a:p>
          <a:p>
            <a:pPr lvl="1">
              <a:lnSpc>
                <a:spcPct val="120000"/>
              </a:lnSpc>
              <a:spcBef>
                <a:spcPts val="0"/>
              </a:spcBef>
              <a:spcAft>
                <a:spcPts val="0"/>
              </a:spcAft>
            </a:pPr>
            <a:r>
              <a:rPr sz="1350" b="0">
                <a:solidFill>
                  <a:srgbClr val="4A4F57"/>
                </a:solidFill>
                <a:latin typeface="Calibri"/>
              </a:rPr>
              <a:t>Same event time, later ingest time, and nothing overwritten. The earlier answer stays derivable, which is the property every guarantee in this part rests on: a store that amends in place has no earlier answer to return.</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goes wrong when they are one</a:t>
            </a:r>
          </a:p>
        </p:txBody>
      </p:sp>
      <p:sp>
        <p:nvSpPr>
          <p:cNvPr id="19" name="TextBox 18"/>
          <p:cNvSpPr txBox="1"/>
          <p:nvPr/>
        </p:nvSpPr>
        <p:spPr>
          <a:xfrm>
            <a:off x="6278727" y="1899031"/>
            <a:ext cx="5135727" cy="398056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Look-ahead leakage</a:t>
            </a:r>
          </a:p>
          <a:p>
            <a:pPr lvl="1">
              <a:lnSpc>
                <a:spcPct val="120000"/>
              </a:lnSpc>
              <a:spcBef>
                <a:spcPts val="0"/>
              </a:spcBef>
              <a:spcAft>
                <a:spcPts val="0"/>
              </a:spcAft>
            </a:pPr>
            <a:r>
              <a:rPr sz="1350" b="0">
                <a:solidFill>
                  <a:srgbClr val="4A4F57"/>
                </a:solidFill>
                <a:latin typeface="Calibri"/>
              </a:rPr>
              <a:t>An artefact fitted on facts that had not been recorded when the decision was taken assesses excellently and performs badly. It has been shown the answers.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And the post-mortem blames drift</a:t>
            </a:r>
          </a:p>
          <a:p>
            <a:pPr lvl="1">
              <a:lnSpc>
                <a:spcPct val="120000"/>
              </a:lnSpc>
              <a:spcBef>
                <a:spcPts val="0"/>
              </a:spcBef>
              <a:spcAft>
                <a:spcPts val="0"/>
              </a:spcAft>
            </a:pPr>
            <a:r>
              <a:rPr sz="1350" b="0">
                <a:solidFill>
                  <a:srgbClr val="4A4F57"/>
                </a:solidFill>
                <a:latin typeface="Calibri"/>
              </a:rPr>
              <a:t>The failure is invisible to every performance metric, because it improves them. That is what makes it the dominant silent failure rather than merely a common one: nothing in the numbers asks to be investigated.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rule, and the half that gets dropped</a:t>
            </a:r>
          </a:p>
          <a:p>
            <a:pPr lvl="1">
              <a:lnSpc>
                <a:spcPct val="120000"/>
              </a:lnSpc>
              <a:spcBef>
                <a:spcPts val="0"/>
              </a:spcBef>
              <a:spcAft>
                <a:spcPts val="0"/>
              </a:spcAft>
            </a:pPr>
            <a:r>
              <a:rPr sz="1350" b="0">
                <a:solidFill>
                  <a:srgbClr val="4A4F57"/>
                </a:solidFill>
                <a:latin typeface="Calibri"/>
              </a:rPr>
              <a:t>Use the latest fact that was both true by the decision date and known by the decision date. The second half is the one people drop, usually by bounding knowledge with “now” instead.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READ AS AN OPERATOR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An admissible set, and the latest thing in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One operator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20</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§5.2, “The read as an operator”: the admissible set and the point-in-time read, and the observation that the correct ingest bound is the earlier of the label and the observation.</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admissible set</a:t>
            </a:r>
          </a:p>
          <a:p>
            <a:pPr lvl="1">
              <a:lnSpc>
                <a:spcPct val="120000"/>
              </a:lnSpc>
              <a:spcBef>
                <a:spcPts val="0"/>
              </a:spcBef>
              <a:spcAft>
                <a:spcPts val="0"/>
              </a:spcAft>
            </a:pPr>
            <a:r>
              <a:rPr sz="1350" b="0">
                <a:solidFill>
                  <a:srgbClr val="4A4F57"/>
                </a:solidFill>
                <a:latin typeface="Calibri"/>
              </a:rPr>
              <a:t>For a label time ℓ — the moment the decision was taken — and an observation time a at which the assembly is run, the records admissible for a row are those whose event time is at or before ℓ and whose ingest time is at or before min(ℓ, a).</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read</a:t>
            </a:r>
          </a:p>
          <a:p>
            <a:pPr lvl="1">
              <a:lnSpc>
                <a:spcPct val="120000"/>
              </a:lnSpc>
              <a:spcBef>
                <a:spcPts val="0"/>
              </a:spcBef>
              <a:spcAft>
                <a:spcPts val="0"/>
              </a:spcAft>
            </a:pPr>
            <a:r>
              <a:rPr sz="1350" b="0">
                <a:solidFill>
                  <a:srgbClr val="4A4F57"/>
                </a:solidFill>
                <a:latin typeface="Calibri"/>
              </a:rPr>
              <a:t>The latest admissible record, by event time and then by ingest time. It is undefined when nothing is admissible, rather than empty: a row for which nothing could have been known is a different fact about the world from a row whose value was zero, and an operator that returned the same thing for both would lose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Both bounds are present because they refuse different things</a:t>
            </a:r>
          </a:p>
          <a:p>
            <a:pPr lvl="1">
              <a:lnSpc>
                <a:spcPct val="120000"/>
              </a:lnSpc>
              <a:spcBef>
                <a:spcPts val="0"/>
              </a:spcBef>
              <a:spcAft>
                <a:spcPts val="0"/>
              </a:spcAft>
            </a:pPr>
            <a:r>
              <a:rPr sz="1350" b="0">
                <a:solidFill>
                  <a:srgbClr val="4A4F57"/>
                </a:solidFill>
                <a:latin typeface="Calibri"/>
              </a:rPr>
              <a:t>The event bound is what the world had done by the moment of the decision. The ingest bound is what could have been known at that moment. A read with one clock answers a question nobody asked — what do we think now about what was true then — and answers it without saying so.</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And the ingest bound is min(ℓ, a), not a</a:t>
            </a:r>
          </a:p>
          <a:p>
            <a:pPr lvl="1">
              <a:lnSpc>
                <a:spcPct val="120000"/>
              </a:lnSpc>
              <a:spcBef>
                <a:spcPts val="0"/>
              </a:spcBef>
              <a:spcAft>
                <a:spcPts val="0"/>
              </a:spcAft>
            </a:pPr>
            <a:r>
              <a:rPr sz="1350" b="0">
                <a:solidFill>
                  <a:srgbClr val="4A4F57"/>
                </a:solidFill>
                <a:latin typeface="Calibri"/>
              </a:rPr>
              <a:t>Because a is a single scalar for a whole assembly and is usually far later than any individual label. Bounding knowledge by the assembly date admits, for every early row, everything learned between that row's own decision date and the moment somebody pressed the button. The min is one character and it is the whole guarantee; its omission is invisible in every test that does not restate a 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FOUR PROPERTIES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And the fourth one is reproducibility</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One operator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21</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Each is elementary to prove and none is ornamental: together they are the difference between a read that is correct and a read that is stable. The fourth makes reproducibility a property of the operator rather than of the discipline of whoever re-runs it.</a:t>
            </a:r>
          </a:p>
        </p:txBody>
      </p:sp>
      <p:sp>
        <p:nvSpPr>
          <p:cNvPr id="11" name="Rectangle 10"/>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§5.2, the four properties and the corollary that saturation is the reproducibility guarantee.</a:t>
            </a:r>
          </a:p>
        </p:txBody>
      </p:sp>
      <p:graphicFrame>
        <p:nvGraphicFramePr>
          <p:cNvPr id="13" name="Table 12"/>
          <p:cNvGraphicFramePr>
            <a:graphicFrameLocks noGrp="1"/>
          </p:cNvGraphicFramePr>
          <p:nvPr/>
        </p:nvGraphicFramePr>
        <p:xfrm>
          <a:off x="777240" y="2284984"/>
          <a:ext cx="10637214" cy="3560920"/>
        </p:xfrm>
        <a:graphic>
          <a:graphicData uri="http://schemas.openxmlformats.org/drawingml/2006/table">
            <a:tbl>
              <a:tblPr firstRow="1">
                <a:tableStyleId>{5C22544A-7EE6-4342-B048-85BDC9FD1C3A}</a:tableStyleId>
              </a:tblPr>
              <a:tblGrid>
                <a:gridCol w="2292503"/>
                <a:gridCol w="3668005"/>
                <a:gridCol w="4676706"/>
              </a:tblGrid>
              <a:tr h="310546">
                <a:tc>
                  <a:txBody>
                    <a:bodyPr wrap="square"/>
                    <a:lstStyle/>
                    <a:p>
                      <a:r>
                        <a:rPr sz="1250" b="1">
                          <a:solidFill>
                            <a:srgbClr val="FFFFFF"/>
                          </a:solidFill>
                          <a:latin typeface="Calibri"/>
                        </a:rPr>
                        <a:t>Property</a:t>
                      </a:r>
                    </a:p>
                  </a:txBody>
                  <a:tcPr marL="82296" marR="64008" marT="32004" marB="32004" anchor="ctr">
                    <a:solidFill>
                      <a:srgbClr val="A51C30"/>
                    </a:solidFill>
                  </a:tcPr>
                </a:tc>
                <a:tc>
                  <a:txBody>
                    <a:bodyPr wrap="square"/>
                    <a:lstStyle/>
                    <a:p>
                      <a:r>
                        <a:rPr sz="1250" b="1">
                          <a:solidFill>
                            <a:srgbClr val="FFFFFF"/>
                          </a:solidFill>
                          <a:latin typeface="Calibri"/>
                        </a:rPr>
                        <a:t>What it says</a:t>
                      </a:r>
                    </a:p>
                  </a:txBody>
                  <a:tcPr marL="82296" marR="64008" marT="32004" marB="32004" anchor="ctr">
                    <a:solidFill>
                      <a:srgbClr val="A51C30"/>
                    </a:solidFill>
                  </a:tcPr>
                </a:tc>
                <a:tc>
                  <a:txBody>
                    <a:bodyPr wrap="square"/>
                    <a:lstStyle/>
                    <a:p>
                      <a:r>
                        <a:rPr sz="1250" b="1">
                          <a:solidFill>
                            <a:srgbClr val="FFFFFF"/>
                          </a:solidFill>
                          <a:latin typeface="Calibri"/>
                        </a:rPr>
                        <a:t>Why it is worth having</a:t>
                      </a:r>
                    </a:p>
                  </a:txBody>
                  <a:tcPr marL="82296" marR="64008" marT="32004" marB="32004" anchor="ctr">
                    <a:solidFill>
                      <a:srgbClr val="A51C30"/>
                    </a:solidFill>
                  </a:tcPr>
                </a:tc>
              </a:tr>
              <a:tr h="712184">
                <a:tc>
                  <a:txBody>
                    <a:bodyPr wrap="square"/>
                    <a:lstStyle/>
                    <a:p>
                      <a:r>
                        <a:rPr sz="1250" b="1">
                          <a:solidFill>
                            <a:srgbClr val="761422"/>
                          </a:solidFill>
                          <a:latin typeface="Calibri"/>
                        </a:rPr>
                        <a:t>Idempotent</a:t>
                      </a:r>
                    </a:p>
                  </a:txBody>
                  <a:tcPr marL="82296" marR="64008" marT="32004" marB="32004" anchor="ctr">
                    <a:solidFill>
                      <a:srgbClr val="FFFFFF"/>
                    </a:solidFill>
                  </a:tcPr>
                </a:tc>
                <a:tc>
                  <a:txBody>
                    <a:bodyPr wrap="square"/>
                    <a:lstStyle/>
                    <a:p>
                      <a:r>
                        <a:rPr sz="1250" b="0">
                          <a:solidFill>
                            <a:srgbClr val="1C1C1E"/>
                          </a:solidFill>
                          <a:latin typeface="Calibri"/>
                        </a:rPr>
                        <a:t>Reading the record it just returned returns that record</a:t>
                      </a:r>
                    </a:p>
                  </a:txBody>
                  <a:tcPr marL="82296" marR="64008" marT="32004" marB="32004" anchor="ctr">
                    <a:solidFill>
                      <a:srgbClr val="FFFFFF"/>
                    </a:solidFill>
                  </a:tcPr>
                </a:tc>
                <a:tc>
                  <a:txBody>
                    <a:bodyPr wrap="square"/>
                    <a:lstStyle/>
                    <a:p>
                      <a:r>
                        <a:rPr sz="1250" b="0">
                          <a:solidFill>
                            <a:srgbClr val="1C1C1E"/>
                          </a:solidFill>
                          <a:latin typeface="Calibri"/>
                        </a:rPr>
                        <a:t>A cached row and a recomputed row agree, so the operator may be applied twice without an answer moving</a:t>
                      </a:r>
                    </a:p>
                  </a:txBody>
                  <a:tcPr marL="82296" marR="64008" marT="32004" marB="32004" anchor="ctr">
                    <a:solidFill>
                      <a:srgbClr val="FFFFFF"/>
                    </a:solidFill>
                  </a:tcPr>
                </a:tc>
              </a:tr>
              <a:tr h="712184">
                <a:tc>
                  <a:txBody>
                    <a:bodyPr wrap="square"/>
                    <a:lstStyle/>
                    <a:p>
                      <a:r>
                        <a:rPr sz="1250" b="1">
                          <a:solidFill>
                            <a:srgbClr val="761422"/>
                          </a:solidFill>
                          <a:latin typeface="Calibri"/>
                        </a:rPr>
                        <a:t>Commutes with projection</a:t>
                      </a:r>
                    </a:p>
                  </a:txBody>
                  <a:tcPr marL="82296" marR="64008" marT="32004" marB="32004" anchor="ctr">
                    <a:solidFill>
                      <a:srgbClr val="F6F3EF"/>
                    </a:solidFill>
                  </a:tcPr>
                </a:tc>
                <a:tc>
                  <a:txBody>
                    <a:bodyPr wrap="square"/>
                    <a:lstStyle/>
                    <a:p>
                      <a:r>
                        <a:rPr sz="1250" b="0">
                          <a:solidFill>
                            <a:srgbClr val="1C1C1E"/>
                          </a:solidFill>
                          <a:latin typeface="Calibri"/>
                        </a:rPr>
                        <a:t>Dropping non-clock columns before or after the read gives the same row</a:t>
                      </a:r>
                    </a:p>
                  </a:txBody>
                  <a:tcPr marL="82296" marR="64008" marT="32004" marB="32004" anchor="ctr">
                    <a:solidFill>
                      <a:srgbClr val="F6F3EF"/>
                    </a:solidFill>
                  </a:tcPr>
                </a:tc>
                <a:tc>
                  <a:txBody>
                    <a:bodyPr wrap="square"/>
                    <a:lstStyle/>
                    <a:p>
                      <a:r>
                        <a:rPr sz="1250" b="0">
                          <a:solidFill>
                            <a:srgbClr val="1C1C1E"/>
                          </a:solidFill>
                          <a:latin typeface="Calibri"/>
                        </a:rPr>
                        <a:t>Admissibility and the ordering depend on the two clocks alone, so a narrower query is the same query rather than a cheaper approximation of it</a:t>
                      </a:r>
                    </a:p>
                  </a:txBody>
                  <a:tcPr marL="82296" marR="64008" marT="32004" marB="32004" anchor="ctr">
                    <a:solidFill>
                      <a:srgbClr val="F6F3EF"/>
                    </a:solidFill>
                  </a:tcPr>
                </a:tc>
              </a:tr>
              <a:tr h="913003">
                <a:tc>
                  <a:txBody>
                    <a:bodyPr wrap="square"/>
                    <a:lstStyle/>
                    <a:p>
                      <a:r>
                        <a:rPr sz="1250" b="1">
                          <a:solidFill>
                            <a:srgbClr val="761422"/>
                          </a:solidFill>
                          <a:latin typeface="Calibri"/>
                        </a:rPr>
                        <a:t>Monotone in the observation time</a:t>
                      </a:r>
                    </a:p>
                  </a:txBody>
                  <a:tcPr marL="82296" marR="64008" marT="32004" marB="32004" anchor="ctr">
                    <a:solidFill>
                      <a:srgbClr val="FFFFFF"/>
                    </a:solidFill>
                  </a:tcPr>
                </a:tc>
                <a:tc>
                  <a:txBody>
                    <a:bodyPr wrap="square"/>
                    <a:lstStyle/>
                    <a:p>
                      <a:r>
                        <a:rPr sz="1250" b="0">
                          <a:solidFill>
                            <a:srgbClr val="1C1C1E"/>
                          </a:solidFill>
                          <a:latin typeface="Calibri"/>
                        </a:rPr>
                        <a:t>A later observation admits a superset</a:t>
                      </a:r>
                    </a:p>
                  </a:txBody>
                  <a:tcPr marL="82296" marR="64008" marT="32004" marB="32004" anchor="ctr">
                    <a:solidFill>
                      <a:srgbClr val="FFFFFF"/>
                    </a:solidFill>
                  </a:tcPr>
                </a:tc>
                <a:tc>
                  <a:txBody>
                    <a:bodyPr wrap="square"/>
                    <a:lstStyle/>
                    <a:p>
                      <a:r>
                        <a:rPr sz="1250" b="0">
                          <a:solidFill>
                            <a:srgbClr val="1C1C1E"/>
                          </a:solidFill>
                          <a:latin typeface="Calibri"/>
                        </a:rPr>
                        <a:t>Nothing that was knowable stops being knowable. It is monotonicity of the set and not of the chosen row, which is why the fourth property has to be separate</a:t>
                      </a:r>
                    </a:p>
                  </a:txBody>
                  <a:tcPr marL="82296" marR="64008" marT="32004" marB="32004" anchor="ctr">
                    <a:solidFill>
                      <a:srgbClr val="FFFFFF"/>
                    </a:solidFill>
                  </a:tcPr>
                </a:tc>
              </a:tr>
              <a:tr h="913003">
                <a:tc>
                  <a:txBody>
                    <a:bodyPr wrap="square"/>
                    <a:lstStyle/>
                    <a:p>
                      <a:r>
                        <a:rPr sz="1250" b="1">
                          <a:solidFill>
                            <a:srgbClr val="761422"/>
                          </a:solidFill>
                          <a:latin typeface="Calibri"/>
                        </a:rPr>
                        <a:t>Saturating at the label</a:t>
                      </a:r>
                    </a:p>
                  </a:txBody>
                  <a:tcPr marL="82296" marR="64008" marT="32004" marB="32004" anchor="ctr">
                    <a:solidFill>
                      <a:srgbClr val="F6F3EF"/>
                    </a:solidFill>
                  </a:tcPr>
                </a:tc>
                <a:tc>
                  <a:txBody>
                    <a:bodyPr wrap="square"/>
                    <a:lstStyle/>
                    <a:p>
                      <a:r>
                        <a:rPr sz="1250" b="0">
                          <a:solidFill>
                            <a:srgbClr val="1C1C1E"/>
                          </a:solidFill>
                          <a:latin typeface="Calibri"/>
                        </a:rPr>
                        <a:t>At every observation time at or after the label, the admissible set is the same set</a:t>
                      </a:r>
                    </a:p>
                  </a:txBody>
                  <a:tcPr marL="82296" marR="64008" marT="32004" marB="32004" anchor="ctr">
                    <a:solidFill>
                      <a:srgbClr val="F6F3EF"/>
                    </a:solidFill>
                  </a:tcPr>
                </a:tc>
                <a:tc>
                  <a:txBody>
                    <a:bodyPr wrap="square"/>
                    <a:lstStyle/>
                    <a:p>
                      <a:r>
                        <a:rPr sz="1250" b="0">
                          <a:solidFill>
                            <a:srgbClr val="1C1C1E"/>
                          </a:solidFill>
                          <a:latin typeface="Calibri"/>
                        </a:rPr>
                        <a:t>A row assembled at any time after its label is the row that would have been assembled at the label, whatever arrived in between. This is reproducibility, and it is what the min buys</a:t>
                      </a:r>
                    </a:p>
                  </a:txBody>
                  <a:tcPr marL="82296" marR="64008" marT="32004" marB="32004" anchor="ctr">
                    <a:solidFill>
                      <a:srgbClr val="F6F3E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WORKED EXAMPLE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filed accounts that were restated</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One operator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22</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borrower files Q1 accounts dated 31 March. They land in the warehouse on 20 May. The bank declines an application on 15 June. In August the borrower restates those accounts downward, from a debt-service ratio of 1.20 to 0.40. Both rows are true and both belong in the store: same event time, different ingest times.</a:t>
            </a:r>
          </a:p>
        </p:txBody>
      </p:sp>
      <p:sp>
        <p:nvSpPr>
          <p:cNvPr id="11" name="Rectangle 10"/>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§5.2, the worked example of the restated accounts, read against the reproducibility corollary.</a:t>
            </a:r>
          </a:p>
        </p:txBody>
      </p:sp>
      <p:sp>
        <p:nvSpPr>
          <p:cNvPr id="13" name="TextBox 12"/>
          <p:cNvSpPr txBox="1"/>
          <p:nvPr/>
        </p:nvSpPr>
        <p:spPr>
          <a:xfrm>
            <a:off x="777240" y="2284984"/>
            <a:ext cx="10637215" cy="359460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Read with one clock</a:t>
            </a:r>
          </a:p>
          <a:p>
            <a:pPr lvl="1">
              <a:lnSpc>
                <a:spcPct val="120000"/>
              </a:lnSpc>
              <a:spcBef>
                <a:spcPts val="0"/>
              </a:spcBef>
              <a:spcAft>
                <a:spcPts val="0"/>
              </a:spcAft>
            </a:pPr>
            <a:r>
              <a:rPr sz="1350" b="0">
                <a:solidFill>
                  <a:srgbClr val="4A4F57"/>
                </a:solidFill>
                <a:latin typeface="Calibri"/>
              </a:rPr>
              <a:t>The training row for the June decision gets 0.40, because that is the current value for Q1. The model learns to predict defaults using a number that exists because the default already happened.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Read with two</a:t>
            </a:r>
          </a:p>
          <a:p>
            <a:pPr lvl="1">
              <a:lnSpc>
                <a:spcPct val="120000"/>
              </a:lnSpc>
              <a:spcBef>
                <a:spcPts val="0"/>
              </a:spcBef>
              <a:spcAft>
                <a:spcPts val="0"/>
              </a:spcAft>
            </a:pPr>
            <a:r>
              <a:rPr sz="1350" b="0">
                <a:solidFill>
                  <a:srgbClr val="4A4F57"/>
                </a:solidFill>
                <a:latin typeface="Calibri"/>
              </a:rPr>
              <a:t>It gets 1.20 — and by saturation it still gets 1.20 when the set is rebuilt in 2028, after two more restatements.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And the row labelled in September gets 0.40</a:t>
            </a:r>
          </a:p>
          <a:p>
            <a:pPr lvl="1">
              <a:lnSpc>
                <a:spcPct val="120000"/>
              </a:lnSpc>
              <a:spcBef>
                <a:spcPts val="0"/>
              </a:spcBef>
              <a:spcAft>
                <a:spcPts val="0"/>
              </a:spcAft>
            </a:pPr>
            <a:r>
              <a:rPr sz="1350" b="0">
                <a:solidFill>
                  <a:srgbClr val="4A4F57"/>
                </a:solidFill>
                <a:latin typeface="Calibri"/>
              </a:rPr>
              <a:t>Correctly, because by then the restatement was knowable. The operator is not a rule for ignoring restatements; it is a rule about the moment each one becomes admissible, and it gives a different answer for each label date.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Which is the least useful kind of reproducibility to lack</a:t>
            </a:r>
          </a:p>
          <a:p>
            <a:pPr lvl="1">
              <a:lnSpc>
                <a:spcPct val="120000"/>
              </a:lnSpc>
              <a:spcBef>
                <a:spcPts val="0"/>
              </a:spcBef>
              <a:spcAft>
                <a:spcPts val="0"/>
              </a:spcAft>
            </a:pPr>
            <a:r>
              <a:rPr sz="1350" b="0">
                <a:solidFill>
                  <a:srgbClr val="4A4F57"/>
                </a:solidFill>
                <a:latin typeface="Calibri"/>
              </a:rPr>
              <a:t>Without saturation a re-run quietly improves on the original, and the numbers then agree with nothing — including themselves. Nobody notices, because the second set is better by every measure that gets looked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THE DATA MAY LIVE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Copy, do not connect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One operator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23</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 operator is usually read as a statement about how to query a store. It is also a statement about which stores may be queried at all, and the second reading is the operational one.</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§5.4, “A corollary about where the data may live”, which constrains the operator's argument as tightly as its definition.</a:t>
            </a:r>
          </a:p>
        </p:txBody>
      </p:sp>
      <p:sp>
        <p:nvSpPr>
          <p:cNvPr id="13" name="TextBox 12"/>
          <p:cNvSpPr txBox="1"/>
          <p:nvPr/>
        </p:nvSpPr>
        <p:spPr>
          <a:xfrm>
            <a:off x="777240" y="2040509"/>
            <a:ext cx="10637215" cy="3637914"/>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The guarantee has two premises about the store</a:t>
            </a:r>
          </a:p>
          <a:p>
            <a:pPr lvl="1">
              <a:lnSpc>
                <a:spcPct val="120000"/>
              </a:lnSpc>
              <a:spcBef>
                <a:spcPts val="0"/>
              </a:spcBef>
              <a:spcAft>
                <a:spcPts val="0"/>
              </a:spcAft>
            </a:pPr>
            <a:r>
              <a:rPr sz="1200" b="0">
                <a:solidFill>
                  <a:srgbClr val="4A4F57"/>
                </a:solidFill>
                <a:latin typeface="Calibri"/>
              </a:rPr>
              <a:t>That every record carries both clocks, and that a restatement appends rather than amends. Neither is a property of the query, so no operator applied at read time can supply what the store does not keep.</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A source that overwrites has neither</a:t>
            </a:r>
          </a:p>
          <a:p>
            <a:pPr lvl="1">
              <a:lnSpc>
                <a:spcPct val="120000"/>
              </a:lnSpc>
              <a:spcBef>
                <a:spcPts val="0"/>
              </a:spcBef>
              <a:spcAft>
                <a:spcPts val="0"/>
              </a:spcAft>
            </a:pPr>
            <a:r>
              <a:rPr sz="1200" b="0">
                <a:solidFill>
                  <a:srgbClr val="4A4F57"/>
                </a:solidFill>
                <a:latin typeface="Calibri"/>
              </a:rPr>
              <a:t>An ordinary warehouse table, a view maintained by a nightly job, a file replaced on a schedule: the 20 May row is simply gone once the August restatement lands, and what the June decision saw cannot be recovered by anybody.</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And the read does not fail</a:t>
            </a:r>
          </a:p>
          <a:p>
            <a:pPr lvl="1">
              <a:lnSpc>
                <a:spcPct val="120000"/>
              </a:lnSpc>
              <a:spcBef>
                <a:spcPts val="0"/>
              </a:spcBef>
              <a:spcAft>
                <a:spcPts val="0"/>
              </a:spcAft>
            </a:pPr>
            <a:r>
              <a:rPr sz="1200" b="0">
                <a:solidFill>
                  <a:srgbClr val="4A4F57"/>
                </a:solidFill>
                <a:latin typeface="Calibri"/>
              </a:rPr>
              <a:t>It returns 0.40 and says nothing, which is the failure mode the operator exists to eliminate. Binding a model's input slot directly to an external table implements a query that usually agrees with the operator: the two are indistinguishable until the first restatement, and indistinguishable again afterwards, because nothing records that they diverged.</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So pull the source, and read the snapshot</a:t>
            </a:r>
          </a:p>
          <a:p>
            <a:pPr lvl="1">
              <a:lnSpc>
                <a:spcPct val="120000"/>
              </a:lnSpc>
              <a:spcBef>
                <a:spcPts val="0"/>
              </a:spcBef>
              <a:spcAft>
                <a:spcPts val="0"/>
              </a:spcAft>
            </a:pPr>
            <a:r>
              <a:rPr sz="1200" b="0">
                <a:solidFill>
                  <a:srgbClr val="4A4F57"/>
                </a:solidFill>
                <a:latin typeface="Calibri"/>
              </a:rPr>
              <a:t>An external source is read once, given its two clocks, and written into storage under the platform's own control as an immutable, versioned snapshot; models read the snapshot. Connecting is cheaper and gives up the guarantee. This is not a preference between storage technologies — it is the observation that an operator defined over rows that can be overwritten is defined over the wrong object, and the guarantee it appears to offer is a guarantee about a table that no longer exists.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5</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One polynomial</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Assurance evidence is a derivation rather than a log: this rests on that test and that approval; this requirement is met by this route or that one. Annotate it once in the free commutative semiring and every other question about it is the same traversal with different arithmetic — which is a theorem and not a coincidence.</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One traversal, many questions</a:t>
            </a:r>
          </a:p>
          <a:p>
            <a:pPr>
              <a:lnSpc>
                <a:spcPct val="115000"/>
              </a:lnSpc>
              <a:spcBef>
                <a:spcPts val="0"/>
              </a:spcBef>
              <a:spcAft>
                <a:spcPts val="600"/>
              </a:spcAft>
            </a:pPr>
            <a:r>
              <a:rPr sz="1200" b="0" i="0">
                <a:solidFill>
                  <a:srgbClr val="F6E6E9"/>
                </a:solidFill>
                <a:latin typeface="Calibri"/>
              </a:rPr>
              <a:t>The ingest clock as a homomorphism</a:t>
            </a:r>
          </a:p>
          <a:p>
            <a:pPr>
              <a:lnSpc>
                <a:spcPct val="115000"/>
              </a:lnSpc>
              <a:spcBef>
                <a:spcPts val="0"/>
              </a:spcBef>
              <a:spcAft>
                <a:spcPts val="600"/>
              </a:spcAft>
            </a:pPr>
            <a:r>
              <a:rPr sz="1200" b="0" i="0">
                <a:solidFill>
                  <a:srgbClr val="F6E6E9"/>
                </a:solidFill>
                <a:latin typeface="Calibri"/>
              </a:rPr>
              <a:t>A zero that does not annihilate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ONE TRAVERSAL, MANY QUESTIONS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Keep the shape, change the arithmetic</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polynomial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25</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300" b="0" i="0">
                <a:solidFill>
                  <a:srgbClr val="1C1C1E"/>
                </a:solidFill>
                <a:latin typeface="Calibri"/>
              </a:rPr>
              <a:t>Evidence has a fixed shape — joint dependence, and alternative routes — so it needs one operation for each. Swap the pair and the same computation answers a different question. Evaluating in the polynomial keeps everything, so the others are read off it rather than recomputed; and where a direct evaluation and a pushforward disagree, one of the two routes is not a homomorphism, which is a fact about the structure.</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§6.1, the universality of the free commutative semiring ℕ[X] and the table of valuations over it, with the remark on which minimal-support semiring is the right one.</a:t>
            </a:r>
          </a:p>
        </p:txBody>
      </p:sp>
      <p:graphicFrame>
        <p:nvGraphicFramePr>
          <p:cNvPr id="13" name="Table 12"/>
          <p:cNvGraphicFramePr>
            <a:graphicFrameLocks noGrp="1"/>
          </p:cNvGraphicFramePr>
          <p:nvPr/>
        </p:nvGraphicFramePr>
        <p:xfrm>
          <a:off x="777240" y="2459609"/>
          <a:ext cx="10637214" cy="3110928"/>
        </p:xfrm>
        <a:graphic>
          <a:graphicData uri="http://schemas.openxmlformats.org/drawingml/2006/table">
            <a:tbl>
              <a:tblPr firstRow="1">
                <a:tableStyleId>{5C22544A-7EE6-4342-B048-85BDC9FD1C3A}</a:tableStyleId>
              </a:tblPr>
              <a:tblGrid>
                <a:gridCol w="2475903"/>
                <a:gridCol w="3117804"/>
                <a:gridCol w="5043507"/>
              </a:tblGrid>
              <a:tr h="318579">
                <a:tc>
                  <a:txBody>
                    <a:bodyPr wrap="square"/>
                    <a:lstStyle/>
                    <a:p>
                      <a:r>
                        <a:rPr sz="1300" b="1">
                          <a:solidFill>
                            <a:srgbClr val="FFFFFF"/>
                          </a:solidFill>
                          <a:latin typeface="Calibri"/>
                        </a:rPr>
                        <a:t>The arithmetic</a:t>
                      </a:r>
                    </a:p>
                  </a:txBody>
                  <a:tcPr marL="82296" marR="64008" marT="32004" marB="32004" anchor="ctr">
                    <a:solidFill>
                      <a:srgbClr val="A51C30"/>
                    </a:solidFill>
                  </a:tcPr>
                </a:tc>
                <a:tc>
                  <a:txBody>
                    <a:bodyPr wrap="square"/>
                    <a:lstStyle/>
                    <a:p>
                      <a:r>
                        <a:rPr sz="1300" b="1">
                          <a:solidFill>
                            <a:srgbClr val="FFFFFF"/>
                          </a:solidFill>
                          <a:latin typeface="Calibri"/>
                        </a:rPr>
                        <a:t>Alternatives, joint dependence</a:t>
                      </a:r>
                    </a:p>
                  </a:txBody>
                  <a:tcPr marL="82296" marR="64008" marT="32004" marB="32004" anchor="ctr">
                    <a:solidFill>
                      <a:srgbClr val="A51C30"/>
                    </a:solidFill>
                  </a:tcPr>
                </a:tc>
                <a:tc>
                  <a:txBody>
                    <a:bodyPr wrap="square"/>
                    <a:lstStyle/>
                    <a:p>
                      <a:r>
                        <a:rPr sz="1300" b="1">
                          <a:solidFill>
                            <a:srgbClr val="FFFFFF"/>
                          </a:solidFill>
                          <a:latin typeface="Calibri"/>
                        </a:rPr>
                        <a:t>The question it answers</a:t>
                      </a:r>
                    </a:p>
                  </a:txBody>
                  <a:tcPr marL="82296" marR="64008" marT="32004" marB="32004" anchor="ctr">
                    <a:solidFill>
                      <a:srgbClr val="A51C30"/>
                    </a:solidFill>
                  </a:tcPr>
                </a:tc>
              </a:tr>
              <a:tr h="334645">
                <a:tc>
                  <a:txBody>
                    <a:bodyPr wrap="square"/>
                    <a:lstStyle/>
                    <a:p>
                      <a:r>
                        <a:rPr sz="1400" b="1">
                          <a:solidFill>
                            <a:srgbClr val="761422"/>
                          </a:solidFill>
                          <a:latin typeface="Calibri"/>
                        </a:rPr>
                        <a:t>true or false</a:t>
                      </a:r>
                    </a:p>
                  </a:txBody>
                  <a:tcPr marL="82296" marR="64008" marT="32004" marB="32004" anchor="ctr">
                    <a:solidFill>
                      <a:srgbClr val="FFFFFF"/>
                    </a:solidFill>
                  </a:tcPr>
                </a:tc>
                <a:tc>
                  <a:txBody>
                    <a:bodyPr wrap="square"/>
                    <a:lstStyle/>
                    <a:p>
                      <a:r>
                        <a:rPr sz="1400" b="0">
                          <a:solidFill>
                            <a:srgbClr val="1C1C1E"/>
                          </a:solidFill>
                          <a:latin typeface="Calibri"/>
                        </a:rPr>
                        <a:t>or, and</a:t>
                      </a:r>
                    </a:p>
                  </a:txBody>
                  <a:tcPr marL="82296" marR="64008" marT="32004" marB="32004" anchor="ctr">
                    <a:solidFill>
                      <a:srgbClr val="FFFFFF"/>
                    </a:solidFill>
                  </a:tcPr>
                </a:tc>
                <a:tc>
                  <a:txBody>
                    <a:bodyPr wrap="square"/>
                    <a:lstStyle/>
                    <a:p>
                      <a:r>
                        <a:rPr sz="1400" b="0">
                          <a:solidFill>
                            <a:srgbClr val="1C1C1E"/>
                          </a:solidFill>
                          <a:latin typeface="Calibri"/>
                        </a:rPr>
                        <a:t>Is the claim supported at all?</a:t>
                      </a:r>
                    </a:p>
                  </a:txBody>
                  <a:tcPr marL="82296" marR="64008" marT="32004" marB="32004" anchor="ctr">
                    <a:solidFill>
                      <a:srgbClr val="FFFFFF"/>
                    </a:solidFill>
                  </a:tcPr>
                </a:tc>
              </a:tr>
              <a:tr h="334645">
                <a:tc>
                  <a:txBody>
                    <a:bodyPr wrap="square"/>
                    <a:lstStyle/>
                    <a:p>
                      <a:r>
                        <a:rPr sz="1400" b="1">
                          <a:solidFill>
                            <a:srgbClr val="761422"/>
                          </a:solidFill>
                          <a:latin typeface="Calibri"/>
                        </a:rPr>
                        <a:t>counting</a:t>
                      </a:r>
                    </a:p>
                  </a:txBody>
                  <a:tcPr marL="82296" marR="64008" marT="32004" marB="32004" anchor="ctr">
                    <a:solidFill>
                      <a:srgbClr val="F6F3EF"/>
                    </a:solidFill>
                  </a:tcPr>
                </a:tc>
                <a:tc>
                  <a:txBody>
                    <a:bodyPr wrap="square"/>
                    <a:lstStyle/>
                    <a:p>
                      <a:r>
                        <a:rPr sz="1400" b="0">
                          <a:solidFill>
                            <a:srgbClr val="1C1C1E"/>
                          </a:solidFill>
                          <a:latin typeface="Calibri"/>
                        </a:rPr>
                        <a:t>plus, times</a:t>
                      </a:r>
                    </a:p>
                  </a:txBody>
                  <a:tcPr marL="82296" marR="64008" marT="32004" marB="32004" anchor="ctr">
                    <a:solidFill>
                      <a:srgbClr val="F6F3EF"/>
                    </a:solidFill>
                  </a:tcPr>
                </a:tc>
                <a:tc>
                  <a:txBody>
                    <a:bodyPr wrap="square"/>
                    <a:lstStyle/>
                    <a:p>
                      <a:r>
                        <a:rPr sz="1400" b="0">
                          <a:solidFill>
                            <a:srgbClr val="1C1C1E"/>
                          </a:solidFill>
                          <a:latin typeface="Calibri"/>
                        </a:rPr>
                        <a:t>How many independent derivations corroborate it?</a:t>
                      </a:r>
                    </a:p>
                  </a:txBody>
                  <a:tcPr marL="82296" marR="64008" marT="32004" marB="32004" anchor="ctr">
                    <a:solidFill>
                      <a:srgbClr val="F6F3EF"/>
                    </a:solidFill>
                  </a:tcPr>
                </a:tc>
              </a:tr>
              <a:tr h="559562">
                <a:tc>
                  <a:txBody>
                    <a:bodyPr wrap="square"/>
                    <a:lstStyle/>
                    <a:p>
                      <a:r>
                        <a:rPr sz="1400" b="1">
                          <a:solidFill>
                            <a:srgbClr val="761422"/>
                          </a:solidFill>
                          <a:latin typeface="Calibri"/>
                        </a:rPr>
                        <a:t>minimal supports</a:t>
                      </a:r>
                    </a:p>
                  </a:txBody>
                  <a:tcPr marL="82296" marR="64008" marT="32004" marB="32004" anchor="ctr">
                    <a:solidFill>
                      <a:srgbClr val="FFFFFF"/>
                    </a:solidFill>
                  </a:tcPr>
                </a:tc>
                <a:tc>
                  <a:txBody>
                    <a:bodyPr wrap="square"/>
                    <a:lstStyle/>
                    <a:p>
                      <a:r>
                        <a:rPr sz="1400" b="0">
                          <a:solidFill>
                            <a:srgbClr val="1C1C1E"/>
                          </a:solidFill>
                          <a:latin typeface="Calibri"/>
                        </a:rPr>
                        <a:t>absorptive union, pairwise union</a:t>
                      </a:r>
                    </a:p>
                  </a:txBody>
                  <a:tcPr marL="82296" marR="64008" marT="32004" marB="32004" anchor="ctr">
                    <a:solidFill>
                      <a:srgbClr val="FFFFFF"/>
                    </a:solidFill>
                  </a:tcPr>
                </a:tc>
                <a:tc>
                  <a:txBody>
                    <a:bodyPr wrap="square"/>
                    <a:lstStyle/>
                    <a:p>
                      <a:r>
                        <a:rPr sz="1400" b="0">
                          <a:solidFill>
                            <a:srgbClr val="1C1C1E"/>
                          </a:solidFill>
                          <a:latin typeface="Calibri"/>
                        </a:rPr>
                        <a:t>Which smallest set of evidence would suffice?</a:t>
                      </a:r>
                    </a:p>
                  </a:txBody>
                  <a:tcPr marL="82296" marR="64008" marT="32004" marB="32004" anchor="ctr">
                    <a:solidFill>
                      <a:srgbClr val="FFFFFF"/>
                    </a:solidFill>
                  </a:tcPr>
                </a:tc>
              </a:tr>
              <a:tr h="559562">
                <a:tc>
                  <a:txBody>
                    <a:bodyPr wrap="square"/>
                    <a:lstStyle/>
                    <a:p>
                      <a:r>
                        <a:rPr sz="1400" b="1">
                          <a:solidFill>
                            <a:srgbClr val="761422"/>
                          </a:solidFill>
                          <a:latin typeface="Calibri"/>
                        </a:rPr>
                        <a:t>polynomials over the evidence</a:t>
                      </a:r>
                    </a:p>
                  </a:txBody>
                  <a:tcPr marL="82296" marR="64008" marT="32004" marB="32004" anchor="ctr">
                    <a:solidFill>
                      <a:srgbClr val="F6F3EF"/>
                    </a:solidFill>
                  </a:tcPr>
                </a:tc>
                <a:tc>
                  <a:txBody>
                    <a:bodyPr wrap="square"/>
                    <a:lstStyle/>
                    <a:p>
                      <a:r>
                        <a:rPr sz="1400" b="0">
                          <a:solidFill>
                            <a:srgbClr val="1C1C1E"/>
                          </a:solidFill>
                          <a:latin typeface="Calibri"/>
                        </a:rPr>
                        <a:t>plus, times</a:t>
                      </a:r>
                    </a:p>
                  </a:txBody>
                  <a:tcPr marL="82296" marR="64008" marT="32004" marB="32004" anchor="ctr">
                    <a:solidFill>
                      <a:srgbClr val="F6F3EF"/>
                    </a:solidFill>
                  </a:tcPr>
                </a:tc>
                <a:tc>
                  <a:txBody>
                    <a:bodyPr wrap="square"/>
                    <a:lstStyle/>
                    <a:p>
                      <a:r>
                        <a:rPr sz="1400" b="0">
                          <a:solidFill>
                            <a:srgbClr val="1C1C1E"/>
                          </a:solidFill>
                          <a:latin typeface="Calibri"/>
                        </a:rPr>
                        <a:t>Exactly how was it derived — counting distinct routes, and repeated use of one fact?</a:t>
                      </a:r>
                    </a:p>
                  </a:txBody>
                  <a:tcPr marL="82296" marR="64008" marT="32004" marB="32004" anchor="ctr">
                    <a:solidFill>
                      <a:srgbClr val="F6F3EF"/>
                    </a:solidFill>
                  </a:tcPr>
                </a:tc>
              </a:tr>
              <a:tr h="334645">
                <a:tc>
                  <a:txBody>
                    <a:bodyPr wrap="square"/>
                    <a:lstStyle/>
                    <a:p>
                      <a:r>
                        <a:rPr sz="1400" b="1">
                          <a:solidFill>
                            <a:srgbClr val="761422"/>
                          </a:solidFill>
                          <a:latin typeface="Calibri"/>
                        </a:rPr>
                        <a:t>confidence</a:t>
                      </a:r>
                    </a:p>
                  </a:txBody>
                  <a:tcPr marL="82296" marR="64008" marT="32004" marB="32004" anchor="ctr">
                    <a:solidFill>
                      <a:srgbClr val="FFFFFF"/>
                    </a:solidFill>
                  </a:tcPr>
                </a:tc>
                <a:tc>
                  <a:txBody>
                    <a:bodyPr wrap="square"/>
                    <a:lstStyle/>
                    <a:p>
                      <a:r>
                        <a:rPr sz="1400" b="0">
                          <a:solidFill>
                            <a:srgbClr val="1C1C1E"/>
                          </a:solidFill>
                          <a:latin typeface="Calibri"/>
                        </a:rPr>
                        <a:t>max, times</a:t>
                      </a:r>
                    </a:p>
                  </a:txBody>
                  <a:tcPr marL="82296" marR="64008" marT="32004" marB="32004" anchor="ctr">
                    <a:solidFill>
                      <a:srgbClr val="FFFFFF"/>
                    </a:solidFill>
                  </a:tcPr>
                </a:tc>
                <a:tc>
                  <a:txBody>
                    <a:bodyPr wrap="square"/>
                    <a:lstStyle/>
                    <a:p>
                      <a:r>
                        <a:rPr sz="1400" b="0">
                          <a:solidFill>
                            <a:srgbClr val="1C1C1E"/>
                          </a:solidFill>
                          <a:latin typeface="Calibri"/>
                        </a:rPr>
                        <a:t>How much should the conclusion be trusted?</a:t>
                      </a:r>
                    </a:p>
                  </a:txBody>
                  <a:tcPr marL="82296" marR="64008" marT="32004" marB="32004" anchor="ctr">
                    <a:solidFill>
                      <a:srgbClr val="FFFFFF"/>
                    </a:solidFill>
                  </a:tcPr>
                </a:tc>
              </a:tr>
              <a:tr h="334645">
                <a:tc>
                  <a:txBody>
                    <a:bodyPr wrap="square"/>
                    <a:lstStyle/>
                    <a:p>
                      <a:r>
                        <a:rPr sz="1400" b="1">
                          <a:solidFill>
                            <a:srgbClr val="761422"/>
                          </a:solidFill>
                          <a:latin typeface="Calibri"/>
                        </a:rPr>
                        <a:t>least cost</a:t>
                      </a:r>
                    </a:p>
                  </a:txBody>
                  <a:tcPr marL="82296" marR="64008" marT="32004" marB="32004" anchor="ctr">
                    <a:solidFill>
                      <a:srgbClr val="F6F3EF"/>
                    </a:solidFill>
                  </a:tcPr>
                </a:tc>
                <a:tc>
                  <a:txBody>
                    <a:bodyPr wrap="square"/>
                    <a:lstStyle/>
                    <a:p>
                      <a:r>
                        <a:rPr sz="1400" b="0">
                          <a:solidFill>
                            <a:srgbClr val="1C1C1E"/>
                          </a:solidFill>
                          <a:latin typeface="Calibri"/>
                        </a:rPr>
                        <a:t>min, plus</a:t>
                      </a:r>
                    </a:p>
                  </a:txBody>
                  <a:tcPr marL="82296" marR="64008" marT="32004" marB="32004" anchor="ctr">
                    <a:solidFill>
                      <a:srgbClr val="F6F3EF"/>
                    </a:solidFill>
                  </a:tcPr>
                </a:tc>
                <a:tc>
                  <a:txBody>
                    <a:bodyPr wrap="square"/>
                    <a:lstStyle/>
                    <a:p>
                      <a:r>
                        <a:rPr sz="1400" b="0">
                          <a:solidFill>
                            <a:srgbClr val="1C1C1E"/>
                          </a:solidFill>
                          <a:latin typeface="Calibri"/>
                        </a:rPr>
                        <a:t>What is the cheapest way to close a gap?</a:t>
                      </a:r>
                    </a:p>
                  </a:txBody>
                  <a:tcPr marL="82296" marR="64008" marT="32004" marB="32004" anchor="ctr">
                    <a:solidFill>
                      <a:srgbClr val="F6F3EF"/>
                    </a:solidFill>
                  </a:tcPr>
                </a:tc>
              </a:tr>
              <a:tr h="334645">
                <a:tc>
                  <a:txBody>
                    <a:bodyPr wrap="square"/>
                    <a:lstStyle/>
                    <a:p>
                      <a:r>
                        <a:rPr sz="1400" b="1">
                          <a:solidFill>
                            <a:srgbClr val="761422"/>
                          </a:solidFill>
                          <a:latin typeface="Calibri"/>
                        </a:rPr>
                        <a:t>sets of regimes</a:t>
                      </a:r>
                    </a:p>
                  </a:txBody>
                  <a:tcPr marL="82296" marR="64008" marT="32004" marB="32004" anchor="ctr">
                    <a:solidFill>
                      <a:srgbClr val="FFFFFF"/>
                    </a:solidFill>
                  </a:tcPr>
                </a:tc>
                <a:tc>
                  <a:txBody>
                    <a:bodyPr wrap="square"/>
                    <a:lstStyle/>
                    <a:p>
                      <a:r>
                        <a:rPr sz="1400" b="0">
                          <a:solidFill>
                            <a:srgbClr val="1C1C1E"/>
                          </a:solidFill>
                          <a:latin typeface="Calibri"/>
                        </a:rPr>
                        <a:t>intersection, union</a:t>
                      </a:r>
                    </a:p>
                  </a:txBody>
                  <a:tcPr marL="82296" marR="64008" marT="32004" marB="32004" anchor="ctr">
                    <a:solidFill>
                      <a:srgbClr val="FFFFFF"/>
                    </a:solidFill>
                  </a:tcPr>
                </a:tc>
                <a:tc>
                  <a:txBody>
                    <a:bodyPr wrap="square"/>
                    <a:lstStyle/>
                    <a:p>
                      <a:r>
                        <a:rPr sz="1400" b="0">
                          <a:solidFill>
                            <a:srgbClr val="1C1C1E"/>
                          </a:solidFill>
                          <a:latin typeface="Calibri"/>
                        </a:rPr>
                        <a:t>For which regimes is it admissible?</a:t>
                      </a:r>
                    </a:p>
                  </a:txBody>
                  <a:tcPr marL="82296" marR="64008" marT="32004" marB="32004"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ONE LAYER ACROSS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ingest clock of a derived feature is a homomorphism</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polynomial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26</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§6.2, “One layer across: derived features”: the ingest clock as a homomorphism, and the two questions that fall out of the same polynomial.</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rule, as arithmetic</a:t>
            </a:r>
          </a:p>
          <a:p>
            <a:pPr lvl="1">
              <a:lnSpc>
                <a:spcPct val="120000"/>
              </a:lnSpc>
              <a:spcBef>
                <a:spcPts val="0"/>
              </a:spcBef>
              <a:spcAft>
                <a:spcPts val="0"/>
              </a:spcAft>
            </a:pPr>
            <a:r>
              <a:rPr sz="1350" b="0">
                <a:solidFill>
                  <a:srgbClr val="4A4F57"/>
                </a:solidFill>
                <a:latin typeface="Calibri"/>
              </a:rPr>
              <a:t>The moment a derived feature became knowable is the latest ingest time among the base features it reads. That was documented as arithmetic, on the grounds that arithmetic cannot be forgotten.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rule, as a homomorphism</a:t>
            </a:r>
          </a:p>
          <a:p>
            <a:pPr lvl="1">
              <a:lnSpc>
                <a:spcPct val="120000"/>
              </a:lnSpc>
              <a:spcBef>
                <a:spcPts val="0"/>
              </a:spcBef>
              <a:spcAft>
                <a:spcPts val="0"/>
              </a:spcAft>
            </a:pPr>
            <a:r>
              <a:rPr sz="1350" b="0">
                <a:solidFill>
                  <a:srgbClr val="4A4F57"/>
                </a:solidFill>
                <a:latin typeface="Calibri"/>
              </a:rPr>
              <a:t>It is the image of the derivation's polynomial under the valuation that sends each base feature to its own ingest time. The upgrade is not cosmetic: a rule can have exceptions somebody forgets, and a homomorphism cannot, because every route to the number goes through the same object.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What does this rest on?</a:t>
            </a:r>
          </a:p>
          <a:p>
            <a:pPr lvl="1">
              <a:lnSpc>
                <a:spcPct val="120000"/>
              </a:lnSpc>
              <a:spcBef>
                <a:spcPts val="0"/>
              </a:spcBef>
              <a:spcAft>
                <a:spcPts val="0"/>
              </a:spcAft>
            </a:pPr>
            <a:r>
              <a:rPr sz="1350" b="0">
                <a:solidFill>
                  <a:srgbClr val="4A4F57"/>
                </a:solidFill>
                <a:latin typeface="Calibri"/>
              </a:rPr>
              <a:t>The free variables of the polynomial — and deliberately not the transitive ancestor set, because the two answer different questions. The ancestor walk returns every ancestor, derived ones included, which is the right answer to what breaks if this changes. The free variables are the base features and nothing else, which is the right answer to what data this ultimately reads. Two routes to one answer are worth having only while they agree, so the identity between them is asserted rather than assumed.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Does it touch the label?</a:t>
            </a:r>
          </a:p>
          <a:p>
            <a:pPr lvl="1">
              <a:lnSpc>
                <a:spcPct val="120000"/>
              </a:lnSpc>
              <a:spcBef>
                <a:spcPts val="0"/>
              </a:spcBef>
              <a:spcAft>
                <a:spcPts val="0"/>
              </a:spcAft>
            </a:pPr>
            <a:r>
              <a:rPr sz="1350" b="0">
                <a:solidFill>
                  <a:srgbClr val="4A4F57"/>
                </a:solidFill>
                <a:latin typeface="Calibri"/>
              </a:rPr>
              <a:t>Membership of the label's variable in the free variables. A feature derived from a derivation of the label is still the label, so leakage detection becomes a membership test rather than a graph walk with a depth limit and a hope.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 NEGATIVE RESULT, AND ITS REPAIR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zero that does not annihilate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One polynomial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27</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§6.3, the proposition that taking the later of two times for both operations is not a semiring, and the proposition that adjoining an absorbing zero repairs it. An aggregate over the routes is a further construction and not a valuation.</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The valuation that looked obvious</a:t>
            </a:r>
          </a:p>
          <a:p>
            <a:pPr lvl="1">
              <a:lnSpc>
                <a:spcPct val="120000"/>
              </a:lnSpc>
              <a:spcBef>
                <a:spcPts val="0"/>
              </a:spcBef>
              <a:spcAft>
                <a:spcPts val="0"/>
              </a:spcAft>
            </a:pPr>
            <a:r>
              <a:rPr sz="1300" b="0">
                <a:solidFill>
                  <a:srgbClr val="4A4F57"/>
                </a:solidFill>
                <a:latin typeface="Calibri"/>
              </a:rPr>
              <a:t>“As of when is this claim current?” — take the later of the two, for alternatives and for joint dependence alike. It is not a valuation of the derivation at all, and no choice of constants inside its own carrier repairs it.</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Why not</a:t>
            </a:r>
          </a:p>
          <a:p>
            <a:pPr lvl="1">
              <a:lnSpc>
                <a:spcPct val="120000"/>
              </a:lnSpc>
              <a:spcBef>
                <a:spcPts val="0"/>
              </a:spcBef>
              <a:spcAft>
                <a:spcPts val="0"/>
              </a:spcAft>
            </a:pPr>
            <a:r>
              <a:rPr sz="1300" b="0">
                <a:solidFill>
                  <a:srgbClr val="4A4F57"/>
                </a:solidFill>
                <a:latin typeface="Calibri"/>
              </a:rPr>
              <a:t>An identity for “the later of” has to be the least element, and so does the one, so the two coincide and the whole carrier collapses to a point. Independently, annihilation fails outright: combine the zero with a real timestamp and the timestamp comes back.</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Which is a practical defect rather than a technicality</a:t>
            </a:r>
          </a:p>
          <a:p>
            <a:pPr lvl="1">
              <a:lnSpc>
                <a:spcPct val="120000"/>
              </a:lnSpc>
              <a:spcBef>
                <a:spcPts val="0"/>
              </a:spcBef>
              <a:spcAft>
                <a:spcPts val="0"/>
              </a:spcAft>
            </a:pPr>
            <a:r>
              <a:rPr sz="1300" b="0">
                <a:solidFill>
                  <a:srgbClr val="4A4F57"/>
                </a:solidFill>
                <a:latin typeface="Calibri"/>
              </a:rPr>
              <a:t>A claim resting on a missing fact reports the currency of the facts that are present, instead of reporting that it has none. A structure that answers “as of when” for a claim it cannot in fact support is exactly the kind of instrument that reads as reassurance — and this shape is easy to build three times without noticing, because each instance looks like sensible arithmetic.</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repair is elementary, and it is the whole point</a:t>
            </a:r>
          </a:p>
          <a:p>
            <a:pPr lvl="1">
              <a:lnSpc>
                <a:spcPct val="120000"/>
              </a:lnSpc>
              <a:spcBef>
                <a:spcPts val="0"/>
              </a:spcBef>
              <a:spcAft>
                <a:spcPts val="0"/>
              </a:spcAft>
            </a:pPr>
            <a:r>
              <a:rPr sz="1300" b="0">
                <a:solidFill>
                  <a:srgbClr val="4A4F57"/>
                </a:solidFill>
                <a:latin typeface="Calibri"/>
              </a:rPr>
              <a:t>Adjoin a fresh bottom ⊥ meaning no derivation: the identity for alternatives, and absorbing for joint dependence. Then a claim resting on a missing fact evaluates to “not current at all”. The zero has to be a new element meaning no support, never the least of the old ones — the same move that makes an undeclared licence read as terms unknown, which an export can refuse by name, instead of as the most permissive licence there 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6</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000" b="0" i="0">
                <a:solidFill>
                  <a:srgbClr val="FFFFFF"/>
                </a:solidFill>
                <a:latin typeface="Georgia"/>
              </a:rPr>
              <a:t>What must still be declared</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An account arguing that four facts derive owes an account of the ones that do not. Three kinds are worth telling apart, and only the third is irreducible — and the boundary, drawn for governance reasons, turns out to answer a question nobody set out to ask.</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Facts that constitute the standard</a:t>
            </a:r>
          </a:p>
          <a:p>
            <a:pPr>
              <a:lnSpc>
                <a:spcPct val="115000"/>
              </a:lnSpc>
              <a:spcBef>
                <a:spcPts val="0"/>
              </a:spcBef>
              <a:spcAft>
                <a:spcPts val="600"/>
              </a:spcAft>
            </a:pPr>
            <a:r>
              <a:rPr sz="1200" b="0" i="0">
                <a:solidFill>
                  <a:srgbClr val="F6E6E9"/>
                </a:solidFill>
                <a:latin typeface="Calibri"/>
              </a:rPr>
              <a:t>Declared, with an oracle attached</a:t>
            </a:r>
          </a:p>
          <a:p>
            <a:pPr>
              <a:lnSpc>
                <a:spcPct val="115000"/>
              </a:lnSpc>
              <a:spcBef>
                <a:spcPts val="0"/>
              </a:spcBef>
              <a:spcAft>
                <a:spcPts val="600"/>
              </a:spcAft>
            </a:pPr>
            <a:r>
              <a:rPr sz="1200" b="0" i="0">
                <a:solidFill>
                  <a:srgbClr val="F6E6E9"/>
                </a:solidFill>
                <a:latin typeface="Calibri"/>
              </a:rPr>
              <a:t>Where a machine may do the work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COMPLEMENT, DRAWN HONESTLY</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Facts that constitute the standard they would be checked against</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What must still be declared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29</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§7, “What must still be declared”: constitutive rules, monotone classification, control adequacy as an adjunction, and the stability of a determination under translation.</a:t>
            </a:r>
          </a:p>
        </p:txBody>
      </p:sp>
      <p:sp>
        <p:nvSpPr>
          <p:cNvPr id="12" name="TextBox 11"/>
          <p:cNvSpPr txBox="1"/>
          <p:nvPr/>
        </p:nvSpPr>
        <p:spPr>
          <a:xfrm>
            <a:off x="777240" y="1322705"/>
            <a:ext cx="10637215" cy="4355719"/>
          </a:xfrm>
          <a:prstGeom prst="rect">
            <a:avLst/>
          </a:prstGeom>
          <a:noFill/>
        </p:spPr>
        <p:txBody>
          <a:bodyPr wrap="square" lIns="0" rIns="0" tIns="0" bIns="0" anchor="t">
            <a:spAutoFit/>
          </a:bodyPr>
          <a:lstStyle/>
          <a:p>
            <a:pPr algn="l">
              <a:lnSpc>
                <a:spcPct val="120000"/>
              </a:lnSpc>
              <a:spcBef>
                <a:spcPts val="0"/>
              </a:spcBef>
              <a:spcAft>
                <a:spcPts val="100"/>
              </a:spcAft>
            </a:pPr>
            <a:r>
              <a:rPr sz="1300" b="1">
                <a:solidFill>
                  <a:srgbClr val="A51C30"/>
                </a:solidFill>
                <a:latin typeface="Calibri"/>
              </a:rPr>
              <a:t>▪  </a:t>
            </a:r>
            <a:r>
              <a:rPr sz="1300" b="1">
                <a:solidFill>
                  <a:srgbClr val="1C1C1E"/>
                </a:solidFill>
                <a:latin typeface="Calibri"/>
              </a:rPr>
              <a:t>Derived from a declared rule</a:t>
            </a:r>
          </a:p>
          <a:p>
            <a:pPr lvl="1">
              <a:lnSpc>
                <a:spcPct val="120000"/>
              </a:lnSpc>
              <a:spcBef>
                <a:spcPts val="0"/>
              </a:spcBef>
              <a:spcAft>
                <a:spcPts val="0"/>
              </a:spcAft>
            </a:pPr>
            <a:r>
              <a:rPr sz="1150" b="0">
                <a:solidFill>
                  <a:srgbClr val="4A4F57"/>
                </a:solidFill>
                <a:latin typeface="Calibri"/>
              </a:rPr>
              <a:t>A risk classification, a control requirement, a scope determination: computing one is deterministic and involves no judgement at all. The judgement lives in supplying the inputs and in choosing the function — and the function constitutes the standard, so there is no independent specification against which a proposed one could be checked.</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Which is worth constraining even so</a:t>
            </a:r>
          </a:p>
          <a:p>
            <a:pPr lvl="1">
              <a:lnSpc>
                <a:spcPct val="120000"/>
              </a:lnSpc>
              <a:spcBef>
                <a:spcPts val="0"/>
              </a:spcBef>
              <a:spcAft>
                <a:spcPts val="0"/>
              </a:spcAft>
            </a:pPr>
            <a:r>
              <a:rPr sz="1150" b="0">
                <a:solidFill>
                  <a:srgbClr val="4A4F57"/>
                </a:solidFill>
                <a:latin typeface="Calibri"/>
              </a:rPr>
              <a:t>Require the tiering map to be monotone and nothing that can be learned about a model will move it into a lighter regime as it becomes more consequential. That is trivial as mathematics and exactly the guarantee an examiner seeks, and exactly what an unconstrained scoring formula fails to provide. Put the required controls and the tiers in an adjunction and “the controls meet the tier's requirements” and “the tier is within what those controls can defend” become one statement, so a control deficiency and an inflated classification are one defect seen from two sides.</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Declared, but with an oracle attached</a:t>
            </a:r>
          </a:p>
          <a:p>
            <a:pPr lvl="1">
              <a:lnSpc>
                <a:spcPct val="120000"/>
              </a:lnSpc>
              <a:spcBef>
                <a:spcPts val="0"/>
              </a:spcBef>
              <a:spcAft>
                <a:spcPts val="0"/>
              </a:spcAft>
            </a:pPr>
            <a:r>
              <a:rPr sz="1150" b="0">
                <a:solidFill>
                  <a:srgbClr val="4A4F57"/>
                </a:solidFill>
                <a:latin typeface="Calibri"/>
              </a:rPr>
              <a:t>One artefact may sit outside one regime's governed population, inside a second's, high-risk under a third and a financial-reporting key control under a fourth. These are not four values of one attribute but four logical systems, each with its own vocabulary and its own notion of what makes a sentence true of an inventory. Encode each as an institution and truth must be invariant under translation, so any disagreement between a determination computed natively and one computed on the translated obligation witnesses a defect in the encoding rather than a genuine conflict between regimes.</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Irreducibly declared</a:t>
            </a:r>
          </a:p>
          <a:p>
            <a:pPr lvl="1">
              <a:lnSpc>
                <a:spcPct val="120000"/>
              </a:lnSpc>
              <a:spcBef>
                <a:spcPts val="0"/>
              </a:spcBef>
              <a:spcAft>
                <a:spcPts val="0"/>
              </a:spcAft>
            </a:pPr>
            <a:r>
              <a:rPr sz="1150" b="0">
                <a:solidFill>
                  <a:srgbClr val="4A4F57"/>
                </a:solidFill>
                <a:latin typeface="Calibri"/>
              </a:rPr>
              <a:t>Concluding a validation, granting an approval, accepting residual risk, choosing the tiering rule. These are not weakly-checkable tasks conservatively withheld from derivation; they have no notion of correctness independent of the authority exercising them, and a system that pretended otherwise would be manufacturing an answer rather than recording a decision.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SAME BOUNDARY, FROM THE OTHER SIDE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Where a machine may do the work</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What must still be declared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30</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300" b="0" i="0">
                <a:solidFill>
                  <a:srgbClr val="1C1C1E"/>
                </a:solidFill>
                <a:latin typeface="Calibri"/>
              </a:rPr>
              <a:t>If an answer can be checked it matters little what produced it: a wrong one is caught and discarded, and the only cost is wasted effort. If it cannot be checked, then trusting the answer is trusting the producer, and no amount of process changes that. So the useful question is not whether the generator is good enough but whether there is a check — and there is one exactly where the fact derives from structure.</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§9, “Automation is the same boundary”: the definition of an oracle, the admissibility proposition, and the table of tasks that have one and tasks that cannot.</a:t>
            </a:r>
          </a:p>
        </p:txBody>
      </p:sp>
      <p:sp>
        <p:nvSpPr>
          <p:cNvPr id="13" name="Rectangle 12"/>
          <p:cNvSpPr/>
          <p:nvPr/>
        </p:nvSpPr>
        <p:spPr>
          <a:xfrm>
            <a:off x="777240" y="24596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4596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5327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A check exists, so the error rate costs throughput</a:t>
            </a:r>
          </a:p>
        </p:txBody>
      </p:sp>
      <p:sp>
        <p:nvSpPr>
          <p:cNvPr id="16" name="TextBox 15"/>
          <p:cNvSpPr txBox="1"/>
          <p:nvPr/>
        </p:nvSpPr>
        <p:spPr>
          <a:xfrm>
            <a:off x="777240" y="2971673"/>
            <a:ext cx="5135727" cy="2706750"/>
          </a:xfrm>
          <a:prstGeom prst="rect">
            <a:avLst/>
          </a:prstGeom>
          <a:noFill/>
        </p:spPr>
        <p:txBody>
          <a:bodyPr wrap="square" lIns="0" rIns="0" tIns="0" bIns="0" anchor="t">
            <a:spAutoFit/>
          </a:bodyPr>
          <a:lstStyle/>
          <a:p>
            <a:pPr algn="l">
              <a:lnSpc>
                <a:spcPct val="120000"/>
              </a:lnSpc>
              <a:spcBef>
                <a:spcPts val="0"/>
              </a:spcBef>
              <a:spcAft>
                <a:spcPts val="100"/>
              </a:spcAft>
            </a:pPr>
            <a:r>
              <a:rPr sz="1250" b="1">
                <a:solidFill>
                  <a:srgbClr val="A51C30"/>
                </a:solidFill>
                <a:latin typeface="Calibri"/>
              </a:rPr>
              <a:t>▪  </a:t>
            </a:r>
            <a:r>
              <a:rPr sz="1250" b="1">
                <a:solidFill>
                  <a:srgbClr val="1C1C1E"/>
                </a:solidFill>
                <a:latin typeface="Calibri"/>
              </a:rPr>
              <a:t>Encode a regulatory regime</a:t>
            </a:r>
          </a:p>
          <a:p>
            <a:pPr lvl="1">
              <a:lnSpc>
                <a:spcPct val="120000"/>
              </a:lnSpc>
              <a:spcBef>
                <a:spcPts val="0"/>
              </a:spcBef>
              <a:spcAft>
                <a:spcPts val="0"/>
              </a:spcAft>
            </a:pPr>
            <a:r>
              <a:rPr sz="1100" b="0">
                <a:solidFill>
                  <a:srgbClr val="4A4F57"/>
                </a:solidFill>
                <a:latin typeface="Calibri"/>
              </a:rPr>
              <a:t>The satisfaction condition: an encoding either keeps truth invariant under translation or it does not. Expensive expert work becomes cheap proposal and mechanical verification, and the expert adjudicates rather than authors.</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Bind data to a model, or wire two models</a:t>
            </a:r>
          </a:p>
          <a:p>
            <a:pPr lvl="1">
              <a:lnSpc>
                <a:spcPct val="120000"/>
              </a:lnSpc>
              <a:spcBef>
                <a:spcPts val="0"/>
              </a:spcBef>
              <a:spcAft>
                <a:spcPts val="0"/>
              </a:spcAft>
            </a:pPr>
            <a:r>
              <a:rPr sz="1100" b="0">
                <a:solidFill>
                  <a:srgbClr val="4A4F57"/>
                </a:solidFill>
                <a:latin typeface="Calibri"/>
              </a:rPr>
              <a:t>S(F) ⊑ in(k), and out(a) ⊑ in(b). A refusal names the slot that is missing or the one that narrowed.</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Assemble fitting evidence, and cite it</a:t>
            </a:r>
          </a:p>
          <a:p>
            <a:pPr lvl="1">
              <a:lnSpc>
                <a:spcPct val="120000"/>
              </a:lnSpc>
              <a:spcBef>
                <a:spcPts val="0"/>
              </a:spcBef>
              <a:spcAft>
                <a:spcPts val="0"/>
              </a:spcAft>
            </a:pPr>
            <a:r>
              <a:rPr sz="1100" b="0">
                <a:solidFill>
                  <a:srgbClr val="4A4F57"/>
                </a:solidFill>
                <a:latin typeface="Calibri"/>
              </a:rPr>
              <a:t>The point-in-time operator, recomputed by a route that does not reuse the one that assembled the rows; and a citation checked by evaluating the derivation in true-or-false arithmetic, which is an evaluation rather than a second opinion.</a:t>
            </a:r>
          </a:p>
        </p:txBody>
      </p:sp>
      <p:sp>
        <p:nvSpPr>
          <p:cNvPr id="17" name="Rectangle 16"/>
          <p:cNvSpPr/>
          <p:nvPr/>
        </p:nvSpPr>
        <p:spPr>
          <a:xfrm>
            <a:off x="6278727" y="24596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4596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5327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No check exists, so the answer is its producer</a:t>
            </a:r>
          </a:p>
        </p:txBody>
      </p:sp>
      <p:sp>
        <p:nvSpPr>
          <p:cNvPr id="20" name="TextBox 19"/>
          <p:cNvSpPr txBox="1"/>
          <p:nvPr/>
        </p:nvSpPr>
        <p:spPr>
          <a:xfrm>
            <a:off x="6278727" y="2971673"/>
            <a:ext cx="5135727" cy="2706750"/>
          </a:xfrm>
          <a:prstGeom prst="rect">
            <a:avLst/>
          </a:prstGeom>
          <a:noFill/>
        </p:spPr>
        <p:txBody>
          <a:bodyPr wrap="square" lIns="0" rIns="0" tIns="0" bIns="0" anchor="t">
            <a:spAutoFit/>
          </a:bodyPr>
          <a:lstStyle/>
          <a:p>
            <a:pPr algn="l">
              <a:lnSpc>
                <a:spcPct val="120000"/>
              </a:lnSpc>
              <a:spcBef>
                <a:spcPts val="0"/>
              </a:spcBef>
              <a:spcAft>
                <a:spcPts val="100"/>
              </a:spcAft>
            </a:pPr>
            <a:r>
              <a:rPr sz="1200" b="1">
                <a:solidFill>
                  <a:srgbClr val="A51C30"/>
                </a:solidFill>
                <a:latin typeface="Calibri"/>
              </a:rPr>
              <a:t>▪  </a:t>
            </a:r>
            <a:r>
              <a:rPr sz="1200" b="1">
                <a:solidFill>
                  <a:srgbClr val="1C1C1E"/>
                </a:solidFill>
                <a:latin typeface="Calibri"/>
              </a:rPr>
              <a:t>Choose the tiering rule</a:t>
            </a:r>
          </a:p>
          <a:p>
            <a:pPr lvl="1">
              <a:lnSpc>
                <a:spcPct val="120000"/>
              </a:lnSpc>
              <a:spcBef>
                <a:spcPts val="0"/>
              </a:spcBef>
              <a:spcAft>
                <a:spcPts val="0"/>
              </a:spcAft>
            </a:pPr>
            <a:r>
              <a:rPr sz="1050" b="0">
                <a:solidFill>
                  <a:srgbClr val="4A4F57"/>
                </a:solidFill>
                <a:latin typeface="Calibri"/>
              </a:rPr>
              <a:t>It constitutes the standard, so there is nothing independent for it to be checked against.</a:t>
            </a:r>
          </a:p>
          <a:p>
            <a:pPr>
              <a:lnSpc>
                <a:spcPct val="120000"/>
              </a:lnSpc>
              <a:spcBef>
                <a:spcPts val="500"/>
              </a:spcBef>
              <a:spcAft>
                <a:spcPts val="100"/>
              </a:spcAft>
            </a:pPr>
            <a:r>
              <a:rPr sz="1200" b="1">
                <a:solidFill>
                  <a:srgbClr val="A51C30"/>
                </a:solidFill>
                <a:latin typeface="Calibri"/>
              </a:rPr>
              <a:t>▪  </a:t>
            </a:r>
            <a:r>
              <a:rPr sz="1200" b="1">
                <a:solidFill>
                  <a:srgbClr val="1C1C1E"/>
                </a:solidFill>
                <a:latin typeface="Calibri"/>
              </a:rPr>
              <a:t>Conclude a validation, or accept residual risk</a:t>
            </a:r>
          </a:p>
          <a:p>
            <a:pPr lvl="1">
              <a:lnSpc>
                <a:spcPct val="120000"/>
              </a:lnSpc>
              <a:spcBef>
                <a:spcPts val="0"/>
              </a:spcBef>
              <a:spcAft>
                <a:spcPts val="0"/>
              </a:spcAft>
            </a:pPr>
            <a:r>
              <a:rPr sz="1050" b="0">
                <a:solidFill>
                  <a:srgbClr val="4A4F57"/>
                </a:solidFill>
                <a:latin typeface="Calibri"/>
              </a:rPr>
              <a:t>Correctness here is not a property of the text. It is an exercise of authority, and the boundary is drawn by the mathematics rather than by risk appetite — which is worth scrutinising in proportion to how comfortable a conclusion it is.</a:t>
            </a:r>
          </a:p>
          <a:p>
            <a:pPr>
              <a:lnSpc>
                <a:spcPct val="120000"/>
              </a:lnSpc>
              <a:spcBef>
                <a:spcPts val="500"/>
              </a:spcBef>
              <a:spcAft>
                <a:spcPts val="100"/>
              </a:spcAft>
            </a:pPr>
            <a:r>
              <a:rPr sz="1200" b="1">
                <a:solidFill>
                  <a:srgbClr val="A51C30"/>
                </a:solidFill>
                <a:latin typeface="Calibri"/>
              </a:rPr>
              <a:t>▪  </a:t>
            </a:r>
            <a:r>
              <a:rPr sz="1200" b="1">
                <a:solidFill>
                  <a:srgbClr val="1C1C1E"/>
                </a:solidFill>
                <a:latin typeface="Calibri"/>
              </a:rPr>
              <a:t>And one honest exception</a:t>
            </a:r>
          </a:p>
          <a:p>
            <a:pPr lvl="1">
              <a:lnSpc>
                <a:spcPct val="120000"/>
              </a:lnSpc>
              <a:spcBef>
                <a:spcPts val="0"/>
              </a:spcBef>
              <a:spcAft>
                <a:spcPts val="0"/>
              </a:spcAft>
            </a:pPr>
            <a:r>
              <a:rPr sz="1050" b="0">
                <a:solidFill>
                  <a:srgbClr val="4A4F57"/>
                </a:solidFill>
                <a:latin typeface="Calibri"/>
              </a:rPr>
              <a:t>Sampled agreement between a stated formula and an implementation can refute the implementation and can never certify it, so however many samples it draws it is not a check in this sense. A report that says so in its first four words is worth more than one that passes quietly.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 ONE SLIDE</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Four declarations that need not be made, and two that do</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What must still be declared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31</a:t>
            </a:r>
          </a:p>
        </p:txBody>
      </p:sp>
      <p:sp>
        <p:nvSpPr>
          <p:cNvPr id="10" name="Rectangle 9"/>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§13, the conclusion.</a:t>
            </a:r>
          </a:p>
        </p:txBody>
      </p:sp>
      <p:sp>
        <p:nvSpPr>
          <p:cNvPr id="12" name="TextBox 11"/>
          <p:cNvSpPr txBox="1"/>
          <p:nvPr/>
        </p:nvSpPr>
        <p:spPr>
          <a:xfrm>
            <a:off x="777240" y="1370901"/>
            <a:ext cx="10637215" cy="4508690"/>
          </a:xfrm>
          <a:prstGeom prst="rect">
            <a:avLst/>
          </a:prstGeom>
          <a:noFill/>
        </p:spPr>
        <p:txBody>
          <a:bodyPr wrap="square" lIns="0" rIns="0" tIns="0" bIns="0" anchor="t">
            <a:spAutoFit/>
          </a:bodyPr>
          <a:lstStyle/>
          <a:p>
            <a:pPr algn="l">
              <a:lnSpc>
                <a:spcPct val="120000"/>
              </a:lnSpc>
              <a:spcBef>
                <a:spcPts val="0"/>
              </a:spcBef>
              <a:spcAft>
                <a:spcPts val="0"/>
              </a:spcAft>
            </a:pPr>
            <a:r>
              <a:rPr sz="1400" b="1">
                <a:solidFill>
                  <a:srgbClr val="A51C30"/>
                </a:solidFill>
                <a:latin typeface="Calibri"/>
              </a:rPr>
              <a:t>▪  </a:t>
            </a:r>
            <a:r>
              <a:rPr sz="1400" b="0">
                <a:solidFill>
                  <a:srgbClr val="1C1C1E"/>
                </a:solidFill>
                <a:latin typeface="Calibri"/>
              </a:rPr>
              <a:t>What kind of artefact this is derives from how its parameter object is inhabited, which makes a closed-form pricer a type rather than an exception.</a:t>
            </a:r>
          </a:p>
          <a:p>
            <a:pPr>
              <a:lnSpc>
                <a:spcPct val="120000"/>
              </a:lnSpc>
              <a:spcBef>
                <a:spcPts val="600"/>
              </a:spcBef>
              <a:spcAft>
                <a:spcPts val="0"/>
              </a:spcAft>
            </a:pPr>
            <a:r>
              <a:rPr sz="1400" b="1">
                <a:solidFill>
                  <a:srgbClr val="A51C30"/>
                </a:solidFill>
                <a:latin typeface="Calibri"/>
              </a:rPr>
              <a:t>▪  </a:t>
            </a:r>
            <a:r>
              <a:rPr sz="1400" b="0">
                <a:solidFill>
                  <a:srgbClr val="1C1C1E"/>
                </a:solidFill>
                <a:latin typeface="Calibri"/>
              </a:rPr>
              <a:t>Whether one thing fits where another fitted derives from a single partial order, whose meet answers a question four separate implementations could not even ask, and whose failure to have a meet is the honest answer to whether one feature set can serve two models.</a:t>
            </a:r>
          </a:p>
          <a:p>
            <a:pPr>
              <a:lnSpc>
                <a:spcPct val="120000"/>
              </a:lnSpc>
              <a:spcBef>
                <a:spcPts val="600"/>
              </a:spcBef>
              <a:spcAft>
                <a:spcPts val="0"/>
              </a:spcAft>
            </a:pPr>
            <a:r>
              <a:rPr sz="1400" b="1">
                <a:solidFill>
                  <a:srgbClr val="A51C30"/>
                </a:solidFill>
                <a:latin typeface="Calibri"/>
              </a:rPr>
              <a:t>▪  </a:t>
            </a:r>
            <a:r>
              <a:rPr sz="1400" b="0">
                <a:solidFill>
                  <a:srgbClr val="1C1C1E"/>
                </a:solidFill>
                <a:latin typeface="Calibri"/>
              </a:rPr>
              <a:t>What a training row could have known derives from an operator whose fourth property — saturation at the label — is reproducibility, and is supplied by a min that is easy to omit and whose omission is invisible.</a:t>
            </a:r>
          </a:p>
          <a:p>
            <a:pPr>
              <a:lnSpc>
                <a:spcPct val="120000"/>
              </a:lnSpc>
              <a:spcBef>
                <a:spcPts val="600"/>
              </a:spcBef>
              <a:spcAft>
                <a:spcPts val="0"/>
              </a:spcAft>
            </a:pPr>
            <a:r>
              <a:rPr sz="1400" b="1">
                <a:solidFill>
                  <a:srgbClr val="A51C30"/>
                </a:solidFill>
                <a:latin typeface="Calibri"/>
              </a:rPr>
              <a:t>▪  </a:t>
            </a:r>
            <a:r>
              <a:rPr sz="1400" b="0">
                <a:solidFill>
                  <a:srgbClr val="1C1C1E"/>
                </a:solidFill>
                <a:latin typeface="Calibri"/>
              </a:rPr>
              <a:t>What a claim rests on derives from a polynomial, and so does the ingest clock of a derived feature, which upgrades a rule somebody could forget into a homomorphism with no exceptions.</a:t>
            </a:r>
          </a:p>
          <a:p>
            <a:pPr>
              <a:lnSpc>
                <a:spcPct val="120000"/>
              </a:lnSpc>
              <a:spcBef>
                <a:spcPts val="600"/>
              </a:spcBef>
              <a:spcAft>
                <a:spcPts val="0"/>
              </a:spcAft>
            </a:pPr>
            <a:r>
              <a:rPr sz="1400" b="1">
                <a:solidFill>
                  <a:srgbClr val="A51C30"/>
                </a:solidFill>
                <a:latin typeface="Calibri"/>
              </a:rPr>
              <a:t>▪  </a:t>
            </a:r>
            <a:r>
              <a:rPr sz="1400" b="0">
                <a:solidFill>
                  <a:srgbClr val="1C1C1E"/>
                </a:solidFill>
                <a:latin typeface="Calibri"/>
              </a:rPr>
              <a:t>Against that: aggregate risk cannot be both additive and sensitive to a single point of failure, because the obstruction is the copy map; and currency over a totally ordered carrier is a valuation only once “no support” has a value of its own.</a:t>
            </a:r>
          </a:p>
          <a:p>
            <a:pPr>
              <a:lnSpc>
                <a:spcPct val="120000"/>
              </a:lnSpc>
              <a:spcBef>
                <a:spcPts val="600"/>
              </a:spcBef>
              <a:spcAft>
                <a:spcPts val="0"/>
              </a:spcAft>
            </a:pPr>
            <a:r>
              <a:rPr sz="1400" b="1">
                <a:solidFill>
                  <a:srgbClr val="A51C30"/>
                </a:solidFill>
                <a:latin typeface="Calibri"/>
              </a:rPr>
              <a:t>▪  </a:t>
            </a:r>
            <a:r>
              <a:rPr sz="1400" b="0">
                <a:solidFill>
                  <a:srgbClr val="1C1C1E"/>
                </a:solidFill>
                <a:latin typeface="Calibri"/>
              </a:rPr>
              <a:t>And some facts — the tiering rule, the regime encoding, the approval — constitute the standard they would be checked against, which is also the reason a machine may propose them and may not settle them.</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Where to read more</a:t>
            </a:r>
          </a:p>
          <a:p>
            <a:pPr lvl="1">
              <a:lnSpc>
                <a:spcPct val="120000"/>
              </a:lnSpc>
              <a:spcBef>
                <a:spcPts val="0"/>
              </a:spcBef>
              <a:spcAft>
                <a:spcPts val="0"/>
              </a:spcAft>
            </a:pPr>
            <a:r>
              <a:rPr sz="1250" b="0">
                <a:solidFill>
                  <a:srgbClr val="4A4F57"/>
                </a:solidFill>
                <a:latin typeface="Calibri"/>
              </a:rPr>
              <a:t>“Models as Parametric Kernels — An Order, an Operator and a Polynomial”, in docs/research/: the statements above with their proofs, the worked examples in full, and the sources for each construction.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 — Concepts, Mathematics and Formalism</dc:title>
  <dc:subject>An order, an operator and a polynomial: the mathematics MAYA is shaped by</dc:subject>
  <dc:creator>Ashutosh Sinha</dc:creator>
  <cp:keywords>MAYA; model risk; governance</cp:keywords>
  <dc:description>Copyright (c) 2026 Ashutosh Sinha. All rights reserved.</dc:description>
  <cp:lastModifiedBy>Ashutosh Sinha</cp:lastModifiedBy>
  <cp:revision>1</cp:revision>
  <dcterms:created xsi:type="dcterms:W3CDTF">2026-09-19T12:00:00Z</dcterms:created>
  <dcterms:modified xsi:type="dcterms:W3CDTF">2026-09-19T12:00:00Z</dcterms:modified>
  <cp:category/>
</cp:coreProperties>
</file>