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051560" y="841248"/>
            <a:ext cx="10637215"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CONCEPTS  ·  FORMALISM  ·  DESIGN  ·  DATA</a:t>
            </a:r>
          </a:p>
        </p:txBody>
      </p:sp>
      <p:sp>
        <p:nvSpPr>
          <p:cNvPr id="7" name="TextBox 6"/>
          <p:cNvSpPr txBox="1"/>
          <p:nvPr/>
        </p:nvSpPr>
        <p:spPr>
          <a:xfrm>
            <a:off x="1051560" y="1298448"/>
            <a:ext cx="9360749" cy="1920240"/>
          </a:xfrm>
          <a:prstGeom prst="rect">
            <a:avLst/>
          </a:prstGeom>
          <a:noFill/>
        </p:spPr>
        <p:txBody>
          <a:bodyPr wrap="square" lIns="0" rIns="0" tIns="0" bIns="0" anchor="t">
            <a:spAutoFit/>
          </a:bodyPr>
          <a:lstStyle/>
          <a:p>
            <a:pPr algn="l">
              <a:spcBef>
                <a:spcPts val="0"/>
              </a:spcBef>
              <a:spcAft>
                <a:spcPts val="200"/>
              </a:spcAft>
            </a:pPr>
            <a:r>
              <a:rPr sz="4000" b="0" i="0">
                <a:solidFill>
                  <a:srgbClr val="FFFFFF"/>
                </a:solidFill>
                <a:latin typeface="Georgia"/>
              </a:rPr>
              <a:t>What a model is,</a:t>
            </a:r>
          </a:p>
          <a:p>
            <a:pPr>
              <a:spcBef>
                <a:spcPts val="0"/>
              </a:spcBef>
              <a:spcAft>
                <a:spcPts val="0"/>
              </a:spcAft>
            </a:pPr>
            <a:r>
              <a:rPr sz="4000" b="0" i="0">
                <a:solidFill>
                  <a:srgbClr val="FFFFFF"/>
                </a:solidFill>
                <a:latin typeface="Georgia"/>
              </a:rPr>
              <a:t>and what follows from saying so</a:t>
            </a:r>
          </a:p>
        </p:txBody>
      </p:sp>
      <p:sp>
        <p:nvSpPr>
          <p:cNvPr id="8" name="Rectangle 7"/>
          <p:cNvSpPr/>
          <p:nvPr/>
        </p:nvSpPr>
        <p:spPr>
          <a:xfrm>
            <a:off x="1051560" y="294436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200400"/>
            <a:ext cx="8722516" cy="640080"/>
          </a:xfrm>
          <a:prstGeom prst="rect">
            <a:avLst/>
          </a:prstGeom>
          <a:noFill/>
        </p:spPr>
        <p:txBody>
          <a:bodyPr wrap="square" lIns="0" rIns="0" tIns="0" bIns="0" anchor="t">
            <a:spAutoFit/>
          </a:bodyPr>
          <a:lstStyle/>
          <a:p>
            <a:pPr algn="l">
              <a:lnSpc>
                <a:spcPct val="125000"/>
              </a:lnSpc>
              <a:spcBef>
                <a:spcPts val="0"/>
              </a:spcBef>
              <a:spcAft>
                <a:spcPts val="0"/>
              </a:spcAft>
            </a:pPr>
            <a:r>
              <a:rPr sz="1500" b="0" i="1">
                <a:solidFill>
                  <a:srgbClr val="F4DFE3"/>
                </a:solidFill>
                <a:latin typeface="Calibri"/>
              </a:rPr>
              <a:t>The mathematical foundation under MAYA — in twenty slides</a:t>
            </a:r>
          </a:p>
        </p:txBody>
      </p:sp>
      <p:sp>
        <p:nvSpPr>
          <p:cNvPr id="10" name="TextBox 9"/>
          <p:cNvSpPr txBox="1"/>
          <p:nvPr/>
        </p:nvSpPr>
        <p:spPr>
          <a:xfrm>
            <a:off x="1051560" y="4370832"/>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September 2026</a:t>
            </a:r>
          </a:p>
        </p:txBody>
      </p:sp>
      <p:sp>
        <p:nvSpPr>
          <p:cNvPr id="11" name="TextBox 10"/>
          <p:cNvSpPr txBox="1"/>
          <p:nvPr/>
        </p:nvSpPr>
        <p:spPr>
          <a:xfrm>
            <a:off x="6734080" y="4389120"/>
            <a:ext cx="4680374" cy="1371600"/>
          </a:xfrm>
          <a:prstGeom prst="rect">
            <a:avLst/>
          </a:prstGeom>
          <a:noFill/>
        </p:spPr>
        <p:txBody>
          <a:bodyPr wrap="square" lIns="0" rIns="0" tIns="0" bIns="0" anchor="t">
            <a:spAutoFit/>
          </a:bodyPr>
          <a:lstStyle/>
          <a:p>
            <a:pPr algn="l">
              <a:spcBef>
                <a:spcPts val="0"/>
              </a:spcBef>
              <a:spcAft>
                <a:spcPts val="700"/>
              </a:spcAft>
            </a:pPr>
            <a:r>
              <a:rPr sz="950" b="1" i="0">
                <a:solidFill>
                  <a:srgbClr val="A51C30"/>
                </a:solidFill>
                <a:latin typeface="Calibri"/>
              </a:rPr>
              <a:t>CONTENTS</a:t>
            </a:r>
          </a:p>
          <a:p>
            <a:pPr>
              <a:spcBef>
                <a:spcPts val="0"/>
              </a:spcBef>
              <a:spcAft>
                <a:spcPts val="500"/>
              </a:spcAft>
            </a:pPr>
            <a:r>
              <a:rPr sz="1150" b="1" i="0">
                <a:solidFill>
                  <a:srgbClr val="A51C30"/>
                </a:solidFill>
                <a:latin typeface="Calibri"/>
              </a:rPr>
              <a:t>1   </a:t>
            </a:r>
            <a:r>
              <a:rPr sz="1150" b="0" i="0">
                <a:solidFill>
                  <a:srgbClr val="4A4F57"/>
                </a:solidFill>
                <a:latin typeface="Calibri"/>
              </a:rPr>
              <a:t>The definition</a:t>
            </a:r>
          </a:p>
          <a:p>
            <a:pPr>
              <a:spcBef>
                <a:spcPts val="0"/>
              </a:spcBef>
              <a:spcAft>
                <a:spcPts val="500"/>
              </a:spcAft>
            </a:pPr>
            <a:r>
              <a:rPr sz="1150" b="1" i="0">
                <a:solidFill>
                  <a:srgbClr val="A51C30"/>
                </a:solidFill>
                <a:latin typeface="Calibri"/>
              </a:rPr>
              <a:t>2   </a:t>
            </a:r>
            <a:r>
              <a:rPr sz="1150" b="0" i="0">
                <a:solidFill>
                  <a:srgbClr val="4A4F57"/>
                </a:solidFill>
                <a:latin typeface="Calibri"/>
              </a:rPr>
              <a:t>What it forces</a:t>
            </a:r>
          </a:p>
          <a:p>
            <a:pPr>
              <a:spcBef>
                <a:spcPts val="0"/>
              </a:spcBef>
              <a:spcAft>
                <a:spcPts val="500"/>
              </a:spcAft>
            </a:pPr>
            <a:r>
              <a:rPr sz="1150" b="1" i="0">
                <a:solidFill>
                  <a:srgbClr val="A51C30"/>
                </a:solidFill>
                <a:latin typeface="Calibri"/>
              </a:rPr>
              <a:t>3   </a:t>
            </a:r>
            <a:r>
              <a:rPr sz="1150" b="0" i="0">
                <a:solidFill>
                  <a:srgbClr val="4A4F57"/>
                </a:solidFill>
                <a:latin typeface="Calibri"/>
              </a:rPr>
              <a:t>The two clocks</a:t>
            </a:r>
          </a:p>
          <a:p>
            <a:pPr>
              <a:spcBef>
                <a:spcPts val="0"/>
              </a:spcBef>
              <a:spcAft>
                <a:spcPts val="500"/>
              </a:spcAft>
            </a:pPr>
            <a:r>
              <a:rPr sz="1150" b="1" i="0">
                <a:solidFill>
                  <a:srgbClr val="A51C30"/>
                </a:solidFill>
                <a:latin typeface="Calibri"/>
              </a:rPr>
              <a:t>4   </a:t>
            </a:r>
            <a:r>
              <a:rPr sz="1150" b="0" i="0">
                <a:solidFill>
                  <a:srgbClr val="4A4F57"/>
                </a:solidFill>
                <a:latin typeface="Calibri"/>
              </a:rPr>
              <a:t>The design</a:t>
            </a:r>
          </a:p>
          <a:p>
            <a:pPr>
              <a:spcBef>
                <a:spcPts val="0"/>
              </a:spcBef>
              <a:spcAft>
                <a:spcPts val="500"/>
              </a:spcAft>
            </a:pPr>
            <a:r>
              <a:rPr sz="1150" b="1" i="0">
                <a:solidFill>
                  <a:srgbClr val="A51C30"/>
                </a:solidFill>
                <a:latin typeface="Calibri"/>
              </a:rPr>
              <a:t>5   </a:t>
            </a:r>
            <a:r>
              <a:rPr sz="1150" b="0" i="0">
                <a:solidFill>
                  <a:srgbClr val="4A4F57"/>
                </a:solidFill>
                <a:latin typeface="Calibri"/>
              </a:rPr>
              <a:t>The data</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question that sounds trivial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sp>
        <p:nvSpPr>
          <p:cNvPr id="10" name="TextBox 9"/>
          <p:cNvSpPr txBox="1"/>
          <p:nvPr/>
        </p:nvSpPr>
        <p:spPr>
          <a:xfrm>
            <a:off x="777240" y="1627632"/>
            <a:ext cx="9573493" cy="914400"/>
          </a:xfrm>
          <a:prstGeom prst="rect">
            <a:avLst/>
          </a:prstGeom>
          <a:noFill/>
        </p:spPr>
        <p:txBody>
          <a:bodyPr wrap="square" lIns="0" rIns="0" tIns="0" bIns="0" anchor="t">
            <a:spAutoFit/>
          </a:bodyPr>
          <a:lstStyle/>
          <a:p>
            <a:pPr algn="l">
              <a:spcBef>
                <a:spcPts val="0"/>
              </a:spcBef>
              <a:spcAft>
                <a:spcPts val="0"/>
              </a:spcAft>
            </a:pPr>
            <a:r>
              <a:rPr sz="4400" b="1" i="0">
                <a:solidFill>
                  <a:srgbClr val="A51C30"/>
                </a:solidFill>
                <a:latin typeface="Georgia"/>
              </a:rPr>
              <a:t>What is a model?</a:t>
            </a:r>
          </a:p>
        </p:txBody>
      </p:sp>
      <p:sp>
        <p:nvSpPr>
          <p:cNvPr id="11" name="TextBox 10"/>
          <p:cNvSpPr txBox="1"/>
          <p:nvPr/>
        </p:nvSpPr>
        <p:spPr>
          <a:xfrm>
            <a:off x="777240" y="2770632"/>
            <a:ext cx="10637215" cy="2560320"/>
          </a:xfrm>
          <a:prstGeom prst="rect">
            <a:avLst/>
          </a:prstGeom>
          <a:noFill/>
        </p:spPr>
        <p:txBody>
          <a:bodyPr wrap="square" lIns="0" rIns="0" tIns="0" bIns="0" anchor="t">
            <a:spAutoFit/>
          </a:bodyPr>
          <a:lstStyle/>
          <a:p>
            <a:pPr algn="l">
              <a:lnSpc>
                <a:spcPct val="130000"/>
              </a:lnSpc>
              <a:spcBef>
                <a:spcPts val="0"/>
              </a:spcBef>
              <a:spcAft>
                <a:spcPts val="0"/>
              </a:spcAft>
            </a:pPr>
            <a:r>
              <a:rPr sz="1400" b="0" i="0">
                <a:solidFill>
                  <a:srgbClr val="1C1C1E"/>
                </a:solidFill>
                <a:latin typeface="Calibri"/>
              </a:rPr>
              <a:t>Not which one. Not whose. </a:t>
            </a:r>
            <a:r>
              <a:rPr sz="1400" b="1" i="0">
                <a:solidFill>
                  <a:srgbClr val="1C1C1E"/>
                </a:solidFill>
                <a:latin typeface="Calibri"/>
              </a:rPr>
              <a:t>What one is</a:t>
            </a:r>
            <a:r>
              <a:rPr sz="1400" b="0" i="0">
                <a:solidFill>
                  <a:srgbClr val="1C1C1E"/>
                </a:solidFill>
                <a:latin typeface="Calibri"/>
              </a:rPr>
              <a:t> — formally, generally, in a way that covers everything an institution has to govern: a Black–Scholes pricer, a gradient-boosted scorecard, a spreadsheet of elicited weights, a vendor black box, an authored rulebook, and a language model drafting a document.
</a:t>
            </a:r>
          </a:p>
          <a:p>
            <a:pPr>
              <a:lnSpc>
                <a:spcPct val="130000"/>
              </a:lnSpc>
              <a:spcBef>
                <a:spcPts val="0"/>
              </a:spcBef>
              <a:spcAft>
                <a:spcPts val="0"/>
              </a:spcAft>
            </a:pPr>
            <a:r>
              <a:rPr sz="1400" b="1" i="0">
                <a:solidFill>
                  <a:srgbClr val="A51C30"/>
                </a:solidFill>
                <a:latin typeface="Calibri"/>
              </a:rPr>
              <a:t>Every model-risk framework in production answers this with a LIST. </a:t>
            </a:r>
            <a:r>
              <a:rPr sz="1400" b="0" i="0">
                <a:solidFill>
                  <a:srgbClr val="1C1C1E"/>
                </a:solidFill>
                <a:latin typeface="Calibri"/>
              </a:rPr>
              <a:t>A list is not a definition: it cannot tell you whether the next artefact belongs on it, and it cannot tell you what follows once something does. That is why each new class of model — machine learning, then AI — arrives as a governance crisis rather than as an instance of something already understood.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definition, and everything else is a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sp>
        <p:nvSpPr>
          <p:cNvPr id="10" name="Rectangle 9"/>
          <p:cNvSpPr/>
          <p:nvPr/>
        </p:nvSpPr>
        <p:spPr>
          <a:xfrm>
            <a:off x="777240" y="1490472"/>
            <a:ext cx="10637215"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45720"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143000" y="1764792"/>
            <a:ext cx="9905695" cy="822960"/>
          </a:xfrm>
          <a:prstGeom prst="rect">
            <a:avLst/>
          </a:prstGeom>
          <a:noFill/>
        </p:spPr>
        <p:txBody>
          <a:bodyPr wrap="square" lIns="0" rIns="0" tIns="0" bIns="0" anchor="t">
            <a:spAutoFit/>
          </a:bodyPr>
          <a:lstStyle/>
          <a:p>
            <a:pPr algn="l">
              <a:spcBef>
                <a:spcPts val="0"/>
              </a:spcBef>
              <a:spcAft>
                <a:spcPts val="0"/>
              </a:spcAft>
            </a:pPr>
            <a:r>
              <a:rPr sz="3000" b="0" i="0">
                <a:solidFill>
                  <a:srgbClr val="1C1C1E"/>
                </a:solidFill>
                <a:latin typeface="Georgia"/>
              </a:rPr>
              <a:t>f :  P  ⊗  X  ⟶  D(Y)</a:t>
            </a:r>
          </a:p>
        </p:txBody>
      </p:sp>
      <p:graphicFrame>
        <p:nvGraphicFramePr>
          <p:cNvPr id="13" name="Table 12"/>
          <p:cNvGraphicFramePr>
            <a:graphicFrameLocks noGrp="1"/>
          </p:cNvGraphicFramePr>
          <p:nvPr/>
        </p:nvGraphicFramePr>
        <p:xfrm>
          <a:off x="777240" y="2889504"/>
          <a:ext cx="10637214" cy="2418813"/>
        </p:xfrm>
        <a:graphic>
          <a:graphicData uri="http://schemas.openxmlformats.org/drawingml/2006/table">
            <a:tbl>
              <a:tblPr firstRow="1">
                <a:tableStyleId>{5C22544A-7EE6-4342-B048-85BDC9FD1C3A}</a:tableStyleId>
              </a:tblPr>
              <a:tblGrid>
                <a:gridCol w="818247"/>
                <a:gridCol w="4000320"/>
                <a:gridCol w="5818647"/>
              </a:tblGrid>
              <a:tr h="333781">
                <a:tc>
                  <a:txBody>
                    <a:bodyPr wrap="square"/>
                    <a:lstStyle/>
                    <a:p>
                      <a:pPr algn="l"/>
                      <a:r>
                        <a:rPr sz="1100" b="1">
                          <a:solidFill>
                            <a:srgbClr val="FFFFFF"/>
                          </a:solidFill>
                          <a:latin typeface="Calibri"/>
                        </a:rPr>
                        <a:t>Symbol</a:t>
                      </a:r>
                    </a:p>
                  </a:txBody>
                  <a:tcPr marL="82296" marR="64008" marT="32004" marB="32004" anchor="ctr">
                    <a:solidFill>
                      <a:srgbClr val="A51C30"/>
                    </a:solidFill>
                  </a:tcPr>
                </a:tc>
                <a:tc>
                  <a:txBody>
                    <a:bodyPr wrap="square"/>
                    <a:lstStyle/>
                    <a:p>
                      <a:pPr algn="l"/>
                      <a:r>
                        <a:rPr sz="1100" b="1">
                          <a:solidFill>
                            <a:srgbClr val="FFFFFF"/>
                          </a:solidFill>
                          <a:latin typeface="Calibri"/>
                        </a:rPr>
                        <a:t>Reads as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r>
              <a:tr h="521258">
                <a:tc>
                  <a:txBody>
                    <a:bodyPr wrap="square"/>
                    <a:lstStyle/>
                    <a:p>
                      <a:pPr algn="l"/>
                      <a:r>
                        <a:rPr sz="1100" b="0">
                          <a:solidFill>
                            <a:srgbClr val="1C1C1E"/>
                          </a:solidFill>
                          <a:latin typeface="Calibri"/>
                        </a:rPr>
                        <a:t>P</a:t>
                      </a:r>
                    </a:p>
                  </a:txBody>
                  <a:tcPr marL="82296" marR="64008" marT="32004" marB="32004" anchor="ctr">
                    <a:solidFill>
                      <a:srgbClr val="FFFFFF"/>
                    </a:solidFill>
                  </a:tcPr>
                </a:tc>
                <a:tc>
                  <a:txBody>
                    <a:bodyPr wrap="square"/>
                    <a:lstStyle/>
                    <a:p>
                      <a:pPr algn="l"/>
                      <a:r>
                        <a:rPr sz="1100" b="0">
                          <a:solidFill>
                            <a:srgbClr val="1C1C1E"/>
                          </a:solidFill>
                          <a:latin typeface="Calibri"/>
                        </a:rPr>
                        <a:t>the parameter object — what was learned, calibrated, elicited or authored</a:t>
                      </a:r>
                    </a:p>
                  </a:txBody>
                  <a:tcPr marL="82296" marR="64008" marT="32004" marB="32004" anchor="ctr">
                    <a:solidFill>
                      <a:srgbClr val="FFFFFF"/>
                    </a:solidFill>
                  </a:tcPr>
                </a:tc>
                <a:tc>
                  <a:txBody>
                    <a:bodyPr wrap="square"/>
                    <a:lstStyle/>
                    <a:p>
                      <a:pPr algn="l"/>
                      <a:r>
                        <a:rPr sz="1100" b="0">
                          <a:solidFill>
                            <a:srgbClr val="1C1C1E"/>
                          </a:solidFill>
                          <a:latin typeface="Calibri"/>
                        </a:rPr>
                        <a:t>Because how P is inhabited is the ONLY thing that varies across the estate, and it is what governance actually differs on</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X</a:t>
                      </a:r>
                    </a:p>
                  </a:txBody>
                  <a:tcPr marL="82296" marR="64008" marT="32004" marB="32004" anchor="ctr">
                    <a:solidFill>
                      <a:srgbClr val="F6F3EF"/>
                    </a:solidFill>
                  </a:tcPr>
                </a:tc>
                <a:tc>
                  <a:txBody>
                    <a:bodyPr wrap="square"/>
                    <a:lstStyle/>
                    <a:p>
                      <a:pPr algn="l"/>
                      <a:r>
                        <a:rPr sz="1100" b="0">
                          <a:solidFill>
                            <a:srgbClr val="1C1C1E"/>
                          </a:solidFill>
                          <a:latin typeface="Calibri"/>
                        </a:rPr>
                        <a:t>the input object — the features the model reads, typed</a:t>
                      </a:r>
                    </a:p>
                  </a:txBody>
                  <a:tcPr marL="82296" marR="64008" marT="32004" marB="32004" anchor="ctr">
                    <a:solidFill>
                      <a:srgbClr val="F6F3EF"/>
                    </a:solidFill>
                  </a:tcPr>
                </a:tc>
                <a:tc>
                  <a:txBody>
                    <a:bodyPr wrap="square"/>
                    <a:lstStyle/>
                    <a:p>
                      <a:pPr algn="l"/>
                      <a:r>
                        <a:rPr sz="1100" b="0">
                          <a:solidFill>
                            <a:srgbClr val="1C1C1E"/>
                          </a:solidFill>
                          <a:latin typeface="Calibri"/>
                        </a:rPr>
                        <a:t>Because a change to X is a change to what the model IS, and must not be confusable with a change to the data flowing through it</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D(Y)</a:t>
                      </a:r>
                    </a:p>
                  </a:txBody>
                  <a:tcPr marL="82296" marR="64008" marT="32004" marB="32004" anchor="ctr">
                    <a:solidFill>
                      <a:srgbClr val="FFFFFF"/>
                    </a:solidFill>
                  </a:tcPr>
                </a:tc>
                <a:tc>
                  <a:txBody>
                    <a:bodyPr wrap="square"/>
                    <a:lstStyle/>
                    <a:p>
                      <a:pPr algn="l"/>
                      <a:r>
                        <a:rPr sz="1100" b="0">
                          <a:solidFill>
                            <a:srgbClr val="1C1C1E"/>
                          </a:solidFill>
                          <a:latin typeface="Calibri"/>
                        </a:rPr>
                        <a:t>a DISTRIBUTION over outputs, not a point</a:t>
                      </a:r>
                    </a:p>
                  </a:txBody>
                  <a:tcPr marL="82296" marR="64008" marT="32004" marB="32004" anchor="ctr">
                    <a:solidFill>
                      <a:srgbClr val="FFFFFF"/>
                    </a:solidFill>
                  </a:tcPr>
                </a:tc>
                <a:tc>
                  <a:txBody>
                    <a:bodyPr wrap="square"/>
                    <a:lstStyle/>
                    <a:p>
                      <a:pPr algn="l"/>
                      <a:r>
                        <a:rPr sz="1100" b="0">
                          <a:solidFill>
                            <a:srgbClr val="1C1C1E"/>
                          </a:solidFill>
                          <a:latin typeface="Calibri"/>
                        </a:rPr>
                        <a:t>Because a point estimate is a distribution somebody has already collapsed, and the collapsing is a decision that belongs on the record</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a:t>
                      </a:r>
                    </a:p>
                  </a:txBody>
                  <a:tcPr marL="82296" marR="64008" marT="32004" marB="32004" anchor="ctr">
                    <a:solidFill>
                      <a:srgbClr val="F6F3EF"/>
                    </a:solidFill>
                  </a:tcPr>
                </a:tc>
                <a:tc>
                  <a:txBody>
                    <a:bodyPr wrap="square"/>
                    <a:lstStyle/>
                    <a:p>
                      <a:pPr algn="l"/>
                      <a:r>
                        <a:rPr sz="1100" b="0">
                          <a:solidFill>
                            <a:srgbClr val="1C1C1E"/>
                          </a:solidFill>
                          <a:latin typeface="Calibri"/>
                        </a:rPr>
                        <a:t>the two arrive together and independently</a:t>
                      </a:r>
                    </a:p>
                  </a:txBody>
                  <a:tcPr marL="82296" marR="64008" marT="32004" marB="32004" anchor="ctr">
                    <a:solidFill>
                      <a:srgbClr val="F6F3EF"/>
                    </a:solidFill>
                  </a:tcPr>
                </a:tc>
                <a:tc>
                  <a:txBody>
                    <a:bodyPr wrap="square"/>
                    <a:lstStyle/>
                    <a:p>
                      <a:pPr algn="l"/>
                      <a:r>
                        <a:rPr sz="1100" b="0">
                          <a:solidFill>
                            <a:srgbClr val="1C1C1E"/>
                          </a:solidFill>
                          <a:latin typeface="Calibri"/>
                        </a:rPr>
                        <a:t>The same P with a different X is a different model; the same X with a different P is a different model</a:t>
                      </a:r>
                    </a:p>
                  </a:txBody>
                  <a:tcPr marL="82296" marR="64008" marT="32004" marB="32004" anchor="ctr">
                    <a:solidFill>
                      <a:srgbClr val="F6F3EF"/>
                    </a:solidFill>
                  </a:tcPr>
                </a:tc>
              </a:tr>
            </a:tbl>
          </a:graphicData>
        </a:graphic>
      </p:graphicFrame>
      <p:sp>
        <p:nvSpPr>
          <p:cNvPr id="14" name="TextBox 13"/>
          <p:cNvSpPr txBox="1"/>
          <p:nvPr/>
        </p:nvSpPr>
        <p:spPr>
          <a:xfrm>
            <a:off x="777240" y="5546064"/>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This is the Kleisli category of a probability monad — Para(Stoch). </a:t>
            </a:r>
            <a:r>
              <a:rPr sz="1200" b="0" i="0">
                <a:solidFill>
                  <a:srgbClr val="1C1C1E"/>
                </a:solidFill>
                <a:latin typeface="Calibri"/>
              </a:rPr>
              <a:t>The name matters less than the consequence: models compose, and the composition is typed.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DEFINITION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P is inhabited gives the only taxonomy that is derived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764792"/>
          <a:ext cx="10637213" cy="2931256"/>
        </p:xfrm>
        <a:graphic>
          <a:graphicData uri="http://schemas.openxmlformats.org/drawingml/2006/table">
            <a:tbl>
              <a:tblPr firstRow="1">
                <a:tableStyleId>{5C22544A-7EE6-4342-B048-85BDC9FD1C3A}</a:tableStyleId>
              </a:tblPr>
              <a:tblGrid>
                <a:gridCol w="550200"/>
                <a:gridCol w="3026104"/>
                <a:gridCol w="4585006"/>
                <a:gridCol w="2475903"/>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P inhabited by</a:t>
                      </a:r>
                    </a:p>
                  </a:txBody>
                  <a:tcPr marL="82296" marR="64008" marT="32004" marB="32004" anchor="ctr">
                    <a:solidFill>
                      <a:srgbClr val="A51C30"/>
                    </a:solidFill>
                  </a:tcPr>
                </a:tc>
                <a:tc>
                  <a:txBody>
                    <a:bodyPr wrap="square"/>
                    <a:lstStyle/>
                    <a:p>
                      <a:pPr algn="l"/>
                      <a:r>
                        <a:rPr sz="1050" b="1">
                          <a:solidFill>
                            <a:srgbClr val="FFFFFF"/>
                          </a:solidFill>
                          <a:latin typeface="Calibri"/>
                        </a:rPr>
                        <a:t>Example</a:t>
                      </a:r>
                    </a:p>
                  </a:txBody>
                  <a:tcPr marL="82296" marR="64008" marT="32004" marB="32004" anchor="ctr">
                    <a:solidFill>
                      <a:srgbClr val="A51C30"/>
                    </a:solidFill>
                  </a:tcPr>
                </a:tc>
                <a:tc>
                  <a:txBody>
                    <a:bodyPr wrap="square"/>
                    <a:lstStyle/>
                    <a:p>
                      <a:pPr algn="l"/>
                      <a:r>
                        <a:rPr sz="1050" b="1">
                          <a:solidFill>
                            <a:srgbClr val="FFFFFF"/>
                          </a:solidFill>
                          <a:latin typeface="Calibri"/>
                        </a:rPr>
                        <a:t>Can it be fitted?</a:t>
                      </a:r>
                    </a:p>
                  </a:txBody>
                  <a:tcPr marL="82296" marR="64008" marT="32004" marB="32004" anchor="ctr">
                    <a:solidFill>
                      <a:srgbClr val="A51C30"/>
                    </a:solidFill>
                  </a:tcPr>
                </a:tc>
              </a:tr>
              <a:tr h="325259">
                <a:tc>
                  <a:txBody>
                    <a:bodyPr wrap="square"/>
                    <a:lstStyle/>
                    <a:p>
                      <a:pPr algn="l"/>
                      <a:r>
                        <a:rPr sz="1050" b="0">
                          <a:solidFill>
                            <a:srgbClr val="1C1C1E"/>
                          </a:solidFill>
                          <a:latin typeface="Calibri"/>
                        </a:rPr>
                        <a:t>T0</a:t>
                      </a:r>
                    </a:p>
                  </a:txBody>
                  <a:tcPr marL="82296" marR="64008" marT="32004" marB="32004" anchor="ctr">
                    <a:solidFill>
                      <a:srgbClr val="FFFFFF"/>
                    </a:solidFill>
                  </a:tcPr>
                </a:tc>
                <a:tc>
                  <a:txBody>
                    <a:bodyPr wrap="square"/>
                    <a:lstStyle/>
                    <a:p>
                      <a:pPr algn="l"/>
                      <a:r>
                        <a:rPr sz="1050" b="0">
                          <a:solidFill>
                            <a:srgbClr val="1C1C1E"/>
                          </a:solidFill>
                          <a:latin typeface="Calibri"/>
                        </a:rPr>
                        <a:t>nothing — theory fixes it</a:t>
                      </a:r>
                    </a:p>
                  </a:txBody>
                  <a:tcPr marL="82296" marR="64008" marT="32004" marB="32004" anchor="ctr">
                    <a:solidFill>
                      <a:srgbClr val="FFFFFF"/>
                    </a:solidFill>
                  </a:tcPr>
                </a:tc>
                <a:tc>
                  <a:txBody>
                    <a:bodyPr wrap="square"/>
                    <a:lstStyle/>
                    <a:p>
                      <a:pPr algn="l"/>
                      <a:r>
                        <a:rPr sz="1050" b="0">
                          <a:solidFill>
                            <a:srgbClr val="1C1C1E"/>
                          </a:solidFill>
                          <a:latin typeface="Calibri"/>
                        </a:rPr>
                        <a:t>Black–Scholes with given inputs; a Basel risk weight</a:t>
                      </a:r>
                    </a:p>
                  </a:txBody>
                  <a:tcPr marL="82296" marR="64008" marT="32004" marB="32004" anchor="ctr">
                    <a:solidFill>
                      <a:srgbClr val="FFFFFF"/>
                    </a:solidFill>
                  </a:tcPr>
                </a:tc>
                <a:tc>
                  <a:txBody>
                    <a:bodyPr wrap="square"/>
                    <a:lstStyle/>
                    <a:p>
                      <a:pPr algn="l"/>
                      <a:r>
                        <a:rPr sz="1050" b="0">
                          <a:solidFill>
                            <a:srgbClr val="1C1C1E"/>
                          </a:solidFill>
                          <a:latin typeface="Calibri"/>
                        </a:rPr>
                        <a:t>No — a TYPE ERROR</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T1</a:t>
                      </a:r>
                    </a:p>
                  </a:txBody>
                  <a:tcPr marL="82296" marR="64008" marT="32004" marB="32004" anchor="ctr">
                    <a:solidFill>
                      <a:srgbClr val="F6F3EF"/>
                    </a:solidFill>
                  </a:tcPr>
                </a:tc>
                <a:tc>
                  <a:txBody>
                    <a:bodyPr wrap="square"/>
                    <a:lstStyle/>
                    <a:p>
                      <a:pPr algn="l"/>
                      <a:r>
                        <a:rPr sz="1050" b="0">
                          <a:solidFill>
                            <a:srgbClr val="1C1C1E"/>
                          </a:solidFill>
                          <a:latin typeface="Calibri"/>
                        </a:rPr>
                        <a:t>calibration to observables</a:t>
                      </a:r>
                    </a:p>
                  </a:txBody>
                  <a:tcPr marL="82296" marR="64008" marT="32004" marB="32004" anchor="ctr">
                    <a:solidFill>
                      <a:srgbClr val="F6F3EF"/>
                    </a:solidFill>
                  </a:tcPr>
                </a:tc>
                <a:tc>
                  <a:txBody>
                    <a:bodyPr wrap="square"/>
                    <a:lstStyle/>
                    <a:p>
                      <a:pPr algn="l"/>
                      <a:r>
                        <a:rPr sz="1050" b="0">
                          <a:solidFill>
                            <a:srgbClr val="1C1C1E"/>
                          </a:solidFill>
                          <a:latin typeface="Calibri"/>
                        </a:rPr>
                        <a:t>implied volatility; a discount curve</a:t>
                      </a:r>
                    </a:p>
                  </a:txBody>
                  <a:tcPr marL="82296" marR="64008" marT="32004" marB="32004" anchor="ctr">
                    <a:solidFill>
                      <a:srgbClr val="F6F3EF"/>
                    </a:solidFill>
                  </a:tcPr>
                </a:tc>
                <a:tc>
                  <a:txBody>
                    <a:bodyPr wrap="square"/>
                    <a:lstStyle/>
                    <a:p>
                      <a:pPr algn="l"/>
                      <a:r>
                        <a:rPr sz="1050" b="0">
                          <a:solidFill>
                            <a:srgbClr val="1C1C1E"/>
                          </a:solidFill>
                          <a:latin typeface="Calibri"/>
                        </a:rPr>
                        <a:t>Yes — calibrate</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estimation from a sample</a:t>
                      </a:r>
                    </a:p>
                  </a:txBody>
                  <a:tcPr marL="82296" marR="64008" marT="32004" marB="32004" anchor="ctr">
                    <a:solidFill>
                      <a:srgbClr val="FFFFFF"/>
                    </a:solidFill>
                  </a:tcPr>
                </a:tc>
                <a:tc>
                  <a:txBody>
                    <a:bodyPr wrap="square"/>
                    <a:lstStyle/>
                    <a:p>
                      <a:pPr algn="l"/>
                      <a:r>
                        <a:rPr sz="1050" b="0">
                          <a:solidFill>
                            <a:srgbClr val="1C1C1E"/>
                          </a:solidFill>
                          <a:latin typeface="Calibri"/>
                        </a:rPr>
                        <a:t>OLS, logistic regression, GARCH</a:t>
                      </a:r>
                    </a:p>
                  </a:txBody>
                  <a:tcPr marL="82296" marR="64008" marT="32004" marB="32004" anchor="ctr">
                    <a:solidFill>
                      <a:srgbClr val="FFFFFF"/>
                    </a:solidFill>
                  </a:tcPr>
                </a:tc>
                <a:tc>
                  <a:txBody>
                    <a:bodyPr wrap="square"/>
                    <a:lstStyle/>
                    <a:p>
                      <a:pPr algn="l"/>
                      <a:r>
                        <a:rPr sz="1050" b="0">
                          <a:solidFill>
                            <a:srgbClr val="1C1C1E"/>
                          </a:solidFill>
                          <a:latin typeface="Calibri"/>
                        </a:rPr>
                        <a:t>Yes — estimate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T3</a:t>
                      </a:r>
                    </a:p>
                  </a:txBody>
                  <a:tcPr marL="82296" marR="64008" marT="32004" marB="32004" anchor="ctr">
                    <a:solidFill>
                      <a:srgbClr val="F6F3EF"/>
                    </a:solidFill>
                  </a:tcPr>
                </a:tc>
                <a:tc>
                  <a:txBody>
                    <a:bodyPr wrap="square"/>
                    <a:lstStyle/>
                    <a:p>
                      <a:pPr algn="l"/>
                      <a:r>
                        <a:rPr sz="1050" b="0">
                          <a:solidFill>
                            <a:srgbClr val="1C1C1E"/>
                          </a:solidFill>
                          <a:latin typeface="Calibri"/>
                        </a:rPr>
                        <a:t>iterative training</a:t>
                      </a:r>
                    </a:p>
                  </a:txBody>
                  <a:tcPr marL="82296" marR="64008" marT="32004" marB="32004" anchor="ctr">
                    <a:solidFill>
                      <a:srgbClr val="F6F3EF"/>
                    </a:solidFill>
                  </a:tcPr>
                </a:tc>
                <a:tc>
                  <a:txBody>
                    <a:bodyPr wrap="square"/>
                    <a:lstStyle/>
                    <a:p>
                      <a:pPr algn="l"/>
                      <a:r>
                        <a:rPr sz="1050" b="0">
                          <a:solidFill>
                            <a:srgbClr val="1C1C1E"/>
                          </a:solidFill>
                          <a:latin typeface="Calibri"/>
                        </a:rPr>
                        <a:t>gradient boosting, neural networks</a:t>
                      </a:r>
                    </a:p>
                  </a:txBody>
                  <a:tcPr marL="82296" marR="64008" marT="32004" marB="32004" anchor="ctr">
                    <a:solidFill>
                      <a:srgbClr val="F6F3EF"/>
                    </a:solidFill>
                  </a:tcPr>
                </a:tc>
                <a:tc>
                  <a:txBody>
                    <a:bodyPr wrap="square"/>
                    <a:lstStyle/>
                    <a:p>
                      <a:pPr algn="l"/>
                      <a:r>
                        <a:rPr sz="1050" b="0">
                          <a:solidFill>
                            <a:srgbClr val="1C1C1E"/>
                          </a:solidFill>
                          <a:latin typeface="Calibri"/>
                        </a:rPr>
                        <a:t>Yes — train</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T5</a:t>
                      </a:r>
                    </a:p>
                  </a:txBody>
                  <a:tcPr marL="82296" marR="64008" marT="32004" marB="32004" anchor="ctr">
                    <a:solidFill>
                      <a:srgbClr val="FFFFFF"/>
                    </a:solidFill>
                  </a:tcPr>
                </a:tc>
                <a:tc>
                  <a:txBody>
                    <a:bodyPr wrap="square"/>
                    <a:lstStyle/>
                    <a:p>
                      <a:pPr algn="l"/>
                      <a:r>
                        <a:rPr sz="1050" b="0">
                          <a:solidFill>
                            <a:srgbClr val="1C1C1E"/>
                          </a:solidFill>
                          <a:latin typeface="Calibri"/>
                        </a:rPr>
                        <a:t>configuration</a:t>
                      </a:r>
                    </a:p>
                  </a:txBody>
                  <a:tcPr marL="82296" marR="64008" marT="32004" marB="32004" anchor="ctr">
                    <a:solidFill>
                      <a:srgbClr val="FFFFFF"/>
                    </a:solidFill>
                  </a:tcPr>
                </a:tc>
                <a:tc>
                  <a:txBody>
                    <a:bodyPr wrap="square"/>
                    <a:lstStyle/>
                    <a:p>
                      <a:pPr algn="l"/>
                      <a:r>
                        <a:rPr sz="1050" b="0">
                          <a:solidFill>
                            <a:srgbClr val="1C1C1E"/>
                          </a:solidFill>
                          <a:latin typeface="Calibri"/>
                        </a:rPr>
                        <a:t>thresholds and limits somebody set</a:t>
                      </a:r>
                    </a:p>
                  </a:txBody>
                  <a:tcPr marL="82296" marR="64008" marT="32004" marB="32004" anchor="ctr">
                    <a:solidFill>
                      <a:srgbClr val="FFFFFF"/>
                    </a:solidFill>
                  </a:tcPr>
                </a:tc>
                <a:tc>
                  <a:txBody>
                    <a:bodyPr wrap="square"/>
                    <a:lstStyle/>
                    <a:p>
                      <a:pPr algn="l"/>
                      <a:r>
                        <a:rPr sz="1050" b="0">
                          <a:solidFill>
                            <a:srgbClr val="1C1C1E"/>
                          </a:solidFill>
                          <a:latin typeface="Calibri"/>
                        </a:rPr>
                        <a:t>Yes — configure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T6</a:t>
                      </a:r>
                    </a:p>
                  </a:txBody>
                  <a:tcPr marL="82296" marR="64008" marT="32004" marB="32004" anchor="ctr">
                    <a:solidFill>
                      <a:srgbClr val="F6F3EF"/>
                    </a:solidFill>
                  </a:tcPr>
                </a:tc>
                <a:tc>
                  <a:txBody>
                    <a:bodyPr wrap="square"/>
                    <a:lstStyle/>
                    <a:p>
                      <a:pPr algn="l"/>
                      <a:r>
                        <a:rPr sz="1050" b="0">
                          <a:solidFill>
                            <a:srgbClr val="1C1C1E"/>
                          </a:solidFill>
                          <a:latin typeface="Calibri"/>
                        </a:rPr>
                        <a:t>a vendor's parameters nobody can see</a:t>
                      </a:r>
                    </a:p>
                  </a:txBody>
                  <a:tcPr marL="82296" marR="64008" marT="32004" marB="32004" anchor="ctr">
                    <a:solidFill>
                      <a:srgbClr val="F6F3EF"/>
                    </a:solidFill>
                  </a:tcPr>
                </a:tc>
                <a:tc>
                  <a:txBody>
                    <a:bodyPr wrap="square"/>
                    <a:lstStyle/>
                    <a:p>
                      <a:pPr algn="l"/>
                      <a:r>
                        <a:rPr sz="1050" b="0">
                          <a:solidFill>
                            <a:srgbClr val="1C1C1E"/>
                          </a:solidFill>
                          <a:latin typeface="Calibri"/>
                        </a:rPr>
                        <a:t>a purchased bureau score</a:t>
                      </a:r>
                    </a:p>
                  </a:txBody>
                  <a:tcPr marL="82296" marR="64008" marT="32004" marB="32004" anchor="ctr">
                    <a:solidFill>
                      <a:srgbClr val="F6F3EF"/>
                    </a:solidFill>
                  </a:tcPr>
                </a:tc>
                <a:tc>
                  <a:txBody>
                    <a:bodyPr wrap="square"/>
                    <a:lstStyle/>
                    <a:p>
                      <a:pPr algn="l"/>
                      <a:r>
                        <a:rPr sz="1050" b="0">
                          <a:solidFill>
                            <a:srgbClr val="1C1C1E"/>
                          </a:solidFill>
                          <a:latin typeface="Calibri"/>
                        </a:rPr>
                        <a:t>No — a TYPE ERROR</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T7</a:t>
                      </a:r>
                    </a:p>
                  </a:txBody>
                  <a:tcPr marL="82296" marR="64008" marT="32004" marB="32004" anchor="ctr">
                    <a:solidFill>
                      <a:srgbClr val="FFFFFF"/>
                    </a:solidFill>
                  </a:tcPr>
                </a:tc>
                <a:tc>
                  <a:txBody>
                    <a:bodyPr wrap="square"/>
                    <a:lstStyle/>
                    <a:p>
                      <a:pPr algn="l"/>
                      <a:r>
                        <a:rPr sz="1050" b="0">
                          <a:solidFill>
                            <a:srgbClr val="1C1C1E"/>
                          </a:solidFill>
                          <a:latin typeface="Calibri"/>
                        </a:rPr>
                        <a:t>elicitation from experts</a:t>
                      </a:r>
                    </a:p>
                  </a:txBody>
                  <a:tcPr marL="82296" marR="64008" marT="32004" marB="32004" anchor="ctr">
                    <a:solidFill>
                      <a:srgbClr val="FFFFFF"/>
                    </a:solidFill>
                  </a:tcPr>
                </a:tc>
                <a:tc>
                  <a:txBody>
                    <a:bodyPr wrap="square"/>
                    <a:lstStyle/>
                    <a:p>
                      <a:pPr algn="l"/>
                      <a:r>
                        <a:rPr sz="1050" b="0">
                          <a:solidFill>
                            <a:srgbClr val="1C1C1E"/>
                          </a:solidFill>
                          <a:latin typeface="Calibri"/>
                        </a:rPr>
                        <a:t>scenario weights, expert scorecards</a:t>
                      </a:r>
                    </a:p>
                  </a:txBody>
                  <a:tcPr marL="82296" marR="64008" marT="32004" marB="32004" anchor="ctr">
                    <a:solidFill>
                      <a:srgbClr val="FFFFFF"/>
                    </a:solidFill>
                  </a:tcPr>
                </a:tc>
                <a:tc>
                  <a:txBody>
                    <a:bodyPr wrap="square"/>
                    <a:lstStyle/>
                    <a:p>
                      <a:pPr algn="l"/>
                      <a:r>
                        <a:rPr sz="1050" b="0">
                          <a:solidFill>
                            <a:srgbClr val="1C1C1E"/>
                          </a:solidFill>
                          <a:latin typeface="Calibri"/>
                        </a:rPr>
                        <a:t>Yes — elicit</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T8</a:t>
                      </a:r>
                    </a:p>
                  </a:txBody>
                  <a:tcPr marL="82296" marR="64008" marT="32004" marB="32004" anchor="ctr">
                    <a:solidFill>
                      <a:srgbClr val="F6F3EF"/>
                    </a:solidFill>
                  </a:tcPr>
                </a:tc>
                <a:tc>
                  <a:txBody>
                    <a:bodyPr wrap="square"/>
                    <a:lstStyle/>
                    <a:p>
                      <a:pPr algn="l"/>
                      <a:r>
                        <a:rPr sz="1050" b="0">
                          <a:solidFill>
                            <a:srgbClr val="1C1C1E"/>
                          </a:solidFill>
                          <a:latin typeface="Calibri"/>
                        </a:rPr>
                        <a:t>authoring</a:t>
                      </a:r>
                    </a:p>
                  </a:txBody>
                  <a:tcPr marL="82296" marR="64008" marT="32004" marB="32004" anchor="ctr">
                    <a:solidFill>
                      <a:srgbClr val="F6F3EF"/>
                    </a:solidFill>
                  </a:tcPr>
                </a:tc>
                <a:tc>
                  <a:txBody>
                    <a:bodyPr wrap="square"/>
                    <a:lstStyle/>
                    <a:p>
                      <a:pPr algn="l"/>
                      <a:r>
                        <a:rPr sz="1050" b="0">
                          <a:solidFill>
                            <a:srgbClr val="1C1C1E"/>
                          </a:solidFill>
                          <a:latin typeface="Calibri"/>
                        </a:rPr>
                        <a:t>a credit policy rulebook, an AML rule set</a:t>
                      </a:r>
                    </a:p>
                  </a:txBody>
                  <a:tcPr marL="82296" marR="64008" marT="32004" marB="32004" anchor="ctr">
                    <a:solidFill>
                      <a:srgbClr val="F6F3EF"/>
                    </a:solidFill>
                  </a:tcPr>
                </a:tc>
                <a:tc>
                  <a:txBody>
                    <a:bodyPr wrap="square"/>
                    <a:lstStyle/>
                    <a:p>
                      <a:pPr algn="l"/>
                      <a:r>
                        <a:rPr sz="1050" b="0">
                          <a:solidFill>
                            <a:srgbClr val="1C1C1E"/>
                          </a:solidFill>
                          <a:latin typeface="Calibri"/>
                        </a:rPr>
                        <a:t>Yes — author</a:t>
                      </a:r>
                    </a:p>
                  </a:txBody>
                  <a:tcPr marL="82296" marR="64008" marT="32004" marB="32004" anchor="ctr">
                    <a:solidFill>
                      <a:srgbClr val="F6F3EF"/>
                    </a:solidFill>
                  </a:tcPr>
                </a:tc>
              </a:tr>
            </a:tbl>
          </a:graphicData>
        </a:graphic>
      </p:graphicFrame>
      <p:sp>
        <p:nvSpPr>
          <p:cNvPr id="11" name="TextBox 10"/>
          <p:cNvSpPr txBox="1"/>
          <p:nvPr/>
        </p:nvSpPr>
        <p:spPr>
          <a:xfrm>
            <a:off x="777240" y="4915509"/>
            <a:ext cx="10637215" cy="82296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Never stored, never declared, always derived. </a:t>
            </a:r>
            <a:r>
              <a:rPr sz="1200" b="0" i="0">
                <a:solidFill>
                  <a:srgbClr val="1C1C1E"/>
                </a:solidFill>
                <a:latin typeface="Calibri"/>
              </a:rPr>
              <a:t>The class falls out of the kernel: a `calibration_set` inhabited by `calibrate` IS T1. And the class is not a label — it decides which operations the platform will admit. Asking to train a T0 model is refused with a reason, not a permission error.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WHAT IT FORCES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definition forces, before anybody designs anything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sp>
        <p:nvSpPr>
          <p:cNvPr id="10" name="Rectangle 9"/>
          <p:cNvSpPr/>
          <p:nvPr/>
        </p:nvSpPr>
        <p:spPr>
          <a:xfrm>
            <a:off x="777240" y="1764792"/>
            <a:ext cx="2480995"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98424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I</a:t>
            </a:r>
          </a:p>
        </p:txBody>
      </p:sp>
      <p:sp>
        <p:nvSpPr>
          <p:cNvPr id="13" name="TextBox 12"/>
          <p:cNvSpPr txBox="1"/>
          <p:nvPr/>
        </p:nvSpPr>
        <p:spPr>
          <a:xfrm>
            <a:off x="996695" y="225856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A version is a digest, not a name</a:t>
            </a:r>
          </a:p>
        </p:txBody>
      </p:sp>
      <p:sp>
        <p:nvSpPr>
          <p:cNvPr id="14" name="TextBox 13"/>
          <p:cNvSpPr txBox="1"/>
          <p:nvPr/>
        </p:nvSpPr>
        <p:spPr>
          <a:xfrm>
            <a:off x="996695" y="2747264"/>
            <a:ext cx="2042083" cy="16235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f is a function, two functions that differ anywhere are different objects. The identity of a version is a digest over its manifest — so a status change cannot move it, and an edit cannot hide.</a:t>
            </a:r>
          </a:p>
        </p:txBody>
      </p:sp>
      <p:sp>
        <p:nvSpPr>
          <p:cNvPr id="15" name="Rectangle 14"/>
          <p:cNvSpPr/>
          <p:nvPr/>
        </p:nvSpPr>
        <p:spPr>
          <a:xfrm>
            <a:off x="3495979" y="1764792"/>
            <a:ext cx="2480995"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76479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98424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II</a:t>
            </a:r>
          </a:p>
        </p:txBody>
      </p:sp>
      <p:sp>
        <p:nvSpPr>
          <p:cNvPr id="18" name="TextBox 17"/>
          <p:cNvSpPr txBox="1"/>
          <p:nvPr/>
        </p:nvSpPr>
        <p:spPr>
          <a:xfrm>
            <a:off x="3715435" y="225856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P and X are approved separately</a:t>
            </a:r>
          </a:p>
        </p:txBody>
      </p:sp>
      <p:sp>
        <p:nvSpPr>
          <p:cNvPr id="19" name="TextBox 18"/>
          <p:cNvSpPr txBox="1"/>
          <p:nvPr/>
        </p:nvSpPr>
        <p:spPr>
          <a:xfrm>
            <a:off x="3715435" y="2747264"/>
            <a:ext cx="2042083" cy="16235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They arrive independently, so they change independently. A new parameter set is not a new model; a new input schema is.</a:t>
            </a:r>
          </a:p>
        </p:txBody>
      </p:sp>
      <p:sp>
        <p:nvSpPr>
          <p:cNvPr id="20" name="Rectangle 19"/>
          <p:cNvSpPr/>
          <p:nvPr/>
        </p:nvSpPr>
        <p:spPr>
          <a:xfrm>
            <a:off x="6214719" y="1764792"/>
            <a:ext cx="2480995"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76479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98424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III</a:t>
            </a:r>
          </a:p>
        </p:txBody>
      </p:sp>
      <p:sp>
        <p:nvSpPr>
          <p:cNvPr id="23" name="TextBox 22"/>
          <p:cNvSpPr txBox="1"/>
          <p:nvPr/>
        </p:nvSpPr>
        <p:spPr>
          <a:xfrm>
            <a:off x="6434175" y="225856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Composition must type-check</a:t>
            </a:r>
          </a:p>
        </p:txBody>
      </p:sp>
      <p:sp>
        <p:nvSpPr>
          <p:cNvPr id="24" name="TextBox 23"/>
          <p:cNvSpPr txBox="1"/>
          <p:nvPr/>
        </p:nvSpPr>
        <p:spPr>
          <a:xfrm>
            <a:off x="6434175" y="2747264"/>
            <a:ext cx="2042083" cy="16235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models compose, then an edge between two of them is a claim about types — and a claim that can be checked must be.</a:t>
            </a:r>
          </a:p>
        </p:txBody>
      </p:sp>
      <p:sp>
        <p:nvSpPr>
          <p:cNvPr id="25" name="Rectangle 24"/>
          <p:cNvSpPr/>
          <p:nvPr/>
        </p:nvSpPr>
        <p:spPr>
          <a:xfrm>
            <a:off x="8933459" y="1764792"/>
            <a:ext cx="2480995"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76479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98424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IV</a:t>
            </a:r>
          </a:p>
        </p:txBody>
      </p:sp>
      <p:sp>
        <p:nvSpPr>
          <p:cNvPr id="28" name="TextBox 27"/>
          <p:cNvSpPr txBox="1"/>
          <p:nvPr/>
        </p:nvSpPr>
        <p:spPr>
          <a:xfrm>
            <a:off x="9152915" y="225856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The output is a distribution</a:t>
            </a:r>
          </a:p>
        </p:txBody>
      </p:sp>
      <p:sp>
        <p:nvSpPr>
          <p:cNvPr id="29" name="TextBox 28"/>
          <p:cNvSpPr txBox="1"/>
          <p:nvPr/>
        </p:nvSpPr>
        <p:spPr>
          <a:xfrm>
            <a:off x="9152915" y="2747264"/>
            <a:ext cx="2042083" cy="16235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Which makes “what did it say” answerable, and makes the collapse to a decision an act somebody performs rather than an artefact of the code.</a:t>
            </a:r>
          </a:p>
        </p:txBody>
      </p:sp>
      <p:sp>
        <p:nvSpPr>
          <p:cNvPr id="30" name="TextBox 29"/>
          <p:cNvSpPr txBox="1"/>
          <p:nvPr/>
        </p:nvSpPr>
        <p:spPr>
          <a:xfrm>
            <a:off x="777240" y="4736592"/>
            <a:ext cx="10637215" cy="82296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None of these is a policy choice. </a:t>
            </a:r>
            <a:r>
              <a:rPr sz="1250" b="0" i="0">
                <a:solidFill>
                  <a:srgbClr val="1C1C1E"/>
                </a:solidFill>
                <a:latin typeface="Calibri"/>
              </a:rPr>
              <a:t>Each is what the definition already said, written out. That is the test of a formalism: it should make you unable to build the wrong thing, rather than remind you not 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WHAT IT FORCES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Twenty-one laws, and what a law is 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10637215" cy="777240"/>
          </a:xfrm>
          <a:prstGeom prst="rect">
            <a:avLst/>
          </a:prstGeom>
          <a:noFill/>
        </p:spPr>
        <p:txBody>
          <a:bodyPr wrap="square" lIns="0" rIns="0" tIns="0" bIns="0" anchor="t">
            <a:spAutoFit/>
          </a:bodyPr>
          <a:lstStyle/>
          <a:p>
            <a:pPr algn="l">
              <a:lnSpc>
                <a:spcPct val="128000"/>
              </a:lnSpc>
              <a:spcBef>
                <a:spcPts val="0"/>
              </a:spcBef>
              <a:spcAft>
                <a:spcPts val="0"/>
              </a:spcAft>
            </a:pPr>
            <a:r>
              <a:rPr sz="1300" b="1" i="0">
                <a:solidFill>
                  <a:srgbClr val="A51C30"/>
                </a:solidFill>
                <a:latin typeface="Calibri"/>
              </a:rPr>
              <a:t>A law is a property of the system stated as a proposition, with a test that executes it. </a:t>
            </a:r>
            <a:r>
              <a:rPr sz="1300" b="0" i="0">
                <a:solidFill>
                  <a:srgbClr val="1C1C1E"/>
                </a:solidFill>
                <a:latin typeface="Calibri"/>
              </a:rPr>
              <a:t>Not a principle in a document. If a law cannot be executed it is a hope, and this platform's own documentation says which of the twenty-one are hopes: eighteen run, three do not.</a:t>
            </a:r>
          </a:p>
        </p:txBody>
      </p:sp>
      <p:graphicFrame>
        <p:nvGraphicFramePr>
          <p:cNvPr id="11" name="Table 10"/>
          <p:cNvGraphicFramePr>
            <a:graphicFrameLocks noGrp="1"/>
          </p:cNvGraphicFramePr>
          <p:nvPr/>
        </p:nvGraphicFramePr>
        <p:xfrm>
          <a:off x="777240" y="2267712"/>
          <a:ext cx="10637214" cy="2336467"/>
        </p:xfrm>
        <a:graphic>
          <a:graphicData uri="http://schemas.openxmlformats.org/drawingml/2006/table">
            <a:tbl>
              <a:tblPr firstRow="1">
                <a:tableStyleId>{5C22544A-7EE6-4342-B048-85BDC9FD1C3A}</a:tableStyleId>
              </a:tblPr>
              <a:tblGrid>
                <a:gridCol w="766240"/>
                <a:gridCol w="4507294"/>
                <a:gridCol w="5363680"/>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The law</a:t>
                      </a:r>
                    </a:p>
                  </a:txBody>
                  <a:tcPr marL="82296" marR="64008" marT="32004" marB="32004" anchor="ctr">
                    <a:solidFill>
                      <a:srgbClr val="A51C30"/>
                    </a:solidFill>
                  </a:tcPr>
                </a:tc>
                <a:tc>
                  <a:txBody>
                    <a:bodyPr wrap="square"/>
                    <a:lstStyle/>
                    <a:p>
                      <a:pPr algn="l"/>
                      <a:r>
                        <a:rPr sz="1100" b="1">
                          <a:solidFill>
                            <a:srgbClr val="FFFFFF"/>
                          </a:solidFill>
                          <a:latin typeface="Calibri"/>
                        </a:rPr>
                        <a:t>What it prevents</a:t>
                      </a:r>
                    </a:p>
                  </a:txBody>
                  <a:tcPr marL="82296" marR="64008" marT="32004" marB="32004" anchor="ctr">
                    <a:solidFill>
                      <a:srgbClr val="A51C30"/>
                    </a:solidFill>
                  </a:tcPr>
                </a:tc>
              </a:tr>
              <a:tr h="333781">
                <a:tc>
                  <a:txBody>
                    <a:bodyPr wrap="square"/>
                    <a:lstStyle/>
                    <a:p>
                      <a:pPr algn="l"/>
                      <a:r>
                        <a:rPr sz="1100" b="0">
                          <a:solidFill>
                            <a:srgbClr val="1C1C1E"/>
                          </a:solidFill>
                          <a:latin typeface="Calibri"/>
                        </a:rPr>
                        <a:t>L-2</a:t>
                      </a:r>
                    </a:p>
                  </a:txBody>
                  <a:tcPr marL="82296" marR="64008" marT="32004" marB="32004" anchor="ctr">
                    <a:solidFill>
                      <a:srgbClr val="FFFFFF"/>
                    </a:solidFill>
                  </a:tcPr>
                </a:tc>
                <a:tc>
                  <a:txBody>
                    <a:bodyPr wrap="square"/>
                    <a:lstStyle/>
                    <a:p>
                      <a:pPr algn="l"/>
                      <a:r>
                        <a:rPr sz="1100" b="0">
                          <a:solidFill>
                            <a:srgbClr val="1C1C1E"/>
                          </a:solidFill>
                          <a:latin typeface="Calibri"/>
                        </a:rPr>
                        <a:t>A version's digest never moves</a:t>
                      </a:r>
                    </a:p>
                  </a:txBody>
                  <a:tcPr marL="82296" marR="64008" marT="32004" marB="32004" anchor="ctr">
                    <a:solidFill>
                      <a:srgbClr val="FFFFFF"/>
                    </a:solidFill>
                  </a:tcPr>
                </a:tc>
                <a:tc>
                  <a:txBody>
                    <a:bodyPr wrap="square"/>
                    <a:lstStyle/>
                    <a:p>
                      <a:pPr algn="l"/>
                      <a:r>
                        <a:rPr sz="1100" b="0">
                          <a:solidFill>
                            <a:srgbClr val="1C1C1E"/>
                          </a:solidFill>
                          <a:latin typeface="Calibri"/>
                        </a:rPr>
                        <a:t>A model changing underneath an approval that was given for something else</a:t>
                      </a:r>
                    </a:p>
                  </a:txBody>
                  <a:tcPr marL="82296" marR="64008" marT="32004" marB="32004" anchor="ctr">
                    <a:solidFill>
                      <a:srgbClr val="FFFFFF"/>
                    </a:solidFill>
                  </a:tcPr>
                </a:tc>
              </a:tr>
              <a:tr h="333781">
                <a:tc>
                  <a:txBody>
                    <a:bodyPr wrap="square"/>
                    <a:lstStyle/>
                    <a:p>
                      <a:pPr algn="l"/>
                      <a:r>
                        <a:rPr sz="1100" b="0">
                          <a:solidFill>
                            <a:srgbClr val="1C1C1E"/>
                          </a:solidFill>
                          <a:latin typeface="Calibri"/>
                        </a:rPr>
                        <a:t>L-7</a:t>
                      </a:r>
                    </a:p>
                  </a:txBody>
                  <a:tcPr marL="82296" marR="64008" marT="32004" marB="32004" anchor="ctr">
                    <a:solidFill>
                      <a:srgbClr val="F6F3EF"/>
                    </a:solidFill>
                  </a:tcPr>
                </a:tc>
                <a:tc>
                  <a:txBody>
                    <a:bodyPr wrap="square"/>
                    <a:lstStyle/>
                    <a:p>
                      <a:pPr algn="l"/>
                      <a:r>
                        <a:rPr sz="1100" b="0">
                          <a:solidFill>
                            <a:srgbClr val="1C1C1E"/>
                          </a:solidFill>
                          <a:latin typeface="Calibri"/>
                        </a:rPr>
                        <a:t>A replacement's contract must REFINE the incumbent's</a:t>
                      </a:r>
                    </a:p>
                  </a:txBody>
                  <a:tcPr marL="82296" marR="64008" marT="32004" marB="32004" anchor="ctr">
                    <a:solidFill>
                      <a:srgbClr val="F6F3EF"/>
                    </a:solidFill>
                  </a:tcPr>
                </a:tc>
                <a:tc>
                  <a:txBody>
                    <a:bodyPr wrap="square"/>
                    <a:lstStyle/>
                    <a:p>
                      <a:pPr algn="l"/>
                      <a:r>
                        <a:rPr sz="1100" b="0">
                          <a:solidFill>
                            <a:srgbClr val="1C1C1E"/>
                          </a:solidFill>
                          <a:latin typeface="Calibri"/>
                        </a:rPr>
                        <a:t>A promotion that quietly narrows what consumers were promised</a:t>
                      </a:r>
                    </a:p>
                  </a:txBody>
                  <a:tcPr marL="82296" marR="64008" marT="32004" marB="32004" anchor="ctr">
                    <a:solidFill>
                      <a:srgbClr val="F6F3EF"/>
                    </a:solidFill>
                  </a:tcPr>
                </a:tc>
              </a:tr>
              <a:tr h="333781">
                <a:tc>
                  <a:txBody>
                    <a:bodyPr wrap="square"/>
                    <a:lstStyle/>
                    <a:p>
                      <a:pPr algn="l"/>
                      <a:r>
                        <a:rPr sz="1100" b="0">
                          <a:solidFill>
                            <a:srgbClr val="1C1C1E"/>
                          </a:solidFill>
                          <a:latin typeface="Calibri"/>
                        </a:rPr>
                        <a:t>L-10</a:t>
                      </a:r>
                    </a:p>
                  </a:txBody>
                  <a:tcPr marL="82296" marR="64008" marT="32004" marB="32004" anchor="ctr">
                    <a:solidFill>
                      <a:srgbClr val="FFFFFF"/>
                    </a:solidFill>
                  </a:tcPr>
                </a:tc>
                <a:tc>
                  <a:txBody>
                    <a:bodyPr wrap="square"/>
                    <a:lstStyle/>
                    <a:p>
                      <a:pPr algn="l"/>
                      <a:r>
                        <a:rPr sz="1100" b="0">
                          <a:solidFill>
                            <a:srgbClr val="1C1C1E"/>
                          </a:solidFill>
                          <a:latin typeface="Calibri"/>
                        </a:rPr>
                        <a:t>The point-in-time read admits only what was knowable</a:t>
                      </a:r>
                    </a:p>
                  </a:txBody>
                  <a:tcPr marL="82296" marR="64008" marT="32004" marB="32004" anchor="ctr">
                    <a:solidFill>
                      <a:srgbClr val="FFFFFF"/>
                    </a:solidFill>
                  </a:tcPr>
                </a:tc>
                <a:tc>
                  <a:txBody>
                    <a:bodyPr wrap="square"/>
                    <a:lstStyle/>
                    <a:p>
                      <a:pPr algn="l"/>
                      <a:r>
                        <a:rPr sz="1100" b="0">
                          <a:solidFill>
                            <a:srgbClr val="1C1C1E"/>
                          </a:solidFill>
                          <a:latin typeface="Calibri"/>
                        </a:rPr>
                        <a:t>Look-ahead leakage — the dominant silent failure in model development</a:t>
                      </a:r>
                    </a:p>
                  </a:txBody>
                  <a:tcPr marL="82296" marR="64008" marT="32004" marB="32004" anchor="ctr">
                    <a:solidFill>
                      <a:srgbClr val="FFFFFF"/>
                    </a:solidFill>
                  </a:tcPr>
                </a:tc>
              </a:tr>
              <a:tr h="333781">
                <a:tc>
                  <a:txBody>
                    <a:bodyPr wrap="square"/>
                    <a:lstStyle/>
                    <a:p>
                      <a:pPr algn="l"/>
                      <a:r>
                        <a:rPr sz="1100" b="0">
                          <a:solidFill>
                            <a:srgbClr val="1C1C1E"/>
                          </a:solidFill>
                          <a:latin typeface="Calibri"/>
                        </a:rPr>
                        <a:t>L-15</a:t>
                      </a:r>
                    </a:p>
                  </a:txBody>
                  <a:tcPr marL="82296" marR="64008" marT="32004" marB="32004" anchor="ctr">
                    <a:solidFill>
                      <a:srgbClr val="F6F3EF"/>
                    </a:solidFill>
                  </a:tcPr>
                </a:tc>
                <a:tc>
                  <a:txBody>
                    <a:bodyPr wrap="square"/>
                    <a:lstStyle/>
                    <a:p>
                      <a:pPr algn="l"/>
                      <a:r>
                        <a:rPr sz="1100" b="0">
                          <a:solidFill>
                            <a:srgbClr val="1C1C1E"/>
                          </a:solidFill>
                          <a:latin typeface="Calibri"/>
                        </a:rPr>
                        <a:t>Every fibre is total</a:t>
                      </a:r>
                    </a:p>
                  </a:txBody>
                  <a:tcPr marL="82296" marR="64008" marT="32004" marB="32004" anchor="ctr">
                    <a:solidFill>
                      <a:srgbClr val="F6F3EF"/>
                    </a:solidFill>
                  </a:tcPr>
                </a:tc>
                <a:tc>
                  <a:txBody>
                    <a:bodyPr wrap="square"/>
                    <a:lstStyle/>
                    <a:p>
                      <a:pPr algn="l"/>
                      <a:r>
                        <a:rPr sz="1100" b="0">
                          <a:solidFill>
                            <a:srgbClr val="1C1C1E"/>
                          </a:solidFill>
                          <a:latin typeface="Calibri"/>
                        </a:rPr>
                        <a:t>A model class arriving at run time with no governance path defined for it</a:t>
                      </a:r>
                    </a:p>
                  </a:txBody>
                  <a:tcPr marL="82296" marR="64008" marT="32004" marB="32004" anchor="ctr">
                    <a:solidFill>
                      <a:srgbClr val="F6F3EF"/>
                    </a:solidFill>
                  </a:tcPr>
                </a:tc>
              </a:tr>
              <a:tr h="333781">
                <a:tc>
                  <a:txBody>
                    <a:bodyPr wrap="square"/>
                    <a:lstStyle/>
                    <a:p>
                      <a:pPr algn="l"/>
                      <a:r>
                        <a:rPr sz="1100" b="0">
                          <a:solidFill>
                            <a:srgbClr val="1C1C1E"/>
                          </a:solidFill>
                          <a:latin typeface="Calibri"/>
                        </a:rPr>
                        <a:t>L-21</a:t>
                      </a:r>
                    </a:p>
                  </a:txBody>
                  <a:tcPr marL="82296" marR="64008" marT="32004" marB="32004" anchor="ctr">
                    <a:solidFill>
                      <a:srgbClr val="FFFFFF"/>
                    </a:solidFill>
                  </a:tcPr>
                </a:tc>
                <a:tc>
                  <a:txBody>
                    <a:bodyPr wrap="square"/>
                    <a:lstStyle/>
                    <a:p>
                      <a:pPr algn="l"/>
                      <a:r>
                        <a:rPr sz="1100" b="0">
                          <a:solidFill>
                            <a:srgbClr val="1C1C1E"/>
                          </a:solidFill>
                          <a:latin typeface="Calibri"/>
                        </a:rPr>
                        <a:t>Composition is typed</a:t>
                      </a:r>
                    </a:p>
                  </a:txBody>
                  <a:tcPr marL="82296" marR="64008" marT="32004" marB="32004" anchor="ctr">
                    <a:solidFill>
                      <a:srgbClr val="FFFFFF"/>
                    </a:solidFill>
                  </a:tcPr>
                </a:tc>
                <a:tc>
                  <a:txBody>
                    <a:bodyPr wrap="square"/>
                    <a:lstStyle/>
                    <a:p>
                      <a:pPr algn="l"/>
                      <a:r>
                        <a:rPr sz="1100" b="0">
                          <a:solidFill>
                            <a:srgbClr val="1C1C1E"/>
                          </a:solidFill>
                          <a:latin typeface="Calibri"/>
                        </a:rPr>
                        <a:t>A dependency graph that says one model feeds another when it does not</a:t>
                      </a:r>
                    </a:p>
                  </a:txBody>
                  <a:tcPr marL="82296" marR="64008" marT="32004" marB="32004" anchor="ctr">
                    <a:solidFill>
                      <a:srgbClr val="FFFFFF"/>
                    </a:solidFill>
                  </a:tcPr>
                </a:tc>
              </a:tr>
              <a:tr h="333781">
                <a:tc>
                  <a:txBody>
                    <a:bodyPr wrap="square"/>
                    <a:lstStyle/>
                    <a:p>
                      <a:pPr algn="l"/>
                      <a:r>
                        <a:rPr sz="1100" b="0">
                          <a:solidFill>
                            <a:srgbClr val="1C1C1E"/>
                          </a:solidFill>
                          <a:latin typeface="Calibri"/>
                        </a:rPr>
                        <a:t>L-W10</a:t>
                      </a:r>
                    </a:p>
                  </a:txBody>
                  <a:tcPr marL="82296" marR="64008" marT="32004" marB="32004" anchor="ctr">
                    <a:solidFill>
                      <a:srgbClr val="F6F3EF"/>
                    </a:solidFill>
                  </a:tcPr>
                </a:tc>
                <a:tc>
                  <a:txBody>
                    <a:bodyPr wrap="square"/>
                    <a:lstStyle/>
                    <a:p>
                      <a:pPr algn="l"/>
                      <a:r>
                        <a:rPr sz="1100" b="0">
                          <a:solidFill>
                            <a:srgbClr val="1C1C1E"/>
                          </a:solidFill>
                          <a:latin typeface="Calibri"/>
                        </a:rPr>
                        <a:t>A featureset must supply what the kernel declares it reads</a:t>
                      </a:r>
                    </a:p>
                  </a:txBody>
                  <a:tcPr marL="82296" marR="64008" marT="32004" marB="32004" anchor="ctr">
                    <a:solidFill>
                      <a:srgbClr val="F6F3EF"/>
                    </a:solidFill>
                  </a:tcPr>
                </a:tc>
                <a:tc>
                  <a:txBody>
                    <a:bodyPr wrap="square"/>
                    <a:lstStyle/>
                    <a:p>
                      <a:pPr algn="l"/>
                      <a:r>
                        <a:rPr sz="1100" b="0">
                          <a:solidFill>
                            <a:srgbClr val="1C1C1E"/>
                          </a:solidFill>
                          <a:latin typeface="Calibri"/>
                        </a:rPr>
                        <a:t>A model silently gaining a regressor and being treated as unchanged</a:t>
                      </a:r>
                    </a:p>
                  </a:txBody>
                  <a:tcPr marL="82296" marR="64008" marT="32004" marB="32004" anchor="ctr">
                    <a:solidFill>
                      <a:srgbClr val="F6F3EF"/>
                    </a:solidFill>
                  </a:tcPr>
                </a:tc>
              </a:tr>
            </a:tbl>
          </a:graphicData>
        </a:graphic>
      </p:graphicFrame>
      <p:sp>
        <p:nvSpPr>
          <p:cNvPr id="12" name="TextBox 11"/>
          <p:cNvSpPr txBox="1"/>
          <p:nvPr/>
        </p:nvSpPr>
        <p:spPr>
          <a:xfrm>
            <a:off x="777240" y="4823637"/>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Six of twenty-one shown. </a:t>
            </a:r>
            <a:r>
              <a:rPr sz="1200" b="0" i="0">
                <a:solidFill>
                  <a:srgbClr val="1C1C1E"/>
                </a:solidFill>
                <a:latin typeface="Calibri"/>
              </a:rPr>
              <a:t>The laws are the acceptance criteria: they run in their own CI job, and a release that breaks one does not ship.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THE TWO CLOCKS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clocks, and the operator between them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10637215" cy="731520"/>
          </a:xfrm>
          <a:prstGeom prst="rect">
            <a:avLst/>
          </a:prstGeom>
          <a:noFill/>
        </p:spPr>
        <p:txBody>
          <a:bodyPr wrap="square" lIns="0" rIns="0" tIns="0" bIns="0" anchor="t">
            <a:spAutoFit/>
          </a:bodyPr>
          <a:lstStyle/>
          <a:p>
            <a:pPr algn="l">
              <a:lnSpc>
                <a:spcPct val="128000"/>
              </a:lnSpc>
              <a:spcBef>
                <a:spcPts val="0"/>
              </a:spcBef>
              <a:spcAft>
                <a:spcPts val="0"/>
              </a:spcAft>
            </a:pPr>
            <a:r>
              <a:rPr sz="1400" b="0" i="0">
                <a:solidFill>
                  <a:srgbClr val="1C1C1E"/>
                </a:solidFill>
                <a:latin typeface="Calibri"/>
              </a:rPr>
              <a:t>Every fact carries two independent time coordinates: </a:t>
            </a:r>
            <a:r>
              <a:rPr sz="1400" b="1" i="0">
                <a:solidFill>
                  <a:srgbClr val="A51C30"/>
                </a:solidFill>
                <a:latin typeface="Calibri"/>
              </a:rPr>
              <a:t>the EVENT time at which it held in the world, and the INGEST time at which the recording system learned it.</a:t>
            </a:r>
          </a:p>
        </p:txBody>
      </p:sp>
      <p:sp>
        <p:nvSpPr>
          <p:cNvPr id="11" name="Rectangle 10"/>
          <p:cNvSpPr/>
          <p:nvPr/>
        </p:nvSpPr>
        <p:spPr>
          <a:xfrm>
            <a:off x="777240" y="2221991"/>
            <a:ext cx="6382329"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31343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4" name="TextBox 13"/>
          <p:cNvSpPr txBox="1"/>
          <p:nvPr/>
        </p:nvSpPr>
        <p:spPr>
          <a:xfrm>
            <a:off x="978408" y="2615183"/>
            <a:ext cx="6016569" cy="1378000"/>
          </a:xfrm>
          <a:prstGeom prst="rect">
            <a:avLst/>
          </a:prstGeom>
          <a:noFill/>
        </p:spPr>
        <p:txBody>
          <a:bodyPr wrap="square" lIns="0" rIns="0" tIns="0" bIns="0" anchor="t">
            <a:spAutoFit/>
          </a:bodyPr>
          <a:lstStyle/>
          <a:p>
            <a:pPr algn="l">
              <a:lnSpc>
                <a:spcPct val="134000"/>
              </a:lnSpc>
              <a:spcBef>
                <a:spcPts val="0"/>
              </a:spcBef>
              <a:spcAft>
                <a:spcPts val="0"/>
              </a:spcAft>
            </a:pPr>
            <a:r>
              <a:rPr sz="1200" b="0" i="0">
                <a:solidFill>
                  <a:srgbClr val="1C1C1E"/>
                </a:solidFill>
                <a:latin typeface="Consolas"/>
              </a:rPr>
              <a:t>knowable_by = min(label_ts, as_of)</a:t>
            </a:r>
          </a:p>
          <a:p>
            <a:pPr>
              <a:lnSpc>
                <a:spcPct val="134000"/>
              </a:lnSpc>
              <a:spcBef>
                <a:spcPts val="0"/>
              </a:spcBef>
              <a:spcAft>
                <a:spcPts val="0"/>
              </a:spcAft>
            </a:pPr>
            <a:r>
              <a:rPr sz="1200" b="0" i="0">
                <a:solidFill>
                  <a:srgbClr val="1C1C1E"/>
                </a:solidFill>
                <a:latin typeface="Consolas"/>
              </a:rPr>
              <a:t> </a:t>
            </a:r>
          </a:p>
          <a:p>
            <a:pPr>
              <a:lnSpc>
                <a:spcPct val="134000"/>
              </a:lnSpc>
              <a:spcBef>
                <a:spcPts val="0"/>
              </a:spcBef>
              <a:spcAft>
                <a:spcPts val="0"/>
              </a:spcAft>
            </a:pPr>
            <a:r>
              <a:rPr sz="1200" b="0" i="0">
                <a:solidFill>
                  <a:srgbClr val="1C1C1E"/>
                </a:solidFill>
                <a:latin typeface="Consolas"/>
              </a:rPr>
              <a:t>admissible = [ r for r in records</a:t>
            </a:r>
          </a:p>
          <a:p>
            <a:pPr>
              <a:lnSpc>
                <a:spcPct val="134000"/>
              </a:lnSpc>
              <a:spcBef>
                <a:spcPts val="0"/>
              </a:spcBef>
              <a:spcAft>
                <a:spcPts val="0"/>
              </a:spcAft>
            </a:pPr>
            <a:r>
              <a:rPr sz="1200" b="0" i="0">
                <a:solidFill>
                  <a:srgbClr val="1C1C1E"/>
                </a:solidFill>
                <a:latin typeface="Consolas"/>
              </a:rPr>
              <a:t>               if r.event  &lt;= label_ts</a:t>
            </a:r>
          </a:p>
          <a:p>
            <a:pPr>
              <a:lnSpc>
                <a:spcPct val="134000"/>
              </a:lnSpc>
              <a:spcBef>
                <a:spcPts val="0"/>
              </a:spcBef>
              <a:spcAft>
                <a:spcPts val="0"/>
              </a:spcAft>
            </a:pPr>
            <a:r>
              <a:rPr sz="1200" b="0" i="0">
                <a:solidFill>
                  <a:srgbClr val="1C1C1E"/>
                </a:solidFill>
                <a:latin typeface="Consolas"/>
              </a:rPr>
              <a:t>              and r.ingest &lt;= knowable_by ]</a:t>
            </a:r>
          </a:p>
        </p:txBody>
      </p:sp>
      <p:sp>
        <p:nvSpPr>
          <p:cNvPr id="15" name="TextBox 14"/>
          <p:cNvSpPr txBox="1"/>
          <p:nvPr/>
        </p:nvSpPr>
        <p:spPr>
          <a:xfrm>
            <a:off x="7585057" y="2221991"/>
            <a:ext cx="3829397" cy="2743200"/>
          </a:xfrm>
          <a:prstGeom prst="rect">
            <a:avLst/>
          </a:prstGeom>
          <a:noFill/>
        </p:spPr>
        <p:txBody>
          <a:bodyPr wrap="square" lIns="0" rIns="0" tIns="0" bIns="0" anchor="t">
            <a:spAutoFit/>
          </a:bodyPr>
          <a:lstStyle/>
          <a:p>
            <a:pPr algn="l">
              <a:lnSpc>
                <a:spcPct val="126000"/>
              </a:lnSpc>
              <a:spcBef>
                <a:spcPts val="0"/>
              </a:spcBef>
              <a:spcAft>
                <a:spcPts val="800"/>
              </a:spcAft>
            </a:pPr>
            <a:r>
              <a:rPr sz="1250" b="0" i="0">
                <a:solidFill>
                  <a:srgbClr val="1C1C1E"/>
                </a:solidFill>
                <a:latin typeface="Calibri"/>
              </a:rPr>
              <a:t>Bounding ingest by the MINIMUM </a:t>
            </a:r>
            <a:r>
              <a:rPr sz="1250" b="1" i="0">
                <a:solidFill>
                  <a:srgbClr val="A51C30"/>
                </a:solidFill>
                <a:latin typeface="Calibri"/>
              </a:rPr>
              <a:t>is the whole guarantee.</a:t>
            </a:r>
          </a:p>
          <a:p>
            <a:pPr>
              <a:lnSpc>
                <a:spcPct val="126000"/>
              </a:lnSpc>
              <a:spcBef>
                <a:spcPts val="0"/>
              </a:spcBef>
              <a:spcAft>
                <a:spcPts val="800"/>
              </a:spcAft>
            </a:pPr>
            <a:r>
              <a:rPr sz="1200" b="0" i="0">
                <a:solidFill>
                  <a:srgbClr val="1C1C1E"/>
                </a:solidFill>
                <a:latin typeface="Calibri"/>
              </a:rPr>
              <a:t>It makes every observation time at or after the label date give the same answer: the row assembled the day a label matured, and the same row re-assembled a year later, are identical — however many restatements arrived in between.</a:t>
            </a:r>
          </a:p>
          <a:p>
            <a:pPr>
              <a:lnSpc>
                <a:spcPct val="126000"/>
              </a:lnSpc>
              <a:spcBef>
                <a:spcPts val="0"/>
              </a:spcBef>
              <a:spcAft>
                <a:spcPts val="0"/>
              </a:spcAft>
            </a:pPr>
            <a:r>
              <a:rPr sz="1200" b="0" i="0">
                <a:solidFill>
                  <a:srgbClr val="4A4F57"/>
                </a:solidFill>
                <a:latin typeface="Calibri"/>
              </a:rPr>
              <a:t>Conflating the two clocks produces look-ahead leakage, which is the dominant silent failure mode in model development: the model backtests well and performs badly, and the gap is attributed to drift.</a:t>
            </a:r>
          </a:p>
        </p:txBody>
      </p:sp>
      <p:sp>
        <p:nvSpPr>
          <p:cNvPr id="16" name="TextBox 15"/>
          <p:cNvSpPr txBox="1"/>
          <p:nvPr/>
        </p:nvSpPr>
        <p:spPr>
          <a:xfrm>
            <a:off x="777240" y="4599431"/>
            <a:ext cx="6382329" cy="73152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Stated once, executed everywhere. </a:t>
            </a:r>
            <a:r>
              <a:rPr sz="1150" b="0" i="0">
                <a:solidFill>
                  <a:srgbClr val="1C1C1E"/>
                </a:solidFill>
                <a:latin typeface="Calibri"/>
              </a:rPr>
              <a:t>The published rule and the platform's own read are checked to admit the same rows.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THE TWO CLOCKS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tie-break is content-based, and total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TextBox 9"/>
          <p:cNvSpPr txBox="1"/>
          <p:nvPr/>
        </p:nvSpPr>
        <p:spPr>
          <a:xfrm>
            <a:off x="777240" y="1353312"/>
            <a:ext cx="10637215" cy="914400"/>
          </a:xfrm>
          <a:prstGeom prst="rect">
            <a:avLst/>
          </a:prstGeom>
          <a:noFill/>
        </p:spPr>
        <p:txBody>
          <a:bodyPr wrap="square" lIns="0" rIns="0" tIns="0" bIns="0" anchor="t">
            <a:spAutoFit/>
          </a:bodyPr>
          <a:lstStyle/>
          <a:p>
            <a:pPr algn="l">
              <a:lnSpc>
                <a:spcPct val="128000"/>
              </a:lnSpc>
              <a:spcBef>
                <a:spcPts val="0"/>
              </a:spcBef>
              <a:spcAft>
                <a:spcPts val="0"/>
              </a:spcAft>
            </a:pPr>
            <a:r>
              <a:rPr sz="1300" b="1" i="0">
                <a:solidFill>
                  <a:srgbClr val="A51C30"/>
                </a:solidFill>
                <a:latin typeface="Calibri"/>
              </a:rPr>
              <a:t>Two facts can share both clocks. </a:t>
            </a:r>
            <a:r>
              <a:rPr sz="1300" b="0" i="0">
                <a:solidFill>
                  <a:srgbClr val="1C1C1E"/>
                </a:solidFill>
                <a:latin typeface="Calibri"/>
              </a:rPr>
              <a:t>Then the read must still be deterministic, or “the same featureset version resolves to the same bytes” is false — and it is false in a way nobody notices until two implementations disagree.</a:t>
            </a:r>
          </a:p>
        </p:txBody>
      </p:sp>
      <p:graphicFrame>
        <p:nvGraphicFramePr>
          <p:cNvPr id="11" name="Table 10"/>
          <p:cNvGraphicFramePr>
            <a:graphicFrameLocks noGrp="1"/>
          </p:cNvGraphicFramePr>
          <p:nvPr/>
        </p:nvGraphicFramePr>
        <p:xfrm>
          <a:off x="777240" y="2450591"/>
          <a:ext cx="10637215" cy="1898992"/>
        </p:xfrm>
        <a:graphic>
          <a:graphicData uri="http://schemas.openxmlformats.org/drawingml/2006/table">
            <a:tbl>
              <a:tblPr firstRow="1">
                <a:tableStyleId>{5C22544A-7EE6-4342-B048-85BDC9FD1C3A}</a:tableStyleId>
              </a:tblPr>
              <a:tblGrid>
                <a:gridCol w="3245252"/>
                <a:gridCol w="7391963"/>
              </a:tblGrid>
              <a:tr h="333781">
                <a:tc>
                  <a:txBody>
                    <a:bodyPr wrap="square"/>
                    <a:lstStyle/>
                    <a:p>
                      <a:pPr algn="l"/>
                      <a:r>
                        <a:rPr sz="1100" b="1">
                          <a:solidFill>
                            <a:srgbClr val="FFFFFF"/>
                          </a:solidFill>
                          <a:latin typeface="Calibri"/>
                        </a:rPr>
                        <a:t>Tie-break by</a:t>
                      </a:r>
                    </a:p>
                  </a:txBody>
                  <a:tcPr marL="82296" marR="64008" marT="32004" marB="32004" anchor="ctr">
                    <a:solidFill>
                      <a:srgbClr val="A51C30"/>
                    </a:solidFill>
                  </a:tcPr>
                </a:tc>
                <a:tc>
                  <a:txBody>
                    <a:bodyPr wrap="square"/>
                    <a:lstStyle/>
                    <a:p>
                      <a:pPr algn="l"/>
                      <a:r>
                        <a:rPr sz="1100" b="1">
                          <a:solidFill>
                            <a:srgbClr val="FFFFFF"/>
                          </a:solidFill>
                          <a:latin typeface="Calibri"/>
                        </a:rPr>
                        <a:t>What goes wrong</a:t>
                      </a:r>
                    </a:p>
                  </a:txBody>
                  <a:tcPr marL="82296" marR="64008" marT="32004" marB="32004" anchor="ctr">
                    <a:solidFill>
                      <a:srgbClr val="A51C30"/>
                    </a:solidFill>
                  </a:tcPr>
                </a:tc>
              </a:tr>
              <a:tr h="342303">
                <a:tc>
                  <a:txBody>
                    <a:bodyPr wrap="square"/>
                    <a:lstStyle/>
                    <a:p>
                      <a:pPr algn="l"/>
                      <a:r>
                        <a:rPr sz="1150" b="0">
                          <a:solidFill>
                            <a:srgbClr val="1C1C1E"/>
                          </a:solidFill>
                          <a:latin typeface="Calibri"/>
                        </a:rPr>
                        <a:t>Insertion order</a:t>
                      </a:r>
                    </a:p>
                  </a:txBody>
                  <a:tcPr marL="82296" marR="64008" marT="32004" marB="32004" anchor="ctr">
                    <a:solidFill>
                      <a:srgbClr val="FFFFFF"/>
                    </a:solidFill>
                  </a:tcPr>
                </a:tc>
                <a:tc>
                  <a:txBody>
                    <a:bodyPr wrap="square"/>
                    <a:lstStyle/>
                    <a:p>
                      <a:pPr algn="l"/>
                      <a:r>
                        <a:rPr sz="1150" b="0">
                          <a:solidFill>
                            <a:srgbClr val="1C1C1E"/>
                          </a:solidFill>
                          <a:latin typeface="Calibri"/>
                        </a:rPr>
                        <a:t>Depends on the storage engine, and changes when the table is rewritten or compacted</a:t>
                      </a:r>
                    </a:p>
                  </a:txBody>
                  <a:tcPr marL="82296" marR="64008" marT="32004" marB="32004" anchor="ctr">
                    <a:solidFill>
                      <a:srgbClr val="FFFFFF"/>
                    </a:solidFill>
                  </a:tcPr>
                </a:tc>
              </a:tr>
              <a:tr h="342303">
                <a:tc>
                  <a:txBody>
                    <a:bodyPr wrap="square"/>
                    <a:lstStyle/>
                    <a:p>
                      <a:pPr algn="l"/>
                      <a:r>
                        <a:rPr sz="1150" b="0">
                          <a:solidFill>
                            <a:srgbClr val="1C1C1E"/>
                          </a:solidFill>
                          <a:latin typeface="Calibri"/>
                        </a:rPr>
                        <a:t>A surrogate id</a:t>
                      </a:r>
                    </a:p>
                  </a:txBody>
                  <a:tcPr marL="82296" marR="64008" marT="32004" marB="32004" anchor="ctr">
                    <a:solidFill>
                      <a:srgbClr val="F6F3EF"/>
                    </a:solidFill>
                  </a:tcPr>
                </a:tc>
                <a:tc>
                  <a:txBody>
                    <a:bodyPr wrap="square"/>
                    <a:lstStyle/>
                    <a:p>
                      <a:pPr algn="l"/>
                      <a:r>
                        <a:rPr sz="1150" b="0">
                          <a:solidFill>
                            <a:srgbClr val="1C1C1E"/>
                          </a:solidFill>
                          <a:latin typeface="Calibri"/>
                        </a:rPr>
                        <a:t>Depends on who wrote first, which is a property of the pipeline rather than of the data</a:t>
                      </a:r>
                    </a:p>
                  </a:txBody>
                  <a:tcPr marL="82296" marR="64008" marT="32004" marB="32004" anchor="ctr">
                    <a:solidFill>
                      <a:srgbClr val="F6F3EF"/>
                    </a:solidFill>
                  </a:tcPr>
                </a:tc>
              </a:tr>
              <a:tr h="342303">
                <a:tc>
                  <a:txBody>
                    <a:bodyPr wrap="square"/>
                    <a:lstStyle/>
                    <a:p>
                      <a:pPr algn="l"/>
                      <a:r>
                        <a:rPr sz="1150" b="0">
                          <a:solidFill>
                            <a:srgbClr val="1C1C1E"/>
                          </a:solidFill>
                          <a:latin typeface="Calibri"/>
                        </a:rPr>
                        <a:t>Nothing</a:t>
                      </a:r>
                    </a:p>
                  </a:txBody>
                  <a:tcPr marL="82296" marR="64008" marT="32004" marB="32004" anchor="ctr">
                    <a:solidFill>
                      <a:srgbClr val="FFFFFF"/>
                    </a:solidFill>
                  </a:tcPr>
                </a:tc>
                <a:tc>
                  <a:txBody>
                    <a:bodyPr wrap="square"/>
                    <a:lstStyle/>
                    <a:p>
                      <a:pPr algn="l"/>
                      <a:r>
                        <a:rPr sz="1150" b="0">
                          <a:solidFill>
                            <a:srgbClr val="1C1C1E"/>
                          </a:solidFill>
                          <a:latin typeface="Calibri"/>
                        </a:rPr>
                        <a:t>Two point-in-time implementations break the tie opposite ways and both look correct</a:t>
                      </a:r>
                    </a:p>
                  </a:txBody>
                  <a:tcPr marL="82296" marR="64008" marT="32004" marB="32004" anchor="ctr">
                    <a:solidFill>
                      <a:srgbClr val="FFFFFF"/>
                    </a:solidFill>
                  </a:tcPr>
                </a:tc>
              </a:tr>
              <a:tr h="538302">
                <a:tc>
                  <a:txBody>
                    <a:bodyPr wrap="square"/>
                    <a:lstStyle/>
                    <a:p>
                      <a:pPr algn="l"/>
                      <a:r>
                        <a:rPr sz="1150" b="0">
                          <a:solidFill>
                            <a:srgbClr val="1C1C1E"/>
                          </a:solidFill>
                          <a:latin typeface="Calibri"/>
                        </a:rPr>
                        <a:t>CONTENT — a total order over the row's own values</a:t>
                      </a:r>
                    </a:p>
                  </a:txBody>
                  <a:tcPr marL="82296" marR="64008" marT="32004" marB="32004" anchor="ctr">
                    <a:solidFill>
                      <a:srgbClr val="F6F3EF"/>
                    </a:solidFill>
                  </a:tcPr>
                </a:tc>
                <a:tc>
                  <a:txBody>
                    <a:bodyPr wrap="square"/>
                    <a:lstStyle/>
                    <a:p>
                      <a:pPr algn="l"/>
                      <a:r>
                        <a:rPr sz="1150" b="0">
                          <a:solidFill>
                            <a:srgbClr val="1C1C1E"/>
                          </a:solidFill>
                          <a:latin typeface="Calibri"/>
                        </a:rPr>
                        <a:t>Nothing. The order is a function of the data, so a rewrite cannot change it and two implementations cannot disagree</a:t>
                      </a:r>
                    </a:p>
                  </a:txBody>
                  <a:tcPr marL="82296" marR="64008" marT="32004" marB="32004" anchor="ctr">
                    <a:solidFill>
                      <a:srgbClr val="F6F3EF"/>
                    </a:solidFill>
                  </a:tcPr>
                </a:tc>
              </a:tr>
            </a:tbl>
          </a:graphicData>
        </a:graphic>
      </p:graphicFrame>
      <p:sp>
        <p:nvSpPr>
          <p:cNvPr id="12" name="TextBox 11"/>
          <p:cNvSpPr txBox="1"/>
          <p:nvPr/>
        </p:nvSpPr>
        <p:spPr>
          <a:xfrm>
            <a:off x="777240" y="4605616"/>
            <a:ext cx="10637215" cy="91440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This is the sort of detail a formalism earns its keep on. </a:t>
            </a:r>
            <a:r>
              <a:rPr sz="1250" b="0" i="0">
                <a:solidFill>
                  <a:srgbClr val="1C1C1E"/>
                </a:solidFill>
                <a:latin typeface="Calibri"/>
              </a:rPr>
              <a:t>Nobody specifies a tie-break in a governance policy. But “same version, same bytes” is either true or it is not, and it is not true unless somebody decided this.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THE TWO CLOCKS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authority as a signed, expiring document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TextBox 9"/>
          <p:cNvSpPr txBox="1"/>
          <p:nvPr/>
        </p:nvSpPr>
        <p:spPr>
          <a:xfrm>
            <a:off x="777240" y="1353312"/>
            <a:ext cx="10637215" cy="685800"/>
          </a:xfrm>
          <a:prstGeom prst="rect">
            <a:avLst/>
          </a:prstGeom>
          <a:noFill/>
        </p:spPr>
        <p:txBody>
          <a:bodyPr wrap="square" lIns="0" rIns="0" tIns="0" bIns="0" anchor="t">
            <a:spAutoFit/>
          </a:bodyPr>
          <a:lstStyle/>
          <a:p>
            <a:pPr algn="l">
              <a:lnSpc>
                <a:spcPct val="128000"/>
              </a:lnSpc>
              <a:spcBef>
                <a:spcPts val="0"/>
              </a:spcBef>
              <a:spcAft>
                <a:spcPts val="0"/>
              </a:spcAft>
            </a:pPr>
            <a:r>
              <a:rPr sz="1300" b="1" i="0">
                <a:solidFill>
                  <a:srgbClr val="A51C30"/>
                </a:solidFill>
                <a:latin typeface="Calibri"/>
              </a:rPr>
              <a:t>A model does not run because somebody has permission. </a:t>
            </a:r>
            <a:r>
              <a:rPr sz="1300" b="0" i="0">
                <a:solidFill>
                  <a:srgbClr val="1C1C1E"/>
                </a:solidFill>
                <a:latin typeface="Calibri"/>
              </a:rPr>
              <a:t>It runs because a specific operation on a specific version, under specific parameters, was authorised — and the authorisation is a document an engine can verify without asking anybody.</a:t>
            </a:r>
          </a:p>
        </p:txBody>
      </p:sp>
      <p:sp>
        <p:nvSpPr>
          <p:cNvPr id="11" name="Rectangle 10"/>
          <p:cNvSpPr/>
          <p:nvPr/>
        </p:nvSpPr>
        <p:spPr>
          <a:xfrm>
            <a:off x="777240" y="2221991"/>
            <a:ext cx="10637215" cy="22930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41148" cy="22930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31343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A WARRANT CARRIES</a:t>
            </a:r>
          </a:p>
        </p:txBody>
      </p:sp>
      <p:sp>
        <p:nvSpPr>
          <p:cNvPr id="14" name="TextBox 13"/>
          <p:cNvSpPr txBox="1"/>
          <p:nvPr/>
        </p:nvSpPr>
        <p:spPr>
          <a:xfrm>
            <a:off x="978408" y="2615183"/>
            <a:ext cx="10271455" cy="1817575"/>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C1C1E"/>
                </a:solidFill>
                <a:latin typeface="Consolas"/>
              </a:rPr>
              <a:t>subject      urn @ version, manifest digest, trainability class</a:t>
            </a:r>
          </a:p>
          <a:p>
            <a:pPr>
              <a:lnSpc>
                <a:spcPct val="134000"/>
              </a:lnSpc>
              <a:spcBef>
                <a:spcPts val="0"/>
              </a:spcBef>
              <a:spcAft>
                <a:spcPts val="0"/>
              </a:spcAft>
            </a:pPr>
            <a:r>
              <a:rPr sz="1150" b="0" i="0">
                <a:solidFill>
                  <a:srgbClr val="1C1C1E"/>
                </a:solidFill>
                <a:latin typeface="Consolas"/>
              </a:rPr>
              <a:t>operation    verb (score | fit | calibrate), determinism, seed</a:t>
            </a:r>
          </a:p>
          <a:p>
            <a:pPr>
              <a:lnSpc>
                <a:spcPct val="134000"/>
              </a:lnSpc>
              <a:spcBef>
                <a:spcPts val="0"/>
              </a:spcBef>
              <a:spcAft>
                <a:spcPts val="0"/>
              </a:spcAft>
            </a:pPr>
            <a:r>
              <a:rPr sz="1150" b="0" i="0">
                <a:solidFill>
                  <a:srgbClr val="1C1C1E"/>
                </a:solidFill>
                <a:latin typeface="Consolas"/>
              </a:rPr>
              <a:t>parameters   the APPROVED set, by id and digest — or 'to_be_fitted'</a:t>
            </a:r>
          </a:p>
          <a:p>
            <a:pPr>
              <a:lnSpc>
                <a:spcPct val="134000"/>
              </a:lnSpc>
              <a:spcBef>
                <a:spcPts val="0"/>
              </a:spcBef>
              <a:spcAft>
                <a:spcPts val="0"/>
              </a:spcAft>
            </a:pPr>
            <a:r>
              <a:rPr sz="1150" b="0" i="0">
                <a:solidFill>
                  <a:srgbClr val="1C1C1E"/>
                </a:solidFill>
                <a:latin typeface="Consolas"/>
              </a:rPr>
              <a:t>data         the featureset version, its slots, and the PIT rule as text</a:t>
            </a:r>
          </a:p>
          <a:p>
            <a:pPr>
              <a:lnSpc>
                <a:spcPct val="134000"/>
              </a:lnSpc>
              <a:spcBef>
                <a:spcPts val="0"/>
              </a:spcBef>
              <a:spcAft>
                <a:spcPts val="0"/>
              </a:spcAft>
            </a:pPr>
            <a:r>
              <a:rPr sz="1150" b="0" i="0">
                <a:solidFill>
                  <a:srgbClr val="1C1C1E"/>
                </a:solidFill>
                <a:latin typeface="Consolas"/>
              </a:rPr>
              <a:t>constraints  what the contract assumes and guarantees</a:t>
            </a:r>
          </a:p>
          <a:p>
            <a:pPr>
              <a:lnSpc>
                <a:spcPct val="134000"/>
              </a:lnSpc>
              <a:spcBef>
                <a:spcPts val="0"/>
              </a:spcBef>
              <a:spcAft>
                <a:spcPts val="0"/>
              </a:spcAft>
            </a:pPr>
            <a:r>
              <a:rPr sz="1150" b="0" i="0">
                <a:solidFill>
                  <a:srgbClr val="1C1C1E"/>
                </a:solidFill>
                <a:latin typeface="Consolas"/>
              </a:rPr>
              <a:t>authority    principal, declared use, environment, expiry, revocation</a:t>
            </a:r>
          </a:p>
          <a:p>
            <a:pPr>
              <a:lnSpc>
                <a:spcPct val="134000"/>
              </a:lnSpc>
              <a:spcBef>
                <a:spcPts val="0"/>
              </a:spcBef>
              <a:spcAft>
                <a:spcPts val="0"/>
              </a:spcAft>
            </a:pPr>
            <a:r>
              <a:rPr sz="1150" b="0" i="0">
                <a:solidFill>
                  <a:srgbClr val="1C1C1E"/>
                </a:solidFill>
                <a:latin typeface="Consolas"/>
              </a:rPr>
              <a:t>signature    over all of it</a:t>
            </a:r>
          </a:p>
        </p:txBody>
      </p:sp>
      <p:sp>
        <p:nvSpPr>
          <p:cNvPr id="15" name="TextBox 14"/>
          <p:cNvSpPr txBox="1"/>
          <p:nvPr/>
        </p:nvSpPr>
        <p:spPr>
          <a:xfrm>
            <a:off x="777240" y="4752799"/>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A GRANT says this principal may ask; a WARRANT is one signed, expiring answer to one asking. </a:t>
            </a:r>
            <a:r>
              <a:rPr sz="1250" b="0" i="0">
                <a:solidFill>
                  <a:srgbClr val="1C1C1E"/>
                </a:solidFill>
                <a:latin typeface="Calibri"/>
              </a:rPr>
              <a:t>Revoking the grant stops the next warrant rather than reaching into the last one — which is why the revocation floor is measured in seconds rather than in hope.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THE TWO CLOCKS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Refusal as a first-class output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TextBox 9"/>
          <p:cNvSpPr txBox="1"/>
          <p:nvPr/>
        </p:nvSpPr>
        <p:spPr>
          <a:xfrm>
            <a:off x="777240" y="1353312"/>
            <a:ext cx="10637215" cy="914400"/>
          </a:xfrm>
          <a:prstGeom prst="rect">
            <a:avLst/>
          </a:prstGeom>
          <a:noFill/>
        </p:spPr>
        <p:txBody>
          <a:bodyPr wrap="square" lIns="0" rIns="0" tIns="0" bIns="0" anchor="t">
            <a:spAutoFit/>
          </a:bodyPr>
          <a:lstStyle/>
          <a:p>
            <a:pPr algn="l">
              <a:lnSpc>
                <a:spcPct val="128000"/>
              </a:lnSpc>
              <a:spcBef>
                <a:spcPts val="0"/>
              </a:spcBef>
              <a:spcAft>
                <a:spcPts val="0"/>
              </a:spcAft>
            </a:pPr>
            <a:r>
              <a:rPr sz="1300" b="1" i="0">
                <a:solidFill>
                  <a:srgbClr val="A51C30"/>
                </a:solidFill>
                <a:latin typeface="Calibri"/>
              </a:rPr>
              <a:t>The interesting output of a governance platform is not the answer. It is the refusal. </a:t>
            </a:r>
            <a:r>
              <a:rPr sz="1300" b="0" i="0">
                <a:solidFill>
                  <a:srgbClr val="1C1C1E"/>
                </a:solidFill>
                <a:latin typeface="Calibri"/>
              </a:rPr>
              <a:t>An answer can be produced by a system that is not checking anything; a refusal cannot. So every refusal here names the clause that failed and what to do instead — because a refusal that says only “forbidden” teaches people to route around the platform.</a:t>
            </a:r>
          </a:p>
        </p:txBody>
      </p:sp>
      <p:sp>
        <p:nvSpPr>
          <p:cNvPr id="11" name="Rectangle 10"/>
          <p:cNvSpPr/>
          <p:nvPr/>
        </p:nvSpPr>
        <p:spPr>
          <a:xfrm>
            <a:off x="777240" y="2496312"/>
            <a:ext cx="10637215" cy="253965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96312"/>
            <a:ext cx="41148" cy="253965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87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THREE REFUSALS, VERBATIM</a:t>
            </a:r>
          </a:p>
        </p:txBody>
      </p:sp>
      <p:sp>
        <p:nvSpPr>
          <p:cNvPr id="14" name="TextBox 13"/>
          <p:cNvSpPr txBox="1"/>
          <p:nvPr/>
        </p:nvSpPr>
        <p:spPr>
          <a:xfrm>
            <a:off x="978408" y="2889503"/>
            <a:ext cx="10271455" cy="2064166"/>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C1C1E"/>
                </a:solidFill>
                <a:latin typeface="Consolas"/>
              </a:rPr>
              <a:t>a T0 model cannot be fitted: its parameters come from theory, not</a:t>
            </a:r>
          </a:p>
          <a:p>
            <a:pPr>
              <a:lnSpc>
                <a:spcPct val="134000"/>
              </a:lnSpc>
              <a:spcBef>
                <a:spcPts val="0"/>
              </a:spcBef>
              <a:spcAft>
                <a:spcPts val="0"/>
              </a:spcAft>
            </a:pPr>
            <a:r>
              <a:rPr sz="1150" b="0" i="0">
                <a:solidFill>
                  <a:srgbClr val="1C1C1E"/>
                </a:solidFill>
                <a:latin typeface="Consolas"/>
              </a:rPr>
              <a:t>from data — there is nothing to fit</a:t>
            </a:r>
          </a:p>
          <a:p>
            <a:pPr>
              <a:lnSpc>
                <a:spcPct val="134000"/>
              </a:lnSpc>
              <a:spcBef>
                <a:spcPts val="0"/>
              </a:spcBef>
              <a:spcAft>
                <a:spcPts val="0"/>
              </a:spcAft>
            </a:pPr>
            <a:r>
              <a:rPr sz="1150" b="0" i="0">
                <a:solidFill>
                  <a:srgbClr val="1C1C1E"/>
                </a:solidFill>
                <a:latin typeface="Consolas"/>
              </a:rPr>
              <a:t> </a:t>
            </a:r>
          </a:p>
          <a:p>
            <a:pPr>
              <a:lnSpc>
                <a:spcPct val="134000"/>
              </a:lnSpc>
              <a:spcBef>
                <a:spcPts val="0"/>
              </a:spcBef>
              <a:spcAft>
                <a:spcPts val="0"/>
              </a:spcAft>
            </a:pPr>
            <a:r>
              <a:rPr sz="1150" b="0" i="0">
                <a:solidFill>
                  <a:srgbClr val="1C1C1E"/>
                </a:solidFill>
                <a:latin typeface="Consolas"/>
              </a:rPr>
              <a:t>this edge carries nothing — a wire to nowhere, and the blast radius</a:t>
            </a:r>
          </a:p>
          <a:p>
            <a:pPr>
              <a:lnSpc>
                <a:spcPct val="134000"/>
              </a:lnSpc>
              <a:spcBef>
                <a:spcPts val="0"/>
              </a:spcBef>
              <a:spcAft>
                <a:spcPts val="0"/>
              </a:spcAft>
            </a:pPr>
            <a:r>
              <a:rPr sz="1150" b="0" i="0">
                <a:solidFill>
                  <a:srgbClr val="1C1C1E"/>
                </a:solidFill>
                <a:latin typeface="Consolas"/>
              </a:rPr>
              <a:t>would follow it</a:t>
            </a:r>
          </a:p>
          <a:p>
            <a:pPr>
              <a:lnSpc>
                <a:spcPct val="134000"/>
              </a:lnSpc>
              <a:spcBef>
                <a:spcPts val="0"/>
              </a:spcBef>
              <a:spcAft>
                <a:spcPts val="0"/>
              </a:spcAft>
            </a:pPr>
            <a:r>
              <a:rPr sz="1150" b="0" i="0">
                <a:solidFill>
                  <a:srgbClr val="1C1C1E"/>
                </a:solidFill>
                <a:latin typeface="Consolas"/>
              </a:rPr>
              <a:t> </a:t>
            </a:r>
          </a:p>
          <a:p>
            <a:pPr>
              <a:lnSpc>
                <a:spcPct val="134000"/>
              </a:lnSpc>
              <a:spcBef>
                <a:spcPts val="0"/>
              </a:spcBef>
              <a:spcAft>
                <a:spcPts val="0"/>
              </a:spcAft>
            </a:pPr>
            <a:r>
              <a:rPr sz="1150" b="0" i="0">
                <a:solidFill>
                  <a:srgbClr val="1C1C1E"/>
                </a:solidFill>
                <a:latin typeface="Consolas"/>
              </a:rPr>
              <a:t>a number one person can both produce and bless is a preference, not</a:t>
            </a:r>
          </a:p>
          <a:p>
            <a:pPr>
              <a:lnSpc>
                <a:spcPct val="134000"/>
              </a:lnSpc>
              <a:spcBef>
                <a:spcPts val="0"/>
              </a:spcBef>
              <a:spcAft>
                <a:spcPts val="0"/>
              </a:spcAft>
            </a:pPr>
            <a:r>
              <a:rPr sz="1150" b="0" i="0">
                <a:solidFill>
                  <a:srgbClr val="1C1C1E"/>
                </a:solidFill>
                <a:latin typeface="Consolas"/>
              </a:rPr>
              <a:t>an estimate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DESIGN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shape of the system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99032"/>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45720" cy="86868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69848" y="1536192"/>
            <a:ext cx="9997135" cy="640080"/>
          </a:xfrm>
          <a:prstGeom prst="rect">
            <a:avLst/>
          </a:prstGeom>
          <a:noFill/>
        </p:spPr>
        <p:txBody>
          <a:bodyPr wrap="square" lIns="0" rIns="0" tIns="0" bIns="0" anchor="t">
            <a:spAutoFit/>
          </a:bodyPr>
          <a:lstStyle/>
          <a:p>
            <a:pPr algn="l">
              <a:spcBef>
                <a:spcPts val="0"/>
              </a:spcBef>
              <a:spcAft>
                <a:spcPts val="300"/>
              </a:spcAft>
            </a:pPr>
            <a:r>
              <a:rPr sz="1050" b="1" i="0">
                <a:solidFill>
                  <a:srgbClr val="4A4F57"/>
                </a:solidFill>
                <a:latin typeface="Calibri"/>
              </a:rPr>
              <a:t>INTERFACES  —  one process</a:t>
            </a:r>
          </a:p>
          <a:p>
            <a:pPr>
              <a:lnSpc>
                <a:spcPct val="122000"/>
              </a:lnSpc>
              <a:spcBef>
                <a:spcPts val="0"/>
              </a:spcBef>
              <a:spcAft>
                <a:spcPts val="0"/>
              </a:spcAft>
            </a:pPr>
            <a:r>
              <a:rPr sz="1150" b="0" i="0">
                <a:solidFill>
                  <a:srgbClr val="1C1C1E"/>
                </a:solidFill>
                <a:latin typeface="Calibri"/>
              </a:rPr>
              <a:t>/api/v1 (REST, RFC-9457 refusals) · server-rendered screens · Python SDK, standard library only</a:t>
            </a:r>
          </a:p>
        </p:txBody>
      </p:sp>
      <p:sp>
        <p:nvSpPr>
          <p:cNvPr id="13" name="Rectangle 12"/>
          <p:cNvSpPr/>
          <p:nvPr/>
        </p:nvSpPr>
        <p:spPr>
          <a:xfrm>
            <a:off x="777240" y="2432304"/>
            <a:ext cx="10637215"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69848" y="2587752"/>
            <a:ext cx="9997135" cy="1371600"/>
          </a:xfrm>
          <a:prstGeom prst="rect">
            <a:avLst/>
          </a:prstGeom>
          <a:noFill/>
        </p:spPr>
        <p:txBody>
          <a:bodyPr wrap="square" lIns="0" rIns="0" tIns="0" bIns="0" anchor="t">
            <a:spAutoFit/>
          </a:bodyPr>
          <a:lstStyle/>
          <a:p>
            <a:pPr algn="l">
              <a:spcBef>
                <a:spcPts val="0"/>
              </a:spcBef>
              <a:spcAft>
                <a:spcPts val="400"/>
              </a:spcAft>
            </a:pPr>
            <a:r>
              <a:rPr sz="1050" b="1" i="0">
                <a:solidFill>
                  <a:srgbClr val="E8B8C0"/>
                </a:solidFill>
                <a:latin typeface="Calibri"/>
              </a:rPr>
              <a:t>THE DOMAIN  —  where the formalism lives</a:t>
            </a:r>
          </a:p>
          <a:p>
            <a:pPr>
              <a:lnSpc>
                <a:spcPct val="124000"/>
              </a:lnSpc>
              <a:spcBef>
                <a:spcPts val="0"/>
              </a:spcBef>
              <a:spcAft>
                <a:spcPts val="0"/>
              </a:spcAft>
            </a:pPr>
            <a:r>
              <a:rPr sz="1200" b="0" i="0">
                <a:solidFill>
                  <a:srgbClr val="FFFFFF"/>
                </a:solidFill>
                <a:latin typeface="Calibri"/>
              </a:rPr>
              <a:t>algebra (the kernel, the trainability class) · features (two clocks, PIT assembly) · warrants (the grammar and its laws) · parameters (provenance and approval) · evidence (a hash chain) · fibres (a governance path per model class)</a:t>
            </a:r>
          </a:p>
        </p:txBody>
      </p:sp>
      <p:sp>
        <p:nvSpPr>
          <p:cNvPr id="15" name="Rectangle 14"/>
          <p:cNvSpPr/>
          <p:nvPr/>
        </p:nvSpPr>
        <p:spPr>
          <a:xfrm>
            <a:off x="777240" y="4242816"/>
            <a:ext cx="5159049"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242816"/>
            <a:ext cx="45720" cy="86868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4379976"/>
            <a:ext cx="4656129" cy="640080"/>
          </a:xfrm>
          <a:prstGeom prst="rect">
            <a:avLst/>
          </a:prstGeom>
          <a:noFill/>
        </p:spPr>
        <p:txBody>
          <a:bodyPr wrap="square" lIns="0" rIns="0" tIns="0" bIns="0" anchor="t">
            <a:spAutoFit/>
          </a:bodyPr>
          <a:lstStyle/>
          <a:p>
            <a:pPr algn="l">
              <a:spcBef>
                <a:spcPts val="0"/>
              </a:spcBef>
              <a:spcAft>
                <a:spcPts val="300"/>
              </a:spcAft>
            </a:pPr>
            <a:r>
              <a:rPr sz="1050" b="1" i="0">
                <a:solidFill>
                  <a:srgbClr val="4A4F57"/>
                </a:solidFill>
                <a:latin typeface="Calibri"/>
              </a:rPr>
              <a:t>CONTROL PLANE</a:t>
            </a:r>
          </a:p>
          <a:p>
            <a:pPr>
              <a:lnSpc>
                <a:spcPct val="122000"/>
              </a:lnSpc>
              <a:spcBef>
                <a:spcPts val="0"/>
              </a:spcBef>
              <a:spcAft>
                <a:spcPts val="0"/>
              </a:spcAft>
            </a:pPr>
            <a:r>
              <a:rPr sz="1150" b="0" i="0">
                <a:solidFill>
                  <a:srgbClr val="1C1C1E"/>
                </a:solidFill>
                <a:latin typeface="Calibri"/>
              </a:rPr>
              <a:t>One relational schema. Anything a person reads one at a time is a row.</a:t>
            </a:r>
          </a:p>
        </p:txBody>
      </p:sp>
      <p:sp>
        <p:nvSpPr>
          <p:cNvPr id="18" name="Rectangle 17"/>
          <p:cNvSpPr/>
          <p:nvPr/>
        </p:nvSpPr>
        <p:spPr>
          <a:xfrm>
            <a:off x="6255405" y="4242816"/>
            <a:ext cx="5159049"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255405" y="4242816"/>
            <a:ext cx="45720" cy="86868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548013" y="4379976"/>
            <a:ext cx="4656129" cy="640080"/>
          </a:xfrm>
          <a:prstGeom prst="rect">
            <a:avLst/>
          </a:prstGeom>
          <a:noFill/>
        </p:spPr>
        <p:txBody>
          <a:bodyPr wrap="square" lIns="0" rIns="0" tIns="0" bIns="0" anchor="t">
            <a:spAutoFit/>
          </a:bodyPr>
          <a:lstStyle/>
          <a:p>
            <a:pPr algn="l">
              <a:spcBef>
                <a:spcPts val="0"/>
              </a:spcBef>
              <a:spcAft>
                <a:spcPts val="300"/>
              </a:spcAft>
            </a:pPr>
            <a:r>
              <a:rPr sz="1050" b="1" i="0">
                <a:solidFill>
                  <a:srgbClr val="4A4F57"/>
                </a:solidFill>
                <a:latin typeface="Calibri"/>
              </a:rPr>
              <a:t>DATA PLANE</a:t>
            </a:r>
          </a:p>
          <a:p>
            <a:pPr>
              <a:lnSpc>
                <a:spcPct val="122000"/>
              </a:lnSpc>
              <a:spcBef>
                <a:spcPts val="0"/>
              </a:spcBef>
              <a:spcAft>
                <a:spcPts val="0"/>
              </a:spcAft>
            </a:pPr>
            <a:r>
              <a:rPr sz="1150" b="0" i="0">
                <a:solidFill>
                  <a:srgbClr val="1C1C1E"/>
                </a:solidFill>
                <a:latin typeface="Calibri"/>
              </a:rPr>
              <a:t>A versioned table format. Anything whose volume scales with business events.</a:t>
            </a:r>
          </a:p>
        </p:txBody>
      </p:sp>
      <p:sp>
        <p:nvSpPr>
          <p:cNvPr id="21" name="TextBox 20"/>
          <p:cNvSpPr txBox="1"/>
          <p:nvPr/>
        </p:nvSpPr>
        <p:spPr>
          <a:xfrm>
            <a:off x="777240" y="5303520"/>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Separated by SIZE, not by ceremony. </a:t>
            </a:r>
            <a:r>
              <a:rPr sz="1150" b="0" i="0">
                <a:solidFill>
                  <a:srgbClr val="1C1C1E"/>
                </a:solidFill>
                <a:latin typeface="Calibri"/>
              </a:rPr>
              <a:t>And the data plane's table VERSIONS are the transaction-time axis — which is the mechanism behind L-10 rather than a storage choice.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DESIGN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design decisions, and the argument for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353312"/>
          <a:ext cx="10637214" cy="2793769"/>
        </p:xfrm>
        <a:graphic>
          <a:graphicData uri="http://schemas.openxmlformats.org/drawingml/2006/table">
            <a:tbl>
              <a:tblPr firstRow="1">
                <a:tableStyleId>{5C22544A-7EE6-4342-B048-85BDC9FD1C3A}</a:tableStyleId>
              </a:tblPr>
              <a:tblGrid>
                <a:gridCol w="3605835"/>
                <a:gridCol w="7031379"/>
              </a:tblGrid>
              <a:tr h="333781">
                <a:tc>
                  <a:txBody>
                    <a:bodyPr wrap="square"/>
                    <a:lstStyle/>
                    <a:p>
                      <a:pPr algn="l"/>
                      <a:r>
                        <a:rPr sz="1100" b="1">
                          <a:solidFill>
                            <a:srgbClr val="FFFFFF"/>
                          </a:solidFill>
                          <a:latin typeface="Calibri"/>
                        </a:rPr>
                        <a:t>Decision</a:t>
                      </a:r>
                    </a:p>
                  </a:txBody>
                  <a:tcPr marL="82296" marR="64008" marT="32004" marB="32004" anchor="ctr">
                    <a:solidFill>
                      <a:srgbClr val="A51C30"/>
                    </a:solidFill>
                  </a:tcPr>
                </a:tc>
                <a:tc>
                  <a:txBody>
                    <a:bodyPr wrap="square"/>
                    <a:lstStyle/>
                    <a:p>
                      <a:pPr algn="l"/>
                      <a:r>
                        <a:rPr sz="1100" b="1">
                          <a:solidFill>
                            <a:srgbClr val="FFFFFF"/>
                          </a:solidFill>
                          <a:latin typeface="Calibri"/>
                        </a:rPr>
                        <a:t>The argument</a:t>
                      </a:r>
                    </a:p>
                  </a:txBody>
                  <a:tcPr marL="82296" marR="64008" marT="32004" marB="32004" anchor="ctr">
                    <a:solidFill>
                      <a:srgbClr val="A51C30"/>
                    </a:solidFill>
                  </a:tcPr>
                </a:tc>
              </a:tr>
              <a:tr h="708736">
                <a:tc>
                  <a:txBody>
                    <a:bodyPr wrap="square"/>
                    <a:lstStyle/>
                    <a:p>
                      <a:pPr algn="l"/>
                      <a:r>
                        <a:rPr sz="1100" b="0">
                          <a:solidFill>
                            <a:srgbClr val="1C1C1E"/>
                          </a:solidFill>
                          <a:latin typeface="Calibri"/>
                        </a:rPr>
                        <a:t>No foreign keys, no CHECK constraints, no triggers</a:t>
                      </a:r>
                    </a:p>
                  </a:txBody>
                  <a:tcPr marL="82296" marR="64008" marT="32004" marB="32004" anchor="ctr">
                    <a:solidFill>
                      <a:srgbClr val="FFFFFF"/>
                    </a:solidFill>
                  </a:tcPr>
                </a:tc>
                <a:tc>
                  <a:txBody>
                    <a:bodyPr wrap="square"/>
                    <a:lstStyle/>
                    <a:p>
                      <a:pPr algn="l"/>
                      <a:r>
                        <a:rPr sz="1100" b="0">
                          <a:solidFill>
                            <a:srgbClr val="1C1C1E"/>
                          </a:solidFill>
                          <a:latin typeface="Calibri"/>
                        </a:rPr>
                        <a:t>Integrity in two places is integrity that can disagree, and the version believed is the one with the friendlier error. A trigger that reports success while dropping the write is the worst available failure mode</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No migrations</a:t>
                      </a:r>
                    </a:p>
                  </a:txBody>
                  <a:tcPr marL="82296" marR="64008" marT="32004" marB="32004" anchor="ctr">
                    <a:solidFill>
                      <a:srgbClr val="F6F3EF"/>
                    </a:solidFill>
                  </a:tcPr>
                </a:tc>
                <a:tc>
                  <a:txBody>
                    <a:bodyPr wrap="square"/>
                    <a:lstStyle/>
                    <a:p>
                      <a:pPr algn="l"/>
                      <a:r>
                        <a:rPr sz="1100" b="0">
                          <a:solidFill>
                            <a:srgbClr val="1C1C1E"/>
                          </a:solidFill>
                          <a:latin typeface="Calibri"/>
                        </a:rPr>
                        <a:t>The schema is ONE typed declaration and the DDL for each dialect is generated from it. Two hand-maintained files can only report a divergence somebody has already shipped</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The expression IS the model, where it can be</a:t>
                      </a:r>
                    </a:p>
                  </a:txBody>
                  <a:tcPr marL="82296" marR="64008" marT="32004" marB="32004" anchor="ctr">
                    <a:solidFill>
                      <a:srgbClr val="FFFFFF"/>
                    </a:solidFill>
                  </a:tcPr>
                </a:tc>
                <a:tc>
                  <a:txBody>
                    <a:bodyPr wrap="square"/>
                    <a:lstStyle/>
                    <a:p>
                      <a:pPr algn="l"/>
                      <a:r>
                        <a:rPr sz="1100" b="0">
                          <a:solidFill>
                            <a:srgbClr val="1C1C1E"/>
                          </a:solidFill>
                          <a:latin typeface="Calibri"/>
                        </a:rPr>
                        <a:t>A closed-form model carries its own arithmetic in the register, so the equation, the generated code and the answer are derived from one syntax tree and cannot drift</a:t>
                      </a:r>
                    </a:p>
                  </a:txBody>
                  <a:tcPr marL="82296" marR="64008" marT="32004" marB="32004" anchor="ctr">
                    <a:solidFill>
                      <a:srgbClr val="FFFFFF"/>
                    </a:solidFill>
                  </a:tcPr>
                </a:tc>
              </a:tr>
              <a:tr h="708736">
                <a:tc>
                  <a:txBody>
                    <a:bodyPr wrap="square"/>
                    <a:lstStyle/>
                    <a:p>
                      <a:pPr algn="l"/>
                      <a:r>
                        <a:rPr sz="1100" b="0">
                          <a:solidFill>
                            <a:srgbClr val="1C1C1E"/>
                          </a:solidFill>
                          <a:latin typeface="Calibri"/>
                        </a:rPr>
                        <a:t>MAYA does not train and does not run</a:t>
                      </a:r>
                    </a:p>
                  </a:txBody>
                  <a:tcPr marL="82296" marR="64008" marT="32004" marB="32004" anchor="ctr">
                    <a:solidFill>
                      <a:srgbClr val="F6F3EF"/>
                    </a:solidFill>
                  </a:tcPr>
                </a:tc>
                <a:tc>
                  <a:txBody>
                    <a:bodyPr wrap="square"/>
                    <a:lstStyle/>
                    <a:p>
                      <a:pPr algn="l"/>
                      <a:r>
                        <a:rPr sz="1100" b="0">
                          <a:solidFill>
                            <a:srgbClr val="1C1C1E"/>
                          </a:solidFill>
                          <a:latin typeface="Calibri"/>
                        </a:rPr>
                        <a:t>It issues authority and records what came back. A register on the serving path is a register with an availability requirement, and a governance control nobody can afford to have fail is one that gets bypassed</a:t>
                      </a:r>
                    </a:p>
                  </a:txBody>
                  <a:tcPr marL="82296" marR="64008" marT="32004" marB="32004" anchor="ctr">
                    <a:solidFill>
                      <a:srgbClr val="F6F3EF"/>
                    </a:solidFill>
                  </a:tcPr>
                </a:tc>
              </a:tr>
            </a:tbl>
          </a:graphicData>
        </a:graphic>
      </p:graphicFrame>
      <p:sp>
        <p:nvSpPr>
          <p:cNvPr id="11" name="TextBox 10"/>
          <p:cNvSpPr txBox="1"/>
          <p:nvPr/>
        </p:nvSpPr>
        <p:spPr>
          <a:xfrm>
            <a:off x="777240" y="4384827"/>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Each of these costs something, and the cost is stated where the decision is. </a:t>
            </a:r>
            <a:r>
              <a:rPr sz="1200" b="0" i="0">
                <a:solidFill>
                  <a:srgbClr val="1C1C1E"/>
                </a:solidFill>
                <a:latin typeface="Calibri"/>
              </a:rPr>
              <a:t>Dropping foreign keys means integrity rests on one layer being correct, with nothing beneath it to catch the fall.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DATA</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at the level that matters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graphicFrame>
        <p:nvGraphicFramePr>
          <p:cNvPr id="10" name="Table 9"/>
          <p:cNvGraphicFramePr>
            <a:graphicFrameLocks noGrp="1"/>
          </p:cNvGraphicFramePr>
          <p:nvPr/>
        </p:nvGraphicFramePr>
        <p:xfrm>
          <a:off x="777240" y="1353312"/>
          <a:ext cx="10637214" cy="2931256"/>
        </p:xfrm>
        <a:graphic>
          <a:graphicData uri="http://schemas.openxmlformats.org/drawingml/2006/table">
            <a:tbl>
              <a:tblPr firstRow="1">
                <a:tableStyleId>{5C22544A-7EE6-4342-B048-85BDC9FD1C3A}</a:tableStyleId>
              </a:tblPr>
              <a:tblGrid>
                <a:gridCol w="2253647"/>
                <a:gridCol w="2974814"/>
                <a:gridCol w="5408753"/>
              </a:tblGrid>
              <a:tr h="329184">
                <a:tc>
                  <a:txBody>
                    <a:bodyPr wrap="square"/>
                    <a:lstStyle/>
                    <a:p>
                      <a:pPr algn="l"/>
                      <a:r>
                        <a:rPr sz="1050" b="1">
                          <a:solidFill>
                            <a:srgbClr val="FFFFFF"/>
                          </a:solidFill>
                          <a:latin typeface="Calibri"/>
                        </a:rPr>
                        <a:t>Object</a:t>
                      </a:r>
                    </a:p>
                  </a:txBody>
                  <a:tcPr marL="82296" marR="64008" marT="32004" marB="32004" anchor="ctr">
                    <a:solidFill>
                      <a:srgbClr val="A51C30"/>
                    </a:solidFill>
                  </a:tcPr>
                </a:tc>
                <a:tc>
                  <a:txBody>
                    <a:bodyPr wrap="square"/>
                    <a:lstStyle/>
                    <a:p>
                      <a:pPr algn="l"/>
                      <a:r>
                        <a:rPr sz="1050" b="1">
                          <a:solidFill>
                            <a:srgbClr val="FFFFFF"/>
                          </a:solidFill>
                          <a:latin typeface="Calibri"/>
                        </a:rPr>
                        <a:t>Identity</a:t>
                      </a:r>
                    </a:p>
                  </a:txBody>
                  <a:tcPr marL="82296" marR="64008" marT="32004" marB="32004" anchor="ctr">
                    <a:solidFill>
                      <a:srgbClr val="A51C30"/>
                    </a:solidFill>
                  </a:tcPr>
                </a:tc>
                <a:tc>
                  <a:txBody>
                    <a:bodyPr wrap="square"/>
                    <a:lstStyle/>
                    <a:p>
                      <a:pPr algn="l"/>
                      <a:r>
                        <a:rPr sz="1050" b="1">
                          <a:solidFill>
                            <a:srgbClr val="FFFFFF"/>
                          </a:solidFill>
                          <a:latin typeface="Calibri"/>
                        </a:rPr>
                        <a:t>What it pins</a:t>
                      </a:r>
                    </a:p>
                  </a:txBody>
                  <a:tcPr marL="82296" marR="64008" marT="32004" marB="32004" anchor="ctr">
                    <a:solidFill>
                      <a:srgbClr val="A51C30"/>
                    </a:solidFill>
                  </a:tcPr>
                </a:tc>
              </a:tr>
              <a:tr h="325259">
                <a:tc>
                  <a:txBody>
                    <a:bodyPr wrap="square"/>
                    <a:lstStyle/>
                    <a:p>
                      <a:pPr algn="l"/>
                      <a:r>
                        <a:rPr sz="1050" b="0">
                          <a:solidFill>
                            <a:srgbClr val="1C1C1E"/>
                          </a:solidFill>
                          <a:latin typeface="Calibri"/>
                        </a:rPr>
                        <a:t>model</a:t>
                      </a:r>
                    </a:p>
                  </a:txBody>
                  <a:tcPr marL="82296" marR="64008" marT="32004" marB="32004" anchor="ctr">
                    <a:solidFill>
                      <a:srgbClr val="FFFFFF"/>
                    </a:solidFill>
                  </a:tcPr>
                </a:tc>
                <a:tc>
                  <a:txBody>
                    <a:bodyPr wrap="square"/>
                    <a:lstStyle/>
                    <a:p>
                      <a:pPr algn="l"/>
                      <a:r>
                        <a:rPr sz="1050" b="0">
                          <a:solidFill>
                            <a:srgbClr val="1C1C1E"/>
                          </a:solidFill>
                          <a:latin typeface="Calibri"/>
                        </a:rPr>
                        <a:t>a URN</a:t>
                      </a:r>
                    </a:p>
                  </a:txBody>
                  <a:tcPr marL="82296" marR="64008" marT="32004" marB="32004" anchor="ctr">
                    <a:solidFill>
                      <a:srgbClr val="FFFFFF"/>
                    </a:solidFill>
                  </a:tcPr>
                </a:tc>
                <a:tc>
                  <a:txBody>
                    <a:bodyPr wrap="square"/>
                    <a:lstStyle/>
                    <a:p>
                      <a:pPr algn="l"/>
                      <a:r>
                        <a:rPr sz="1050" b="0">
                          <a:solidFill>
                            <a:srgbClr val="1C1C1E"/>
                          </a:solidFill>
                          <a:latin typeface="Calibri"/>
                        </a:rPr>
                        <a:t>an owner, a legal entity, a purpose, a risk tier</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model version</a:t>
                      </a:r>
                    </a:p>
                  </a:txBody>
                  <a:tcPr marL="82296" marR="64008" marT="32004" marB="32004" anchor="ctr">
                    <a:solidFill>
                      <a:srgbClr val="F6F3EF"/>
                    </a:solidFill>
                  </a:tcPr>
                </a:tc>
                <a:tc>
                  <a:txBody>
                    <a:bodyPr wrap="square"/>
                    <a:lstStyle/>
                    <a:p>
                      <a:pPr algn="l"/>
                      <a:r>
                        <a:rPr sz="1050" b="0">
                          <a:solidFill>
                            <a:srgbClr val="1C1C1E"/>
                          </a:solidFill>
                          <a:latin typeface="Calibri"/>
                        </a:rPr>
                        <a:t>a DIGEST over its manifest</a:t>
                      </a:r>
                    </a:p>
                  </a:txBody>
                  <a:tcPr marL="82296" marR="64008" marT="32004" marB="32004" anchor="ctr">
                    <a:solidFill>
                      <a:srgbClr val="F6F3EF"/>
                    </a:solidFill>
                  </a:tcPr>
                </a:tc>
                <a:tc>
                  <a:txBody>
                    <a:bodyPr wrap="square"/>
                    <a:lstStyle/>
                    <a:p>
                      <a:pPr algn="l"/>
                      <a:r>
                        <a:rPr sz="1050" b="0">
                          <a:solidFill>
                            <a:srgbClr val="1C1C1E"/>
                          </a:solidFill>
                          <a:latin typeface="Calibri"/>
                        </a:rPr>
                        <a:t>the kernel: runtime, P's kind, X's schema, the expression or artifact</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feature</a:t>
                      </a:r>
                    </a:p>
                  </a:txBody>
                  <a:tcPr marL="82296" marR="64008" marT="32004" marB="32004" anchor="ctr">
                    <a:solidFill>
                      <a:srgbClr val="FFFFFF"/>
                    </a:solidFill>
                  </a:tcPr>
                </a:tc>
                <a:tc>
                  <a:txBody>
                    <a:bodyPr wrap="square"/>
                    <a:lstStyle/>
                    <a:p>
                      <a:pPr algn="l"/>
                      <a:r>
                        <a:rPr sz="1050" b="0">
                          <a:solidFill>
                            <a:srgbClr val="1C1C1E"/>
                          </a:solidFill>
                          <a:latin typeface="Calibri"/>
                        </a:rPr>
                        <a:t>a name, per entity</a:t>
                      </a:r>
                    </a:p>
                  </a:txBody>
                  <a:tcPr marL="82296" marR="64008" marT="32004" marB="32004" anchor="ctr">
                    <a:solidFill>
                      <a:srgbClr val="FFFFFF"/>
                    </a:solidFill>
                  </a:tcPr>
                </a:tc>
                <a:tc>
                  <a:txBody>
                    <a:bodyPr wrap="square"/>
                    <a:lstStyle/>
                    <a:p>
                      <a:pPr algn="l"/>
                      <a:r>
                        <a:rPr sz="1050" b="0">
                          <a:solidFill>
                            <a:srgbClr val="1C1C1E"/>
                          </a:solidFill>
                          <a:latin typeface="Calibri"/>
                        </a:rPr>
                        <a:t>a dtype, an owner, a retrieval policy. ONE definition, reused</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feature view version</a:t>
                      </a:r>
                    </a:p>
                  </a:txBody>
                  <a:tcPr marL="82296" marR="64008" marT="32004" marB="32004" anchor="ctr">
                    <a:solidFill>
                      <a:srgbClr val="F6F3EF"/>
                    </a:solidFill>
                  </a:tcPr>
                </a:tc>
                <a:tc>
                  <a:txBody>
                    <a:bodyPr wrap="square"/>
                    <a:lstStyle/>
                    <a:p>
                      <a:pPr algn="l"/>
                      <a:r>
                        <a:rPr sz="1050" b="0">
                          <a:solidFill>
                            <a:srgbClr val="1C1C1E"/>
                          </a:solidFill>
                          <a:latin typeface="Calibri"/>
                        </a:rPr>
                        <a:t>a namespace + a table version</a:t>
                      </a:r>
                    </a:p>
                  </a:txBody>
                  <a:tcPr marL="82296" marR="64008" marT="32004" marB="32004" anchor="ctr">
                    <a:solidFill>
                      <a:srgbClr val="F6F3EF"/>
                    </a:solidFill>
                  </a:tcPr>
                </a:tc>
                <a:tc>
                  <a:txBody>
                    <a:bodyPr wrap="square"/>
                    <a:lstStyle/>
                    <a:p>
                      <a:pPr algn="l"/>
                      <a:r>
                        <a:rPr sz="1050" b="0">
                          <a:solidFill>
                            <a:srgbClr val="1C1C1E"/>
                          </a:solidFill>
                          <a:latin typeface="Calibri"/>
                        </a:rPr>
                        <a:t>the actual bytes. v7 cannot be touched by writing v8</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featureset version</a:t>
                      </a:r>
                    </a:p>
                  </a:txBody>
                  <a:tcPr marL="82296" marR="64008" marT="32004" marB="32004" anchor="ctr">
                    <a:solidFill>
                      <a:srgbClr val="FFFFFF"/>
                    </a:solidFill>
                  </a:tcPr>
                </a:tc>
                <a:tc>
                  <a:txBody>
                    <a:bodyPr wrap="square"/>
                    <a:lstStyle/>
                    <a:p>
                      <a:pPr algn="l"/>
                      <a:r>
                        <a:rPr sz="1050" b="0">
                          <a:solidFill>
                            <a:srgbClr val="1C1C1E"/>
                          </a:solidFill>
                          <a:latin typeface="Calibri"/>
                        </a:rPr>
                        <a:t>a fill of a schema</a:t>
                      </a:r>
                    </a:p>
                  </a:txBody>
                  <a:tcPr marL="82296" marR="64008" marT="32004" marB="32004" anchor="ctr">
                    <a:solidFill>
                      <a:srgbClr val="FFFFFF"/>
                    </a:solidFill>
                  </a:tcPr>
                </a:tc>
                <a:tc>
                  <a:txBody>
                    <a:bodyPr wrap="square"/>
                    <a:lstStyle/>
                    <a:p>
                      <a:pPr algn="l"/>
                      <a:r>
                        <a:rPr sz="1050" b="0">
                          <a:solidFill>
                            <a:srgbClr val="1C1C1E"/>
                          </a:solidFill>
                          <a:latin typeface="Calibri"/>
                        </a:rPr>
                        <a:t>each slot bound to a feature, a view AND that view's version</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parameter set</a:t>
                      </a:r>
                    </a:p>
                  </a:txBody>
                  <a:tcPr marL="82296" marR="64008" marT="32004" marB="32004" anchor="ctr">
                    <a:solidFill>
                      <a:srgbClr val="F6F3EF"/>
                    </a:solidFill>
                  </a:tcPr>
                </a:tc>
                <a:tc>
                  <a:txBody>
                    <a:bodyPr wrap="square"/>
                    <a:lstStyle/>
                    <a:p>
                      <a:pPr algn="l"/>
                      <a:r>
                        <a:rPr sz="1050" b="0">
                          <a:solidFill>
                            <a:srgbClr val="1C1C1E"/>
                          </a:solidFill>
                          <a:latin typeface="Calibri"/>
                        </a:rPr>
                        <a:t>a digest over its values</a:t>
                      </a:r>
                    </a:p>
                  </a:txBody>
                  <a:tcPr marL="82296" marR="64008" marT="32004" marB="32004" anchor="ctr">
                    <a:solidFill>
                      <a:srgbClr val="F6F3EF"/>
                    </a:solidFill>
                  </a:tcPr>
                </a:tc>
                <a:tc>
                  <a:txBody>
                    <a:bodyPr wrap="square"/>
                    <a:lstStyle/>
                    <a:p>
                      <a:pPr algn="l"/>
                      <a:r>
                        <a:rPr sz="1050" b="0">
                          <a:solidFill>
                            <a:srgbClr val="1C1C1E"/>
                          </a:solidFill>
                          <a:latin typeface="Calibri"/>
                        </a:rPr>
                        <a:t>provenance (fitted/calibrated/declared), the warrant, the diagnostics</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warrant</a:t>
                      </a:r>
                    </a:p>
                  </a:txBody>
                  <a:tcPr marL="82296" marR="64008" marT="32004" marB="32004" anchor="ctr">
                    <a:solidFill>
                      <a:srgbClr val="FFFFFF"/>
                    </a:solidFill>
                  </a:tcPr>
                </a:tc>
                <a:tc>
                  <a:txBody>
                    <a:bodyPr wrap="square"/>
                    <a:lstStyle/>
                    <a:p>
                      <a:pPr algn="l"/>
                      <a:r>
                        <a:rPr sz="1050" b="0">
                          <a:solidFill>
                            <a:srgbClr val="1C1C1E"/>
                          </a:solidFill>
                          <a:latin typeface="Calibri"/>
                        </a:rPr>
                        <a:t>a signed document</a:t>
                      </a:r>
                    </a:p>
                  </a:txBody>
                  <a:tcPr marL="82296" marR="64008" marT="32004" marB="32004" anchor="ctr">
                    <a:solidFill>
                      <a:srgbClr val="FFFFFF"/>
                    </a:solidFill>
                  </a:tcPr>
                </a:tc>
                <a:tc>
                  <a:txBody>
                    <a:bodyPr wrap="square"/>
                    <a:lstStyle/>
                    <a:p>
                      <a:pPr algn="l"/>
                      <a:r>
                        <a:rPr sz="1050" b="0">
                          <a:solidFill>
                            <a:srgbClr val="1C1C1E"/>
                          </a:solidFill>
                          <a:latin typeface="Calibri"/>
                        </a:rPr>
                        <a:t>subject, verb, parameters by digest, the data read, expiry</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evidence node</a:t>
                      </a:r>
                    </a:p>
                  </a:txBody>
                  <a:tcPr marL="82296" marR="64008" marT="32004" marB="32004" anchor="ctr">
                    <a:solidFill>
                      <a:srgbClr val="F6F3EF"/>
                    </a:solidFill>
                  </a:tcPr>
                </a:tc>
                <a:tc>
                  <a:txBody>
                    <a:bodyPr wrap="square"/>
                    <a:lstStyle/>
                    <a:p>
                      <a:pPr algn="l"/>
                      <a:r>
                        <a:rPr sz="1050" b="0">
                          <a:solidFill>
                            <a:srgbClr val="1C1C1E"/>
                          </a:solidFill>
                          <a:latin typeface="Calibri"/>
                        </a:rPr>
                        <a:t>a hash chain entry</a:t>
                      </a:r>
                    </a:p>
                  </a:txBody>
                  <a:tcPr marL="82296" marR="64008" marT="32004" marB="32004" anchor="ctr">
                    <a:solidFill>
                      <a:srgbClr val="F6F3EF"/>
                    </a:solidFill>
                  </a:tcPr>
                </a:tc>
                <a:tc>
                  <a:txBody>
                    <a:bodyPr wrap="square"/>
                    <a:lstStyle/>
                    <a:p>
                      <a:pPr algn="l"/>
                      <a:r>
                        <a:rPr sz="1050" b="0">
                          <a:solidFill>
                            <a:srgbClr val="1C1C1E"/>
                          </a:solidFill>
                          <a:latin typeface="Calibri"/>
                        </a:rPr>
                        <a:t>what happened, who did it, and what the previous node was</a:t>
                      </a:r>
                    </a:p>
                  </a:txBody>
                  <a:tcPr marL="82296" marR="64008" marT="32004" marB="32004" anchor="ctr">
                    <a:solidFill>
                      <a:srgbClr val="F6F3EF"/>
                    </a:solidFill>
                  </a:tcPr>
                </a:tc>
              </a:tr>
            </a:tbl>
          </a:graphicData>
        </a:graphic>
      </p:graphicFrame>
      <p:sp>
        <p:nvSpPr>
          <p:cNvPr id="11" name="TextBox 10"/>
          <p:cNvSpPr txBox="1"/>
          <p:nvPr/>
        </p:nvSpPr>
        <p:spPr>
          <a:xfrm>
            <a:off x="777240" y="4504029"/>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Read the middle column downwards. </a:t>
            </a:r>
            <a:r>
              <a:rPr sz="1200" b="0" i="0">
                <a:solidFill>
                  <a:srgbClr val="1C1C1E"/>
                </a:solidFill>
                <a:latin typeface="Calibri"/>
              </a:rPr>
              <a:t>Almost every identity is a digest or a version pin rather than a name — because a stable name over moving contents is the failure this whole design exists to prevent.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DATA</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an object, not a column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5163159" cy="26517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WHAT IT CARRIES</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Identity, and a retrieval policy</a:t>
            </a:r>
          </a:p>
        </p:txBody>
      </p:sp>
      <p:sp>
        <p:nvSpPr>
          <p:cNvPr id="14" name="TextBox 13"/>
          <p:cNvSpPr txBox="1"/>
          <p:nvPr/>
        </p:nvSpPr>
        <p:spPr>
          <a:xfrm>
            <a:off x="996695" y="2157984"/>
            <a:ext cx="4724247" cy="16642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name scoped to an entity, a dtype and a shape — scalar, vector, matrix — an owner, a business definition, and a sensitivity.
And a RETRIEVAL POLICY: how a missing value is filled, how readings are normalised, how a value between two timestamps is aligned. It travels with the feature, because a fill strategy chosen at read time is a different number in every consumer.</a:t>
            </a:r>
          </a:p>
        </p:txBody>
      </p:sp>
      <p:sp>
        <p:nvSpPr>
          <p:cNvPr id="15" name="Rectangle 14"/>
          <p:cNvSpPr/>
          <p:nvPr/>
        </p:nvSpPr>
        <p:spPr>
          <a:xfrm>
            <a:off x="6251295" y="1353312"/>
            <a:ext cx="5163159" cy="26517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WHAT FOLLOWS</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Reuse becomes checkable</a:t>
            </a:r>
          </a:p>
        </p:txBody>
      </p:sp>
      <p:sp>
        <p:nvSpPr>
          <p:cNvPr id="19" name="TextBox 18"/>
          <p:cNvSpPr txBox="1"/>
          <p:nvPr/>
        </p:nvSpPr>
        <p:spPr>
          <a:xfrm>
            <a:off x="6470751" y="2157984"/>
            <a:ext cx="4724247" cy="16642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models reading `asset_vol` read ONE definition. A second definition would be a second answer to one question, and the two would drift invisibly.
A DERIVED feature is `Z = f(X, Y)` with the expression stored: its ingest clock is the MAXIMUM over its inputs, which is arithmetic and therefore cannot be forgotten, and its lineage is walked whenever it is used — so a feature derived from the label is refused with the chain named.</a:t>
            </a:r>
          </a:p>
        </p:txBody>
      </p:sp>
      <p:sp>
        <p:nvSpPr>
          <p:cNvPr id="20" name="TextBox 19"/>
          <p:cNvSpPr txBox="1"/>
          <p:nvPr/>
        </p:nvSpPr>
        <p:spPr>
          <a:xfrm>
            <a:off x="777240" y="4187952"/>
            <a:ext cx="10637215" cy="82296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A featureset is the input object X, made an object. </a:t>
            </a:r>
            <a:r>
              <a:rPr sz="1250" b="0" i="0">
                <a:solidFill>
                  <a:srgbClr val="1C1C1E"/>
                </a:solidFill>
                <a:latin typeface="Calibri"/>
              </a:rPr>
              <a:t>It declares a schema of typed slots; a VERSION fills it, binding each slot to a feature, a view and that view's version. Swapping which feature fills a slot does not change the model's input space — it changes what the model was fitted on, which is a different event with a different control.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DATA</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as a semiring, not a log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Every governance act appends a node to a hash chain: what happened, who did it, and the digest of the node before. </a:t>
            </a:r>
            <a:r>
              <a:rPr sz="1300" b="1" i="0">
                <a:solidFill>
                  <a:srgbClr val="A51C30"/>
                </a:solidFill>
                <a:latin typeface="Calibri"/>
              </a:rPr>
              <a:t>The interesting part is what you can then COMPUTE over it.</a:t>
            </a:r>
          </a:p>
        </p:txBody>
      </p:sp>
      <p:graphicFrame>
        <p:nvGraphicFramePr>
          <p:cNvPr id="11" name="Table 10"/>
          <p:cNvGraphicFramePr>
            <a:graphicFrameLocks noGrp="1"/>
          </p:cNvGraphicFramePr>
          <p:nvPr/>
        </p:nvGraphicFramePr>
        <p:xfrm>
          <a:off x="777240" y="2313432"/>
          <a:ext cx="10637214" cy="1702993"/>
        </p:xfrm>
        <a:graphic>
          <a:graphicData uri="http://schemas.openxmlformats.org/drawingml/2006/table">
            <a:tbl>
              <a:tblPr firstRow="1">
                <a:tableStyleId>{5C22544A-7EE6-4342-B048-85BDC9FD1C3A}</a:tableStyleId>
              </a:tblPr>
              <a:tblGrid>
                <a:gridCol w="4146711"/>
                <a:gridCol w="3605835"/>
                <a:gridCol w="2884668"/>
              </a:tblGrid>
              <a:tr h="333781">
                <a:tc>
                  <a:txBody>
                    <a:bodyPr wrap="square"/>
                    <a:lstStyle/>
                    <a:p>
                      <a:pPr algn="l"/>
                      <a:r>
                        <a:rPr sz="1100" b="1">
                          <a:solidFill>
                            <a:srgbClr val="FFFFFF"/>
                          </a:solidFill>
                          <a:latin typeface="Calibri"/>
                        </a:rPr>
                        <a:t>Question</a:t>
                      </a:r>
                    </a:p>
                  </a:txBody>
                  <a:tcPr marL="82296" marR="64008" marT="32004" marB="32004" anchor="ctr">
                    <a:solidFill>
                      <a:srgbClr val="A51C30"/>
                    </a:solidFill>
                  </a:tcPr>
                </a:tc>
                <a:tc>
                  <a:txBody>
                    <a:bodyPr wrap="square"/>
                    <a:lstStyle/>
                    <a:p>
                      <a:pPr algn="l"/>
                      <a:r>
                        <a:rPr sz="1100" b="1">
                          <a:solidFill>
                            <a:srgbClr val="FFFFFF"/>
                          </a:solidFill>
                          <a:latin typeface="Calibri"/>
                        </a:rPr>
                        <a:t>The semiring</a:t>
                      </a:r>
                    </a:p>
                  </a:txBody>
                  <a:tcPr marL="82296" marR="64008" marT="32004" marB="32004" anchor="ctr">
                    <a:solidFill>
                      <a:srgbClr val="A51C30"/>
                    </a:solidFill>
                  </a:tcPr>
                </a:tc>
                <a:tc>
                  <a:txBody>
                    <a:bodyPr wrap="square"/>
                    <a:lstStyle/>
                    <a:p>
                      <a:pPr algn="l"/>
                      <a:r>
                        <a:rPr sz="1100" b="1">
                          <a:solidFill>
                            <a:srgbClr val="FFFFFF"/>
                          </a:solidFill>
                          <a:latin typeface="Calibri"/>
                        </a:rPr>
                        <a:t>⊕ and ⊗</a:t>
                      </a:r>
                    </a:p>
                  </a:txBody>
                  <a:tcPr marL="82296" marR="64008" marT="32004" marB="32004" anchor="ctr">
                    <a:solidFill>
                      <a:srgbClr val="A51C30"/>
                    </a:solidFill>
                  </a:tcPr>
                </a:tc>
              </a:tr>
              <a:tr h="342303">
                <a:tc>
                  <a:txBody>
                    <a:bodyPr wrap="square"/>
                    <a:lstStyle/>
                    <a:p>
                      <a:pPr algn="l"/>
                      <a:r>
                        <a:rPr sz="1150" b="0">
                          <a:solidFill>
                            <a:srgbClr val="1C1C1E"/>
                          </a:solidFill>
                          <a:latin typeface="Calibri"/>
                        </a:rPr>
                        <a:t>Is this claim supported at all?</a:t>
                      </a:r>
                    </a:p>
                  </a:txBody>
                  <a:tcPr marL="82296" marR="64008" marT="32004" marB="32004" anchor="ctr">
                    <a:solidFill>
                      <a:srgbClr val="FFFFFF"/>
                    </a:solidFill>
                  </a:tcPr>
                </a:tc>
                <a:tc>
                  <a:txBody>
                    <a:bodyPr wrap="square"/>
                    <a:lstStyle/>
                    <a:p>
                      <a:pPr algn="l"/>
                      <a:r>
                        <a:rPr sz="1150" b="0">
                          <a:solidFill>
                            <a:srgbClr val="1C1C1E"/>
                          </a:solidFill>
                          <a:latin typeface="Calibri"/>
                        </a:rPr>
                        <a:t>BOOLEAN</a:t>
                      </a:r>
                    </a:p>
                  </a:txBody>
                  <a:tcPr marL="82296" marR="64008" marT="32004" marB="32004" anchor="ctr">
                    <a:solidFill>
                      <a:srgbClr val="FFFFFF"/>
                    </a:solidFill>
                  </a:tcPr>
                </a:tc>
                <a:tc>
                  <a:txBody>
                    <a:bodyPr wrap="square"/>
                    <a:lstStyle/>
                    <a:p>
                      <a:pPr algn="l"/>
                      <a:r>
                        <a:rPr sz="1150" b="0">
                          <a:solidFill>
                            <a:srgbClr val="1C1C1E"/>
                          </a:solidFill>
                          <a:latin typeface="Calibri"/>
                        </a:rPr>
                        <a:t>or, and</a:t>
                      </a:r>
                    </a:p>
                  </a:txBody>
                  <a:tcPr marL="82296" marR="64008" marT="32004" marB="32004" anchor="ctr">
                    <a:solidFill>
                      <a:srgbClr val="FFFFFF"/>
                    </a:solidFill>
                  </a:tcPr>
                </a:tc>
              </a:tr>
              <a:tr h="342303">
                <a:tc>
                  <a:txBody>
                    <a:bodyPr wrap="square"/>
                    <a:lstStyle/>
                    <a:p>
                      <a:pPr algn="l"/>
                      <a:r>
                        <a:rPr sz="1150" b="0">
                          <a:solidFill>
                            <a:srgbClr val="1C1C1E"/>
                          </a:solidFill>
                          <a:latin typeface="Calibri"/>
                        </a:rPr>
                        <a:t>How confident is the support?</a:t>
                      </a:r>
                    </a:p>
                  </a:txBody>
                  <a:tcPr marL="82296" marR="64008" marT="32004" marB="32004" anchor="ctr">
                    <a:solidFill>
                      <a:srgbClr val="F6F3EF"/>
                    </a:solidFill>
                  </a:tcPr>
                </a:tc>
                <a:tc>
                  <a:txBody>
                    <a:bodyPr wrap="square"/>
                    <a:lstStyle/>
                    <a:p>
                      <a:pPr algn="l"/>
                      <a:r>
                        <a:rPr sz="1150" b="0">
                          <a:solidFill>
                            <a:srgbClr val="1C1C1E"/>
                          </a:solidFill>
                          <a:latin typeface="Calibri"/>
                        </a:rPr>
                        <a:t>VITERBI (max-product)</a:t>
                      </a:r>
                    </a:p>
                  </a:txBody>
                  <a:tcPr marL="82296" marR="64008" marT="32004" marB="32004" anchor="ctr">
                    <a:solidFill>
                      <a:srgbClr val="F6F3EF"/>
                    </a:solidFill>
                  </a:tcPr>
                </a:tc>
                <a:tc>
                  <a:txBody>
                    <a:bodyPr wrap="square"/>
                    <a:lstStyle/>
                    <a:p>
                      <a:pPr algn="l"/>
                      <a:r>
                        <a:rPr sz="1150" b="0">
                          <a:solidFill>
                            <a:srgbClr val="1C1C1E"/>
                          </a:solidFill>
                          <a:latin typeface="Calibri"/>
                        </a:rPr>
                        <a:t>max, ×</a:t>
                      </a:r>
                    </a:p>
                  </a:txBody>
                  <a:tcPr marL="82296" marR="64008" marT="32004" marB="32004" anchor="ctr">
                    <a:solidFill>
                      <a:srgbClr val="F6F3EF"/>
                    </a:solidFill>
                  </a:tcPr>
                </a:tc>
              </a:tr>
              <a:tr h="342303">
                <a:tc>
                  <a:txBody>
                    <a:bodyPr wrap="square"/>
                    <a:lstStyle/>
                    <a:p>
                      <a:pPr algn="l"/>
                      <a:r>
                        <a:rPr sz="1150" b="0">
                          <a:solidFill>
                            <a:srgbClr val="1C1C1E"/>
                          </a:solidFill>
                          <a:latin typeface="Calibri"/>
                        </a:rPr>
                        <a:t>What is the shortest path to a gap?</a:t>
                      </a:r>
                    </a:p>
                  </a:txBody>
                  <a:tcPr marL="82296" marR="64008" marT="32004" marB="32004" anchor="ctr">
                    <a:solidFill>
                      <a:srgbClr val="FFFFFF"/>
                    </a:solidFill>
                  </a:tcPr>
                </a:tc>
                <a:tc>
                  <a:txBody>
                    <a:bodyPr wrap="square"/>
                    <a:lstStyle/>
                    <a:p>
                      <a:pPr algn="l"/>
                      <a:r>
                        <a:rPr sz="1150" b="0">
                          <a:solidFill>
                            <a:srgbClr val="1C1C1E"/>
                          </a:solidFill>
                          <a:latin typeface="Calibri"/>
                        </a:rPr>
                        <a:t>TROPICAL</a:t>
                      </a:r>
                    </a:p>
                  </a:txBody>
                  <a:tcPr marL="82296" marR="64008" marT="32004" marB="32004" anchor="ctr">
                    <a:solidFill>
                      <a:srgbClr val="FFFFFF"/>
                    </a:solidFill>
                  </a:tcPr>
                </a:tc>
                <a:tc>
                  <a:txBody>
                    <a:bodyPr wrap="square"/>
                    <a:lstStyle/>
                    <a:p>
                      <a:pPr algn="l"/>
                      <a:r>
                        <a:rPr sz="1150" b="0">
                          <a:solidFill>
                            <a:srgbClr val="1C1C1E"/>
                          </a:solidFill>
                          <a:latin typeface="Calibri"/>
                        </a:rPr>
                        <a:t>min, +</a:t>
                      </a:r>
                    </a:p>
                  </a:txBody>
                  <a:tcPr marL="82296" marR="64008" marT="32004" marB="32004" anchor="ctr">
                    <a:solidFill>
                      <a:srgbClr val="FFFFFF"/>
                    </a:solidFill>
                  </a:tcPr>
                </a:tc>
              </a:tr>
              <a:tr h="342303">
                <a:tc>
                  <a:txBody>
                    <a:bodyPr wrap="square"/>
                    <a:lstStyle/>
                    <a:p>
                      <a:pPr algn="l"/>
                      <a:r>
                        <a:rPr sz="1150" b="0">
                          <a:solidFill>
                            <a:srgbClr val="1C1C1E"/>
                          </a:solidFill>
                          <a:latin typeface="Calibri"/>
                        </a:rPr>
                        <a:t>Which evidence chains support it?</a:t>
                      </a:r>
                    </a:p>
                  </a:txBody>
                  <a:tcPr marL="82296" marR="64008" marT="32004" marB="32004" anchor="ctr">
                    <a:solidFill>
                      <a:srgbClr val="F6F3EF"/>
                    </a:solidFill>
                  </a:tcPr>
                </a:tc>
                <a:tc>
                  <a:txBody>
                    <a:bodyPr wrap="square"/>
                    <a:lstStyle/>
                    <a:p>
                      <a:pPr algn="l"/>
                      <a:r>
                        <a:rPr sz="1150" b="0">
                          <a:solidFill>
                            <a:srgbClr val="1C1C1E"/>
                          </a:solidFill>
                          <a:latin typeface="Calibri"/>
                        </a:rPr>
                        <a:t>WHY-PROVENANCE</a:t>
                      </a:r>
                    </a:p>
                  </a:txBody>
                  <a:tcPr marL="82296" marR="64008" marT="32004" marB="32004" anchor="ctr">
                    <a:solidFill>
                      <a:srgbClr val="F6F3EF"/>
                    </a:solidFill>
                  </a:tcPr>
                </a:tc>
                <a:tc>
                  <a:txBody>
                    <a:bodyPr wrap="square"/>
                    <a:lstStyle/>
                    <a:p>
                      <a:pPr algn="l"/>
                      <a:r>
                        <a:rPr sz="1150" b="0">
                          <a:solidFill>
                            <a:srgbClr val="1C1C1E"/>
                          </a:solidFill>
                          <a:latin typeface="Calibri"/>
                        </a:rPr>
                        <a:t>∪, ∪-of-products</a:t>
                      </a:r>
                    </a:p>
                  </a:txBody>
                  <a:tcPr marL="82296" marR="64008" marT="32004" marB="32004" anchor="ctr">
                    <a:solidFill>
                      <a:srgbClr val="F6F3EF"/>
                    </a:solidFill>
                  </a:tcPr>
                </a:tc>
              </a:tr>
            </a:tbl>
          </a:graphicData>
        </a:graphic>
      </p:graphicFrame>
      <p:sp>
        <p:nvSpPr>
          <p:cNvPr id="12" name="TextBox 11"/>
          <p:cNvSpPr txBox="1"/>
          <p:nvPr/>
        </p:nvSpPr>
        <p:spPr>
          <a:xfrm>
            <a:off x="777240" y="4272457"/>
            <a:ext cx="10637215" cy="118872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One traversal, four answers. </a:t>
            </a:r>
            <a:r>
              <a:rPr sz="1250" b="0" i="0">
                <a:solidFill>
                  <a:srgbClr val="1C1C1E"/>
                </a:solidFill>
                <a:latin typeface="Calibri"/>
              </a:rPr>
              <a:t>The structure of the question is identical in each case — only the algebra changes — so a platform that implements the traversal once gets citation soundness, confidence, gap analysis and provenance from the same code. Four separate implementations would be four opportunities to disagree, and they would disagree in the direction of asserting support that is not there.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DATA</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governance path per model class, and totality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TextBox 9"/>
          <p:cNvSpPr txBox="1"/>
          <p:nvPr/>
        </p:nvSpPr>
        <p:spPr>
          <a:xfrm>
            <a:off x="777240" y="1353312"/>
            <a:ext cx="10637215" cy="868680"/>
          </a:xfrm>
          <a:prstGeom prst="rect">
            <a:avLst/>
          </a:prstGeom>
          <a:noFill/>
        </p:spPr>
        <p:txBody>
          <a:bodyPr wrap="square" lIns="0" rIns="0" tIns="0" bIns="0" anchor="t">
            <a:spAutoFit/>
          </a:bodyPr>
          <a:lstStyle/>
          <a:p>
            <a:pPr algn="l">
              <a:lnSpc>
                <a:spcPct val="128000"/>
              </a:lnSpc>
              <a:spcBef>
                <a:spcPts val="0"/>
              </a:spcBef>
              <a:spcAft>
                <a:spcPts val="0"/>
              </a:spcAft>
            </a:pPr>
            <a:r>
              <a:rPr sz="1300" b="1" i="0">
                <a:solidFill>
                  <a:srgbClr val="A51C30"/>
                </a:solidFill>
                <a:latin typeface="Calibri"/>
              </a:rPr>
              <a:t>A fibration over the trainability class. </a:t>
            </a:r>
            <a:r>
              <a:rPr sz="1300" b="0" i="0">
                <a:solidFill>
                  <a:srgbClr val="1C1C1E"/>
                </a:solidFill>
                <a:latin typeface="Calibri"/>
              </a:rPr>
              <a:t>Each class of model gets its own governance path — what evidence is required, which validations apply, what an approval means — and the fibration is checked TOTAL at start-up: every class the platform can derive has a path defined for it.</a:t>
            </a:r>
          </a:p>
        </p:txBody>
      </p:sp>
      <p:sp>
        <p:nvSpPr>
          <p:cNvPr id="11" name="Rectangle 10"/>
          <p:cNvSpPr/>
          <p:nvPr/>
        </p:nvSpPr>
        <p:spPr>
          <a:xfrm>
            <a:off x="777240" y="2404872"/>
            <a:ext cx="3423818"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048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551176"/>
            <a:ext cx="3131210"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L-15</a:t>
            </a:r>
          </a:p>
          <a:p>
            <a:pPr>
              <a:spcBef>
                <a:spcPts val="0"/>
              </a:spcBef>
              <a:spcAft>
                <a:spcPts val="400"/>
              </a:spcAft>
            </a:pPr>
            <a:r>
              <a:rPr sz="1100" b="1" i="0">
                <a:solidFill>
                  <a:srgbClr val="1C1C1E"/>
                </a:solidFill>
                <a:latin typeface="Calibri"/>
              </a:rPr>
              <a:t>Totality, at start-up</a:t>
            </a:r>
          </a:p>
          <a:p>
            <a:pPr>
              <a:lnSpc>
                <a:spcPct val="115000"/>
              </a:lnSpc>
              <a:spcBef>
                <a:spcPts val="0"/>
              </a:spcBef>
              <a:spcAft>
                <a:spcPts val="600"/>
              </a:spcAft>
            </a:pPr>
            <a:r>
              <a:rPr sz="850" b="0" i="0">
                <a:solidFill>
                  <a:srgbClr val="4A4F57"/>
                </a:solidFill>
                <a:latin typeface="Calibri"/>
              </a:rPr>
              <a:t>A model class arriving at run time with no governance path is a gap discovered by the model that has it, which is the worst possible time</a:t>
            </a:r>
          </a:p>
        </p:txBody>
      </p:sp>
      <p:sp>
        <p:nvSpPr>
          <p:cNvPr id="14" name="Rectangle 13"/>
          <p:cNvSpPr/>
          <p:nvPr/>
        </p:nvSpPr>
        <p:spPr>
          <a:xfrm>
            <a:off x="4383938" y="2404872"/>
            <a:ext cx="3423818"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83938" y="24048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30242" y="2551176"/>
            <a:ext cx="3131210"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Derived</a:t>
            </a:r>
          </a:p>
          <a:p>
            <a:pPr>
              <a:spcBef>
                <a:spcPts val="0"/>
              </a:spcBef>
              <a:spcAft>
                <a:spcPts val="400"/>
              </a:spcAft>
            </a:pPr>
            <a:r>
              <a:rPr sz="1100" b="1" i="0">
                <a:solidFill>
                  <a:srgbClr val="1C1C1E"/>
                </a:solidFill>
                <a:latin typeface="Calibri"/>
              </a:rPr>
              <a:t>Not declared</a:t>
            </a:r>
          </a:p>
          <a:p>
            <a:pPr>
              <a:lnSpc>
                <a:spcPct val="115000"/>
              </a:lnSpc>
              <a:spcBef>
                <a:spcPts val="0"/>
              </a:spcBef>
              <a:spcAft>
                <a:spcPts val="600"/>
              </a:spcAft>
            </a:pPr>
            <a:r>
              <a:rPr sz="850" b="0" i="0">
                <a:solidFill>
                  <a:srgbClr val="4A4F57"/>
                </a:solidFill>
                <a:latin typeface="Calibri"/>
              </a:rPr>
              <a:t>The class comes from the kernel, so a fibre cannot be selected by somebody choosing the convenient one</a:t>
            </a:r>
          </a:p>
        </p:txBody>
      </p:sp>
      <p:sp>
        <p:nvSpPr>
          <p:cNvPr id="17" name="Rectangle 16"/>
          <p:cNvSpPr/>
          <p:nvPr/>
        </p:nvSpPr>
        <p:spPr>
          <a:xfrm>
            <a:off x="7990636" y="2404872"/>
            <a:ext cx="3423818"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990636" y="24048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8136940" y="2551176"/>
            <a:ext cx="3131210"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Nine</a:t>
            </a:r>
          </a:p>
          <a:p>
            <a:pPr>
              <a:spcBef>
                <a:spcPts val="0"/>
              </a:spcBef>
              <a:spcAft>
                <a:spcPts val="400"/>
              </a:spcAft>
            </a:pPr>
            <a:r>
              <a:rPr sz="1100" b="1" i="0">
                <a:solidFill>
                  <a:srgbClr val="1C1C1E"/>
                </a:solidFill>
                <a:latin typeface="Calibri"/>
              </a:rPr>
              <a:t>Fibres today</a:t>
            </a:r>
          </a:p>
          <a:p>
            <a:pPr>
              <a:lnSpc>
                <a:spcPct val="115000"/>
              </a:lnSpc>
              <a:spcBef>
                <a:spcPts val="0"/>
              </a:spcBef>
              <a:spcAft>
                <a:spcPts val="600"/>
              </a:spcAft>
            </a:pPr>
            <a:r>
              <a:rPr sz="850" b="0" i="0">
                <a:solidFill>
                  <a:srgbClr val="4A4F57"/>
                </a:solidFill>
                <a:latin typeface="Calibri"/>
              </a:rPr>
              <a:t>And the totality gate fails the build if a tenth class becomes derivable without a path</a:t>
            </a:r>
          </a:p>
        </p:txBody>
      </p:sp>
      <p:sp>
        <p:nvSpPr>
          <p:cNvPr id="20" name="TextBox 19"/>
          <p:cNvSpPr txBox="1"/>
          <p:nvPr/>
        </p:nvSpPr>
        <p:spPr>
          <a:xfrm>
            <a:off x="777240" y="4096511"/>
            <a:ext cx="10637215" cy="82296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This is the answer to “what happens when a new kind of model arrives”. </a:t>
            </a:r>
            <a:r>
              <a:rPr sz="1250" b="0" i="0">
                <a:solidFill>
                  <a:srgbClr val="1C1C1E"/>
                </a:solidFill>
                <a:latin typeface="Calibri"/>
              </a:rPr>
              <a:t>Not a policy review. A totality failure at start-up, naming the class that has no path.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DATA</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AI sits in the same formalism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An AI capability is a model: </a:t>
            </a:r>
            <a:r>
              <a:rPr sz="1300" b="1" i="0">
                <a:solidFill>
                  <a:srgbClr val="A51C30"/>
                </a:solidFill>
                <a:latin typeface="Calibri"/>
              </a:rPr>
              <a:t>P is a prompt and a configuration, X is the context it is given, and D(Y) is a distribution over text. </a:t>
            </a:r>
            <a:r>
              <a:rPr sz="1300" b="0" i="0">
                <a:solidFill>
                  <a:srgbClr val="1C1C1E"/>
                </a:solidFill>
                <a:latin typeface="Calibri"/>
              </a:rPr>
              <a:t>Nothing about the definition needed changing — which is the argument for having had one.</a:t>
            </a:r>
          </a:p>
        </p:txBody>
      </p:sp>
      <p:graphicFrame>
        <p:nvGraphicFramePr>
          <p:cNvPr id="11" name="Table 10"/>
          <p:cNvGraphicFramePr>
            <a:graphicFrameLocks noGrp="1"/>
          </p:cNvGraphicFramePr>
          <p:nvPr/>
        </p:nvGraphicFramePr>
        <p:xfrm>
          <a:off x="777240" y="2313432"/>
          <a:ext cx="10637214" cy="1752688"/>
        </p:xfrm>
        <a:graphic>
          <a:graphicData uri="http://schemas.openxmlformats.org/drawingml/2006/table">
            <a:tbl>
              <a:tblPr firstRow="1">
                <a:tableStyleId>{5C22544A-7EE6-4342-B048-85BDC9FD1C3A}</a:tableStyleId>
              </a:tblPr>
              <a:tblGrid>
                <a:gridCol w="631021"/>
                <a:gridCol w="4687586"/>
                <a:gridCol w="5318607"/>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The criterion</a:t>
                      </a:r>
                    </a:p>
                  </a:txBody>
                  <a:tcPr marL="82296" marR="64008" marT="32004" marB="32004" anchor="ctr">
                    <a:solidFill>
                      <a:srgbClr val="A51C30"/>
                    </a:solidFill>
                  </a:tcPr>
                </a:tc>
                <a:tc>
                  <a:txBody>
                    <a:bodyPr wrap="square"/>
                    <a:lstStyle/>
                    <a:p>
                      <a:pPr algn="l"/>
                      <a:r>
                        <a:rPr sz="1100" b="1">
                          <a:solidFill>
                            <a:srgbClr val="FFFFFF"/>
                          </a:solidFill>
                          <a:latin typeface="Calibri"/>
                        </a:rPr>
                        <a:t>The consequence</a:t>
                      </a:r>
                    </a:p>
                  </a:txBody>
                  <a:tcPr marL="82296" marR="64008" marT="32004" marB="32004" anchor="ctr">
                    <a:solidFill>
                      <a:srgbClr val="A51C30"/>
                    </a:solidFill>
                  </a:tcPr>
                </a:tc>
              </a:tr>
              <a:tr h="342303">
                <a:tc>
                  <a:txBody>
                    <a:bodyPr wrap="square"/>
                    <a:lstStyle/>
                    <a:p>
                      <a:pPr algn="l"/>
                      <a:r>
                        <a:rPr sz="1150" b="0">
                          <a:solidFill>
                            <a:srgbClr val="1C1C1E"/>
                          </a:solidFill>
                          <a:latin typeface="Calibri"/>
                        </a:rPr>
                        <a:t>A</a:t>
                      </a:r>
                    </a:p>
                  </a:txBody>
                  <a:tcPr marL="82296" marR="64008" marT="32004" marB="32004" anchor="ctr">
                    <a:solidFill>
                      <a:srgbClr val="FFFFFF"/>
                    </a:solidFill>
                  </a:tcPr>
                </a:tc>
                <a:tc>
                  <a:txBody>
                    <a:bodyPr wrap="square"/>
                    <a:lstStyle/>
                    <a:p>
                      <a:pPr algn="l"/>
                      <a:r>
                        <a:rPr sz="1150" b="0">
                          <a:solidFill>
                            <a:srgbClr val="1C1C1E"/>
                          </a:solidFill>
                          <a:latin typeface="Calibri"/>
                        </a:rPr>
                        <a:t>The output can be mechanically CHECKED by a named oracle</a:t>
                      </a:r>
                    </a:p>
                  </a:txBody>
                  <a:tcPr marL="82296" marR="64008" marT="32004" marB="32004" anchor="ctr">
                    <a:solidFill>
                      <a:srgbClr val="FFFFFF"/>
                    </a:solidFill>
                  </a:tcPr>
                </a:tc>
                <a:tc>
                  <a:txBody>
                    <a:bodyPr wrap="square"/>
                    <a:lstStyle/>
                    <a:p>
                      <a:pPr algn="l"/>
                      <a:r>
                        <a:rPr sz="1150" b="0">
                          <a:solidFill>
                            <a:srgbClr val="1C1C1E"/>
                          </a:solidFill>
                          <a:latin typeface="Calibri"/>
                        </a:rPr>
                        <a:t>Register it. The oracle is the control, and it runs every time</a:t>
                      </a:r>
                    </a:p>
                  </a:txBody>
                  <a:tcPr marL="82296" marR="64008" marT="32004" marB="32004" anchor="ctr">
                    <a:solidFill>
                      <a:srgbClr val="FFFFFF"/>
                    </a:solidFill>
                  </a:tcPr>
                </a:tc>
              </a:tr>
              <a:tr h="538302">
                <a:tc>
                  <a:txBody>
                    <a:bodyPr wrap="square"/>
                    <a:lstStyle/>
                    <a:p>
                      <a:pPr algn="l"/>
                      <a:r>
                        <a:rPr sz="1150" b="0">
                          <a:solidFill>
                            <a:srgbClr val="1C1C1E"/>
                          </a:solidFill>
                          <a:latin typeface="Calibri"/>
                        </a:rPr>
                        <a:t>B</a:t>
                      </a:r>
                    </a:p>
                  </a:txBody>
                  <a:tcPr marL="82296" marR="64008" marT="32004" marB="32004" anchor="ctr">
                    <a:solidFill>
                      <a:srgbClr val="F6F3EF"/>
                    </a:solidFill>
                  </a:tcPr>
                </a:tc>
                <a:tc>
                  <a:txBody>
                    <a:bodyPr wrap="square"/>
                    <a:lstStyle/>
                    <a:p>
                      <a:pPr algn="l"/>
                      <a:r>
                        <a:rPr sz="1150" b="0">
                          <a:solidFill>
                            <a:srgbClr val="1C1C1E"/>
                          </a:solidFill>
                          <a:latin typeface="Calibri"/>
                        </a:rPr>
                        <a:t>Every claim can be GROUNDED in evidence the platform holds</a:t>
                      </a:r>
                    </a:p>
                  </a:txBody>
                  <a:tcPr marL="82296" marR="64008" marT="32004" marB="32004" anchor="ctr">
                    <a:solidFill>
                      <a:srgbClr val="F6F3EF"/>
                    </a:solidFill>
                  </a:tcPr>
                </a:tc>
                <a:tc>
                  <a:txBody>
                    <a:bodyPr wrap="square"/>
                    <a:lstStyle/>
                    <a:p>
                      <a:pPr algn="l"/>
                      <a:r>
                        <a:rPr sz="1150" b="0">
                          <a:solidFill>
                            <a:srgbClr val="1C1C1E"/>
                          </a:solidFill>
                          <a:latin typeface="Calibri"/>
                        </a:rPr>
                        <a:t>Unsupported claims are REMOVED rather than flagged, and kept for the reviewer</a:t>
                      </a:r>
                    </a:p>
                  </a:txBody>
                  <a:tcPr marL="82296" marR="64008" marT="32004" marB="32004" anchor="ctr">
                    <a:solidFill>
                      <a:srgbClr val="F6F3EF"/>
                    </a:solidFill>
                  </a:tcPr>
                </a:tc>
              </a:tr>
              <a:tr h="538302">
                <a:tc>
                  <a:txBody>
                    <a:bodyPr wrap="square"/>
                    <a:lstStyle/>
                    <a:p>
                      <a:pPr algn="l"/>
                      <a:r>
                        <a:rPr sz="1150" b="0">
                          <a:solidFill>
                            <a:srgbClr val="1C1C1E"/>
                          </a:solidFill>
                          <a:latin typeface="Calibri"/>
                        </a:rPr>
                        <a:t>C</a:t>
                      </a:r>
                    </a:p>
                  </a:txBody>
                  <a:tcPr marL="82296" marR="64008" marT="32004" marB="32004" anchor="ctr">
                    <a:solidFill>
                      <a:srgbClr val="FFFFFF"/>
                    </a:solidFill>
                  </a:tcPr>
                </a:tc>
                <a:tc>
                  <a:txBody>
                    <a:bodyPr wrap="square"/>
                    <a:lstStyle/>
                    <a:p>
                      <a:pPr algn="l"/>
                      <a:r>
                        <a:rPr sz="1150" b="0">
                          <a:solidFill>
                            <a:srgbClr val="1C1C1E"/>
                          </a:solidFill>
                          <a:latin typeface="Calibri"/>
                        </a:rPr>
                        <a:t>Neither checkable nor groundable</a:t>
                      </a:r>
                    </a:p>
                  </a:txBody>
                  <a:tcPr marL="82296" marR="64008" marT="32004" marB="32004" anchor="ctr">
                    <a:solidFill>
                      <a:srgbClr val="FFFFFF"/>
                    </a:solidFill>
                  </a:tcPr>
                </a:tc>
                <a:tc>
                  <a:txBody>
                    <a:bodyPr wrap="square"/>
                    <a:lstStyle/>
                    <a:p>
                      <a:pPr algn="l"/>
                      <a:r>
                        <a:rPr sz="1150" b="0">
                          <a:solidFill>
                            <a:srgbClr val="1C1C1E"/>
                          </a:solidFill>
                          <a:latin typeface="Calibri"/>
                        </a:rPr>
                        <a:t>Deliberately NOT REGISTRABLE. A Tier C capability in a registry is one that will be wired into a decision one day</a:t>
                      </a:r>
                    </a:p>
                  </a:txBody>
                  <a:tcPr marL="82296" marR="64008" marT="32004" marB="32004" anchor="ctr">
                    <a:solidFill>
                      <a:srgbClr val="FFFFFF"/>
                    </a:solidFill>
                  </a:tcPr>
                </a:tc>
              </a:tr>
            </a:tbl>
          </a:graphicData>
        </a:graphic>
      </p:graphicFrame>
      <p:sp>
        <p:nvSpPr>
          <p:cNvPr id="12" name="TextBox 11"/>
          <p:cNvSpPr txBox="1"/>
          <p:nvPr/>
        </p:nvSpPr>
        <p:spPr>
          <a:xfrm>
            <a:off x="777240" y="4322152"/>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And the criterion for automation is the same one: </a:t>
            </a:r>
            <a:r>
              <a:rPr sz="1250" b="0" i="0">
                <a:solidFill>
                  <a:srgbClr val="1C1C1E"/>
                </a:solidFill>
                <a:latin typeface="Calibri"/>
              </a:rPr>
              <a:t>a machine may do the work exactly where an oracle can check the result or evidence can ground it. That is not an AI policy — it is the definition applied to a new inhabitant of 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DATA</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Composition, and the risk that does not compose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l">
              <a:lnSpc>
                <a:spcPct val="128000"/>
              </a:lnSpc>
              <a:spcBef>
                <a:spcPts val="0"/>
              </a:spcBef>
              <a:spcAft>
                <a:spcPts val="0"/>
              </a:spcAft>
            </a:pPr>
            <a:r>
              <a:rPr sz="1300" b="1" i="0">
                <a:solidFill>
                  <a:srgbClr val="A51C30"/>
                </a:solidFill>
                <a:latin typeface="Calibri"/>
              </a:rPr>
              <a:t>Models compose — that is what the algebra gives. </a:t>
            </a:r>
            <a:r>
              <a:rPr sz="1300" b="0" i="0">
                <a:solidFill>
                  <a:srgbClr val="1C1C1E"/>
                </a:solidFill>
                <a:latin typeface="Calibri"/>
              </a:rPr>
              <a:t>An `input_to` edge asserts that one model's output arrives where another's input is read, and MAYA TYPE-CHECKS it: an edge supplying no field the target reads is refused, because the blast radius would follow it.</a:t>
            </a:r>
          </a:p>
        </p:txBody>
      </p:sp>
      <p:graphicFrame>
        <p:nvGraphicFramePr>
          <p:cNvPr id="11" name="Table 10"/>
          <p:cNvGraphicFramePr>
            <a:graphicFrameLocks noGrp="1"/>
          </p:cNvGraphicFramePr>
          <p:nvPr/>
        </p:nvGraphicFramePr>
        <p:xfrm>
          <a:off x="777240" y="2313432"/>
          <a:ext cx="10637214" cy="1898992"/>
        </p:xfrm>
        <a:graphic>
          <a:graphicData uri="http://schemas.openxmlformats.org/drawingml/2006/table">
            <a:tbl>
              <a:tblPr firstRow="1">
                <a:tableStyleId>{5C22544A-7EE6-4342-B048-85BDC9FD1C3A}</a:tableStyleId>
              </a:tblPr>
              <a:tblGrid>
                <a:gridCol w="2163501"/>
                <a:gridCol w="1532480"/>
                <a:gridCol w="6941233"/>
              </a:tblGrid>
              <a:tr h="333781">
                <a:tc>
                  <a:txBody>
                    <a:bodyPr wrap="square"/>
                    <a:lstStyle/>
                    <a:p>
                      <a:pPr algn="l"/>
                      <a:r>
                        <a:rPr sz="1100" b="1">
                          <a:solidFill>
                            <a:srgbClr val="FFFFFF"/>
                          </a:solidFill>
                          <a:latin typeface="Calibri"/>
                        </a:rPr>
                        <a:t>Relation</a:t>
                      </a:r>
                    </a:p>
                  </a:txBody>
                  <a:tcPr marL="82296" marR="64008" marT="32004" marB="32004" anchor="ctr">
                    <a:solidFill>
                      <a:srgbClr val="A51C30"/>
                    </a:solidFill>
                  </a:tcPr>
                </a:tc>
                <a:tc>
                  <a:txBody>
                    <a:bodyPr wrap="square"/>
                    <a:lstStyle/>
                    <a:p>
                      <a:pPr algn="l"/>
                      <a:r>
                        <a:rPr sz="1100" b="1">
                          <a:solidFill>
                            <a:srgbClr val="FFFFFF"/>
                          </a:solidFill>
                          <a:latin typeface="Calibri"/>
                        </a:rPr>
                        <a:t>Propagates?</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342303">
                <a:tc>
                  <a:txBody>
                    <a:bodyPr wrap="square"/>
                    <a:lstStyle/>
                    <a:p>
                      <a:pPr algn="l"/>
                      <a:r>
                        <a:rPr sz="1150" b="0">
                          <a:solidFill>
                            <a:srgbClr val="1C1C1E"/>
                          </a:solidFill>
                          <a:latin typeface="Calibri"/>
                        </a:rPr>
                        <a:t>input_to</a:t>
                      </a:r>
                    </a:p>
                  </a:txBody>
                  <a:tcPr marL="82296" marR="64008" marT="32004" marB="32004" anchor="ctr">
                    <a:solidFill>
                      <a:srgbClr val="FFFFFF"/>
                    </a:solidFill>
                  </a:tcPr>
                </a:tc>
                <a:tc>
                  <a:txBody>
                    <a:bodyPr wrap="square"/>
                    <a:lstStyle/>
                    <a:p>
                      <a:pPr algn="l"/>
                      <a:r>
                        <a:rPr sz="1150" b="0">
                          <a:solidFill>
                            <a:srgbClr val="1C1C1E"/>
                          </a:solidFill>
                          <a:latin typeface="Calibri"/>
                        </a:rPr>
                        <a:t>YES</a:t>
                      </a:r>
                    </a:p>
                  </a:txBody>
                  <a:tcPr marL="82296" marR="64008" marT="32004" marB="32004" anchor="ctr">
                    <a:solidFill>
                      <a:srgbClr val="FFFFFF"/>
                    </a:solidFill>
                  </a:tcPr>
                </a:tc>
                <a:tc>
                  <a:txBody>
                    <a:bodyPr wrap="square"/>
                    <a:lstStyle/>
                    <a:p>
                      <a:pPr algn="l"/>
                      <a:r>
                        <a:rPr sz="1150" b="0">
                          <a:solidFill>
                            <a:srgbClr val="1C1C1E"/>
                          </a:solidFill>
                          <a:latin typeface="Calibri"/>
                        </a:rPr>
                        <a:t>its output is read as an input — change the source and the target's answer changes</a:t>
                      </a:r>
                    </a:p>
                  </a:txBody>
                  <a:tcPr marL="82296" marR="64008" marT="32004" marB="32004" anchor="ctr">
                    <a:solidFill>
                      <a:srgbClr val="FFFFFF"/>
                    </a:solidFill>
                  </a:tcPr>
                </a:tc>
              </a:tr>
              <a:tr h="342303">
                <a:tc>
                  <a:txBody>
                    <a:bodyPr wrap="square"/>
                    <a:lstStyle/>
                    <a:p>
                      <a:pPr algn="l"/>
                      <a:r>
                        <a:rPr sz="1150" b="0">
                          <a:solidFill>
                            <a:srgbClr val="1C1C1E"/>
                          </a:solidFill>
                          <a:latin typeface="Calibri"/>
                        </a:rPr>
                        <a:t>calibrated_by</a:t>
                      </a:r>
                    </a:p>
                  </a:txBody>
                  <a:tcPr marL="82296" marR="64008" marT="32004" marB="32004" anchor="ctr">
                    <a:solidFill>
                      <a:srgbClr val="F6F3EF"/>
                    </a:solidFill>
                  </a:tcPr>
                </a:tc>
                <a:tc>
                  <a:txBody>
                    <a:bodyPr wrap="square"/>
                    <a:lstStyle/>
                    <a:p>
                      <a:pPr algn="l"/>
                      <a:r>
                        <a:rPr sz="1150" b="0">
                          <a:solidFill>
                            <a:srgbClr val="1C1C1E"/>
                          </a:solidFill>
                          <a:latin typeface="Calibri"/>
                        </a:rPr>
                        <a:t>YES</a:t>
                      </a:r>
                    </a:p>
                  </a:txBody>
                  <a:tcPr marL="82296" marR="64008" marT="32004" marB="32004" anchor="ctr">
                    <a:solidFill>
                      <a:srgbClr val="F6F3EF"/>
                    </a:solidFill>
                  </a:tcPr>
                </a:tc>
                <a:tc>
                  <a:txBody>
                    <a:bodyPr wrap="square"/>
                    <a:lstStyle/>
                    <a:p>
                      <a:pPr algn="l"/>
                      <a:r>
                        <a:rPr sz="1150" b="0">
                          <a:solidFill>
                            <a:srgbClr val="1C1C1E"/>
                          </a:solidFill>
                          <a:latin typeface="Calibri"/>
                        </a:rPr>
                        <a:t>its parameters are solved by that model or procedure</a:t>
                      </a:r>
                    </a:p>
                  </a:txBody>
                  <a:tcPr marL="82296" marR="64008" marT="32004" marB="32004" anchor="ctr">
                    <a:solidFill>
                      <a:srgbClr val="F6F3EF"/>
                    </a:solidFill>
                  </a:tcPr>
                </a:tc>
              </a:tr>
              <a:tr h="342303">
                <a:tc>
                  <a:txBody>
                    <a:bodyPr wrap="square"/>
                    <a:lstStyle/>
                    <a:p>
                      <a:pPr algn="l"/>
                      <a:r>
                        <a:rPr sz="1150" b="0">
                          <a:solidFill>
                            <a:srgbClr val="1C1C1E"/>
                          </a:solidFill>
                          <a:latin typeface="Calibri"/>
                        </a:rPr>
                        <a:t>derives_from</a:t>
                      </a:r>
                    </a:p>
                  </a:txBody>
                  <a:tcPr marL="82296" marR="64008" marT="32004" marB="32004" anchor="ctr">
                    <a:solidFill>
                      <a:srgbClr val="FFFFFF"/>
                    </a:solidFill>
                  </a:tcPr>
                </a:tc>
                <a:tc>
                  <a:txBody>
                    <a:bodyPr wrap="square"/>
                    <a:lstStyle/>
                    <a:p>
                      <a:pPr algn="l"/>
                      <a:r>
                        <a:rPr sz="1150" b="0">
                          <a:solidFill>
                            <a:srgbClr val="1C1C1E"/>
                          </a:solidFill>
                          <a:latin typeface="Calibri"/>
                        </a:rPr>
                        <a:t>no</a:t>
                      </a:r>
                    </a:p>
                  </a:txBody>
                  <a:tcPr marL="82296" marR="64008" marT="32004" marB="32004" anchor="ctr">
                    <a:solidFill>
                      <a:srgbClr val="FFFFFF"/>
                    </a:solidFill>
                  </a:tcPr>
                </a:tc>
                <a:tc>
                  <a:txBody>
                    <a:bodyPr wrap="square"/>
                    <a:lstStyle/>
                    <a:p>
                      <a:pPr algn="l"/>
                      <a:r>
                        <a:rPr sz="1150" b="0">
                          <a:solidFill>
                            <a:srgbClr val="1C1C1E"/>
                          </a:solidFill>
                          <a:latin typeface="Calibri"/>
                        </a:rPr>
                        <a:t>built from it — lineage, not dependency</a:t>
                      </a:r>
                    </a:p>
                  </a:txBody>
                  <a:tcPr marL="82296" marR="64008" marT="32004" marB="32004" anchor="ctr">
                    <a:solidFill>
                      <a:srgbClr val="FFFFFF"/>
                    </a:solidFill>
                  </a:tcPr>
                </a:tc>
              </a:tr>
              <a:tr h="538302">
                <a:tc>
                  <a:txBody>
                    <a:bodyPr wrap="square"/>
                    <a:lstStyle/>
                    <a:p>
                      <a:pPr algn="l"/>
                      <a:r>
                        <a:rPr sz="1150" b="0">
                          <a:solidFill>
                            <a:srgbClr val="1C1C1E"/>
                          </a:solidFill>
                          <a:latin typeface="Calibri"/>
                        </a:rPr>
                        <a:t>challenger_of</a:t>
                      </a:r>
                    </a:p>
                  </a:txBody>
                  <a:tcPr marL="82296" marR="64008" marT="32004" marB="32004" anchor="ctr">
                    <a:solidFill>
                      <a:srgbClr val="F6F3EF"/>
                    </a:solidFill>
                  </a:tcPr>
                </a:tc>
                <a:tc>
                  <a:txBody>
                    <a:bodyPr wrap="square"/>
                    <a:lstStyle/>
                    <a:p>
                      <a:pPr algn="l"/>
                      <a:r>
                        <a:rPr sz="1150" b="0">
                          <a:solidFill>
                            <a:srgbClr val="1C1C1E"/>
                          </a:solidFill>
                          <a:latin typeface="Calibri"/>
                        </a:rPr>
                        <a:t>no</a:t>
                      </a:r>
                    </a:p>
                  </a:txBody>
                  <a:tcPr marL="82296" marR="64008" marT="32004" marB="32004" anchor="ctr">
                    <a:solidFill>
                      <a:srgbClr val="F6F3EF"/>
                    </a:solidFill>
                  </a:tcPr>
                </a:tc>
                <a:tc>
                  <a:txBody>
                    <a:bodyPr wrap="square"/>
                    <a:lstStyle/>
                    <a:p>
                      <a:pPr algn="l"/>
                      <a:r>
                        <a:rPr sz="1150" b="0">
                          <a:solidFill>
                            <a:srgbClr val="1C1C1E"/>
                          </a:solidFill>
                          <a:latin typeface="Calibri"/>
                        </a:rPr>
                        <a:t>built to argue with it. A challenger counted as a dependency would inflate every blast radius it appeared in</a:t>
                      </a:r>
                    </a:p>
                  </a:txBody>
                  <a:tcPr marL="82296" marR="64008" marT="32004" marB="32004" anchor="ctr">
                    <a:solidFill>
                      <a:srgbClr val="F6F3EF"/>
                    </a:solidFill>
                  </a:tcPr>
                </a:tc>
              </a:tr>
            </a:tbl>
          </a:graphicData>
        </a:graphic>
      </p:graphicFrame>
      <p:sp>
        <p:nvSpPr>
          <p:cNvPr id="12" name="TextBox 11"/>
          <p:cNvSpPr txBox="1"/>
          <p:nvPr/>
        </p:nvSpPr>
        <p:spPr>
          <a:xfrm>
            <a:off x="777240" y="4450168"/>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What does NOT compose is the risk. </a:t>
            </a:r>
            <a:r>
              <a:rPr sz="1250" b="0" i="0">
                <a:solidFill>
                  <a:srgbClr val="1C1C1E"/>
                </a:solidFill>
                <a:latin typeface="Calibri"/>
              </a:rPr>
              <a:t>Two individually validated models composed can be worse than either — an interaction premium that neither validation could have found. The composition is typed and checkable; the aggregate risk has a definition and no computation, and the documentation says so rather than implying otherwise.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DATA</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to tell if this is wrong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10637215" cy="777240"/>
          </a:xfrm>
          <a:prstGeom prst="rect">
            <a:avLst/>
          </a:prstGeom>
          <a:noFill/>
        </p:spPr>
        <p:txBody>
          <a:bodyPr wrap="square" lIns="0" rIns="0" tIns="0" bIns="0" anchor="t">
            <a:spAutoFit/>
          </a:bodyPr>
          <a:lstStyle/>
          <a:p>
            <a:pPr algn="l">
              <a:lnSpc>
                <a:spcPct val="128000"/>
              </a:lnSpc>
              <a:spcBef>
                <a:spcPts val="0"/>
              </a:spcBef>
              <a:spcAft>
                <a:spcPts val="0"/>
              </a:spcAft>
            </a:pPr>
            <a:r>
              <a:rPr sz="1300" b="1" i="0">
                <a:solidFill>
                  <a:srgbClr val="A51C30"/>
                </a:solidFill>
                <a:latin typeface="Calibri"/>
              </a:rPr>
              <a:t>A formalism that cannot be falsified is a vocabulary. </a:t>
            </a:r>
            <a:r>
              <a:rPr sz="1300" b="0" i="0">
                <a:solidFill>
                  <a:srgbClr val="1C1C1E"/>
                </a:solidFill>
                <a:latin typeface="Calibri"/>
              </a:rPr>
              <a:t>These are the claims, and what would refute each:</a:t>
            </a:r>
          </a:p>
        </p:txBody>
      </p:sp>
      <p:graphicFrame>
        <p:nvGraphicFramePr>
          <p:cNvPr id="11" name="Table 10"/>
          <p:cNvGraphicFramePr>
            <a:graphicFrameLocks noGrp="1"/>
          </p:cNvGraphicFramePr>
          <p:nvPr/>
        </p:nvGraphicFramePr>
        <p:xfrm>
          <a:off x="777240" y="2221991"/>
          <a:ext cx="10637215" cy="2486989"/>
        </p:xfrm>
        <a:graphic>
          <a:graphicData uri="http://schemas.openxmlformats.org/drawingml/2006/table">
            <a:tbl>
              <a:tblPr firstRow="1">
                <a:tableStyleId>{5C22544A-7EE6-4342-B048-85BDC9FD1C3A}</a:tableStyleId>
              </a:tblPr>
              <a:tblGrid>
                <a:gridCol w="4146711"/>
                <a:gridCol w="6490504"/>
              </a:tblGrid>
              <a:tr h="333781">
                <a:tc>
                  <a:txBody>
                    <a:bodyPr wrap="square"/>
                    <a:lstStyle/>
                    <a:p>
                      <a:pPr algn="l"/>
                      <a:r>
                        <a:rPr sz="1100" b="1">
                          <a:solidFill>
                            <a:srgbClr val="FFFFFF"/>
                          </a:solidFill>
                          <a:latin typeface="Calibri"/>
                        </a:rPr>
                        <a:t>The claim</a:t>
                      </a:r>
                    </a:p>
                  </a:txBody>
                  <a:tcPr marL="82296" marR="64008" marT="32004" marB="32004" anchor="ctr">
                    <a:solidFill>
                      <a:srgbClr val="A51C30"/>
                    </a:solidFill>
                  </a:tcPr>
                </a:tc>
                <a:tc>
                  <a:txBody>
                    <a:bodyPr wrap="square"/>
                    <a:lstStyle/>
                    <a:p>
                      <a:pPr algn="l"/>
                      <a:r>
                        <a:rPr sz="1100" b="1">
                          <a:solidFill>
                            <a:srgbClr val="FFFFFF"/>
                          </a:solidFill>
                          <a:latin typeface="Calibri"/>
                        </a:rPr>
                        <a:t>What would refute it</a:t>
                      </a:r>
                    </a:p>
                  </a:txBody>
                  <a:tcPr marL="82296" marR="64008" marT="32004" marB="32004" anchor="ctr">
                    <a:solidFill>
                      <a:srgbClr val="A51C30"/>
                    </a:solidFill>
                  </a:tcPr>
                </a:tc>
              </a:tr>
              <a:tr h="538302">
                <a:tc>
                  <a:txBody>
                    <a:bodyPr wrap="square"/>
                    <a:lstStyle/>
                    <a:p>
                      <a:pPr algn="l"/>
                      <a:r>
                        <a:rPr sz="1150" b="0">
                          <a:solidFill>
                            <a:srgbClr val="1C1C1E"/>
                          </a:solidFill>
                          <a:latin typeface="Calibri"/>
                        </a:rPr>
                        <a:t>The definition covers every model a bank governs</a:t>
                      </a:r>
                    </a:p>
                  </a:txBody>
                  <a:tcPr marL="82296" marR="64008" marT="32004" marB="32004" anchor="ctr">
                    <a:solidFill>
                      <a:srgbClr val="FFFFFF"/>
                    </a:solidFill>
                  </a:tcPr>
                </a:tc>
                <a:tc>
                  <a:txBody>
                    <a:bodyPr wrap="square"/>
                    <a:lstStyle/>
                    <a:p>
                      <a:pPr algn="l"/>
                      <a:r>
                        <a:rPr sz="1150" b="0">
                          <a:solidFill>
                            <a:srgbClr val="1C1C1E"/>
                          </a:solidFill>
                          <a:latin typeface="Calibri"/>
                        </a:rPr>
                        <a:t>An artefact that decides something and cannot be written as f : P ⊗ X → D(Y) without distortion</a:t>
                      </a:r>
                    </a:p>
                  </a:txBody>
                  <a:tcPr marL="82296" marR="64008" marT="32004" marB="32004" anchor="ctr">
                    <a:solidFill>
                      <a:srgbClr val="FFFFFF"/>
                    </a:solidFill>
                  </a:tcPr>
                </a:tc>
              </a:tr>
              <a:tr h="538302">
                <a:tc>
                  <a:txBody>
                    <a:bodyPr wrap="square"/>
                    <a:lstStyle/>
                    <a:p>
                      <a:pPr algn="l"/>
                      <a:r>
                        <a:rPr sz="1150" b="0">
                          <a:solidFill>
                            <a:srgbClr val="1C1C1E"/>
                          </a:solidFill>
                          <a:latin typeface="Calibri"/>
                        </a:rPr>
                        <a:t>The trainability class is derivable, never declared</a:t>
                      </a:r>
                    </a:p>
                  </a:txBody>
                  <a:tcPr marL="82296" marR="64008" marT="32004" marB="32004" anchor="ctr">
                    <a:solidFill>
                      <a:srgbClr val="F6F3EF"/>
                    </a:solidFill>
                  </a:tcPr>
                </a:tc>
                <a:tc>
                  <a:txBody>
                    <a:bodyPr wrap="square"/>
                    <a:lstStyle/>
                    <a:p>
                      <a:pPr algn="l"/>
                      <a:r>
                        <a:rPr sz="1150" b="0">
                          <a:solidFill>
                            <a:srgbClr val="1C1C1E"/>
                          </a:solidFill>
                          <a:latin typeface="Calibri"/>
                        </a:rPr>
                        <a:t>Two models with identical kernels that a practitioner insists belong in different governance classes</a:t>
                      </a:r>
                    </a:p>
                  </a:txBody>
                  <a:tcPr marL="82296" marR="64008" marT="32004" marB="32004" anchor="ctr">
                    <a:solidFill>
                      <a:srgbClr val="F6F3EF"/>
                    </a:solidFill>
                  </a:tcPr>
                </a:tc>
              </a:tr>
              <a:tr h="538302">
                <a:tc>
                  <a:txBody>
                    <a:bodyPr wrap="square"/>
                    <a:lstStyle/>
                    <a:p>
                      <a:pPr algn="l"/>
                      <a:r>
                        <a:rPr sz="1150" b="0">
                          <a:solidFill>
                            <a:srgbClr val="1C1C1E"/>
                          </a:solidFill>
                          <a:latin typeface="Calibri"/>
                        </a:rPr>
                        <a:t>The laws are executable, not aspirational</a:t>
                      </a:r>
                    </a:p>
                  </a:txBody>
                  <a:tcPr marL="82296" marR="64008" marT="32004" marB="32004" anchor="ctr">
                    <a:solidFill>
                      <a:srgbClr val="FFFFFF"/>
                    </a:solidFill>
                  </a:tcPr>
                </a:tc>
                <a:tc>
                  <a:txBody>
                    <a:bodyPr wrap="square"/>
                    <a:lstStyle/>
                    <a:p>
                      <a:pPr algn="l"/>
                      <a:r>
                        <a:rPr sz="1150" b="0">
                          <a:solidFill>
                            <a:srgbClr val="1C1C1E"/>
                          </a:solidFill>
                          <a:latin typeface="Calibri"/>
                        </a:rPr>
                        <a:t>A law whose test passes on a system that violates it — which is why the three that do not run are named</a:t>
                      </a:r>
                    </a:p>
                  </a:txBody>
                  <a:tcPr marL="82296" marR="64008" marT="32004" marB="32004" anchor="ctr">
                    <a:solidFill>
                      <a:srgbClr val="FFFFFF"/>
                    </a:solidFill>
                  </a:tcPr>
                </a:tc>
              </a:tr>
              <a:tr h="538302">
                <a:tc>
                  <a:txBody>
                    <a:bodyPr wrap="square"/>
                    <a:lstStyle/>
                    <a:p>
                      <a:pPr algn="l"/>
                      <a:r>
                        <a:rPr sz="1150" b="0">
                          <a:solidFill>
                            <a:srgbClr val="1C1C1E"/>
                          </a:solidFill>
                          <a:latin typeface="Calibri"/>
                        </a:rPr>
                        <a:t>One operator, not four implementations</a:t>
                      </a:r>
                    </a:p>
                  </a:txBody>
                  <a:tcPr marL="82296" marR="64008" marT="32004" marB="32004" anchor="ctr">
                    <a:solidFill>
                      <a:srgbClr val="F6F3EF"/>
                    </a:solidFill>
                  </a:tcPr>
                </a:tc>
                <a:tc>
                  <a:txBody>
                    <a:bodyPr wrap="square"/>
                    <a:lstStyle/>
                    <a:p>
                      <a:pPr algn="l"/>
                      <a:r>
                        <a:rPr sz="1150" b="0">
                          <a:solidFill>
                            <a:srgbClr val="1C1C1E"/>
                          </a:solidFill>
                          <a:latin typeface="Calibri"/>
                        </a:rPr>
                        <a:t>A second point-in-time read anywhere in the platform. The case studies assert object identity, not agreement, precisely here</a:t>
                      </a:r>
                    </a:p>
                  </a:txBody>
                  <a:tcPr marL="82296" marR="64008" marT="32004" marB="32004" anchor="ctr">
                    <a:solidFill>
                      <a:srgbClr val="F6F3EF"/>
                    </a:solidFill>
                  </a:tcPr>
                </a:tc>
              </a:tr>
            </a:tbl>
          </a:graphicData>
        </a:graphic>
      </p:graphicFrame>
      <p:sp>
        <p:nvSpPr>
          <p:cNvPr id="12" name="TextBox 11"/>
          <p:cNvSpPr txBox="1"/>
          <p:nvPr/>
        </p:nvSpPr>
        <p:spPr>
          <a:xfrm>
            <a:off x="777240" y="4946726"/>
            <a:ext cx="10637215" cy="73152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The honest limitation. </a:t>
            </a:r>
            <a:r>
              <a:rPr sz="1250" b="0" i="0">
                <a:solidFill>
                  <a:srgbClr val="1C1C1E"/>
                </a:solidFill>
                <a:latin typeface="Calibri"/>
              </a:rPr>
              <a:t>This is a formalism with a reference implementation, not a theorem with a proof. Its evidence is that the implementation exists, that the laws execute, and that the places it does not hold are named.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051560"/>
            <a:ext cx="8935260" cy="1463040"/>
          </a:xfrm>
          <a:prstGeom prst="rect">
            <a:avLst/>
          </a:prstGeom>
          <a:noFill/>
        </p:spPr>
        <p:txBody>
          <a:bodyPr wrap="square" lIns="0" rIns="0" tIns="0" bIns="0" anchor="t">
            <a:spAutoFit/>
          </a:bodyPr>
          <a:lstStyle/>
          <a:p>
            <a:pPr algn="l">
              <a:lnSpc>
                <a:spcPct val="122000"/>
              </a:lnSpc>
              <a:spcBef>
                <a:spcPts val="0"/>
              </a:spcBef>
              <a:spcAft>
                <a:spcPts val="600"/>
              </a:spcAft>
            </a:pPr>
            <a:r>
              <a:rPr sz="3200" b="0" i="1">
                <a:solidFill>
                  <a:srgbClr val="FFFFFF"/>
                </a:solidFill>
                <a:latin typeface="Georgia"/>
              </a:rPr>
              <a:t>Say precisely what a model is,</a:t>
            </a:r>
          </a:p>
          <a:p>
            <a:pPr>
              <a:lnSpc>
                <a:spcPct val="122000"/>
              </a:lnSpc>
              <a:spcBef>
                <a:spcPts val="0"/>
              </a:spcBef>
              <a:spcAft>
                <a:spcPts val="0"/>
              </a:spcAft>
            </a:pPr>
            <a:r>
              <a:rPr sz="3200" b="0" i="1">
                <a:solidFill>
                  <a:srgbClr val="F4DFE3"/>
                </a:solidFill>
                <a:latin typeface="Georgia"/>
              </a:rPr>
              <a:t>and most of the governance follows.</a:t>
            </a:r>
          </a:p>
        </p:txBody>
      </p:sp>
      <p:sp>
        <p:nvSpPr>
          <p:cNvPr id="5" name="Rectangle 4"/>
          <p:cNvSpPr/>
          <p:nvPr/>
        </p:nvSpPr>
        <p:spPr>
          <a:xfrm>
            <a:off x="1143000" y="3017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3337560"/>
            <a:ext cx="5531351"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THE THREE IDEAS</a:t>
            </a:r>
          </a:p>
          <a:p>
            <a:pPr>
              <a:lnSpc>
                <a:spcPct val="122000"/>
              </a:lnSpc>
              <a:spcBef>
                <a:spcPts val="0"/>
              </a:spcBef>
              <a:spcAft>
                <a:spcPts val="800"/>
              </a:spcAft>
            </a:pPr>
            <a:r>
              <a:rPr sz="1350" b="0" i="0">
                <a:solidFill>
                  <a:srgbClr val="FFFFFF"/>
                </a:solidFill>
                <a:latin typeface="Calibri"/>
              </a:rPr>
              <a:t>f : P ⊗ X → D(Y) — and P is where estates differ</a:t>
            </a:r>
          </a:p>
          <a:p>
            <a:pPr>
              <a:lnSpc>
                <a:spcPct val="122000"/>
              </a:lnSpc>
              <a:spcBef>
                <a:spcPts val="0"/>
              </a:spcBef>
              <a:spcAft>
                <a:spcPts val="800"/>
              </a:spcAft>
            </a:pPr>
            <a:r>
              <a:rPr sz="1350" b="0" i="0">
                <a:solidFill>
                  <a:srgbClr val="FFFFFF"/>
                </a:solidFill>
                <a:latin typeface="Calibri"/>
              </a:rPr>
              <a:t>Two clocks, and min(label, as_of) between them</a:t>
            </a:r>
          </a:p>
          <a:p>
            <a:pPr>
              <a:lnSpc>
                <a:spcPct val="122000"/>
              </a:lnSpc>
              <a:spcBef>
                <a:spcPts val="0"/>
              </a:spcBef>
              <a:spcAft>
                <a:spcPts val="800"/>
              </a:spcAft>
            </a:pPr>
            <a:r>
              <a:rPr sz="1350" b="0" i="0">
                <a:solidFill>
                  <a:srgbClr val="FFFFFF"/>
                </a:solidFill>
                <a:latin typeface="Calibri"/>
              </a:rPr>
              <a:t>A law is a proposition with a test that executes it</a:t>
            </a:r>
          </a:p>
        </p:txBody>
      </p:sp>
      <p:sp>
        <p:nvSpPr>
          <p:cNvPr id="7" name="TextBox 6"/>
          <p:cNvSpPr txBox="1"/>
          <p:nvPr/>
        </p:nvSpPr>
        <p:spPr>
          <a:xfrm>
            <a:off x="6946824" y="3337560"/>
            <a:ext cx="4467630"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WHERE THE DETAIL IS</a:t>
            </a:r>
          </a:p>
          <a:p>
            <a:pPr>
              <a:lnSpc>
                <a:spcPct val="122000"/>
              </a:lnSpc>
              <a:spcBef>
                <a:spcPts val="0"/>
              </a:spcBef>
              <a:spcAft>
                <a:spcPts val="800"/>
              </a:spcAft>
            </a:pPr>
            <a:r>
              <a:rPr sz="1200" b="0" i="0">
                <a:solidFill>
                  <a:srgbClr val="F6E6E9"/>
                </a:solidFill>
                <a:latin typeface="Calibri"/>
              </a:rPr>
              <a:t>docs/00 — the foundations and the law table</a:t>
            </a:r>
          </a:p>
          <a:p>
            <a:pPr>
              <a:lnSpc>
                <a:spcPct val="122000"/>
              </a:lnSpc>
              <a:spcBef>
                <a:spcPts val="0"/>
              </a:spcBef>
              <a:spcAft>
                <a:spcPts val="800"/>
              </a:spcAft>
            </a:pPr>
            <a:r>
              <a:rPr sz="1200" b="0" i="0">
                <a:solidFill>
                  <a:srgbClr val="F6E6E9"/>
                </a:solidFill>
                <a:latin typeface="Calibri"/>
              </a:rPr>
              <a:t>docs/research/ — the paper, 33 pages</a:t>
            </a:r>
          </a:p>
          <a:p>
            <a:pPr>
              <a:lnSpc>
                <a:spcPct val="122000"/>
              </a:lnSpc>
              <a:spcBef>
                <a:spcPts val="0"/>
              </a:spcBef>
              <a:spcAft>
                <a:spcPts val="800"/>
              </a:spcAft>
            </a:pPr>
            <a:r>
              <a:rPr sz="1200" b="0" i="0">
                <a:solidFill>
                  <a:srgbClr val="F6E6E9"/>
                </a:solidFill>
                <a:latin typeface="Calibri"/>
              </a:rPr>
              <a:t>The design deck — 123 slides, five parts</a:t>
            </a:r>
          </a:p>
        </p:txBody>
      </p:sp>
      <p:sp>
        <p:nvSpPr>
          <p:cNvPr id="8" name="Rectangle 7"/>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Concepts and Formalism</a:t>
            </a:r>
          </a:p>
        </p:txBody>
      </p:sp>
      <p:sp>
        <p:nvSpPr>
          <p:cNvPr id="10" name="TextBox 9"/>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