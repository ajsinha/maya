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1.0.0 · specification revision 2.8</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950" b="1">
                <a:solidFill>
                  <a:srgbClr val="A51C30"/>
                </a:solidFill>
                <a:latin typeface="Calibri"/>
              </a:rPr>
              <a:t>1   </a:t>
            </a:r>
            <a:r>
              <a:rPr sz="950" b="0">
                <a:solidFill>
                  <a:srgbClr val="4A4F57"/>
                </a:solidFill>
                <a:latin typeface="Calibri"/>
              </a:rPr>
              <a:t>Why model governance fails</a:t>
            </a:r>
          </a:p>
          <a:p>
            <a:pPr>
              <a:lnSpc>
                <a:spcPct val="120000"/>
              </a:lnSpc>
              <a:spcBef>
                <a:spcPts val="0"/>
              </a:spcBef>
              <a:spcAft>
                <a:spcPts val="300"/>
              </a:spcAft>
            </a:pPr>
            <a:r>
              <a:rPr sz="950" b="1">
                <a:solidFill>
                  <a:srgbClr val="A51C30"/>
                </a:solidFill>
                <a:latin typeface="Calibri"/>
              </a:rPr>
              <a:t>2   </a:t>
            </a:r>
            <a:r>
              <a:rPr sz="950" b="0">
                <a:solidFill>
                  <a:srgbClr val="4A4F57"/>
                </a:solidFill>
                <a:latin typeface="Calibri"/>
              </a:rPr>
              <a:t>The vocabulary, from nothing</a:t>
            </a:r>
          </a:p>
          <a:p>
            <a:pPr>
              <a:lnSpc>
                <a:spcPct val="120000"/>
              </a:lnSpc>
              <a:spcBef>
                <a:spcPts val="0"/>
              </a:spcBef>
              <a:spcAft>
                <a:spcPts val="300"/>
              </a:spcAft>
            </a:pPr>
            <a:r>
              <a:rPr sz="950" b="1">
                <a:solidFill>
                  <a:srgbClr val="A51C30"/>
                </a:solidFill>
                <a:latin typeface="Calibri"/>
              </a:rPr>
              <a:t>3   </a:t>
            </a:r>
            <a:r>
              <a:rPr sz="950" b="0">
                <a:solidFill>
                  <a:srgbClr val="4A4F57"/>
                </a:solidFill>
                <a:latin typeface="Calibri"/>
              </a:rPr>
              <a:t>The lifecycle, end to end</a:t>
            </a:r>
          </a:p>
          <a:p>
            <a:pPr>
              <a:lnSpc>
                <a:spcPct val="120000"/>
              </a:lnSpc>
              <a:spcBef>
                <a:spcPts val="0"/>
              </a:spcBef>
              <a:spcAft>
                <a:spcPts val="300"/>
              </a:spcAft>
            </a:pPr>
            <a:r>
              <a:rPr sz="950" b="1">
                <a:solidFill>
                  <a:srgbClr val="A51C30"/>
                </a:solidFill>
                <a:latin typeface="Calibri"/>
              </a:rPr>
              <a:t>4   </a:t>
            </a:r>
            <a:r>
              <a:rPr sz="950" b="0">
                <a:solidFill>
                  <a:srgbClr val="4A4F57"/>
                </a:solidFill>
                <a:latin typeface="Calibri"/>
              </a:rPr>
              <a:t>Governance a model risk function works in</a:t>
            </a:r>
          </a:p>
          <a:p>
            <a:pPr>
              <a:lnSpc>
                <a:spcPct val="120000"/>
              </a:lnSpc>
              <a:spcBef>
                <a:spcPts val="0"/>
              </a:spcBef>
              <a:spcAft>
                <a:spcPts val="300"/>
              </a:spcAft>
            </a:pPr>
            <a:r>
              <a:rPr sz="950" b="1">
                <a:solidFill>
                  <a:srgbClr val="A51C30"/>
                </a:solidFill>
                <a:latin typeface="Calibri"/>
              </a:rPr>
              <a:t>5   </a:t>
            </a:r>
            <a:r>
              <a:rPr sz="950" b="0">
                <a:solidFill>
                  <a:srgbClr val="4A4F57"/>
                </a:solidFill>
                <a:latin typeface="Calibri"/>
              </a:rPr>
              <a:t>Beyond formulas</a:t>
            </a:r>
          </a:p>
          <a:p>
            <a:pPr>
              <a:lnSpc>
                <a:spcPct val="120000"/>
              </a:lnSpc>
              <a:spcBef>
                <a:spcPts val="0"/>
              </a:spcBef>
              <a:spcAft>
                <a:spcPts val="300"/>
              </a:spcAft>
            </a:pPr>
            <a:r>
              <a:rPr sz="950" b="1">
                <a:solidFill>
                  <a:srgbClr val="A51C30"/>
                </a:solidFill>
                <a:latin typeface="Calibri"/>
              </a:rPr>
              <a:t>6   </a:t>
            </a:r>
            <a:r>
              <a:rPr sz="950" b="0">
                <a:solidFill>
                  <a:srgbClr val="4A4F57"/>
                </a:solidFill>
                <a:latin typeface="Calibri"/>
              </a:rPr>
              <a:t>The formal core</a:t>
            </a:r>
          </a:p>
          <a:p>
            <a:pPr>
              <a:lnSpc>
                <a:spcPct val="120000"/>
              </a:lnSpc>
              <a:spcBef>
                <a:spcPts val="0"/>
              </a:spcBef>
              <a:spcAft>
                <a:spcPts val="300"/>
              </a:spcAft>
            </a:pPr>
            <a:r>
              <a:rPr sz="950" b="1">
                <a:solidFill>
                  <a:srgbClr val="A51C30"/>
                </a:solidFill>
                <a:latin typeface="Calibri"/>
              </a:rPr>
              <a:t>7   </a:t>
            </a:r>
            <a:r>
              <a:rPr sz="950" b="0">
                <a:solidFill>
                  <a:srgbClr val="4A4F57"/>
                </a:solidFill>
                <a:latin typeface="Calibri"/>
              </a:rPr>
              <a:t>How it runs</a:t>
            </a:r>
          </a:p>
          <a:p>
            <a:pPr>
              <a:lnSpc>
                <a:spcPct val="120000"/>
              </a:lnSpc>
              <a:spcBef>
                <a:spcPts val="0"/>
              </a:spcBef>
              <a:spcAft>
                <a:spcPts val="300"/>
              </a:spcAft>
            </a:pPr>
            <a:r>
              <a:rPr sz="950" b="1">
                <a:solidFill>
                  <a:srgbClr val="A51C30"/>
                </a:solidFill>
                <a:latin typeface="Calibri"/>
              </a:rPr>
              <a:t>8   </a:t>
            </a:r>
            <a:r>
              <a:rPr sz="950" b="0">
                <a:solidFill>
                  <a:srgbClr val="4A4F57"/>
                </a:solidFill>
                <a:latin typeface="Calibri"/>
              </a:rPr>
              <a:t>Fourteen models, carried the whole way</a:t>
            </a:r>
          </a:p>
          <a:p>
            <a:pPr>
              <a:lnSpc>
                <a:spcPct val="120000"/>
              </a:lnSpc>
              <a:spcBef>
                <a:spcPts val="0"/>
              </a:spcBef>
              <a:spcAft>
                <a:spcPts val="300"/>
              </a:spcAft>
            </a:pPr>
            <a:r>
              <a:rPr sz="950" b="1">
                <a:solidFill>
                  <a:srgbClr val="A51C30"/>
                </a:solidFill>
                <a:latin typeface="Calibri"/>
              </a:rPr>
              <a:t>9   </a:t>
            </a:r>
            <a:r>
              <a:rPr sz="95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Why model governance fails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Every bank keeps a model register, and most registers are lists of things people typed. This part says what supervisors now expect, where a typed register breaks, and what MAYA is in one sentence: a system of record whose facts are derived from the work, not declared about it.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What SR 11-7 and SS1/23 ask for</a:t>
            </a:r>
          </a:p>
          <a:p>
            <a:pPr>
              <a:lnSpc>
                <a:spcPct val="115000"/>
              </a:lnSpc>
              <a:spcBef>
                <a:spcPts val="0"/>
              </a:spcBef>
              <a:spcAft>
                <a:spcPts val="600"/>
              </a:spcAft>
            </a:pPr>
            <a:r>
              <a:rPr sz="1200" b="0" i="0">
                <a:solidFill>
                  <a:srgbClr val="F6E6E9"/>
                </a:solidFill>
                <a:latin typeface="Calibri"/>
              </a:rPr>
              <a:t>Four places a register breaks</a:t>
            </a:r>
          </a:p>
          <a:p>
            <a:pPr>
              <a:lnSpc>
                <a:spcPct val="115000"/>
              </a:lnSpc>
              <a:spcBef>
                <a:spcPts val="0"/>
              </a:spcBef>
              <a:spcAft>
                <a:spcPts val="600"/>
              </a:spcAft>
            </a:pPr>
            <a:r>
              <a:rPr sz="1200" b="0" i="0">
                <a:solidFill>
                  <a:srgbClr val="F6E6E9"/>
                </a:solidFill>
                <a:latin typeface="Calibri"/>
              </a:rPr>
              <a:t>MAYA,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SUPERVISORS ASK</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supervisory statements, one set of expectations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Federal Reserve's SR 11-7 (2011) and the PRA's SS1/23 (2024) are written a decade apart and ask for the same things. Each row is an expectation, and where MAYA answers it from records it already keeps rather than from a form somebody fills in.</a:t>
            </a:r>
          </a:p>
        </p:txBody>
      </p:sp>
      <p:graphicFrame>
        <p:nvGraphicFramePr>
          <p:cNvPr id="11" name="Table 10"/>
          <p:cNvGraphicFramePr>
            <a:graphicFrameLocks noGrp="1"/>
          </p:cNvGraphicFramePr>
          <p:nvPr/>
        </p:nvGraphicFramePr>
        <p:xfrm>
          <a:off x="777240" y="2284984"/>
          <a:ext cx="10637214" cy="3900867"/>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Expectation</a:t>
                      </a:r>
                    </a:p>
                  </a:txBody>
                  <a:tcPr marL="82296" marR="64008" marT="32004" marB="32004" anchor="ctr">
                    <a:solidFill>
                      <a:srgbClr val="A51C30"/>
                    </a:solidFill>
                  </a:tcPr>
                </a:tc>
                <a:tc>
                  <a:txBody>
                    <a:bodyPr wrap="square"/>
                    <a:lstStyle/>
                    <a:p>
                      <a:r>
                        <a:rPr sz="1300" b="1">
                          <a:solidFill>
                            <a:srgbClr val="FFFFFF"/>
                          </a:solidFill>
                          <a:latin typeface="Calibri"/>
                        </a:rPr>
                        <a:t>SR 11-7 · SS1/23</a:t>
                      </a:r>
                    </a:p>
                  </a:txBody>
                  <a:tcPr marL="82296" marR="64008" marT="32004" marB="32004" anchor="ctr">
                    <a:solidFill>
                      <a:srgbClr val="A51C30"/>
                    </a:solidFill>
                  </a:tcPr>
                </a:tc>
                <a:tc>
                  <a:txBody>
                    <a:bodyPr wrap="square"/>
                    <a:lstStyle/>
                    <a:p>
                      <a:r>
                        <a:rPr sz="1300" b="1">
                          <a:solidFill>
                            <a:srgbClr val="FFFFFF"/>
                          </a:solidFill>
                          <a:latin typeface="Calibri"/>
                        </a:rPr>
                        <a:t>Where MAYA answers it</a:t>
                      </a:r>
                    </a:p>
                  </a:txBody>
                  <a:tcPr marL="82296" marR="64008" marT="32004" marB="32004" anchor="ctr">
                    <a:solidFill>
                      <a:srgbClr val="A51C30"/>
                    </a:solidFill>
                  </a:tcPr>
                </a:tc>
              </a:tr>
              <a:tr h="736282">
                <a:tc>
                  <a:txBody>
                    <a:bodyPr wrap="square"/>
                    <a:lstStyle/>
                    <a:p>
                      <a:r>
                        <a:rPr sz="1300" b="1">
                          <a:solidFill>
                            <a:srgbClr val="761422"/>
                          </a:solidFill>
                          <a:latin typeface="Calibri"/>
                        </a:rPr>
                        <a:t>A complete inventory, with materiality</a:t>
                      </a:r>
                    </a:p>
                  </a:txBody>
                  <a:tcPr marL="82296" marR="64008" marT="32004" marB="32004" anchor="ctr">
                    <a:solidFill>
                      <a:srgbClr val="FFFFFF"/>
                    </a:solidFill>
                  </a:tcPr>
                </a:tc>
                <a:tc>
                  <a:txBody>
                    <a:bodyPr wrap="square"/>
                    <a:lstStyle/>
                    <a:p>
                      <a:r>
                        <a:rPr sz="1300" b="0">
                          <a:solidFill>
                            <a:srgbClr val="1C1C1E"/>
                          </a:solidFill>
                          <a:latin typeface="Calibri"/>
                        </a:rPr>
                        <a:t>Inventory · Principle 1, model tiering</a:t>
                      </a:r>
                    </a:p>
                  </a:txBody>
                  <a:tcPr marL="82296" marR="64008" marT="32004" marB="32004" anchor="ctr">
                    <a:solidFill>
                      <a:srgbClr val="FFFFFF"/>
                    </a:solidFill>
                  </a:tcPr>
                </a:tc>
                <a:tc>
                  <a:txBody>
                    <a:bodyPr wrap="square"/>
                    <a:lstStyle/>
                    <a:p>
                      <a:r>
                        <a:rPr sz="1300" b="0">
                          <a:solidFill>
                            <a:srgbClr val="1C1C1E"/>
                          </a:solidFill>
                          <a:latin typeface="Calibri"/>
                        </a:rPr>
                        <a:t>The inventory export, tier derived from use, exposure, reach and a questionnaire</a:t>
                      </a:r>
                    </a:p>
                  </a:txBody>
                  <a:tcPr marL="82296" marR="64008" marT="32004" marB="32004" anchor="ctr">
                    <a:solidFill>
                      <a:srgbClr val="FFFFFF"/>
                    </a:solidFill>
                  </a:tcPr>
                </a:tc>
              </a:tr>
              <a:tr h="527431">
                <a:tc>
                  <a:txBody>
                    <a:bodyPr wrap="square"/>
                    <a:lstStyle/>
                    <a:p>
                      <a:r>
                        <a:rPr sz="1300" b="1">
                          <a:solidFill>
                            <a:srgbClr val="761422"/>
                          </a:solidFill>
                          <a:latin typeface="Calibri"/>
                        </a:rPr>
                        <a:t>Sound development and documentation</a:t>
                      </a:r>
                    </a:p>
                  </a:txBody>
                  <a:tcPr marL="82296" marR="64008" marT="32004" marB="32004" anchor="ctr">
                    <a:solidFill>
                      <a:srgbClr val="F6F3EF"/>
                    </a:solidFill>
                  </a:tcPr>
                </a:tc>
                <a:tc>
                  <a:txBody>
                    <a:bodyPr wrap="square"/>
                    <a:lstStyle/>
                    <a:p>
                      <a:r>
                        <a:rPr sz="1300" b="0">
                          <a:solidFill>
                            <a:srgbClr val="1C1C1E"/>
                          </a:solidFill>
                          <a:latin typeface="Calibri"/>
                        </a:rPr>
                        <a:t>Development · Principle 3</a:t>
                      </a:r>
                    </a:p>
                  </a:txBody>
                  <a:tcPr marL="82296" marR="64008" marT="32004" marB="32004" anchor="ctr">
                    <a:solidFill>
                      <a:srgbClr val="F6F3EF"/>
                    </a:solidFill>
                  </a:tcPr>
                </a:tc>
                <a:tc>
                  <a:txBody>
                    <a:bodyPr wrap="square"/>
                    <a:lstStyle/>
                    <a:p>
                      <a:r>
                        <a:rPr sz="1300" b="0">
                          <a:solidFill>
                            <a:srgbClr val="1C1C1E"/>
                          </a:solidFill>
                          <a:latin typeface="Calibri"/>
                        </a:rPr>
                        <a:t>A specification bound to the formula's hash; nine required sections</a:t>
                      </a:r>
                    </a:p>
                  </a:txBody>
                  <a:tcPr marL="82296" marR="64008" marT="32004" marB="32004" anchor="ctr">
                    <a:solidFill>
                      <a:srgbClr val="F6F3EF"/>
                    </a:solidFill>
                  </a:tcPr>
                </a:tc>
              </a:tr>
              <a:tr h="736282">
                <a:tc>
                  <a:txBody>
                    <a:bodyPr wrap="square"/>
                    <a:lstStyle/>
                    <a:p>
                      <a:r>
                        <a:rPr sz="1300" b="1">
                          <a:solidFill>
                            <a:srgbClr val="761422"/>
                          </a:solidFill>
                          <a:latin typeface="Calibri"/>
                        </a:rPr>
                        <a:t>Independent validation</a:t>
                      </a:r>
                    </a:p>
                  </a:txBody>
                  <a:tcPr marL="82296" marR="64008" marT="32004" marB="32004" anchor="ctr">
                    <a:solidFill>
                      <a:srgbClr val="FFFFFF"/>
                    </a:solidFill>
                  </a:tcPr>
                </a:tc>
                <a:tc>
                  <a:txBody>
                    <a:bodyPr wrap="square"/>
                    <a:lstStyle/>
                    <a:p>
                      <a:r>
                        <a:rPr sz="1300" b="0">
                          <a:solidFill>
                            <a:srgbClr val="1C1C1E"/>
                          </a:solidFill>
                          <a:latin typeface="Calibri"/>
                        </a:rPr>
                        <a:t>Validation · Principle 4</a:t>
                      </a:r>
                    </a:p>
                  </a:txBody>
                  <a:tcPr marL="82296" marR="64008" marT="32004" marB="32004" anchor="ctr">
                    <a:solidFill>
                      <a:srgbClr val="FFFFFF"/>
                    </a:solidFill>
                  </a:tcPr>
                </a:tc>
                <a:tc>
                  <a:txBody>
                    <a:bodyPr wrap="square"/>
                    <a:lstStyle/>
                    <a:p>
                      <a:r>
                        <a:rPr sz="1300" b="0">
                          <a:solidFill>
                            <a:srgbClr val="1C1C1E"/>
                          </a:solidFill>
                          <a:latin typeface="Calibri"/>
                        </a:rPr>
                        <a:t>Blind scoring on escrowed data; reconciliation; champion and challenger</a:t>
                      </a:r>
                    </a:p>
                  </a:txBody>
                  <a:tcPr marL="82296" marR="64008" marT="32004" marB="32004" anchor="ctr">
                    <a:solidFill>
                      <a:srgbClr val="FFFFFF"/>
                    </a:solidFill>
                  </a:tcPr>
                </a:tc>
              </a:tr>
              <a:tr h="527431">
                <a:tc>
                  <a:txBody>
                    <a:bodyPr wrap="square"/>
                    <a:lstStyle/>
                    <a:p>
                      <a:r>
                        <a:rPr sz="1300" b="1">
                          <a:solidFill>
                            <a:srgbClr val="761422"/>
                          </a:solidFill>
                          <a:latin typeface="Calibri"/>
                        </a:rPr>
                        <a:t>Ongoing monitoring</a:t>
                      </a:r>
                    </a:p>
                  </a:txBody>
                  <a:tcPr marL="82296" marR="64008" marT="32004" marB="32004" anchor="ctr">
                    <a:solidFill>
                      <a:srgbClr val="F6F3EF"/>
                    </a:solidFill>
                  </a:tcPr>
                </a:tc>
                <a:tc>
                  <a:txBody>
                    <a:bodyPr wrap="square"/>
                    <a:lstStyle/>
                    <a:p>
                      <a:r>
                        <a:rPr sz="1300" b="0">
                          <a:solidFill>
                            <a:srgbClr val="1C1C1E"/>
                          </a:solidFill>
                          <a:latin typeface="Calibri"/>
                        </a:rPr>
                        <a:t>Monitoring · Principle 4.4</a:t>
                      </a:r>
                    </a:p>
                  </a:txBody>
                  <a:tcPr marL="82296" marR="64008" marT="32004" marB="32004" anchor="ctr">
                    <a:solidFill>
                      <a:srgbClr val="F6F3EF"/>
                    </a:solidFill>
                  </a:tcPr>
                </a:tc>
                <a:tc>
                  <a:txBody>
                    <a:bodyPr wrap="square"/>
                    <a:lstStyle/>
                    <a:p>
                      <a:r>
                        <a:rPr sz="1300" b="0">
                          <a:solidFill>
                            <a:srgbClr val="1C1C1E"/>
                          </a:solidFill>
                          <a:latin typeface="Calibri"/>
                        </a:rPr>
                        <a:t>Covenants on every reported run; dashboards graded ok, watch, breach</a:t>
                      </a:r>
                    </a:p>
                  </a:txBody>
                  <a:tcPr marL="82296" marR="64008" marT="32004" marB="32004" anchor="ctr">
                    <a:solidFill>
                      <a:srgbClr val="F6F3EF"/>
                    </a:solidFill>
                  </a:tcPr>
                </a:tc>
              </a:tr>
              <a:tr h="527431">
                <a:tc>
                  <a:txBody>
                    <a:bodyPr wrap="square"/>
                    <a:lstStyle/>
                    <a:p>
                      <a:r>
                        <a:rPr sz="1300" b="1">
                          <a:solidFill>
                            <a:srgbClr val="761422"/>
                          </a:solidFill>
                          <a:latin typeface="Calibri"/>
                        </a:rPr>
                        <a:t>Issues tracked to closure</a:t>
                      </a:r>
                    </a:p>
                  </a:txBody>
                  <a:tcPr marL="82296" marR="64008" marT="32004" marB="32004" anchor="ctr">
                    <a:solidFill>
                      <a:srgbClr val="FFFFFF"/>
                    </a:solidFill>
                  </a:tcPr>
                </a:tc>
                <a:tc>
                  <a:txBody>
                    <a:bodyPr wrap="square"/>
                    <a:lstStyle/>
                    <a:p>
                      <a:r>
                        <a:rPr sz="1300" b="0">
                          <a:solidFill>
                            <a:srgbClr val="1C1C1E"/>
                          </a:solidFill>
                          <a:latin typeface="Calibri"/>
                        </a:rPr>
                        <a:t>Governance · Principle 2</a:t>
                      </a:r>
                    </a:p>
                  </a:txBody>
                  <a:tcPr marL="82296" marR="64008" marT="32004" marB="32004" anchor="ctr">
                    <a:solidFill>
                      <a:srgbClr val="FFFFFF"/>
                    </a:solidFill>
                  </a:tcPr>
                </a:tc>
                <a:tc>
                  <a:txBody>
                    <a:bodyPr wrap="square"/>
                    <a:lstStyle/>
                    <a:p>
                      <a:r>
                        <a:rPr sz="1300" b="0">
                          <a:solidFill>
                            <a:srgbClr val="1C1C1E"/>
                          </a:solidFill>
                          <a:latin typeface="Calibri"/>
                        </a:rPr>
                        <a:t>A findings register; nobody closes their own fix</a:t>
                      </a:r>
                    </a:p>
                  </a:txBody>
                  <a:tcPr marL="82296" marR="64008" marT="32004" marB="32004" anchor="ctr">
                    <a:solidFill>
                      <a:srgbClr val="FFFFFF"/>
                    </a:solidFill>
                  </a:tcPr>
                </a:tc>
              </a:tr>
              <a:tr h="527431">
                <a:tc>
                  <a:txBody>
                    <a:bodyPr wrap="square"/>
                    <a:lstStyle/>
                    <a:p>
                      <a:r>
                        <a:rPr sz="1300" b="1">
                          <a:solidFill>
                            <a:srgbClr val="761422"/>
                          </a:solidFill>
                          <a:latin typeface="Calibri"/>
                        </a:rPr>
                        <a:t>Periodic review, and limits on use</a:t>
                      </a:r>
                    </a:p>
                  </a:txBody>
                  <a:tcPr marL="82296" marR="64008" marT="32004" marB="32004" anchor="ctr">
                    <a:solidFill>
                      <a:srgbClr val="F6F3EF"/>
                    </a:solidFill>
                  </a:tcPr>
                </a:tc>
                <a:tc>
                  <a:txBody>
                    <a:bodyPr wrap="square"/>
                    <a:lstStyle/>
                    <a:p>
                      <a:r>
                        <a:rPr sz="1300" b="0">
                          <a:solidFill>
                            <a:srgbClr val="1C1C1E"/>
                          </a:solidFill>
                          <a:latin typeface="Calibri"/>
                        </a:rPr>
                        <a:t>Governance · Principle 5</a:t>
                      </a:r>
                    </a:p>
                  </a:txBody>
                  <a:tcPr marL="82296" marR="64008" marT="32004" marB="32004" anchor="ctr">
                    <a:solidFill>
                      <a:srgbClr val="F6F3EF"/>
                    </a:solidFill>
                  </a:tcPr>
                </a:tc>
                <a:tc>
                  <a:txBody>
                    <a:bodyPr wrap="square"/>
                    <a:lstStyle/>
                    <a:p>
                      <a:r>
                        <a:rPr sz="1300" b="0">
                          <a:solidFill>
                            <a:srgbClr val="1C1C1E"/>
                          </a:solidFill>
                          <a:latin typeface="Calibri"/>
                        </a:rPr>
                        <a:t>Review intervals by tier; an overdue review suspends the model</a:t>
                      </a:r>
                    </a:p>
                  </a:txBody>
                  <a:tcPr marL="82296" marR="64008" marT="32004" marB="32004" anchor="ctr">
                    <a:solidFill>
                      <a:srgbClr val="F6F3E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A REGISTER BREAKS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failures a typed register cannot see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Rectangle 9"/>
          <p:cNvSpPr/>
          <p:nvPr/>
        </p:nvSpPr>
        <p:spPr>
          <a:xfrm>
            <a:off x="777240"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DATA MOVED</a:t>
            </a:r>
          </a:p>
        </p:txBody>
      </p:sp>
      <p:sp>
        <p:nvSpPr>
          <p:cNvPr id="13" name="TextBox 12"/>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Nobody can say which rows a model saw</a:t>
            </a:r>
          </a:p>
        </p:txBody>
      </p:sp>
      <p:sp>
        <p:nvSpPr>
          <p:cNvPr id="14" name="TextBox 13"/>
          <p:cNvSpPr txBox="1"/>
          <p:nvPr/>
        </p:nvSpPr>
        <p:spPr>
          <a:xfrm>
            <a:off x="960120"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warehouse row was restated in place in August. The number the model read in March no longer exists anywhere, and the register still says “trained on the loans table”.</a:t>
            </a:r>
          </a:p>
        </p:txBody>
      </p:sp>
      <p:sp>
        <p:nvSpPr>
          <p:cNvPr id="15" name="Rectangle 14"/>
          <p:cNvSpPr/>
          <p:nvPr/>
        </p:nvSpPr>
        <p:spPr>
          <a:xfrm>
            <a:off x="6178143" y="1386967"/>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CODE IS NOT THE MATHS</a:t>
            </a:r>
          </a:p>
        </p:txBody>
      </p:sp>
      <p:sp>
        <p:nvSpPr>
          <p:cNvPr id="18" name="TextBox 17"/>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Three artefacts, each correct once</a:t>
            </a:r>
          </a:p>
        </p:txBody>
      </p:sp>
      <p:sp>
        <p:nvSpPr>
          <p:cNvPr id="19" name="TextBox 18"/>
          <p:cNvSpPr txBox="1"/>
          <p:nvPr/>
        </p:nvSpPr>
        <p:spPr>
          <a:xfrm>
            <a:off x="6361023" y="2156079"/>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PDF describes the model, a repository implements it, and the desk runs a spreadsheet. No test compares them, so nobody knows which of the three is the model.</a:t>
            </a:r>
          </a:p>
        </p:txBody>
      </p:sp>
      <p:sp>
        <p:nvSpPr>
          <p:cNvPr id="20" name="Rectangle 19"/>
          <p:cNvSpPr/>
          <p:nvPr/>
        </p:nvSpPr>
        <p:spPr>
          <a:xfrm>
            <a:off x="777240"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BLACK BOX</a:t>
            </a:r>
          </a:p>
        </p:txBody>
      </p:sp>
      <p:sp>
        <p:nvSpPr>
          <p:cNvPr id="23" name="TextBox 22"/>
          <p:cNvSpPr txBox="1"/>
          <p:nvPr/>
        </p:nvSpPr>
        <p:spPr>
          <a:xfrm>
            <a:off x="960120"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Bought, opaque, and still in use</a:t>
            </a:r>
          </a:p>
        </p:txBody>
      </p:sp>
      <p:sp>
        <p:nvSpPr>
          <p:cNvPr id="24" name="TextBox 23"/>
          <p:cNvSpPr txBox="1"/>
          <p:nvPr/>
        </p:nvSpPr>
        <p:spPr>
          <a:xfrm>
            <a:off x="960120"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vendor score or a neural network has no formula to review. A register records that it exists; it cannot record whether it still works on today's population.</a:t>
            </a:r>
          </a:p>
        </p:txBody>
      </p:sp>
      <p:sp>
        <p:nvSpPr>
          <p:cNvPr id="25" name="Rectangle 24"/>
          <p:cNvSpPr/>
          <p:nvPr/>
        </p:nvSpPr>
        <p:spPr>
          <a:xfrm>
            <a:off x="6178143" y="3898455"/>
            <a:ext cx="5236311" cy="234689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89845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304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THE PROMPT</a:t>
            </a:r>
          </a:p>
        </p:txBody>
      </p:sp>
      <p:sp>
        <p:nvSpPr>
          <p:cNvPr id="28" name="TextBox 27"/>
          <p:cNvSpPr txBox="1"/>
          <p:nvPr/>
        </p:nvSpPr>
        <p:spPr>
          <a:xfrm>
            <a:off x="6361023" y="431907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An LLM application nobody versioned</a:t>
            </a:r>
          </a:p>
        </p:txBody>
      </p:sp>
      <p:sp>
        <p:nvSpPr>
          <p:cNvPr id="29" name="TextBox 28"/>
          <p:cNvSpPr txBox="1"/>
          <p:nvPr/>
        </p:nvSpPr>
        <p:spPr>
          <a:xfrm>
            <a:off x="6361023" y="4667567"/>
            <a:ext cx="4870551" cy="144976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prompt edited on a Friday changes the model's behaviour as surely as a new coefficient, and no register sees the change or asks what it was tested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MAYA,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system of record whose facts are derived, not declared</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Why model governance fails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holds the models, the data they read and the licences to fit and run them, and derives the facts a register would ask somebody to type. It never trains a model and never serves a prediction: it is where the evidence lives, not where the arithmetic runs.</a:t>
            </a:r>
          </a:p>
        </p:txBody>
      </p:sp>
      <p:sp>
        <p:nvSpPr>
          <p:cNvPr id="11" name="TextBox 10"/>
          <p:cNvSpPr txBox="1"/>
          <p:nvPr/>
        </p:nvSpPr>
        <p:spPr>
          <a:xfrm>
            <a:off x="777240" y="2268918"/>
            <a:ext cx="10637215" cy="397643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Data, frozen by content</a:t>
            </a:r>
          </a:p>
          <a:p>
            <a:pPr lvl="1">
              <a:lnSpc>
                <a:spcPct val="120000"/>
              </a:lnSpc>
              <a:spcBef>
                <a:spcPts val="0"/>
              </a:spcBef>
              <a:spcAft>
                <a:spcPts val="0"/>
              </a:spcAft>
            </a:pPr>
            <a:r>
              <a:rPr sz="1550" b="0">
                <a:solidFill>
                  <a:srgbClr val="4A4F57"/>
                </a:solidFill>
                <a:latin typeface="Calibri"/>
              </a:rPr>
              <a:t>Features with two clocks — when a value was true and when it was known — and pins sealed by the hash of their rows.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Mathematics, as a typed tree</a:t>
            </a:r>
          </a:p>
          <a:p>
            <a:pPr lvl="1">
              <a:lnSpc>
                <a:spcPct val="120000"/>
              </a:lnSpc>
              <a:spcBef>
                <a:spcPts val="0"/>
              </a:spcBef>
              <a:spcAft>
                <a:spcPts val="0"/>
              </a:spcAft>
            </a:pPr>
            <a:r>
              <a:rPr sz="1550" b="0">
                <a:solidFill>
                  <a:srgbClr val="4A4F57"/>
                </a:solidFill>
                <a:latin typeface="Calibri"/>
              </a:rPr>
              <a:t>A model's formula parsed from LaTeX, Python or Excel; code checked against it; a black box declared as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Licences, not documents</a:t>
            </a:r>
          </a:p>
          <a:p>
            <a:pPr lvl="1">
              <a:lnSpc>
                <a:spcPct val="120000"/>
              </a:lnSpc>
              <a:spcBef>
                <a:spcPts val="0"/>
              </a:spcBef>
              <a:spcAft>
                <a:spcPts val="0"/>
              </a:spcAft>
            </a:pPr>
            <a:r>
              <a:rPr sz="1550" b="0">
                <a:solidFill>
                  <a:srgbClr val="4A4F57"/>
                </a:solidFill>
                <a:latin typeface="Calibri"/>
              </a:rPr>
              <a:t>Training and execution warrants that bind a model to data, expire, suspend themselves on a breach, and prove themselves offline.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Governance, from the same records</a:t>
            </a:r>
          </a:p>
          <a:p>
            <a:pPr lvl="1">
              <a:lnSpc>
                <a:spcPct val="120000"/>
              </a:lnSpc>
              <a:spcBef>
                <a:spcPts val="0"/>
              </a:spcBef>
              <a:spcAft>
                <a:spcPts val="0"/>
              </a:spcAft>
            </a:pPr>
            <a:r>
              <a:rPr sz="1550" b="0">
                <a:solidFill>
                  <a:srgbClr val="4A4F57"/>
                </a:solidFill>
                <a:latin typeface="Calibri"/>
              </a:rPr>
              <a:t>Findings, tiers, reviews, monitoring, challengers, fairness evidence and the supervisory inventory, all read from the objects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800" b="0" i="0">
                <a:solidFill>
                  <a:srgbClr val="FFFFFF"/>
                </a:solidFill>
                <a:latin typeface="Georgia"/>
              </a:rPr>
              <a:t>The vocabulary, from nothing</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derived facts of Part 6 and the warrants of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6: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in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3 carries it end to end, Part 4 governs it, and Part 6 shows that four facts a register normally asks somebody to type are consequences of this structure.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The lifecycle, end to end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chain, from a delivered file to a model running under a live licence and reporting back. Each link is a governed object with an owner, a version and an approval, and each one refuses something on purpose.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MAYA sits between</a:t>
            </a:r>
          </a:p>
          <a:p>
            <a:pPr>
              <a:lnSpc>
                <a:spcPct val="115000"/>
              </a:lnSpc>
              <a:spcBef>
                <a:spcPts val="0"/>
              </a:spcBef>
              <a:spcAft>
                <a:spcPts val="600"/>
              </a:spcAft>
            </a:pPr>
            <a:r>
              <a:rPr sz="1200" b="0" i="0">
                <a:solidFill>
                  <a:srgbClr val="F6E6E9"/>
                </a:solidFill>
                <a:latin typeface="Calibri"/>
              </a:rPr>
              <a:t>The chain, in one picture</a:t>
            </a:r>
          </a:p>
          <a:p>
            <a:pPr>
              <a:lnSpc>
                <a:spcPct val="115000"/>
              </a:lnSpc>
              <a:spcBef>
                <a:spcPts val="0"/>
              </a:spcBef>
              <a:spcAft>
                <a:spcPts val="600"/>
              </a:spcAft>
            </a:pPr>
            <a:r>
              <a:rPr sz="1200" b="0" i="0">
                <a:solidFill>
                  <a:srgbClr val="F6E6E9"/>
                </a:solidFill>
                <a:latin typeface="Calibri"/>
              </a:rPr>
              <a:t>Writing the mathematics</a:t>
            </a:r>
          </a:p>
          <a:p>
            <a:pPr>
              <a:lnSpc>
                <a:spcPct val="115000"/>
              </a:lnSpc>
              <a:spcBef>
                <a:spcPts val="0"/>
              </a:spcBef>
              <a:spcAft>
                <a:spcPts val="600"/>
              </a:spcAft>
            </a:pPr>
            <a:r>
              <a:rPr sz="1200" b="0" i="0">
                <a:solidFill>
                  <a:srgbClr val="F6E6E9"/>
                </a:solidFill>
                <a:latin typeface="Calibri"/>
              </a:rPr>
              <a:t>Fitting under a warrant</a:t>
            </a:r>
          </a:p>
          <a:p>
            <a:pPr>
              <a:lnSpc>
                <a:spcPct val="115000"/>
              </a:lnSpc>
              <a:spcBef>
                <a:spcPts val="0"/>
              </a:spcBef>
              <a:spcAft>
                <a:spcPts val="600"/>
              </a:spcAft>
            </a:pPr>
            <a:r>
              <a:rPr sz="1200" b="0" i="0">
                <a:solidFill>
                  <a:srgbClr val="F6E6E9"/>
                </a:solidFill>
                <a:latin typeface="Calibri"/>
              </a:rPr>
              <a:t>Running under a licence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246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CHAIN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From a delivered file to a model reporting back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3" name="TextBox 12"/>
          <p:cNvSpPr txBox="1"/>
          <p:nvPr/>
        </p:nvSpPr>
        <p:spPr>
          <a:xfrm>
            <a:off x="960120"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feed defined, loaded with its knowledge times, approved by somebody else</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A feature set frozen as of a date, sealed by the hash of its rows</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mathematics as a typed tree, with its specification, approved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Training warrant</a:t>
            </a:r>
          </a:p>
        </p:txBody>
      </p:sp>
      <p:sp>
        <p:nvSpPr>
          <p:cNvPr id="27" name="TextBox 26"/>
          <p:cNvSpPr txBox="1"/>
          <p:nvPr/>
        </p:nvSpPr>
        <p:spPr>
          <a:xfrm>
            <a:off x="7496068"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Model and pin bound; the holdout escrowed; leakage certified</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Execution warrant</a:t>
            </a:r>
          </a:p>
        </p:txBody>
      </p:sp>
      <p:sp>
        <p:nvSpPr>
          <p:cNvPr id="32" name="TextBox 31"/>
          <p:cNvSpPr txBox="1"/>
          <p:nvPr/>
        </p:nvSpPr>
        <p:spPr>
          <a:xfrm>
            <a:off x="9674717"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Approved parameters licensed to run, with covenants, until a date</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Every arrow is a refusal waiting to happen: an unapproved feature cannot be pinned, an unpinned set cannot be warranted, a model whose inputs the pin lacks cannot be bound, and parameters fitted on data MAYA did not issue cannot be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chain is the same whether the model is a two-line formula, a neural network, a vendor's score or an LLM application — what changes is which evidence each link can produce.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6's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lifecycle,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sdk/maya/sdk/offline.py;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Governance a model risk function works in</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Version 1.0.0 adds the layer a model risk function spends its days in. Nothing in it is a new form: every screen reads the warrants, pins, scores and reports the lifecycle already produced.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Findings, tracked to independent closure</a:t>
            </a:r>
          </a:p>
          <a:p>
            <a:pPr>
              <a:lnSpc>
                <a:spcPct val="115000"/>
              </a:lnSpc>
              <a:spcBef>
                <a:spcPts val="0"/>
              </a:spcBef>
              <a:spcAft>
                <a:spcPts val="600"/>
              </a:spcAft>
            </a:pPr>
            <a:r>
              <a:rPr sz="1200" b="0" i="0">
                <a:solidFill>
                  <a:srgbClr val="F6E6E9"/>
                </a:solidFill>
                <a:latin typeface="Calibri"/>
              </a:rPr>
              <a:t>Materiality, derived</a:t>
            </a:r>
          </a:p>
          <a:p>
            <a:pPr>
              <a:lnSpc>
                <a:spcPct val="115000"/>
              </a:lnSpc>
              <a:spcBef>
                <a:spcPts val="0"/>
              </a:spcBef>
              <a:spcAft>
                <a:spcPts val="600"/>
              </a:spcAft>
            </a:pPr>
            <a:r>
              <a:rPr sz="1200" b="0" i="0">
                <a:solidFill>
                  <a:srgbClr val="F6E6E9"/>
                </a:solidFill>
                <a:latin typeface="Calibri"/>
              </a:rPr>
              <a:t>Periodic review, with teeth</a:t>
            </a:r>
          </a:p>
          <a:p>
            <a:pPr>
              <a:lnSpc>
                <a:spcPct val="115000"/>
              </a:lnSpc>
              <a:spcBef>
                <a:spcPts val="0"/>
              </a:spcBef>
              <a:spcAft>
                <a:spcPts val="600"/>
              </a:spcAft>
            </a:pPr>
            <a:r>
              <a:rPr sz="1200" b="0" i="0">
                <a:solidFill>
                  <a:srgbClr val="F6E6E9"/>
                </a:solidFill>
                <a:latin typeface="Calibri"/>
              </a:rPr>
              <a:t>Monitoring dashboards</a:t>
            </a:r>
          </a:p>
          <a:p>
            <a:pPr>
              <a:lnSpc>
                <a:spcPct val="115000"/>
              </a:lnSpc>
              <a:spcBef>
                <a:spcPts val="0"/>
              </a:spcBef>
              <a:spcAft>
                <a:spcPts val="600"/>
              </a:spcAft>
            </a:pPr>
            <a:r>
              <a:rPr sz="1200" b="0" i="0">
                <a:solidFill>
                  <a:srgbClr val="F6E6E9"/>
                </a:solidFill>
                <a:latin typeface="Calibri"/>
              </a:rPr>
              <a:t>Champion and challenger</a:t>
            </a:r>
          </a:p>
          <a:p>
            <a:pPr>
              <a:lnSpc>
                <a:spcPct val="115000"/>
              </a:lnSpc>
              <a:spcBef>
                <a:spcPts val="0"/>
              </a:spcBef>
              <a:spcAft>
                <a:spcPts val="600"/>
              </a:spcAft>
            </a:pPr>
            <a:r>
              <a:rPr sz="1200" b="0" i="0">
                <a:solidFill>
                  <a:srgbClr val="F6E6E9"/>
                </a:solidFill>
                <a:latin typeface="Calibri"/>
              </a:rPr>
              <a:t>Fairness and explainability</a:t>
            </a:r>
          </a:p>
          <a:p>
            <a:pPr>
              <a:lnSpc>
                <a:spcPct val="115000"/>
              </a:lnSpc>
              <a:spcBef>
                <a:spcPts val="0"/>
              </a:spcBef>
              <a:spcAft>
                <a:spcPts val="600"/>
              </a:spcAft>
            </a:pPr>
            <a:r>
              <a:rPr sz="1200" b="0" i="0">
                <a:solidFill>
                  <a:srgbClr val="F6E6E9"/>
                </a:solidFill>
                <a:latin typeface="Calibri"/>
              </a:rPr>
              <a:t>The supervisory inventory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FINDINGS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defect has an owner, a due date — and an independent closer</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validator finds something wrong; the owner fixes it; somebody who did not make the fix confirms it, or the risk is accepted in writing. Every move is kept on the finding and in the audit chain.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lifecycle</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Raised</a:t>
            </a:r>
          </a:p>
          <a:p>
            <a:pPr lvl="1">
              <a:lnSpc>
                <a:spcPct val="120000"/>
              </a:lnSpc>
              <a:spcBef>
                <a:spcPts val="0"/>
              </a:spcBef>
              <a:spcAft>
                <a:spcPts val="0"/>
              </a:spcAft>
            </a:pPr>
            <a:r>
              <a:rPr sz="1350" b="0">
                <a:solidFill>
                  <a:srgbClr val="4A4F57"/>
                </a:solidFill>
                <a:latin typeface="Calibri"/>
              </a:rPr>
              <a:t>With a severity; the owner defaults to the model's, the due date to the severity's window: 30, 90, 180 or 365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Remediated</a:t>
            </a:r>
          </a:p>
          <a:p>
            <a:pPr lvl="1">
              <a:lnSpc>
                <a:spcPct val="120000"/>
              </a:lnSpc>
              <a:spcBef>
                <a:spcPts val="0"/>
              </a:spcBef>
              <a:spcAft>
                <a:spcPts val="0"/>
              </a:spcAft>
            </a:pPr>
            <a:r>
              <a:rPr sz="1350" b="0">
                <a:solidFill>
                  <a:srgbClr val="4A4F57"/>
                </a:solidFill>
                <a:latin typeface="Calibri"/>
              </a:rPr>
              <a:t>By the owner, often as a new model version.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Closed</a:t>
            </a:r>
          </a:p>
          <a:p>
            <a:pPr lvl="1">
              <a:lnSpc>
                <a:spcPct val="120000"/>
              </a:lnSpc>
              <a:spcBef>
                <a:spcPts val="0"/>
              </a:spcBef>
              <a:spcAft>
                <a:spcPts val="0"/>
              </a:spcAft>
            </a:pPr>
            <a:r>
              <a:rPr sz="1350" b="0">
                <a:solidFill>
                  <a:srgbClr val="4A4F57"/>
                </a:solidFill>
                <a:latin typeface="Calibri"/>
              </a:rPr>
              <a:t>Only by someone who did not remediate it — or sent back as not fixed.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Accepted</a:t>
            </a:r>
          </a:p>
          <a:p>
            <a:pPr lvl="1">
              <a:lnSpc>
                <a:spcPct val="120000"/>
              </a:lnSpc>
              <a:spcBef>
                <a:spcPts val="0"/>
              </a:spcBef>
              <a:spcAft>
                <a:spcPts val="0"/>
              </a:spcAft>
            </a:pPr>
            <a:r>
              <a:rPr sz="1350" b="0">
                <a:solidFill>
                  <a:srgbClr val="4A4F57"/>
                </a:solidFill>
                <a:latin typeface="Calibri"/>
              </a:rPr>
              <a:t>The risk kept rather than fixed: a written reason, never the model owner's call.</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In a case study</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Study 09</a:t>
            </a:r>
          </a:p>
          <a:p>
            <a:pPr lvl="1">
              <a:lnSpc>
                <a:spcPct val="120000"/>
              </a:lnSpc>
              <a:spcBef>
                <a:spcPts val="0"/>
              </a:spcBef>
              <a:spcAft>
                <a:spcPts val="0"/>
              </a:spcAft>
            </a:pPr>
            <a:r>
              <a:rPr sz="1350" b="0">
                <a:solidFill>
                  <a:srgbClr val="4A4F57"/>
                </a:solidFill>
                <a:latin typeface="Calibri"/>
              </a:rPr>
              <a:t>Version 1 of the Basel formula misses the maturity floor and cap: a high finding, fixed as version 2, the owner refused when she tries to close her own fix.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A unisex mortality table's bias by sex: a finding accepted by a manager, citing the ruling that forbids pricing by sex.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MATERIALITY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A tier derived from evidence, then from the firm's own questionnaire</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Tier 1 is the most material. The tier is the highest driver's score — one tier higher for a black box — and every driver is shown beside it. An override needs a reason, and one that lowers materiality is flagged.</a:t>
            </a:r>
          </a:p>
        </p:txBody>
      </p:sp>
      <p:graphicFrame>
        <p:nvGraphicFramePr>
          <p:cNvPr id="11" name="Table 10"/>
          <p:cNvGraphicFramePr>
            <a:graphicFrameLocks noGrp="1"/>
          </p:cNvGraphicFramePr>
          <p:nvPr/>
        </p:nvGraphicFramePr>
        <p:xfrm>
          <a:off x="777240" y="1960181"/>
          <a:ext cx="10637214" cy="3341306"/>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Driver</a:t>
                      </a:r>
                    </a:p>
                  </a:txBody>
                  <a:tcPr marL="82296" marR="64008" marT="32004" marB="32004" anchor="ctr">
                    <a:solidFill>
                      <a:srgbClr val="A51C30"/>
                    </a:solidFill>
                  </a:tcPr>
                </a:tc>
                <a:tc>
                  <a:txBody>
                    <a:bodyPr wrap="square"/>
                    <a:lstStyle/>
                    <a:p>
                      <a:r>
                        <a:rPr sz="1300" b="1">
                          <a:solidFill>
                            <a:srgbClr val="FFFFFF"/>
                          </a:solidFill>
                          <a:latin typeface="Calibri"/>
                        </a:rPr>
                        <a:t>Where it comes from</a:t>
                      </a:r>
                    </a:p>
                  </a:txBody>
                  <a:tcPr marL="82296" marR="64008" marT="32004" marB="32004" anchor="ctr">
                    <a:solidFill>
                      <a:srgbClr val="A51C30"/>
                    </a:solidFill>
                  </a:tcPr>
                </a:tc>
                <a:tc>
                  <a:txBody>
                    <a:bodyPr wrap="square"/>
                    <a:lstStyle/>
                    <a:p>
                      <a:r>
                        <a:rPr sz="1300" b="1">
                          <a:solidFill>
                            <a:srgbClr val="FFFFFF"/>
                          </a:solidFill>
                          <a:latin typeface="Calibri"/>
                        </a:rPr>
                        <a:t>Scores</a:t>
                      </a:r>
                    </a:p>
                  </a:txBody>
                  <a:tcPr marL="82296" marR="64008" marT="32004" marB="32004" anchor="ctr">
                    <a:solidFill>
                      <a:srgbClr val="A51C30"/>
                    </a:solidFill>
                  </a:tcPr>
                </a:tc>
              </a:tr>
              <a:tr h="784479">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Declared by the owner: regulatory, financial reporting, business decision, internal</a:t>
                      </a:r>
                    </a:p>
                  </a:txBody>
                  <a:tcPr marL="82296" marR="64008" marT="32004" marB="32004" anchor="ctr">
                    <a:solidFill>
                      <a:srgbClr val="FFFFFF"/>
                    </a:solidFill>
                  </a:tcPr>
                </a:tc>
                <a:tc>
                  <a:txBody>
                    <a:bodyPr wrap="square"/>
                    <a:lstStyle/>
                    <a:p>
                      <a:r>
                        <a:rPr sz="1400" b="0">
                          <a:solidFill>
                            <a:srgbClr val="1C1C1E"/>
                          </a:solidFill>
                          <a:latin typeface="Calibri"/>
                        </a:rPr>
                        <a:t>3 · 3 · 2 · 1</a:t>
                      </a:r>
                    </a:p>
                  </a:txBody>
                  <a:tcPr marL="82296" marR="64008" marT="32004" marB="32004" anchor="ctr">
                    <a:solidFill>
                      <a:srgbClr val="FFFFFF"/>
                    </a:solidFill>
                  </a:tcPr>
                </a:tc>
              </a:tr>
              <a:tr h="334645">
                <a:tc>
                  <a:txBody>
                    <a:bodyPr wrap="square"/>
                    <a:lstStyle/>
                    <a:p>
                      <a:r>
                        <a:rPr sz="1400" b="1">
                          <a:solidFill>
                            <a:srgbClr val="761422"/>
                          </a:solidFill>
                          <a:latin typeface="Calibri"/>
                        </a:rPr>
                        <a:t>Exposure</a:t>
                      </a:r>
                    </a:p>
                  </a:txBody>
                  <a:tcPr marL="82296" marR="64008" marT="32004" marB="32004" anchor="ctr">
                    <a:solidFill>
                      <a:srgbClr val="F6F3EF"/>
                    </a:solidFill>
                  </a:tcPr>
                </a:tc>
                <a:tc>
                  <a:txBody>
                    <a:bodyPr wrap="square"/>
                    <a:lstStyle/>
                    <a:p>
                      <a:r>
                        <a:rPr sz="1400" b="0">
                          <a:solidFill>
                            <a:srgbClr val="1C1C1E"/>
                          </a:solidFill>
                          <a:latin typeface="Calibri"/>
                        </a:rPr>
                        <a:t>Declared by the owner</a:t>
                      </a:r>
                    </a:p>
                  </a:txBody>
                  <a:tcPr marL="82296" marR="64008" marT="32004" marB="32004" anchor="ctr">
                    <a:solidFill>
                      <a:srgbClr val="F6F3EF"/>
                    </a:solidFill>
                  </a:tcPr>
                </a:tc>
                <a:tc>
                  <a:txBody>
                    <a:bodyPr wrap="square"/>
                    <a:lstStyle/>
                    <a:p>
                      <a:r>
                        <a:rPr sz="1400" b="0">
                          <a:solidFill>
                            <a:srgbClr val="1C1C1E"/>
                          </a:solidFill>
                          <a:latin typeface="Calibri"/>
                        </a:rPr>
                        <a:t>3 over 1bn, 2 over 10m</a:t>
                      </a:r>
                    </a:p>
                  </a:txBody>
                  <a:tcPr marL="82296" marR="64008" marT="32004" marB="32004" anchor="ctr">
                    <a:solidFill>
                      <a:srgbClr val="F6F3EF"/>
                    </a:solidFill>
                  </a:tcPr>
                </a:tc>
              </a:tr>
              <a:tr h="559562">
                <a:tc>
                  <a:txBody>
                    <a:bodyPr wrap="square"/>
                    <a:lstStyle/>
                    <a:p>
                      <a:r>
                        <a:rPr sz="1400" b="1">
                          <a:solidFill>
                            <a:srgbClr val="761422"/>
                          </a:solidFill>
                          <a:latin typeface="Calibri"/>
                        </a:rPr>
                        <a:t>Reach</a:t>
                      </a:r>
                    </a:p>
                  </a:txBody>
                  <a:tcPr marL="82296" marR="64008" marT="32004" marB="32004" anchor="ctr">
                    <a:solidFill>
                      <a:srgbClr val="FFFFFF"/>
                    </a:solidFill>
                  </a:tcPr>
                </a:tc>
                <a:tc>
                  <a:txBody>
                    <a:bodyPr wrap="square"/>
                    <a:lstStyle/>
                    <a:p>
                      <a:r>
                        <a:rPr sz="1400" b="0">
                          <a:solidFill>
                            <a:srgbClr val="1C1C1E"/>
                          </a:solidFill>
                          <a:latin typeface="Calibri"/>
                        </a:rPr>
                        <a:t>Measured: live execution warrants and executions</a:t>
                      </a:r>
                    </a:p>
                  </a:txBody>
                  <a:tcPr marL="82296" marR="64008" marT="32004" marB="32004" anchor="ctr">
                    <a:solidFill>
                      <a:srgbClr val="FFFFFF"/>
                    </a:solidFill>
                  </a:tcPr>
                </a:tc>
                <a:tc>
                  <a:txBody>
                    <a:bodyPr wrap="square"/>
                    <a:lstStyle/>
                    <a:p>
                      <a:r>
                        <a:rPr sz="1400" b="0">
                          <a:solidFill>
                            <a:srgbClr val="1C1C1E"/>
                          </a:solidFill>
                          <a:latin typeface="Calibri"/>
                        </a:rPr>
                        <a:t>3 at three warrants or 10,000 runs</a:t>
                      </a:r>
                    </a:p>
                  </a:txBody>
                  <a:tcPr marL="82296" marR="64008" marT="32004" marB="32004" anchor="ctr">
                    <a:solidFill>
                      <a:srgbClr val="FFFFFF"/>
                    </a:solidFill>
                  </a:tcPr>
                </a:tc>
              </a:tr>
              <a:tr h="334645">
                <a:tc>
                  <a:txBody>
                    <a:bodyPr wrap="square"/>
                    <a:lstStyle/>
                    <a:p>
                      <a:r>
                        <a:rPr sz="1400" b="1">
                          <a:solidFill>
                            <a:srgbClr val="761422"/>
                          </a:solidFill>
                          <a:latin typeface="Calibri"/>
                        </a:rPr>
                        <a:t>Transparency</a:t>
                      </a:r>
                    </a:p>
                  </a:txBody>
                  <a:tcPr marL="82296" marR="64008" marT="32004" marB="32004" anchor="ctr">
                    <a:solidFill>
                      <a:srgbClr val="F6F3EF"/>
                    </a:solidFill>
                  </a:tcPr>
                </a:tc>
                <a:tc>
                  <a:txBody>
                    <a:bodyPr wrap="square"/>
                    <a:lstStyle/>
                    <a:p>
                      <a:r>
                        <a:rPr sz="1400" b="0">
                          <a:solidFill>
                            <a:srgbClr val="1C1C1E"/>
                          </a:solidFill>
                          <a:latin typeface="Calibri"/>
                        </a:rPr>
                        <a:t>Measured: formula or black box</a:t>
                      </a:r>
                    </a:p>
                  </a:txBody>
                  <a:tcPr marL="82296" marR="64008" marT="32004" marB="32004" anchor="ctr">
                    <a:solidFill>
                      <a:srgbClr val="F6F3EF"/>
                    </a:solidFill>
                  </a:tcPr>
                </a:tc>
                <a:tc>
                  <a:txBody>
                    <a:bodyPr wrap="square"/>
                    <a:lstStyle/>
                    <a:p>
                      <a:r>
                        <a:rPr sz="1400" b="0">
                          <a:solidFill>
                            <a:srgbClr val="1C1C1E"/>
                          </a:solidFill>
                          <a:latin typeface="Calibri"/>
                        </a:rPr>
                        <a:t>+1 tier for a black box</a:t>
                      </a:r>
                    </a:p>
                  </a:txBody>
                  <a:tcPr marL="82296" marR="64008" marT="32004" marB="32004" anchor="ctr">
                    <a:solidFill>
                      <a:srgbClr val="F6F3EF"/>
                    </a:solidFill>
                  </a:tcPr>
                </a:tc>
              </a:tr>
              <a:tr h="1009396">
                <a:tc>
                  <a:txBody>
                    <a:bodyPr wrap="square"/>
                    <a:lstStyle/>
                    <a:p>
                      <a:r>
                        <a:rPr sz="1400" b="1">
                          <a:solidFill>
                            <a:srgbClr val="761422"/>
                          </a:solidFill>
                          <a:latin typeface="Calibri"/>
                        </a:rPr>
                        <a:t>Questionnaire</a:t>
                      </a:r>
                    </a:p>
                  </a:txBody>
                  <a:tcPr marL="82296" marR="64008" marT="32004" marB="32004" anchor="ctr">
                    <a:solidFill>
                      <a:srgbClr val="FFFFFF"/>
                    </a:solidFill>
                  </a:tcPr>
                </a:tc>
                <a:tc>
                  <a:txBody>
                    <a:bodyPr wrap="square"/>
                    <a:lstStyle/>
                    <a:p>
                      <a:r>
                        <a:rPr sz="1400" b="0">
                          <a:solidFill>
                            <a:srgbClr val="1C1C1E"/>
                          </a:solidFill>
                          <a:latin typeface="Calibri"/>
                        </a:rPr>
                        <a:t>The firm's file, config/tiering.yaml: automation, customer impact, reporting, complexity</a:t>
                      </a:r>
                    </a:p>
                  </a:txBody>
                  <a:tcPr marL="82296" marR="64008" marT="32004" marB="32004" anchor="ctr">
                    <a:solidFill>
                      <a:srgbClr val="FFFFFF"/>
                    </a:solidFill>
                  </a:tcPr>
                </a:tc>
                <a:tc>
                  <a:txBody>
                    <a:bodyPr wrap="square"/>
                    <a:lstStyle/>
                    <a:p>
                      <a:r>
                        <a:rPr sz="1400" b="0">
                          <a:solidFill>
                            <a:srgbClr val="1C1C1E"/>
                          </a:solidFill>
                          <a:latin typeface="Calibri"/>
                        </a:rPr>
                        <a:t>The highest answer, or points against thresholds</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PERIODIC REVIEW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overdue review stops the model running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Tier sets the interval</a:t>
            </a:r>
          </a:p>
        </p:txBody>
      </p:sp>
      <p:sp>
        <p:nvSpPr>
          <p:cNvPr id="13" name="TextBox 12"/>
          <p:cNvSpPr txBox="1"/>
          <p:nvPr/>
        </p:nvSpPr>
        <p:spPr>
          <a:xfrm>
            <a:off x="960120" y="2157095"/>
            <a:ext cx="1556857" cy="8392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two or three years, or per model</a:t>
            </a:r>
          </a:p>
        </p:txBody>
      </p:sp>
      <p:sp>
        <p:nvSpPr>
          <p:cNvPr id="14" name="Rectangle 13"/>
          <p:cNvSpPr/>
          <p:nvPr/>
        </p:nvSpPr>
        <p:spPr>
          <a:xfrm>
            <a:off x="2955889"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Due date</a:t>
            </a:r>
          </a:p>
        </p:txBody>
      </p:sp>
      <p:sp>
        <p:nvSpPr>
          <p:cNvPr id="17" name="TextBox 16"/>
          <p:cNvSpPr txBox="1"/>
          <p:nvPr/>
        </p:nvSpPr>
        <p:spPr>
          <a:xfrm>
            <a:off x="3138769"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From the last review, or the first approval</a:t>
            </a:r>
          </a:p>
        </p:txBody>
      </p:sp>
      <p:cxnSp>
        <p:nvCxnSpPr>
          <p:cNvPr id="18" name="Connector 17"/>
          <p:cNvCxnSpPr/>
          <p:nvPr/>
        </p:nvCxnSpPr>
        <p:spPr>
          <a:xfrm>
            <a:off x="2727289"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3453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sweep</a:t>
            </a:r>
          </a:p>
        </p:txBody>
      </p:sp>
      <p:sp>
        <p:nvSpPr>
          <p:cNvPr id="22" name="TextBox 21"/>
          <p:cNvSpPr txBox="1"/>
          <p:nvPr/>
        </p:nvSpPr>
        <p:spPr>
          <a:xfrm>
            <a:off x="531741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Hourly: an overdue model's live warrants are suspended</a:t>
            </a:r>
          </a:p>
        </p:txBody>
      </p:sp>
      <p:cxnSp>
        <p:nvCxnSpPr>
          <p:cNvPr id="23" name="Connector 22"/>
          <p:cNvCxnSpPr/>
          <p:nvPr/>
        </p:nvCxnSpPr>
        <p:spPr>
          <a:xfrm>
            <a:off x="490593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13188"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review</a:t>
            </a:r>
          </a:p>
        </p:txBody>
      </p:sp>
      <p:sp>
        <p:nvSpPr>
          <p:cNvPr id="27" name="TextBox 26"/>
          <p:cNvSpPr txBox="1"/>
          <p:nvPr/>
        </p:nvSpPr>
        <p:spPr>
          <a:xfrm>
            <a:off x="7496068"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Recorded by someone other than the owner</a:t>
            </a:r>
          </a:p>
        </p:txBody>
      </p:sp>
      <p:cxnSp>
        <p:nvCxnSpPr>
          <p:cNvPr id="28" name="Connector 27"/>
          <p:cNvCxnSpPr/>
          <p:nvPr/>
        </p:nvCxnSpPr>
        <p:spPr>
          <a:xfrm>
            <a:off x="7084588"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491837" y="1386967"/>
            <a:ext cx="1922617"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Lifted</a:t>
            </a:r>
          </a:p>
        </p:txBody>
      </p:sp>
      <p:sp>
        <p:nvSpPr>
          <p:cNvPr id="32" name="TextBox 31"/>
          <p:cNvSpPr txBox="1"/>
          <p:nvPr/>
        </p:nvSpPr>
        <p:spPr>
          <a:xfrm>
            <a:off x="9674717" y="1900047"/>
            <a:ext cx="1556857"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Exactly the suspensions the sweep made, and no others</a:t>
            </a:r>
          </a:p>
        </p:txBody>
      </p:sp>
      <p:cxnSp>
        <p:nvCxnSpPr>
          <p:cNvPr id="33" name="Connector 32"/>
          <p:cNvCxnSpPr/>
          <p:nvPr/>
        </p:nvCxnSpPr>
        <p:spPr>
          <a:xfrm>
            <a:off x="9263237" y="225564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34639"/>
            <a:ext cx="10637215" cy="291071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Suspension is the same mechanism a covenant breach uses, so a production service asking for its bundle is refused and told whom to contact. A review is not a reminder in someone's calendar; it is a condition of running.</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warrant suspended for a breach stays suspended when a review is recorded: lifting one kind of suspension never lifts another.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ONGOING MONITORING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live model graded ok, watch or breach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attested run reports its row count and per-input statistics. The dashboards read those reports as series, and grade every sealed warrant.</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grades</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Breach</a:t>
            </a:r>
          </a:p>
          <a:p>
            <a:pPr lvl="1">
              <a:lnSpc>
                <a:spcPct val="120000"/>
              </a:lnSpc>
              <a:spcBef>
                <a:spcPts val="0"/>
              </a:spcBef>
              <a:spcAft>
                <a:spcPts val="0"/>
              </a:spcAft>
            </a:pPr>
            <a:r>
              <a:rPr sz="1350" b="0">
                <a:solidFill>
                  <a:srgbClr val="4A4F57"/>
                </a:solidFill>
                <a:latin typeface="Calibri"/>
              </a:rPr>
              <a:t>Suspended, or a covenant broken in the last seven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Watch</a:t>
            </a:r>
          </a:p>
          <a:p>
            <a:pPr lvl="1">
              <a:lnSpc>
                <a:spcPct val="120000"/>
              </a:lnSpc>
              <a:spcBef>
                <a:spcPts val="0"/>
              </a:spcBef>
              <a:spcAft>
                <a:spcPts val="0"/>
              </a:spcAft>
            </a:pPr>
            <a:r>
              <a:rPr sz="1350" b="0">
                <a:solidFill>
                  <a:srgbClr val="4A4F57"/>
                </a:solidFill>
                <a:latin typeface="Calibri"/>
              </a:rPr>
              <a:t>A population stability index between 0.10 and the covenant; a null rate at least double its median; a live model silent for thirty days.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Ok</a:t>
            </a:r>
          </a:p>
          <a:p>
            <a:pPr lvl="1">
              <a:lnSpc>
                <a:spcPct val="120000"/>
              </a:lnSpc>
              <a:spcBef>
                <a:spcPts val="0"/>
              </a:spcBef>
              <a:spcAft>
                <a:spcPts val="0"/>
              </a:spcAft>
            </a:pPr>
            <a:r>
              <a:rPr sz="1350" b="0">
                <a:solidFill>
                  <a:srgbClr val="4A4F57"/>
                </a:solidFill>
                <a:latin typeface="Calibri"/>
              </a:rPr>
              <a:t>None of those.</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Per warrant</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Volume</a:t>
            </a:r>
          </a:p>
          <a:p>
            <a:pPr lvl="1">
              <a:lnSpc>
                <a:spcPct val="120000"/>
              </a:lnSpc>
              <a:spcBef>
                <a:spcPts val="0"/>
              </a:spcBef>
              <a:spcAft>
                <a:spcPts val="0"/>
              </a:spcAft>
            </a:pPr>
            <a:r>
              <a:rPr sz="1350" b="0">
                <a:solidFill>
                  <a:srgbClr val="4A4F57"/>
                </a:solidFill>
                <a:latin typeface="Calibri"/>
              </a:rPr>
              <a:t>Rows and runs per day.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 input and output</a:t>
            </a:r>
          </a:p>
          <a:p>
            <a:pPr lvl="1">
              <a:lnSpc>
                <a:spcPct val="120000"/>
              </a:lnSpc>
              <a:spcBef>
                <a:spcPts val="0"/>
              </a:spcBef>
              <a:spcAft>
                <a:spcPts val="0"/>
              </a:spcAft>
            </a:pPr>
            <a:r>
              <a:rPr sz="1350" b="0">
                <a:solidFill>
                  <a:srgbClr val="4A4F57"/>
                </a:solidFill>
                <a:latin typeface="Calibri"/>
              </a:rPr>
              <a:t>PSI against the baseline the covenant was drawn with, null rate, mean — covenant bounds drawn as lines, breaches marked on the time axis.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19</a:t>
            </a:r>
          </a:p>
          <a:p>
            <a:pPr lvl="1">
              <a:lnSpc>
                <a:spcPct val="120000"/>
              </a:lnSpc>
              <a:spcBef>
                <a:spcPts val="0"/>
              </a:spcBef>
              <a:spcAft>
                <a:spcPts val="0"/>
              </a:spcAft>
            </a:pPr>
            <a:r>
              <a:rPr sz="1350" b="0">
                <a:solidFill>
                  <a:srgbClr val="4A4F57"/>
                </a:solidFill>
                <a:latin typeface="Calibri"/>
              </a:rPr>
              <a:t>A bureau score goes ok, watch, breach over three months as utilisation drifts: PSI 0.009, 0.109, 0.438.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CHAMPION AND CHALLENGER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Replacing a model on evidence, not on two numbers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warrants drawn on the same pin with the same seed hold the same escrowed rows. MAYA scores both, keeps the per-row errors to itself, and compares them row by row.</a:t>
            </a:r>
          </a:p>
        </p:txBody>
      </p:sp>
      <p:sp>
        <p:nvSpPr>
          <p:cNvPr id="11" name="Rectangle 10"/>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reported</a:t>
            </a:r>
          </a:p>
        </p:txBody>
      </p:sp>
      <p:sp>
        <p:nvSpPr>
          <p:cNvPr id="14" name="TextBox 13"/>
          <p:cNvSpPr txBox="1"/>
          <p:nvPr/>
        </p:nvSpPr>
        <p:spPr>
          <a:xfrm>
            <a:off x="777240"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difference</a:t>
            </a:r>
          </a:p>
          <a:p>
            <a:pPr lvl="1">
              <a:lnSpc>
                <a:spcPct val="120000"/>
              </a:lnSpc>
              <a:spcBef>
                <a:spcPts val="0"/>
              </a:spcBef>
              <a:spcAft>
                <a:spcPts val="0"/>
              </a:spcAft>
            </a:pPr>
            <a:r>
              <a:rPr sz="1350" b="0">
                <a:solidFill>
                  <a:srgbClr val="4A4F57"/>
                </a:solidFill>
                <a:latin typeface="Calibri"/>
              </a:rPr>
              <a:t>In RMSE or MAE, challenger minus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paired bootstrap interval</a:t>
            </a:r>
          </a:p>
          <a:p>
            <a:pPr lvl="1">
              <a:lnSpc>
                <a:spcPct val="120000"/>
              </a:lnSpc>
              <a:spcBef>
                <a:spcPts val="0"/>
              </a:spcBef>
              <a:spcAft>
                <a:spcPts val="0"/>
              </a:spcAft>
            </a:pPr>
            <a:r>
              <a:rPr sz="1350" b="0">
                <a:solidFill>
                  <a:srgbClr val="4A4F57"/>
                </a:solidFill>
                <a:latin typeface="Calibri"/>
              </a:rPr>
              <a:t>95%, 2,000 draws, a fixed seed: the same challenge gives the same interval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verdict</a:t>
            </a:r>
          </a:p>
          <a:p>
            <a:pPr lvl="1">
              <a:lnSpc>
                <a:spcPct val="120000"/>
              </a:lnSpc>
              <a:spcBef>
                <a:spcPts val="0"/>
              </a:spcBef>
              <a:spcAft>
                <a:spcPts val="0"/>
              </a:spcAft>
            </a:pPr>
            <a:r>
              <a:rPr sz="1350" b="0">
                <a:solidFill>
                  <a:srgbClr val="4A4F57"/>
                </a:solidFill>
                <a:latin typeface="Calibri"/>
              </a:rPr>
              <a:t>Challenger better only if the whole interval is below zero.</a:t>
            </a:r>
          </a:p>
        </p:txBody>
      </p:sp>
      <p:sp>
        <p:nvSpPr>
          <p:cNvPr id="15" name="Rectangle 14"/>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refused</a:t>
            </a:r>
          </a:p>
        </p:txBody>
      </p:sp>
      <p:sp>
        <p:nvSpPr>
          <p:cNvPr id="18" name="TextBox 17"/>
          <p:cNvSpPr txBox="1"/>
          <p:nvPr/>
        </p:nvSpPr>
        <p:spPr>
          <a:xfrm>
            <a:off x="6278727" y="2552573"/>
            <a:ext cx="5135727" cy="369277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Different holdouts</a:t>
            </a:r>
          </a:p>
          <a:p>
            <a:pPr lvl="1">
              <a:lnSpc>
                <a:spcPct val="120000"/>
              </a:lnSpc>
              <a:spcBef>
                <a:spcPts val="0"/>
              </a:spcBef>
              <a:spcAft>
                <a:spcPts val="0"/>
              </a:spcAft>
            </a:pPr>
            <a:r>
              <a:rPr sz="1350" b="0">
                <a:solidFill>
                  <a:srgbClr val="4A4F57"/>
                </a:solidFill>
                <a:latin typeface="Calibri"/>
              </a:rPr>
              <a:t>Warrants whose holdout hashes differ are not compared at all.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author deciding</a:t>
            </a:r>
          </a:p>
          <a:p>
            <a:pPr lvl="1">
              <a:lnSpc>
                <a:spcPct val="120000"/>
              </a:lnSpc>
              <a:spcBef>
                <a:spcPts val="0"/>
              </a:spcBef>
              <a:spcAft>
                <a:spcPts val="0"/>
              </a:spcAft>
            </a:pPr>
            <a:r>
              <a:rPr sz="1350" b="0">
                <a:solidFill>
                  <a:srgbClr val="4A4F57"/>
                </a:solidFill>
                <a:latin typeface="Calibri"/>
              </a:rPr>
              <a:t>Whoever owns the challenger does not decide whether it replaces the champion.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42</a:t>
            </a:r>
          </a:p>
          <a:p>
            <a:pPr lvl="1">
              <a:lnSpc>
                <a:spcPct val="120000"/>
              </a:lnSpc>
              <a:spcBef>
                <a:spcPts val="0"/>
              </a:spcBef>
              <a:spcAft>
                <a:spcPts val="0"/>
              </a:spcAft>
            </a:pPr>
            <a:r>
              <a:rPr sz="1350" b="0">
                <a:solidFill>
                  <a:srgbClr val="4A4F57"/>
                </a:solidFill>
                <a:latin typeface="Calibri"/>
              </a:rPr>
              <a:t>A log-log demand model beats the linear champion: −0.031, interval [−0.040, −0.022], winning only 60% of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FAIRNESS AND EXPLAINABILITY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Error by segment, and what the model leans 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Computed on the escrowed holdout, so each run counts as a holdout attempt; only aggregates are kept.</a:t>
            </a:r>
          </a:p>
        </p:txBody>
      </p:sp>
      <p:sp>
        <p:nvSpPr>
          <p:cNvPr id="11" name="Rectangle 10"/>
          <p:cNvSpPr/>
          <p:nvPr/>
        </p:nvSpPr>
        <p:spPr>
          <a:xfrm>
            <a:off x="777240"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By segment</a:t>
            </a:r>
          </a:p>
        </p:txBody>
      </p:sp>
      <p:sp>
        <p:nvSpPr>
          <p:cNvPr id="14" name="TextBox 13"/>
          <p:cNvSpPr txBox="1"/>
          <p:nvPr/>
        </p:nvSpPr>
        <p:spPr>
          <a:xfrm>
            <a:off x="777240"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 segment</a:t>
            </a:r>
          </a:p>
          <a:p>
            <a:pPr lvl="1">
              <a:lnSpc>
                <a:spcPct val="120000"/>
              </a:lnSpc>
              <a:spcBef>
                <a:spcPts val="0"/>
              </a:spcBef>
              <a:spcAft>
                <a:spcPts val="0"/>
              </a:spcAft>
            </a:pPr>
            <a:r>
              <a:rPr sz="1350" b="0">
                <a:solidFill>
                  <a:srgbClr val="4A4F57"/>
                </a:solidFill>
                <a:latin typeface="Calibri"/>
              </a:rPr>
              <a:t>RMSE, MAE, bias and mean prediction for each value of a column you name.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Flagged</a:t>
            </a:r>
          </a:p>
          <a:p>
            <a:pPr lvl="1">
              <a:lnSpc>
                <a:spcPct val="120000"/>
              </a:lnSpc>
              <a:spcBef>
                <a:spcPts val="0"/>
              </a:spcBef>
              <a:spcAft>
                <a:spcPts val="0"/>
              </a:spcAft>
            </a:pPr>
            <a:r>
              <a:rPr sz="1350" b="0">
                <a:solidFill>
                  <a:srgbClr val="4A4F57"/>
                </a:solidFill>
                <a:latin typeface="Calibri"/>
              </a:rPr>
              <a:t>MAE more than a quarter above the overall figure.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Systematic</a:t>
            </a:r>
          </a:p>
          <a:p>
            <a:pPr lvl="1">
              <a:lnSpc>
                <a:spcPct val="120000"/>
              </a:lnSpc>
              <a:spcBef>
                <a:spcPts val="0"/>
              </a:spcBef>
              <a:spcAft>
                <a:spcPts val="0"/>
              </a:spcAft>
            </a:pPr>
            <a:r>
              <a:rPr sz="1350" b="0">
                <a:solidFill>
                  <a:srgbClr val="4A4F57"/>
                </a:solidFill>
                <a:latin typeface="Calibri"/>
              </a:rPr>
              <a:t>Bias more than half the MAE: wrong mostly in one direction, which equal MAEs hide.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Suppressed</a:t>
            </a:r>
          </a:p>
          <a:p>
            <a:pPr lvl="1">
              <a:lnSpc>
                <a:spcPct val="120000"/>
              </a:lnSpc>
              <a:spcBef>
                <a:spcPts val="0"/>
              </a:spcBef>
              <a:spcAft>
                <a:spcPts val="0"/>
              </a:spcAft>
            </a:pPr>
            <a:r>
              <a:rPr sz="1350" b="0">
                <a:solidFill>
                  <a:srgbClr val="4A4F57"/>
                </a:solidFill>
                <a:latin typeface="Calibri"/>
              </a:rPr>
              <a:t>A segment under twenty rows gets no figures: a mean over three rows is three rows.</a:t>
            </a:r>
          </a:p>
        </p:txBody>
      </p:sp>
      <p:sp>
        <p:nvSpPr>
          <p:cNvPr id="15" name="Rectangle 14"/>
          <p:cNvSpPr/>
          <p:nvPr/>
        </p:nvSpPr>
        <p:spPr>
          <a:xfrm>
            <a:off x="6278727" y="179603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79603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186918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drives it</a:t>
            </a:r>
          </a:p>
        </p:txBody>
      </p:sp>
      <p:sp>
        <p:nvSpPr>
          <p:cNvPr id="18" name="TextBox 17"/>
          <p:cNvSpPr txBox="1"/>
          <p:nvPr/>
        </p:nvSpPr>
        <p:spPr>
          <a:xfrm>
            <a:off x="6278727" y="2308098"/>
            <a:ext cx="5135727" cy="393725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Permutation importance</a:t>
            </a:r>
          </a:p>
          <a:p>
            <a:pPr lvl="1">
              <a:lnSpc>
                <a:spcPct val="120000"/>
              </a:lnSpc>
              <a:spcBef>
                <a:spcPts val="0"/>
              </a:spcBef>
              <a:spcAft>
                <a:spcPts val="0"/>
              </a:spcAft>
            </a:pPr>
            <a:r>
              <a:rPr sz="1350" b="0">
                <a:solidFill>
                  <a:srgbClr val="4A4F57"/>
                </a:solidFill>
                <a:latin typeface="Calibri"/>
              </a:rPr>
              <a:t>Each input shuffled, seeded and repeated; the rise in error is its importance.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Black boxes too</a:t>
            </a:r>
          </a:p>
          <a:p>
            <a:pPr lvl="1">
              <a:lnSpc>
                <a:spcPct val="120000"/>
              </a:lnSpc>
              <a:spcBef>
                <a:spcPts val="0"/>
              </a:spcBef>
              <a:spcAft>
                <a:spcPts val="0"/>
              </a:spcAft>
            </a:pPr>
            <a:r>
              <a:rPr sz="1350" b="0">
                <a:solidFill>
                  <a:srgbClr val="4A4F57"/>
                </a:solidFill>
                <a:latin typeface="Calibri"/>
              </a:rPr>
              <a:t>It needs only predictions, so a black box is measured through the sandbox.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45</a:t>
            </a:r>
          </a:p>
          <a:p>
            <a:pPr lvl="1">
              <a:lnSpc>
                <a:spcPct val="120000"/>
              </a:lnSpc>
              <a:spcBef>
                <a:spcPts val="0"/>
              </a:spcBef>
              <a:spcAft>
                <a:spcPts val="0"/>
              </a:spcAft>
            </a:pPr>
            <a:r>
              <a:rPr sz="1350" b="0">
                <a:solidFill>
                  <a:srgbClr val="4A4F57"/>
                </a:solidFill>
                <a:latin typeface="Calibri"/>
              </a:rPr>
              <a:t>Men's and women's errors are the same size — MAE ratio 1.08 — and in opposite directions: both segments systematic.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SUPERVISORY INVENTORY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One row per model, in the layout the supervisor asks for</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a model risk function works in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Exported as Excel, CSV or JSON in an SR 11-7 or SS1/23 layout, built from the records MAYA keeps, so it cannot drift from them. The file says how many models the exporter could not see.</a:t>
            </a:r>
          </a:p>
        </p:txBody>
      </p:sp>
      <p:graphicFrame>
        <p:nvGraphicFramePr>
          <p:cNvPr id="11" name="Table 10"/>
          <p:cNvGraphicFramePr>
            <a:graphicFrameLocks noGrp="1"/>
          </p:cNvGraphicFramePr>
          <p:nvPr/>
        </p:nvGraphicFramePr>
        <p:xfrm>
          <a:off x="777240" y="2024443"/>
          <a:ext cx="10637214" cy="2891472"/>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Column group</a:t>
                      </a:r>
                    </a:p>
                  </a:txBody>
                  <a:tcPr marL="82296" marR="64008" marT="32004" marB="32004" anchor="ctr">
                    <a:solidFill>
                      <a:srgbClr val="A51C30"/>
                    </a:solidFill>
                  </a:tcPr>
                </a:tc>
                <a:tc>
                  <a:txBody>
                    <a:bodyPr wrap="square"/>
                    <a:lstStyle/>
                    <a:p>
                      <a:r>
                        <a:rPr sz="1300" b="1">
                          <a:solidFill>
                            <a:srgbClr val="FFFFFF"/>
                          </a:solidFill>
                          <a:latin typeface="Calibri"/>
                        </a:rPr>
                        <a:t>What it holds</a:t>
                      </a:r>
                    </a:p>
                  </a:txBody>
                  <a:tcPr marL="82296" marR="64008" marT="32004" marB="32004" anchor="ctr">
                    <a:solidFill>
                      <a:srgbClr val="A51C30"/>
                    </a:solidFill>
                  </a:tcPr>
                </a:tc>
              </a:tr>
              <a:tr h="334645">
                <a:tc>
                  <a:txBody>
                    <a:bodyPr wrap="square"/>
                    <a:lstStyle/>
                    <a:p>
                      <a:r>
                        <a:rPr sz="1400" b="1">
                          <a:solidFill>
                            <a:srgbClr val="761422"/>
                          </a:solidFill>
                          <a:latin typeface="Calibri"/>
                        </a:rPr>
                        <a:t>Identity</a:t>
                      </a:r>
                    </a:p>
                  </a:txBody>
                  <a:tcPr marL="82296" marR="64008" marT="32004" marB="32004" anchor="ctr">
                    <a:solidFill>
                      <a:srgbClr val="FFFFFF"/>
                    </a:solidFill>
                  </a:tcPr>
                </a:tc>
                <a:tc>
                  <a:txBody>
                    <a:bodyPr wrap="square"/>
                    <a:lstStyle/>
                    <a:p>
                      <a:r>
                        <a:rPr sz="1400" b="0">
                          <a:solidFill>
                            <a:srgbClr val="1C1C1E"/>
                          </a:solidFill>
                          <a:latin typeface="Calibri"/>
                        </a:rPr>
                        <a:t>Purpose, use, type, vendor or provider, owner</a:t>
                      </a:r>
                    </a:p>
                  </a:txBody>
                  <a:tcPr marL="82296" marR="64008" marT="32004" marB="32004" anchor="ctr">
                    <a:solidFill>
                      <a:srgbClr val="FFFFFF"/>
                    </a:solidFill>
                  </a:tcPr>
                </a:tc>
              </a:tr>
              <a:tr h="559562">
                <a:tc>
                  <a:txBody>
                    <a:bodyPr wrap="square"/>
                    <a:lstStyle/>
                    <a:p>
                      <a:r>
                        <a:rPr sz="1400" b="1">
                          <a:solidFill>
                            <a:srgbClr val="761422"/>
                          </a:solidFill>
                          <a:latin typeface="Calibri"/>
                        </a:rPr>
                        <a:t>Materiality</a:t>
                      </a:r>
                    </a:p>
                  </a:txBody>
                  <a:tcPr marL="82296" marR="64008" marT="32004" marB="32004" anchor="ctr">
                    <a:solidFill>
                      <a:srgbClr val="F6F3EF"/>
                    </a:solidFill>
                  </a:tcPr>
                </a:tc>
                <a:tc>
                  <a:txBody>
                    <a:bodyPr wrap="square"/>
                    <a:lstStyle/>
                    <a:p>
                      <a:r>
                        <a:rPr sz="1400" b="0">
                          <a:solidFill>
                            <a:srgbClr val="1C1C1E"/>
                          </a:solidFill>
                          <a:latin typeface="Calibri"/>
                        </a:rPr>
                        <a:t>Tier, derived tier, its basis, any override and its reason, exposure</a:t>
                      </a:r>
                    </a:p>
                  </a:txBody>
                  <a:tcPr marL="82296" marR="64008" marT="32004" marB="32004" anchor="ctr">
                    <a:solidFill>
                      <a:srgbClr val="F6F3EF"/>
                    </a:solidFill>
                  </a:tcPr>
                </a:tc>
              </a:tr>
              <a:tr h="559562">
                <a:tc>
                  <a:txBody>
                    <a:bodyPr wrap="square"/>
                    <a:lstStyle/>
                    <a:p>
                      <a:r>
                        <a:rPr sz="1400" b="1">
                          <a:solidFill>
                            <a:srgbClr val="761422"/>
                          </a:solidFill>
                          <a:latin typeface="Calibri"/>
                        </a:rPr>
                        <a:t>Approval and evidence</a:t>
                      </a:r>
                    </a:p>
                  </a:txBody>
                  <a:tcPr marL="82296" marR="64008" marT="32004" marB="32004" anchor="ctr">
                    <a:solidFill>
                      <a:srgbClr val="FFFFFF"/>
                    </a:solidFill>
                  </a:tcPr>
                </a:tc>
                <a:tc>
                  <a:txBody>
                    <a:bodyPr wrap="square"/>
                    <a:lstStyle/>
                    <a:p>
                      <a:r>
                        <a:rPr sz="1400" b="0">
                          <a:solidFill>
                            <a:srgbClr val="1C1C1E"/>
                          </a:solidFill>
                          <a:latin typeface="Calibri"/>
                        </a:rPr>
                        <a:t>Status, approval, and what shows the implementation computes the model</a:t>
                      </a:r>
                    </a:p>
                  </a:txBody>
                  <a:tcPr marL="82296" marR="64008" marT="32004" marB="32004" anchor="ctr">
                    <a:solidFill>
                      <a:srgbClr val="FFFFFF"/>
                    </a:solidFill>
                  </a:tcPr>
                </a:tc>
              </a:tr>
              <a:tr h="559562">
                <a:tc>
                  <a:txBody>
                    <a:bodyPr wrap="square"/>
                    <a:lstStyle/>
                    <a:p>
                      <a:r>
                        <a:rPr sz="1400" b="1">
                          <a:solidFill>
                            <a:srgbClr val="761422"/>
                          </a:solidFill>
                          <a:latin typeface="Calibri"/>
                        </a:rPr>
                        <a:t>Review and findings</a:t>
                      </a:r>
                    </a:p>
                  </a:txBody>
                  <a:tcPr marL="82296" marR="64008" marT="32004" marB="32004" anchor="ctr">
                    <a:solidFill>
                      <a:srgbClr val="F6F3EF"/>
                    </a:solidFill>
                  </a:tcPr>
                </a:tc>
                <a:tc>
                  <a:txBody>
                    <a:bodyPr wrap="square"/>
                    <a:lstStyle/>
                    <a:p>
                      <a:r>
                        <a:rPr sz="1400" b="0">
                          <a:solidFill>
                            <a:srgbClr val="1C1C1E"/>
                          </a:solidFill>
                          <a:latin typeface="Calibri"/>
                        </a:rPr>
                        <a:t>Last review and outcome, next due, open, overdue and accepted findings</a:t>
                      </a:r>
                    </a:p>
                  </a:txBody>
                  <a:tcPr marL="82296" marR="64008" marT="32004" marB="32004" anchor="ctr">
                    <a:solidFill>
                      <a:srgbClr val="F6F3EF"/>
                    </a:solidFill>
                  </a:tcPr>
                </a:tc>
              </a:tr>
              <a:tr h="559562">
                <a:tc>
                  <a:txBody>
                    <a:bodyPr wrap="square"/>
                    <a:lstStyle/>
                    <a:p>
                      <a:r>
                        <a:rPr sz="1400" b="1">
                          <a:solidFill>
                            <a:srgbClr val="761422"/>
                          </a:solidFill>
                          <a:latin typeface="Calibri"/>
                        </a:rPr>
                        <a:t>Use</a:t>
                      </a:r>
                    </a:p>
                  </a:txBody>
                  <a:tcPr marL="82296" marR="64008" marT="32004" marB="32004" anchor="ctr">
                    <a:solidFill>
                      <a:srgbClr val="FFFFFF"/>
                    </a:solidFill>
                  </a:tcPr>
                </a:tc>
                <a:tc>
                  <a:txBody>
                    <a:bodyPr wrap="square"/>
                    <a:lstStyle/>
                    <a:p>
                      <a:r>
                        <a:rPr sz="1400" b="0">
                          <a:solidFill>
                            <a:srgbClr val="1C1C1E"/>
                          </a:solidFill>
                          <a:latin typeface="Calibri"/>
                        </a:rPr>
                        <a:t>Live warrants, environments, executions, monitoring grade, restrictions on use</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Beyond formulas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Most of what a bank now runs is not a formula anyone can read: bought scores, networks, and applications built on a large language model. Each gets the same chain, and each forfeits exactly the evidence it cannot give — and no more.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Black boxes, scored blind</a:t>
            </a:r>
          </a:p>
          <a:p>
            <a:pPr>
              <a:lnSpc>
                <a:spcPct val="115000"/>
              </a:lnSpc>
              <a:spcBef>
                <a:spcPts val="0"/>
              </a:spcBef>
              <a:spcAft>
                <a:spcPts val="600"/>
              </a:spcAft>
            </a:pPr>
            <a:r>
              <a:rPr sz="1200" b="0" i="0">
                <a:solidFill>
                  <a:srgbClr val="F6E6E9"/>
                </a:solidFill>
                <a:latin typeface="Calibri"/>
              </a:rPr>
              <a:t>Models from MLflow and SageMaker</a:t>
            </a:r>
          </a:p>
          <a:p>
            <a:pPr>
              <a:lnSpc>
                <a:spcPct val="115000"/>
              </a:lnSpc>
              <a:spcBef>
                <a:spcPts val="0"/>
              </a:spcBef>
              <a:spcAft>
                <a:spcPts val="600"/>
              </a:spcAft>
            </a:pPr>
            <a:r>
              <a:rPr sz="1200" b="0" i="0">
                <a:solidFill>
                  <a:srgbClr val="F6E6E9"/>
                </a:solidFill>
                <a:latin typeface="Calibri"/>
              </a:rPr>
              <a:t>Beside your ML platform</a:t>
            </a:r>
          </a:p>
          <a:p>
            <a:pPr>
              <a:lnSpc>
                <a:spcPct val="115000"/>
              </a:lnSpc>
              <a:spcBef>
                <a:spcPts val="0"/>
              </a:spcBef>
              <a:spcAft>
                <a:spcPts val="600"/>
              </a:spcAft>
            </a:pPr>
            <a:r>
              <a:rPr sz="1200" b="0" i="0">
                <a:solidFill>
                  <a:srgbClr val="F6E6E9"/>
                </a:solidFill>
                <a:latin typeface="Calibri"/>
              </a:rPr>
              <a:t>LLM applications</a:t>
            </a:r>
          </a:p>
          <a:p>
            <a:pPr>
              <a:lnSpc>
                <a:spcPct val="115000"/>
              </a:lnSpc>
              <a:spcBef>
                <a:spcPts val="0"/>
              </a:spcBef>
              <a:spcAft>
                <a:spcPts val="600"/>
              </a:spcAft>
            </a:pPr>
            <a:r>
              <a:rPr sz="1200" b="0" i="0">
                <a:solidFill>
                  <a:srgbClr val="F6E6E9"/>
                </a:solidFill>
                <a:latin typeface="Calibri"/>
              </a:rPr>
              <a:t>Evaluation sets and guardrails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BLACK BOXES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model nobody can read, run where nobody can see the data</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Declared</a:t>
            </a:r>
          </a:p>
        </p:txBody>
      </p:sp>
      <p:sp>
        <p:nvSpPr>
          <p:cNvPr id="13" name="TextBox 12"/>
          <p:cNvSpPr txBox="1"/>
          <p:nvPr/>
        </p:nvSpPr>
        <p:spPr>
          <a:xfrm>
            <a:off x="960120"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black box states what it estimates and how it is built</a:t>
            </a:r>
          </a:p>
        </p:txBody>
      </p:sp>
      <p:sp>
        <p:nvSpPr>
          <p:cNvPr id="14" name="Rectangle 13"/>
          <p:cNvSpPr/>
          <p:nvPr/>
        </p:nvSpPr>
        <p:spPr>
          <a:xfrm>
            <a:off x="3500551"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0551"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3431"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Validated</a:t>
            </a:r>
          </a:p>
        </p:txBody>
      </p:sp>
      <p:sp>
        <p:nvSpPr>
          <p:cNvPr id="17" name="TextBox 16"/>
          <p:cNvSpPr txBox="1"/>
          <p:nvPr/>
        </p:nvSpPr>
        <p:spPr>
          <a:xfrm>
            <a:off x="3683431"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Its code through six rungs, run twice in the sandbox</a:t>
            </a:r>
          </a:p>
        </p:txBody>
      </p:sp>
      <p:cxnSp>
        <p:nvCxnSpPr>
          <p:cNvPr id="18" name="Connector 17"/>
          <p:cNvCxnSpPr/>
          <p:nvPr/>
        </p:nvCxnSpPr>
        <p:spPr>
          <a:xfrm>
            <a:off x="3271951"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23863"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3863"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6743"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Scored blind</a:t>
            </a:r>
          </a:p>
        </p:txBody>
      </p:sp>
      <p:sp>
        <p:nvSpPr>
          <p:cNvPr id="22" name="TextBox 21"/>
          <p:cNvSpPr txBox="1"/>
          <p:nvPr/>
        </p:nvSpPr>
        <p:spPr>
          <a:xfrm>
            <a:off x="6406743"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code, in the sandbox, on the holdout's inputs only</a:t>
            </a:r>
          </a:p>
        </p:txBody>
      </p:sp>
      <p:cxnSp>
        <p:nvCxnSpPr>
          <p:cNvPr id="23" name="Connector 22"/>
          <p:cNvCxnSpPr/>
          <p:nvPr/>
        </p:nvCxnSpPr>
        <p:spPr>
          <a:xfrm>
            <a:off x="5995263"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47175" y="1354836"/>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47175" y="1354836"/>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0055" y="1519428"/>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Metrics out</a:t>
            </a:r>
          </a:p>
        </p:txBody>
      </p:sp>
      <p:sp>
        <p:nvSpPr>
          <p:cNvPr id="27" name="TextBox 26"/>
          <p:cNvSpPr txBox="1"/>
          <p:nvPr/>
        </p:nvSpPr>
        <p:spPr>
          <a:xfrm>
            <a:off x="9130055" y="1867916"/>
            <a:ext cx="2101519"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computes them; rows never leave</a:t>
            </a:r>
          </a:p>
        </p:txBody>
      </p:sp>
      <p:cxnSp>
        <p:nvCxnSpPr>
          <p:cNvPr id="28" name="Connector 27"/>
          <p:cNvCxnSpPr/>
          <p:nvPr/>
        </p:nvCxnSpPr>
        <p:spPr>
          <a:xfrm>
            <a:off x="8718575" y="2223516"/>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02508"/>
            <a:ext cx="10637215" cy="29428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MAYA cannot evaluate a model it cannot read, but it can run one it has validated. The target never enters the sandbox; the sandbox has no network and no view of storage; the score records the artifact's hash and the sandbox tier.</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 black box with no validated artifact is refused by name, and one that reads the target as an input is refused rather than handed the answer.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8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6 said the review effort belongs.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CONNECTORS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Models trained elsewhere come in; lineage goes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Tested against the documents each system publishes and a recorded HTTP exchange — not yet against a live service, which the documentation says.</a:t>
            </a:r>
          </a:p>
        </p:txBody>
      </p:sp>
      <p:graphicFrame>
        <p:nvGraphicFramePr>
          <p:cNvPr id="11" name="Table 10"/>
          <p:cNvGraphicFramePr>
            <a:graphicFrameLocks noGrp="1"/>
          </p:cNvGraphicFramePr>
          <p:nvPr/>
        </p:nvGraphicFramePr>
        <p:xfrm>
          <a:off x="777240" y="2040509"/>
          <a:ext cx="10637214" cy="3231578"/>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System</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insists on</a:t>
                      </a:r>
                    </a:p>
                  </a:txBody>
                  <a:tcPr marL="82296" marR="64008" marT="32004" marB="32004" anchor="ctr">
                    <a:solidFill>
                      <a:srgbClr val="A51C30"/>
                    </a:solidFill>
                  </a:tcPr>
                </a:tc>
              </a:tr>
              <a:tr h="784479">
                <a:tc>
                  <a:txBody>
                    <a:bodyPr wrap="square"/>
                    <a:lstStyle/>
                    <a:p>
                      <a:r>
                        <a:rPr sz="1400" b="1">
                          <a:solidFill>
                            <a:srgbClr val="761422"/>
                          </a:solidFill>
                          <a:latin typeface="Calibri"/>
                        </a:rPr>
                        <a:t>MLflow</a:t>
                      </a:r>
                    </a:p>
                  </a:txBody>
                  <a:tcPr marL="82296" marR="64008" marT="32004" marB="32004" anchor="ctr">
                    <a:solidFill>
                      <a:srgbClr val="FFFFFF"/>
                    </a:solidFill>
                  </a:tcPr>
                </a:tc>
                <a:tc>
                  <a:txBody>
                    <a:bodyPr wrap="square"/>
                    <a:lstStyle/>
                    <a:p>
                      <a:r>
                        <a:rPr sz="1400" b="0">
                          <a:solidFill>
                            <a:srgbClr val="1C1C1E"/>
                          </a:solidFill>
                          <a:latin typeface="Calibri"/>
                        </a:rPr>
                        <a:t>Imports a model from its MLmodel file, or fetches it from the configured tracking server</a:t>
                      </a:r>
                    </a:p>
                  </a:txBody>
                  <a:tcPr marL="82296" marR="64008" marT="32004" marB="32004" anchor="ctr">
                    <a:solidFill>
                      <a:srgbClr val="FFFFFF"/>
                    </a:solidFill>
                  </a:tcPr>
                </a:tc>
                <a:tc>
                  <a:txBody>
                    <a:bodyPr wrap="square"/>
                    <a:lstStyle/>
                    <a:p>
                      <a:r>
                        <a:rPr sz="1400" b="0">
                          <a:solidFill>
                            <a:srgbClr val="1C1C1E"/>
                          </a:solidFill>
                          <a:latin typeface="Calibri"/>
                        </a:rPr>
                        <a:t>A signature: the input contract is the vendor's, never a guess</a:t>
                      </a:r>
                    </a:p>
                  </a:txBody>
                  <a:tcPr marL="82296" marR="64008" marT="32004" marB="32004" anchor="ctr">
                    <a:solidFill>
                      <a:srgbClr val="FFFFFF"/>
                    </a:solidFill>
                  </a:tcPr>
                </a:tc>
              </a:tr>
              <a:tr h="784479">
                <a:tc>
                  <a:txBody>
                    <a:bodyPr wrap="square"/>
                    <a:lstStyle/>
                    <a:p>
                      <a:r>
                        <a:rPr sz="1400" b="1">
                          <a:solidFill>
                            <a:srgbClr val="761422"/>
                          </a:solidFill>
                          <a:latin typeface="Calibri"/>
                        </a:rPr>
                        <a:t>Amazon SageMaker</a:t>
                      </a:r>
                    </a:p>
                  </a:txBody>
                  <a:tcPr marL="82296" marR="64008" marT="32004" marB="32004" anchor="ctr">
                    <a:solidFill>
                      <a:srgbClr val="F6F3EF"/>
                    </a:solidFill>
                  </a:tcPr>
                </a:tc>
                <a:tc>
                  <a:txBody>
                    <a:bodyPr wrap="square"/>
                    <a:lstStyle/>
                    <a:p>
                      <a:r>
                        <a:rPr sz="1400" b="0">
                          <a:solidFill>
                            <a:srgbClr val="1C1C1E"/>
                          </a:solidFill>
                          <a:latin typeface="Calibri"/>
                        </a:rPr>
                        <a:t>Imports a model package from its description: image, data, framework, approval</a:t>
                      </a:r>
                    </a:p>
                  </a:txBody>
                  <a:tcPr marL="82296" marR="64008" marT="32004" marB="32004" anchor="ctr">
                    <a:solidFill>
                      <a:srgbClr val="F6F3EF"/>
                    </a:solidFill>
                  </a:tcPr>
                </a:tc>
                <a:tc>
                  <a:txBody>
                    <a:bodyPr wrap="square"/>
                    <a:lstStyle/>
                    <a:p>
                      <a:r>
                        <a:rPr sz="1400" b="0">
                          <a:solidFill>
                            <a:srgbClr val="1C1C1E"/>
                          </a:solidFill>
                          <a:latin typeface="Calibri"/>
                        </a:rPr>
                        <a:t>Inputs named, since SageMaker records none</a:t>
                      </a:r>
                    </a:p>
                  </a:txBody>
                  <a:tcPr marL="82296" marR="64008" marT="32004" marB="32004" anchor="ctr">
                    <a:solidFill>
                      <a:srgbClr val="F6F3EF"/>
                    </a:solidFill>
                  </a:tcPr>
                </a:tc>
              </a:tr>
              <a:tr h="784479">
                <a:tc>
                  <a:txBody>
                    <a:bodyPr wrap="square"/>
                    <a:lstStyle/>
                    <a:p>
                      <a:r>
                        <a:rPr sz="1400" b="1">
                          <a:solidFill>
                            <a:srgbClr val="761422"/>
                          </a:solidFill>
                          <a:latin typeface="Calibri"/>
                        </a:rPr>
                        <a:t>OpenLineage</a:t>
                      </a:r>
                    </a:p>
                  </a:txBody>
                  <a:tcPr marL="82296" marR="64008" marT="32004" marB="32004" anchor="ctr">
                    <a:solidFill>
                      <a:srgbClr val="FFFFFF"/>
                    </a:solidFill>
                  </a:tcPr>
                </a:tc>
                <a:tc>
                  <a:txBody>
                    <a:bodyPr wrap="square"/>
                    <a:lstStyle/>
                    <a:p>
                      <a:r>
                        <a:rPr sz="1400" b="0">
                          <a:solidFill>
                            <a:srgbClr val="1C1C1E"/>
                          </a:solidFill>
                          <a:latin typeface="Calibri"/>
                        </a:rPr>
                        <a:t>Every lineage edge as a RunEvent, downloaded or posted to Marquez or any consumer</a:t>
                      </a:r>
                    </a:p>
                  </a:txBody>
                  <a:tcPr marL="82296" marR="64008" marT="32004" marB="32004" anchor="ctr">
                    <a:solidFill>
                      <a:srgbClr val="FFFFFF"/>
                    </a:solidFill>
                  </a:tcPr>
                </a:tc>
                <a:tc>
                  <a:txBody>
                    <a:bodyPr wrap="square"/>
                    <a:lstStyle/>
                    <a:p>
                      <a:r>
                        <a:rPr sz="1400" b="0">
                          <a:solidFill>
                            <a:srgbClr val="1C1C1E"/>
                          </a:solidFill>
                          <a:latin typeface="Calibri"/>
                        </a:rPr>
                        <a:t>Administrators only</a:t>
                      </a:r>
                    </a:p>
                  </a:txBody>
                  <a:tcPr marL="82296" marR="64008" marT="32004" marB="32004" anchor="ctr">
                    <a:solidFill>
                      <a:srgbClr val="FFFFFF"/>
                    </a:solidFill>
                  </a:tcPr>
                </a:tc>
              </a:tr>
              <a:tr h="559562">
                <a:tc>
                  <a:txBody>
                    <a:bodyPr wrap="square"/>
                    <a:lstStyle/>
                    <a:p>
                      <a:r>
                        <a:rPr sz="1400" b="1">
                          <a:solidFill>
                            <a:srgbClr val="761422"/>
                          </a:solidFill>
                          <a:latin typeface="Calibri"/>
                        </a:rPr>
                        <a:t>Snowflake, Databricks</a:t>
                      </a:r>
                    </a:p>
                  </a:txBody>
                  <a:tcPr marL="82296" marR="64008" marT="32004" marB="32004" anchor="ctr">
                    <a:solidFill>
                      <a:srgbClr val="F6F3EF"/>
                    </a:solidFill>
                  </a:tcPr>
                </a:tc>
                <a:tc>
                  <a:txBody>
                    <a:bodyPr wrap="square"/>
                    <a:lstStyle/>
                    <a:p>
                      <a:r>
                        <a:rPr sz="1400" b="0">
                          <a:solidFill>
                            <a:srgbClr val="1C1C1E"/>
                          </a:solidFill>
                          <a:latin typeface="Calibri"/>
                        </a:rPr>
                        <a:t>Read-only SQL sources through their SQLAlchemy dialects</a:t>
                      </a:r>
                    </a:p>
                  </a:txBody>
                  <a:tcPr marL="82296" marR="64008" marT="32004" marB="32004" anchor="ctr">
                    <a:solidFill>
                      <a:srgbClr val="F6F3EF"/>
                    </a:solidFill>
                  </a:tcPr>
                </a:tc>
                <a:tc>
                  <a:txBody>
                    <a:bodyPr wrap="square"/>
                    <a:lstStyle/>
                    <a:p>
                      <a:r>
                        <a:rPr sz="1400" b="0">
                          <a:solidFill>
                            <a:srgbClr val="1C1C1E"/>
                          </a:solidFill>
                          <a:latin typeface="Calibri"/>
                        </a:rPr>
                        <a:t>A named read-only role; SELECT only</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BESIDE YOUR ML PLATFORM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licence reaches the platform that trains and serves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trains and serves nothing itself. It licenses what your platform does, and keeps the evidence of each step.</a:t>
            </a:r>
          </a:p>
        </p:txBody>
      </p:sp>
      <p:graphicFrame>
        <p:nvGraphicFramePr>
          <p:cNvPr id="11" name="Table 10"/>
          <p:cNvGraphicFramePr>
            <a:graphicFrameLocks noGrp="1"/>
          </p:cNvGraphicFramePr>
          <p:nvPr/>
        </p:nvGraphicFramePr>
        <p:xfrm>
          <a:off x="777240" y="2040509"/>
          <a:ext cx="10637214" cy="4120479"/>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Step</a:t>
                      </a:r>
                    </a:p>
                  </a:txBody>
                  <a:tcPr marL="82296" marR="64008" marT="32004" marB="32004" anchor="ctr">
                    <a:solidFill>
                      <a:srgbClr val="A51C30"/>
                    </a:solidFill>
                  </a:tcPr>
                </a:tc>
                <a:tc>
                  <a:txBody>
                    <a:bodyPr wrap="square"/>
                    <a:lstStyle/>
                    <a:p>
                      <a:r>
                        <a:rPr sz="1300" b="1">
                          <a:solidFill>
                            <a:srgbClr val="FFFFFF"/>
                          </a:solidFill>
                          <a:latin typeface="Calibri"/>
                        </a:rPr>
                        <a:t>What MAYA does</a:t>
                      </a:r>
                    </a:p>
                  </a:txBody>
                  <a:tcPr marL="82296" marR="64008" marT="32004" marB="32004" anchor="ctr">
                    <a:solidFill>
                      <a:srgbClr val="A51C30"/>
                    </a:solidFill>
                  </a:tcPr>
                </a:tc>
                <a:tc>
                  <a:txBody>
                    <a:bodyPr wrap="square"/>
                    <a:lstStyle/>
                    <a:p>
                      <a:r>
                        <a:rPr sz="1300" b="1">
                          <a:solidFill>
                            <a:srgbClr val="FFFFFF"/>
                          </a:solidFill>
                          <a:latin typeface="Calibri"/>
                        </a:rPr>
                        <a:t>What it never does</a:t>
                      </a:r>
                    </a:p>
                  </a:txBody>
                  <a:tcPr marL="82296" marR="64008" marT="32004" marB="32004" anchor="ctr">
                    <a:solidFill>
                      <a:srgbClr val="A51C30"/>
                    </a:solidFill>
                  </a:tcPr>
                </a:tc>
              </a:tr>
              <a:tr h="760380">
                <a:tc>
                  <a:txBody>
                    <a:bodyPr wrap="square"/>
                    <a:lstStyle/>
                    <a:p>
                      <a:r>
                        <a:rPr sz="1350" b="1">
                          <a:solidFill>
                            <a:srgbClr val="761422"/>
                          </a:solidFill>
                          <a:latin typeface="Calibri"/>
                        </a:rPr>
                        <a:t>Registry</a:t>
                      </a:r>
                    </a:p>
                  </a:txBody>
                  <a:tcPr marL="82296" marR="64008" marT="32004" marB="32004" anchor="ctr">
                    <a:solidFill>
                      <a:srgbClr val="FFFFFF"/>
                    </a:solidFill>
                  </a:tcPr>
                </a:tc>
                <a:tc>
                  <a:txBody>
                    <a:bodyPr wrap="square"/>
                    <a:lstStyle/>
                    <a:p>
                      <a:r>
                        <a:rPr sz="1350" b="0">
                          <a:solidFill>
                            <a:srgbClr val="1C1C1E"/>
                          </a:solidFill>
                          <a:latin typeface="Calibri"/>
                        </a:rPr>
                        <a:t>Sets an MLflow alias on a version while its execution warrant is live, removes it when not</a:t>
                      </a:r>
                    </a:p>
                  </a:txBody>
                  <a:tcPr marL="82296" marR="64008" marT="32004" marB="32004" anchor="ctr">
                    <a:solidFill>
                      <a:srgbClr val="FFFFFF"/>
                    </a:solidFill>
                  </a:tcPr>
                </a:tc>
                <a:tc>
                  <a:txBody>
                    <a:bodyPr wrap="square"/>
                    <a:lstStyle/>
                    <a:p>
                      <a:r>
                        <a:rPr sz="1350" b="0">
                          <a:solidFill>
                            <a:srgbClr val="1C1C1E"/>
                          </a:solidFill>
                          <a:latin typeface="Calibri"/>
                        </a:rPr>
                        <a:t>Deploy: the alias is what your deployment follows</a:t>
                      </a:r>
                    </a:p>
                  </a:txBody>
                  <a:tcPr marL="82296" marR="64008" marT="32004" marB="32004" anchor="ctr">
                    <a:solidFill>
                      <a:srgbClr val="FFFFFF"/>
                    </a:solidFill>
                  </a:tcPr>
                </a:tc>
              </a:tr>
              <a:tr h="760380">
                <a:tc>
                  <a:txBody>
                    <a:bodyPr wrap="square"/>
                    <a:lstStyle/>
                    <a:p>
                      <a:r>
                        <a:rPr sz="1350" b="1">
                          <a:solidFill>
                            <a:srgbClr val="761422"/>
                          </a:solidFill>
                          <a:latin typeface="Calibri"/>
                        </a:rPr>
                        <a:t>Scoring call</a:t>
                      </a:r>
                    </a:p>
                  </a:txBody>
                  <a:tcPr marL="82296" marR="64008" marT="32004" marB="32004" anchor="ctr">
                    <a:solidFill>
                      <a:srgbClr val="F6F3EF"/>
                    </a:solidFill>
                  </a:tcPr>
                </a:tc>
                <a:tc>
                  <a:txBody>
                    <a:bodyPr wrap="square"/>
                    <a:lstStyle/>
                    <a:p>
                      <a:r>
                        <a:rPr sz="1350" b="0">
                          <a:solidFill>
                            <a:srgbClr val="1C1C1E"/>
                          </a:solidFill>
                          <a:latin typeface="Calibri"/>
                        </a:rPr>
                        <a:t>An SDK guard checks the warrant before each call and reports the run after it</a:t>
                      </a:r>
                    </a:p>
                  </a:txBody>
                  <a:tcPr marL="82296" marR="64008" marT="32004" marB="32004" anchor="ctr">
                    <a:solidFill>
                      <a:srgbClr val="F6F3EF"/>
                    </a:solidFill>
                  </a:tcPr>
                </a:tc>
                <a:tc>
                  <a:txBody>
                    <a:bodyPr wrap="square"/>
                    <a:lstStyle/>
                    <a:p>
                      <a:r>
                        <a:rPr sz="1350" b="0">
                          <a:solidFill>
                            <a:srgbClr val="1C1C1E"/>
                          </a:solidFill>
                          <a:latin typeface="Calibri"/>
                        </a:rPr>
                        <a:t>Sit in the request path of your service</a:t>
                      </a:r>
                    </a:p>
                  </a:txBody>
                  <a:tcPr marL="82296" marR="64008" marT="32004" marB="32004" anchor="ctr">
                    <a:solidFill>
                      <a:srgbClr val="F6F3EF"/>
                    </a:solidFill>
                  </a:tcPr>
                </a:tc>
              </a:tr>
              <a:tr h="760380">
                <a:tc>
                  <a:txBody>
                    <a:bodyPr wrap="square"/>
                    <a:lstStyle/>
                    <a:p>
                      <a:r>
                        <a:rPr sz="1350" b="1">
                          <a:solidFill>
                            <a:srgbClr val="761422"/>
                          </a:solidFill>
                          <a:latin typeface="Calibri"/>
                        </a:rPr>
                        <a:t>Training</a:t>
                      </a:r>
                    </a:p>
                  </a:txBody>
                  <a:tcPr marL="82296" marR="64008" marT="32004" marB="32004" anchor="ctr">
                    <a:solidFill>
                      <a:srgbClr val="FFFFFF"/>
                    </a:solidFill>
                  </a:tcPr>
                </a:tc>
                <a:tc>
                  <a:txBody>
                    <a:bodyPr wrap="square"/>
                    <a:lstStyle/>
                    <a:p>
                      <a:r>
                        <a:rPr sz="1350" b="0">
                          <a:solidFill>
                            <a:srgbClr val="1C1C1E"/>
                          </a:solidFill>
                          <a:latin typeface="Calibri"/>
                        </a:rPr>
                        <a:t>Turns a training warrant into a signed Kubernetes or SageMaker job with a one-day key</a:t>
                      </a:r>
                    </a:p>
                  </a:txBody>
                  <a:tcPr marL="82296" marR="64008" marT="32004" marB="32004" anchor="ctr">
                    <a:solidFill>
                      <a:srgbClr val="FFFFFF"/>
                    </a:solidFill>
                  </a:tcPr>
                </a:tc>
                <a:tc>
                  <a:txBody>
                    <a:bodyPr wrap="square"/>
                    <a:lstStyle/>
                    <a:p>
                      <a:r>
                        <a:rPr sz="1350" b="0">
                          <a:solidFill>
                            <a:srgbClr val="1C1C1E"/>
                          </a:solidFill>
                          <a:latin typeface="Calibri"/>
                        </a:rPr>
                        <a:t>Run the job: it goes to your compute</a:t>
                      </a:r>
                    </a:p>
                  </a:txBody>
                  <a:tcPr marL="82296" marR="64008" marT="32004" marB="32004" anchor="ctr">
                    <a:solidFill>
                      <a:srgbClr val="FFFFFF"/>
                    </a:solidFill>
                  </a:tcPr>
                </a:tc>
              </a:tr>
              <a:tr h="760380">
                <a:tc>
                  <a:txBody>
                    <a:bodyPr wrap="square"/>
                    <a:lstStyle/>
                    <a:p>
                      <a:r>
                        <a:rPr sz="1350" b="1">
                          <a:solidFill>
                            <a:srgbClr val="761422"/>
                          </a:solidFill>
                          <a:latin typeface="Calibri"/>
                        </a:rPr>
                        <a:t>A second fit</a:t>
                      </a:r>
                    </a:p>
                  </a:txBody>
                  <a:tcPr marL="82296" marR="64008" marT="32004" marB="32004" anchor="ctr">
                    <a:solidFill>
                      <a:srgbClr val="F6F3EF"/>
                    </a:solidFill>
                  </a:tcPr>
                </a:tc>
                <a:tc>
                  <a:txBody>
                    <a:bodyPr wrap="square"/>
                    <a:lstStyle/>
                    <a:p>
                      <a:r>
                        <a:rPr sz="1350" b="0">
                          <a:solidFill>
                            <a:srgbClr val="1C1C1E"/>
                          </a:solidFill>
                          <a:latin typeface="Calibri"/>
                        </a:rPr>
                        <a:t>Fits a closed-form model itself on the training rows and compares, as evidence</a:t>
                      </a:r>
                    </a:p>
                  </a:txBody>
                  <a:tcPr marL="82296" marR="64008" marT="32004" marB="32004" anchor="ctr">
                    <a:solidFill>
                      <a:srgbClr val="F6F3EF"/>
                    </a:solidFill>
                  </a:tcPr>
                </a:tc>
                <a:tc>
                  <a:txBody>
                    <a:bodyPr wrap="square"/>
                    <a:lstStyle/>
                    <a:p>
                      <a:r>
                        <a:rPr sz="1350" b="0">
                          <a:solidFill>
                            <a:srgbClr val="1C1C1E"/>
                          </a:solidFill>
                          <a:latin typeface="Calibri"/>
                        </a:rPr>
                        <a:t>Supply the parameters it checks</a:t>
                      </a:r>
                    </a:p>
                  </a:txBody>
                  <a:tcPr marL="82296" marR="64008" marT="32004" marB="32004" anchor="ctr">
                    <a:solidFill>
                      <a:srgbClr val="F6F3EF"/>
                    </a:solidFill>
                  </a:tcPr>
                </a:tc>
              </a:tr>
              <a:tr h="760380">
                <a:tc>
                  <a:txBody>
                    <a:bodyPr wrap="square"/>
                    <a:lstStyle/>
                    <a:p>
                      <a:r>
                        <a:rPr sz="1350" b="1">
                          <a:solidFill>
                            <a:srgbClr val="761422"/>
                          </a:solidFill>
                          <a:latin typeface="Calibri"/>
                        </a:rPr>
                        <a:t>Batch scoring</a:t>
                      </a:r>
                    </a:p>
                  </a:txBody>
                  <a:tcPr marL="82296" marR="64008" marT="32004" marB="32004" anchor="ctr">
                    <a:solidFill>
                      <a:srgbClr val="FFFFFF"/>
                    </a:solidFill>
                  </a:tcPr>
                </a:tc>
                <a:tc>
                  <a:txBody>
                    <a:bodyPr wrap="square"/>
                    <a:lstStyle/>
                    <a:p>
                      <a:r>
                        <a:rPr sz="1350" b="0">
                          <a:solidFill>
                            <a:srgbClr val="1C1C1E"/>
                          </a:solidFill>
                          <a:latin typeface="Calibri"/>
                        </a:rPr>
                        <a:t>Scores a pinned table under a live warrant: output sealed by hash, run reported, custody updated</a:t>
                      </a:r>
                    </a:p>
                  </a:txBody>
                  <a:tcPr marL="82296" marR="64008" marT="32004" marB="32004" anchor="ctr">
                    <a:solidFill>
                      <a:srgbClr val="FFFFFF"/>
                    </a:solidFill>
                  </a:tcPr>
                </a:tc>
                <a:tc>
                  <a:txBody>
                    <a:bodyPr wrap="square"/>
                    <a:lstStyle/>
                    <a:p>
                      <a:r>
                        <a:rPr sz="1350" b="0">
                          <a:solidFill>
                            <a:srgbClr val="1C1C1E"/>
                          </a:solidFill>
                          <a:latin typeface="Calibri"/>
                        </a:rPr>
                        <a:t>Serve online</a:t>
                      </a:r>
                    </a:p>
                  </a:txBody>
                  <a:tcPr marL="82296" marR="64008" marT="32004" marB="3200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APPLICATIONS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prompt is a model's parameters, so it is versioned like them</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cannot read the weights, so it governs what can be pinned down — and approves only on evidence gathered on exactly that definition.</a:t>
            </a:r>
          </a:p>
        </p:txBody>
      </p:sp>
      <p:sp>
        <p:nvSpPr>
          <p:cNvPr id="11" name="Rectangle 10"/>
          <p:cNvSpPr/>
          <p:nvPr/>
        </p:nvSpPr>
        <p:spPr>
          <a:xfrm>
            <a:off x="777240"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version seals</a:t>
            </a:r>
          </a:p>
        </p:txBody>
      </p:sp>
      <p:sp>
        <p:nvSpPr>
          <p:cNvPr id="14" name="TextBox 13"/>
          <p:cNvSpPr txBox="1"/>
          <p:nvPr/>
        </p:nvSpPr>
        <p:spPr>
          <a:xfrm>
            <a:off x="777240"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Provider and model</a:t>
            </a:r>
          </a:p>
          <a:p>
            <a:pPr lvl="1">
              <a:lnSpc>
                <a:spcPct val="120000"/>
              </a:lnSpc>
              <a:spcBef>
                <a:spcPts val="0"/>
              </a:spcBef>
              <a:spcAft>
                <a:spcPts val="0"/>
              </a:spcAft>
            </a:pPr>
            <a:r>
              <a:rPr sz="1350" b="0">
                <a:solidFill>
                  <a:srgbClr val="4A4F57"/>
                </a:solidFill>
                <a:latin typeface="Calibri"/>
              </a:rPr>
              <a:t>OpenAI, Azure, Bedrock, Vertex, a self-hosted model, or any other.</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System prompt and template</a:t>
            </a:r>
          </a:p>
          <a:p>
            <a:pPr lvl="1">
              <a:lnSpc>
                <a:spcPct val="120000"/>
              </a:lnSpc>
              <a:spcBef>
                <a:spcPts val="0"/>
              </a:spcBef>
              <a:spcAft>
                <a:spcPts val="0"/>
              </a:spcAft>
            </a:pPr>
            <a:r>
              <a:rPr sz="1350" b="0">
                <a:solidFill>
                  <a:srgbClr val="4A4F57"/>
                </a:solidFill>
                <a:latin typeface="Calibri"/>
              </a:rPr>
              <a:t>The template's placeholders filled from each evaluation case.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Parameters and guardrails</a:t>
            </a:r>
          </a:p>
          <a:p>
            <a:pPr lvl="1">
              <a:lnSpc>
                <a:spcPct val="120000"/>
              </a:lnSpc>
              <a:spcBef>
                <a:spcPts val="0"/>
              </a:spcBef>
              <a:spcAft>
                <a:spcPts val="0"/>
              </a:spcAft>
            </a:pPr>
            <a:r>
              <a:rPr sz="1350" b="0">
                <a:solidFill>
                  <a:srgbClr val="4A4F57"/>
                </a:solidFill>
                <a:latin typeface="Calibri"/>
              </a:rPr>
              <a:t>Temperature and limits; blocked terms, a length cap, personal data.</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One definition hash</a:t>
            </a:r>
          </a:p>
          <a:p>
            <a:pPr lvl="1">
              <a:lnSpc>
                <a:spcPct val="120000"/>
              </a:lnSpc>
              <a:spcBef>
                <a:spcPts val="0"/>
              </a:spcBef>
              <a:spcAft>
                <a:spcPts val="0"/>
              </a:spcAft>
            </a:pPr>
            <a:r>
              <a:rPr sz="1350" b="0">
                <a:solidFill>
                  <a:srgbClr val="4A4F57"/>
                </a:solidFill>
                <a:latin typeface="Calibri"/>
              </a:rPr>
              <a:t>Change anything and it is a new definition, judged again.</a:t>
            </a:r>
          </a:p>
        </p:txBody>
      </p:sp>
      <p:sp>
        <p:nvSpPr>
          <p:cNvPr id="15" name="Rectangle 14"/>
          <p:cNvSpPr/>
          <p:nvPr/>
        </p:nvSpPr>
        <p:spPr>
          <a:xfrm>
            <a:off x="6278727" y="1992312"/>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1992312"/>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065464"/>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it is approved</a:t>
            </a:r>
          </a:p>
        </p:txBody>
      </p:sp>
      <p:sp>
        <p:nvSpPr>
          <p:cNvPr id="18" name="TextBox 17"/>
          <p:cNvSpPr txBox="1"/>
          <p:nvPr/>
        </p:nvSpPr>
        <p:spPr>
          <a:xfrm>
            <a:off x="6278727" y="2504376"/>
            <a:ext cx="5135727" cy="374097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run on this definition</a:t>
            </a:r>
          </a:p>
          <a:p>
            <a:pPr lvl="1">
              <a:lnSpc>
                <a:spcPct val="120000"/>
              </a:lnSpc>
              <a:spcBef>
                <a:spcPts val="0"/>
              </a:spcBef>
              <a:spcAft>
                <a:spcPts val="0"/>
              </a:spcAft>
            </a:pPr>
            <a:r>
              <a:rPr sz="1350" b="0">
                <a:solidFill>
                  <a:srgbClr val="4A4F57"/>
                </a:solidFill>
                <a:latin typeface="Calibri"/>
              </a:rPr>
              <a:t>Against the evaluation set as it now stands.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Clean</a:t>
            </a:r>
          </a:p>
          <a:p>
            <a:pPr lvl="1">
              <a:lnSpc>
                <a:spcPct val="120000"/>
              </a:lnSpc>
              <a:spcBef>
                <a:spcPts val="0"/>
              </a:spcBef>
              <a:spcAft>
                <a:spcPts val="0"/>
              </a:spcAft>
            </a:pPr>
            <a:r>
              <a:rPr sz="1350" b="0">
                <a:solidFill>
                  <a:srgbClr val="4A4F57"/>
                </a:solidFill>
                <a:latin typeface="Calibri"/>
              </a:rPr>
              <a:t>Meeting the pass rate, with no guardrail violation.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Independent</a:t>
            </a:r>
          </a:p>
          <a:p>
            <a:pPr lvl="1">
              <a:lnSpc>
                <a:spcPct val="120000"/>
              </a:lnSpc>
              <a:spcBef>
                <a:spcPts val="0"/>
              </a:spcBef>
              <a:spcAft>
                <a:spcPts val="0"/>
              </a:spcAft>
            </a:pPr>
            <a:r>
              <a:rPr sz="1350" b="0">
                <a:solidFill>
                  <a:srgbClr val="4A4F57"/>
                </a:solidFill>
                <a:latin typeface="Calibri"/>
              </a:rPr>
              <a:t>A model manager who neither owns nor submitted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Study 49</a:t>
            </a:r>
          </a:p>
          <a:p>
            <a:pPr lvl="1">
              <a:lnSpc>
                <a:spcPct val="120000"/>
              </a:lnSpc>
              <a:spcBef>
                <a:spcPts val="0"/>
              </a:spcBef>
              <a:spcAft>
                <a:spcPts val="0"/>
              </a:spcAft>
            </a:pPr>
            <a:r>
              <a:rPr sz="1350" b="0">
                <a:solidFill>
                  <a:srgbClr val="4A4F57"/>
                </a:solidFill>
                <a:latin typeface="Calibri"/>
              </a:rPr>
              <a:t>Version 1 gets every category right and still fails: it read a customer's card number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EVALUATION</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Deterministic checks, because a judgement MAYA cannot reproduce is not evidence</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Beyond formulas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TextBox 9"/>
          <p:cNvSpPr txBox="1"/>
          <p:nvPr/>
        </p:nvSpPr>
        <p:spPr>
          <a:xfrm>
            <a:off x="777240" y="1611884"/>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No model grades another model. Runs are recorded — answers produced wherever the application runs — or live, where MAYA calls the provider itself.</a:t>
            </a:r>
          </a:p>
        </p:txBody>
      </p:sp>
      <p:graphicFrame>
        <p:nvGraphicFramePr>
          <p:cNvPr id="11" name="Table 10"/>
          <p:cNvGraphicFramePr>
            <a:graphicFrameLocks noGrp="1"/>
          </p:cNvGraphicFramePr>
          <p:nvPr/>
        </p:nvGraphicFramePr>
        <p:xfrm>
          <a:off x="777240" y="2265426"/>
          <a:ext cx="10637214" cy="2441638"/>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Check or guardrail</a:t>
                      </a:r>
                    </a:p>
                  </a:txBody>
                  <a:tcPr marL="82296" marR="64008" marT="32004" marB="32004" anchor="ctr">
                    <a:solidFill>
                      <a:srgbClr val="A51C30"/>
                    </a:solidFill>
                  </a:tcPr>
                </a:tc>
                <a:tc>
                  <a:txBody>
                    <a:bodyPr wrap="square"/>
                    <a:lstStyle/>
                    <a:p>
                      <a:r>
                        <a:rPr sz="1300" b="1">
                          <a:solidFill>
                            <a:srgbClr val="FFFFFF"/>
                          </a:solidFill>
                          <a:latin typeface="Calibri"/>
                        </a:rPr>
                        <a:t>Passes when</a:t>
                      </a:r>
                    </a:p>
                  </a:txBody>
                  <a:tcPr marL="82296" marR="64008" marT="32004" marB="32004" anchor="ctr">
                    <a:solidFill>
                      <a:srgbClr val="A51C30"/>
                    </a:solidFill>
                  </a:tcPr>
                </a:tc>
              </a:tr>
              <a:tr h="559562">
                <a:tc>
                  <a:txBody>
                    <a:bodyPr wrap="square"/>
                    <a:lstStyle/>
                    <a:p>
                      <a:r>
                        <a:rPr sz="1400" b="1">
                          <a:solidFill>
                            <a:srgbClr val="761422"/>
                          </a:solidFill>
                          <a:latin typeface="Calibri"/>
                        </a:rPr>
                        <a:t>contains · not_contains · equals</a:t>
                      </a:r>
                    </a:p>
                  </a:txBody>
                  <a:tcPr marL="82296" marR="64008" marT="32004" marB="32004" anchor="ctr">
                    <a:solidFill>
                      <a:srgbClr val="FFFFFF"/>
                    </a:solidFill>
                  </a:tcPr>
                </a:tc>
                <a:tc>
                  <a:txBody>
                    <a:bodyPr wrap="square"/>
                    <a:lstStyle/>
                    <a:p>
                      <a:r>
                        <a:rPr sz="1400" b="0">
                          <a:solidFill>
                            <a:srgbClr val="1C1C1E"/>
                          </a:solidFill>
                          <a:latin typeface="Calibri"/>
                        </a:rPr>
                        <a:t>The answer does, or does not, contain the value; or equals the reference</a:t>
                      </a:r>
                    </a:p>
                  </a:txBody>
                  <a:tcPr marL="82296" marR="64008" marT="32004" marB="32004" anchor="ctr">
                    <a:solidFill>
                      <a:srgbClr val="FFFFFF"/>
                    </a:solidFill>
                  </a:tcPr>
                </a:tc>
              </a:tr>
              <a:tr h="334645">
                <a:tc>
                  <a:txBody>
                    <a:bodyPr wrap="square"/>
                    <a:lstStyle/>
                    <a:p>
                      <a:r>
                        <a:rPr sz="1400" b="1">
                          <a:solidFill>
                            <a:srgbClr val="761422"/>
                          </a:solidFill>
                          <a:latin typeface="Calibri"/>
                        </a:rPr>
                        <a:t>regex · max_chars</a:t>
                      </a:r>
                    </a:p>
                  </a:txBody>
                  <a:tcPr marL="82296" marR="64008" marT="32004" marB="32004" anchor="ctr">
                    <a:solidFill>
                      <a:srgbClr val="F6F3EF"/>
                    </a:solidFill>
                  </a:tcPr>
                </a:tc>
                <a:tc>
                  <a:txBody>
                    <a:bodyPr wrap="square"/>
                    <a:lstStyle/>
                    <a:p>
                      <a:r>
                        <a:rPr sz="1400" b="0">
                          <a:solidFill>
                            <a:srgbClr val="1C1C1E"/>
                          </a:solidFill>
                          <a:latin typeface="Calibri"/>
                        </a:rPr>
                        <a:t>The pattern matches; the answer is short enough</a:t>
                      </a:r>
                    </a:p>
                  </a:txBody>
                  <a:tcPr marL="82296" marR="64008" marT="32004" marB="32004" anchor="ctr">
                    <a:solidFill>
                      <a:srgbClr val="F6F3EF"/>
                    </a:solidFill>
                  </a:tcPr>
                </a:tc>
              </a:tr>
              <a:tr h="334645">
                <a:tc>
                  <a:txBody>
                    <a:bodyPr wrap="square"/>
                    <a:lstStyle/>
                    <a:p>
                      <a:r>
                        <a:rPr sz="1400" b="1">
                          <a:solidFill>
                            <a:srgbClr val="761422"/>
                          </a:solidFill>
                          <a:latin typeface="Calibri"/>
                        </a:rPr>
                        <a:t>json</a:t>
                      </a:r>
                    </a:p>
                  </a:txBody>
                  <a:tcPr marL="82296" marR="64008" marT="32004" marB="32004" anchor="ctr">
                    <a:solidFill>
                      <a:srgbClr val="FFFFFF"/>
                    </a:solidFill>
                  </a:tcPr>
                </a:tc>
                <a:tc>
                  <a:txBody>
                    <a:bodyPr wrap="square"/>
                    <a:lstStyle/>
                    <a:p>
                      <a:r>
                        <a:rPr sz="1400" b="0">
                          <a:solidFill>
                            <a:srgbClr val="1C1C1E"/>
                          </a:solidFill>
                          <a:latin typeface="Calibri"/>
                        </a:rPr>
                        <a:t>The answer parses, with the required keys</a:t>
                      </a:r>
                    </a:p>
                  </a:txBody>
                  <a:tcPr marL="82296" marR="64008" marT="32004" marB="32004" anchor="ctr">
                    <a:solidFill>
                      <a:srgbClr val="FFFFFF"/>
                    </a:solidFill>
                  </a:tcPr>
                </a:tc>
              </a:tr>
              <a:tr h="334645">
                <a:tc>
                  <a:txBody>
                    <a:bodyPr wrap="square"/>
                    <a:lstStyle/>
                    <a:p>
                      <a:r>
                        <a:rPr sz="1400" b="1">
                          <a:solidFill>
                            <a:srgbClr val="761422"/>
                          </a:solidFill>
                          <a:latin typeface="Calibri"/>
                        </a:rPr>
                        <a:t>Blocked terms</a:t>
                      </a:r>
                    </a:p>
                  </a:txBody>
                  <a:tcPr marL="82296" marR="64008" marT="32004" marB="32004" anchor="ctr">
                    <a:solidFill>
                      <a:srgbClr val="F6F3EF"/>
                    </a:solidFill>
                  </a:tcPr>
                </a:tc>
                <a:tc>
                  <a:txBody>
                    <a:bodyPr wrap="square"/>
                    <a:lstStyle/>
                    <a:p>
                      <a:r>
                        <a:rPr sz="1400" b="0">
                          <a:solidFill>
                            <a:srgbClr val="1C1C1E"/>
                          </a:solidFill>
                          <a:latin typeface="Calibri"/>
                        </a:rPr>
                        <a:t>None of the version's forbidden phrases appears</a:t>
                      </a:r>
                    </a:p>
                  </a:txBody>
                  <a:tcPr marL="82296" marR="64008" marT="32004" marB="32004" anchor="ctr">
                    <a:solidFill>
                      <a:srgbClr val="F6F3EF"/>
                    </a:solidFill>
                  </a:tcPr>
                </a:tc>
              </a:tr>
              <a:tr h="559562">
                <a:tc>
                  <a:txBody>
                    <a:bodyPr wrap="square"/>
                    <a:lstStyle/>
                    <a:p>
                      <a:r>
                        <a:rPr sz="1400" b="1">
                          <a:solidFill>
                            <a:srgbClr val="761422"/>
                          </a:solidFill>
                          <a:latin typeface="Calibri"/>
                        </a:rPr>
                        <a:t>Personal data</a:t>
                      </a:r>
                    </a:p>
                  </a:txBody>
                  <a:tcPr marL="82296" marR="64008" marT="32004" marB="32004" anchor="ctr">
                    <a:solidFill>
                      <a:srgbClr val="FFFFFF"/>
                    </a:solidFill>
                  </a:tcPr>
                </a:tc>
                <a:tc>
                  <a:txBody>
                    <a:bodyPr wrap="square"/>
                    <a:lstStyle/>
                    <a:p>
                      <a:r>
                        <a:rPr sz="1400" b="0">
                          <a:solidFill>
                            <a:srgbClr val="1C1C1E"/>
                          </a:solidFill>
                          <a:latin typeface="Calibri"/>
                        </a:rPr>
                        <a:t>No e-mail address, Luhn-valid card number or phone number</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The formal core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Why the facts above can be derived rather than typed. A model is a kernel over typed inputs and a parameter object; from that shape follow what can stand in for what, when a value was knowable, and what a result depends on. Proofs are in the research paper; this part gives the engineer's view.</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Four facts that rot</a:t>
            </a:r>
          </a:p>
          <a:p>
            <a:pPr>
              <a:lnSpc>
                <a:spcPct val="115000"/>
              </a:lnSpc>
              <a:spcBef>
                <a:spcPts val="0"/>
              </a:spcBef>
              <a:spcAft>
                <a:spcPts val="600"/>
              </a:spcAft>
            </a:pPr>
            <a:r>
              <a:rPr sz="1200" b="0" i="0">
                <a:solidFill>
                  <a:srgbClr val="F6E6E9"/>
                </a:solidFill>
                <a:latin typeface="Calibri"/>
              </a:rPr>
              <a:t>Approval as a relation</a:t>
            </a:r>
          </a:p>
          <a:p>
            <a:pPr>
              <a:lnSpc>
                <a:spcPct val="115000"/>
              </a:lnSpc>
              <a:spcBef>
                <a:spcPts val="0"/>
              </a:spcBef>
              <a:spcAft>
                <a:spcPts val="600"/>
              </a:spcAft>
            </a:pPr>
            <a:r>
              <a:rPr sz="1200" b="0" i="0">
                <a:solidFill>
                  <a:srgbClr val="F6E6E9"/>
                </a:solidFill>
                <a:latin typeface="Calibri"/>
              </a:rPr>
              <a:t>The point-in-time read</a:t>
            </a:r>
          </a:p>
          <a:p>
            <a:pPr>
              <a:lnSpc>
                <a:spcPct val="115000"/>
              </a:lnSpc>
              <a:spcBef>
                <a:spcPts val="0"/>
              </a:spcBef>
              <a:spcAft>
                <a:spcPts val="600"/>
              </a:spcAft>
            </a:pPr>
            <a:r>
              <a:rPr sz="1200" b="0" i="0">
                <a:solidFill>
                  <a:srgbClr val="F6E6E9"/>
                </a:solidFill>
                <a:latin typeface="Calibri"/>
              </a:rPr>
              <a:t>Reproducibility by content</a:t>
            </a:r>
          </a:p>
          <a:p>
            <a:pPr>
              <a:lnSpc>
                <a:spcPct val="115000"/>
              </a:lnSpc>
              <a:spcBef>
                <a:spcPts val="0"/>
              </a:spcBef>
              <a:spcAft>
                <a:spcPts val="600"/>
              </a:spcAft>
            </a:pPr>
            <a:r>
              <a:rPr sz="1200" b="0" i="0">
                <a:solidFill>
                  <a:srgbClr val="F6E6E9"/>
                </a:solidFill>
                <a:latin typeface="Calibri"/>
              </a:rPr>
              <a:t>Where a machine may do the work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The formal core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7</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One platform reached six ways, one database at a time, a sandbox whose strength is verified rather than assumed, and an audit chain anchored outside the database.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one set of objects</a:t>
            </a:r>
          </a:p>
          <a:p>
            <a:pPr>
              <a:lnSpc>
                <a:spcPct val="115000"/>
              </a:lnSpc>
              <a:spcBef>
                <a:spcPts val="0"/>
              </a:spcBef>
              <a:spcAft>
                <a:spcPts val="600"/>
              </a:spcAft>
            </a:pPr>
            <a:r>
              <a:rPr sz="1200" b="0" i="0">
                <a:solidFill>
                  <a:srgbClr val="F6E6E9"/>
                </a:solidFill>
                <a:latin typeface="Calibri"/>
              </a:rPr>
              <a:t>The REST API</a:t>
            </a:r>
          </a:p>
          <a:p>
            <a:pPr>
              <a:lnSpc>
                <a:spcPct val="115000"/>
              </a:lnSpc>
              <a:spcBef>
                <a:spcPts val="0"/>
              </a:spcBef>
              <a:spcAft>
                <a:spcPts val="600"/>
              </a:spcAft>
            </a:pPr>
            <a:r>
              <a:rPr sz="1200" b="0" i="0">
                <a:solidFill>
                  <a:srgbClr val="F6E6E9"/>
                </a:solidFill>
                <a:latin typeface="Calibri"/>
              </a:rPr>
              <a:t>Policy as data</a:t>
            </a:r>
          </a:p>
          <a:p>
            <a:pPr>
              <a:lnSpc>
                <a:spcPct val="115000"/>
              </a:lnSpc>
              <a:spcBef>
                <a:spcPts val="0"/>
              </a:spcBef>
              <a:spcAft>
                <a:spcPts val="600"/>
              </a:spcAft>
            </a:pPr>
            <a:r>
              <a:rPr sz="1200" b="0" i="0">
                <a:solidFill>
                  <a:srgbClr val="F6E6E9"/>
                </a:solidFill>
                <a:latin typeface="Calibri"/>
              </a:rPr>
              <a:t>The audit chain</a:t>
            </a:r>
          </a:p>
          <a:p>
            <a:pPr>
              <a:lnSpc>
                <a:spcPct val="115000"/>
              </a:lnSpc>
              <a:spcBef>
                <a:spcPts val="0"/>
              </a:spcBef>
              <a:spcAft>
                <a:spcPts val="600"/>
              </a:spcAft>
            </a:pPr>
            <a:r>
              <a:rPr sz="1200" b="0" i="0">
                <a:solidFill>
                  <a:srgbClr val="F6E6E9"/>
                </a:solidFill>
                <a:latin typeface="Calibri"/>
              </a:rPr>
              <a:t>Storage</a:t>
            </a:r>
          </a:p>
          <a:p>
            <a:pPr>
              <a:lnSpc>
                <a:spcPct val="115000"/>
              </a:lnSpc>
              <a:spcBef>
                <a:spcPts val="0"/>
              </a:spcBef>
              <a:spcAft>
                <a:spcPts val="600"/>
              </a:spcAft>
            </a:pPr>
            <a:r>
              <a:rPr sz="1200" b="0" i="0">
                <a:solidFill>
                  <a:srgbClr val="F6E6E9"/>
                </a:solidFill>
                <a:latin typeface="Calibri"/>
              </a:rPr>
              <a:t>The sandbox</a:t>
            </a:r>
          </a:p>
          <a:p>
            <a:pPr>
              <a:lnSpc>
                <a:spcPct val="115000"/>
              </a:lnSpc>
              <a:spcBef>
                <a:spcPts val="0"/>
              </a:spcBef>
              <a:spcAft>
                <a:spcPts val="600"/>
              </a:spcAft>
            </a:pPr>
            <a:r>
              <a:rPr sz="1200" b="0" i="0">
                <a:solidFill>
                  <a:srgbClr val="F6E6E9"/>
                </a:solidFill>
                <a:latin typeface="Calibri"/>
              </a:rPr>
              <a:t>Connectors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docs/quality/BENCHMARKS.md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246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API</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Everything the screen does is a documented HTTP call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web UI, the Python SDK and the CLI all use the same 246 endpoints under /api/v1. docs/reference/API_GUIDE.md walks them from a first curl to a sealed execution warrant, and the test suite executes every example in it.</a:t>
            </a:r>
          </a:p>
        </p:txBody>
      </p:sp>
      <p:sp>
        <p:nvSpPr>
          <p:cNvPr id="11" name="Rectangle 10"/>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Conventions</a:t>
            </a:r>
          </a:p>
        </p:txBody>
      </p:sp>
      <p:sp>
        <p:nvSpPr>
          <p:cNvPr id="14" name="TextBox 13"/>
          <p:cNvSpPr txBox="1"/>
          <p:nvPr/>
        </p:nvSpPr>
        <p:spPr>
          <a:xfrm>
            <a:off x="777240" y="2797048"/>
            <a:ext cx="5135727" cy="344830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Credentials</a:t>
            </a:r>
          </a:p>
          <a:p>
            <a:pPr lvl="1">
              <a:lnSpc>
                <a:spcPct val="120000"/>
              </a:lnSpc>
              <a:spcBef>
                <a:spcPts val="0"/>
              </a:spcBef>
              <a:spcAft>
                <a:spcPts val="0"/>
              </a:spcAft>
            </a:pPr>
            <a:r>
              <a:rPr sz="1350" b="0">
                <a:solidFill>
                  <a:srgbClr val="4A4F57"/>
                </a:solidFill>
                <a:latin typeface="Calibri"/>
              </a:rPr>
              <a:t>A session token, or an API key narrowed to roles, namespaces, actions and networks.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Problem documents</a:t>
            </a:r>
          </a:p>
          <a:p>
            <a:pPr lvl="1">
              <a:lnSpc>
                <a:spcPct val="120000"/>
              </a:lnSpc>
              <a:spcBef>
                <a:spcPts val="0"/>
              </a:spcBef>
              <a:spcAft>
                <a:spcPts val="0"/>
              </a:spcAft>
            </a:pPr>
            <a:r>
              <a:rPr sz="1350" b="0">
                <a:solidFill>
                  <a:srgbClr val="4A4F57"/>
                </a:solidFill>
                <a:latin typeface="Calibri"/>
              </a:rPr>
              <a:t>Every failure has a machine-readable type and a sentence saying what to do.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Cursor paging, ETags</a:t>
            </a:r>
          </a:p>
          <a:p>
            <a:pPr lvl="1">
              <a:lnSpc>
                <a:spcPct val="120000"/>
              </a:lnSpc>
              <a:spcBef>
                <a:spcPts val="0"/>
              </a:spcBef>
              <a:spcAft>
                <a:spcPts val="0"/>
              </a:spcAft>
            </a:pPr>
            <a:r>
              <a:rPr sz="1350" b="0">
                <a:solidFill>
                  <a:srgbClr val="4A4F57"/>
                </a:solidFill>
                <a:latin typeface="Calibri"/>
              </a:rPr>
              <a:t>Conditional reads answer 304; guarded writes refuse a stale If-Match.</a:t>
            </a:r>
          </a:p>
        </p:txBody>
      </p:sp>
      <p:sp>
        <p:nvSpPr>
          <p:cNvPr id="15" name="Rectangle 14"/>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Safe to retry</a:t>
            </a:r>
          </a:p>
        </p:txBody>
      </p:sp>
      <p:sp>
        <p:nvSpPr>
          <p:cNvPr id="18" name="TextBox 17"/>
          <p:cNvSpPr txBox="1"/>
          <p:nvPr/>
        </p:nvSpPr>
        <p:spPr>
          <a:xfrm>
            <a:off x="6278727" y="2797048"/>
            <a:ext cx="5135727" cy="344830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Idempotency keys</a:t>
            </a:r>
          </a:p>
          <a:p>
            <a:pPr lvl="1">
              <a:lnSpc>
                <a:spcPct val="120000"/>
              </a:lnSpc>
              <a:spcBef>
                <a:spcPts val="0"/>
              </a:spcBef>
              <a:spcAft>
                <a:spcPts val="0"/>
              </a:spcAft>
            </a:pPr>
            <a:r>
              <a:rPr sz="1350" b="0">
                <a:solidFill>
                  <a:srgbClr val="4A4F57"/>
                </a:solidFill>
                <a:latin typeface="Calibri"/>
              </a:rPr>
              <a:t>A retried pin returns the original pin and job, before and after it seals.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Jobs</a:t>
            </a:r>
          </a:p>
          <a:p>
            <a:pPr lvl="1">
              <a:lnSpc>
                <a:spcPct val="120000"/>
              </a:lnSpc>
              <a:spcBef>
                <a:spcPts val="0"/>
              </a:spcBef>
              <a:spcAft>
                <a:spcPts val="0"/>
              </a:spcAft>
            </a:pPr>
            <a:r>
              <a:rPr sz="1350" b="0">
                <a:solidFill>
                  <a:srgbClr val="4A4F57"/>
                </a:solidFill>
                <a:latin typeface="Calibri"/>
              </a:rPr>
              <a:t>Slow work answers 202 and a job to poll or stream.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Parity, enforced</a:t>
            </a:r>
          </a:p>
          <a:p>
            <a:pPr lvl="1">
              <a:lnSpc>
                <a:spcPct val="120000"/>
              </a:lnSpc>
              <a:spcBef>
                <a:spcPts val="0"/>
              </a:spcBef>
              <a:spcAft>
                <a:spcPts val="0"/>
              </a:spcAft>
            </a:pPr>
            <a:r>
              <a:rPr sz="1350" b="0">
                <a:solidFill>
                  <a:srgbClr val="4A4F57"/>
                </a:solidFill>
                <a:latin typeface="Calibri"/>
              </a:rPr>
              <a:t>A gate fails the build if an endpoint lacks an SDK method or a way to reach it from the UI.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every governed kind: features, feature sets, models, parameter sets and both warrants.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so a line on the lineage graph is a claim that was checked, not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7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246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8</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Fifteen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Each case study is a real modelling problem taken through MAYA end to end, by named people with real roles, so the refusals are the platform's. Each is chosen for a different thing it makes MAYA do, and the suite runs every one from nothing.</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fifteen, and what each is about</a:t>
            </a:r>
          </a:p>
          <a:p>
            <a:pPr>
              <a:lnSpc>
                <a:spcPct val="115000"/>
              </a:lnSpc>
              <a:spcBef>
                <a:spcPts val="0"/>
              </a:spcBef>
              <a:spcAft>
                <a:spcPts val="600"/>
              </a:spcAft>
            </a:pPr>
            <a:r>
              <a:rPr sz="1200" b="0" i="0">
                <a:solidFill>
                  <a:srgbClr val="F6E6E9"/>
                </a:solidFill>
                <a:latin typeface="Calibri"/>
              </a:rPr>
              <a:t>A time series, split by date</a:t>
            </a:r>
          </a:p>
          <a:p>
            <a:pPr>
              <a:lnSpc>
                <a:spcPct val="115000"/>
              </a:lnSpc>
              <a:spcBef>
                <a:spcPts val="0"/>
              </a:spcBef>
              <a:spcAft>
                <a:spcPts val="600"/>
              </a:spcAft>
            </a:pPr>
            <a:r>
              <a:rPr sz="1200" b="0" i="0">
                <a:solidFill>
                  <a:srgbClr val="F6E6E9"/>
                </a:solidFill>
                <a:latin typeface="Calibri"/>
              </a:rPr>
              <a:t>A prescribed formula, and a finding</a:t>
            </a:r>
          </a:p>
          <a:p>
            <a:pPr>
              <a:lnSpc>
                <a:spcPct val="115000"/>
              </a:lnSpc>
              <a:spcBef>
                <a:spcPts val="0"/>
              </a:spcBef>
              <a:spcAft>
                <a:spcPts val="600"/>
              </a:spcAft>
            </a:pPr>
            <a:r>
              <a:rPr sz="1200" b="0" i="0">
                <a:solidFill>
                  <a:srgbClr val="F6E6E9"/>
                </a:solidFill>
                <a:latin typeface="Calibri"/>
              </a:rPr>
              <a:t>A bought score that drifts</a:t>
            </a:r>
          </a:p>
          <a:p>
            <a:pPr>
              <a:lnSpc>
                <a:spcPct val="115000"/>
              </a:lnSpc>
              <a:spcBef>
                <a:spcPts val="0"/>
              </a:spcBef>
              <a:spcAft>
                <a:spcPts val="600"/>
              </a:spcAft>
            </a:pPr>
            <a:r>
              <a:rPr sz="1200" b="0" i="0">
                <a:solidFill>
                  <a:srgbClr val="F6E6E9"/>
                </a:solidFill>
                <a:latin typeface="Calibri"/>
              </a:rPr>
              <a:t>A challenger that earns its place</a:t>
            </a:r>
          </a:p>
          <a:p>
            <a:pPr>
              <a:lnSpc>
                <a:spcPct val="115000"/>
              </a:lnSpc>
              <a:spcBef>
                <a:spcPts val="0"/>
              </a:spcBef>
              <a:spcAft>
                <a:spcPts val="600"/>
              </a:spcAft>
            </a:pPr>
            <a:r>
              <a:rPr sz="1200" b="0" i="0">
                <a:solidFill>
                  <a:srgbClr val="F6E6E9"/>
                </a:solidFill>
                <a:latin typeface="Calibri"/>
              </a:rPr>
              <a:t>A fairness question the law answers</a:t>
            </a:r>
          </a:p>
          <a:p>
            <a:pPr>
              <a:lnSpc>
                <a:spcPct val="115000"/>
              </a:lnSpc>
              <a:spcBef>
                <a:spcPts val="0"/>
              </a:spcBef>
              <a:spcAft>
                <a:spcPts val="600"/>
              </a:spcAft>
            </a:pPr>
            <a:r>
              <a:rPr sz="1200" b="0" i="0">
                <a:solidFill>
                  <a:srgbClr val="F6E6E9"/>
                </a:solidFill>
                <a:latin typeface="Calibri"/>
              </a:rPr>
              <a:t>An LLM application</a:t>
            </a:r>
          </a:p>
          <a:p>
            <a:pPr>
              <a:lnSpc>
                <a:spcPct val="115000"/>
              </a:lnSpc>
              <a:spcBef>
                <a:spcPts val="0"/>
              </a:spcBef>
              <a:spcAft>
                <a:spcPts val="600"/>
              </a:spcAft>
            </a:pPr>
            <a:r>
              <a:rPr sz="1200" b="0" i="0">
                <a:solidFill>
                  <a:srgbClr val="F6E6E9"/>
                </a:solidFill>
                <a:latin typeface="Calibri"/>
              </a:rPr>
              <a:t>Two of the originals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STUDIES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different in kind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graphicFrame>
        <p:nvGraphicFramePr>
          <p:cNvPr id="10" name="Table 9"/>
          <p:cNvGraphicFramePr>
            <a:graphicFrameLocks noGrp="1"/>
          </p:cNvGraphicFramePr>
          <p:nvPr/>
        </p:nvGraphicFramePr>
        <p:xfrm>
          <a:off x="777240" y="1386967"/>
          <a:ext cx="10637214" cy="4529772"/>
        </p:xfrm>
        <a:graphic>
          <a:graphicData uri="http://schemas.openxmlformats.org/drawingml/2006/table">
            <a:tbl>
              <a:tblPr firstRow="1">
                <a:tableStyleId>{5C22544A-7EE6-4342-B048-85BDC9FD1C3A}</a:tableStyleId>
              </a:tblPr>
              <a:tblGrid>
                <a:gridCol w="3545738"/>
                <a:gridCol w="3545738"/>
                <a:gridCol w="3545738"/>
              </a:tblGrid>
              <a:tr h="274320">
                <a:tc>
                  <a:txBody>
                    <a:bodyPr wrap="square"/>
                    <a:lstStyle/>
                    <a:p>
                      <a:r>
                        <a:rPr sz="950" b="1">
                          <a:solidFill>
                            <a:srgbClr val="FFFFFF"/>
                          </a:solidFill>
                          <a:latin typeface="Calibri"/>
                        </a:rPr>
                        <a:t>Study</a:t>
                      </a:r>
                    </a:p>
                  </a:txBody>
                  <a:tcPr marL="82296" marR="64008" marT="32004" marB="32004" anchor="ctr">
                    <a:solidFill>
                      <a:srgbClr val="A51C30"/>
                    </a:solidFill>
                  </a:tcPr>
                </a:tc>
                <a:tc>
                  <a:txBody>
                    <a:bodyPr wrap="square"/>
                    <a:lstStyle/>
                    <a:p>
                      <a:r>
                        <a:rPr sz="950" b="1">
                          <a:solidFill>
                            <a:srgbClr val="FFFFFF"/>
                          </a:solidFill>
                          <a:latin typeface="Calibri"/>
                        </a:rPr>
                        <a:t>Model</a:t>
                      </a:r>
                    </a:p>
                  </a:txBody>
                  <a:tcPr marL="82296" marR="64008" marT="32004" marB="32004" anchor="ctr">
                    <a:solidFill>
                      <a:srgbClr val="A51C30"/>
                    </a:solidFill>
                  </a:tcPr>
                </a:tc>
                <a:tc>
                  <a:txBody>
                    <a:bodyPr wrap="square"/>
                    <a:lstStyle/>
                    <a:p>
                      <a:r>
                        <a:rPr sz="950" b="1">
                          <a:solidFill>
                            <a:srgbClr val="FFFFFF"/>
                          </a:solidFill>
                          <a:latin typeface="Calibri"/>
                        </a:rPr>
                        <a:t>What it is really about</a:t>
                      </a:r>
                    </a:p>
                  </a:txBody>
                  <a:tcPr marL="82296" marR="64008" marT="32004" marB="32004" anchor="ctr">
                    <a:solidFill>
                      <a:srgbClr val="A51C30"/>
                    </a:solidFill>
                  </a:tcPr>
                </a:tc>
              </a:tr>
              <a:tr h="274320">
                <a:tc>
                  <a:txBody>
                    <a:bodyPr wrap="square"/>
                    <a:lstStyle/>
                    <a:p>
                      <a:r>
                        <a:rPr sz="950" b="1">
                          <a:solidFill>
                            <a:srgbClr val="761422"/>
                          </a:solidFill>
                          <a:latin typeface="Calibri"/>
                        </a:rPr>
                        <a:t>01 Retail PD scorecard</a:t>
                      </a:r>
                    </a:p>
                  </a:txBody>
                  <a:tcPr marL="82296" marR="64008" marT="32004" marB="32004" anchor="ctr">
                    <a:solidFill>
                      <a:srgbClr val="FFFFFF"/>
                    </a:solidFill>
                  </a:tcPr>
                </a:tc>
                <a:tc>
                  <a:txBody>
                    <a:bodyPr wrap="square"/>
                    <a:lstStyle/>
                    <a:p>
                      <a:r>
                        <a:rPr sz="950" b="0">
                          <a:solidFill>
                            <a:srgbClr val="1C1C1E"/>
                          </a:solidFill>
                          <a:latin typeface="Calibri"/>
                        </a:rPr>
                        <a:t>Fitted logistic</a:t>
                      </a:r>
                    </a:p>
                  </a:txBody>
                  <a:tcPr marL="82296" marR="64008" marT="32004" marB="32004" anchor="ctr">
                    <a:solidFill>
                      <a:srgbClr val="FFFFFF"/>
                    </a:solidFill>
                  </a:tcPr>
                </a:tc>
                <a:tc>
                  <a:txBody>
                    <a:bodyPr wrap="square"/>
                    <a:lstStyle/>
                    <a:p>
                      <a:r>
                        <a:rPr sz="950" b="0">
                          <a:solidFill>
                            <a:srgbClr val="1C1C1E"/>
                          </a:solidFill>
                          <a:latin typeface="Calibri"/>
                        </a:rPr>
                        <a:t>Bitemporality; a certificate that refuses every row</a:t>
                      </a:r>
                    </a:p>
                  </a:txBody>
                  <a:tcPr marL="82296" marR="64008" marT="32004" marB="32004" anchor="ctr">
                    <a:solidFill>
                      <a:srgbClr val="FFFFFF"/>
                    </a:solidFill>
                  </a:tcPr>
                </a:tc>
              </a:tr>
              <a:tr h="274320">
                <a:tc>
                  <a:txBody>
                    <a:bodyPr wrap="square"/>
                    <a:lstStyle/>
                    <a:p>
                      <a:r>
                        <a:rPr sz="950" b="1">
                          <a:solidFill>
                            <a:srgbClr val="761422"/>
                          </a:solidFill>
                          <a:latin typeface="Calibri"/>
                        </a:rPr>
                        <a:t>02 Mortgage cashflow</a:t>
                      </a:r>
                    </a:p>
                  </a:txBody>
                  <a:tcPr marL="82296" marR="64008" marT="32004" marB="32004" anchor="ctr">
                    <a:solidFill>
                      <a:srgbClr val="F6F3EF"/>
                    </a:solidFill>
                  </a:tcPr>
                </a:tc>
                <a:tc>
                  <a:txBody>
                    <a:bodyPr wrap="square"/>
                    <a:lstStyle/>
                    <a:p>
                      <a:r>
                        <a:rPr sz="950" b="0">
                          <a:solidFill>
                            <a:srgbClr val="1C1C1E"/>
                          </a:solidFill>
                          <a:latin typeface="Calibri"/>
                        </a:rPr>
                        <a:t>Closed form, no fit</a:t>
                      </a:r>
                    </a:p>
                  </a:txBody>
                  <a:tcPr marL="82296" marR="64008" marT="32004" marB="32004" anchor="ctr">
                    <a:solidFill>
                      <a:srgbClr val="F6F3EF"/>
                    </a:solidFill>
                  </a:tcPr>
                </a:tc>
                <a:tc>
                  <a:txBody>
                    <a:bodyPr wrap="square"/>
                    <a:lstStyle/>
                    <a:p>
                      <a:r>
                        <a:rPr sz="950" b="0">
                          <a:solidFill>
                            <a:srgbClr val="1C1C1E"/>
                          </a:solidFill>
                          <a:latin typeface="Calibri"/>
                        </a:rPr>
                        <a:t>Whether the desk's code is the approved mathematics</a:t>
                      </a:r>
                    </a:p>
                  </a:txBody>
                  <a:tcPr marL="82296" marR="64008" marT="32004" marB="32004" anchor="ctr">
                    <a:solidFill>
                      <a:srgbClr val="F6F3EF"/>
                    </a:solidFill>
                  </a:tcPr>
                </a:tc>
              </a:tr>
              <a:tr h="274320">
                <a:tc>
                  <a:txBody>
                    <a:bodyPr wrap="square"/>
                    <a:lstStyle/>
                    <a:p>
                      <a:r>
                        <a:rPr sz="950" b="1">
                          <a:solidFill>
                            <a:srgbClr val="761422"/>
                          </a:solidFill>
                          <a:latin typeface="Calibri"/>
                        </a:rPr>
                        <a:t>03 Mortgage prepayment</a:t>
                      </a:r>
                    </a:p>
                  </a:txBody>
                  <a:tcPr marL="82296" marR="64008" marT="32004" marB="32004" anchor="ctr">
                    <a:solidFill>
                      <a:srgbClr val="FFFFFF"/>
                    </a:solidFill>
                  </a:tcPr>
                </a:tc>
                <a:tc>
                  <a:txBody>
                    <a:bodyPr wrap="square"/>
                    <a:lstStyle/>
                    <a:p>
                      <a:r>
                        <a:rPr sz="950" b="0">
                          <a:solidFill>
                            <a:srgbClr val="1C1C1E"/>
                          </a:solidFill>
                          <a:latin typeface="Calibri"/>
                        </a:rPr>
                        <a:t>Fitted hazard</a:t>
                      </a:r>
                    </a:p>
                  </a:txBody>
                  <a:tcPr marL="82296" marR="64008" marT="32004" marB="32004" anchor="ctr">
                    <a:solidFill>
                      <a:srgbClr val="FFFFFF"/>
                    </a:solidFill>
                  </a:tcPr>
                </a:tc>
                <a:tc>
                  <a:txBody>
                    <a:bodyPr wrap="square"/>
                    <a:lstStyle/>
                    <a:p>
                      <a:r>
                        <a:rPr sz="950" b="0">
                          <a:solidFill>
                            <a:srgbClr val="1C1C1E"/>
                          </a:solidFill>
                          <a:latin typeface="Calibri"/>
                        </a:rPr>
                        <a:t>A change priced by shadow replay before approval</a:t>
                      </a:r>
                    </a:p>
                  </a:txBody>
                  <a:tcPr marL="82296" marR="64008" marT="32004" marB="32004" anchor="ctr">
                    <a:solidFill>
                      <a:srgbClr val="FFFFFF"/>
                    </a:solidFill>
                  </a:tcPr>
                </a:tc>
              </a:tr>
              <a:tr h="274320">
                <a:tc>
                  <a:txBody>
                    <a:bodyPr wrap="square"/>
                    <a:lstStyle/>
                    <a:p>
                      <a:r>
                        <a:rPr sz="950" b="1">
                          <a:solidFill>
                            <a:srgbClr val="761422"/>
                          </a:solidFill>
                          <a:latin typeface="Calibri"/>
                        </a:rPr>
                        <a:t>04 HELOC exposure</a:t>
                      </a:r>
                    </a:p>
                  </a:txBody>
                  <a:tcPr marL="82296" marR="64008" marT="32004" marB="32004" anchor="ctr">
                    <a:solidFill>
                      <a:srgbClr val="F6F3EF"/>
                    </a:solidFill>
                  </a:tcPr>
                </a:tc>
                <a:tc>
                  <a:txBody>
                    <a:bodyPr wrap="square"/>
                    <a:lstStyle/>
                    <a:p>
                      <a:r>
                        <a:rPr sz="950" b="0">
                          <a:solidFill>
                            <a:srgbClr val="1C1C1E"/>
                          </a:solidFill>
                          <a:latin typeface="Calibri"/>
                        </a:rPr>
                        <a:t>Composite router</a:t>
                      </a:r>
                    </a:p>
                  </a:txBody>
                  <a:tcPr marL="82296" marR="64008" marT="32004" marB="32004" anchor="ctr">
                    <a:solidFill>
                      <a:srgbClr val="F6F3EF"/>
                    </a:solidFill>
                  </a:tcPr>
                </a:tc>
                <a:tc>
                  <a:txBody>
                    <a:bodyPr wrap="square"/>
                    <a:lstStyle/>
                    <a:p>
                      <a:r>
                        <a:rPr sz="950" b="0">
                          <a:solidFill>
                            <a:srgbClr val="1C1C1E"/>
                          </a:solidFill>
                          <a:latin typeface="Calibri"/>
                        </a:rPr>
                        <a:t>Two members, two parameter sets, one seal</a:t>
                      </a:r>
                    </a:p>
                  </a:txBody>
                  <a:tcPr marL="82296" marR="64008" marT="32004" marB="32004" anchor="ctr">
                    <a:solidFill>
                      <a:srgbClr val="F6F3EF"/>
                    </a:solidFill>
                  </a:tcPr>
                </a:tc>
              </a:tr>
              <a:tr h="274320">
                <a:tc>
                  <a:txBody>
                    <a:bodyPr wrap="square"/>
                    <a:lstStyle/>
                    <a:p>
                      <a:r>
                        <a:rPr sz="950" b="1">
                          <a:solidFill>
                            <a:srgbClr val="761422"/>
                          </a:solidFill>
                          <a:latin typeface="Calibri"/>
                        </a:rPr>
                        <a:t>05 Option pricing</a:t>
                      </a:r>
                    </a:p>
                  </a:txBody>
                  <a:tcPr marL="82296" marR="64008" marT="32004" marB="32004" anchor="ctr">
                    <a:solidFill>
                      <a:srgbClr val="FFFFFF"/>
                    </a:solidFill>
                  </a:tcPr>
                </a:tc>
                <a:tc>
                  <a:txBody>
                    <a:bodyPr wrap="square"/>
                    <a:lstStyle/>
                    <a:p>
                      <a:r>
                        <a:rPr sz="950" b="0">
                          <a:solidFill>
                            <a:srgbClr val="1C1C1E"/>
                          </a:solidFill>
                          <a:latin typeface="Calibri"/>
                        </a:rPr>
                        <a:t>Calibrated closed form</a:t>
                      </a:r>
                    </a:p>
                  </a:txBody>
                  <a:tcPr marL="82296" marR="64008" marT="32004" marB="32004" anchor="ctr">
                    <a:solidFill>
                      <a:srgbClr val="FFFFFF"/>
                    </a:solidFill>
                  </a:tcPr>
                </a:tc>
                <a:tc>
                  <a:txBody>
                    <a:bodyPr wrap="square"/>
                    <a:lstStyle/>
                    <a:p>
                      <a:r>
                        <a:rPr sz="950" b="0">
                          <a:solidFill>
                            <a:srgbClr val="1C1C1E"/>
                          </a:solidFill>
                          <a:latin typeface="Calibri"/>
                        </a:rPr>
                        <a:t>A parameter nobody can observe</a:t>
                      </a:r>
                    </a:p>
                  </a:txBody>
                  <a:tcPr marL="82296" marR="64008" marT="32004" marB="32004" anchor="ctr">
                    <a:solidFill>
                      <a:srgbClr val="FFFFFF"/>
                    </a:solidFill>
                  </a:tcPr>
                </a:tc>
              </a:tr>
              <a:tr h="274320">
                <a:tc>
                  <a:txBody>
                    <a:bodyPr wrap="square"/>
                    <a:lstStyle/>
                    <a:p>
                      <a:r>
                        <a:rPr sz="950" b="1">
                          <a:solidFill>
                            <a:srgbClr val="761422"/>
                          </a:solidFill>
                          <a:latin typeface="Calibri"/>
                        </a:rPr>
                        <a:t>06 IFRS 9 ECL</a:t>
                      </a:r>
                    </a:p>
                  </a:txBody>
                  <a:tcPr marL="82296" marR="64008" marT="32004" marB="32004" anchor="ctr">
                    <a:solidFill>
                      <a:srgbClr val="F6F3EF"/>
                    </a:solidFill>
                  </a:tcPr>
                </a:tc>
                <a:tc>
                  <a:txBody>
                    <a:bodyPr wrap="square"/>
                    <a:lstStyle/>
                    <a:p>
                      <a:r>
                        <a:rPr sz="950" b="0">
                          <a:solidFill>
                            <a:srgbClr val="1C1C1E"/>
                          </a:solidFill>
                          <a:latin typeface="Calibri"/>
                        </a:rPr>
                        <a:t>Composite</a:t>
                      </a:r>
                    </a:p>
                  </a:txBody>
                  <a:tcPr marL="82296" marR="64008" marT="32004" marB="32004" anchor="ctr">
                    <a:solidFill>
                      <a:srgbClr val="F6F3EF"/>
                    </a:solidFill>
                  </a:tcPr>
                </a:tc>
                <a:tc>
                  <a:txBody>
                    <a:bodyPr wrap="square"/>
                    <a:lstStyle/>
                    <a:p>
                      <a:r>
                        <a:rPr sz="950" b="0">
                          <a:solidFill>
                            <a:srgbClr val="1C1C1E"/>
                          </a:solidFill>
                          <a:latin typeface="Calibri"/>
                        </a:rPr>
                        <a:t>Committee judgements as approved parameter sets</a:t>
                      </a:r>
                    </a:p>
                  </a:txBody>
                  <a:tcPr marL="82296" marR="64008" marT="32004" marB="32004" anchor="ctr">
                    <a:solidFill>
                      <a:srgbClr val="F6F3EF"/>
                    </a:solidFill>
                  </a:tcPr>
                </a:tc>
              </a:tr>
              <a:tr h="274320">
                <a:tc>
                  <a:txBody>
                    <a:bodyPr wrap="square"/>
                    <a:lstStyle/>
                    <a:p>
                      <a:r>
                        <a:rPr sz="950" b="1">
                          <a:solidFill>
                            <a:srgbClr val="761422"/>
                          </a:solidFill>
                          <a:latin typeface="Calibri"/>
                        </a:rPr>
                        <a:t>07 Card-fraud network</a:t>
                      </a:r>
                    </a:p>
                  </a:txBody>
                  <a:tcPr marL="82296" marR="64008" marT="32004" marB="32004" anchor="ctr">
                    <a:solidFill>
                      <a:srgbClr val="FFFFFF"/>
                    </a:solidFill>
                  </a:tcPr>
                </a:tc>
                <a:tc>
                  <a:txBody>
                    <a:bodyPr wrap="square"/>
                    <a:lstStyle/>
                    <a:p>
                      <a:r>
                        <a:rPr sz="950" b="0">
                          <a:solidFill>
                            <a:srgbClr val="1C1C1E"/>
                          </a:solidFill>
                          <a:latin typeface="Calibri"/>
                        </a:rPr>
                        <a:t>Declared black box</a:t>
                      </a:r>
                    </a:p>
                  </a:txBody>
                  <a:tcPr marL="82296" marR="64008" marT="32004" marB="32004" anchor="ctr">
                    <a:solidFill>
                      <a:srgbClr val="FFFFFF"/>
                    </a:solidFill>
                  </a:tcPr>
                </a:tc>
                <a:tc>
                  <a:txBody>
                    <a:bodyPr wrap="square"/>
                    <a:lstStyle/>
                    <a:p>
                      <a:r>
                        <a:rPr sz="950" b="0">
                          <a:solidFill>
                            <a:srgbClr val="1C1C1E"/>
                          </a:solidFill>
                          <a:latin typeface="Calibri"/>
                        </a:rPr>
                        <a:t>What is left to hold to account</a:t>
                      </a:r>
                    </a:p>
                  </a:txBody>
                  <a:tcPr marL="82296" marR="64008" marT="32004" marB="32004" anchor="ctr">
                    <a:solidFill>
                      <a:srgbClr val="FFFFFF"/>
                    </a:solidFill>
                  </a:tcPr>
                </a:tc>
              </a:tr>
              <a:tr h="414972">
                <a:tc>
                  <a:txBody>
                    <a:bodyPr wrap="square"/>
                    <a:lstStyle/>
                    <a:p>
                      <a:r>
                        <a:rPr sz="950" b="1">
                          <a:solidFill>
                            <a:srgbClr val="761422"/>
                          </a:solidFill>
                          <a:latin typeface="Calibri"/>
                        </a:rPr>
                        <a:t>08 AR(2) and GARCH</a:t>
                      </a:r>
                    </a:p>
                  </a:txBody>
                  <a:tcPr marL="82296" marR="64008" marT="32004" marB="32004" anchor="ctr">
                    <a:solidFill>
                      <a:srgbClr val="F6F3EF"/>
                    </a:solidFill>
                  </a:tcPr>
                </a:tc>
                <a:tc>
                  <a:txBody>
                    <a:bodyPr wrap="square"/>
                    <a:lstStyle/>
                    <a:p>
                      <a:r>
                        <a:rPr sz="950" b="0">
                          <a:solidFill>
                            <a:srgbClr val="1C1C1E"/>
                          </a:solidFill>
                          <a:latin typeface="Calibri"/>
                        </a:rPr>
                        <a:t>Formula and black box</a:t>
                      </a:r>
                    </a:p>
                  </a:txBody>
                  <a:tcPr marL="82296" marR="64008" marT="32004" marB="32004" anchor="ctr">
                    <a:solidFill>
                      <a:srgbClr val="F6F3EF"/>
                    </a:solidFill>
                  </a:tcPr>
                </a:tc>
                <a:tc>
                  <a:txBody>
                    <a:bodyPr wrap="square"/>
                    <a:lstStyle/>
                    <a:p>
                      <a:r>
                        <a:rPr sz="950" b="0">
                          <a:solidFill>
                            <a:srgbClr val="1C1C1E"/>
                          </a:solidFill>
                          <a:latin typeface="Calibri"/>
                        </a:rPr>
                        <a:t>The last dates held out; joint stationarity constraints</a:t>
                      </a:r>
                    </a:p>
                  </a:txBody>
                  <a:tcPr marL="82296" marR="64008" marT="32004" marB="32004" anchor="ctr">
                    <a:solidFill>
                      <a:srgbClr val="F6F3EF"/>
                    </a:solidFill>
                  </a:tcPr>
                </a:tc>
              </a:tr>
              <a:tr h="274320">
                <a:tc>
                  <a:txBody>
                    <a:bodyPr wrap="square"/>
                    <a:lstStyle/>
                    <a:p>
                      <a:r>
                        <a:rPr sz="950" b="1">
                          <a:solidFill>
                            <a:srgbClr val="761422"/>
                          </a:solidFill>
                          <a:latin typeface="Calibri"/>
                        </a:rPr>
                        <a:t>09 Basel IRB capital</a:t>
                      </a:r>
                    </a:p>
                  </a:txBody>
                  <a:tcPr marL="82296" marR="64008" marT="32004" marB="32004" anchor="ctr">
                    <a:solidFill>
                      <a:srgbClr val="FFFFFF"/>
                    </a:solidFill>
                  </a:tcPr>
                </a:tc>
                <a:tc>
                  <a:txBody>
                    <a:bodyPr wrap="square"/>
                    <a:lstStyle/>
                    <a:p>
                      <a:r>
                        <a:rPr sz="950" b="0">
                          <a:solidFill>
                            <a:srgbClr val="1C1C1E"/>
                          </a:solidFill>
                          <a:latin typeface="Calibri"/>
                        </a:rPr>
                        <a:t>Prescribed formula</a:t>
                      </a:r>
                    </a:p>
                  </a:txBody>
                  <a:tcPr marL="82296" marR="64008" marT="32004" marB="32004" anchor="ctr">
                    <a:solidFill>
                      <a:srgbClr val="FFFFFF"/>
                    </a:solidFill>
                  </a:tcPr>
                </a:tc>
                <a:tc>
                  <a:txBody>
                    <a:bodyPr wrap="square"/>
                    <a:lstStyle/>
                    <a:p>
                      <a:r>
                        <a:rPr sz="950" b="0">
                          <a:solidFill>
                            <a:srgbClr val="1C1C1E"/>
                          </a:solidFill>
                          <a:latin typeface="Calibri"/>
                        </a:rPr>
                        <a:t>Reconciliation, a finding, independent closure</a:t>
                      </a:r>
                    </a:p>
                  </a:txBody>
                  <a:tcPr marL="82296" marR="64008" marT="32004" marB="32004" anchor="ctr">
                    <a:solidFill>
                      <a:srgbClr val="FFFFFF"/>
                    </a:solidFill>
                  </a:tcPr>
                </a:tc>
              </a:tr>
              <a:tr h="274320">
                <a:tc>
                  <a:txBody>
                    <a:bodyPr wrap="square"/>
                    <a:lstStyle/>
                    <a:p>
                      <a:r>
                        <a:rPr sz="950" b="1">
                          <a:solidFill>
                            <a:srgbClr val="761422"/>
                          </a:solidFill>
                          <a:latin typeface="Calibri"/>
                        </a:rPr>
                        <a:t>10 Factor models</a:t>
                      </a:r>
                    </a:p>
                  </a:txBody>
                  <a:tcPr marL="82296" marR="64008" marT="32004" marB="32004" anchor="ctr">
                    <a:solidFill>
                      <a:srgbClr val="F6F3EF"/>
                    </a:solidFill>
                  </a:tcPr>
                </a:tc>
                <a:tc>
                  <a:txBody>
                    <a:bodyPr wrap="square"/>
                    <a:lstStyle/>
                    <a:p>
                      <a:r>
                        <a:rPr sz="950" b="0">
                          <a:solidFill>
                            <a:srgbClr val="1C1C1E"/>
                          </a:solidFill>
                          <a:latin typeface="Calibri"/>
                        </a:rPr>
                        <a:t>Two versions</a:t>
                      </a:r>
                    </a:p>
                  </a:txBody>
                  <a:tcPr marL="82296" marR="64008" marT="32004" marB="32004" anchor="ctr">
                    <a:solidFill>
                      <a:srgbClr val="F6F3EF"/>
                    </a:solidFill>
                  </a:tcPr>
                </a:tc>
                <a:tc>
                  <a:txBody>
                    <a:bodyPr wrap="square"/>
                    <a:lstStyle/>
                    <a:p>
                      <a:r>
                        <a:rPr sz="950" b="0">
                          <a:solidFill>
                            <a:srgbClr val="1C1C1E"/>
                          </a:solidFill>
                          <a:latin typeface="Calibri"/>
                        </a:rPr>
                        <a:t>A semantic diff and the maturity ladder</a:t>
                      </a:r>
                    </a:p>
                  </a:txBody>
                  <a:tcPr marL="82296" marR="64008" marT="32004" marB="32004" anchor="ctr">
                    <a:solidFill>
                      <a:srgbClr val="F6F3EF"/>
                    </a:solidFill>
                  </a:tcPr>
                </a:tc>
              </a:tr>
              <a:tr h="274320">
                <a:tc>
                  <a:txBody>
                    <a:bodyPr wrap="square"/>
                    <a:lstStyle/>
                    <a:p>
                      <a:r>
                        <a:rPr sz="950" b="1">
                          <a:solidFill>
                            <a:srgbClr val="761422"/>
                          </a:solidFill>
                          <a:latin typeface="Calibri"/>
                        </a:rPr>
                        <a:t>11 Nelson–Siegel</a:t>
                      </a:r>
                    </a:p>
                  </a:txBody>
                  <a:tcPr marL="82296" marR="64008" marT="32004" marB="32004" anchor="ctr">
                    <a:solidFill>
                      <a:srgbClr val="FFFFFF"/>
                    </a:solidFill>
                  </a:tcPr>
                </a:tc>
                <a:tc>
                  <a:txBody>
                    <a:bodyPr wrap="square"/>
                    <a:lstStyle/>
                    <a:p>
                      <a:r>
                        <a:rPr sz="950" b="0">
                          <a:solidFill>
                            <a:srgbClr val="1C1C1E"/>
                          </a:solidFill>
                          <a:latin typeface="Calibri"/>
                        </a:rPr>
                        <a:t>Non-linear</a:t>
                      </a:r>
                    </a:p>
                  </a:txBody>
                  <a:tcPr marL="82296" marR="64008" marT="32004" marB="32004" anchor="ctr">
                    <a:solidFill>
                      <a:srgbClr val="FFFFFF"/>
                    </a:solidFill>
                  </a:tcPr>
                </a:tc>
                <a:tc>
                  <a:txBody>
                    <a:bodyPr wrap="square"/>
                    <a:lstStyle/>
                    <a:p>
                      <a:r>
                        <a:rPr sz="950" b="0">
                          <a:solidFill>
                            <a:srgbClr val="1C1C1E"/>
                          </a:solidFill>
                          <a:latin typeface="Calibri"/>
                        </a:rPr>
                        <a:t>A bug a recalibration absorbs exactly</a:t>
                      </a:r>
                    </a:p>
                  </a:txBody>
                  <a:tcPr marL="82296" marR="64008" marT="32004" marB="32004" anchor="ctr">
                    <a:solidFill>
                      <a:srgbClr val="FFFFFF"/>
                    </a:solidFill>
                  </a:tcPr>
                </a:tc>
              </a:tr>
              <a:tr h="274320">
                <a:tc>
                  <a:txBody>
                    <a:bodyPr wrap="square"/>
                    <a:lstStyle/>
                    <a:p>
                      <a:r>
                        <a:rPr sz="950" b="1">
                          <a:solidFill>
                            <a:srgbClr val="761422"/>
                          </a:solidFill>
                          <a:latin typeface="Calibri"/>
                        </a:rPr>
                        <a:t>19 Vendor bureau score</a:t>
                      </a:r>
                    </a:p>
                  </a:txBody>
                  <a:tcPr marL="82296" marR="64008" marT="32004" marB="32004" anchor="ctr">
                    <a:solidFill>
                      <a:srgbClr val="F6F3EF"/>
                    </a:solidFill>
                  </a:tcPr>
                </a:tc>
                <a:tc>
                  <a:txBody>
                    <a:bodyPr wrap="square"/>
                    <a:lstStyle/>
                    <a:p>
                      <a:r>
                        <a:rPr sz="950" b="0">
                          <a:solidFill>
                            <a:srgbClr val="1C1C1E"/>
                          </a:solidFill>
                          <a:latin typeface="Calibri"/>
                        </a:rPr>
                        <a:t>Bought, from MLflow</a:t>
                      </a:r>
                    </a:p>
                  </a:txBody>
                  <a:tcPr marL="82296" marR="64008" marT="32004" marB="32004" anchor="ctr">
                    <a:solidFill>
                      <a:srgbClr val="F6F3EF"/>
                    </a:solidFill>
                  </a:tcPr>
                </a:tc>
                <a:tc>
                  <a:txBody>
                    <a:bodyPr wrap="square"/>
                    <a:lstStyle/>
                    <a:p>
                      <a:r>
                        <a:rPr sz="950" b="0">
                          <a:solidFill>
                            <a:srgbClr val="1C1C1E"/>
                          </a:solidFill>
                          <a:latin typeface="Calibri"/>
                        </a:rPr>
                        <a:t>Blind scoring in the sandbox; drift to breach</a:t>
                      </a:r>
                    </a:p>
                  </a:txBody>
                  <a:tcPr marL="82296" marR="64008" marT="32004" marB="32004" anchor="ctr">
                    <a:solidFill>
                      <a:srgbClr val="F6F3EF"/>
                    </a:solidFill>
                  </a:tcPr>
                </a:tc>
              </a:tr>
              <a:tr h="274320">
                <a:tc>
                  <a:txBody>
                    <a:bodyPr wrap="square"/>
                    <a:lstStyle/>
                    <a:p>
                      <a:r>
                        <a:rPr sz="950" b="1">
                          <a:solidFill>
                            <a:srgbClr val="761422"/>
                          </a:solidFill>
                          <a:latin typeface="Calibri"/>
                        </a:rPr>
                        <a:t>42 Demand elasticity</a:t>
                      </a:r>
                    </a:p>
                  </a:txBody>
                  <a:tcPr marL="82296" marR="64008" marT="32004" marB="32004" anchor="ctr">
                    <a:solidFill>
                      <a:srgbClr val="FFFFFF"/>
                    </a:solidFill>
                  </a:tcPr>
                </a:tc>
                <a:tc>
                  <a:txBody>
                    <a:bodyPr wrap="square"/>
                    <a:lstStyle/>
                    <a:p>
                      <a:r>
                        <a:rPr sz="950" b="0">
                          <a:solidFill>
                            <a:srgbClr val="1C1C1E"/>
                          </a:solidFill>
                          <a:latin typeface="Calibri"/>
                        </a:rPr>
                        <a:t>Linear vs log-log</a:t>
                      </a:r>
                    </a:p>
                  </a:txBody>
                  <a:tcPr marL="82296" marR="64008" marT="32004" marB="32004" anchor="ctr">
                    <a:solidFill>
                      <a:srgbClr val="FFFFFF"/>
                    </a:solidFill>
                  </a:tcPr>
                </a:tc>
                <a:tc>
                  <a:txBody>
                    <a:bodyPr wrap="square"/>
                    <a:lstStyle/>
                    <a:p>
                      <a:r>
                        <a:rPr sz="950" b="0">
                          <a:solidFill>
                            <a:srgbClr val="1C1C1E"/>
                          </a:solidFill>
                          <a:latin typeface="Calibri"/>
                        </a:rPr>
                        <a:t>Champion and challenger with a paired interval</a:t>
                      </a:r>
                    </a:p>
                  </a:txBody>
                  <a:tcPr marL="82296" marR="64008" marT="32004" marB="32004" anchor="ctr">
                    <a:solidFill>
                      <a:srgbClr val="FFFFFF"/>
                    </a:solidFill>
                  </a:tcPr>
                </a:tc>
              </a:tr>
              <a:tr h="274320">
                <a:tc>
                  <a:txBody>
                    <a:bodyPr wrap="square"/>
                    <a:lstStyle/>
                    <a:p>
                      <a:r>
                        <a:rPr sz="950" b="1">
                          <a:solidFill>
                            <a:srgbClr val="761422"/>
                          </a:solidFill>
                          <a:latin typeface="Calibri"/>
                        </a:rPr>
                        <a:t>45 Mortality table</a:t>
                      </a:r>
                    </a:p>
                  </a:txBody>
                  <a:tcPr marL="82296" marR="64008" marT="32004" marB="32004" anchor="ctr">
                    <a:solidFill>
                      <a:srgbClr val="F6F3EF"/>
                    </a:solidFill>
                  </a:tcPr>
                </a:tc>
                <a:tc>
                  <a:txBody>
                    <a:bodyPr wrap="square"/>
                    <a:lstStyle/>
                    <a:p>
                      <a:r>
                        <a:rPr sz="950" b="0">
                          <a:solidFill>
                            <a:srgbClr val="1C1C1E"/>
                          </a:solidFill>
                          <a:latin typeface="Calibri"/>
                        </a:rPr>
                        <a:t>Non-linear law</a:t>
                      </a:r>
                    </a:p>
                  </a:txBody>
                  <a:tcPr marL="82296" marR="64008" marT="32004" marB="32004" anchor="ctr">
                    <a:solidFill>
                      <a:srgbClr val="F6F3EF"/>
                    </a:solidFill>
                  </a:tcPr>
                </a:tc>
                <a:tc>
                  <a:txBody>
                    <a:bodyPr wrap="square"/>
                    <a:lstStyle/>
                    <a:p>
                      <a:r>
                        <a:rPr sz="950" b="0">
                          <a:solidFill>
                            <a:srgbClr val="1C1C1E"/>
                          </a:solidFill>
                          <a:latin typeface="Calibri"/>
                        </a:rPr>
                        <a:t>A bias the law requires, accepted in writing</a:t>
                      </a:r>
                    </a:p>
                  </a:txBody>
                  <a:tcPr marL="82296" marR="64008" marT="32004" marB="32004" anchor="ctr">
                    <a:solidFill>
                      <a:srgbClr val="F6F3EF"/>
                    </a:solidFill>
                  </a:tcPr>
                </a:tc>
              </a:tr>
              <a:tr h="274320">
                <a:tc>
                  <a:txBody>
                    <a:bodyPr wrap="square"/>
                    <a:lstStyle/>
                    <a:p>
                      <a:r>
                        <a:rPr sz="950" b="1">
                          <a:solidFill>
                            <a:srgbClr val="761422"/>
                          </a:solidFill>
                          <a:latin typeface="Calibri"/>
                        </a:rPr>
                        <a:t>49 Complaint triage</a:t>
                      </a:r>
                    </a:p>
                  </a:txBody>
                  <a:tcPr marL="82296" marR="64008" marT="32004" marB="32004" anchor="ctr">
                    <a:solidFill>
                      <a:srgbClr val="FFFFFF"/>
                    </a:solidFill>
                  </a:tcPr>
                </a:tc>
                <a:tc>
                  <a:txBody>
                    <a:bodyPr wrap="square"/>
                    <a:lstStyle/>
                    <a:p>
                      <a:r>
                        <a:rPr sz="950" b="0">
                          <a:solidFill>
                            <a:srgbClr val="1C1C1E"/>
                          </a:solidFill>
                          <a:latin typeface="Calibri"/>
                        </a:rPr>
                        <a:t>LLM application</a:t>
                      </a:r>
                    </a:p>
                  </a:txBody>
                  <a:tcPr marL="82296" marR="64008" marT="32004" marB="32004" anchor="ctr">
                    <a:solidFill>
                      <a:srgbClr val="FFFFFF"/>
                    </a:solidFill>
                  </a:tcPr>
                </a:tc>
                <a:tc>
                  <a:txBody>
                    <a:bodyPr wrap="square"/>
                    <a:lstStyle/>
                    <a:p>
                      <a:r>
                        <a:rPr sz="950" b="0">
                          <a:solidFill>
                            <a:srgbClr val="1C1C1E"/>
                          </a:solidFill>
                          <a:latin typeface="Calibri"/>
                        </a:rPr>
                        <a:t>Guardrails, evaluation sets, approval on evidence</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08 · AR(2) AND GARCH(1,1)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recursion MAYA cannot write, scored blind on the last dates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0.9754</a:t>
            </a:r>
          </a:p>
        </p:txBody>
      </p:sp>
      <p:sp>
        <p:nvSpPr>
          <p:cNvPr id="13" name="TextBox 12"/>
          <p:cNvSpPr txBox="1"/>
          <p:nvPr/>
        </p:nvSpPr>
        <p:spPr>
          <a:xfrm>
            <a:off x="978408"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fitted GARCH persistence alpha + beta; the generating process has 0.972</a:t>
            </a:r>
          </a:p>
        </p:txBody>
      </p:sp>
      <p:sp>
        <p:nvSpPr>
          <p:cNvPr id="14" name="Rectangle 13"/>
          <p:cNvSpPr/>
          <p:nvPr/>
        </p:nvSpPr>
        <p:spPr>
          <a:xfrm>
            <a:off x="3486835"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840</a:t>
            </a:r>
          </a:p>
        </p:txBody>
      </p:sp>
      <p:sp>
        <p:nvSpPr>
          <p:cNvPr id="17" name="TextBox 16"/>
          <p:cNvSpPr txBox="1"/>
          <p:nvPr/>
        </p:nvSpPr>
        <p:spPr>
          <a:xfrm>
            <a:off x="3688003"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escrowed rows: the last 280 days of each index, in date order</a:t>
            </a:r>
          </a:p>
        </p:txBody>
      </p:sp>
      <p:sp>
        <p:nvSpPr>
          <p:cNvPr id="18" name="Rectangle 17"/>
          <p:cNvSpPr/>
          <p:nvPr/>
        </p:nvSpPr>
        <p:spPr>
          <a:xfrm>
            <a:off x="6196431"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1.05</a:t>
            </a:r>
          </a:p>
        </p:txBody>
      </p:sp>
      <p:sp>
        <p:nvSpPr>
          <p:cNvPr id="21" name="TextBox 20"/>
          <p:cNvSpPr txBox="1"/>
          <p:nvPr/>
        </p:nvSpPr>
        <p:spPr>
          <a:xfrm>
            <a:off x="6397599"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 persistence offered and refused: each parameter fine, the pair explosive</a:t>
            </a:r>
          </a:p>
        </p:txBody>
      </p:sp>
      <p:sp>
        <p:nvSpPr>
          <p:cNvPr id="22" name="Rectangle 21"/>
          <p:cNvSpPr/>
          <p:nvPr/>
        </p:nvSpPr>
        <p:spPr>
          <a:xfrm>
            <a:off x="8906027"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8.7e-4</a:t>
            </a:r>
          </a:p>
        </p:txBody>
      </p:sp>
      <p:sp>
        <p:nvSpPr>
          <p:cNvPr id="25" name="TextBox 24"/>
          <p:cNvSpPr txBox="1"/>
          <p:nvPr/>
        </p:nvSpPr>
        <p:spPr>
          <a:xfrm>
            <a:off x="9107195"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forecast variance in a crash week, over the 6e-4 covenant: suspended</a:t>
            </a:r>
          </a:p>
        </p:txBody>
      </p:sp>
      <p:sp>
        <p:nvSpPr>
          <p:cNvPr id="26" name="TextBox 25"/>
          <p:cNvSpPr txBox="1"/>
          <p:nvPr/>
        </p:nvSpPr>
        <p:spPr>
          <a:xfrm>
            <a:off x="777240" y="2692082"/>
            <a:ext cx="10637215" cy="3553269"/>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lags of the AR(2) are transforms on the governed feature, so the mean model is a formula. GARCH carries yesterday's variance as a state no column holds, so it is a declared black box, run in the sandbox on 840 rows the developer never saw.</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warrants split by date: the earliest dates train and the last are the test. A random split trains on the future and scatters the rows a recursion must run through in order.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09 · BASEL IRB CAPITAL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bracket left out, found by reconciling every obligor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0.00982</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1, reconciled blind against the regulator's reference</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1.2e-16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largest miss with maturity inside one to five years: exact</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6.5m</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capital overstated on the year-end book: 179.6m against 173.1m</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5.7e-17</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RMSE of K for version 2, with the maturity floored at one year and capped at five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A model with nothing to fit is proved by reconciliation, and MAYA's leakage certificate records a written exception, because a reporting calculation uses figures finalised after the quarter-end by design.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validator raised a high finding; the owner fixed it as version 2, whose semantic diff is one statement; the owner was refused when she tried to close it herself, and the validator closed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19 · VENDOR BUREAU SCORE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bought score, validated blind and taken out of service by drift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Imported from its MLflow signature, its code run through the ladder in the strong sandbox, scored blind on 171 held-out applications: Brier 0.082, utilisation 43% of the importance. Then three months in production:</a:t>
            </a:r>
          </a:p>
        </p:txBody>
      </p:sp>
      <p:graphicFrame>
        <p:nvGraphicFramePr>
          <p:cNvPr id="11" name="Table 10"/>
          <p:cNvGraphicFramePr>
            <a:graphicFrameLocks noGrp="1"/>
          </p:cNvGraphicFramePr>
          <p:nvPr/>
        </p:nvGraphicFramePr>
        <p:xfrm>
          <a:off x="777240" y="1976247"/>
          <a:ext cx="10637215" cy="1322514"/>
        </p:xfrm>
        <a:graphic>
          <a:graphicData uri="http://schemas.openxmlformats.org/drawingml/2006/table">
            <a:tbl>
              <a:tblPr firstRow="1">
                <a:tableStyleId>{5C22544A-7EE6-4342-B048-85BDC9FD1C3A}</a:tableStyleId>
              </a:tblPr>
              <a:tblGrid>
                <a:gridCol w="2127443"/>
                <a:gridCol w="2127443"/>
                <a:gridCol w="2127443"/>
                <a:gridCol w="2127443"/>
                <a:gridCol w="2127443"/>
              </a:tblGrid>
              <a:tr h="318579">
                <a:tc>
                  <a:txBody>
                    <a:bodyPr wrap="square"/>
                    <a:lstStyle/>
                    <a:p>
                      <a:r>
                        <a:rPr sz="1300" b="1">
                          <a:solidFill>
                            <a:srgbClr val="FFFFFF"/>
                          </a:solidFill>
                          <a:latin typeface="Calibri"/>
                        </a:rPr>
                        <a:t>Month</a:t>
                      </a:r>
                    </a:p>
                  </a:txBody>
                  <a:tcPr marL="82296" marR="64008" marT="32004" marB="32004" anchor="ctr">
                    <a:solidFill>
                      <a:srgbClr val="A51C30"/>
                    </a:solidFill>
                  </a:tcPr>
                </a:tc>
                <a:tc>
                  <a:txBody>
                    <a:bodyPr wrap="square"/>
                    <a:lstStyle/>
                    <a:p>
                      <a:r>
                        <a:rPr sz="1300" b="1">
                          <a:solidFill>
                            <a:srgbClr val="FFFFFF"/>
                          </a:solidFill>
                          <a:latin typeface="Calibri"/>
                        </a:rPr>
                        <a:t>Mean utilisation</a:t>
                      </a:r>
                    </a:p>
                  </a:txBody>
                  <a:tcPr marL="82296" marR="64008" marT="32004" marB="32004" anchor="ctr">
                    <a:solidFill>
                      <a:srgbClr val="A51C30"/>
                    </a:solidFill>
                  </a:tcPr>
                </a:tc>
                <a:tc>
                  <a:txBody>
                    <a:bodyPr wrap="square"/>
                    <a:lstStyle/>
                    <a:p>
                      <a:r>
                        <a:rPr sz="1300" b="1">
                          <a:solidFill>
                            <a:srgbClr val="FFFFFF"/>
                          </a:solidFill>
                          <a:latin typeface="Calibri"/>
                        </a:rPr>
                        <a:t>PSI</a:t>
                      </a:r>
                    </a:p>
                  </a:txBody>
                  <a:tcPr marL="82296" marR="64008" marT="32004" marB="32004" anchor="ctr">
                    <a:solidFill>
                      <a:srgbClr val="A51C30"/>
                    </a:solidFill>
                  </a:tcPr>
                </a:tc>
                <a:tc>
                  <a:txBody>
                    <a:bodyPr wrap="square"/>
                    <a:lstStyle/>
                    <a:p>
                      <a:r>
                        <a:rPr sz="1300" b="1">
                          <a:solidFill>
                            <a:srgbClr val="FFFFFF"/>
                          </a:solidFill>
                          <a:latin typeface="Calibri"/>
                        </a:rPr>
                        <a:t>Warrant</a:t>
                      </a:r>
                    </a:p>
                  </a:txBody>
                  <a:tcPr marL="82296" marR="64008" marT="32004" marB="32004" anchor="ctr">
                    <a:solidFill>
                      <a:srgbClr val="A51C30"/>
                    </a:solidFill>
                  </a:tcPr>
                </a:tc>
                <a:tc>
                  <a:txBody>
                    <a:bodyPr wrap="square"/>
                    <a:lstStyle/>
                    <a:p>
                      <a:r>
                        <a:rPr sz="1300" b="1">
                          <a:solidFill>
                            <a:srgbClr val="FFFFFF"/>
                          </a:solidFill>
                          <a:latin typeface="Calibri"/>
                        </a:rPr>
                        <a:t>Dashboard</a:t>
                      </a:r>
                    </a:p>
                  </a:txBody>
                  <a:tcPr marL="82296" marR="64008" marT="32004" marB="32004" anchor="ctr">
                    <a:solidFill>
                      <a:srgbClr val="A51C30"/>
                    </a:solidFill>
                  </a:tcPr>
                </a:tc>
              </a:tr>
              <a:tr h="334645">
                <a:tc>
                  <a:txBody>
                    <a:bodyPr wrap="square"/>
                    <a:lstStyle/>
                    <a:p>
                      <a:r>
                        <a:rPr sz="1400" b="1">
                          <a:solidFill>
                            <a:srgbClr val="761422"/>
                          </a:solidFill>
                          <a:latin typeface="Calibri"/>
                        </a:rPr>
                        <a:t>January</a:t>
                      </a:r>
                    </a:p>
                  </a:txBody>
                  <a:tcPr marL="82296" marR="64008" marT="32004" marB="32004" anchor="ctr">
                    <a:solidFill>
                      <a:srgbClr val="FFFFFF"/>
                    </a:solidFill>
                  </a:tcPr>
                </a:tc>
                <a:tc>
                  <a:txBody>
                    <a:bodyPr wrap="square"/>
                    <a:lstStyle/>
                    <a:p>
                      <a:r>
                        <a:rPr sz="1400" b="0">
                          <a:solidFill>
                            <a:srgbClr val="1C1C1E"/>
                          </a:solidFill>
                          <a:latin typeface="Calibri"/>
                        </a:rPr>
                        <a:t>0.411</a:t>
                      </a:r>
                    </a:p>
                  </a:txBody>
                  <a:tcPr marL="82296" marR="64008" marT="32004" marB="32004" anchor="ctr">
                    <a:solidFill>
                      <a:srgbClr val="FFFFFF"/>
                    </a:solidFill>
                  </a:tcPr>
                </a:tc>
                <a:tc>
                  <a:txBody>
                    <a:bodyPr wrap="square"/>
                    <a:lstStyle/>
                    <a:p>
                      <a:r>
                        <a:rPr sz="1400" b="0">
                          <a:solidFill>
                            <a:srgbClr val="1C1C1E"/>
                          </a:solidFill>
                          <a:latin typeface="Calibri"/>
                        </a:rPr>
                        <a:t>0.009</a:t>
                      </a:r>
                    </a:p>
                  </a:txBody>
                  <a:tcPr marL="82296" marR="64008" marT="32004" marB="32004" anchor="ctr">
                    <a:solidFill>
                      <a:srgbClr val="FFFFFF"/>
                    </a:solidFill>
                  </a:tcPr>
                </a:tc>
                <a:tc>
                  <a:txBody>
                    <a:bodyPr wrap="square"/>
                    <a:lstStyle/>
                    <a:p>
                      <a:r>
                        <a:rPr sz="1400" b="0">
                          <a:solidFill>
                            <a:srgbClr val="1C1C1E"/>
                          </a:solidFill>
                          <a:latin typeface="Calibri"/>
                        </a:rPr>
                        <a:t>live</a:t>
                      </a:r>
                    </a:p>
                  </a:txBody>
                  <a:tcPr marL="82296" marR="64008" marT="32004" marB="32004" anchor="ctr">
                    <a:solidFill>
                      <a:srgbClr val="FFFFFF"/>
                    </a:solidFill>
                  </a:tcPr>
                </a:tc>
                <a:tc>
                  <a:txBody>
                    <a:bodyPr wrap="square"/>
                    <a:lstStyle/>
                    <a:p>
                      <a:r>
                        <a:rPr sz="1400" b="0">
                          <a:solidFill>
                            <a:srgbClr val="1C1C1E"/>
                          </a:solidFill>
                          <a:latin typeface="Calibri"/>
                        </a:rPr>
                        <a:t>ok</a:t>
                      </a:r>
                    </a:p>
                  </a:txBody>
                  <a:tcPr marL="82296" marR="64008" marT="32004" marB="32004" anchor="ctr">
                    <a:solidFill>
                      <a:srgbClr val="FFFFFF"/>
                    </a:solidFill>
                  </a:tcPr>
                </a:tc>
              </a:tr>
              <a:tr h="334645">
                <a:tc>
                  <a:txBody>
                    <a:bodyPr wrap="square"/>
                    <a:lstStyle/>
                    <a:p>
                      <a:r>
                        <a:rPr sz="1400" b="1">
                          <a:solidFill>
                            <a:srgbClr val="761422"/>
                          </a:solidFill>
                          <a:latin typeface="Calibri"/>
                        </a:rPr>
                        <a:t>February</a:t>
                      </a:r>
                    </a:p>
                  </a:txBody>
                  <a:tcPr marL="82296" marR="64008" marT="32004" marB="32004" anchor="ctr">
                    <a:solidFill>
                      <a:srgbClr val="F6F3EF"/>
                    </a:solidFill>
                  </a:tcPr>
                </a:tc>
                <a:tc>
                  <a:txBody>
                    <a:bodyPr wrap="square"/>
                    <a:lstStyle/>
                    <a:p>
                      <a:r>
                        <a:rPr sz="1400" b="0">
                          <a:solidFill>
                            <a:srgbClr val="1C1C1E"/>
                          </a:solidFill>
                          <a:latin typeface="Calibri"/>
                        </a:rPr>
                        <a:t>0.451</a:t>
                      </a:r>
                    </a:p>
                  </a:txBody>
                  <a:tcPr marL="82296" marR="64008" marT="32004" marB="32004" anchor="ctr">
                    <a:solidFill>
                      <a:srgbClr val="F6F3EF"/>
                    </a:solidFill>
                  </a:tcPr>
                </a:tc>
                <a:tc>
                  <a:txBody>
                    <a:bodyPr wrap="square"/>
                    <a:lstStyle/>
                    <a:p>
                      <a:r>
                        <a:rPr sz="1400" b="0">
                          <a:solidFill>
                            <a:srgbClr val="1C1C1E"/>
                          </a:solidFill>
                          <a:latin typeface="Calibri"/>
                        </a:rPr>
                        <a:t>0.109</a:t>
                      </a:r>
                    </a:p>
                  </a:txBody>
                  <a:tcPr marL="82296" marR="64008" marT="32004" marB="32004" anchor="ctr">
                    <a:solidFill>
                      <a:srgbClr val="F6F3EF"/>
                    </a:solidFill>
                  </a:tcPr>
                </a:tc>
                <a:tc>
                  <a:txBody>
                    <a:bodyPr wrap="square"/>
                    <a:lstStyle/>
                    <a:p>
                      <a:r>
                        <a:rPr sz="1400" b="0">
                          <a:solidFill>
                            <a:srgbClr val="1C1C1E"/>
                          </a:solidFill>
                          <a:latin typeface="Calibri"/>
                        </a:rPr>
                        <a:t>live</a:t>
                      </a:r>
                    </a:p>
                  </a:txBody>
                  <a:tcPr marL="82296" marR="64008" marT="32004" marB="32004" anchor="ctr">
                    <a:solidFill>
                      <a:srgbClr val="F6F3EF"/>
                    </a:solidFill>
                  </a:tcPr>
                </a:tc>
                <a:tc>
                  <a:txBody>
                    <a:bodyPr wrap="square"/>
                    <a:lstStyle/>
                    <a:p>
                      <a:r>
                        <a:rPr sz="1400" b="0">
                          <a:solidFill>
                            <a:srgbClr val="1C1C1E"/>
                          </a:solidFill>
                          <a:latin typeface="Calibri"/>
                        </a:rPr>
                        <a:t>watch</a:t>
                      </a:r>
                    </a:p>
                  </a:txBody>
                  <a:tcPr marL="82296" marR="64008" marT="32004" marB="32004" anchor="ctr">
                    <a:solidFill>
                      <a:srgbClr val="F6F3EF"/>
                    </a:solidFill>
                  </a:tcPr>
                </a:tc>
              </a:tr>
              <a:tr h="334645">
                <a:tc>
                  <a:txBody>
                    <a:bodyPr wrap="square"/>
                    <a:lstStyle/>
                    <a:p>
                      <a:r>
                        <a:rPr sz="1400" b="1">
                          <a:solidFill>
                            <a:srgbClr val="761422"/>
                          </a:solidFill>
                          <a:latin typeface="Calibri"/>
                        </a:rPr>
                        <a:t>March</a:t>
                      </a:r>
                    </a:p>
                  </a:txBody>
                  <a:tcPr marL="82296" marR="64008" marT="32004" marB="32004" anchor="ctr">
                    <a:solidFill>
                      <a:srgbClr val="FFFFFF"/>
                    </a:solidFill>
                  </a:tcPr>
                </a:tc>
                <a:tc>
                  <a:txBody>
                    <a:bodyPr wrap="square"/>
                    <a:lstStyle/>
                    <a:p>
                      <a:r>
                        <a:rPr sz="1400" b="0">
                          <a:solidFill>
                            <a:srgbClr val="1C1C1E"/>
                          </a:solidFill>
                          <a:latin typeface="Calibri"/>
                        </a:rPr>
                        <a:t>0.497</a:t>
                      </a:r>
                    </a:p>
                  </a:txBody>
                  <a:tcPr marL="82296" marR="64008" marT="32004" marB="32004" anchor="ctr">
                    <a:solidFill>
                      <a:srgbClr val="FFFFFF"/>
                    </a:solidFill>
                  </a:tcPr>
                </a:tc>
                <a:tc>
                  <a:txBody>
                    <a:bodyPr wrap="square"/>
                    <a:lstStyle/>
                    <a:p>
                      <a:r>
                        <a:rPr sz="1400" b="0">
                          <a:solidFill>
                            <a:srgbClr val="1C1C1E"/>
                          </a:solidFill>
                          <a:latin typeface="Calibri"/>
                        </a:rPr>
                        <a:t>0.438</a:t>
                      </a:r>
                    </a:p>
                  </a:txBody>
                  <a:tcPr marL="82296" marR="64008" marT="32004" marB="32004" anchor="ctr">
                    <a:solidFill>
                      <a:srgbClr val="FFFFFF"/>
                    </a:solidFill>
                  </a:tcPr>
                </a:tc>
                <a:tc>
                  <a:txBody>
                    <a:bodyPr wrap="square"/>
                    <a:lstStyle/>
                    <a:p>
                      <a:r>
                        <a:rPr sz="1400" b="0">
                          <a:solidFill>
                            <a:srgbClr val="1C1C1E"/>
                          </a:solidFill>
                          <a:latin typeface="Calibri"/>
                        </a:rPr>
                        <a:t>suspended</a:t>
                      </a:r>
                    </a:p>
                  </a:txBody>
                  <a:tcPr marL="82296" marR="64008" marT="32004" marB="32004" anchor="ctr">
                    <a:solidFill>
                      <a:srgbClr val="FFFFFF"/>
                    </a:solidFill>
                  </a:tcPr>
                </a:tc>
                <a:tc>
                  <a:txBody>
                    <a:bodyPr wrap="square"/>
                    <a:lstStyle/>
                    <a:p>
                      <a:r>
                        <a:rPr sz="1400" b="0">
                          <a:solidFill>
                            <a:srgbClr val="1C1C1E"/>
                          </a:solidFill>
                          <a:latin typeface="Calibri"/>
                        </a:rPr>
                        <a:t>breach</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42 · DEMAND ELASTICITY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Winning 60% of rows, and still clearly better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64</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0.2250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linear champion on 657 escrowed rows</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0.1940</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RMSE of the log-log challenger on the same rows</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1750" b="1" i="0">
                <a:solidFill>
                  <a:srgbClr val="A51C30"/>
                </a:solidFill>
                <a:latin typeface="Georgia"/>
              </a:rPr>
              <a:t>[−0.040, −0.022]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95% paired bootstrap interval for the difference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−1.62</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the challenger's elasticity; the data's true value is −1.6</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challenger wins only 60% of rows, but by more where it wins: at the deepest discount the straight line's error is 0.276 against 0.235, at the steepest rise 0.170 against 0.079. Two headline RMSEs hide that; a paired comparison shows it.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A warrant drawn with another seed was refused rather than compared, and the challenger's developer was refused the decision; a second manager promoted it, and the champion's live use was untouched.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45 · GOMPERTZ–MAKEHAM MORTALITY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Wrong by the same amount, in opposite directions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1.08</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MAE ratio between the sexes: by error size, nothing stands out</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+0.0259</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bias for women: the unisex table overstates their mortality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−0.0240</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bias for men: it understates theirs</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6.6 years</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age for mortality to double, from the calibrated Gompertz slope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For each sex the bias is nearly the whole error, so both segments are marked systematic. The first version of MAYA's fairness evidence flagged on MAE alone, ran this study, and reported nothing; the systematic flag is what it found.</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table must be unisex by law, so the finding is accepted, not fixed: by a manager, not the owner, with the ruling cited and the cross-subsidy reserved for.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49 · LLM COMPLAINT TRIAGE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Right about every category, and still not fit to use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triage application on the firm's own Azure OpenAI deployment, which MAYA does not call: answers are recorded where it runs and scored here.</a:t>
            </a:r>
          </a:p>
        </p:txBody>
      </p:sp>
      <p:graphicFrame>
        <p:nvGraphicFramePr>
          <p:cNvPr id="11" name="Table 10"/>
          <p:cNvGraphicFramePr>
            <a:graphicFrameLocks noGrp="1"/>
          </p:cNvGraphicFramePr>
          <p:nvPr/>
        </p:nvGraphicFramePr>
        <p:xfrm>
          <a:off x="777240" y="2040509"/>
          <a:ext cx="10637214" cy="3791140"/>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Run</a:t>
                      </a:r>
                    </a:p>
                  </a:txBody>
                  <a:tcPr marL="82296" marR="64008" marT="32004" marB="32004" anchor="ctr">
                    <a:solidFill>
                      <a:srgbClr val="A51C30"/>
                    </a:solidFill>
                  </a:tcPr>
                </a:tc>
                <a:tc>
                  <a:txBody>
                    <a:bodyPr wrap="square"/>
                    <a:lstStyle/>
                    <a:p>
                      <a:r>
                        <a:rPr sz="1300" b="1">
                          <a:solidFill>
                            <a:srgbClr val="FFFFFF"/>
                          </a:solidFill>
                          <a:latin typeface="Calibri"/>
                        </a:rPr>
                        <a:t>Passed</a:t>
                      </a:r>
                    </a:p>
                  </a:txBody>
                  <a:tcPr marL="82296" marR="64008" marT="32004" marB="32004" anchor="ctr">
                    <a:solidFill>
                      <a:srgbClr val="A51C30"/>
                    </a:solidFill>
                  </a:tcPr>
                </a:tc>
                <a:tc>
                  <a:txBody>
                    <a:bodyPr wrap="square"/>
                    <a:lstStyle/>
                    <a:p>
                      <a:r>
                        <a:rPr sz="1300" b="1">
                          <a:solidFill>
                            <a:srgbClr val="FFFFFF"/>
                          </a:solidFill>
                          <a:latin typeface="Calibri"/>
                        </a:rPr>
                        <a:t>What happened</a:t>
                      </a:r>
                    </a:p>
                  </a:txBody>
                  <a:tcPr marL="82296" marR="64008" marT="32004" marB="32004" anchor="ctr">
                    <a:solidFill>
                      <a:srgbClr val="A51C30"/>
                    </a:solidFill>
                  </a:tcPr>
                </a:tc>
              </a:tr>
              <a:tr h="784479">
                <a:tc>
                  <a:txBody>
                    <a:bodyPr wrap="square"/>
                    <a:lstStyle/>
                    <a:p>
                      <a:r>
                        <a:rPr sz="1400" b="1">
                          <a:solidFill>
                            <a:srgbClr val="761422"/>
                          </a:solidFill>
                          <a:latin typeface="Calibri"/>
                        </a:rPr>
                        <a:t>Version 1</a:t>
                      </a:r>
                    </a:p>
                  </a:txBody>
                  <a:tcPr marL="82296" marR="64008" marT="32004" marB="32004" anchor="ctr">
                    <a:solidFill>
                      <a:srgbClr val="FFFFFF"/>
                    </a:solidFill>
                  </a:tcPr>
                </a:tc>
                <a:tc>
                  <a:txBody>
                    <a:bodyPr wrap="square"/>
                    <a:lstStyle/>
                    <a:p>
                      <a:r>
                        <a:rPr sz="1400" b="0">
                          <a:solidFill>
                            <a:srgbClr val="1C1C1E"/>
                          </a:solidFill>
                          <a:latin typeface="Calibri"/>
                        </a:rPr>
                        <a:t>21 of 24</a:t>
                      </a:r>
                    </a:p>
                  </a:txBody>
                  <a:tcPr marL="82296" marR="64008" marT="32004" marB="32004" anchor="ctr">
                    <a:solidFill>
                      <a:srgbClr val="FFFFFF"/>
                    </a:solidFill>
                  </a:tcPr>
                </a:tc>
                <a:tc>
                  <a:txBody>
                    <a:bodyPr wrap="square"/>
                    <a:lstStyle/>
                    <a:p>
                      <a:r>
                        <a:rPr sz="1400" b="0">
                          <a:solidFill>
                            <a:srgbClr val="1C1C1E"/>
                          </a:solidFill>
                          <a:latin typeface="Calibri"/>
                        </a:rPr>
                        <a:t>Every category right; one promises a refund, two give or repeat phone and card numbers</a:t>
                      </a:r>
                    </a:p>
                  </a:txBody>
                  <a:tcPr marL="82296" marR="64008" marT="32004" marB="32004" anchor="ctr">
                    <a:solidFill>
                      <a:srgbClr val="FFFFFF"/>
                    </a:solidFill>
                  </a:tcPr>
                </a:tc>
              </a:tr>
              <a:tr h="784479">
                <a:tc>
                  <a:txBody>
                    <a:bodyPr wrap="square"/>
                    <a:lstStyle/>
                    <a:p>
                      <a:r>
                        <a:rPr sz="1400" b="1">
                          <a:solidFill>
                            <a:srgbClr val="761422"/>
                          </a:solidFill>
                          <a:latin typeface="Calibri"/>
                        </a:rPr>
                        <a:t>Draft fixed</a:t>
                      </a:r>
                    </a:p>
                  </a:txBody>
                  <a:tcPr marL="82296" marR="64008" marT="32004" marB="32004" anchor="ctr">
                    <a:solidFill>
                      <a:srgbClr val="F6F3EF"/>
                    </a:solidFill>
                  </a:tcPr>
                </a:tc>
                <a:tc>
                  <a:txBody>
                    <a:bodyPr wrap="square"/>
                    <a:lstStyle/>
                    <a:p>
                      <a:r>
                        <a:rPr sz="1400" b="0">
                          <a:solidFill>
                            <a:srgbClr val="1C1C1E"/>
                          </a:solidFill>
                          <a:latin typeface="Calibri"/>
                        </a:rPr>
                        <a:t>24 of 24</a:t>
                      </a:r>
                    </a:p>
                  </a:txBody>
                  <a:tcPr marL="82296" marR="64008" marT="32004" marB="32004" anchor="ctr">
                    <a:solidFill>
                      <a:srgbClr val="F6F3EF"/>
                    </a:solidFill>
                  </a:tcPr>
                </a:tc>
                <a:tc>
                  <a:txBody>
                    <a:bodyPr wrap="square"/>
                    <a:lstStyle/>
                    <a:p>
                      <a:r>
                        <a:rPr sz="1400" b="0">
                          <a:solidFill>
                            <a:srgbClr val="1C1C1E"/>
                          </a:solidFill>
                          <a:latin typeface="Calibri"/>
                        </a:rPr>
                        <a:t>Same version, new definition hash: the failing run no longer describes it</a:t>
                      </a:r>
                    </a:p>
                  </a:txBody>
                  <a:tcPr marL="82296" marR="64008" marT="32004" marB="32004" anchor="ctr">
                    <a:solidFill>
                      <a:srgbClr val="F6F3EF"/>
                    </a:solidFill>
                  </a:tcPr>
                </a:tc>
              </a:tr>
              <a:tr h="559562">
                <a:tc>
                  <a:txBody>
                    <a:bodyPr wrap="square"/>
                    <a:lstStyle/>
                    <a:p>
                      <a:r>
                        <a:rPr sz="1400" b="1">
                          <a:solidFill>
                            <a:srgbClr val="761422"/>
                          </a:solidFill>
                          <a:latin typeface="Calibri"/>
                        </a:rPr>
                        <a:t>Set extended</a:t>
                      </a:r>
                    </a:p>
                  </a:txBody>
                  <a:tcPr marL="82296" marR="64008" marT="32004" marB="32004" anchor="ctr">
                    <a:solidFill>
                      <a:srgbClr val="FFFFFF"/>
                    </a:solidFill>
                  </a:tcPr>
                </a:tc>
                <a:tc>
                  <a:txBody>
                    <a:bodyPr wrap="square"/>
                    <a:lstStyle/>
                    <a:p>
                      <a:r>
                        <a:rPr sz="1400" b="0">
                          <a:solidFill>
                            <a:srgbClr val="1C1C1E"/>
                          </a:solidFill>
                          <a:latin typeface="Calibri"/>
                        </a:rPr>
                        <a:t>refused</a:t>
                      </a:r>
                    </a:p>
                  </a:txBody>
                  <a:tcPr marL="82296" marR="64008" marT="32004" marB="32004" anchor="ctr">
                    <a:solidFill>
                      <a:srgbClr val="FFFFFF"/>
                    </a:solidFill>
                  </a:tcPr>
                </a:tc>
                <a:tc>
                  <a:txBody>
                    <a:bodyPr wrap="square"/>
                    <a:lstStyle/>
                    <a:p>
                      <a:r>
                        <a:rPr sz="1400" b="0">
                          <a:solidFill>
                            <a:srgbClr val="1C1C1E"/>
                          </a:solidFill>
                          <a:latin typeface="Calibri"/>
                        </a:rPr>
                        <a:t>A validator adds a Welsh complaint; the clean run no longer counts</a:t>
                      </a:r>
                    </a:p>
                  </a:txBody>
                  <a:tcPr marL="82296" marR="64008" marT="32004" marB="32004" anchor="ctr">
                    <a:solidFill>
                      <a:srgbClr val="FFFFFF"/>
                    </a:solidFill>
                  </a:tcPr>
                </a:tc>
              </a:tr>
              <a:tr h="784479">
                <a:tc>
                  <a:txBody>
                    <a:bodyPr wrap="square"/>
                    <a:lstStyle/>
                    <a:p>
                      <a:r>
                        <a:rPr sz="1400" b="1">
                          <a:solidFill>
                            <a:srgbClr val="761422"/>
                          </a:solidFill>
                          <a:latin typeface="Calibri"/>
                        </a:rPr>
                        <a:t>Scored again</a:t>
                      </a:r>
                    </a:p>
                  </a:txBody>
                  <a:tcPr marL="82296" marR="64008" marT="32004" marB="32004" anchor="ctr">
                    <a:solidFill>
                      <a:srgbClr val="F6F3EF"/>
                    </a:solidFill>
                  </a:tcPr>
                </a:tc>
                <a:tc>
                  <a:txBody>
                    <a:bodyPr wrap="square"/>
                    <a:lstStyle/>
                    <a:p>
                      <a:r>
                        <a:rPr sz="1400" b="0">
                          <a:solidFill>
                            <a:srgbClr val="1C1C1E"/>
                          </a:solidFill>
                          <a:latin typeface="Calibri"/>
                        </a:rPr>
                        <a:t>25 of 25</a:t>
                      </a:r>
                    </a:p>
                  </a:txBody>
                  <a:tcPr marL="82296" marR="64008" marT="32004" marB="32004" anchor="ctr">
                    <a:solidFill>
                      <a:srgbClr val="F6F3EF"/>
                    </a:solidFill>
                  </a:tcPr>
                </a:tc>
                <a:tc>
                  <a:txBody>
                    <a:bodyPr wrap="square"/>
                    <a:lstStyle/>
                    <a:p>
                      <a:r>
                        <a:rPr sz="1400" b="0">
                          <a:solidFill>
                            <a:srgbClr val="1C1C1E"/>
                          </a:solidFill>
                          <a:latin typeface="Calibri"/>
                        </a:rPr>
                        <a:t>Submitted, the owner refused approval, approved by a model manager</a:t>
                      </a:r>
                    </a:p>
                  </a:txBody>
                  <a:tcPr marL="82296" marR="64008" marT="32004" marB="32004" anchor="ctr">
                    <a:solidFill>
                      <a:srgbClr val="F6F3EF"/>
                    </a:solidFill>
                  </a:tcPr>
                </a:tc>
              </a:tr>
              <a:tr h="559562">
                <a:tc>
                  <a:txBody>
                    <a:bodyPr wrap="square"/>
                    <a:lstStyle/>
                    <a:p>
                      <a:r>
                        <a:rPr sz="1400" b="1">
                          <a:solidFill>
                            <a:srgbClr val="761422"/>
                          </a:solidFill>
                          <a:latin typeface="Calibri"/>
                        </a:rPr>
                        <a:t>A later change</a:t>
                      </a:r>
                    </a:p>
                  </a:txBody>
                  <a:tcPr marL="82296" marR="64008" marT="32004" marB="32004" anchor="ctr">
                    <a:solidFill>
                      <a:srgbClr val="FFFFFF"/>
                    </a:solidFill>
                  </a:tcPr>
                </a:tc>
                <a:tc>
                  <a:txBody>
                    <a:bodyPr wrap="square"/>
                    <a:lstStyle/>
                    <a:p>
                      <a:r>
                        <a:rPr sz="1400" b="0">
                          <a:solidFill>
                            <a:srgbClr val="1C1C1E"/>
                          </a:solidFill>
                          <a:latin typeface="Calibri"/>
                        </a:rPr>
                        <a:t>v2 draft</a:t>
                      </a:r>
                    </a:p>
                  </a:txBody>
                  <a:tcPr marL="82296" marR="64008" marT="32004" marB="32004" anchor="ctr">
                    <a:solidFill>
                      <a:srgbClr val="FFFFFF"/>
                    </a:solidFill>
                  </a:tcPr>
                </a:tc>
                <a:tc>
                  <a:txBody>
                    <a:bodyPr wrap="square"/>
                    <a:lstStyle/>
                    <a:p>
                      <a:r>
                        <a:rPr sz="1400" b="0">
                          <a:solidFill>
                            <a:srgbClr val="1C1C1E"/>
                          </a:solidFill>
                          <a:latin typeface="Calibri"/>
                        </a:rPr>
                        <a:t>An approved definition never changes; version 1 stays in use</a:t>
                      </a:r>
                    </a:p>
                  </a:txBody>
                  <a:tcPr marL="82296" marR="64008" marT="32004" marB="32004"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8 · Fifteen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9</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numbers a reviewer can check, the limits stated as decisions rather than left to be discovered, and where to start.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is measured</a:t>
            </a:r>
          </a:p>
          <a:p>
            <a:pPr>
              <a:lnSpc>
                <a:spcPct val="115000"/>
              </a:lnSpc>
              <a:spcBef>
                <a:spcPts val="0"/>
              </a:spcBef>
              <a:spcAft>
                <a:spcPts val="600"/>
              </a:spcAft>
            </a:pPr>
            <a:r>
              <a:rPr sz="1200" b="0" i="0">
                <a:solidFill>
                  <a:srgbClr val="F6E6E9"/>
                </a:solidFill>
                <a:latin typeface="Calibri"/>
              </a:rPr>
              <a:t>What MAYA does not do</a:t>
            </a:r>
          </a:p>
          <a:p>
            <a:pPr>
              <a:lnSpc>
                <a:spcPct val="115000"/>
              </a:lnSpc>
              <a:spcBef>
                <a:spcPts val="0"/>
              </a:spcBef>
              <a:spcAft>
                <a:spcPts val="600"/>
              </a:spcAft>
            </a:pPr>
            <a:r>
              <a:rPr sz="1200" b="0" i="0">
                <a:solidFill>
                  <a:srgbClr val="F6E6E9"/>
                </a:solidFill>
                <a:latin typeface="Calibri"/>
              </a:rPr>
              <a:t>Where to start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MEASURED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1.0.0, and the evidence for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2,109</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tests: 2,084 pass on SQLite and 25 are skipped by design (Keycloak, PostgreSQL-only, opt-in)</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4F57"/>
                </a:solidFill>
                <a:latin typeface="Calibri"/>
              </a:rPr>
              <a:t>gates that fail the build: typing, boundaries, parity, contrast, the API snapshot, security</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252</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API endpoints, each with an SDK method and a way to reach it from the UI</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case studies, each run from nothing by the suite</a:t>
            </a:r>
          </a:p>
        </p:txBody>
      </p:sp>
      <p:sp>
        <p:nvSpPr>
          <p:cNvPr id="26" name="TextBox 25"/>
          <p:cNvSpPr txBox="1"/>
          <p:nvPr/>
        </p:nvSpPr>
        <p:spPr>
          <a:xfrm>
            <a:off x="777240" y="2740279"/>
            <a:ext cx="10637215" cy="350507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Every example in the API guide and every step of the quick start was executed against a fresh install before it was written down.</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Benchmarks, the capacity targets and their measurement machine are in docs/quality/BENCHMARKS.md; the one target not met reliably on a shared workstation, 200 users on one node, is stated there.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LIMITS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does not do, stated rather than discovered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386967"/>
          <a:ext cx="10637214" cy="3341306"/>
        </p:xfrm>
        <a:graphic>
          <a:graphicData uri="http://schemas.openxmlformats.org/drawingml/2006/table">
            <a:tbl>
              <a:tblPr firstRow="1">
                <a:tableStyleId>{5C22544A-7EE6-4342-B048-85BDC9FD1C3A}</a:tableStyleId>
              </a:tblPr>
              <a:tblGrid>
                <a:gridCol w="5318607"/>
                <a:gridCol w="5318607"/>
              </a:tblGrid>
              <a:tr h="318579">
                <a:tc>
                  <a:txBody>
                    <a:bodyPr wrap="square"/>
                    <a:lstStyle/>
                    <a:p>
                      <a:r>
                        <a:rPr sz="1300" b="1">
                          <a:solidFill>
                            <a:srgbClr val="FFFFFF"/>
                          </a:solidFill>
                          <a:latin typeface="Calibri"/>
                        </a:rPr>
                        <a:t>Limit</a:t>
                      </a:r>
                    </a:p>
                  </a:txBody>
                  <a:tcPr marL="82296" marR="64008" marT="32004" marB="32004" anchor="ctr">
                    <a:solidFill>
                      <a:srgbClr val="A51C30"/>
                    </a:solidFill>
                  </a:tcPr>
                </a:tc>
                <a:tc>
                  <a:txBody>
                    <a:bodyPr wrap="square"/>
                    <a:lstStyle/>
                    <a:p>
                      <a:r>
                        <a:rPr sz="1300" b="1">
                          <a:solidFill>
                            <a:srgbClr val="FFFFFF"/>
                          </a:solidFill>
                          <a:latin typeface="Calibri"/>
                        </a:rPr>
                        <a:t>Why, and what it costs</a:t>
                      </a:r>
                    </a:p>
                  </a:txBody>
                  <a:tcPr marL="82296" marR="64008" marT="32004" marB="32004" anchor="ctr">
                    <a:solidFill>
                      <a:srgbClr val="A51C30"/>
                    </a:solidFill>
                  </a:tcPr>
                </a:tc>
              </a:tr>
              <a:tr h="559562">
                <a:tc>
                  <a:txBody>
                    <a:bodyPr wrap="square"/>
                    <a:lstStyle/>
                    <a:p>
                      <a:r>
                        <a:rPr sz="1400" b="1">
                          <a:solidFill>
                            <a:srgbClr val="761422"/>
                          </a:solidFill>
                          <a:latin typeface="Calibri"/>
                        </a:rPr>
                        <a:t>It trains and serves nothing itself</a:t>
                      </a:r>
                    </a:p>
                  </a:txBody>
                  <a:tcPr marL="82296" marR="64008" marT="32004" marB="32004" anchor="ctr">
                    <a:solidFill>
                      <a:srgbClr val="FFFFFF"/>
                    </a:solidFill>
                  </a:tcPr>
                </a:tc>
                <a:tc>
                  <a:txBody>
                    <a:bodyPr wrap="square"/>
                    <a:lstStyle/>
                    <a:p>
                      <a:r>
                        <a:rPr sz="1400" b="0">
                          <a:solidFill>
                            <a:srgbClr val="1C1C1E"/>
                          </a:solidFill>
                          <a:latin typeface="Calibri"/>
                        </a:rPr>
                        <a:t>By design: it licenses what an ML platform does, and batch-scores only what it can attest</a:t>
                      </a:r>
                    </a:p>
                  </a:txBody>
                  <a:tcPr marL="82296" marR="64008" marT="32004" marB="32004" anchor="ctr">
                    <a:solidFill>
                      <a:srgbClr val="FFFFFF"/>
                    </a:solidFill>
                  </a:tcPr>
                </a:tc>
              </a:tr>
              <a:tr h="784479">
                <a:tc>
                  <a:txBody>
                    <a:bodyPr wrap="square"/>
                    <a:lstStyle/>
                    <a:p>
                      <a:r>
                        <a:rPr sz="1400" b="1">
                          <a:solidFill>
                            <a:srgbClr val="761422"/>
                          </a:solidFill>
                          <a:latin typeface="Calibri"/>
                        </a:rPr>
                        <a:t>Linux is what is tested</a:t>
                      </a:r>
                    </a:p>
                  </a:txBody>
                  <a:tcPr marL="82296" marR="64008" marT="32004" marB="32004" anchor="ctr">
                    <a:solidFill>
                      <a:srgbClr val="F6F3EF"/>
                    </a:solidFill>
                  </a:tcPr>
                </a:tc>
                <a:tc>
                  <a:txBody>
                    <a:bodyPr wrap="square"/>
                    <a:lstStyle/>
                    <a:p>
                      <a:r>
                        <a:rPr sz="1400" b="0">
                          <a:solidFill>
                            <a:srgbClr val="1C1C1E"/>
                          </a:solidFill>
                          <a:latin typeface="Calibri"/>
                        </a:rPr>
                        <a:t>The case studies have run on Windows, but it is outside the test matrix and its sandbox has no OS isolation</a:t>
                      </a:r>
                    </a:p>
                  </a:txBody>
                  <a:tcPr marL="82296" marR="64008" marT="32004" marB="32004" anchor="ctr">
                    <a:solidFill>
                      <a:srgbClr val="F6F3EF"/>
                    </a:solidFill>
                  </a:tcPr>
                </a:tc>
              </a:tr>
              <a:tr h="559562">
                <a:tc>
                  <a:txBody>
                    <a:bodyPr wrap="square"/>
                    <a:lstStyle/>
                    <a:p>
                      <a:r>
                        <a:rPr sz="1400" b="1">
                          <a:solidFill>
                            <a:srgbClr val="761422"/>
                          </a:solidFill>
                          <a:latin typeface="Calibri"/>
                        </a:rPr>
                        <a:t>Connectors not met live</a:t>
                      </a:r>
                    </a:p>
                  </a:txBody>
                  <a:tcPr marL="82296" marR="64008" marT="32004" marB="32004" anchor="ctr">
                    <a:solidFill>
                      <a:srgbClr val="FFFFFF"/>
                    </a:solidFill>
                  </a:tcPr>
                </a:tc>
                <a:tc>
                  <a:txBody>
                    <a:bodyPr wrap="square"/>
                    <a:lstStyle/>
                    <a:p>
                      <a:r>
                        <a:rPr sz="1400" b="0">
                          <a:solidFill>
                            <a:srgbClr val="1C1C1E"/>
                          </a:solidFill>
                          <a:latin typeface="Calibri"/>
                        </a:rPr>
                        <a:t>MLflow, SageMaker, OpenLineage, Snowflake, Databricks tested against published documents only</a:t>
                      </a:r>
                    </a:p>
                  </a:txBody>
                  <a:tcPr marL="82296" marR="64008" marT="32004" marB="32004" anchor="ctr">
                    <a:solidFill>
                      <a:srgbClr val="FFFFFF"/>
                    </a:solidFill>
                  </a:tcPr>
                </a:tc>
              </a:tr>
              <a:tr h="559562">
                <a:tc>
                  <a:txBody>
                    <a:bodyPr wrap="square"/>
                    <a:lstStyle/>
                    <a:p>
                      <a:r>
                        <a:rPr sz="1400" b="1">
                          <a:solidFill>
                            <a:srgbClr val="761422"/>
                          </a:solidFill>
                          <a:latin typeface="Calibri"/>
                        </a:rPr>
                        <a:t>Live LLM runs, stubbed</a:t>
                      </a:r>
                    </a:p>
                  </a:txBody>
                  <a:tcPr marL="82296" marR="64008" marT="32004" marB="32004" anchor="ctr">
                    <a:solidFill>
                      <a:srgbClr val="F6F3EF"/>
                    </a:solidFill>
                  </a:tcPr>
                </a:tc>
                <a:tc>
                  <a:txBody>
                    <a:bodyPr wrap="square"/>
                    <a:lstStyle/>
                    <a:p>
                      <a:r>
                        <a:rPr sz="1400" b="0">
                          <a:solidFill>
                            <a:srgbClr val="1C1C1E"/>
                          </a:solidFill>
                          <a:latin typeface="Calibri"/>
                        </a:rPr>
                        <a:t>MAYA's own calls to a provider are tested against a stub; recorded runs are unaffected</a:t>
                      </a:r>
                    </a:p>
                  </a:txBody>
                  <a:tcPr marL="82296" marR="64008" marT="32004" marB="32004" anchor="ctr">
                    <a:solidFill>
                      <a:srgbClr val="F6F3EF"/>
                    </a:solidFill>
                  </a:tcPr>
                </a:tc>
              </a:tr>
              <a:tr h="559562">
                <a:tc>
                  <a:txBody>
                    <a:bodyPr wrap="square"/>
                    <a:lstStyle/>
                    <a:p>
                      <a:r>
                        <a:rPr sz="1400" b="1">
                          <a:solidFill>
                            <a:srgbClr val="761422"/>
                          </a:solidFill>
                          <a:latin typeface="Calibri"/>
                        </a:rPr>
                        <a:t>Not yet deployed at a supervised firm</a:t>
                      </a:r>
                    </a:p>
                  </a:txBody>
                  <a:tcPr marL="82296" marR="64008" marT="32004" marB="32004" anchor="ctr">
                    <a:solidFill>
                      <a:srgbClr val="FFFFFF"/>
                    </a:solidFill>
                  </a:tcPr>
                </a:tc>
                <a:tc>
                  <a:txBody>
                    <a:bodyPr wrap="square"/>
                    <a:lstStyle/>
                    <a:p>
                      <a:r>
                        <a:rPr sz="1400" b="0">
                          <a:solidFill>
                            <a:srgbClr val="1C1C1E"/>
                          </a:solidFill>
                          <a:latin typeface="Calibri"/>
                        </a:rPr>
                        <a:t>No external security review; one author's work, open for inspection</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Fifteen minutes to a running MAYA with a model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9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Three commands on a Linux machine with Python 3.13, then a case study to fill it.</a:t>
            </a:r>
          </a:p>
        </p:txBody>
      </p:sp>
      <p:sp>
        <p:nvSpPr>
          <p:cNvPr id="11" name="TextBox 10"/>
          <p:cNvSpPr txBox="1"/>
          <p:nvPr/>
        </p:nvSpPr>
        <p:spPr>
          <a:xfrm>
            <a:off x="777240" y="1796034"/>
            <a:ext cx="10637215" cy="444931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docs/getting-started/QUICKSTART.md</a:t>
            </a:r>
          </a:p>
          <a:p>
            <a:pPr lvl="1">
              <a:lnSpc>
                <a:spcPct val="120000"/>
              </a:lnSpc>
              <a:spcBef>
                <a:spcPts val="0"/>
              </a:spcBef>
              <a:spcAft>
                <a:spcPts val="0"/>
              </a:spcAft>
            </a:pPr>
            <a:r>
              <a:rPr sz="1550" b="0">
                <a:solidFill>
                  <a:srgbClr val="4A4F57"/>
                </a:solidFill>
                <a:latin typeface="Calibri"/>
              </a:rPr>
              <a:t>Nine steps, each saying what you should see and what to do if you do not; followed literally on a fresh clone.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case_studies/</a:t>
            </a:r>
          </a:p>
          <a:p>
            <a:pPr lvl="1">
              <a:lnSpc>
                <a:spcPct val="120000"/>
              </a:lnSpc>
              <a:spcBef>
                <a:spcPts val="0"/>
              </a:spcBef>
              <a:spcAft>
                <a:spcPts val="0"/>
              </a:spcAft>
            </a:pPr>
            <a:r>
              <a:rPr sz="1550" b="0">
                <a:solidFill>
                  <a:srgbClr val="4A4F57"/>
                </a:solidFill>
                <a:latin typeface="Calibri"/>
              </a:rPr>
              <a:t>Fifteen worked models; any one runs in well under a minute and fills the catalog.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docs/reference/API_GUIDE.md</a:t>
            </a:r>
          </a:p>
          <a:p>
            <a:pPr lvl="1">
              <a:lnSpc>
                <a:spcPct val="120000"/>
              </a:lnSpc>
              <a:spcBef>
                <a:spcPts val="0"/>
              </a:spcBef>
              <a:spcAft>
                <a:spcPts val="0"/>
              </a:spcAft>
            </a:pPr>
            <a:r>
              <a:rPr sz="1550" b="0">
                <a:solidFill>
                  <a:srgbClr val="4A4F57"/>
                </a:solidFill>
                <a:latin typeface="Calibri"/>
              </a:rPr>
              <a:t>The REST API from first curl to a sealed execution warrant, every example executed by the tests.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docs/publications/research/</a:t>
            </a:r>
          </a:p>
          <a:p>
            <a:pPr lvl="1">
              <a:lnSpc>
                <a:spcPct val="120000"/>
              </a:lnSpc>
              <a:spcBef>
                <a:spcPts val="0"/>
              </a:spcBef>
              <a:spcAft>
                <a:spcPts val="0"/>
              </a:spcAft>
            </a:pPr>
            <a:r>
              <a:rPr sz="1550" b="0">
                <a:solidFill>
                  <a:srgbClr val="4A4F57"/>
                </a:solidFill>
                <a:latin typeface="Calibri"/>
              </a:rPr>
              <a:t>The research paper: the formal account, with the proofs this deck points 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Why model governance fails, what MAYA does about it, and the evidence</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