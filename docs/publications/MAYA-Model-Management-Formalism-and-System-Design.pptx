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685800"/>
            <a:ext cx="566928" cy="566928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913302" y="821862"/>
            <a:ext cx="294802" cy="294802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7048" y="78638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59507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Model &amp; AI Lifecycle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Assurance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01568"/>
            <a:ext cx="1463040" cy="36576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65950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531860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Ashutosh Sinha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October 2026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B8C0"/>
                </a:solidFill>
                <a:latin typeface="Calibri"/>
              </a:rPr>
              <a:t>MAYA 1.0.0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9815" y="1645919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761422"/>
          </a:solidFill>
          <a:ln w="1143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4407" y="1719072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Feature</a:t>
            </a:r>
            <a:r>
              <a:rPr sz="1150" b="0">
                <a:solidFill>
                  <a:srgbClr val="F6E6E9"/>
                </a:solidFill>
                <a:latin typeface="Calibri"/>
              </a:rPr>
              <a:t>   two clocks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9815" y="239572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761422"/>
          </a:solidFill>
          <a:ln w="1143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4407" y="2468880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Pin</a:t>
            </a:r>
            <a:r>
              <a:rPr sz="1150" b="0">
                <a:solidFill>
                  <a:srgbClr val="F6E6E9"/>
                </a:solidFill>
                <a:latin typeface="Calibri"/>
              </a:rPr>
              <a:t>   sealed by hash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97135" y="2240279"/>
            <a:ext cx="0" cy="128017"/>
          </a:xfrm>
          <a:prstGeom prst="line">
            <a:avLst/>
          </a:prstGeom>
          <a:ln w="19050">
            <a:solidFill>
              <a:srgbClr val="E8B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79815" y="3145536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761422"/>
          </a:solidFill>
          <a:ln w="1143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4407" y="3218688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Model</a:t>
            </a:r>
            <a:r>
              <a:rPr sz="1150" b="0">
                <a:solidFill>
                  <a:srgbClr val="F6E6E9"/>
                </a:solidFill>
                <a:latin typeface="Calibri"/>
              </a:rPr>
              <a:t>   a typed formula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97135" y="2990087"/>
            <a:ext cx="0" cy="128017"/>
          </a:xfrm>
          <a:prstGeom prst="line">
            <a:avLst/>
          </a:prstGeom>
          <a:ln w="19050">
            <a:solidFill>
              <a:srgbClr val="E8B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79815" y="3895344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761422"/>
          </a:solidFill>
          <a:ln w="1143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4407" y="3968496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Training warrant</a:t>
            </a:r>
            <a:r>
              <a:rPr sz="1150" b="0">
                <a:solidFill>
                  <a:srgbClr val="F6E6E9"/>
                </a:solidFill>
                <a:latin typeface="Calibri"/>
              </a:rPr>
              <a:t>   fit, escrowed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97135" y="3739896"/>
            <a:ext cx="0" cy="128015"/>
          </a:xfrm>
          <a:prstGeom prst="line">
            <a:avLst/>
          </a:prstGeom>
          <a:ln w="19050">
            <a:solidFill>
              <a:srgbClr val="E8B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79815" y="4645152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761422"/>
          </a:solidFill>
          <a:ln w="1143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4407" y="471830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Execution warrant</a:t>
            </a:r>
            <a:r>
              <a:rPr sz="1150" b="0">
                <a:solidFill>
                  <a:srgbClr val="F6E6E9"/>
                </a:solidFill>
                <a:latin typeface="Calibri"/>
              </a:rPr>
              <a:t>   a live licence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97135" y="4489704"/>
            <a:ext cx="0" cy="128016"/>
          </a:xfrm>
          <a:prstGeom prst="line">
            <a:avLst/>
          </a:prstGeom>
          <a:ln w="19050">
            <a:solidFill>
              <a:srgbClr val="E8B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TL;DR — Executive summary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1460119"/>
            <a:ext cx="10637215" cy="840003"/>
          </a:xfrm>
          <a:prstGeom prst="roundRect">
            <a:avLst>
              <a:gd name="adj" fmla="val 1088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514983"/>
            <a:ext cx="2872048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What is the problem?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6488" y="1514983"/>
            <a:ext cx="7079367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Months after a model's number was used, nobody can say which data it saw, which mathematics ran, or whose approval it ran under. A model register lists things people typed; none of the three answers was ever stored.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446426"/>
            <a:ext cx="10637215" cy="840003"/>
          </a:xfrm>
          <a:prstGeom prst="roundRect">
            <a:avLst>
              <a:gd name="adj" fmla="val 10885"/>
            </a:avLst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501290"/>
            <a:ext cx="2872048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What is MAYA?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6488" y="2501290"/>
            <a:ext cx="7079367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A system of record for models and the data they read. It keeps features with two clocks, freezes training data by content hash, holds the mathematics as a typed formula, and licenses fitting and running through warrants.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432733"/>
            <a:ext cx="10637215" cy="840003"/>
          </a:xfrm>
          <a:prstGeom prst="roundRect">
            <a:avLst>
              <a:gd name="adj" fmla="val 1088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87597"/>
            <a:ext cx="2872048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Why does it matter?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6488" y="3487597"/>
            <a:ext cx="7079367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The facts a supervisor asks for are derived from the work rather than declared about it — so they cannot be typed wrong, cannot drift, and verify on a machine with no MAYA installed.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19041"/>
            <a:ext cx="10637215" cy="840003"/>
          </a:xfrm>
          <a:prstGeom prst="roundRect">
            <a:avLst>
              <a:gd name="adj" fmla="val 10885"/>
            </a:avLst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73905"/>
            <a:ext cx="2872048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What can it do today?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6488" y="4473905"/>
            <a:ext cx="7079367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The whole lifecycle in version 1.0.0: features to execution warrants, findings, tiers, periodic review that suspends, monitoring, champion and challenger, black boxes and LLM applications, 268 API endpoints, 15 case studies run end to 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405348"/>
            <a:ext cx="10637215" cy="840003"/>
          </a:xfrm>
          <a:prstGeom prst="roundRect">
            <a:avLst>
              <a:gd name="adj" fmla="val 1088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460212"/>
            <a:ext cx="2872048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Where is it going?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6488" y="5460212"/>
            <a:ext cx="7079367" cy="730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Live certification of the MLflow and SageMaker connectors, an external security review, a timed first-model study with real users, and OS isolation on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22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61422"/>
                </a:solidFill>
                <a:latin typeface="Calibri"/>
              </a:rPr>
              <a:t>Months later: which data, which mathematics, whose approval?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81684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2798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A51C30"/>
                </a:solidFill>
                <a:latin typeface="Calibri"/>
              </a:rPr>
              <a:t>A committee asks about one number in last March's impairment charge.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None of these is a documentation problem. Each is a question about an object that was never stored — and everything in MAYA exists to make all three a lookup.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2215779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21577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1842706"/>
            <a:ext cx="2659303" cy="116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61422"/>
                </a:solidFill>
                <a:latin typeface="Calibri"/>
              </a:rPr>
              <a:t>Which data did it see?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4367" y="1842706"/>
            <a:ext cx="7100087" cy="116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A4F57"/>
                </a:solidFill>
                <a:latin typeface="Calibri"/>
              </a:rPr>
              <a:t>Not which table — which rows, with which values, as they stood that day. A vendor restated two quarters in August and the row was updated in place.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43741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3741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3064340"/>
            <a:ext cx="2659303" cy="116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61422"/>
                </a:solidFill>
                <a:latin typeface="Calibri"/>
              </a:rPr>
              <a:t>Which mathematics ran?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4367" y="3064340"/>
            <a:ext cx="7100087" cy="116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A4F57"/>
                </a:solidFill>
                <a:latin typeface="Calibri"/>
              </a:rPr>
              <a:t>A PDF describes the model, a repository implements it, the desk runs a spreadsheet. Each was right once; no test compares them.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65904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590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4285974"/>
            <a:ext cx="2659303" cy="116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61422"/>
                </a:solidFill>
                <a:latin typeface="Calibri"/>
              </a:rPr>
              <a:t>Whose approval was it under?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4367" y="4285974"/>
            <a:ext cx="7100087" cy="116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A4F57"/>
                </a:solidFill>
                <a:latin typeface="Calibri"/>
              </a:rPr>
              <a:t>The memo has a date. It names no code version, no parameters, no data — so it approves something that can no longer be identified.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22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61422"/>
                </a:solidFill>
                <a:latin typeface="Calibri"/>
              </a:rPr>
              <a:t>10 principles: why every model needs evidence, not assertion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81684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1464564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464564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4424" y="1455420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Derive, don't declare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2328" y="1455420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A fact a person types rots silently. A fact computed from the work cannot disagree with it.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1946300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946300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4424" y="1937156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Keep two clocks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2328" y="1937156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When a value was true and when it was known. A correction is a new row, never an overwrite.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2428036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428036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4424" y="2418892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Freeze what you train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2328" y="2418892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A pin is named by the hash of its rows; the same name always means the same bytes.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2909773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09773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4424" y="2900629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License before you compute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2328" y="2900629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No fit without a training warrant; no run without a live execution warrant.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3391509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391509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4424" y="3382365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Score blind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2328" y="3382365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The holdout is escrowed when the warrant is drawn; the developer never sees it, and every attempt is counted.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" y="3873246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873246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4424" y="3864102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Nobody approves their own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2328" y="3864102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Separation of duties on every governed object, a finding included.</a:t>
            </a:r>
          </a:p>
        </p:txBody>
      </p:sp>
      <p:sp>
        <p:nvSpPr>
          <p:cNvPr id="39" name="Oval 38"/>
          <p:cNvSpPr/>
          <p:nvPr/>
        </p:nvSpPr>
        <p:spPr>
          <a:xfrm>
            <a:off x="777240" y="4354982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354982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4424" y="4345838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Policy is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2328" y="4345838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Workflow states, checks and approvals are records, and changing them is itself governed.</a:t>
            </a:r>
          </a:p>
        </p:txBody>
      </p:sp>
      <p:sp>
        <p:nvSpPr>
          <p:cNvPr id="43" name="Oval 42"/>
          <p:cNvSpPr/>
          <p:nvPr/>
        </p:nvSpPr>
        <p:spPr>
          <a:xfrm>
            <a:off x="777240" y="4836718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836718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4424" y="4827574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Evidence leaves the building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2328" y="4827574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A signed bundle verifies and re-executes with Python, pyarrow and numpy — no MAYA, no network.</a:t>
            </a:r>
          </a:p>
        </p:txBody>
      </p:sp>
      <p:sp>
        <p:nvSpPr>
          <p:cNvPr id="47" name="Oval 46"/>
          <p:cNvSpPr/>
          <p:nvPr/>
        </p:nvSpPr>
        <p:spPr>
          <a:xfrm>
            <a:off x="777240" y="5318455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318455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4424" y="5309311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One contract, every surface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2328" y="5309311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The web UI is an SDK client; every endpoint has an SDK method, held by a gate.</a:t>
            </a:r>
          </a:p>
        </p:txBody>
      </p:sp>
      <p:sp>
        <p:nvSpPr>
          <p:cNvPr id="51" name="Oval 50"/>
          <p:cNvSpPr/>
          <p:nvPr/>
        </p:nvSpPr>
        <p:spPr>
          <a:xfrm>
            <a:off x="777240" y="5800191"/>
            <a:ext cx="408584" cy="40858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800191"/>
            <a:ext cx="408584" cy="408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4424" y="5791047"/>
            <a:ext cx="2659303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State the limits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02328" y="5791047"/>
            <a:ext cx="7112127" cy="426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What MAYA cannot check is said in the report's first words, not discovered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What supervisors say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61422"/>
                </a:solidFill>
                <a:latin typeface="Calibri"/>
              </a:rPr>
              <a:t>The PRA's SS1/23, in force since May 2024, sets five principles to the same end: model identification and risk classification, governance, development and use, independent validation, and risk mitigants.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460119"/>
            <a:ext cx="10637215" cy="1242483"/>
          </a:xfrm>
          <a:prstGeom prst="roundRect">
            <a:avLst>
              <a:gd name="adj" fmla="val 7359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1569847"/>
            <a:ext cx="54864" cy="102302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1533271"/>
            <a:ext cx="10134295" cy="10961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1C1C1E"/>
                </a:solidFill>
                <a:latin typeface="Calibri"/>
              </a:rPr>
              <a:t>“The use of models invariably presents model risk, which is the potential for adverse consequences from decisions based on incorrect or misused model outputs and reports.”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— Federal Reserve and OCC, SR 11-7 (2011)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848906"/>
            <a:ext cx="10637215" cy="1242483"/>
          </a:xfrm>
          <a:prstGeom prst="roundRect">
            <a:avLst>
              <a:gd name="adj" fmla="val 7359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958634"/>
            <a:ext cx="54864" cy="102302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2922058"/>
            <a:ext cx="10134295" cy="10961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1C1C1E"/>
                </a:solidFill>
                <a:latin typeface="Calibri"/>
              </a:rPr>
              <a:t>“Model risk should be managed like other types of risk.”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— Federal Reserve and OCC, SR 11-7 (2011)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37693"/>
            <a:ext cx="10637215" cy="1242483"/>
          </a:xfrm>
          <a:prstGeom prst="roundRect">
            <a:avLst>
              <a:gd name="adj" fmla="val 7359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347421"/>
            <a:ext cx="54864" cy="102302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310845"/>
            <a:ext cx="10134295" cy="10961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1C1C1E"/>
                </a:solidFill>
                <a:latin typeface="Calibri"/>
              </a:rPr>
              <a:t>“Critical analysis by objective, informed parties who can identify model limitations and assumptions and produce appropriate changes.”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— SR 11-7's definition of effective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objects MAYA keeps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1460119"/>
          <a:ext cx="10637214" cy="4010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4002"/>
                <a:gridCol w="4493306"/>
                <a:gridCol w="4309906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guarantees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 governed series: a name, an owner, a schema, a source, a rule for gaps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Two clocks on every value; a correction never overwrites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Features aligned on one index, mapped to a model's inputs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One place where the join — the judgement — is reviewable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Pin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 feature or feature set resolved as of a date and sealed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Named by the hash of its rows: the same name, the same bytes, forever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Model version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The mathematics as a typed formula, its specification and code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Code checked against the formula; diffs by meaning, not text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Parameter 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The fitted or agreed values a model's parameters take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Tied by checksum to the training data MAYA issued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Training warrant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 licence to fit one model version on one pinned feature set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Holdout escrowed; leakage certified; every score counted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Execution warrant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 licence to run approved parameters, where, until when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Expires, can be revoked, suspends itself on a covenant breach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MAYA architecture — surfaces, platform, stores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1460119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496695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496695"/>
            <a:ext cx="82140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Web UI  |  REST API, 268 endpoints  |  Python SDK  |  Command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1999615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036191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036191"/>
            <a:ext cx="82140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Workflow  |  Findings  |  Tiers  |  Periodic review  |  Monitoring  |  Inventory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539111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C2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575687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575687"/>
            <a:ext cx="82140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Features &amp; pins  |  Formula IR  |  Warrants  |  Lineage  |  Hash-chained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78607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115183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115183"/>
            <a:ext cx="82140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Sandbox for uploaded code  |  Resolution engine  |  Signed evidence bundles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18103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65467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54679"/>
            <a:ext cx="82140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SQLite or PostgreSQL, never both  |  maya_delta lake  |  Blob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03903"/>
            <a:ext cx="10637215" cy="1941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4A4F57"/>
                </a:solidFill>
                <a:latin typeface="Calibri"/>
              </a:rPr>
              <a:t>The web UI is a client of the SDK with no private path; a gate fails the build if the web tier imports past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4A4F57"/>
                </a:solidFill>
                <a:latin typeface="Calibri"/>
              </a:rPr>
              <a:t>MAYA never trains a model and never serves a prediction: it is where the evidence lives, not where the arithmetic runs.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4A4F57"/>
                </a:solidFill>
                <a:latin typeface="Calibri"/>
              </a:rPr>
              <a:t>FastAPI on Python 3.13, one process by default; several web processes and job workers on PostgreSQL.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How a model travels through MAYA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Every arrow is a refusal waiting to happen: an unapproved feature cannot be pinned, unpinned data cannot be warranted, and parameters fitted on data MAYA did not issue cannot be approved.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158481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58481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1487551"/>
            <a:ext cx="2872048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Define the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112" y="1487551"/>
            <a:ext cx="6887343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Sources, schemas, gap rules; values loaded with the time they became known; approved by somebody else.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25482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25482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157560"/>
            <a:ext cx="2872048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Pin the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7112" y="2157560"/>
            <a:ext cx="6887343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 feature set frozen as of a date, sealed by the hash of its rows.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292483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92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2827570"/>
            <a:ext cx="2872048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Register the mathematics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7112" y="2827570"/>
            <a:ext cx="6887343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LaTeX, Python or a spreadsheet becomes a typed formula, with a specification and generated code.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359484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5948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497579"/>
            <a:ext cx="2872048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Fit under a training warrant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7112" y="3497579"/>
            <a:ext cx="6887343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Train and validation rows downloaded by checksum; the holdout escrowed; leakage certified.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426485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6485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6464" y="4167589"/>
            <a:ext cx="2872048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Score blind, then 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7112" y="4167589"/>
            <a:ext cx="6887343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MAYA scores the uploaded parameters on rows the developer never saw; a manager approves.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493486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348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4837599"/>
            <a:ext cx="2872048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License it to 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7112" y="4837599"/>
            <a:ext cx="6887343" cy="615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An execution warrant with environments, an expiry and covenants that suspend it on a breach.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What that buys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1460119"/>
          <a:ext cx="10637214" cy="3220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34805"/>
                <a:gridCol w="6602409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means in practice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Answers instead of archaeology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Which data, which maths, whose approval: three lookups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Restatements that cannot rewrite history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What was known on 31 March stays answerable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Code that is the mathematics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Generated reference code; uploaded code compared to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Validation the developer cannot game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Escrowed holdout, counted attempts, blind scores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Controls that act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An overdue review or a breached covenant stops the model running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Evidence a supervisor can verify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signed bundle re-executes offline, byte for byte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One inventory, never re-typed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SR 11-7 and SS1/23 layouts read from the records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Every kind of model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Formulas, black boxes, imports and LLM applications, one chain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vocabulary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80179"/>
            <a:ext cx="7658794" cy="214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Seven words, each defined before it is used, each earning its place by naming the failure it prevents.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Kernel and dials   ·   Features, parameters, constants   ·   Two clocks   ·   Pins   ·   Warrants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 model is a compute kernel, and a set of dials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Holding the dials apart is where everything else comes from: almost every question a reviewer asks — what sample, what estimator, whose sign-off — is about how the dials were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460119"/>
            <a:ext cx="343601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What varies row by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229231"/>
            <a:ext cx="3070250" cy="129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This borrower's arrears, this option's strike: one value per row, per input.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7842" y="1460119"/>
            <a:ext cx="343601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7842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0722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THE KERNEL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0722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The fixed arithmetic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0722" y="2229231"/>
            <a:ext cx="3070250" cy="129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Turns inputs into an output. It does not change between rows, and it does not change between runs.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8444" y="1460119"/>
            <a:ext cx="343601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8444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1324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THE DIALS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1324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Numbers held apart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324" y="2229231"/>
            <a:ext cx="3070250" cy="129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same for every row of a run: a coefficient, a threshold, a fee. They change every time the model is refitted.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Features, parameters and constants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Every input of a model has a role, and the role says where its value comes from.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They fail differently, so they are controlled differently: a wrong feature is bad data, caught by quality checks and pins; a wrong parameter is a bad model, caught by blind scoring and approval.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77240" y="1869186"/>
          <a:ext cx="10637213" cy="24470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7202"/>
                <a:gridCol w="3117804"/>
                <a:gridCol w="3484604"/>
                <a:gridCol w="2567603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its value comes from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PD scorecard example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fact about each case — one value per row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Data: a warrant maps it to a feature set column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bureau, delinquencies, dti, utilisation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88087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setting of the model itself — one value for every row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Fitted on training data, or agreed, and approved as a parameter set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intercept and four weights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number written into the definition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Changes only with a new model version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the 680 and 60 that scale the bureau score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Two clocks: when it was true, and when you found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The two 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Event time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When the fact held: the quarter a set of accounts describes.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Knowledge time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When MAYA could first have known it: the night the file landed.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Never the same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Accounts arrive weeks after their quarter; a default is confirmed months after the missed payment.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319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What follows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 correction is a new row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Same event time, later knowledge time; nothing is overwritten.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“What did we know on 31 March?”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Becomes a filter, not an archaeology project.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Look-ahead is caught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silent failure that improves every metric it corrupts.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 version freezes how; a pin freezes 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Re-pinning unchanged data costs nothing: identical rows give identical fragments, so a month-end pin shares almost everything with last month's.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460119"/>
            <a:ext cx="343601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VALUES, SEALED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Resolved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229231"/>
            <a:ext cx="3070250" cy="129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One version, read as of a date under its gap rules, written down and never recomputed.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7842" y="1460119"/>
            <a:ext cx="343601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7842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0722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IMMUTABLE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0722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By construction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0722" y="2229231"/>
            <a:ext cx="3070250" cy="129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No operation edits a pin. A correction makes a new pin; the old one returns the same bytes for ever.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8444" y="1460119"/>
            <a:ext cx="343601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8444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1324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NAMED BY ITS 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1324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Verifiable by anyone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324" y="2229231"/>
            <a:ext cx="3070250" cy="129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name is a hash of canonical values, so a reviewer outside the firm recomputes it rather than trusting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38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61422"/>
                </a:solidFill>
                <a:latin typeface="Calibri"/>
              </a:rPr>
              <a:t>A warrant is a licence to compute, not a document about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97749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44053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44053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1517205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Training warrant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56117"/>
            <a:ext cx="5135727" cy="428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What may be fitted, on what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This model version, this pinned feature set, until this date.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Drawn only if the data fits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missing input is named in the refusal.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Certifies the data first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No row known later than the decision it describes.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444053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444053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319" y="1517205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Execution warrant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956117"/>
            <a:ext cx="5135727" cy="428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What may run, with what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This version, these approved parameters, in these environments.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It is alive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It expires, it can be revoked, and covenants suspend it on a breach.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So a wrong model stops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consuming call fails closed and says whom to contact.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Seven words, and each one now means something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1559509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624711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973199"/>
            <a:ext cx="1193749" cy="913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Where rows come from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2781" y="1460119"/>
            <a:ext cx="1559509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2781" y="1460119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5661" y="1624711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5661" y="1973199"/>
            <a:ext cx="1193749" cy="913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An input with two clocks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64181" y="2237359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408322" y="1460119"/>
            <a:ext cx="1559509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8322" y="1460119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1202" y="1624711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1202" y="1973199"/>
            <a:ext cx="1193749" cy="913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Rows frozen by hash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79722" y="2237359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23863" y="1460119"/>
            <a:ext cx="1559509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3863" y="1460119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6743" y="1624711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6743" y="1973199"/>
            <a:ext cx="1193749" cy="913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 kernel and its dials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95263" y="2237359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039404" y="1460119"/>
            <a:ext cx="1559509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39404" y="1460119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2284" y="1624711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Parameters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2284" y="1973199"/>
            <a:ext cx="1193749" cy="913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dials, with provenance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10804" y="2237359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854946" y="1460119"/>
            <a:ext cx="1559509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54946" y="1460119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37826" y="1624711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Warrant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7826" y="1973199"/>
            <a:ext cx="1193749" cy="913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 licence binding it all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26346" y="2237359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3224911"/>
            <a:ext cx="10637215" cy="3020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Which data? The pin. Which mathematics? The model version. Whose approval? The warrant. The three questions the deck opened with are now three lookups.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Every arrow is checked: a model cannot be bound to data that does not satisfy it, and a warrant cannot be drawn against unpinned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133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lifecycle,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22800"/>
            <a:ext cx="7658794" cy="150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One chain, from a delivered file to a model running under a live licence and reporting back. Each link is a governed object, and each refuses something on purpose.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Writing the mathematics   ·   Fitting under a warrant   ·   The holdout   ·   Running under a licence   ·   Evidence that travels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Write the mathematics; read back what MAYA made of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mpute-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0119"/>
            <a:ext cx="6382329" cy="4102925"/>
          </a:xfrm>
          <a:prstGeom prst="rect">
            <a:avLst/>
          </a:prstGeom>
          <a:ln w="9144">
            <a:solidFill>
              <a:srgbClr val="D8D4C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77240" y="5636196"/>
            <a:ext cx="63823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A7F87"/>
                </a:solidFill>
                <a:latin typeface="Calibri"/>
              </a:rPr>
              <a:t>The compute-kernel designer: LaTeX in, the typed tree and one Python function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329" y="1460119"/>
            <a:ext cx="3889126" cy="4785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Write it as you would.  </a:t>
            </a:r>
            <a:r>
              <a:rPr sz="1400" b="0">
                <a:solidFill>
                  <a:srgbClr val="4A4F57"/>
                </a:solidFill>
                <a:latin typeface="Calibri"/>
              </a:rPr>
              <a:t>LaTeX or plain text; say which symbols are the dials.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Read it back.  </a:t>
            </a:r>
            <a:r>
              <a:rPr sz="1400" b="0">
                <a:solidFill>
                  <a:srgbClr val="4A4F57"/>
                </a:solidFill>
                <a:latin typeface="Calibri"/>
              </a:rPr>
              <a:t>The tree, each input with its role, the intermediates in order — or a refusal naming the position.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Take the function.  </a:t>
            </a:r>
            <a:r>
              <a:rPr sz="1400" b="0">
                <a:solidFill>
                  <a:srgbClr val="4A4F57"/>
                </a:solidFill>
                <a:latin typeface="Calibri"/>
              </a:rPr>
              <a:t>One self-contained kernel, or the full reference module.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Nothing is created.  </a:t>
            </a:r>
            <a:r>
              <a:rPr sz="1400" b="0">
                <a:solidFill>
                  <a:srgbClr val="4A4F57"/>
                </a:solidFill>
                <a:latin typeface="Calibri"/>
              </a:rPr>
              <a:t>It is a place to get the formula right before a version exists to attach it to.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106 templates  </a:t>
            </a:r>
            <a:r>
              <a:rPr sz="1400" b="0">
                <a:solidFill>
                  <a:srgbClr val="4A4F57"/>
                </a:solidFill>
                <a:latin typeface="Calibri"/>
              </a:rPr>
              <a:t>to start from, in ten groups: credit, rates, options, insurance and more.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checksum cycle that turns paperwork into a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Parameters fitted on data matching no checksum MAYA issued are flagged and cannot be approved without a written justification — so a judgement is recorded honestly instead of being disguised as a fit.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1651812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6518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1487551"/>
            <a:ext cx="1701954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Draw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7018" y="1487551"/>
            <a:ext cx="8057436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An approved model against a pinned feature set; the input contract is checked and every miss named.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45582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4558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291562"/>
            <a:ext cx="1701954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Certify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7018" y="2291562"/>
            <a:ext cx="8057436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 signed leakage certificate is issued with the warrant, or the warrant is refused.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25983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25983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3095574"/>
            <a:ext cx="1701954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7018" y="3095574"/>
            <a:ext cx="8057436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Train and validation rows only; who, when and the content hash are recorded.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06384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638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899585"/>
            <a:ext cx="1701954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7018" y="3899585"/>
            <a:ext cx="8057436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Parameters checked against that hash, their bounds and any joint constraint.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4867859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86785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6464" y="4703597"/>
            <a:ext cx="1701954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Seal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7018" y="4703597"/>
            <a:ext cx="8057436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Approved by policy; every object it references becomes undeletable.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leakage certificate, and the holdout nobody sees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Leakage certificate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rule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row's knowledge time is at or before its event date plus the declared lag.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Three verdicts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Certified; certified with justified exceptions; refused.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Specific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Rows examined, violations with example rows, every exception's reason — signed.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319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Escrowed holdout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Fixed at drawing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test rows are hashed and counted when the warrant is drawn.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Scored by MAYA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developer never receives them; MAYA returns metrics only.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Every attempt numbered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“Scored forty times, best reported” becomes visible.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An execution warrant is a live licence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ution-war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0119"/>
            <a:ext cx="6382329" cy="4102925"/>
          </a:xfrm>
          <a:prstGeom prst="rect">
            <a:avLst/>
          </a:prstGeom>
          <a:ln w="9144">
            <a:solidFill>
              <a:srgbClr val="D8D4C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77240" y="5636196"/>
            <a:ext cx="63823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A7F87"/>
                </a:solidFill>
                <a:latin typeface="Calibri"/>
              </a:rPr>
              <a:t>An execution warrant: what may run, where, until when, and how it has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329" y="1460119"/>
            <a:ext cx="3889126" cy="4785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Environments  </a:t>
            </a:r>
            <a:r>
              <a:rPr sz="1400" b="0">
                <a:solidFill>
                  <a:srgbClr val="4A4F57"/>
                </a:solidFill>
                <a:latin typeface="Calibri"/>
              </a:rPr>
              <a:t>dev, uat, prod — each permitted explicitly.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Covenants  </a:t>
            </a:r>
            <a:r>
              <a:rPr sz="1400" b="0">
                <a:solidFill>
                  <a:srgbClr val="4A4F57"/>
                </a:solidFill>
                <a:latin typeface="Calibri"/>
              </a:rPr>
              <a:t>Null rate, input range, population stability, output range, rows per day, staleness. A breach suspends the warrant at once.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Drift  </a:t>
            </a:r>
            <a:r>
              <a:rPr sz="1400" b="0">
                <a:solidFill>
                  <a:srgbClr val="4A4F57"/>
                </a:solidFill>
                <a:latin typeface="Calibri"/>
              </a:rPr>
              <a:t>Population stability against a baseline fixed when the warrant was drawn.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Restated data  </a:t>
            </a:r>
            <a:r>
              <a:rPr sz="1400" b="0">
                <a:solidFill>
                  <a:srgbClr val="4A4F57"/>
                </a:solidFill>
                <a:latin typeface="Calibri"/>
              </a:rPr>
              <a:t>Corrections under its training pin, and how far they move the model.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Fails closed  </a:t>
            </a:r>
            <a:r>
              <a:rPr sz="1400" b="0">
                <a:solidFill>
                  <a:srgbClr val="4A4F57"/>
                </a:solidFill>
                <a:latin typeface="Calibri"/>
              </a:rPr>
              <a:t>A revoked, expired or suspended warrant refuses every call and says whom to contact.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 bundle that proves itself on a machine with no MAYA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In the archive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subject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Warrant, model, mathematics, specification, code, parameters, leakage certificate, training frame and pins.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definition of the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MAYA's canonical encoder ships inside, so the hash is recomputed, not described.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 signed manifest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file's digest and the expected output hash.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319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What the verifier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Needs only Python, pyarrow, numpy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No MAYA, no network.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Bounds the archive first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Size, entry count, compression ratio, paths.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Recomputes, then re-executes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Digests, signature, content hash, outputs.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Refuses on one changed byte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Before anything is read.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MAYA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80179"/>
            <a:ext cx="7658794" cy="214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One platform reached four ways, governed by roles, deployable on a laptop or a team server, and measured rather than promised.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Overview   ·   The web UI   ·   Two teams, one contract   ·   Access and security   ·   Deployment   ·   Measured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MAYA 1.0.0 —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172833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2833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1487551"/>
            <a:ext cx="2872048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Production-grade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7112" y="1487551"/>
            <a:ext cx="6887343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FastAPI on Python 3.13; one process by default, several web processes and job workers on PostgreSQL.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268537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8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2444597"/>
            <a:ext cx="2872048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Four surfaces, one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7112" y="2444597"/>
            <a:ext cx="6887343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Web UI, REST API with 268 endpoints, Python SDK, command line — every endpoint has an SDK method.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64242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4242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401644"/>
            <a:ext cx="2872048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The whole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7112" y="3401644"/>
            <a:ext cx="6887343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Features, pins, models, warrants, findings, tiers, reviews, monitoring, challengers, inventory.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459947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9947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4358690"/>
            <a:ext cx="2872048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Every kind of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7112" y="4358690"/>
            <a:ext cx="6887343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Formulas, spreadsheets, composites, black boxes, imports from MLflow and SageMaker, LLM applications.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555651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565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6464" y="5315737"/>
            <a:ext cx="2872048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Held by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7112" y="5315737"/>
            <a:ext cx="6887343" cy="902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17 static gates plus test, fallback, security and benchmark stages, on every commit.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Why MAYA — what makes it different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343601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DEFINITIONS ARE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Data is a 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229231"/>
            <a:ext cx="3070250" cy="1251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MAYA stores how a number is produced and materialises values only when asked.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7842" y="1460119"/>
            <a:ext cx="343601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7842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A CLOSED ALGEBRA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Derived objects are ordinary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2486279"/>
            <a:ext cx="3070250" cy="994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union, intersect, compose, coalesce, extend, project, aggregate — each yields a definition.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8444" y="1460119"/>
            <a:ext cx="343601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8444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1324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MATHEMATICS AS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324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A typed expression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324" y="2229231"/>
            <a:ext cx="3070250" cy="1251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Type-checked, rendered, diffed by meaning, and the yardstick code is tested against.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73551"/>
            <a:ext cx="343601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77355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938143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TWO CLOCKS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9417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From the first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42663"/>
            <a:ext cx="3070250" cy="1251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 restatement is a new row, so a backtest cannot silently consume restated values.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7842" y="3773551"/>
            <a:ext cx="343601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7842" y="377355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0722" y="3938143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EVIDENCE TRAVELS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0722" y="419417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Hashes over canonical values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0722" y="4799711"/>
            <a:ext cx="3070250" cy="994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Two pins of the same data hash the same across engine versions.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8444" y="3773551"/>
            <a:ext cx="343601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8444" y="377355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1324" y="3938143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LICENCES, NOT MEMOS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324" y="419417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Warrants that 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1324" y="4542663"/>
            <a:ext cx="3070250" cy="1251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They expire, revoke, suspend on a breach and verify offline.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web UI — your home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0119"/>
            <a:ext cx="6382329" cy="4102925"/>
          </a:xfrm>
          <a:prstGeom prst="rect">
            <a:avLst/>
          </a:prstGeom>
          <a:ln w="9144">
            <a:solidFill>
              <a:srgbClr val="D8D4C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77240" y="5636196"/>
            <a:ext cx="63823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A7F87"/>
                </a:solidFill>
                <a:latin typeface="Calibri"/>
              </a:rPr>
              <a:t>Signed in: quick actions, the tiles, recent changes, your queue and your 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329" y="1460119"/>
            <a:ext cx="3889126" cy="4785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Your queue  </a:t>
            </a:r>
            <a:r>
              <a:rPr sz="1400" b="0">
                <a:solidFill>
                  <a:srgbClr val="4A4F57"/>
                </a:solidFill>
                <a:latin typeface="Calibri"/>
              </a:rPr>
              <a:t>Reviews only you, or your role, can act on.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Jobs  </a:t>
            </a:r>
            <a:r>
              <a:rPr sz="1400" b="0">
                <a:solidFill>
                  <a:srgbClr val="4A4F57"/>
                </a:solidFill>
                <a:latin typeface="Calibri"/>
              </a:rPr>
              <a:t>Slow work — pins, validations, documents — runs in the background.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About this page  </a:t>
            </a:r>
            <a:r>
              <a:rPr sz="1400" b="0">
                <a:solidFill>
                  <a:srgbClr val="4A4F57"/>
                </a:solidFill>
                <a:latin typeface="Calibri"/>
              </a:rPr>
              <a:t>Every screen ends with what it is for and a link to Help.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Search anywhere  </a:t>
            </a:r>
            <a:r>
              <a:rPr sz="1400" b="0">
                <a:solidFill>
                  <a:srgbClr val="4A4F57"/>
                </a:solidFill>
                <a:latin typeface="Calibri"/>
              </a:rPr>
              <a:t>Ctrl-K; only what you may read is found.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On a phone  </a:t>
            </a:r>
            <a:r>
              <a:rPr sz="1400" b="0">
                <a:solidFill>
                  <a:srgbClr val="4A4F57"/>
                </a:solidFill>
                <a:latin typeface="Calibri"/>
              </a:rPr>
              <a:t>Every page fits a 390-pixel screen.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web UI — where the work happens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1460119"/>
          <a:ext cx="10637214" cy="29957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402"/>
                <a:gridCol w="8619812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you do there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Catalog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Find features and feature sets; versions, pins, data, lineage, history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Workbench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Define a feature, upload data, build a feature set, try a change in a workspace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kernel designer, definitions, code, specification, parameters, documents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Warrants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Draw a training warrant, fetch data, upload parameters, seal and verify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Your queue, policies, delegations, campaigns, access requests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Findings, tiers, periodic reviews, challengers, the inventory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Every live model graded ok, watch or breach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Users, namespaces, sources, AI models, jobs, health, audit, custody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Two teams, one contract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1460119"/>
            <a:ext cx="1600200" cy="1024128"/>
          </a:xfrm>
          <a:prstGeom prst="roundRect">
            <a:avLst>
              <a:gd name="adj" fmla="val 8928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1514983"/>
            <a:ext cx="13807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Model developers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460119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460119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1624711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1973199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Write the mathematics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869" y="1460119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01869" y="1460119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749" y="1624711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749" y="1973199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On the warrant's rows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91557" y="1972183"/>
            <a:ext cx="182880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51979" y="1460119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51979" y="1460119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859" y="1624711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859" y="1973199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Parameters, by checksum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1667" y="1972183"/>
            <a:ext cx="182880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402089" y="1460119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02089" y="1460119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4969" y="1624711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Iterate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4969" y="1973199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A new version, a new warrant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91777" y="1972183"/>
            <a:ext cx="182880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3435223"/>
            <a:ext cx="1600200" cy="1024128"/>
          </a:xfrm>
          <a:prstGeom prst="roundRect">
            <a:avLst>
              <a:gd name="adj" fmla="val 8928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3490087"/>
            <a:ext cx="13807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Model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435223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51760" y="3435223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3599815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948303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Specification and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1869" y="3435223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01869" y="3435223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4749" y="3599815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Score blind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4749" y="3948303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On the escrowed holdout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91557" y="3947287"/>
            <a:ext cx="182880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151979" y="3435223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51979" y="3435223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4859" y="3599815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Approve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4859" y="3948303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Never their own work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941667" y="3947287"/>
            <a:ext cx="182880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402089" y="3435223"/>
            <a:ext cx="2012365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02089" y="3435223"/>
            <a:ext cx="2012365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84969" y="3599815"/>
            <a:ext cx="16466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Monitor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4969" y="3948303"/>
            <a:ext cx="1646605" cy="383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Findings, reviews, drift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191777" y="3947287"/>
            <a:ext cx="182880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651760" y="2721991"/>
            <a:ext cx="8762695" cy="475488"/>
          </a:xfrm>
          <a:prstGeom prst="roundRect">
            <a:avLst>
              <a:gd name="adj" fmla="val 19230"/>
            </a:avLst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2758567"/>
            <a:ext cx="83969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MAYA — the warrant is the contract: data, mathematics, holdout, approval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4642231"/>
            <a:ext cx="10637215" cy="16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4A4F57"/>
                </a:solidFill>
                <a:latin typeface="Calibri"/>
              </a:rPr>
              <a:t>Two teams, two release cycles, no hand-offs by e-mail: each works against the same warrant, and neither can change what the other relies 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4A4F57"/>
                </a:solidFill>
                <a:latin typeface="Calibri"/>
              </a:rPr>
              <a:t>The developer never sees the holdout; the validator never edits the model; the approver is never the author.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Roles — who may do 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Roles grant capabilities; access to one object is also decided by its grants, with row filters, column masks and time bounds.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60119"/>
          <a:ext cx="10637214" cy="31857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4203"/>
                <a:gridCol w="8253011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Responsible for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Users, roles, SSO, system settings, storage, workflow policy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feature_designer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Feature definitions, schemas, resolution rules, sources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feature_manager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Approval of features and feature sets, pin authorisation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model_designer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Model definitions, formula, Python artifact, LaTeX specification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model_developer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Training warrants, parameter upload, experiment iteration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model_manager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Approval of models, warrants and parameter sets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model_owner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Access policy for a model and its lineage; accountable for its use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model_validator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Independent validation: findings and periodic reviews; approves nothing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techops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Runtime health, job queues, retries, storage compaction, backups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Security in layers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Every request is authenticated, authorised and audited — denials included, even though they roll back.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60119"/>
          <a:ext cx="10637214" cy="354742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2302"/>
                <a:gridCol w="6052208"/>
                <a:gridCol w="2842704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Protects against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Sign-in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Passwords with lockout; OIDC and SAML 2.0 single sign-on; TOTP and security keys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Unauthorised access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API keys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Narrowed to roles, namespaces, actions and networks; expiring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Over-broad automation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Authorisation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One function: the role ceiling, then grants, row filters and masks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Privilege escalation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Uploaded code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Six-rung validation, then a sandbox with no network or storage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Hostile artifacts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Webhooks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Signed; sent only to the address that was vetted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DNS rebinding, leaks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Hash-chained, anchored outside the database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Rewritten history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Deploy where the data is allowed to 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1460119"/>
            <a:ext cx="3399434" cy="438912"/>
          </a:xfrm>
          <a:prstGeom prst="roundRect">
            <a:avLst>
              <a:gd name="adj" fmla="val 20833"/>
            </a:avLst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1496695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 laptop or one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72183"/>
            <a:ext cx="3399434" cy="1819655"/>
          </a:xfrm>
          <a:prstGeom prst="roundRect">
            <a:avLst>
              <a:gd name="adj" fmla="val 5025"/>
            </a:avLst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100199"/>
            <a:ext cx="3070250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SQLite, one process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Python 3.13, no services to install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Data, lake and blobs on local disk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1">
                <a:solidFill>
                  <a:srgbClr val="A51C30"/>
                </a:solidFill>
                <a:latin typeface="Calibri"/>
              </a:rPr>
              <a:t>Evaluation, a small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6130" y="1460119"/>
            <a:ext cx="3399434" cy="438912"/>
          </a:xfrm>
          <a:prstGeom prst="roundRect">
            <a:avLst>
              <a:gd name="adj" fmla="val 20833"/>
            </a:avLst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5858" y="1496695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 team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6130" y="1972183"/>
            <a:ext cx="3399434" cy="1819655"/>
          </a:xfrm>
          <a:prstGeom prst="roundRect">
            <a:avLst>
              <a:gd name="adj" fmla="val 5025"/>
            </a:avLst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2100199"/>
            <a:ext cx="3070250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PostgreSQL 16, 17 or 18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Several web processes and job workers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Behind your TLS proxy; your SSO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1">
                <a:solidFill>
                  <a:srgbClr val="A51C30"/>
                </a:solidFill>
                <a:latin typeface="Calibri"/>
              </a:rPr>
              <a:t>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5020" y="1460119"/>
            <a:ext cx="3399434" cy="438912"/>
          </a:xfrm>
          <a:prstGeom prst="roundRect">
            <a:avLst>
              <a:gd name="adj" fmla="val 20833"/>
            </a:avLst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4748" y="1496695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Air-gapped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5020" y="1972183"/>
            <a:ext cx="3399434" cy="1819655"/>
          </a:xfrm>
          <a:prstGeom prst="roundRect">
            <a:avLst>
              <a:gd name="adj" fmla="val 5025"/>
            </a:avLst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9612" y="2100199"/>
            <a:ext cx="3070250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No outbound calls required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LLM providers optional, self-hosted allowed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1C1C1E"/>
                </a:solidFill>
                <a:latin typeface="Calibri"/>
              </a:rPr>
              <a:t>Evidence verifies offline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1">
                <a:solidFill>
                  <a:srgbClr val="A51C30"/>
                </a:solidFill>
                <a:latin typeface="Calibri"/>
              </a:rPr>
              <a:t>Regulated, sovereign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83863"/>
            <a:ext cx="10637215" cy="2261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4A4F57"/>
                </a:solidFill>
                <a:latin typeface="Calibri"/>
              </a:rPr>
              <a:t>Data never leaves your infrastructure unless a connector you configure sends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>
                <a:solidFill>
                  <a:srgbClr val="A51C30"/>
                </a:solidFill>
                <a:latin typeface="Calibri"/>
              </a:rPr>
              <a:t>▪  </a:t>
            </a:r>
            <a:r>
              <a:rPr sz="1300" b="0">
                <a:solidFill>
                  <a:srgbClr val="4A4F57"/>
                </a:solidFill>
                <a:latin typeface="Calibri"/>
              </a:rPr>
              <a:t>One database at a time, never mixed; a database from another schema is refused at start-up, and the upgrade is export, recreate, import.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 team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941259" y="2130051"/>
            <a:ext cx="2054291" cy="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2836560"/>
            <a:ext cx="0" cy="405371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18607" y="2961521"/>
            <a:ext cx="1554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A4F57"/>
                </a:solidFill>
                <a:latin typeface="Calibri"/>
              </a:rPr>
              <a:t>HTTPS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12500" y="2836560"/>
            <a:ext cx="0" cy="405371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35260" y="2961521"/>
            <a:ext cx="1554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A4F57"/>
                </a:solidFill>
                <a:latin typeface="Calibri"/>
              </a:rPr>
              <a:t>sign-in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85566" y="4463539"/>
            <a:ext cx="0" cy="501076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13009" y="4463539"/>
            <a:ext cx="0" cy="501076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78685" y="4463539"/>
            <a:ext cx="0" cy="501076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6128" y="4463539"/>
            <a:ext cx="0" cy="501076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" y="1460119"/>
            <a:ext cx="2127443" cy="1339865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1460119"/>
            <a:ext cx="2127443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1624711"/>
            <a:ext cx="17616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People and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230247"/>
            <a:ext cx="1761683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Browser, SDK, CLI.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2126" y="1460119"/>
            <a:ext cx="2127443" cy="1339865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32126" y="1460119"/>
            <a:ext cx="2127443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5006" y="1624711"/>
            <a:ext cx="17616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TLS proxy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5006" y="1973199"/>
            <a:ext cx="1761683" cy="698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Your certificate.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7012" y="1460119"/>
            <a:ext cx="2127443" cy="1339865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7012" y="1460119"/>
            <a:ext cx="2127443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9892" y="1624711"/>
            <a:ext cx="17616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Identity provider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9892" y="2230247"/>
            <a:ext cx="1761683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OIDC or SAML.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3705" y="3278507"/>
            <a:ext cx="8084283" cy="1148455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53705" y="3278507"/>
            <a:ext cx="8084283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36585" y="3443099"/>
            <a:ext cx="77185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MAYA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6585" y="3791587"/>
            <a:ext cx="7718523" cy="50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Web processes and job workers, one configuration.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001191"/>
            <a:ext cx="2340187" cy="1244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001191"/>
            <a:ext cx="234018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165783"/>
            <a:ext cx="19744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514271"/>
            <a:ext cx="1974427" cy="60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Objects and audit.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42915" y="5001191"/>
            <a:ext cx="2340187" cy="1244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2915" y="5001191"/>
            <a:ext cx="234018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5795" y="5165783"/>
            <a:ext cx="19744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maya_delta lake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5795" y="5514271"/>
            <a:ext cx="1974427" cy="60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Rows and sealed pins.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8591" y="5001191"/>
            <a:ext cx="2340187" cy="1244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8591" y="5001191"/>
            <a:ext cx="234018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1471" y="5165783"/>
            <a:ext cx="19744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Write-once storage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1471" y="5771319"/>
            <a:ext cx="1974427" cy="34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Audit anchors.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74267" y="5001191"/>
            <a:ext cx="2340187" cy="1244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74267" y="5001191"/>
            <a:ext cx="234018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7147" y="5165783"/>
            <a:ext cx="19744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Prometheus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7147" y="5514271"/>
            <a:ext cx="1974427" cy="60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/metrics, /healthz.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Measured, not promised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0.16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catalog search p95 over 100,000 objects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6835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6835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8003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0.15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8003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worst metadata page p95 (target 0.3 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6431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599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59.7 MB/s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pin write throughput, one worker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6027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6027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1.26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195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cold start to serving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813431"/>
            <a:ext cx="10637215" cy="343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A 50-column, ten-year daily feature set — 1.26 million rows — resolves in under a second warm, 6.1 s with forward fill on every column (target 15 s).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20,000 feature sets, 10,000 models and 100,000 pins without degradation; 134,962 small jobs an hour on one worker.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The one target not met reliably: 200 concurrent users on one node, p95 0.22–0.43 s against 0.3 s. Every figure is in docs/quality/BENCHMARKS.md with its result file.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133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Governance a model risk function works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22800"/>
            <a:ext cx="7658794" cy="150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Nothing here is a new form. Every screen reads the warrants, pins, scores and reports the lifecycle already produced.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Findings   ·   Materiality   ·   Periodic review   ·   Monitoring   ·   Champion and challenger   ·   Fairness   ·   The inventory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Findings and reviews, in one place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0119"/>
            <a:ext cx="6382329" cy="4102925"/>
          </a:xfrm>
          <a:prstGeom prst="rect">
            <a:avLst/>
          </a:prstGeom>
          <a:ln w="9144">
            <a:solidFill>
              <a:srgbClr val="D8D4C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77240" y="5636196"/>
            <a:ext cx="63823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A7F87"/>
                </a:solidFill>
                <a:latin typeface="Calibri"/>
              </a:rPr>
              <a:t>Governance: every model with its tier, next periodic review and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329" y="1460119"/>
            <a:ext cx="3889126" cy="4785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Tier  </a:t>
            </a:r>
            <a:r>
              <a:rPr sz="1400" b="0">
                <a:solidFill>
                  <a:srgbClr val="4A4F57"/>
                </a:solidFill>
                <a:latin typeface="Calibri"/>
              </a:rPr>
              <a:t>How material a model is; it sets how often it is reviewed.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Findings  </a:t>
            </a:r>
            <a:r>
              <a:rPr sz="1400" b="0">
                <a:solidFill>
                  <a:srgbClr val="4A4F57"/>
                </a:solidFill>
                <a:latin typeface="Calibri"/>
              </a:rPr>
              <a:t>Severity, owner, due date and history on every defect.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Periodic review  </a:t>
            </a:r>
            <a:r>
              <a:rPr sz="1400" b="0">
                <a:solidFill>
                  <a:srgbClr val="4A4F57"/>
                </a:solidFill>
                <a:latin typeface="Calibri"/>
              </a:rPr>
              <a:t>Overdue means suspended, not a red cell.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Inventory  </a:t>
            </a:r>
            <a:r>
              <a:rPr sz="1400" b="0">
                <a:solidFill>
                  <a:srgbClr val="4A4F57"/>
                </a:solidFill>
                <a:latin typeface="Calibri"/>
              </a:rPr>
              <a:t>Exported in SR 11-7 or SS1/23 layout, straight from the records.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22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61422"/>
                </a:solidFill>
                <a:latin typeface="Calibri"/>
              </a:rPr>
              <a:t>A finding has an owner, a due date — and an independent closer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81684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In study 09 the owner fixed a missing maturity floor and cap as version 2, tried to close the finding herself, and was refused; the validator closed it.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1724199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72419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1455420"/>
            <a:ext cx="1914698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Raised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9762" y="1455420"/>
            <a:ext cx="7844692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By a validator, with a severity; due in 30, 90, 180 or 365 days by default.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73724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73724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468467"/>
            <a:ext cx="1914698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Remediated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9762" y="2468467"/>
            <a:ext cx="7844692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By the owner — often as a new model version.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75029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5029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3481514"/>
            <a:ext cx="1914698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Closed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9762" y="3481514"/>
            <a:ext cx="7844692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Only by someone who did not remediate it, or sent back as not fixed.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76334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6334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4494561"/>
            <a:ext cx="1914698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Or accepted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9762" y="4494561"/>
            <a:ext cx="7844692" cy="958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risk kept rather than fixed, with a written reason — never the owner's call.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Materiality: a tier derived from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Tier 1 is the most material. The tier is the highest driver's score, one tier higher for a black box; an override needs a reason, and one that lowers it is flagged.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2113661"/>
          <a:ext cx="10637213" cy="29236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4002"/>
                <a:gridCol w="5502007"/>
                <a:gridCol w="3301204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 comes from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Scores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Declared by the owner: regulatory, reporting, decision, internal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3 · 3 · 2 · 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Declared by the owner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3 over 1bn, 2 over 10m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Measured: live execution warrants and executions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3 at three warrants or 10,000 runs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Transparency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Measured: formula or black box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+1 tier for a black box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Questionnaire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The firm's own file, config/tiering.yaml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Highest answer, or points against thresholds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An overdue review stops the model running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A review is not a reminder in someone's calendar; it is a condition of running. A warrant suspended for a breach stays suspended when a review is recorded.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1651812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6518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1487551"/>
            <a:ext cx="2340187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The tier sets the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251" y="1487551"/>
            <a:ext cx="7419203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One, two or three years, or set per model.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45582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4558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291562"/>
            <a:ext cx="2340187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The due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251" y="2291562"/>
            <a:ext cx="7419203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From the last review, or from the first approval.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25983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25983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3095574"/>
            <a:ext cx="2340187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The sweep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251" y="3095574"/>
            <a:ext cx="7419203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Hourly: an overdue model's live execution warrants are suspended.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06384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638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899585"/>
            <a:ext cx="2340187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The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251" y="3899585"/>
            <a:ext cx="7419203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Recorded by a model manager, validator or administrator — never the owner.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4867859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86785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6464" y="4703597"/>
            <a:ext cx="2340187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Lifted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5251" y="4703597"/>
            <a:ext cx="7419203" cy="7491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Exactly the suspensions the sweep made, and no others.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Every live model graded ok, watch or breach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0119"/>
            <a:ext cx="6382329" cy="4102925"/>
          </a:xfrm>
          <a:prstGeom prst="rect">
            <a:avLst/>
          </a:prstGeom>
          <a:ln w="9144">
            <a:solidFill>
              <a:srgbClr val="D8D4C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77240" y="5636196"/>
            <a:ext cx="63823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A7F87"/>
                </a:solidFill>
                <a:latin typeface="Calibri"/>
              </a:rPr>
              <a:t>Monitoring: live models graded from what their executions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329" y="1460119"/>
            <a:ext cx="3889126" cy="4785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Breach  </a:t>
            </a:r>
            <a:r>
              <a:rPr sz="1400" b="0">
                <a:solidFill>
                  <a:srgbClr val="4A4F57"/>
                </a:solidFill>
                <a:latin typeface="Calibri"/>
              </a:rPr>
              <a:t>Suspended, or a covenant broken in the last seven days.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Watch  </a:t>
            </a:r>
            <a:r>
              <a:rPr sz="1400" b="0">
                <a:solidFill>
                  <a:srgbClr val="4A4F57"/>
                </a:solidFill>
                <a:latin typeface="Calibri"/>
              </a:rPr>
              <a:t>Population stability above 0.10, a null rate doubling, or a live model silent for thirty days.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Per warrant  </a:t>
            </a:r>
            <a:r>
              <a:rPr sz="1400" b="0">
                <a:solidFill>
                  <a:srgbClr val="4A4F57"/>
                </a:solidFill>
                <a:latin typeface="Calibri"/>
              </a:rPr>
              <a:t>Rows per day; drift, nulls and means per input, against the covenant's bounds.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Study 19  </a:t>
            </a:r>
            <a:r>
              <a:rPr sz="1400" b="0">
                <a:solidFill>
                  <a:srgbClr val="4A4F57"/>
                </a:solidFill>
                <a:latin typeface="Calibri"/>
              </a:rPr>
              <a:t>A bureau score goes ok, watch, breach as utilisation drifts: PSI 0.009, 0.109, 0.438.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Champion and challenger, on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Two warrants on the same pin with the same seed hold the same escrowed rows. MAYA scores both and compares them row by row.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113661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113661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186813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What is 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25725"/>
            <a:ext cx="5135727" cy="361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difference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In RMSE or MAE, challenger minus champion.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 paired bootstrap interval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95%, 2,000 draws, a fixed seed.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verdict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Challenger better only if the whole interval is below zero.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2113661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2113661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3319" y="2186813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What is refused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625725"/>
            <a:ext cx="5135727" cy="361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Different holdouts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Not compared at all.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author deciding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challenger's owner never decides.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Study 42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Log-log beats linear: −0.031, interval [−0.040, −0.022], winning 60% of rows.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Fairness and explainability, on the holdout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Error by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Per segment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RMSE, MAE, bias and mean prediction for each value of a column.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Flagged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MAE a quarter above the overall figure.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Systematic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Bias over half the MAE: wrong in one direction.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Suppressed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Under twenty rows, no figures.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460119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460119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319" y="1533271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What drives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972183"/>
            <a:ext cx="5135727" cy="427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Permutation importance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Each input shuffled; the rise in error is its weight.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Black boxes too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Measured through the sandbox: it needs only predictions.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Study 45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Men's and women's errors are the same size and opposite in sign — both systematic.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supervisory inventory, never re-typed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Excel, CSV or JSON in an SR 11-7 or SS1/23 layout, built from the records MAYA keeps. The file says how many models the exporter could not see.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2113661"/>
          <a:ext cx="10637214" cy="240950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51003"/>
                <a:gridCol w="7886211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 group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Purpose, use, type, vendor or provider, owner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Materiality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Tier, derived tier, its basis, any override and why, exposure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Approval and evidence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Status, approval, what shows the code computes the model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Review and findings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Last review, next due, open, overdue and accepted findings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Live warrants, environments, executions, monitoring grade, limits on use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Beyond formulas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80179"/>
            <a:ext cx="7658794" cy="214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Most of what a bank now runs is not a formula anyone can read. Each gets the same chain, and forfeits exactly the evidence it cannot give — no more.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Black boxes   ·   Is the code the mathematics?   ·   Connectors   ·   Beside your ML platform   ·   LLM applications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 black box, scored blind where nobody sees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A black box with no validated artifact is refused by name, and one that reads the target as an input is refused rather than handed the answer.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175231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75231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1487551"/>
            <a:ext cx="1914698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Declared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9762" y="1487551"/>
            <a:ext cx="7844692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It states what it estimates and how it is built.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75732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75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492565"/>
            <a:ext cx="1914698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Validated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9762" y="2492565"/>
            <a:ext cx="7844692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Its code through six rungs, then run twice in the sandbox.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76234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6234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3497579"/>
            <a:ext cx="1914698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Scored blind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9762" y="3497579"/>
            <a:ext cx="7844692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In the sandbox, on the holdout's inputs only — the target never enters.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76735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6735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4502594"/>
            <a:ext cx="1914698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Metrics 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9762" y="4502594"/>
            <a:ext cx="7844692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MAYA computes them; rows never leave; the artifact's hash is recorded.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Is the code the mathematics?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A model has two descriptions: the formula MAYA holds and the Python someone uploaded. MAYA compares them on numbers instead of asking anyone to assert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113661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113661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186813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Conformance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25725"/>
            <a:ext cx="5135727" cy="361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comparison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Uploaded code against MAYA's own evaluation, to a relative 1e-9.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Counterexamples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Up to ten disagreeing rows, expected and actual.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Tied to the artifact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No advance until conformance ran on that hash.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2113661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2113661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3319" y="2186813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Honest about itself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625725"/>
            <a:ext cx="5135727" cy="361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Sampled, not proved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report says so in its first words.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Dials off-centre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So a test cannot miss a bug on a round number.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Study 11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bug a recalibration absorbs exactly — only this test sees 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Models trained elsewhere come in; lineage goes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Tested against each system's published documents and a recorded exchange — not yet against a live service, and the documentation says so.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60119"/>
          <a:ext cx="10637213" cy="28138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4203"/>
                <a:gridCol w="4768406"/>
                <a:gridCol w="3484604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MAYA does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insists 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MLflow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Imports a model from its MLmodel file or tracking server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signature: the input contract is the vendor's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Amazon SageMaker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Imports a model package: image, data, framework, approval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Inputs named, since SageMaker records none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OpenLineage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Every lineage edge as a RunEvent, to Marquez or any consumer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Administrators only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Snowflake, Databricks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Read-only SQL sources through their dialects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read-only role; SELECT only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Beside your ML platform, not instead of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1460119"/>
          <a:ext cx="10637214" cy="28138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4002"/>
                <a:gridCol w="5135207"/>
                <a:gridCol w="3668005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MAYA does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never does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Registry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Sets an MLflow alias while the execution warrant is live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Deploy: your deployment follows the alias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Scoring call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An SDK guard checks the warrant before and reports after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Sit in your request path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Turns a warrant into a signed Kubernetes or SageMaker job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Run the job: it goes to your compute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Batch scoring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Scores a pinned table under a live warrant, output sealed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Serve online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LLM applications: a prompt is a model's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lm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0119"/>
            <a:ext cx="6382329" cy="4102925"/>
          </a:xfrm>
          <a:prstGeom prst="rect">
            <a:avLst/>
          </a:prstGeom>
          <a:ln w="9144">
            <a:solidFill>
              <a:srgbClr val="D8D4C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77240" y="5636196"/>
            <a:ext cx="63823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A7F87"/>
                </a:solidFill>
                <a:latin typeface="Calibri"/>
              </a:rPr>
              <a:t>An LLM application: sealed versions, evaluation sets and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329" y="1460119"/>
            <a:ext cx="3889126" cy="4785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A version seals  </a:t>
            </a:r>
            <a:r>
              <a:rPr sz="1400" b="0">
                <a:solidFill>
                  <a:srgbClr val="4A4F57"/>
                </a:solidFill>
                <a:latin typeface="Calibri"/>
              </a:rPr>
              <a:t>Provider, model, prompts, parameters and guardrails under one hash.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Evaluated  </a:t>
            </a:r>
            <a:r>
              <a:rPr sz="1400" b="0">
                <a:solidFill>
                  <a:srgbClr val="4A4F57"/>
                </a:solidFill>
                <a:latin typeface="Calibri"/>
              </a:rPr>
              <a:t>Deterministic checks — contains, equals, regex, JSON, length — and guardrails for blocked terms and personal data.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Approved on evidence  </a:t>
            </a:r>
            <a:r>
              <a:rPr sz="1400" b="0">
                <a:solidFill>
                  <a:srgbClr val="4A4F57"/>
                </a:solidFill>
                <a:latin typeface="Calibri"/>
              </a:rPr>
              <a:t>A clean run on exactly that hash, by a manager who is not the owner.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>
                <a:solidFill>
                  <a:srgbClr val="A51C30"/>
                </a:solidFill>
                <a:latin typeface="Calibri"/>
              </a:rPr>
              <a:t>▪  </a:t>
            </a:r>
            <a:r>
              <a:rPr sz="1400" b="1">
                <a:solidFill>
                  <a:srgbClr val="761422"/>
                </a:solidFill>
                <a:latin typeface="Calibri"/>
              </a:rPr>
              <a:t>Study 49  </a:t>
            </a:r>
            <a:r>
              <a:rPr sz="1400" b="0">
                <a:solidFill>
                  <a:srgbClr val="4A4F57"/>
                </a:solidFill>
                <a:latin typeface="Calibri"/>
              </a:rPr>
              <a:t>Version 1 gets every category right and still fails: it read a card number back.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MAYA's own AI, under a 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Every call MAYA makes to a language model passes one gateway and one policy before anything leaves, and is audited without its prompt.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2113661"/>
          <a:ext cx="10637214" cy="354742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7603"/>
                <a:gridCol w="8069611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Features and roles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Drafts, documents, the challenger, evaluations, ask, explain, narrate — each allowed only to the roles named for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Rate limits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Calls per person and per feature per minute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Daily budget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token cap always; a spending cap for profiles that declare a price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Masking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E-mail, card and phone numbers, long digit runs and named fields, out of every prompt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Providers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21, from OpenAI, Azure, Gemini, Cohere and Bedrock to Ollama, vLLM and a rule-driven mock; a profile file each, none on by default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Governed like any model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MAYA registers its own AI features as LLM applications, evaluated and approved on evidence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Ask MAYA: a checked query, never prose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A51C30"/>
                </a:solidFill>
                <a:latin typeface="Calibri"/>
              </a:rPr>
              <a:t>“Which live models read data that was restated since August?”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Explanations get the same discipline: every figure a model writes is checked against the record's structured fields, and any it added is named on the page.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200037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00037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1874837"/>
            <a:ext cx="2127443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Words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2507" y="1874837"/>
            <a:ext cx="7631948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Common phrasings are read by a rule-based parser — no model at all.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272692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7269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2601391"/>
            <a:ext cx="2127443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Then the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2507" y="2601391"/>
            <a:ext cx="7631948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Anything else becomes JSON over a fixed vocabulary of kinds, fields and operators — never SQL.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3453479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5347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3327946"/>
            <a:ext cx="2127443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Checked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2507" y="3327946"/>
            <a:ext cx="7631948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An answer outside the vocabulary is refused, sent back once with the reasons, then turned away.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418003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8003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4054500"/>
            <a:ext cx="2127443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Run as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2507" y="4054500"/>
            <a:ext cx="7631948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Through the screens' own listings: it cannot find what you may not read.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490658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90658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4781054"/>
            <a:ext cx="2127443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Shown, editable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2507" y="4781054"/>
            <a:ext cx="7631948" cy="67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rows and the query MAYA ran, which you can edit and run again with no model.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133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Fifteen models, carried the whole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22800"/>
            <a:ext cx="7658794" cy="150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Each case study is a real modelling problem taken through MAYA end to end by named people with real roles, so the refusals are the platform's. The suite runs every one from nothing.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The fifteen   ·   A scorecard   ·   A prescribed formula   ·   A bought score   ·   A challenger   ·   A fairness question   ·   An LLM application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Fifteen studies, different in kind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1460119"/>
          <a:ext cx="10637214" cy="4711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34404"/>
                <a:gridCol w="2751003"/>
                <a:gridCol w="4951807"/>
              </a:tblGrid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is really about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01 Retail PD scorecard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Fitted logistic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Two clocks; a certificate that refuses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02 Mortgage cash flow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Closed form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Whether the desk's code is the mathematics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03 Prepayment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Fitted hazard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change priced by shadow replay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04 HELOC exposure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Composite router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Two members, two parameter sets, one seal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05 Option pricing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Calibrated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parameter nobody can observe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06 IFRS 9 ECL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Committee judgements as parameter sets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07 Card fraud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Declared black box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What is left to hold to account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08 AR(2) and GARCH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Formula and black box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The last dates held out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09 Basel IRB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Prescribed formula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Reconciliation, a finding, closure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10 Factor models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Two versions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semantic diff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11 Nelson–Siegel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Non-linear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bug a recalibration absorbs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19 Vendor bureau score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Bought, from MLflow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Blind scoring; drift to breach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42 Demand elasticity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Linear vs log-log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paired interval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45 Mortality table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Non-linear law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bias the law requires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29448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61422"/>
                          </a:solidFill>
                          <a:latin typeface="Calibri"/>
                        </a:rPr>
                        <a:t>49 Complaint triage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LLM application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Guardrails and evaluation sets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38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61422"/>
                </a:solidFill>
                <a:latin typeface="Calibri"/>
              </a:rPr>
              <a:t>Study 01 — a scorecard from three CSVs to a licence to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97749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44053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A51C30"/>
                </a:solidFill>
                <a:latin typeface="Calibri"/>
              </a:rPr>
              <a:t>“Can we put this probability-of-default scorecard into production, and prove how we got there?”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Nothing in the study touches the database: every action goes through the SDK as a user with the role for it, so every refusal on the way is the platform's.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192509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92509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1858772"/>
            <a:ext cx="2552931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Ingest — dana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7995" y="1858772"/>
            <a:ext cx="7206459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Three features, with knowledge times; approved by mick.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253323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3323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2466911"/>
            <a:ext cx="2552931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Assemble and pin — devi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7995" y="2466911"/>
            <a:ext cx="7206459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panel, cascade-pinned as of 2025-06-30: 9,600 rows.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314137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141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3075051"/>
            <a:ext cx="2552931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Register — mona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7995" y="3075051"/>
            <a:ext cx="7206459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logistic formula, four features, five parameters; approved by mgr.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374951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495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3683190"/>
            <a:ext cx="2552931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Fit — devi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7995" y="3683190"/>
            <a:ext cx="7206459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Under a training warrant, by IRLS in twelve lines of numpy.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4357655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35765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4291330"/>
            <a:ext cx="2552931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Score blind — MAYA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7995" y="4291330"/>
            <a:ext cx="7206459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uploaded parameters scored on rows devi never saw.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" y="4965795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96579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" y="4899469"/>
            <a:ext cx="2552931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Seal — lara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7995" y="4899469"/>
            <a:ext cx="7206459" cy="553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An execution warrant, approved by a second person.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61422"/>
                </a:solidFill>
                <a:latin typeface="Calibri"/>
              </a:rPr>
              <a:t>Study 09 — a bracket left out, found by reconciling every obligor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49553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39585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39585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152387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0.00982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199936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F57"/>
                </a:solidFill>
                <a:latin typeface="Calibri"/>
              </a:rPr>
              <a:t>RMSE of K for version 1 against the regulator's 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6835" y="139585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6835" y="139585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8003" y="152387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6.5m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8003" y="199936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F57"/>
                </a:solidFill>
                <a:latin typeface="Calibri"/>
              </a:rPr>
              <a:t>capital overstated on the year-end book: 179.6m against 173.1m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139585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6431" y="139585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599" y="152387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199936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statement in the semantic diff that fixes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6027" y="139585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6027" y="139585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152387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5.7e-17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195" y="199936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RMSE of K for version 2, floor and cap restored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749169"/>
            <a:ext cx="10637215" cy="349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A model with nothing to fit is proved by reconciliation; the leakage certificate records a written exception, because reporting uses figures finalised after the quarter by design.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A high finding was raised, fixed as version 2, refused when the owner tried to close it herself, and closed by the validator.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357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61422"/>
                </a:solidFill>
                <a:latin typeface="Calibri"/>
              </a:rPr>
              <a:t>Study 19 — a bought score, validated blind, taken out of service by drift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17422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63726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Imported from its MLflow signature, its code validated in the sandbox, scored blind on 171 held-out applications: Brier 0.082, utilisation 43% of the importance. Then three months in production: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Nobody had to notice. The covenant broke, the warrant suspended itself, and every consuming call failed closed naming whom to contact.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77240" y="2017268"/>
          <a:ext cx="10637215" cy="141890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utilisation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Warrant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0.411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0.009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0.451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0.109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0.497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suspended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breach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Study 42 — winning 60% of rows, and still clearly better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0.2250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blind RMSE of the linear champion on 657 escrowed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6835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6835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8003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0.1940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8003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blind RMSE of the log-log challenger, same rows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6431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599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51C30"/>
                </a:solidFill>
                <a:latin typeface="Calibri"/>
              </a:rPr>
              <a:t>[−0.040, −0.022]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95% paired bootstrap interval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6027" y="1460119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6027" y="1460119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1588135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−1.62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195" y="2063623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the challenger's elasticity; the truth is −1.6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813431"/>
            <a:ext cx="10637215" cy="343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The challenger wins by more where it wins: at the deepest discount 0.276 against 0.235. Two headline RMSEs hide that; a paired comparison shows it.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A warrant with another seed was refused rather than compared; the challenger's developer was refused the decision; a second manager promoted it.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38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61422"/>
                </a:solidFill>
                <a:latin typeface="Calibri"/>
              </a:rPr>
              <a:t>Study 45 — wrong by the same amount, in opposite directions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97749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44053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44053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1572069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1.08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047557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MAE ratio between the sexes: by size, nothing stands 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6835" y="1444053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6835" y="1444053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8003" y="1572069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+0.0259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8003" y="2047557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bias for women: the unisex table overstates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1444053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6431" y="1444053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599" y="1572069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−0.0240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2047557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bias for men: it understates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6027" y="1444053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6027" y="1444053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1572069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Calibri"/>
              </a:rPr>
              <a:t>6.6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195" y="2047557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for mortality to double, from the fitted slope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797365"/>
            <a:ext cx="10637215" cy="3447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Both segments are marked systematic. The first version of MAYA's fairness evidence flagged on MAE alone and reported nothing; this study is why the systematic flag exists.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The table must be unisex by law, so the finding is accepted, not fixed — by a manager, with the ruling cited.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0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1422"/>
                </a:solidFill>
                <a:latin typeface="Calibri"/>
              </a:rPr>
              <a:t>Study 49 — right about every category, and still not fit to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265618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1192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A triage application on the firm's own Azure OpenAI deployment. MAYA does not call it: answers are recorded where it runs and scored here.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2065464"/>
          <a:ext cx="10637214" cy="22997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4002"/>
                <a:gridCol w="1467202"/>
                <a:gridCol w="7336010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Version 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21 of 24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Every category right; one promises a refund, two repeat phone and card numbers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Draft fixed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24 of 24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New definition hash: the failing run no longer describes 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Set extended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refused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validator adds a Welsh complaint; the clean run no longer counts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Scored again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25 of 25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The owner refused approval; a model manager approved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formal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80179"/>
            <a:ext cx="7658794" cy="214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Why the facts above can be derived rather than typed. Proofs are in the research paper; this is the engineer's view.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Four facts that rot   ·   One order   ·   The point-in-time read   ·   Where a machine may do the work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Four declared facts, and how each one rots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Each of the four is derivable from structure that has to exist anyway, and a derived fact cannot be typed wrong, cannot drift, and cannot disagree with its object.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60119"/>
          <a:ext cx="10637213" cy="28138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3801"/>
                <a:gridCol w="3117804"/>
                <a:gridCol w="2934404"/>
                <a:gridCol w="3301204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 declaration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rots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 damage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What sort of artefact this is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Typed once, at registration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monitor that detects nothing reads as coverage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Whether this data or version fits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Four code paths drift apart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Towards permitting more: nobody files that bug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Currency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What a row could have known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convention in each query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Look-ahead that improves every metric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What a conclusion rests 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log, not a derivation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“Still supported?” needs a person to read 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One order — “A can stand in for B” — written down once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761422"/>
                </a:solidFill>
                <a:latin typeface="Calibri"/>
              </a:rPr>
              <a:t>Key insight: </a:t>
            </a:r>
            <a:r>
              <a:rPr sz="1300" b="0" i="1">
                <a:solidFill>
                  <a:srgbClr val="761422"/>
                </a:solidFill>
                <a:latin typeface="Calibri"/>
              </a:rPr>
              <a:t>Four implementations of one relation are four chances to disagree — always towards permitting more, because a wrong refusal is reported within the hour and a wrong permission never is.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175231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75231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1487551"/>
            <a:ext cx="2552931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A replacement 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7995" y="1487551"/>
            <a:ext cx="7206459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Its inputs accept at least what the incumbent's did; its outputs still provide what it provided.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75732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75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492565"/>
            <a:ext cx="2552931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Binding data to a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7995" y="2492565"/>
            <a:ext cx="7206459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feature set's schema can stand in for the model's input contract.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76234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6234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3497579"/>
            <a:ext cx="2552931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A dependency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7995" y="3497579"/>
            <a:ext cx="7206459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What the source produces can stand in for what the target reads.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76735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6735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4502594"/>
            <a:ext cx="2552931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1422"/>
                </a:solidFill>
                <a:latin typeface="Calibri"/>
              </a:rPr>
              <a:t>One set, two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7995" y="4502594"/>
            <a:ext cx="7206459" cy="95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The set can stand in for the meet of the two contracts.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The point-in-time read, and the four properties it has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The latest record whose event time is at or before the label, and whose knowledge time is at or before the earlier of the label and the observation.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2113661"/>
          <a:ext cx="10637214" cy="255682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7603"/>
                <a:gridCol w="3851405"/>
                <a:gridCol w="4218206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says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Idempotent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Reading its own result returns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Cached and recomputed rows agree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Commutes with projection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Dropping columns first changes nothing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narrower query is the same query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Monotone in observation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 later observation admits a superset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Nothing knowable stops being knowable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Saturating at the label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After the label, the same set always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Reproducibility, as a property of the read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Where a machine may do the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If an answer can be checked, it matters little what produced it. If it cannot, trusting the answer is trusting the producer.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MAYA's assistant sits entirely on the left: it proposes, never approves, never blocks, and never writes to a sealed object.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113661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113661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186813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A check exists: an error costs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25725"/>
            <a:ext cx="5135727" cy="3253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Encode a regime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Truth is kept under translation, or it is not.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Bind data, wire models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one order; a refusal names the slot.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Assemble evidence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Recomputed by a second route, then cited.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8727" y="2113661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8727" y="2113661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186813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No check exists: the answer is its producer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2625725"/>
            <a:ext cx="5135727" cy="3253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Choose the tiering rule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It is the standard.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Conclude a validation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An exercise of authority, not a property of text.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Accept residual risk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Somebody's decision, recorded as theirs.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384048"/>
            <a:ext cx="310896" cy="310896"/>
          </a:xfrm>
          <a:prstGeom prst="ellipse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1855" y="458663"/>
            <a:ext cx="161665" cy="161665"/>
          </a:xfrm>
          <a:prstGeom prst="diamond">
            <a:avLst/>
          </a:prstGeom>
          <a:noFill/>
          <a:ln w="20320">
            <a:solidFill>
              <a:srgbClr val="E8B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C0"/>
                </a:solidFill>
                <a:latin typeface="Calibri"/>
              </a:rPr>
              <a:t>M A Y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502920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8E1B2C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2194560" cy="640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382329" cy="133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Built today, and what comes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22800"/>
            <a:ext cx="7658794" cy="150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F6E6E9"/>
                </a:solidFill>
                <a:latin typeface="Calibri"/>
              </a:rPr>
              <a:t>What version 1.0.0 does, how it compares, what it does not do, and where it is going.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B8C0"/>
                </a:solidFill>
                <a:latin typeface="Calibri"/>
              </a:rPr>
              <a:t>Built   ·   Compared   ·   Limits   ·   Next   ·   Where to start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Built: the evidence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FEATURES AND 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Two clocks, sealed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Restatements append; pins are byte-identical on re-resolution.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7842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7842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FORMULA 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Mathematics as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LaTeX, Python and spreadsheets parsed, rendered, diffed and turned into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8444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8444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1324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WARRANTS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324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The checksum 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324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Leakage certificates, escrowed holdouts, covenants that suspend.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EVIDENCE BUNDLES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Verify offline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Signed, re-executed, refused on one changed byte.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7842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7842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0722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WORKFLOW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0722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Policy as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0722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Separation of duties, delegation, break-glass, campaigns.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8444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8444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1324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AUDIT AND CUSTODY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324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Hash-chained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1324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Anchored outside the database, timestamped on request.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Built: governance and 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Findings to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Tiers, periodic review that suspends, the SR 11-7 and SS1/23 export.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7842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7842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Graded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ok, watch or breach from what executions report.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8444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8444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1324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324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Challengers and fairness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324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Paired intervals, segments, permutation importance.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BLACK BOXES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Scored in the sandbox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Six-rung validation; conformance where a formula exists.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7842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7842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0722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CONNECTORS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0722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MLflow, SageMaker, OpenLineage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0722" y="4753991"/>
            <a:ext cx="3070250" cy="948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Snowflake and Databricks as read-only sources.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8444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8444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1324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LLM APPLICATIONS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324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Sealed versions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1324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Evaluation sets, guardrails, approval on evidence.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How MAYA compares, by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626481"/>
            <a:ext cx="10637215" cy="618871"/>
          </a:xfrm>
          <a:prstGeom prst="roundRect">
            <a:avLst>
              <a:gd name="adj" fmla="val 14775"/>
            </a:avLst>
          </a:prstGeom>
          <a:solidFill>
            <a:srgbClr val="F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81345"/>
            <a:ext cx="10180015" cy="509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61422"/>
                </a:solidFill>
                <a:latin typeface="Calibri"/>
              </a:rPr>
              <a:t>Categories, not vendors: a feature-by-feature claim about a named product would be wrong by its next release. The last two rows are where MAYA loses, and it says so.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60119"/>
          <a:ext cx="10637214" cy="390600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85006"/>
                <a:gridCol w="1513052"/>
                <a:gridCol w="1513052"/>
                <a:gridCol w="1513052"/>
                <a:gridCol w="1513052"/>
              </a:tblGrid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MRM platforms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ML platforms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 stores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MAYA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Inventory, approval workflow, separation of duties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Overdue periodic review stops the model running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Champion and challenger on the same sealed holdout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Point-in-time training data, two clocks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49529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Data sealed by content hash, reproducible years later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49529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Mathematics as a specification code is checked against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49529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Licence to fit or run, granted in advance and refusable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Evidence verified without the platform installed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Training infrastructure and model serving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6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Scale of deployment, ecosystem, vendor support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A7F8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E6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What MAYA does not do, stated rather than discovered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1460119"/>
          <a:ext cx="10637214" cy="318065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34805"/>
                <a:gridCol w="6602409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Limit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Why, and what it costs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It trains and serves nothing itself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By design: it licenses what your platform does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Linux is what is tested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Windows runs the case studies, but its sandbox has no OS isolation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Connectors not yet met live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Tested against published documents and recorded exchanges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MAYA's own live LLM calls, stubbed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Recorded runs are unaffected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761422"/>
                          </a:solidFill>
                          <a:latin typeface="Calibri"/>
                        </a:rPr>
                        <a:t>Not yet deployed at a supervised firm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C1C1E"/>
                          </a:solidFill>
                          <a:latin typeface="Calibri"/>
                        </a:rPr>
                        <a:t>No external security review; one author's work, open to inspection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What comes next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CERTIFY CONNECTORS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Live MLflow and SageMaker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Run the connector suites against live services, not only their documents.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7842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7842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SECURITY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An external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one review a project cannot do for itself.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8444" y="1460119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8444" y="1460119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1324" y="1624711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FIRST MODEL IN AN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324" y="1880743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Timed, with real people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324" y="2229231"/>
            <a:ext cx="3070250" cy="1205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success criterion that needs a stopwatch and a newcomer.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WINDOWS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A sandbox tier there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So the tested platform list can grow past Linux.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7842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7842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0722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RICHER BLIND SCORES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0722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AUC, Gini, log loss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0722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Discrimination and calibration for binary targets, on the escrowed holdout.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8444" y="3727831"/>
            <a:ext cx="3436010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8444" y="3727831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1324" y="3892422"/>
            <a:ext cx="3070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MORE EXTENSION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324" y="4148455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61422"/>
                </a:solidFill>
                <a:latin typeface="Calibri"/>
              </a:rPr>
              <a:t>Plugins in 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1324" y="4496943"/>
            <a:ext cx="3070250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Wire the remaining declared points the way LLM providers already are.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100584"/>
            <a:ext cx="310896" cy="310896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22087" y="175199"/>
            <a:ext cx="161665" cy="161665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A 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463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6E6E9"/>
                </a:solidFill>
                <a:latin typeface="Calibri"/>
              </a:rPr>
              <a:t>Model &amp; AI Lifecycle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63823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569" y="6510528"/>
            <a:ext cx="42548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MAYA  •  Ashutosh Sinha     </a:t>
            </a:r>
            <a:r>
              <a:rPr sz="900" b="1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68096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61422"/>
                </a:solidFill>
                <a:latin typeface="Calibri"/>
              </a:rPr>
              <a:t>Where to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313815"/>
            <a:ext cx="10637215" cy="2011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460119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A51C30"/>
                </a:solidFill>
                <a:latin typeface="Calibri"/>
              </a:rPr>
              <a:t>Fifteen minutes to a running MAYA with a model in it.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07688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768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1874837"/>
            <a:ext cx="3829397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docs/getting-started/QUICKSTART.md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4461" y="1874837"/>
            <a:ext cx="5929993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Nine steps on Python 3.13, each saying what you should see.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295647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5647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2754426"/>
            <a:ext cx="3829397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docs/getting-started/IDE.md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4461" y="2754426"/>
            <a:ext cx="5929993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PyCharm or IntelliJ IDEA: run, debug and test the server and the UI.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383606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3606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3634016"/>
            <a:ext cx="3829397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case_studies/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4461" y="3634016"/>
            <a:ext cx="5929993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Fifteen worked models; any one fills the catalog in under a minute.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471565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1565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" y="4513605"/>
            <a:ext cx="3829397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docs/reference/API_GUIDE.md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4461" y="4513605"/>
            <a:ext cx="5929993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The REST API from a first curl to a sealed warrant, every example executed by the tests.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5595245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9524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6464" y="5393194"/>
            <a:ext cx="3829397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1422"/>
                </a:solidFill>
                <a:latin typeface="Calibri"/>
              </a:rPr>
              <a:t>Help, inside MAYA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4461" y="5393194"/>
            <a:ext cx="5929993" cy="824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Every screen ends with what it is for and a link to the full guide.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881878" y="1294790"/>
            <a:ext cx="427939" cy="427939"/>
          </a:xfrm>
          <a:prstGeom prst="diamond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6E6E9"/>
                </a:solidFill>
                <a:latin typeface="Calibri"/>
              </a:rPr>
              <a:t>Evidence, not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Ashutosh Sinha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ajsinha@gmail.com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 — Model &amp; AI Lifecycle Assurance</dc:title>
  <dc:subject>Why model governance fails, what MAYA does about it, and the evidence</dc:subject>
  <dc:creator>Ashutosh Sinha</dc:creator>
  <cp:keywords>MAYA; model risk; governance</cp:keywords>
  <dc:description>Copyright (c) 2026 Ashutosh Sinha. All rights reserved.</dc:description>
  <cp:lastModifiedBy>Ashutosh Sinha</cp:lastModifiedBy>
  <cp:revision>1</cp:revision>
  <dcterms:created xsi:type="dcterms:W3CDTF">2026-09-19T12:00:00Z</dcterms:created>
  <dcterms:modified xsi:type="dcterms:W3CDTF">2026-09-19T12:00:00Z</dcterms:modified>
  <cp:category/>
</cp:coreProperties>
</file>