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REFUSALS ARE LOAD-BEARING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Nine things it will not build, and what each one protects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764792"/>
          <a:ext cx="10637214" cy="3415741"/>
        </p:xfrm>
        <a:graphic>
          <a:graphicData uri="http://schemas.openxmlformats.org/drawingml/2006/table">
            <a:tbl>
              <a:tblPr firstRow="1">
                <a:tableStyleId>{5C22544A-7EE6-4342-B048-85BDC9FD1C3A}</a:tableStyleId>
              </a:tblPr>
              <a:tblGrid>
                <a:gridCol w="2102939"/>
                <a:gridCol w="4205878"/>
                <a:gridCol w="4328397"/>
              </a:tblGrid>
              <a:tr h="329184">
                <a:tc>
                  <a:txBody>
                    <a:bodyPr wrap="square"/>
                    <a:lstStyle/>
                    <a:p>
                      <a:pPr algn="l"/>
                      <a:r>
                        <a:rPr sz="950" b="1">
                          <a:solidFill>
                            <a:srgbClr val="FFFFFF"/>
                          </a:solidFill>
                          <a:latin typeface="Calibri"/>
                        </a:rPr>
                        <a:t>Asked for</a:t>
                      </a:r>
                    </a:p>
                  </a:txBody>
                  <a:tcPr marL="82296" marR="64008" marT="32004" marB="32004" anchor="ctr">
                    <a:solidFill>
                      <a:srgbClr val="A51C30"/>
                    </a:solidFill>
                  </a:tcPr>
                </a:tc>
                <a:tc>
                  <a:txBody>
                    <a:bodyPr wrap="square"/>
                    <a:lstStyle/>
                    <a:p>
                      <a:pPr algn="l"/>
                      <a:r>
                        <a:rPr sz="950" b="1">
                          <a:solidFill>
                            <a:srgbClr val="FFFFFF"/>
                          </a:solidFill>
                          <a:latin typeface="Calibri"/>
                        </a:rPr>
                        <a:t>Refused because</a:t>
                      </a:r>
                    </a:p>
                  </a:txBody>
                  <a:tcPr marL="82296" marR="64008" marT="32004" marB="32004" anchor="ctr">
                    <a:solidFill>
                      <a:srgbClr val="A51C30"/>
                    </a:solidFill>
                  </a:tcPr>
                </a:tc>
                <a:tc>
                  <a:txBody>
                    <a:bodyPr wrap="square"/>
                    <a:lstStyle/>
                    <a:p>
                      <a:pPr algn="l"/>
                      <a:r>
                        <a:rPr sz="950" b="1">
                          <a:solidFill>
                            <a:srgbClr val="FFFFFF"/>
                          </a:solidFill>
                          <a:latin typeface="Calibri"/>
                        </a:rPr>
                        <a:t>What would stop meaning anything</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Managed serving</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and the runtime would be one process — and one that argues a warrant survives its own unavailability</a:t>
                      </a:r>
                    </a:p>
                  </a:txBody>
                  <a:tcPr marL="82296" marR="64008" marT="32004" marB="32004" anchor="ctr">
                    <a:solidFill>
                      <a:srgbClr val="FFFFFF"/>
                    </a:solidFill>
                  </a:tcPr>
                </a:tc>
                <a:tc>
                  <a:txBody>
                    <a:bodyPr wrap="square"/>
                    <a:lstStyle/>
                    <a:p>
                      <a:pPr algn="l"/>
                      <a:r>
                        <a:rPr sz="900" b="0">
                          <a:solidFill>
                            <a:srgbClr val="1C1C1E"/>
                          </a:solidFill>
                          <a:latin typeface="Calibri"/>
                        </a:rPr>
                        <a:t>every claim to be an independent record of execution</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Convert an artifact</a:t>
                      </a:r>
                    </a:p>
                  </a:txBody>
                  <a:tcPr marL="82296" marR="64008" marT="32004" marB="32004" anchor="ctr">
                    <a:solidFill>
                      <a:srgbClr val="F6F3EF"/>
                    </a:solidFill>
                  </a:tcPr>
                </a:tc>
                <a:tc>
                  <a:txBody>
                    <a:bodyPr wrap="square"/>
                    <a:lstStyle/>
                    <a:p>
                      <a:pPr algn="l"/>
                      <a:r>
                        <a:rPr sz="900" b="0">
                          <a:solidFill>
                            <a:srgbClr val="1C1C1E"/>
                          </a:solidFill>
                          <a:latin typeface="Calibri"/>
                        </a:rPr>
                        <a:t>converting means loading and running a model</a:t>
                      </a:r>
                    </a:p>
                  </a:txBody>
                  <a:tcPr marL="82296" marR="64008" marT="32004" marB="32004" anchor="ctr">
                    <a:solidFill>
                      <a:srgbClr val="F6F3EF"/>
                    </a:solidFill>
                  </a:tcPr>
                </a:tc>
                <a:tc>
                  <a:txBody>
                    <a:bodyPr wrap="square"/>
                    <a:lstStyle/>
                    <a:p>
                      <a:pPr algn="l"/>
                      <a:r>
                        <a:rPr sz="900" b="0">
                          <a:solidFill>
                            <a:srgbClr val="1C1C1E"/>
                          </a:solidFill>
                          <a:latin typeface="Calibri"/>
                        </a:rPr>
                        <a:t>the equivalence claim it holds to a standard</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Submit training jobs</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would be on the failure path of what it observes</a:t>
                      </a:r>
                    </a:p>
                  </a:txBody>
                  <a:tcPr marL="82296" marR="64008" marT="32004" marB="32004" anchor="ctr">
                    <a:solidFill>
                      <a:srgbClr val="FFFFFF"/>
                    </a:solidFill>
                  </a:tcPr>
                </a:tc>
                <a:tc>
                  <a:txBody>
                    <a:bodyPr wrap="square"/>
                    <a:lstStyle/>
                    <a:p>
                      <a:pPr algn="l"/>
                      <a:r>
                        <a:rPr sz="900" b="0">
                          <a:solidFill>
                            <a:srgbClr val="1C1C1E"/>
                          </a:solidFill>
                          <a:latin typeface="Calibri"/>
                        </a:rPr>
                        <a:t>the run register as an account of somebody else's work</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Accept a `passed` flag</a:t>
                      </a:r>
                    </a:p>
                  </a:txBody>
                  <a:tcPr marL="82296" marR="64008" marT="32004" marB="32004" anchor="ctr">
                    <a:solidFill>
                      <a:srgbClr val="F6F3EF"/>
                    </a:solidFill>
                  </a:tcPr>
                </a:tc>
                <a:tc>
                  <a:txBody>
                    <a:bodyPr wrap="square"/>
                    <a:lstStyle/>
                    <a:p>
                      <a:pPr algn="l"/>
                      <a:r>
                        <a:rPr sz="900" b="0">
                          <a:solidFill>
                            <a:srgbClr val="1C1C1E"/>
                          </a:solidFill>
                          <a:latin typeface="Calibri"/>
                        </a:rPr>
                        <a:t>whoever computed the number would set the pass mark</a:t>
                      </a:r>
                    </a:p>
                  </a:txBody>
                  <a:tcPr marL="82296" marR="64008" marT="32004" marB="32004" anchor="ctr">
                    <a:solidFill>
                      <a:srgbClr val="F6F3EF"/>
                    </a:solidFill>
                  </a:tcPr>
                </a:tc>
                <a:tc>
                  <a:txBody>
                    <a:bodyPr wrap="square"/>
                    <a:lstStyle/>
                    <a:p>
                      <a:pPr algn="l"/>
                      <a:r>
                        <a:rPr sz="900" b="0">
                          <a:solidFill>
                            <a:srgbClr val="1C1C1E"/>
                          </a:solidFill>
                          <a:latin typeface="Calibri"/>
                        </a:rPr>
                        <a:t>the threshold this firm's second line set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Recommend promotion</a:t>
                      </a:r>
                    </a:p>
                  </a:txBody>
                  <a:tcPr marL="82296" marR="64008" marT="32004" marB="32004" anchor="ctr">
                    <a:solidFill>
                      <a:srgbClr val="FFFFFF"/>
                    </a:solidFill>
                  </a:tcPr>
                </a:tc>
                <a:tc>
                  <a:txBody>
                    <a:bodyPr wrap="square"/>
                    <a:lstStyle/>
                    <a:p>
                      <a:pPr algn="l"/>
                      <a:r>
                        <a:rPr sz="900" b="0">
                          <a:solidFill>
                            <a:srgbClr val="1C1C1E"/>
                          </a:solidFill>
                          <a:latin typeface="Calibri"/>
                        </a:rPr>
                        <a:t>it would pre-empt the approval it is evidence for</a:t>
                      </a:r>
                    </a:p>
                  </a:txBody>
                  <a:tcPr marL="82296" marR="64008" marT="32004" marB="32004" anchor="ctr">
                    <a:solidFill>
                      <a:srgbClr val="FFFFFF"/>
                    </a:solidFill>
                  </a:tcPr>
                </a:tc>
                <a:tc>
                  <a:txBody>
                    <a:bodyPr wrap="square"/>
                    <a:lstStyle/>
                    <a:p>
                      <a:pPr algn="l"/>
                      <a:r>
                        <a:rPr sz="900" b="0">
                          <a:solidFill>
                            <a:srgbClr val="1C1C1E"/>
                          </a:solidFill>
                          <a:latin typeface="Calibri"/>
                        </a:rPr>
                        <a:t>the second-line approval itself</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Edit a compiled document</a:t>
                      </a:r>
                    </a:p>
                  </a:txBody>
                  <a:tcPr marL="82296" marR="64008" marT="32004" marB="32004" anchor="ctr">
                    <a:solidFill>
                      <a:srgbClr val="F6F3EF"/>
                    </a:solidFill>
                  </a:tcPr>
                </a:tc>
                <a:tc>
                  <a:txBody>
                    <a:bodyPr wrap="square"/>
                    <a:lstStyle/>
                    <a:p>
                      <a:pPr algn="l"/>
                      <a:r>
                        <a:rPr sz="900" b="0">
                          <a:solidFill>
                            <a:srgbClr val="1C1C1E"/>
                          </a:solidFill>
                          <a:latin typeface="Calibri"/>
                        </a:rPr>
                        <a:t>every sentence cites a node; the prose would outlive the citation</a:t>
                      </a:r>
                    </a:p>
                  </a:txBody>
                  <a:tcPr marL="82296" marR="64008" marT="32004" marB="32004" anchor="ctr">
                    <a:solidFill>
                      <a:srgbClr val="F6F3EF"/>
                    </a:solidFill>
                  </a:tcPr>
                </a:tc>
                <a:tc>
                  <a:txBody>
                    <a:bodyPr wrap="square"/>
                    <a:lstStyle/>
                    <a:p>
                      <a:pPr algn="l"/>
                      <a:r>
                        <a:rPr sz="900" b="0">
                          <a:solidFill>
                            <a:srgbClr val="1C1C1E"/>
                          </a:solidFill>
                          <a:latin typeface="Calibri"/>
                        </a:rPr>
                        <a:t>traceability of every sentence in it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Configure the state graph</a:t>
                      </a:r>
                    </a:p>
                  </a:txBody>
                  <a:tcPr marL="82296" marR="64008" marT="32004" marB="32004" anchor="ctr">
                    <a:solidFill>
                      <a:srgbClr val="FFFFFF"/>
                    </a:solidFill>
                  </a:tcPr>
                </a:tc>
                <a:tc>
                  <a:txBody>
                    <a:bodyPr wrap="square"/>
                    <a:lstStyle/>
                    <a:p>
                      <a:pPr algn="l"/>
                      <a:r>
                        <a:rPr sz="900" b="0">
                          <a:solidFill>
                            <a:srgbClr val="1C1C1E"/>
                          </a:solidFill>
                          <a:latin typeface="Calibri"/>
                        </a:rPr>
                        <a:t>a firm could add a transition that skips approval</a:t>
                      </a:r>
                    </a:p>
                  </a:txBody>
                  <a:tcPr marL="82296" marR="64008" marT="32004" marB="32004" anchor="ctr">
                    <a:solidFill>
                      <a:srgbClr val="FFFFFF"/>
                    </a:solidFill>
                  </a:tcPr>
                </a:tc>
                <a:tc>
                  <a:txBody>
                    <a:bodyPr wrap="square"/>
                    <a:lstStyle/>
                    <a:p>
                      <a:pPr algn="l"/>
                      <a:r>
                        <a:rPr sz="900" b="0">
                          <a:solidFill>
                            <a:srgbClr val="1C1C1E"/>
                          </a:solidFill>
                          <a:latin typeface="Calibri"/>
                        </a:rPr>
                        <a:t>'approved' meaning the same in two institutions</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Sign artifacts</a:t>
                      </a:r>
                    </a:p>
                  </a:txBody>
                  <a:tcPr marL="82296" marR="64008" marT="32004" marB="32004" anchor="ctr">
                    <a:solidFill>
                      <a:srgbClr val="F6F3EF"/>
                    </a:solidFill>
                  </a:tcPr>
                </a:tc>
                <a:tc>
                  <a:txBody>
                    <a:bodyPr wrap="square"/>
                    <a:lstStyle/>
                    <a:p>
                      <a:pPr algn="l"/>
                      <a:r>
                        <a:rPr sz="900" b="0">
                          <a:solidFill>
                            <a:srgbClr val="1C1C1E"/>
                          </a:solidFill>
                          <a:latin typeface="Calibri"/>
                        </a:rPr>
                        <a:t>the platform would hold the key that could forge one</a:t>
                      </a:r>
                    </a:p>
                  </a:txBody>
                  <a:tcPr marL="82296" marR="64008" marT="32004" marB="32004" anchor="ctr">
                    <a:solidFill>
                      <a:srgbClr val="F6F3EF"/>
                    </a:solidFill>
                  </a:tcPr>
                </a:tc>
                <a:tc>
                  <a:txBody>
                    <a:bodyPr wrap="square"/>
                    <a:lstStyle/>
                    <a:p>
                      <a:pPr algn="l"/>
                      <a:r>
                        <a:rPr sz="900" b="0">
                          <a:solidFill>
                            <a:srgbClr val="1C1C1E"/>
                          </a:solidFill>
                          <a:latin typeface="Calibri"/>
                        </a:rPr>
                        <a:t>the provenance check, verifying its own signature</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Hide the cheap remediation</a:t>
                      </a:r>
                    </a:p>
                  </a:txBody>
                  <a:tcPr marL="82296" marR="64008" marT="32004" marB="32004" anchor="ctr">
                    <a:solidFill>
                      <a:srgbClr val="FFFFFF"/>
                    </a:solidFill>
                  </a:tcPr>
                </a:tc>
                <a:tc>
                  <a:txBody>
                    <a:bodyPr wrap="square"/>
                    <a:lstStyle/>
                    <a:p>
                      <a:pPr algn="l"/>
                      <a:r>
                        <a:rPr sz="900" b="0">
                          <a:solidFill>
                            <a:srgbClr val="1C1C1E"/>
                          </a:solidFill>
                          <a:latin typeface="Calibri"/>
                        </a:rPr>
                        <a:t>a solver with no view on KIND recommends the waiver every time</a:t>
                      </a:r>
                    </a:p>
                  </a:txBody>
                  <a:tcPr marL="82296" marR="64008" marT="32004" marB="32004" anchor="ctr">
                    <a:solidFill>
                      <a:srgbClr val="FFFFFF"/>
                    </a:solidFill>
                  </a:tcPr>
                </a:tc>
                <a:tc>
                  <a:txBody>
                    <a:bodyPr wrap="square"/>
                    <a:lstStyle/>
                    <a:p>
                      <a:pPr algn="l"/>
                      <a:r>
                        <a:rPr sz="900" b="0">
                          <a:solidFill>
                            <a:srgbClr val="1C1C1E"/>
                          </a:solidFill>
                          <a:latin typeface="Calibri"/>
                        </a:rPr>
                        <a:t>the difference between safe and looking compliant</a:t>
                      </a:r>
                    </a:p>
                  </a:txBody>
                  <a:tcPr marL="82296" marR="64008" marT="32004" marB="32004" anchor="ctr">
                    <a:solidFill>
                      <a:srgbClr val="FFFFFF"/>
                    </a:solidFill>
                  </a:tcPr>
                </a:tc>
              </a:tr>
            </a:tbl>
          </a:graphicData>
        </a:graphic>
      </p:graphicFrame>
      <p:sp>
        <p:nvSpPr>
          <p:cNvPr id="11" name="Rectangle 10"/>
          <p:cNvSpPr/>
          <p:nvPr/>
        </p:nvSpPr>
        <p:spPr>
          <a:xfrm>
            <a:off x="777240" y="5363413"/>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63413"/>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82285"/>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sentence underneath all nine. </a:t>
            </a:r>
            <a:r>
              <a:rPr sz="1050" b="0" i="0">
                <a:solidFill>
                  <a:srgbClr val="1C1C1E"/>
                </a:solidFill>
                <a:latin typeface="Calibri"/>
              </a:rPr>
              <a:t>A platform that both authorises an act and performs it is the only witness to its own execution. Every row above is that sentence applied to a different request — and the useful question when evaluating a governance platform is not what it can do, but what it declines to do and whether the answer is about architecture or about a roadmap.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527960"/>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Refusing at the edge of what it can see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graphicFrame>
        <p:nvGraphicFramePr>
          <p:cNvPr id="10" name="Table 9"/>
          <p:cNvGraphicFramePr>
            <a:graphicFrameLocks noGrp="1"/>
          </p:cNvGraphicFramePr>
          <p:nvPr/>
        </p:nvGraphicFramePr>
        <p:xfrm>
          <a:off x="777240" y="1353312"/>
          <a:ext cx="10637213" cy="2517912"/>
        </p:xfrm>
        <a:graphic>
          <a:graphicData uri="http://schemas.openxmlformats.org/drawingml/2006/table">
            <a:tbl>
              <a:tblPr firstRow="1">
                <a:tableStyleId>{5C22544A-7EE6-4342-B048-85BDC9FD1C3A}</a:tableStyleId>
              </a:tblPr>
              <a:tblGrid>
                <a:gridCol w="3117804"/>
                <a:gridCol w="2751003"/>
                <a:gridCol w="4768406"/>
              </a:tblGrid>
              <a:tr h="329184">
                <a:tc>
                  <a:txBody>
                    <a:bodyPr wrap="square"/>
                    <a:lstStyle/>
                    <a:p>
                      <a:pPr algn="l"/>
                      <a:r>
                        <a:rPr sz="950" b="1">
                          <a:solidFill>
                            <a:srgbClr val="FFFFFF"/>
                          </a:solidFill>
                          <a:latin typeface="Calibri"/>
                        </a:rPr>
                        <a:t>At this boundary</a:t>
                      </a:r>
                    </a:p>
                  </a:txBody>
                  <a:tcPr marL="82296" marR="64008" marT="32004" marB="32004" anchor="ctr">
                    <a:solidFill>
                      <a:srgbClr val="A51C30"/>
                    </a:solidFill>
                  </a:tcPr>
                </a:tc>
                <a:tc>
                  <a:txBody>
                    <a:bodyPr wrap="square"/>
                    <a:lstStyle/>
                    <a:p>
                      <a:pPr algn="l"/>
                      <a:r>
                        <a:rPr sz="950" b="1">
                          <a:solidFill>
                            <a:srgbClr val="FFFFFF"/>
                          </a:solidFill>
                          <a:latin typeface="Calibri"/>
                        </a:rPr>
                        <a:t>The convenient answer</a:t>
                      </a:r>
                    </a:p>
                  </a:txBody>
                  <a:tcPr marL="82296" marR="64008" marT="32004" marB="32004" anchor="ctr">
                    <a:solidFill>
                      <a:srgbClr val="A51C30"/>
                    </a:solidFill>
                  </a:tcPr>
                </a:tc>
                <a:tc>
                  <a:txBody>
                    <a:bodyPr wrap="square"/>
                    <a:lstStyle/>
                    <a:p>
                      <a:pPr algn="l"/>
                      <a:r>
                        <a:rPr sz="950" b="1">
                          <a:solidFill>
                            <a:srgbClr val="FFFFFF"/>
                          </a:solidFill>
                          <a:latin typeface="Calibri"/>
                        </a:rPr>
                        <a:t>What it reports instead</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a timestamp token nobody has verified</a:t>
                      </a:r>
                    </a:p>
                  </a:txBody>
                  <a:tcPr marL="82296" marR="64008" marT="32004" marB="32004" anchor="ctr">
                    <a:solidFill>
                      <a:srgbClr val="FFFFFF"/>
                    </a:solidFill>
                  </a:tcPr>
                </a:tc>
                <a:tc>
                  <a:txBody>
                    <a:bodyPr wrap="square"/>
                    <a:lstStyle/>
                    <a:p>
                      <a:pPr algn="l"/>
                      <a:r>
                        <a:rPr sz="950" b="0">
                          <a:solidFill>
                            <a:srgbClr val="1C1C1E"/>
                          </a:solidFill>
                          <a:latin typeface="Calibri"/>
                        </a:rPr>
                        <a:t>“verified” — or “no token”</a:t>
                      </a:r>
                    </a:p>
                  </a:txBody>
                  <a:tcPr marL="82296" marR="64008" marT="32004" marB="32004" anchor="ctr">
                    <a:solidFill>
                      <a:srgbClr val="FFFFFF"/>
                    </a:solidFill>
                  </a:tcPr>
                </a:tc>
                <a:tc>
                  <a:txBody>
                    <a:bodyPr wrap="square"/>
                    <a:lstStyle/>
                    <a:p>
                      <a:pPr algn="l"/>
                      <a:r>
                        <a:rPr sz="950" b="0">
                          <a:solidFill>
                            <a:srgbClr val="1C1C1E"/>
                          </a:solidFill>
                          <a:latin typeface="Calibri"/>
                        </a:rPr>
                        <a:t>a third state. Checking one means holding a certificate chain and choosing which roots to trust, which the firm's security function decided once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export from another model registry</a:t>
                      </a:r>
                    </a:p>
                  </a:txBody>
                  <a:tcPr marL="82296" marR="64008" marT="32004" marB="32004" anchor="ctr">
                    <a:solidFill>
                      <a:srgbClr val="F6F3EF"/>
                    </a:solidFill>
                  </a:tcPr>
                </a:tc>
                <a:tc>
                  <a:txBody>
                    <a:bodyPr wrap="square"/>
                    <a:lstStyle/>
                    <a:p>
                      <a:pPr algn="l"/>
                      <a:r>
                        <a:rPr sz="950" b="0">
                          <a:solidFill>
                            <a:srgbClr val="1C1C1E"/>
                          </a:solidFill>
                          <a:latin typeface="Calibri"/>
                        </a:rPr>
                        <a:t>registrations, at import scale</a:t>
                      </a:r>
                    </a:p>
                  </a:txBody>
                  <a:tcPr marL="82296" marR="64008" marT="32004" marB="32004" anchor="ctr">
                    <a:solidFill>
                      <a:srgbClr val="F6F3EF"/>
                    </a:solidFill>
                  </a:tcPr>
                </a:tc>
                <a:tc>
                  <a:txBody>
                    <a:bodyPr wrap="square"/>
                    <a:lstStyle/>
                    <a:p>
                      <a:pPr algn="l"/>
                      <a:r>
                        <a:rPr sz="950" b="0">
                          <a:solidFill>
                            <a:srgbClr val="1C1C1E"/>
                          </a:solidFill>
                          <a:latin typeface="Calibri"/>
                        </a:rPr>
                        <a:t>candidates for triage. Owner, purpose, entity, materiality and ‘is it a model at all’ are in no ML platform anywhere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 discovery sweep with malformed rows</a:t>
                      </a:r>
                    </a:p>
                  </a:txBody>
                  <a:tcPr marL="82296" marR="64008" marT="32004" marB="32004" anchor="ctr">
                    <a:solidFill>
                      <a:srgbClr val="FFFFFF"/>
                    </a:solidFill>
                  </a:tcPr>
                </a:tc>
                <a:tc>
                  <a:txBody>
                    <a:bodyPr wrap="square"/>
                    <a:lstStyle/>
                    <a:p>
                      <a:pPr algn="l"/>
                      <a:r>
                        <a:rPr sz="950" b="0">
                          <a:solidFill>
                            <a:srgbClr val="1C1C1E"/>
                          </a:solidFill>
                          <a:latin typeface="Calibri"/>
                        </a:rPr>
                        <a:t>keep the good ones</a:t>
                      </a:r>
                    </a:p>
                  </a:txBody>
                  <a:tcPr marL="82296" marR="64008" marT="32004" marB="32004" anchor="ctr">
                    <a:solidFill>
                      <a:srgbClr val="FFFFFF"/>
                    </a:solidFill>
                  </a:tcPr>
                </a:tc>
                <a:tc>
                  <a:txBody>
                    <a:bodyPr wrap="square"/>
                    <a:lstStyle/>
                    <a:p>
                      <a:pPr algn="l"/>
                      <a:r>
                        <a:rPr sz="950" b="0">
                          <a:solidFill>
                            <a:srgbClr val="1C1C1E"/>
                          </a:solidFill>
                          <a:latin typeface="Calibri"/>
                        </a:rPr>
                        <a:t>refused whole. A partial ingest grades the rows MAYA kept, not the scanner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extension that is installed</a:t>
                      </a:r>
                    </a:p>
                  </a:txBody>
                  <a:tcPr marL="82296" marR="64008" marT="32004" marB="32004" anchor="ctr">
                    <a:solidFill>
                      <a:srgbClr val="F6F3EF"/>
                    </a:solidFill>
                  </a:tcPr>
                </a:tc>
                <a:tc>
                  <a:txBody>
                    <a:bodyPr wrap="square"/>
                    <a:lstStyle/>
                    <a:p>
                      <a:pPr algn="l"/>
                      <a:r>
                        <a:rPr sz="950" b="0">
                          <a:solidFill>
                            <a:srgbClr val="1C1C1E"/>
                          </a:solidFill>
                          <a:latin typeface="Calibri"/>
                        </a:rPr>
                        <a:t>load it</a:t>
                      </a:r>
                    </a:p>
                  </a:txBody>
                  <a:tcPr marL="82296" marR="64008" marT="32004" marB="32004" anchor="ctr">
                    <a:solidFill>
                      <a:srgbClr val="F6F3EF"/>
                    </a:solidFill>
                  </a:tcPr>
                </a:tc>
                <a:tc>
                  <a:txBody>
                    <a:bodyPr wrap="square"/>
                    <a:lstStyle/>
                    <a:p>
                      <a:pPr algn="l"/>
                      <a:r>
                        <a:rPr sz="950" b="0">
                          <a:solidFill>
                            <a:srgbClr val="1C1C1E"/>
                          </a:solidFill>
                          <a:latin typeface="Calibri"/>
                        </a:rPr>
                        <a:t>seen, not enabled. A control switched on by a dependency bump is a control nobody turned on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pack sent to a supervisor</a:t>
                      </a:r>
                    </a:p>
                  </a:txBody>
                  <a:tcPr marL="82296" marR="64008" marT="32004" marB="32004" anchor="ctr">
                    <a:solidFill>
                      <a:srgbClr val="FFFFFF"/>
                    </a:solidFill>
                  </a:tcPr>
                </a:tc>
                <a:tc>
                  <a:txBody>
                    <a:bodyPr wrap="square"/>
                    <a:lstStyle/>
                    <a:p>
                      <a:pPr algn="l"/>
                      <a:r>
                        <a:rPr sz="950" b="0">
                          <a:solidFill>
                            <a:srgbClr val="1C1C1E"/>
                          </a:solidFill>
                          <a:latin typeface="Calibri"/>
                        </a:rPr>
                        <a:t>an examiner portal</a:t>
                      </a:r>
                    </a:p>
                  </a:txBody>
                  <a:tcPr marL="82296" marR="64008" marT="32004" marB="32004" anchor="ctr">
                    <a:solidFill>
                      <a:srgbClr val="FFFFFF"/>
                    </a:solidFill>
                  </a:tcPr>
                </a:tc>
                <a:tc>
                  <a:txBody>
                    <a:bodyPr wrap="square"/>
                    <a:lstStyle/>
                    <a:p>
                      <a:pPr algn="l"/>
                      <a:r>
                        <a:rPr sz="950" b="0">
                          <a:solidFill>
                            <a:srgbClr val="1C1C1E"/>
                          </a:solidFill>
                          <a:latin typeface="Calibri"/>
                        </a:rPr>
                        <a:t>a time-boxed link to a content digest. It establishes no identity, and says so</a:t>
                      </a:r>
                    </a:p>
                  </a:txBody>
                  <a:tcPr marL="82296" marR="64008" marT="32004" marB="32004" anchor="ctr">
                    <a:solidFill>
                      <a:srgbClr val="FFFFFF"/>
                    </a:solidFill>
                  </a:tcPr>
                </a:tc>
              </a:tr>
            </a:tbl>
          </a:graphicData>
        </a:graphic>
      </p:graphicFrame>
      <p:sp>
        <p:nvSpPr>
          <p:cNvPr id="11" name="Rectangle 10"/>
          <p:cNvSpPr/>
          <p:nvPr/>
        </p:nvSpPr>
        <p:spPr>
          <a:xfrm>
            <a:off x="777240" y="4072394"/>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72394"/>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91266"/>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a boundary the natural report is the answer you wish you had — </a:t>
            </a:r>
            <a:r>
              <a:rPr sz="1050" b="0" i="0">
                <a:solidFill>
                  <a:srgbClr val="1C1C1E"/>
                </a:solidFill>
                <a:latin typeface="Calibri"/>
              </a:rPr>
              <a:t>and the overstatement is invisible precisely because nobody can see past the boundary to check it. </a:t>
            </a:r>
            <a:r>
              <a:rPr sz="1050" b="1" i="0">
                <a:solidFill>
                  <a:srgbClr val="1C1C1E"/>
                </a:solidFill>
                <a:latin typeface="Calibri"/>
              </a:rPr>
              <a:t>Each of these widens a type rather than adding a warning.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Fourteen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213969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Not built, and why each one is not</a:t>
            </a:r>
          </a:p>
        </p:txBody>
      </p:sp>
      <p:sp>
        <p:nvSpPr>
          <p:cNvPr id="25" name="TextBox 24"/>
          <p:cNvSpPr txBox="1"/>
          <p:nvPr/>
        </p:nvSpPr>
        <p:spPr>
          <a:xfrm>
            <a:off x="7819445" y="2130552"/>
            <a:ext cx="3466993" cy="36576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store.py hashes and stores. provenance.py verifies in three states — verified, unverified, absent — and mints none</a:t>
            </a:r>
          </a:p>
        </p:txBody>
      </p:sp>
      <p:sp>
        <p:nvSpPr>
          <p:cNvPr id="26" name="TextBox 25"/>
          <p:cNvSpPr txBox="1"/>
          <p:nvPr/>
        </p:nvSpPr>
        <p:spPr>
          <a:xfrm>
            <a:off x="7819445" y="249631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7706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and licence scans</a:t>
            </a:r>
          </a:p>
        </p:txBody>
      </p:sp>
      <p:sp>
        <p:nvSpPr>
          <p:cNvPr id="28" name="TextBox 27"/>
          <p:cNvSpPr txBox="1"/>
          <p:nvPr/>
        </p:nvSpPr>
        <p:spPr>
          <a:xfrm>
            <a:off x="7819445" y="304495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31927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SIGNING — verification is built; minting is refused</a:t>
            </a:r>
            <a:r>
              <a:rPr sz="880" b="0" i="0">
                <a:solidFill>
                  <a:srgbClr val="A51C30"/>
                </a:solidFill>
                <a:latin typeface="Calibri"/>
              </a:rPr>
              <a:t>   a platform that signed would hold the key that could forge</a:t>
            </a:r>
          </a:p>
        </p:txBody>
      </p:sp>
      <p:sp>
        <p:nvSpPr>
          <p:cNvPr id="30" name="TextBox 29"/>
          <p:cNvSpPr txBox="1"/>
          <p:nvPr/>
        </p:nvSpPr>
        <p:spPr>
          <a:xfrm>
            <a:off x="7819445" y="359359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CONVERSION — the equivalence claim is held to a standard</a:t>
            </a:r>
            <a:r>
              <a:rPr sz="880" b="0" i="0">
                <a:solidFill>
                  <a:srgbClr val="A51C30"/>
                </a:solidFill>
                <a:latin typeface="Calibri"/>
              </a:rPr>
              <a:t>   converting means loading and running a model</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was recorded as blocked on an online store, and was blocked on the wrong thing. </a:t>
            </a:r>
            <a:r>
              <a:rPr sz="1100" b="0" i="0">
                <a:solidFill>
                  <a:srgbClr val="1C1C1E"/>
                </a:solidFill>
                <a:latin typeface="Calibri"/>
              </a:rPr>
              <a:t>A store sits on the serving path at request latency, and this platform does not go there. The engine already knows which namespaces it read, so it attests them and MAYA compares against what the contract pins — the same shape as every other claim here: the platform does not perform the act, it holds whoever did to what they said they did. </a:t>
            </a:r>
            <a:r>
              <a:rPr sz="1100" b="1" i="0">
                <a:solidFill>
                  <a:srgbClr val="A51C30"/>
                </a:solidFill>
                <a:latin typeface="Calibri"/>
              </a:rPr>
              <a:t>The same move made value-level skew detection possible, </a:t>
            </a:r>
            <a:r>
              <a:rPr sz="1100" b="0" i="0">
                <a:solidFill>
                  <a:srgbClr val="1C1C1E"/>
                </a:solidFill>
                <a:latin typeface="Calibri"/>
              </a:rPr>
              <a:t>and having two clocks is what separates a stale value from one that is correct today and was not knowable at the decision — the kind every backtest passes.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 keyed per audience</a:t>
            </a:r>
          </a:p>
          <a:p>
            <a:pPr lvl="1">
              <a:spcBef>
                <a:spcPts val="0"/>
              </a:spcBef>
              <a:spcAft>
                <a:spcPts val="0"/>
              </a:spcAft>
            </a:pPr>
            <a:r>
              <a:rPr sz="900">
                <a:solidFill>
                  <a:srgbClr val="4A4F57"/>
                </a:solidFill>
                <a:latin typeface="Calibri"/>
              </a:rPr>
              <a:t>The key is derived from the principal the warrant is FOR, so a compromised engine forges warrants for itself and nobody else</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§27 — and the 50 ms p99 in the requirements is a target that nothing here measures. TTL jitter is built, which is the one piece that matters only once a cache exists.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§28 that are designed and not built; the boundary check on the left is the one part of it that is enforced today, at execution rather than in a report.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228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§28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3507864"/>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Legibility</a:t>
                      </a:r>
                    </a:p>
                  </a:txBody>
                  <a:tcPr marL="82296" marR="64008" marT="32004" marB="32004" anchor="ctr">
                    <a:solidFill>
                      <a:srgbClr val="F6F3EF"/>
                    </a:solidFill>
                  </a:tcPr>
                </a:tc>
                <a:tc>
                  <a:txBody>
                    <a:bodyPr wrap="square"/>
                    <a:lstStyle/>
                    <a:p>
                      <a:pPr algn="l"/>
                      <a:r>
                        <a:rPr sz="900" b="0">
                          <a:solidFill>
                            <a:srgbClr val="1C1C1E"/>
                          </a:solidFill>
                          <a:latin typeface="Calibri"/>
                        </a:rPr>
                        <a:t>Theme and a five-step text scale, both applied before the first paint. 31 assertions hold WCAG AA contrast in both themes, a focus ring on every focusable kind, and no template pinning a colour or a pixel size</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85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25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061866"/>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both SQL dialects, ruff and a type checker gating 203 modules, on every push and pull request. Still absent: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26</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Thirteen Worked Case Studies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Thirteen real models across seven industries, registered end to end — fitted outside MAYA, governed inside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they are</a:t>
            </a:r>
          </a:p>
          <a:p>
            <a:pPr>
              <a:lnSpc>
                <a:spcPct val="115000"/>
              </a:lnSpc>
              <a:spcBef>
                <a:spcPts val="0"/>
              </a:spcBef>
              <a:spcAft>
                <a:spcPts val="700"/>
              </a:spcAft>
            </a:pPr>
            <a:r>
              <a:rPr sz="1150" b="0" i="0">
                <a:solidFill>
                  <a:srgbClr val="F6E6E9"/>
                </a:solidFill>
                <a:latin typeface="Calibri"/>
              </a:rPr>
              <a:t>The boundary they draw</a:t>
            </a:r>
          </a:p>
          <a:p>
            <a:pPr>
              <a:lnSpc>
                <a:spcPct val="115000"/>
              </a:lnSpc>
              <a:spcBef>
                <a:spcPts val="0"/>
              </a:spcBef>
              <a:spcAft>
                <a:spcPts val="700"/>
              </a:spcAft>
            </a:pPr>
            <a:r>
              <a:rPr sz="1150" b="0" i="0">
                <a:solidFill>
                  <a:srgbClr val="F6E6E9"/>
                </a:solidFill>
                <a:latin typeface="Calibri"/>
              </a:rPr>
              <a:t>Each one, and its point</a:t>
            </a:r>
          </a:p>
          <a:p>
            <a:pPr>
              <a:lnSpc>
                <a:spcPct val="115000"/>
              </a:lnSpc>
              <a:spcBef>
                <a:spcPts val="0"/>
              </a:spcBef>
              <a:spcAft>
                <a:spcPts val="700"/>
              </a:spcAft>
            </a:pPr>
            <a:r>
              <a:rPr sz="1150" b="0" i="0">
                <a:solidFill>
                  <a:srgbClr val="F6E6E9"/>
                </a:solidFill>
                <a:latin typeface="Calibri"/>
              </a:rPr>
              <a:t>What the platform refused</a:t>
            </a:r>
          </a:p>
          <a:p>
            <a:pPr>
              <a:lnSpc>
                <a:spcPct val="115000"/>
              </a:lnSpc>
              <a:spcBef>
                <a:spcPts val="0"/>
              </a:spcBef>
              <a:spcAft>
                <a:spcPts val="700"/>
              </a:spcAft>
            </a:pPr>
            <a:r>
              <a:rPr sz="1150" b="0" i="0">
                <a:solidFill>
                  <a:srgbClr val="F6E6E9"/>
                </a:solidFill>
                <a:latin typeface="Calibri"/>
              </a:rPr>
              <a:t>What they do not cover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(1 OF 2)</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banking models, chosen to cover the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graphicFrame>
        <p:nvGraphicFramePr>
          <p:cNvPr id="10" name="Table 9"/>
          <p:cNvGraphicFramePr>
            <a:graphicFrameLocks noGrp="1"/>
          </p:cNvGraphicFramePr>
          <p:nvPr/>
        </p:nvGraphicFramePr>
        <p:xfrm>
          <a:off x="777240" y="1353312"/>
          <a:ext cx="10637213" cy="3081782"/>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1000" b="1">
                          <a:solidFill>
                            <a:srgbClr val="FFFFFF"/>
                          </a:solidFill>
                          <a:latin typeface="Calibri"/>
                        </a:rPr>
                        <a:t>#</a:t>
                      </a:r>
                    </a:p>
                  </a:txBody>
                  <a:tcPr marL="82296" marR="64008" marT="32004" marB="32004" anchor="ctr">
                    <a:solidFill>
                      <a:srgbClr val="A51C30"/>
                    </a:solidFill>
                  </a:tcPr>
                </a:tc>
                <a:tc>
                  <a:txBody>
                    <a:bodyPr wrap="square"/>
                    <a:lstStyle/>
                    <a:p>
                      <a:pPr algn="l"/>
                      <a:r>
                        <a:rPr sz="1000" b="1">
                          <a:solidFill>
                            <a:srgbClr val="FFFFFF"/>
                          </a:solidFill>
                          <a:latin typeface="Calibri"/>
                        </a:rPr>
                        <a:t>Model</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Domain</a:t>
                      </a:r>
                    </a:p>
                  </a:txBody>
                  <a:tcPr marL="82296" marR="64008" marT="32004" marB="32004" anchor="ctr">
                    <a:solidFill>
                      <a:srgbClr val="A51C30"/>
                    </a:solidFill>
                  </a:tcPr>
                </a:tc>
                <a:tc>
                  <a:txBody>
                    <a:bodyPr wrap="square"/>
                    <a:lstStyle/>
                    <a:p>
                      <a:pPr algn="l"/>
                      <a:r>
                        <a:rPr sz="1000" b="1">
                          <a:solidFill>
                            <a:srgbClr val="FFFFFF"/>
                          </a:solidFill>
                          <a:latin typeface="Calibri"/>
                        </a:rPr>
                        <a:t>Why this one</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00" b="0">
                          <a:solidFill>
                            <a:srgbClr val="1C1C1E"/>
                          </a:solidFill>
                          <a:latin typeface="Calibri"/>
                        </a:rPr>
                        <a:t>T1</a:t>
                      </a:r>
                    </a:p>
                  </a:txBody>
                  <a:tcPr marL="82296" marR="64008" marT="32004" marB="32004" anchor="ctr">
                    <a:solidFill>
                      <a:srgbClr val="FFFFFF"/>
                    </a:solidFill>
                  </a:tcPr>
                </a:tc>
                <a:tc>
                  <a:txBody>
                    <a:bodyPr wrap="square"/>
                    <a:lstStyle/>
                    <a:p>
                      <a:pPr algn="l"/>
                      <a:r>
                        <a:rPr sz="1000" b="0">
                          <a:solidFill>
                            <a:srgbClr val="1C1C1E"/>
                          </a:solidFill>
                          <a:latin typeface="Calibri"/>
                        </a:rPr>
                        <a:t>Markets</a:t>
                      </a:r>
                    </a:p>
                  </a:txBody>
                  <a:tcPr marL="82296" marR="64008" marT="32004" marB="32004" anchor="ctr">
                    <a:solidFill>
                      <a:srgbClr val="FFFFFF"/>
                    </a:solidFill>
                  </a:tcPr>
                </a:tc>
                <a:tc>
                  <a:txBody>
                    <a:bodyPr wrap="square"/>
                    <a:lstStyle/>
                    <a:p>
                      <a:pPr algn="l"/>
                      <a:r>
                        <a:rPr sz="1000" b="0">
                          <a:solidFill>
                            <a:srgbClr val="1C1C1E"/>
                          </a:solidFill>
                          <a:latin typeface="Calibri"/>
                        </a:rPr>
                        <a:t>A model with NO training data. The whole pricer — normal CDF included — is one expression in the register</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Home price regression (Ames)</a:t>
                      </a:r>
                    </a:p>
                  </a:txBody>
                  <a:tcPr marL="82296" marR="64008" marT="32004" marB="32004" anchor="ctr">
                    <a:solidFill>
                      <a:srgbClr val="F6F3EF"/>
                    </a:solidFill>
                  </a:tcPr>
                </a:tc>
                <a:tc>
                  <a:txBody>
                    <a:bodyPr wrap="square"/>
                    <a:lstStyle/>
                    <a:p>
                      <a:pPr algn="l"/>
                      <a:r>
                        <a:rPr sz="1000" b="0">
                          <a:solidFill>
                            <a:srgbClr val="1C1C1E"/>
                          </a:solidFill>
                          <a:latin typeface="Calibri"/>
                        </a:rPr>
                        <a:t>T2</a:t>
                      </a:r>
                    </a:p>
                  </a:txBody>
                  <a:tcPr marL="82296" marR="64008" marT="32004" marB="32004" anchor="ctr">
                    <a:solidFill>
                      <a:srgbClr val="F6F3EF"/>
                    </a:solidFill>
                  </a:tcPr>
                </a:tc>
                <a:tc>
                  <a:txBody>
                    <a:bodyPr wrap="square"/>
                    <a:lstStyle/>
                    <a:p>
                      <a:pPr algn="l"/>
                      <a:r>
                        <a:rPr sz="1000" b="0">
                          <a:solidFill>
                            <a:srgbClr val="1C1C1E"/>
                          </a:solidFill>
                          <a:latin typeface="Calibri"/>
                        </a:rPr>
                        <a:t>Retail collateral</a:t>
                      </a:r>
                    </a:p>
                  </a:txBody>
                  <a:tcPr marL="82296" marR="64008" marT="32004" marB="32004" anchor="ctr">
                    <a:solidFill>
                      <a:srgbClr val="F6F3EF"/>
                    </a:solidFill>
                  </a:tcPr>
                </a:tc>
                <a:tc>
                  <a:txBody>
                    <a:bodyPr wrap="square"/>
                    <a:lstStyle/>
                    <a:p>
                      <a:pPr algn="l"/>
                      <a:r>
                        <a:rPr sz="1000" b="0">
                          <a:solidFill>
                            <a:srgbClr val="1C1C1E"/>
                          </a:solidFill>
                          <a:latin typeface="Calibri"/>
                        </a:rPr>
                        <a:t>REAL public data from its authoritative source, and the second clock the source did not have</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Mortgage prepayment (CPR)</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Treasury / ALM</a:t>
                      </a:r>
                    </a:p>
                  </a:txBody>
                  <a:tcPr marL="82296" marR="64008" marT="32004" marB="32004" anchor="ctr">
                    <a:solidFill>
                      <a:srgbClr val="FFFFFF"/>
                    </a:solidFill>
                  </a:tcPr>
                </a:tc>
                <a:tc>
                  <a:txBody>
                    <a:bodyPr wrap="square"/>
                    <a:lstStyle/>
                    <a:p>
                      <a:pPr algn="l"/>
                      <a:r>
                        <a:rPr sz="1000" b="0">
                          <a:solidFill>
                            <a:srgbClr val="1C1C1E"/>
                          </a:solidFill>
                          <a:latin typeface="Calibri"/>
                        </a:rPr>
                        <a:t>Non-linear in the inputs, linear in the parameters: exponential ramp plus a cubic S-curve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00" b="0">
                          <a:solidFill>
                            <a:srgbClr val="1C1C1E"/>
                          </a:solidFill>
                          <a:latin typeface="Calibri"/>
                        </a:rPr>
                        <a:t>T0</a:t>
                      </a:r>
                    </a:p>
                  </a:txBody>
                  <a:tcPr marL="82296" marR="64008" marT="32004" marB="32004" anchor="ctr">
                    <a:solidFill>
                      <a:srgbClr val="F6F3EF"/>
                    </a:solidFill>
                  </a:tcPr>
                </a:tc>
                <a:tc>
                  <a:txBody>
                    <a:bodyPr wrap="square"/>
                    <a:lstStyle/>
                    <a:p>
                      <a:pPr algn="l"/>
                      <a:r>
                        <a:rPr sz="1000" b="0">
                          <a:solidFill>
                            <a:srgbClr val="1C1C1E"/>
                          </a:solidFill>
                          <a:latin typeface="Calibri"/>
                        </a:rPr>
                        <a:t>Wholesale credit</a:t>
                      </a:r>
                    </a:p>
                  </a:txBody>
                  <a:tcPr marL="82296" marR="64008" marT="32004" marB="32004" anchor="ctr">
                    <a:solidFill>
                      <a:srgbClr val="F6F3EF"/>
                    </a:solidFill>
                  </a:tcPr>
                </a:tc>
                <a:tc>
                  <a:txBody>
                    <a:bodyPr wrap="square"/>
                    <a:lstStyle/>
                    <a:p>
                      <a:pPr algn="l"/>
                      <a:r>
                        <a:rPr sz="1000" b="0">
                          <a:solidFill>
                            <a:srgbClr val="1C1C1E"/>
                          </a:solidFill>
                          <a:latin typeface="Calibri"/>
                        </a:rPr>
                        <a:t>NO parameters at all. Asking to train it is a type error, refused twice by two independent layers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Impairment</a:t>
                      </a:r>
                    </a:p>
                  </a:txBody>
                  <a:tcPr marL="82296" marR="64008" marT="32004" marB="32004" anchor="ctr">
                    <a:solidFill>
                      <a:srgbClr val="FFFFFF"/>
                    </a:solidFill>
                  </a:tcPr>
                </a:tc>
                <a:tc>
                  <a:txBody>
                    <a:bodyPr wrap="square"/>
                    <a:lstStyle/>
                    <a:p>
                      <a:pPr algn="l"/>
                      <a:r>
                        <a:rPr sz="1000" b="0">
                          <a:solidFill>
                            <a:srgbClr val="1C1C1E"/>
                          </a:solidFill>
                          <a:latin typeface="Calibri"/>
                        </a:rPr>
                        <a:t>REUSE: five features it did not define, a composed featureset, and a type-checked dependency edge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00" b="0">
                          <a:solidFill>
                            <a:srgbClr val="1C1C1E"/>
                          </a:solidFill>
                          <a:latin typeface="Calibri"/>
                        </a:rPr>
                        <a:t>T8</a:t>
                      </a:r>
                    </a:p>
                  </a:txBody>
                  <a:tcPr marL="82296" marR="64008" marT="32004" marB="32004" anchor="ctr">
                    <a:solidFill>
                      <a:srgbClr val="F6F3EF"/>
                    </a:solidFill>
                  </a:tcPr>
                </a:tc>
                <a:tc>
                  <a:txBody>
                    <a:bodyPr wrap="square"/>
                    <a:lstStyle/>
                    <a:p>
                      <a:pPr algn="l"/>
                      <a:r>
                        <a:rPr sz="1000" b="0">
                          <a:solidFill>
                            <a:srgbClr val="1C1C1E"/>
                          </a:solidFill>
                          <a:latin typeface="Calibri"/>
                        </a:rPr>
                        <a:t>Retail credit</a:t>
                      </a:r>
                    </a:p>
                  </a:txBody>
                  <a:tcPr marL="82296" marR="64008" marT="32004" marB="32004" anchor="ctr">
                    <a:solidFill>
                      <a:srgbClr val="F6F3EF"/>
                    </a:solidFill>
                  </a:tcPr>
                </a:tc>
                <a:tc>
                  <a:txBody>
                    <a:bodyPr wrap="square"/>
                    <a:lstStyle/>
                    <a:p>
                      <a:pPr algn="l"/>
                      <a:r>
                        <a:rPr sz="1000" b="0">
                          <a:solidFill>
                            <a:srgbClr val="1C1C1E"/>
                          </a:solidFill>
                          <a:latin typeface="Calibri"/>
                        </a:rPr>
                        <a:t>A policy RULEBOOK governed as a model — checked, trialled, published, approved by a second person</a:t>
                      </a:r>
                    </a:p>
                  </a:txBody>
                  <a:tcPr marL="82296" marR="64008" marT="32004" marB="32004" anchor="ctr">
                    <a:solidFill>
                      <a:srgbClr val="F6F3EF"/>
                    </a:solidFill>
                  </a:tcPr>
                </a:tc>
              </a:tr>
            </a:tbl>
          </a:graphicData>
        </a:graphic>
      </p:graphicFrame>
      <p:sp>
        <p:nvSpPr>
          <p:cNvPr id="11" name="TextBox 10"/>
          <p:cNvSpPr txBox="1"/>
          <p:nvPr/>
        </p:nvSpPr>
        <p:spPr>
          <a:xfrm>
            <a:off x="777240" y="4636262"/>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trainability class is derived, never declared. </a:t>
            </a:r>
            <a:r>
              <a:rPr sz="1150" b="0" i="0">
                <a:solidFill>
                  <a:srgbClr val="1C1C1E"/>
                </a:solidFill>
                <a:latin typeface="Calibri"/>
              </a:rPr>
              <a:t>These six span T0 (parameters from theory), T1 (calibrated to market), T2 (estimated from a sample) and T8 (authored as rules) — and the class decides which operations the platform will admit.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(2 OF 2)</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more: the opaque, the generative, the elicited, the trained, and four other industries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graphicFrame>
        <p:nvGraphicFramePr>
          <p:cNvPr id="10" name="Table 9"/>
          <p:cNvGraphicFramePr>
            <a:graphicFrameLocks noGrp="1"/>
          </p:cNvGraphicFramePr>
          <p:nvPr/>
        </p:nvGraphicFramePr>
        <p:xfrm>
          <a:off x="777240" y="1764792"/>
          <a:ext cx="10637213" cy="3040606"/>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900" b="1">
                          <a:solidFill>
                            <a:srgbClr val="FFFFFF"/>
                          </a:solidFill>
                          <a:latin typeface="Calibri"/>
                        </a:rPr>
                        <a:t>#</a:t>
                      </a:r>
                    </a:p>
                  </a:txBody>
                  <a:tcPr marL="82296" marR="64008" marT="32004" marB="32004" anchor="ctr">
                    <a:solidFill>
                      <a:srgbClr val="A51C30"/>
                    </a:solidFill>
                  </a:tcPr>
                </a:tc>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Class</a:t>
                      </a:r>
                    </a:p>
                  </a:txBody>
                  <a:tcPr marL="82296" marR="64008" marT="32004" marB="32004" anchor="ctr">
                    <a:solidFill>
                      <a:srgbClr val="A51C30"/>
                    </a:solidFill>
                  </a:tcPr>
                </a:tc>
                <a:tc>
                  <a:txBody>
                    <a:bodyPr wrap="square"/>
                    <a:lstStyle/>
                    <a:p>
                      <a:pPr algn="l"/>
                      <a:r>
                        <a:rPr sz="900" b="1">
                          <a:solidFill>
                            <a:srgbClr val="FFFFFF"/>
                          </a:solidFill>
                          <a:latin typeface="Calibri"/>
                        </a:rPr>
                        <a:t>Domain</a:t>
                      </a:r>
                    </a:p>
                  </a:txBody>
                  <a:tcPr marL="82296" marR="64008" marT="32004" marB="32004" anchor="ctr">
                    <a:solidFill>
                      <a:srgbClr val="A51C30"/>
                    </a:solidFill>
                  </a:tcPr>
                </a:tc>
                <a:tc>
                  <a:txBody>
                    <a:bodyPr wrap="square"/>
                    <a:lstStyle/>
                    <a:p>
                      <a:pPr algn="l"/>
                      <a:r>
                        <a:rPr sz="900" b="1">
                          <a:solidFill>
                            <a:srgbClr val="FFFFFF"/>
                          </a:solidFill>
                          <a:latin typeface="Calibri"/>
                        </a:rPr>
                        <a:t>Why this one</a:t>
                      </a:r>
                    </a:p>
                  </a:txBody>
                  <a:tcPr marL="82296" marR="64008" marT="32004" marB="32004" anchor="ctr">
                    <a:solidFill>
                      <a:srgbClr val="A51C30"/>
                    </a:solidFill>
                  </a:tcPr>
                </a:tc>
              </a:tr>
              <a:tr h="299694">
                <a:tc>
                  <a:txBody>
                    <a:bodyPr wrap="square"/>
                    <a:lstStyle/>
                    <a:p>
                      <a:pPr algn="l"/>
                      <a:r>
                        <a:rPr sz="900" b="0">
                          <a:solidFill>
                            <a:srgbClr val="1C1C1E"/>
                          </a:solidFill>
                          <a:latin typeface="Calibri"/>
                        </a:rPr>
                        <a:t>7</a:t>
                      </a:r>
                    </a:p>
                  </a:txBody>
                  <a:tcPr marL="82296" marR="64008" marT="32004" marB="32004" anchor="ctr">
                    <a:solidFill>
                      <a:srgbClr val="FFFFFF"/>
                    </a:solidFill>
                  </a:tcPr>
                </a:tc>
                <a:tc>
                  <a:txBody>
                    <a:bodyPr wrap="square"/>
                    <a:lstStyle/>
                    <a:p>
                      <a:pPr algn="l"/>
                      <a:r>
                        <a:rPr sz="900" b="0">
                          <a:solidFill>
                            <a:srgbClr val="1C1C1E"/>
                          </a:solidFill>
                          <a:latin typeface="Calibri"/>
                        </a:rPr>
                        <a:t>LLM model documentation</a:t>
                      </a:r>
                    </a:p>
                  </a:txBody>
                  <a:tcPr marL="82296" marR="64008" marT="32004" marB="32004" anchor="ctr">
                    <a:solidFill>
                      <a:srgbClr val="FFFFFF"/>
                    </a:solidFill>
                  </a:tcPr>
                </a:tc>
                <a:tc>
                  <a:txBody>
                    <a:bodyPr wrap="square"/>
                    <a:lstStyle/>
                    <a:p>
                      <a:pPr algn="l"/>
                      <a:r>
                        <a:rPr sz="900" b="0">
                          <a:solidFill>
                            <a:srgbClr val="1C1C1E"/>
                          </a:solidFill>
                          <a:latin typeface="Calibri"/>
                        </a:rPr>
                        <a:t>Tier B</a:t>
                      </a:r>
                    </a:p>
                  </a:txBody>
                  <a:tcPr marL="82296" marR="64008" marT="32004" marB="32004" anchor="ctr">
                    <a:solidFill>
                      <a:srgbClr val="FFFFFF"/>
                    </a:solidFill>
                  </a:tcPr>
                </a:tc>
                <a:tc>
                  <a:txBody>
                    <a:bodyPr wrap="square"/>
                    <a:lstStyle/>
                    <a:p>
                      <a:pPr algn="l"/>
                      <a:r>
                        <a:rPr sz="900" b="0">
                          <a:solidFill>
                            <a:srgbClr val="1C1C1E"/>
                          </a:solidFill>
                          <a:latin typeface="Calibri"/>
                        </a:rPr>
                        <a:t>Model risk (AI)</a:t>
                      </a:r>
                    </a:p>
                  </a:txBody>
                  <a:tcPr marL="82296" marR="64008" marT="32004" marB="32004" anchor="ctr">
                    <a:solidFill>
                      <a:srgbClr val="FFFFFF"/>
                    </a:solidFill>
                  </a:tcPr>
                </a:tc>
                <a:tc>
                  <a:txBody>
                    <a:bodyPr wrap="square"/>
                    <a:lstStyle/>
                    <a:p>
                      <a:pPr algn="l"/>
                      <a:r>
                        <a:rPr sz="900" b="0">
                          <a:solidFill>
                            <a:srgbClr val="1C1C1E"/>
                          </a:solidFill>
                          <a:latin typeface="Calibri"/>
                        </a:rPr>
                        <a:t>The platform REMOVES the claim citing evidence it does not hold, and refuses a self-attestation</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8</a:t>
                      </a:r>
                    </a:p>
                  </a:txBody>
                  <a:tcPr marL="82296" marR="64008" marT="32004" marB="32004" anchor="ctr">
                    <a:solidFill>
                      <a:srgbClr val="F6F3EF"/>
                    </a:solidFill>
                  </a:tcPr>
                </a:tc>
                <a:tc>
                  <a:txBody>
                    <a:bodyPr wrap="square"/>
                    <a:lstStyle/>
                    <a:p>
                      <a:pPr algn="l"/>
                      <a:r>
                        <a:rPr sz="900" b="0">
                          <a:solidFill>
                            <a:srgbClr val="1C1C1E"/>
                          </a:solidFill>
                          <a:latin typeface="Calibri"/>
                        </a:rPr>
                        <a:t>Vendor bureau score</a:t>
                      </a:r>
                    </a:p>
                  </a:txBody>
                  <a:tcPr marL="82296" marR="64008" marT="32004" marB="32004" anchor="ctr">
                    <a:solidFill>
                      <a:srgbClr val="F6F3EF"/>
                    </a:solidFill>
                  </a:tcPr>
                </a:tc>
                <a:tc>
                  <a:txBody>
                    <a:bodyPr wrap="square"/>
                    <a:lstStyle/>
                    <a:p>
                      <a:pPr algn="l"/>
                      <a:r>
                        <a:rPr sz="900" b="0">
                          <a:solidFill>
                            <a:srgbClr val="1C1C1E"/>
                          </a:solidFill>
                          <a:latin typeface="Calibri"/>
                        </a:rPr>
                        <a:t>T6</a:t>
                      </a:r>
                    </a:p>
                  </a:txBody>
                  <a:tcPr marL="82296" marR="64008" marT="32004" marB="32004" anchor="ctr">
                    <a:solidFill>
                      <a:srgbClr val="F6F3EF"/>
                    </a:solidFill>
                  </a:tcPr>
                </a:tc>
                <a:tc>
                  <a:txBody>
                    <a:bodyPr wrap="square"/>
                    <a:lstStyle/>
                    <a:p>
                      <a:pPr algn="l"/>
                      <a:r>
                        <a:rPr sz="900" b="0">
                          <a:solidFill>
                            <a:srgbClr val="1C1C1E"/>
                          </a:solidFill>
                          <a:latin typeface="Calibri"/>
                        </a:rPr>
                        <a:t>Retail credit</a:t>
                      </a:r>
                    </a:p>
                  </a:txBody>
                  <a:tcPr marL="82296" marR="64008" marT="32004" marB="32004" anchor="ctr">
                    <a:solidFill>
                      <a:srgbClr val="F6F3EF"/>
                    </a:solidFill>
                  </a:tcPr>
                </a:tc>
                <a:tc>
                  <a:txBody>
                    <a:bodyPr wrap="square"/>
                    <a:lstStyle/>
                    <a:p>
                      <a:pPr algn="l"/>
                      <a:r>
                        <a:rPr sz="900" b="0">
                          <a:solidFill>
                            <a:srgbClr val="1C1C1E"/>
                          </a:solidFill>
                          <a:latin typeface="Calibri"/>
                        </a:rPr>
                        <a:t>Governing what nobody here can inspect. A fit refused for three reasons at once; reverse-engineered coefficients refused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9</a:t>
                      </a:r>
                    </a:p>
                  </a:txBody>
                  <a:tcPr marL="82296" marR="64008" marT="32004" marB="32004" anchor="ctr">
                    <a:solidFill>
                      <a:srgbClr val="FFFFFF"/>
                    </a:solidFill>
                  </a:tcPr>
                </a:tc>
                <a:tc>
                  <a:txBody>
                    <a:bodyPr wrap="square"/>
                    <a:lstStyle/>
                    <a:p>
                      <a:pPr algn="l"/>
                      <a:r>
                        <a:rPr sz="900" b="0">
                          <a:solidFill>
                            <a:srgbClr val="1C1C1E"/>
                          </a:solidFill>
                          <a:latin typeface="Calibri"/>
                        </a:rPr>
                        <a:t>Polygenic risk score</a:t>
                      </a:r>
                    </a:p>
                  </a:txBody>
                  <a:tcPr marL="82296" marR="64008" marT="32004" marB="32004" anchor="ctr">
                    <a:solidFill>
                      <a:srgbClr val="FFFFFF"/>
                    </a:solidFill>
                  </a:tcPr>
                </a:tc>
                <a:tc>
                  <a:txBody>
                    <a:bodyPr wrap="square"/>
                    <a:lstStyle/>
                    <a:p>
                      <a:pPr algn="l"/>
                      <a:r>
                        <a:rPr sz="900" b="0">
                          <a:solidFill>
                            <a:srgbClr val="1C1C1E"/>
                          </a:solidFill>
                          <a:latin typeface="Calibri"/>
                        </a:rPr>
                        <a:t>T2</a:t>
                      </a:r>
                    </a:p>
                  </a:txBody>
                  <a:tcPr marL="82296" marR="64008" marT="32004" marB="32004" anchor="ctr">
                    <a:solidFill>
                      <a:srgbClr val="FFFFFF"/>
                    </a:solidFill>
                  </a:tcPr>
                </a:tc>
                <a:tc>
                  <a:txBody>
                    <a:bodyPr wrap="square"/>
                    <a:lstStyle/>
                    <a:p>
                      <a:pPr algn="l"/>
                      <a:r>
                        <a:rPr sz="900" b="0">
                          <a:solidFill>
                            <a:srgbClr val="1C1C1E"/>
                          </a:solidFill>
                          <a:latin typeface="Calibri"/>
                        </a:rPr>
                        <a:t>Genomics</a:t>
                      </a:r>
                    </a:p>
                  </a:txBody>
                  <a:tcPr marL="82296" marR="64008" marT="32004" marB="32004" anchor="ctr">
                    <a:solidFill>
                      <a:srgbClr val="FFFFFF"/>
                    </a:solidFill>
                  </a:tcPr>
                </a:tc>
                <a:tc>
                  <a:txBody>
                    <a:bodyPr wrap="square"/>
                    <a:lstStyle/>
                    <a:p>
                      <a:pPr algn="l"/>
                      <a:r>
                        <a:rPr sz="900" b="0">
                          <a:solidFill>
                            <a:srgbClr val="1C1C1E"/>
                          </a:solidFill>
                          <a:latin typeface="Calibri"/>
                        </a:rPr>
                        <a:t>Works far less well in some ancestries — QUANTIFIED on the parameter set, read at the same moment as the numbers</a:t>
                      </a:r>
                    </a:p>
                  </a:txBody>
                  <a:tcPr marL="82296" marR="64008" marT="32004" marB="32004" anchor="ctr">
                    <a:solidFill>
                      <a:srgbClr val="FFFFFF"/>
                    </a:solidFill>
                  </a:tcPr>
                </a:tc>
              </a:tr>
              <a:tr h="299694">
                <a:tc>
                  <a:txBody>
                    <a:bodyPr wrap="square"/>
                    <a:lstStyle/>
                    <a:p>
                      <a:pPr algn="l"/>
                      <a:r>
                        <a:rPr sz="900" b="0">
                          <a:solidFill>
                            <a:srgbClr val="1C1C1E"/>
                          </a:solidFill>
                          <a:latin typeface="Calibri"/>
                        </a:rPr>
                        <a:t>10</a:t>
                      </a:r>
                    </a:p>
                  </a:txBody>
                  <a:tcPr marL="82296" marR="64008" marT="32004" marB="32004" anchor="ctr">
                    <a:solidFill>
                      <a:srgbClr val="F6F3EF"/>
                    </a:solidFill>
                  </a:tcPr>
                </a:tc>
                <a:tc>
                  <a:txBody>
                    <a:bodyPr wrap="square"/>
                    <a:lstStyle/>
                    <a:p>
                      <a:pPr algn="l"/>
                      <a:r>
                        <a:rPr sz="900" b="0">
                          <a:solidFill>
                            <a:srgbClr val="1C1C1E"/>
                          </a:solidFill>
                          <a:latin typeface="Calibri"/>
                        </a:rPr>
                        <a:t>SEIR epidemic model</a:t>
                      </a:r>
                    </a:p>
                  </a:txBody>
                  <a:tcPr marL="82296" marR="64008" marT="32004" marB="32004" anchor="ctr">
                    <a:solidFill>
                      <a:srgbClr val="F6F3EF"/>
                    </a:solidFill>
                  </a:tcPr>
                </a:tc>
                <a:tc>
                  <a:txBody>
                    <a:bodyPr wrap="square"/>
                    <a:lstStyle/>
                    <a:p>
                      <a:pPr algn="l"/>
                      <a:r>
                        <a:rPr sz="900" b="0">
                          <a:solidFill>
                            <a:srgbClr val="1C1C1E"/>
                          </a:solidFill>
                          <a:latin typeface="Calibri"/>
                        </a:rPr>
                        <a:t>T1</a:t>
                      </a:r>
                    </a:p>
                  </a:txBody>
                  <a:tcPr marL="82296" marR="64008" marT="32004" marB="32004" anchor="ctr">
                    <a:solidFill>
                      <a:srgbClr val="F6F3EF"/>
                    </a:solidFill>
                  </a:tcPr>
                </a:tc>
                <a:tc>
                  <a:txBody>
                    <a:bodyPr wrap="square"/>
                    <a:lstStyle/>
                    <a:p>
                      <a:pPr algn="l"/>
                      <a:r>
                        <a:rPr sz="900" b="0">
                          <a:solidFill>
                            <a:srgbClr val="1C1C1E"/>
                          </a:solidFill>
                          <a:latin typeface="Calibri"/>
                        </a:rPr>
                        <a:t>Public health</a:t>
                      </a:r>
                    </a:p>
                  </a:txBody>
                  <a:tcPr marL="82296" marR="64008" marT="32004" marB="32004" anchor="ctr">
                    <a:solidFill>
                      <a:srgbClr val="F6F3EF"/>
                    </a:solidFill>
                  </a:tcPr>
                </a:tc>
                <a:tc>
                  <a:txBody>
                    <a:bodyPr wrap="square"/>
                    <a:lstStyle/>
                    <a:p>
                      <a:pPr algn="l"/>
                      <a:r>
                        <a:rPr sz="900" b="0">
                          <a:solidFill>
                            <a:srgbClr val="1C1C1E"/>
                          </a:solidFill>
                          <a:latin typeface="Calibri"/>
                        </a:rPr>
                        <a:t>One reporting delay moves R0 from 2.04 to 2.34 on the same data. Both numbers are on the record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11</a:t>
                      </a:r>
                    </a:p>
                  </a:txBody>
                  <a:tcPr marL="82296" marR="64008" marT="32004" marB="32004" anchor="ctr">
                    <a:solidFill>
                      <a:srgbClr val="FFFFFF"/>
                    </a:solidFill>
                  </a:tcPr>
                </a:tc>
                <a:tc>
                  <a:txBody>
                    <a:bodyPr wrap="square"/>
                    <a:lstStyle/>
                    <a:p>
                      <a:pPr algn="l"/>
                      <a:r>
                        <a:rPr sz="900" b="0">
                          <a:solidFill>
                            <a:srgbClr val="1C1C1E"/>
                          </a:solidFill>
                          <a:latin typeface="Calibri"/>
                        </a:rPr>
                        <a:t>RAG customer assistant</a:t>
                      </a:r>
                    </a:p>
                  </a:txBody>
                  <a:tcPr marL="82296" marR="64008" marT="32004" marB="32004" anchor="ctr">
                    <a:solidFill>
                      <a:srgbClr val="FFFFFF"/>
                    </a:solidFill>
                  </a:tcPr>
                </a:tc>
                <a:tc>
                  <a:txBody>
                    <a:bodyPr wrap="square"/>
                    <a:lstStyle/>
                    <a:p>
                      <a:pPr algn="l"/>
                      <a:r>
                        <a:rPr sz="900" b="0">
                          <a:solidFill>
                            <a:srgbClr val="1C1C1E"/>
                          </a:solidFill>
                          <a:latin typeface="Calibri"/>
                        </a:rPr>
                        <a:t>T5</a:t>
                      </a:r>
                    </a:p>
                  </a:txBody>
                  <a:tcPr marL="82296" marR="64008" marT="32004" marB="32004" anchor="ctr">
                    <a:solidFill>
                      <a:srgbClr val="FFFFFF"/>
                    </a:solidFill>
                  </a:tcPr>
                </a:tc>
                <a:tc>
                  <a:txBody>
                    <a:bodyPr wrap="square"/>
                    <a:lstStyle/>
                    <a:p>
                      <a:pPr algn="l"/>
                      <a:r>
                        <a:rPr sz="900" b="0">
                          <a:solidFill>
                            <a:srgbClr val="1C1C1E"/>
                          </a:solidFill>
                          <a:latin typeface="Calibri"/>
                        </a:rPr>
                        <a:t>Customer service</a:t>
                      </a:r>
                    </a:p>
                  </a:txBody>
                  <a:tcPr marL="82296" marR="64008" marT="32004" marB="32004" anchor="ctr">
                    <a:solidFill>
                      <a:srgbClr val="FFFFFF"/>
                    </a:solidFill>
                  </a:tcPr>
                </a:tc>
                <a:tc>
                  <a:txBody>
                    <a:bodyPr wrap="square"/>
                    <a:lstStyle/>
                    <a:p>
                      <a:pPr algn="l"/>
                      <a:r>
                        <a:rPr sz="900" b="0">
                          <a:solidFill>
                            <a:srgbClr val="1C1C1E"/>
                          </a:solidFill>
                          <a:latin typeface="Calibri"/>
                        </a:rPr>
                        <a:t>The prompt is a parameter. The vendor reversions, the bank changes nothing, and guardrails fall 100% to 57%</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12</a:t>
                      </a:r>
                    </a:p>
                  </a:txBody>
                  <a:tcPr marL="82296" marR="64008" marT="32004" marB="32004" anchor="ctr">
                    <a:solidFill>
                      <a:srgbClr val="F6F3EF"/>
                    </a:solidFill>
                  </a:tcPr>
                </a:tc>
                <a:tc>
                  <a:txBody>
                    <a:bodyPr wrap="square"/>
                    <a:lstStyle/>
                    <a:p>
                      <a:pPr algn="l"/>
                      <a:r>
                        <a:rPr sz="900" b="0">
                          <a:solidFill>
                            <a:srgbClr val="1C1C1E"/>
                          </a:solidFill>
                          <a:latin typeface="Calibri"/>
                        </a:rPr>
                        <a:t>Climate transition scorecard</a:t>
                      </a:r>
                    </a:p>
                  </a:txBody>
                  <a:tcPr marL="82296" marR="64008" marT="32004" marB="32004" anchor="ctr">
                    <a:solidFill>
                      <a:srgbClr val="F6F3EF"/>
                    </a:solidFill>
                  </a:tcPr>
                </a:tc>
                <a:tc>
                  <a:txBody>
                    <a:bodyPr wrap="square"/>
                    <a:lstStyle/>
                    <a:p>
                      <a:pPr algn="l"/>
                      <a:r>
                        <a:rPr sz="900" b="0">
                          <a:solidFill>
                            <a:srgbClr val="1C1C1E"/>
                          </a:solidFill>
                          <a:latin typeface="Calibri"/>
                        </a:rPr>
                        <a:t>T7</a:t>
                      </a:r>
                    </a:p>
                  </a:txBody>
                  <a:tcPr marL="82296" marR="64008" marT="32004" marB="32004" anchor="ctr">
                    <a:solidFill>
                      <a:srgbClr val="F6F3EF"/>
                    </a:solidFill>
                  </a:tcPr>
                </a:tc>
                <a:tc>
                  <a:txBody>
                    <a:bodyPr wrap="square"/>
                    <a:lstStyle/>
                    <a:p>
                      <a:pPr algn="l"/>
                      <a:r>
                        <a:rPr sz="900" b="0">
                          <a:solidFill>
                            <a:srgbClr val="1C1C1E"/>
                          </a:solidFill>
                          <a:latin typeface="Calibri"/>
                        </a:rPr>
                        <a:t>Climate risk</a:t>
                      </a:r>
                    </a:p>
                  </a:txBody>
                  <a:tcPr marL="82296" marR="64008" marT="32004" marB="32004" anchor="ctr">
                    <a:solidFill>
                      <a:srgbClr val="F6F3EF"/>
                    </a:solidFill>
                  </a:tcPr>
                </a:tc>
                <a:tc>
                  <a:txBody>
                    <a:bodyPr wrap="square"/>
                    <a:lstStyle/>
                    <a:p>
                      <a:pPr algn="l"/>
                      <a:r>
                        <a:rPr sz="900" b="0">
                          <a:solidFill>
                            <a:srgbClr val="1C1C1E"/>
                          </a:solidFill>
                          <a:latin typeface="Calibri"/>
                        </a:rPr>
                        <a:t>Weights from a PANEL, because the transition has not happened. The dissent is on the parameter set, priced</a:t>
                      </a:r>
                    </a:p>
                  </a:txBody>
                  <a:tcPr marL="82296" marR="64008" marT="32004" marB="32004" anchor="ctr">
                    <a:solidFill>
                      <a:srgbClr val="F6F3EF"/>
                    </a:solidFill>
                  </a:tcPr>
                </a:tc>
              </a:tr>
              <a:tr h="299694">
                <a:tc>
                  <a:txBody>
                    <a:bodyPr wrap="square"/>
                    <a:lstStyle/>
                    <a:p>
                      <a:pPr algn="l"/>
                      <a:r>
                        <a:rPr sz="900" b="0">
                          <a:solidFill>
                            <a:srgbClr val="1C1C1E"/>
                          </a:solidFill>
                          <a:latin typeface="Calibri"/>
                        </a:rPr>
                        <a:t>13</a:t>
                      </a:r>
                    </a:p>
                  </a:txBody>
                  <a:tcPr marL="82296" marR="64008" marT="32004" marB="32004" anchor="ctr">
                    <a:solidFill>
                      <a:srgbClr val="FFFFFF"/>
                    </a:solidFill>
                  </a:tcPr>
                </a:tc>
                <a:tc>
                  <a:txBody>
                    <a:bodyPr wrap="square"/>
                    <a:lstStyle/>
                    <a:p>
                      <a:pPr algn="l"/>
                      <a:r>
                        <a:rPr sz="900" b="0">
                          <a:solidFill>
                            <a:srgbClr val="1C1C1E"/>
                          </a:solidFill>
                          <a:latin typeface="Calibri"/>
                        </a:rPr>
                        <a:t>Hourly load forecast network</a:t>
                      </a:r>
                    </a:p>
                  </a:txBody>
                  <a:tcPr marL="82296" marR="64008" marT="32004" marB="32004" anchor="ctr">
                    <a:solidFill>
                      <a:srgbClr val="FFFFFF"/>
                    </a:solidFill>
                  </a:tcPr>
                </a:tc>
                <a:tc>
                  <a:txBody>
                    <a:bodyPr wrap="square"/>
                    <a:lstStyle/>
                    <a:p>
                      <a:pPr algn="l"/>
                      <a:r>
                        <a:rPr sz="900" b="0">
                          <a:solidFill>
                            <a:srgbClr val="1C1C1E"/>
                          </a:solidFill>
                          <a:latin typeface="Calibri"/>
                        </a:rPr>
                        <a:t>T3</a:t>
                      </a:r>
                    </a:p>
                  </a:txBody>
                  <a:tcPr marL="82296" marR="64008" marT="32004" marB="32004" anchor="ctr">
                    <a:solidFill>
                      <a:srgbClr val="FFFFFF"/>
                    </a:solidFill>
                  </a:tcPr>
                </a:tc>
                <a:tc>
                  <a:txBody>
                    <a:bodyPr wrap="square"/>
                    <a:lstStyle/>
                    <a:p>
                      <a:pPr algn="l"/>
                      <a:r>
                        <a:rPr sz="900" b="0">
                          <a:solidFill>
                            <a:srgbClr val="1C1C1E"/>
                          </a:solidFill>
                          <a:latin typeface="Calibri"/>
                        </a:rPr>
                        <a:t>Energy</a:t>
                      </a:r>
                    </a:p>
                  </a:txBody>
                  <a:tcPr marL="82296" marR="64008" marT="32004" marB="32004" anchor="ctr">
                    <a:solidFill>
                      <a:srgbClr val="FFFFFF"/>
                    </a:solidFill>
                  </a:tcPr>
                </a:tc>
                <a:tc>
                  <a:txBody>
                    <a:bodyPr wrap="square"/>
                    <a:lstStyle/>
                    <a:p>
                      <a:pPr algn="l"/>
                      <a:r>
                        <a:rPr sz="900" b="0">
                          <a:solidFill>
                            <a:srgbClr val="1C1C1E"/>
                          </a:solidFill>
                          <a:latin typeface="Calibri"/>
                        </a:rPr>
                        <a:t>The opacity must be EARNED against a registered incumbent. The digest is the identity</a:t>
                      </a:r>
                    </a:p>
                  </a:txBody>
                  <a:tcPr marL="82296" marR="64008" marT="32004" marB="32004" anchor="ctr">
                    <a:solidFill>
                      <a:srgbClr val="FFFFFF"/>
                    </a:solidFill>
                  </a:tcPr>
                </a:tc>
              </a:tr>
            </a:tbl>
          </a:graphicData>
        </a:graphic>
      </p:graphicFrame>
      <p:sp>
        <p:nvSpPr>
          <p:cNvPr id="11" name="TextBox 10"/>
          <p:cNvSpPr txBox="1"/>
          <p:nvPr/>
        </p:nvSpPr>
        <p:spPr>
          <a:xfrm>
            <a:off x="777240" y="5006568"/>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Thirteen case studies now span eight of the nine classes and seven industries. </a:t>
            </a:r>
            <a:r>
              <a:rPr sz="1150" b="0" i="0">
                <a:solidFill>
                  <a:srgbClr val="1C1C1E"/>
                </a:solidFill>
                <a:latin typeface="Calibri"/>
              </a:rPr>
              <a:t>The three outside financial services are the argument that the controls are not banking controls: change the vocabulary and it is the same two clocks, the same pinned training set, the same parameters somebody delivered and somebody else approved. Case 10 is the sharpest — a reporting lag is a reporting lag whether the decision is a prepayment forecast or a school closure.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scripts do, and what MAYA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TextBox 9"/>
          <p:cNvSpPr txBox="1"/>
          <p:nvPr/>
        </p:nvSpPr>
        <p:spPr>
          <a:xfrm>
            <a:off x="777240" y="135331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MAYA is a register. It does not train models and it does not run them. </a:t>
            </a:r>
            <a:r>
              <a:rPr sz="1250" b="0" i="0">
                <a:solidFill>
                  <a:srgbClr val="1C1C1E"/>
                </a:solidFill>
                <a:latin typeface="Calibri"/>
              </a:rPr>
              <a:t>Each script plays the bank's own modelling engine: it fits in its own process, with its own arithmetic, and talks to MAYA only to ask permission and to record what it did. The console marks every line as one or the other.</a:t>
            </a:r>
          </a:p>
        </p:txBody>
      </p:sp>
      <p:sp>
        <p:nvSpPr>
          <p:cNvPr id="11" name="Rectangle 10"/>
          <p:cNvSpPr/>
          <p:nvPr/>
        </p:nvSpPr>
        <p:spPr>
          <a:xfrm>
            <a:off x="777240"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a TRAINING warrant from MAYA — authority before any data is read</a:t>
            </a:r>
          </a:p>
        </p:txBody>
      </p:sp>
      <p:sp>
        <p:nvSpPr>
          <p:cNvPr id="14" name="Rectangle 13"/>
          <p:cNvSpPr/>
          <p:nvPr/>
        </p:nvSpPr>
        <p:spPr>
          <a:xfrm>
            <a:off x="2941259"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LOCALLY, outside MAYA, in the bank's own environment</a:t>
            </a:r>
          </a:p>
        </p:txBody>
      </p:sp>
      <p:sp>
        <p:nvSpPr>
          <p:cNvPr id="17" name="Rectangle 16"/>
          <p:cNvSpPr/>
          <p:nvPr/>
        </p:nvSpPr>
        <p:spPr>
          <a:xfrm>
            <a:off x="5105278"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under that warrant. They land PROPOSED</a:t>
            </a:r>
          </a:p>
        </p:txBody>
      </p:sp>
      <p:sp>
        <p:nvSpPr>
          <p:cNvPr id="20" name="Rectangle 19"/>
          <p:cNvSpPr/>
          <p:nvPr/>
        </p:nvSpPr>
        <p:spPr>
          <a:xfrm>
            <a:off x="7269297"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Self-approval is refused</a:t>
            </a:r>
          </a:p>
        </p:txBody>
      </p:sp>
      <p:sp>
        <p:nvSpPr>
          <p:cNvPr id="23" name="Rectangle 22"/>
          <p:cNvSpPr/>
          <p:nvPr/>
        </p:nvSpPr>
        <p:spPr>
          <a:xfrm>
            <a:off x="9433316"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 locally again. MAYA is not in the loop</a:t>
            </a:r>
          </a:p>
        </p:txBody>
      </p:sp>
      <p:sp>
        <p:nvSpPr>
          <p:cNvPr id="26" name="TextBox 25"/>
          <p:cNvSpPr txBox="1"/>
          <p:nvPr/>
        </p:nvSpPr>
        <p:spPr>
          <a:xfrm>
            <a:off x="777240" y="3877055"/>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Nothing calls the captive engine or the captive estimator. </a:t>
            </a:r>
            <a:r>
              <a:rPr sz="1150" b="0" i="0">
                <a:solidFill>
                  <a:srgbClr val="1C1C1E"/>
                </a:solidFill>
                <a:latin typeface="Calibri"/>
              </a:rPr>
              <a:t>MAYA ships both for demonstrations, and using either in a case study would teach the opposite of the boundary these exist to draw.</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1 AND 4</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two extremes: a calibrated pricer and a model with no parameters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Rectangle 9"/>
          <p:cNvSpPr/>
          <p:nvPr/>
        </p:nvSpPr>
        <p:spPr>
          <a:xfrm>
            <a:off x="777240"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1 · T1 · CALIBRATED</a:t>
            </a:r>
          </a:p>
        </p:txBody>
      </p:sp>
      <p:sp>
        <p:nvSpPr>
          <p:cNvPr id="13" name="TextBox 12"/>
          <p:cNvSpPr txBox="1"/>
          <p:nvPr/>
        </p:nvSpPr>
        <p:spPr>
          <a:xfrm>
            <a:off x="996695"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Black–Scholes European call</a:t>
            </a:r>
          </a:p>
        </p:txBody>
      </p:sp>
      <p:sp>
        <p:nvSpPr>
          <p:cNvPr id="14" name="TextBox 13"/>
          <p:cNvSpPr txBox="1"/>
          <p:nvPr/>
        </p:nvSpPr>
        <p:spPr>
          <a:xfrm>
            <a:off x="996695"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training data exists for an option pricer, and none is needed. One number is calibrated to market: implied volatility.
The whole model — including an Abramowitz–Stegun approximation of the normal CDF — is ONE EXPRESSION in the register, checked against math.erf to 4.8e-06 before anything is registered. No artifact to lose, no library version to disagree with.
Calibrating one flat vol to the at-the-money quote reprices the wings badly. That RMSE is recorded as a STATED LIMITATION on the parameter set, so the reviewer reads it before approving.</a:t>
            </a:r>
          </a:p>
        </p:txBody>
      </p:sp>
      <p:sp>
        <p:nvSpPr>
          <p:cNvPr id="15" name="Rectangle 14"/>
          <p:cNvSpPr/>
          <p:nvPr/>
        </p:nvSpPr>
        <p:spPr>
          <a:xfrm>
            <a:off x="6251295"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4 · T0 · NOTHING TO FIT</a:t>
            </a:r>
          </a:p>
        </p:txBody>
      </p:sp>
      <p:sp>
        <p:nvSpPr>
          <p:cNvPr id="18" name="TextBox 17"/>
          <p:cNvSpPr txBox="1"/>
          <p:nvPr/>
        </p:nvSpPr>
        <p:spPr>
          <a:xfrm>
            <a:off x="6470751"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Merton distance to default</a:t>
            </a:r>
          </a:p>
        </p:txBody>
      </p:sp>
      <p:sp>
        <p:nvSpPr>
          <p:cNvPr id="19" name="TextBox 18"/>
          <p:cNvSpPr txBox="1"/>
          <p:nvPr/>
        </p:nvSpPr>
        <p:spPr>
          <a:xfrm>
            <a:off x="6470751"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Five observables, a closed form, no parameter object at all. P is the terminal object.
Asking for a training warrant is not a permissions problem — it is a TYPE ERROR, and two independent layers say so differently:
grammar: "a T0 model cannot be fitted: its parameters come from theory, not from data"
register: "nothing a fit could have produced — record them with provenance 'declared'", which points at the honest alternative rather than only saying no.</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2 AND 3</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Real public data, and a curve a bank actually uses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Rectangle 9"/>
          <p:cNvSpPr/>
          <p:nvPr/>
        </p:nvSpPr>
        <p:spPr>
          <a:xfrm>
            <a:off x="777240"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2 · T2 · ESTIMATED</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Home price regression, on public data</a:t>
            </a:r>
          </a:p>
        </p:txBody>
      </p:sp>
      <p:sp>
        <p:nvSpPr>
          <p:cNvPr id="14" name="TextBox 13"/>
          <p:cNvSpPr txBox="1"/>
          <p:nvPr/>
        </p:nvSpPr>
        <p:spPr>
          <a:xfrm>
            <a:off x="996695"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2,928 real sales from Dean De Cock's own file at jse.amstat.org — the authoritative source, not a mirror. No synthetic fallback: if the download fails the script stops.
The regression is unremarkable and is not the point. The SOURCE CARRIES ONE CLOCK and MAYA requires two, so a 45-day recording lag is an assumption somebody has to own — written on the feature view, on the parameter set and in the specification.
Condition number 229,832, reported beside R². It is the number that says whether the coefficients mean anything individually.</a:t>
            </a:r>
          </a:p>
        </p:txBody>
      </p:sp>
      <p:sp>
        <p:nvSpPr>
          <p:cNvPr id="15" name="Rectangle 14"/>
          <p:cNvSpPr/>
          <p:nvPr/>
        </p:nvSpPr>
        <p:spPr>
          <a:xfrm>
            <a:off x="6251295"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3 · T2 · ESTIMATED</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Mortgage prepayment curve</a:t>
            </a:r>
          </a:p>
        </p:txBody>
      </p:sp>
      <p:sp>
        <p:nvSpPr>
          <p:cNvPr id="19" name="TextBox 18"/>
          <p:cNvSpPr txBox="1"/>
          <p:nvPr/>
        </p:nvSpPr>
        <p:spPr>
          <a:xfrm>
            <a:off x="6470751"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CPR rises along an exponential seasoning ramp and responds to refinancing incentive along a cubic S-curve.
NON-LINEAR IN THE INPUTS, LINEAR IN THE PARAMETERS — so least squares fits it, the fit is deterministic and reproducible, and every coefficient keeps a standard error and an interpretation.
The curve is INSIDE the registered expression rather than in a feature pipeline beside it. Otherwise the model is linear on paper and non-linear in reality, and the part a supervisor asks about lives somewhere nobody governs.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5</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Reuse: what happens when two models share ground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5 — IFRS 9 expected credit loss. </a:t>
            </a:r>
            <a:r>
              <a:rPr sz="1200" b="0" i="0">
                <a:solidFill>
                  <a:srgbClr val="1C1C1E"/>
                </a:solidFill>
                <a:latin typeface="Calibri"/>
              </a:rPr>
              <a:t>Three kinds of reuse, and they are different things. This is where model risk actually lives: not in any single model, but in what depends on what.</a:t>
            </a:r>
          </a:p>
        </p:txBody>
      </p:sp>
      <p:graphicFrame>
        <p:nvGraphicFramePr>
          <p:cNvPr id="11" name="Table 10"/>
          <p:cNvGraphicFramePr>
            <a:graphicFrameLocks noGrp="1"/>
          </p:cNvGraphicFramePr>
          <p:nvPr/>
        </p:nvGraphicFramePr>
        <p:xfrm>
          <a:off x="777240" y="2011680"/>
          <a:ext cx="10637214" cy="2378697"/>
        </p:xfrm>
        <a:graphic>
          <a:graphicData uri="http://schemas.openxmlformats.org/drawingml/2006/table">
            <a:tbl>
              <a:tblPr firstRow="1">
                <a:tableStyleId>{5C22544A-7EE6-4342-B048-85BDC9FD1C3A}</a:tableStyleId>
              </a:tblPr>
              <a:tblGrid>
                <a:gridCol w="2384203"/>
                <a:gridCol w="3851405"/>
                <a:gridCol w="4401606"/>
              </a:tblGrid>
              <a:tr h="329184">
                <a:tc>
                  <a:txBody>
                    <a:bodyPr wrap="square"/>
                    <a:lstStyle/>
                    <a:p>
                      <a:pPr algn="l"/>
                      <a:r>
                        <a:rPr sz="1050" b="1">
                          <a:solidFill>
                            <a:srgbClr val="FFFFFF"/>
                          </a:solidFill>
                          <a:latin typeface="Calibri"/>
                        </a:rPr>
                        <a:t>Kind of reuse</a:t>
                      </a:r>
                    </a:p>
                  </a:txBody>
                  <a:tcPr marL="82296" marR="64008" marT="32004" marB="32004" anchor="ctr">
                    <a:solidFill>
                      <a:srgbClr val="A51C30"/>
                    </a:solidFill>
                  </a:tcPr>
                </a:tc>
                <a:tc>
                  <a:txBody>
                    <a:bodyPr wrap="square"/>
                    <a:lstStyle/>
                    <a:p>
                      <a:pPr algn="l"/>
                      <a:r>
                        <a:rPr sz="105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50" b="1">
                          <a:solidFill>
                            <a:srgbClr val="FFFFFF"/>
                          </a:solidFill>
                          <a:latin typeface="Calibri"/>
                        </a:rPr>
                        <a:t>What the platform does about it</a:t>
                      </a:r>
                    </a:p>
                  </a:txBody>
                  <a:tcPr marL="82296" marR="64008" marT="32004" marB="32004" anchor="ctr">
                    <a:solidFill>
                      <a:srgbClr val="A51C30"/>
                    </a:solidFill>
                  </a:tcPr>
                </a:tc>
              </a:tr>
              <a:tr h="683171">
                <a:tc>
                  <a:txBody>
                    <a:bodyPr wrap="square"/>
                    <a:lstStyle/>
                    <a:p>
                      <a:pPr algn="l"/>
                      <a:r>
                        <a:rPr sz="1050" b="0">
                          <a:solidFill>
                            <a:srgbClr val="1C1C1E"/>
                          </a:solidFill>
                          <a:latin typeface="Calibri"/>
                        </a:rPr>
                        <a:t>Features, shared not copied</a:t>
                      </a:r>
                    </a:p>
                  </a:txBody>
                  <a:tcPr marL="82296" marR="64008" marT="32004" marB="32004" anchor="ctr">
                    <a:solidFill>
                      <a:srgbClr val="FFFFFF"/>
                    </a:solidFill>
                  </a:tcPr>
                </a:tc>
                <a:tc>
                  <a:txBody>
                    <a:bodyPr wrap="square"/>
                    <a:lstStyle/>
                    <a:p>
                      <a:pPr algn="l"/>
                      <a:r>
                        <a:rPr sz="1050" b="0">
                          <a:solidFill>
                            <a:srgbClr val="1C1C1E"/>
                          </a:solidFill>
                          <a:latin typeface="Calibri"/>
                        </a:rPr>
                        <a:t>Five features already existed against the obligor entity; this model finds them rather than redefining them</a:t>
                      </a:r>
                    </a:p>
                  </a:txBody>
                  <a:tcPr marL="82296" marR="64008" marT="32004" marB="32004" anchor="ctr">
                    <a:solidFill>
                      <a:srgbClr val="FFFFFF"/>
                    </a:solidFill>
                  </a:tcPr>
                </a:tc>
                <a:tc>
                  <a:txBody>
                    <a:bodyPr wrap="square"/>
                    <a:lstStyle/>
                    <a:p>
                      <a:pPr algn="l"/>
                      <a:r>
                        <a:rPr sz="1050" b="0">
                          <a:solidFill>
                            <a:srgbClr val="1C1C1E"/>
                          </a:solidFill>
                          <a:latin typeface="Calibri"/>
                        </a:rPr>
                        <a:t>A second definition of asset_vol would be a second answer to one question, and the two would drift invisibly</a:t>
                      </a:r>
                    </a:p>
                  </a:txBody>
                  <a:tcPr marL="82296" marR="64008" marT="32004" marB="32004" anchor="ctr">
                    <a:solidFill>
                      <a:srgbClr val="FFFFFF"/>
                    </a:solidFill>
                  </a:tcPr>
                </a:tc>
              </a:tr>
              <a:tr h="683171">
                <a:tc>
                  <a:txBody>
                    <a:bodyPr wrap="square"/>
                    <a:lstStyle/>
                    <a:p>
                      <a:pPr algn="l"/>
                      <a:r>
                        <a:rPr sz="1050" b="0">
                          <a:solidFill>
                            <a:srgbClr val="1C1C1E"/>
                          </a:solidFill>
                          <a:latin typeface="Calibri"/>
                        </a:rPr>
                        <a:t>The featureset is COMPOSED</a:t>
                      </a:r>
                    </a:p>
                  </a:txBody>
                  <a:tcPr marL="82296" marR="64008" marT="32004" marB="32004" anchor="ctr">
                    <a:solidFill>
                      <a:srgbClr val="F6F3EF"/>
                    </a:solidFill>
                  </a:tcPr>
                </a:tc>
                <a:tc>
                  <a:txBody>
                    <a:bodyPr wrap="square"/>
                    <a:lstStyle/>
                    <a:p>
                      <a:pPr algn="l"/>
                      <a:r>
                        <a:rPr sz="1050" b="0">
                          <a:solidFill>
                            <a:srgbClr val="1C1C1E"/>
                          </a:solidFill>
                          <a:latin typeface="Calibri"/>
                        </a:rPr>
                        <a:t>ecl_inputs folds merton_inputs and adds four slots, resolving to nine — five never typed out</a:t>
                      </a:r>
                    </a:p>
                  </a:txBody>
                  <a:tcPr marL="82296" marR="64008" marT="32004" marB="32004" anchor="ctr">
                    <a:solidFill>
                      <a:srgbClr val="F6F3EF"/>
                    </a:solidFill>
                  </a:tcPr>
                </a:tc>
                <a:tc>
                  <a:txBody>
                    <a:bodyPr wrap="square"/>
                    <a:lstStyle/>
                    <a:p>
                      <a:pPr algn="l"/>
                      <a:r>
                        <a:rPr sz="1050" b="0">
                          <a:solidFill>
                            <a:srgbClr val="1C1C1E"/>
                          </a:solidFill>
                          <a:latin typeface="Calibri"/>
                        </a:rPr>
                        <a:t>Operations are total: an `add` of a slot a parent already has is refused, because an operation that silently did nothing is one somebody believes happened</a:t>
                      </a:r>
                    </a:p>
                  </a:txBody>
                  <a:tcPr marL="82296" marR="64008" marT="32004" marB="32004" anchor="ctr">
                    <a:solidFill>
                      <a:srgbClr val="F6F3EF"/>
                    </a:solidFill>
                  </a:tcPr>
                </a:tc>
              </a:tr>
              <a:tr h="683171">
                <a:tc>
                  <a:txBody>
                    <a:bodyPr wrap="square"/>
                    <a:lstStyle/>
                    <a:p>
                      <a:pPr algn="l"/>
                      <a:r>
                        <a:rPr sz="1050" b="0">
                          <a:solidFill>
                            <a:srgbClr val="1C1C1E"/>
                          </a:solidFill>
                          <a:latin typeface="Calibri"/>
                        </a:rPr>
                        <a:t>The models are RELATED</a:t>
                      </a:r>
                    </a:p>
                  </a:txBody>
                  <a:tcPr marL="82296" marR="64008" marT="32004" marB="32004" anchor="ctr">
                    <a:solidFill>
                      <a:srgbClr val="FFFFFF"/>
                    </a:solidFill>
                  </a:tcPr>
                </a:tc>
                <a:tc>
                  <a:txBody>
                    <a:bodyPr wrap="square"/>
                    <a:lstStyle/>
                    <a:p>
                      <a:pPr algn="l"/>
                      <a:r>
                        <a:rPr sz="1050" b="0">
                          <a:solidFill>
                            <a:srgbClr val="1C1C1E"/>
                          </a:solidFill>
                          <a:latin typeface="Calibri"/>
                        </a:rPr>
                        <a:t>The Merton PD is written back as a feature and read here, so the input_to edge carries something</a:t>
                      </a:r>
                    </a:p>
                  </a:txBody>
                  <a:tcPr marL="82296" marR="64008" marT="32004" marB="32004" anchor="ctr">
                    <a:solidFill>
                      <a:srgbClr val="FFFFFF"/>
                    </a:solidFill>
                  </a:tcPr>
                </a:tc>
                <a:tc>
                  <a:txBody>
                    <a:bodyPr wrap="square"/>
                    <a:lstStyle/>
                    <a:p>
                      <a:pPr algn="l"/>
                      <a:r>
                        <a:rPr sz="1050" b="0">
                          <a:solidFill>
                            <a:srgbClr val="1C1C1E"/>
                          </a:solidFill>
                          <a:latin typeface="Calibri"/>
                        </a:rPr>
                        <a:t>MAYA TYPE-CHECKS THE EDGE. The first attempt was refused: an edge supplying no field the target reads is “a wire to nowhere, and the blast radius would follow it”</a:t>
                      </a:r>
                    </a:p>
                  </a:txBody>
                  <a:tcPr marL="82296" marR="64008" marT="32004" marB="32004" anchor="ctr">
                    <a:solidFill>
                      <a:srgbClr val="FFFFFF"/>
                    </a:solidFill>
                  </a:tcPr>
                </a:tc>
              </a:tr>
            </a:tbl>
          </a:graphicData>
        </a:graphic>
      </p:graphicFrame>
      <p:sp>
        <p:nvSpPr>
          <p:cNvPr id="12" name="TextBox 11"/>
          <p:cNvSpPr txBox="1"/>
          <p:nvPr/>
        </p:nvSpPr>
        <p:spPr>
          <a:xfrm>
            <a:off x="777240" y="46098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And then the blast radius is an answer rather than a recollection. </a:t>
            </a:r>
            <a:r>
              <a:rPr sz="1150" b="0" i="0">
                <a:solidFill>
                  <a:srgbClr val="1C1C1E"/>
                </a:solidFill>
                <a:latin typeface="Calibri"/>
              </a:rPr>
              <a:t>A change to the Merton model reaches one model, at tier 2, distance 1 — computed from the graph. `input_to` propagates; `challenger_of` deliberately does not, because a challenger counted as a dependency would inflate every blast radius it appeared in.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6</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credit policy is a model, and this is what governing one looks like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TextBox 9"/>
          <p:cNvSpPr txBox="1"/>
          <p:nvPr/>
        </p:nvSpPr>
        <p:spPr>
          <a:xfrm>
            <a:off x="777240" y="176479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6 — HELOC origination eligibility, class T8. </a:t>
            </a:r>
            <a:r>
              <a:rPr sz="1200" b="0" i="0">
                <a:solidFill>
                  <a:srgbClr val="1C1C1E"/>
                </a:solidFill>
                <a:latin typeface="Calibri"/>
              </a:rPr>
              <a:t>Parameters that are AUTHORED rather than fitted. A rulebook that declines an application and has to be explained to the person it refused is doing exactly what a scorecard does — and a register that governs the scorecard but not the rulebook is governing the easier half.</a:t>
            </a:r>
          </a:p>
        </p:txBody>
      </p:sp>
      <p:sp>
        <p:nvSpPr>
          <p:cNvPr id="11" name="Rectangle 10"/>
          <p:cNvSpPr/>
          <p:nvPr/>
        </p:nvSpPr>
        <p:spPr>
          <a:xfrm>
            <a:off x="777240"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CHECK</a:t>
            </a:r>
          </a:p>
          <a:p>
            <a:pPr>
              <a:spcBef>
                <a:spcPts val="0"/>
              </a:spcBef>
              <a:spcAft>
                <a:spcPts val="400"/>
              </a:spcAft>
            </a:pPr>
            <a:r>
              <a:rPr sz="1100" b="1" i="0">
                <a:solidFill>
                  <a:srgbClr val="1C1C1E"/>
                </a:solidFill>
                <a:latin typeface="Calibri"/>
              </a:rPr>
              <a:t>against the schema</a:t>
            </a:r>
          </a:p>
          <a:p>
            <a:pPr>
              <a:lnSpc>
                <a:spcPct val="115000"/>
              </a:lnSpc>
              <a:spcBef>
                <a:spcPts val="0"/>
              </a:spcBef>
              <a:spcAft>
                <a:spcPts val="600"/>
              </a:spcAft>
            </a:pPr>
            <a:r>
              <a:rPr sz="850" b="0" i="0">
                <a:solidFill>
                  <a:srgbClr val="4A4F57"/>
                </a:solidFill>
                <a:latin typeface="Calibri"/>
              </a:rPr>
              <a:t>a rule reading a field the version does not declare is REFUSED, before anybody can approve it</a:t>
            </a:r>
          </a:p>
        </p:txBody>
      </p:sp>
      <p:sp>
        <p:nvSpPr>
          <p:cNvPr id="14" name="Rectangle 13"/>
          <p:cNvSpPr/>
          <p:nvPr/>
        </p:nvSpPr>
        <p:spPr>
          <a:xfrm>
            <a:off x="3482263"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TRIAL</a:t>
            </a:r>
          </a:p>
          <a:p>
            <a:pPr>
              <a:spcBef>
                <a:spcPts val="0"/>
              </a:spcBef>
              <a:spcAft>
                <a:spcPts val="400"/>
              </a:spcAft>
            </a:pPr>
            <a:r>
              <a:rPr sz="1100" b="1" i="0">
                <a:solidFill>
                  <a:srgbClr val="1C1C1E"/>
                </a:solidFill>
                <a:latin typeface="Calibri"/>
              </a:rPr>
              <a:t>over sample rows</a:t>
            </a:r>
          </a:p>
          <a:p>
            <a:pPr>
              <a:lnSpc>
                <a:spcPct val="115000"/>
              </a:lnSpc>
              <a:spcBef>
                <a:spcPts val="0"/>
              </a:spcBef>
              <a:spcAft>
                <a:spcPts val="600"/>
              </a:spcAft>
            </a:pPr>
            <a:r>
              <a:rPr sz="850" b="0" i="0">
                <a:solidFill>
                  <a:srgbClr val="4A4F57"/>
                </a:solidFill>
                <a:latin typeface="Calibri"/>
              </a:rPr>
              <a:t>no warrant, no record — an author reading their own draft back. Reports which rules never fired</a:t>
            </a:r>
          </a:p>
        </p:txBody>
      </p:sp>
      <p:sp>
        <p:nvSpPr>
          <p:cNvPr id="17" name="Rectangle 16"/>
          <p:cNvSpPr/>
          <p:nvPr/>
        </p:nvSpPr>
        <p:spPr>
          <a:xfrm>
            <a:off x="6187287"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PUBLISH</a:t>
            </a:r>
          </a:p>
          <a:p>
            <a:pPr>
              <a:spcBef>
                <a:spcPts val="0"/>
              </a:spcBef>
              <a:spcAft>
                <a:spcPts val="400"/>
              </a:spcAft>
            </a:pPr>
            <a:r>
              <a:rPr sz="1100" b="1" i="0">
                <a:solidFill>
                  <a:srgbClr val="1C1C1E"/>
                </a:solidFill>
                <a:latin typeface="Calibri"/>
              </a:rPr>
              <a:t>as a parameter set</a:t>
            </a:r>
          </a:p>
          <a:p>
            <a:pPr>
              <a:lnSpc>
                <a:spcPct val="115000"/>
              </a:lnSpc>
              <a:spcBef>
                <a:spcPts val="0"/>
              </a:spcBef>
              <a:spcAft>
                <a:spcPts val="600"/>
              </a:spcAft>
            </a:pPr>
            <a:r>
              <a:rPr sz="850" b="0" i="0">
                <a:solidFill>
                  <a:srgbClr val="4A4F57"/>
                </a:solidFill>
                <a:latin typeface="Calibri"/>
              </a:rPr>
              <a:t>lands PROPOSED. A change to a threshold is a new parameter set, not a new model version</a:t>
            </a:r>
          </a:p>
        </p:txBody>
      </p:sp>
      <p:sp>
        <p:nvSpPr>
          <p:cNvPr id="20" name="Rectangle 19"/>
          <p:cNvSpPr/>
          <p:nvPr/>
        </p:nvSpPr>
        <p:spPr>
          <a:xfrm>
            <a:off x="8892311"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EXPLAIN</a:t>
            </a:r>
          </a:p>
          <a:p>
            <a:pPr>
              <a:spcBef>
                <a:spcPts val="0"/>
              </a:spcBef>
              <a:spcAft>
                <a:spcPts val="400"/>
              </a:spcAft>
            </a:pPr>
            <a:r>
              <a:rPr sz="1100" b="1" i="0">
                <a:solidFill>
                  <a:srgbClr val="1C1C1E"/>
                </a:solidFill>
                <a:latin typeface="Calibri"/>
              </a:rPr>
              <a:t>in English</a:t>
            </a:r>
          </a:p>
          <a:p>
            <a:pPr>
              <a:lnSpc>
                <a:spcPct val="115000"/>
              </a:lnSpc>
              <a:spcBef>
                <a:spcPts val="0"/>
              </a:spcBef>
              <a:spcAft>
                <a:spcPts val="600"/>
              </a:spcAft>
            </a:pPr>
            <a:r>
              <a:rPr sz="850" b="0" i="0">
                <a:solidFill>
                  <a:srgbClr val="4A4F57"/>
                </a:solidFill>
                <a:latin typeface="Calibri"/>
              </a:rPr>
              <a:t>ONE rendering, so the model card, the committee paper and the export pack cannot differ</a:t>
            </a:r>
          </a:p>
        </p:txBody>
      </p:sp>
      <p:sp>
        <p:nvSpPr>
          <p:cNvPr id="23" name="TextBox 22"/>
          <p:cNvSpPr txBox="1"/>
          <p:nvPr/>
        </p:nvSpPr>
        <p:spPr>
          <a:xfrm>
            <a:off x="777240" y="4178808"/>
            <a:ext cx="10637215" cy="8229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things MAYA requires, and both are load-bearing. </a:t>
            </a:r>
            <a:r>
              <a:rPr sz="1150" b="0" i="0">
                <a:solidFill>
                  <a:srgbClr val="1C1C1E"/>
                </a:solidFill>
                <a:latin typeface="Calibri"/>
              </a:rPr>
              <a:t>An `otherwise` clause, so no application falls through to a behaviour nobody wrote down. And a `because` on every rule — without one a rule cannot be defended to a supervisor, reviewed by whoever owns the policy, or retired later, because nobody knows what it was for. Every decision carries the rule that fired and that rule's reason, which under most consumer-credit regimes is the obligation rather than the decision itself.</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control nobody has watched refuse is a control nobody has tested. </a:t>
            </a:r>
            <a:r>
              <a:rPr sz="1200" b="0" i="0">
                <a:solidFill>
                  <a:srgbClr val="1C1C1E"/>
                </a:solidFill>
                <a:latin typeface="Calibri"/>
              </a:rPr>
              <a:t>Every case study deliberately asks for something it should not get, and prints the refusal with its remediation.</a:t>
            </a:r>
          </a:p>
        </p:txBody>
      </p:sp>
      <p:graphicFrame>
        <p:nvGraphicFramePr>
          <p:cNvPr id="11" name="Table 10"/>
          <p:cNvGraphicFramePr>
            <a:graphicFrameLocks noGrp="1"/>
          </p:cNvGraphicFramePr>
          <p:nvPr/>
        </p:nvGraphicFramePr>
        <p:xfrm>
          <a:off x="777240" y="1975104"/>
          <a:ext cx="10637213" cy="2911348"/>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warrant naming a featureset that does not exist; then the author of a parameter set approving their own numbers</a:t>
                      </a:r>
                    </a:p>
                  </a:txBody>
                  <a:tcPr marL="82296" marR="64008" marT="32004" marB="32004" anchor="ctr">
                    <a:solidFill>
                      <a:srgbClr val="FFFFFF"/>
                    </a:solidFill>
                  </a:tcPr>
                </a:tc>
                <a:tc>
                  <a:txBody>
                    <a:bodyPr wrap="square"/>
                    <a:lstStyle/>
                    <a:p>
                      <a:pPr algn="l"/>
                      <a:r>
                        <a:rPr sz="1000" b="0">
                          <a:solidFill>
                            <a:srgbClr val="1C1C1E"/>
                          </a:solidFill>
                          <a:latin typeface="Calibri"/>
                        </a:rPr>
                        <a:t>no featureset '…'; and a number one person can both produce and bless is a preference, not an estimate</a:t>
                      </a:r>
                    </a:p>
                  </a:txBody>
                  <a:tcPr marL="82296" marR="64008" marT="32004" marB="32004" anchor="ctr">
                    <a:solidFill>
                      <a:srgbClr val="FFFFFF"/>
                    </a:solidFill>
                  </a:tcPr>
                </a:tc>
              </a:tr>
              <a:tr h="316738">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read bounded in only one clock</a:t>
                      </a:r>
                    </a:p>
                  </a:txBody>
                  <a:tcPr marL="82296" marR="64008" marT="32004" marB="32004" anchor="ctr">
                    <a:solidFill>
                      <a:srgbClr val="F6F3EF"/>
                    </a:solidFill>
                  </a:tcPr>
                </a:tc>
                <a:tc>
                  <a:txBody>
                    <a:bodyPr wrap="square"/>
                    <a:lstStyle/>
                    <a:p>
                      <a:pPr algn="l"/>
                      <a:r>
                        <a:rPr sz="1000" b="0">
                          <a:solidFill>
                            <a:srgbClr val="1C1C1E"/>
                          </a:solidFill>
                          <a:latin typeface="Calibri"/>
                        </a:rPr>
                        <a:t>L-W9 — a featureset read for fitting must bound the period it covers</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A training warrant against a featureset lacking a regressor</a:t>
                      </a:r>
                    </a:p>
                  </a:txBody>
                  <a:tcPr marL="82296" marR="64008" marT="32004" marB="32004" anchor="ctr">
                    <a:solidFill>
                      <a:srgbClr val="FFFFFF"/>
                    </a:solidFill>
                  </a:tcPr>
                </a:tc>
                <a:tc>
                  <a:txBody>
                    <a:bodyPr wrap="square"/>
                    <a:lstStyle/>
                    <a:p>
                      <a:pPr algn="l"/>
                      <a:r>
                        <a:rPr sz="1000" b="0">
                          <a:solidFill>
                            <a:srgbClr val="1C1C1E"/>
                          </a:solidFill>
                          <a:latin typeface="Calibri"/>
                        </a:rPr>
                        <a:t>L-W10 — adding a regressor is a model change, not a data change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A fit on a model with no parameters; then writing the numbers in anyway</a:t>
                      </a:r>
                    </a:p>
                  </a:txBody>
                  <a:tcPr marL="82296" marR="64008" marT="32004" marB="32004" anchor="ctr">
                    <a:solidFill>
                      <a:srgbClr val="F6F3EF"/>
                    </a:solidFill>
                  </a:tcPr>
                </a:tc>
                <a:tc>
                  <a:txBody>
                    <a:bodyPr wrap="square"/>
                    <a:lstStyle/>
                    <a:p>
                      <a:pPr algn="l"/>
                      <a:r>
                        <a:rPr sz="1000" b="0">
                          <a:solidFill>
                            <a:srgbClr val="1C1C1E"/>
                          </a:solidFill>
                          <a:latin typeface="Calibri"/>
                        </a:rPr>
                        <a:t>a T0 model cannot be fitted; and there is nothing a fit could have produced — use provenance 'declared'</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Adding a featureset slot a parent already has; and an input_to edge carrying nothing</a:t>
                      </a:r>
                    </a:p>
                  </a:txBody>
                  <a:tcPr marL="82296" marR="64008" marT="32004" marB="32004" anchor="ctr">
                    <a:solidFill>
                      <a:srgbClr val="FFFFFF"/>
                    </a:solidFill>
                  </a:tcPr>
                </a:tc>
                <a:tc>
                  <a:txBody>
                    <a:bodyPr wrap="square"/>
                    <a:lstStyle/>
                    <a:p>
                      <a:pPr algn="l"/>
                      <a:r>
                        <a:rPr sz="1000" b="0">
                          <a:solidFill>
                            <a:srgbClr val="1C1C1E"/>
                          </a:solidFill>
                          <a:latin typeface="Calibri"/>
                        </a:rPr>
                        <a:t>say 'override' if replacing it is what is meant; and an edge that supplies no field the target reads is a wire to nowhere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A rule reading a field the version does not declare</a:t>
                      </a:r>
                    </a:p>
                  </a:txBody>
                  <a:tcPr marL="82296" marR="64008" marT="32004" marB="32004" anchor="ctr">
                    <a:solidFill>
                      <a:srgbClr val="F6F3EF"/>
                    </a:solidFill>
                  </a:tcPr>
                </a:tc>
                <a:tc>
                  <a:txBody>
                    <a:bodyPr wrap="square"/>
                    <a:lstStyle/>
                    <a:p>
                      <a:pPr algn="l"/>
                      <a:r>
                        <a:rPr sz="1000" b="0">
                          <a:solidFill>
                            <a:srgbClr val="1C1C1E"/>
                          </a:solidFill>
                          <a:latin typeface="Calibri"/>
                        </a:rPr>
                        <a:t>refused at check — a rule that never fires still appears in the model card and nobody reading it can tell</a:t>
                      </a:r>
                    </a:p>
                  </a:txBody>
                  <a:tcPr marL="82296" marR="64008" marT="32004" marB="32004" anchor="ctr">
                    <a:solidFill>
                      <a:srgbClr val="F6F3E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 (continued)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122</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The later case studies refuse different things, </a:t>
            </a:r>
            <a:r>
              <a:rPr sz="1200" b="0" i="0">
                <a:solidFill>
                  <a:srgbClr val="1C1C1E"/>
                </a:solidFill>
                <a:latin typeface="Calibri"/>
              </a:rPr>
              <a:t>because a different class owes different evidence. A T6 cannot reach its parameters; a T5 cannot answer a calibration question; a T7's parameters were never produced by data at all.</a:t>
            </a:r>
          </a:p>
        </p:txBody>
      </p:sp>
      <p:graphicFrame>
        <p:nvGraphicFramePr>
          <p:cNvPr id="11" name="Table 10"/>
          <p:cNvGraphicFramePr>
            <a:graphicFrameLocks noGrp="1"/>
          </p:cNvGraphicFramePr>
          <p:nvPr/>
        </p:nvGraphicFramePr>
        <p:xfrm>
          <a:off x="777240" y="1975104"/>
          <a:ext cx="10637213" cy="2765044"/>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7</a:t>
                      </a:r>
                    </a:p>
                  </a:txBody>
                  <a:tcPr marL="82296" marR="64008" marT="32004" marB="32004" anchor="ctr">
                    <a:solidFill>
                      <a:srgbClr val="FFFFFF"/>
                    </a:solidFill>
                  </a:tcPr>
                </a:tc>
                <a:tc>
                  <a:txBody>
                    <a:bodyPr wrap="square"/>
                    <a:lstStyle/>
                    <a:p>
                      <a:pPr algn="l"/>
                      <a:r>
                        <a:rPr sz="1000" b="0">
                          <a:solidFill>
                            <a:srgbClr val="1C1C1E"/>
                          </a:solidFill>
                          <a:latin typeface="Calibri"/>
                        </a:rPr>
                        <a:t>Registering a Tier C capability; then the requester attesting their own draft</a:t>
                      </a:r>
                    </a:p>
                  </a:txBody>
                  <a:tcPr marL="82296" marR="64008" marT="32004" marB="32004" anchor="ctr">
                    <a:solidFill>
                      <a:srgbClr val="FFFFFF"/>
                    </a:solidFill>
                  </a:tcPr>
                </a:tc>
                <a:tc>
                  <a:txBody>
                    <a:bodyPr wrap="square"/>
                    <a:lstStyle/>
                    <a:p>
                      <a:pPr algn="l"/>
                      <a:r>
                        <a:rPr sz="1000" b="0">
                          <a:solidFill>
                            <a:srgbClr val="1C1C1E"/>
                          </a:solidFill>
                          <a:latin typeface="Calibri"/>
                        </a:rPr>
                        <a:t>Tier C is deliberately not registrable; and a self-attestation is not an attestation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8</a:t>
                      </a:r>
                    </a:p>
                  </a:txBody>
                  <a:tcPr marL="82296" marR="64008" marT="32004" marB="32004" anchor="ctr">
                    <a:solidFill>
                      <a:srgbClr val="F6F3EF"/>
                    </a:solidFill>
                  </a:tcPr>
                </a:tc>
                <a:tc>
                  <a:txBody>
                    <a:bodyPr wrap="square"/>
                    <a:lstStyle/>
                    <a:p>
                      <a:pPr algn="l"/>
                      <a:r>
                        <a:rPr sz="1000" b="0">
                          <a:solidFill>
                            <a:srgbClr val="1C1C1E"/>
                          </a:solidFill>
                          <a:latin typeface="Calibri"/>
                        </a:rPr>
                        <a:t>A fit on a vendor black box; then filing reverse-engineered coefficients as its parameters</a:t>
                      </a:r>
                    </a:p>
                  </a:txBody>
                  <a:tcPr marL="82296" marR="64008" marT="32004" marB="32004" anchor="ctr">
                    <a:solidFill>
                      <a:srgbClr val="F6F3EF"/>
                    </a:solidFill>
                  </a:tcPr>
                </a:tc>
                <a:tc>
                  <a:txBody>
                    <a:bodyPr wrap="square"/>
                    <a:lstStyle/>
                    <a:p>
                      <a:pPr algn="l"/>
                      <a:r>
                        <a:rPr sz="1000" b="0">
                          <a:solidFill>
                            <a:srgbClr val="1C1C1E"/>
                          </a:solidFill>
                          <a:latin typeface="Calibri"/>
                        </a:rPr>
                        <a:t>refused for THREE reasons at once; and those coefficients are a different model that happens to correlate</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monitor on a generative assembly; then an execution warrant against a rejected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Brier score over text answers nothing about a T5; and no approved parameter set inhabits this version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12</a:t>
                      </a:r>
                    </a:p>
                  </a:txBody>
                  <a:tcPr marL="82296" marR="64008" marT="32004" marB="32004" anchor="ctr">
                    <a:solidFill>
                      <a:srgbClr val="F6F3EF"/>
                    </a:solidFill>
                  </a:tcPr>
                </a:tc>
                <a:tc>
                  <a:txBody>
                    <a:bodyPr wrap="square"/>
                    <a:lstStyle/>
                    <a:p>
                      <a:pPr algn="l"/>
                      <a:r>
                        <a:rPr sz="1000" b="0">
                          <a:solidFill>
                            <a:srgbClr val="1C1C1E"/>
                          </a:solidFill>
                          <a:latin typeface="Calibri"/>
                        </a:rPr>
                        <a:t>A panel's elicited weights, recorded as though they had been fitted from data</a:t>
                      </a:r>
                    </a:p>
                  </a:txBody>
                  <a:tcPr marL="82296" marR="64008" marT="32004" marB="32004" anchor="ctr">
                    <a:solidFill>
                      <a:srgbClr val="F6F3EF"/>
                    </a:solidFill>
                  </a:tcPr>
                </a:tc>
                <a:tc>
                  <a:txBody>
                    <a:bodyPr wrap="square"/>
                    <a:lstStyle/>
                    <a:p>
                      <a:pPr algn="l"/>
                      <a:r>
                        <a:rPr sz="1000" b="0">
                          <a:solidFill>
                            <a:srgbClr val="1C1C1E"/>
                          </a:solidFill>
                          <a:latin typeface="Calibri"/>
                        </a:rPr>
                        <a:t>'elicited_weights' is not a quantity data produces, so it cannot have been fitted — record it as 'declared' and put the panel in the diagnostics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13</a:t>
                      </a:r>
                    </a:p>
                  </a:txBody>
                  <a:tcPr marL="82296" marR="64008" marT="32004" marB="32004" anchor="ctr">
                    <a:solidFill>
                      <a:srgbClr val="FFFFFF"/>
                    </a:solidFill>
                  </a:tcPr>
                </a:tc>
                <a:tc>
                  <a:txBody>
                    <a:bodyPr wrap="square"/>
                    <a:lstStyle/>
                    <a:p>
                      <a:pPr algn="l"/>
                      <a:r>
                        <a:rPr sz="1000" b="0">
                          <a:solidFill>
                            <a:srgbClr val="1C1C1E"/>
                          </a:solidFill>
                          <a:latin typeface="Calibri"/>
                        </a:rPr>
                        <a:t>New weights uploaded without a new version, then the approved version resolved again</a:t>
                      </a:r>
                    </a:p>
                  </a:txBody>
                  <a:tcPr marL="82296" marR="64008" marT="32004" marB="32004" anchor="ctr">
                    <a:solidFill>
                      <a:srgbClr val="FFFFFF"/>
                    </a:solidFill>
                  </a:tcPr>
                </a:tc>
                <a:tc>
                  <a:txBody>
                    <a:bodyPr wrap="square"/>
                    <a:lstStyle/>
                    <a:p>
                      <a:pPr algn="l"/>
                      <a:r>
                        <a:rPr sz="1000" b="0">
                          <a:solidFill>
                            <a:srgbClr val="1C1C1E"/>
                          </a:solidFill>
                          <a:latin typeface="Calibri"/>
                        </a:rPr>
                        <a:t>not a refusal but a control: the warrant still fetches the digest that was approved. A T3's weights cannot be swapped under its approval</a:t>
                      </a:r>
                    </a:p>
                  </a:txBody>
                  <a:tcPr marL="82296" marR="64008" marT="32004" marB="32004" anchor="ctr">
                    <a:solidFill>
                      <a:srgbClr val="FFFFFF"/>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case studies do not show</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123</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50" b="0" i="0">
                <a:solidFill>
                  <a:srgbClr val="1C1C1E"/>
                </a:solidFill>
                <a:latin typeface="Calibri"/>
              </a:rPr>
              <a:t>Stated, because a demonstration that only shows what works is a sales pitch.</a:t>
            </a:r>
          </a:p>
        </p:txBody>
      </p:sp>
      <p:sp>
        <p:nvSpPr>
          <p:cNvPr id="11" name="TextBox 10"/>
          <p:cNvSpPr txBox="1"/>
          <p:nvPr/>
        </p:nvSpPr>
        <p:spPr>
          <a:xfrm>
            <a:off x="777240" y="1956816"/>
            <a:ext cx="10637215" cy="3200400"/>
          </a:xfrm>
          <a:prstGeom prst="rect">
            <a:avLst/>
          </a:prstGeom>
          <a:noFill/>
        </p:spPr>
        <p:txBody>
          <a:bodyPr wrap="square" lIns="0" rIns="0" tIns="0" bIns="0" anchor="t">
            <a:spAutoFit/>
          </a:bodyPr>
          <a:lstStyle/>
          <a:p>
            <a:pPr algn="l"/>
          </a:p>
          <a:p>
            <a:pPr>
              <a:spcBef>
                <a:spcPts val="0"/>
              </a:spcBef>
              <a:spcAft>
                <a:spcPts val="1100"/>
              </a:spcAft>
            </a:pPr>
            <a:r>
              <a:rPr sz="1200" b="1">
                <a:solidFill>
                  <a:srgbClr val="A51C30"/>
                </a:solidFill>
                <a:latin typeface="Calibri"/>
              </a:rPr>
              <a:t>▪  </a:t>
            </a:r>
            <a:r>
              <a:rPr sz="1200">
                <a:solidFill>
                  <a:srgbClr val="1C1C1E"/>
                </a:solidFill>
                <a:latin typeface="Calibri"/>
              </a:rPr>
              <a:t>No monitoring, validation or findings. These build a model up to its first approved parameter set; what happens over its life — drift, breaches, revalidation, the worklist — is a separate demonstration.</a:t>
            </a:r>
          </a:p>
          <a:p>
            <a:pPr>
              <a:spcBef>
                <a:spcPts val="0"/>
              </a:spcBef>
              <a:spcAft>
                <a:spcPts val="1100"/>
              </a:spcAft>
            </a:pPr>
            <a:r>
              <a:rPr sz="1200" b="1">
                <a:solidFill>
                  <a:srgbClr val="A51C30"/>
                </a:solidFill>
                <a:latin typeface="Calibri"/>
              </a:rPr>
              <a:t>▪  </a:t>
            </a:r>
            <a:r>
              <a:rPr sz="1200">
                <a:solidFill>
                  <a:srgbClr val="1C1C1E"/>
                </a:solidFill>
                <a:latin typeface="Calibri"/>
              </a:rPr>
              <a:t>Only case study 2 uses real public data. The rest are synthetic from data-generating processes stated in the scripts — and each says so in the first paragraph of its data section. Case 9 uses REAL published variant identifiers with illustrative effect sizes, and says which is which.</a:t>
            </a:r>
          </a:p>
          <a:p>
            <a:pPr>
              <a:spcBef>
                <a:spcPts val="0"/>
              </a:spcBef>
              <a:spcAft>
                <a:spcPts val="1100"/>
              </a:spcAft>
            </a:pPr>
            <a:r>
              <a:rPr sz="1200" b="1">
                <a:solidFill>
                  <a:srgbClr val="A51C30"/>
                </a:solidFill>
                <a:latin typeface="Calibri"/>
              </a:rPr>
              <a:t>▪  </a:t>
            </a:r>
            <a:r>
              <a:rPr sz="1200">
                <a:solidFill>
                  <a:srgbClr val="1C1C1E"/>
                </a:solidFill>
                <a:latin typeface="Calibri"/>
              </a:rPr>
              <a:t>Nothing is deployed. A version is approved and a warrant is issued; no engine is wired to anything.</a:t>
            </a:r>
          </a:p>
          <a:p>
            <a:pPr>
              <a:spcBef>
                <a:spcPts val="0"/>
              </a:spcBef>
              <a:spcAft>
                <a:spcPts val="1100"/>
              </a:spcAft>
            </a:pPr>
            <a:r>
              <a:rPr sz="1200" b="1">
                <a:solidFill>
                  <a:srgbClr val="A51C30"/>
                </a:solidFill>
                <a:latin typeface="Calibri"/>
              </a:rPr>
              <a:t>▪  </a:t>
            </a:r>
            <a:r>
              <a:rPr sz="1200">
                <a:solidFill>
                  <a:srgbClr val="1C1C1E"/>
                </a:solidFill>
                <a:latin typeface="Calibri"/>
              </a:rPr>
              <a:t>Case 6 records an honest finding rather than hiding it: MAYA ISSUES a fit warrant for a T8 rule set. The grammar refuses a fit only for T0 and T6, so the refusal lives one layer down in the runtime. The control holds because the fit cannot execute — but the grammar is the layer that should have said no.</a:t>
            </a:r>
          </a:p>
          <a:p>
            <a:pPr>
              <a:spcBef>
                <a:spcPts val="0"/>
              </a:spcBef>
              <a:spcAft>
                <a:spcPts val="1100"/>
              </a:spcAft>
            </a:pPr>
            <a:r>
              <a:rPr sz="1200" b="1">
                <a:solidFill>
                  <a:srgbClr val="A51C30"/>
                </a:solidFill>
                <a:latin typeface="Calibri"/>
              </a:rPr>
              <a:t>▪  </a:t>
            </a:r>
            <a:r>
              <a:rPr sz="1200">
                <a:solidFill>
                  <a:srgbClr val="1C1C1E"/>
                </a:solidFill>
                <a:latin typeface="Calibri"/>
              </a:rPr>
              <a:t>Eight of the nine classes are covered. T4 — a model that adapts in production — is left uncovered deliberately, because nothing in this repository adapts and a case study for it would demonstrate the documentation rather than the platform.</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is not built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125</a:t>
            </a:r>
          </a:p>
        </p:txBody>
      </p:sp>
      <p:graphicFrame>
        <p:nvGraphicFramePr>
          <p:cNvPr id="10" name="Table 9"/>
          <p:cNvGraphicFramePr>
            <a:graphicFrameLocks noGrp="1"/>
          </p:cNvGraphicFramePr>
          <p:nvPr/>
        </p:nvGraphicFramePr>
        <p:xfrm>
          <a:off x="777240" y="1353312"/>
          <a:ext cx="10637215" cy="1901480"/>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50" b="1">
                          <a:solidFill>
                            <a:srgbClr val="FFFFFF"/>
                          </a:solidFill>
                          <a:latin typeface="Calibri"/>
                        </a:rPr>
                        <a:t>Not built</a:t>
                      </a:r>
                    </a:p>
                  </a:txBody>
                  <a:tcPr marL="82296" marR="64008" marT="32004" marB="32004" anchor="ctr">
                    <a:solidFill>
                      <a:srgbClr val="A51C30"/>
                    </a:solidFill>
                  </a:tcPr>
                </a:tc>
                <a:tc>
                  <a:txBody>
                    <a:bodyPr wrap="square"/>
                    <a:lstStyle/>
                    <a:p>
                      <a:pPr algn="l"/>
                      <a:r>
                        <a:rPr sz="950" b="1">
                          <a:solidFill>
                            <a:srgbClr val="FFFFFF"/>
                          </a:solidFill>
                          <a:latin typeface="Calibri"/>
                        </a:rPr>
                        <a:t>What that means today</a:t>
                      </a:r>
                    </a:p>
                  </a:txBody>
                  <a:tcPr marL="82296" marR="64008" marT="32004" marB="32004" anchor="ctr">
                    <a:solidFill>
                      <a:srgbClr val="A51C30"/>
                    </a:solidFill>
                  </a:tcPr>
                </a:tc>
              </a:tr>
              <a:tr h="632040">
                <a:tc>
                  <a:txBody>
                    <a:bodyPr wrap="square"/>
                    <a:lstStyle/>
                    <a:p>
                      <a:pPr algn="l"/>
                      <a:r>
                        <a:rPr sz="950" b="1">
                          <a:solidFill>
                            <a:srgbClr val="A51C30"/>
                          </a:solidFill>
                          <a:latin typeface="Calibri"/>
                        </a:rPr>
                        <a:t>An EUC scanner</a:t>
                      </a:r>
                    </a:p>
                  </a:txBody>
                  <a:tcPr marL="82296" marR="64008" marT="32004" marB="32004" anchor="ctr">
                    <a:solidFill>
                      <a:srgbClr val="FFFFFF"/>
                    </a:solidFill>
                  </a:tcPr>
                </a:tc>
                <a:tc>
                  <a:txBody>
                    <a:bodyPr wrap="square"/>
                    <a:lstStyle/>
                    <a:p>
                      <a:pPr algn="l"/>
                      <a:r>
                        <a:rPr sz="950" b="0">
                          <a:solidFill>
                            <a:srgbClr val="1C1C1E"/>
                          </a:solidFill>
                          <a:latin typeface="Calibri"/>
                        </a:rPr>
                        <a:t>MAYA does not crawl the bank’s drives and should not — a sweep needs credentials to every repository, notebook server and shared drive in the institution. The receiving half is built and the CONTRACT a scanner must meet is published; running one is somebody else’s job, and nobody has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Three foundational laws</a:t>
                      </a:r>
                    </a:p>
                  </a:txBody>
                  <a:tcPr marL="82296" marR="64008" marT="32004" marB="32004" anchor="ctr">
                    <a:solidFill>
                      <a:srgbClr val="F6F3EF"/>
                    </a:solidFill>
                  </a:tcPr>
                </a:tc>
                <a:tc>
                  <a:txBody>
                    <a:bodyPr wrap="square"/>
                    <a:lstStyle/>
                    <a:p>
                      <a:pPr algn="l"/>
                      <a:r>
                        <a:rPr sz="950" b="0">
                          <a:solidFill>
                            <a:srgbClr val="1C1C1E"/>
                          </a:solidFill>
                          <a:latin typeface="Calibri"/>
                        </a:rPr>
                        <a:t>L-6, L-11, L-13 — each named in chapter 8 with the reason. L-14 and L-17 were on this list and now run. The three that remain are honest refusals: building a document `put` to satisfy the lens laws would be building the wrong thing</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950" b="0">
                          <a:solidFill>
                            <a:srgbClr val="1C1C1E"/>
                          </a:solidFill>
                          <a:latin typeface="Calibri"/>
                        </a:rPr>
                        <a:t>no cache, no broker, no outbox, no read replica, no row-level security, no metrics endpoint — docs/14 §27 and §28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345596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45596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57483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rows, and one of them is not code. </a:t>
            </a:r>
            <a:r>
              <a:rPr sz="1050" b="0" i="0">
                <a:solidFill>
                  <a:srgbClr val="1C1C1E"/>
                </a:solidFill>
                <a:latin typeface="Calibri"/>
              </a:rPr>
              <a:t>The sweep is a job somebody with the credentials has to run, and it is deliberately last: a sweep against a register that is not yet good produces a queue nobody triages, </a:t>
            </a:r>
            <a:r>
              <a:rPr sz="1050" b="1" i="0">
                <a:solidFill>
                  <a:srgbClr val="1C1C1E"/>
                </a:solidFill>
                <a:latin typeface="Calibri"/>
              </a:rPr>
              <a:t>which is how every discovery programme that fails, fails.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will not be built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126</a:t>
            </a:r>
          </a:p>
        </p:txBody>
      </p:sp>
      <p:graphicFrame>
        <p:nvGraphicFramePr>
          <p:cNvPr id="10" name="Table 9"/>
          <p:cNvGraphicFramePr>
            <a:graphicFrameLocks noGrp="1"/>
          </p:cNvGraphicFramePr>
          <p:nvPr/>
        </p:nvGraphicFramePr>
        <p:xfrm>
          <a:off x="777240" y="1353312"/>
          <a:ext cx="10637215" cy="2901389"/>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What closing it would cost</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The interaction premium</a:t>
                      </a:r>
                    </a:p>
                  </a:txBody>
                  <a:tcPr marL="82296" marR="64008" marT="32004" marB="32004" anchor="ctr">
                    <a:solidFill>
                      <a:srgbClr val="FFFFFF"/>
                    </a:solidFill>
                  </a:tcPr>
                </a:tc>
                <a:tc>
                  <a:txBody>
                    <a:bodyPr wrap="square"/>
                    <a:lstStyle/>
                    <a:p>
                      <a:pPr algn="l"/>
                      <a:r>
                        <a:rPr sz="900" b="0">
                          <a:solidFill>
                            <a:srgbClr val="1C1C1E"/>
                          </a:solidFill>
                          <a:latin typeface="Calibri"/>
                        </a:rPr>
                        <a:t>L-14 says the copy map is the obstruction, so any single figure over the component ratings is blind to exactly what it would exist to find. What composes is the ORDER — the worst tier at stake — and not a magnitude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An examiner portal</a:t>
                      </a:r>
                    </a:p>
                  </a:txBody>
                  <a:tcPr marL="82296" marR="64008" marT="32004" marB="32004" anchor="ctr">
                    <a:solidFill>
                      <a:srgbClr val="F6F3EF"/>
                    </a:solidFill>
                  </a:tcPr>
                </a:tc>
                <a:tc>
                  <a:txBody>
                    <a:bodyPr wrap="square"/>
                    <a:lstStyle/>
                    <a:p>
                      <a:pPr algn="l"/>
                      <a:r>
                        <a:rPr sz="900" b="0">
                          <a:solidFill>
                            <a:srgbClr val="1C1C1E"/>
                          </a:solidFill>
                          <a:latin typeface="Calibri"/>
                        </a:rPr>
                        <a:t>handing a pack over IS built: a time-boxed link to a content digest, revocable, recording every read including the refused ones. A portal authenticates a third party INTO the register, and whatever that session reaches, they reach</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900" b="0">
                          <a:solidFill>
                            <a:srgbClr val="1C1C1E"/>
                          </a:solidFill>
                          <a:latin typeface="Calibri"/>
                        </a:rPr>
                        <a:t>§7 says MAYA will not sit on the serving path. L-17 is no longer blocked on it — the engine attests which namespaces it read and MAYA compares. A store would buy OBSERVATION rather than attestation, a smaller claim than this row used to make</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Non-repudiation to a third party</a:t>
                      </a:r>
                    </a:p>
                  </a:txBody>
                  <a:tcPr marL="82296" marR="64008" marT="32004" marB="32004" anchor="ctr">
                    <a:solidFill>
                      <a:srgbClr val="F6F3EF"/>
                    </a:solidFill>
                  </a:tcPr>
                </a:tc>
                <a:tc>
                  <a:txBody>
                    <a:bodyPr wrap="square"/>
                    <a:lstStyle/>
                    <a:p>
                      <a:pPr algn="l"/>
                      <a:r>
                        <a:rPr sz="900" b="0">
                          <a:solidFill>
                            <a:srgbClr val="1C1C1E"/>
                          </a:solidFill>
                          <a:latin typeface="Calibri"/>
                        </a:rPr>
                        <a:t>a warrant is signed with a key DERIVED from the audience, so a compromised engine forges warrants for itself and nobody else. What asymmetry would add is proof of authorship to somebody outside the bank, which nobody has asked for. Published at GET /warrant-signing</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Spark inside MAYA</a:t>
                      </a:r>
                    </a:p>
                  </a:txBody>
                  <a:tcPr marL="82296" marR="64008" marT="32004" marB="32004" anchor="ctr">
                    <a:solidFill>
                      <a:srgbClr val="FFFFFF"/>
                    </a:solidFill>
                  </a:tcPr>
                </a:tc>
                <a:tc>
                  <a:txBody>
                    <a:bodyPr wrap="square"/>
                    <a:lstStyle/>
                    <a:p>
                      <a:pPr algn="l"/>
                      <a:r>
                        <a:rPr sz="900" b="0">
                          <a:solidFill>
                            <a:srgbClr val="1C1C1E"/>
                          </a:solidFill>
                          <a:latin typeface="Calibri"/>
                        </a:rPr>
                        <a:t>monitoring at estate scale moves the SCAN to whatever the firm already runs — PSI, AUC and KS are functions of sufficient statistics, which add across partitions — while MAYA computes the metric and compares it. Unlike an external observation, that one can be replayed</a:t>
                      </a:r>
                    </a:p>
                  </a:txBody>
                  <a:tcPr marL="82296" marR="64008" marT="32004" marB="32004" anchor="ctr">
                    <a:solidFill>
                      <a:srgbClr val="FFFFFF"/>
                    </a:solidFill>
                  </a:tcPr>
                </a:tc>
              </a:tr>
            </a:tbl>
          </a:graphicData>
        </a:graphic>
      </p:graphicFrame>
      <p:sp>
        <p:nvSpPr>
          <p:cNvPr id="11" name="Rectangle 10"/>
          <p:cNvSpPr/>
          <p:nvPr/>
        </p:nvSpPr>
        <p:spPr>
          <a:xfrm>
            <a:off x="777240" y="4455871"/>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55871"/>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74743"/>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These five are not a backlog. Each would close only by making something else untrue — a theorem, an architecture principle, or a sentence this platform has been telling people. </a:t>
            </a:r>
            <a:r>
              <a:rPr sz="1050" b="1" i="0">
                <a:solidFill>
                  <a:srgbClr val="1C1C1E"/>
                </a:solidFill>
                <a:latin typeface="Calibri"/>
              </a:rPr>
              <a:t>That distinction is what a reader most needs without asking.</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