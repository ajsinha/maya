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seven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4" cy="2609925"/>
        </p:xfrm>
        <a:graphic>
          <a:graphicData uri="http://schemas.openxmlformats.org/drawingml/2006/table">
            <a:tbl>
              <a:tblPr firstRow="1">
                <a:tableStyleId>{5C22544A-7EE6-4342-B048-85BDC9FD1C3A}</a:tableStyleId>
              </a:tblPr>
              <a:tblGrid>
                <a:gridCol w="2925828"/>
                <a:gridCol w="4754471"/>
                <a:gridCol w="2956915"/>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And you can stop after</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15, having seen every refusal you will meet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 and chapter 24 for the evidence each class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15</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and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and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nowhere;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is nine slides and answers a question the rest of the deck assumes. </a:t>
            </a:r>
            <a:r>
              <a:rPr sz="1050" b="0" i="0">
                <a:solidFill>
                  <a:srgbClr val="1C1C1E"/>
                </a:solidFill>
                <a:latin typeface="Calibri"/>
              </a:rPr>
              <a:t>If you read nothing else, read that — the whole design is downstream of one sentence about what a model is, and the sections that look like engineering decisions are consequences of it rather than choices made beside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66219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~200 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extensibility,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worked examples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11 — Adversarial review</a:t>
                      </a:r>
                    </a:p>
                  </a:txBody>
                  <a:tcPr marL="82296" marR="64008" marT="32004" marB="32004" anchor="ctr">
                    <a:solidFill>
                      <a:srgbClr val="F6F3EF"/>
                    </a:solidFill>
                  </a:tcPr>
                </a:tc>
                <a:tc>
                  <a:txBody>
                    <a:bodyPr wrap="square"/>
                    <a:lstStyle/>
                    <a:p>
                      <a:pPr algn="l"/>
                      <a:r>
                        <a:rPr sz="1050" b="0">
                          <a:solidFill>
                            <a:srgbClr val="1C1C1E"/>
                          </a:solidFill>
                          <a:latin typeface="Calibri"/>
                        </a:rPr>
                        <a:t>what was wrong with all of it</a:t>
                      </a:r>
                    </a:p>
                  </a:txBody>
                  <a:tcPr marL="82296" marR="64008" marT="32004" marB="32004" anchor="ctr">
                    <a:solidFill>
                      <a:srgbClr val="F6F3EF"/>
                    </a:solidFill>
                  </a:tcPr>
                </a:tc>
                <a:tc>
                  <a:txBody>
                    <a:bodyPr wrap="square"/>
                    <a:lstStyle/>
                    <a:p>
                      <a:pPr algn="l"/>
                      <a:r>
                        <a:rPr sz="1050" b="0">
                          <a:solidFill>
                            <a:srgbClr val="1C1C1E"/>
                          </a:solidFill>
                          <a:latin typeface="Calibri"/>
                        </a:rPr>
                        <a:t>27 findings; 17 required redesign — folded in here</a:t>
                      </a:r>
                    </a:p>
                  </a:txBody>
                  <a:tcPr marL="82296" marR="64008" marT="32004" marB="32004" anchor="ctr">
                    <a:solidFill>
                      <a:srgbClr val="F6F3EF"/>
                    </a:solidFill>
                  </a:tcPr>
                </a:tc>
              </a:tr>
            </a:tbl>
          </a:graphicData>
        </a:graphic>
      </p:graphicFrame>
      <p:sp>
        <p:nvSpPr>
          <p:cNvPr id="11" name="Rectangle 10"/>
          <p:cNvSpPr/>
          <p:nvPr/>
        </p:nvSpPr>
        <p:spPr>
          <a:xfrm>
            <a:off x="777240" y="428983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83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70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A practitioner who has read Parts I to III should be able to register a model, compose a featureset and issue a warrant without guessing; and an engineer who has read Part IV should be able to open a component and begin implementing without inventing an interface. Where that is not true it is a gap in this deck rather than a decision left to the reader.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The Name, and What It Is For</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māyā is appearance: the representation that stands in for reality and is so easily mistaken for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the word means</a:t>
            </a:r>
          </a:p>
          <a:p>
            <a:pPr>
              <a:lnSpc>
                <a:spcPct val="115000"/>
              </a:lnSpc>
              <a:spcBef>
                <a:spcPts val="0"/>
              </a:spcBef>
              <a:spcAft>
                <a:spcPts val="700"/>
              </a:spcAft>
            </a:pPr>
            <a:r>
              <a:rPr sz="1150" b="0" i="0">
                <a:solidFill>
                  <a:srgbClr val="F6E6E9"/>
                </a:solidFill>
                <a:latin typeface="Calibri"/>
              </a:rPr>
              <a:t>The mark, and the oldest model there is</a:t>
            </a:r>
          </a:p>
          <a:p>
            <a:pPr>
              <a:lnSpc>
                <a:spcPct val="115000"/>
              </a:lnSpc>
              <a:spcBef>
                <a:spcPts val="0"/>
              </a:spcBef>
              <a:spcAft>
                <a:spcPts val="700"/>
              </a:spcAft>
            </a:pPr>
            <a:r>
              <a:rPr sz="1150" b="0" i="0">
                <a:solidFill>
                  <a:srgbClr val="F6E6E9"/>
                </a:solidFill>
                <a:latin typeface="Calibri"/>
              </a:rPr>
              <a:t>Map and territory</a:t>
            </a:r>
          </a:p>
          <a:p>
            <a:pPr>
              <a:lnSpc>
                <a:spcPct val="115000"/>
              </a:lnSpc>
              <a:spcBef>
                <a:spcPts val="0"/>
              </a:spcBef>
              <a:spcAft>
                <a:spcPts val="700"/>
              </a:spcAft>
            </a:pPr>
            <a:r>
              <a:rPr sz="1150" b="0" i="0">
                <a:solidFill>
                  <a:srgbClr val="F6E6E9"/>
                </a:solidFill>
                <a:latin typeface="Calibri"/>
              </a:rPr>
              <a:t>What that commits the platform to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a:t>
            </a:r>
          </a:p>
          <a:p>
            <a:pPr>
              <a:lnSpc>
                <a:spcPct val="130000"/>
              </a:lnSpc>
              <a:spcBef>
                <a:spcPts val="0"/>
              </a:spcBef>
              <a:spcAft>
                <a:spcPts val="1000"/>
              </a:spcAft>
            </a:pPr>
            <a:r>
              <a:rPr sz="1300" b="0" i="0">
                <a:solidFill>
                  <a:srgbClr val="1C1C1E"/>
                </a:solidFill>
                <a:latin typeface="Calibri"/>
              </a:rPr>
              <a:t>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That is exactly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5544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5544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3350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 and for the discipline of never mistaking it for the world.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A logo is usually decoration. This one is the argument, and the argument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naming it that commits the platform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gap is measured, not denied</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carries an operating boundary — the domain it was validated in — and a warrant that runs outside it is refused rather than answered.</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Representation is versioned</a:t>
            </a:r>
          </a:p>
        </p:txBody>
      </p:sp>
      <p:sp>
        <p:nvSpPr>
          <p:cNvPr id="19" name="TextBox 18"/>
          <p:cNvSpPr txBox="1"/>
          <p:nvPr/>
        </p:nvSpPr>
        <p:spPr>
          <a:xfrm>
            <a:off x="4633874"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model is a rendering, and renderings are replaced. Immutable versions and a governed alias are what let the rendering change without the thing it renders appearing to.</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Error has a direction</a:t>
            </a:r>
          </a:p>
        </p:txBody>
      </p:sp>
      <p:sp>
        <p:nvSpPr>
          <p:cNvPr id="24" name="TextBox 23"/>
          <p:cNvSpPr txBox="1"/>
          <p:nvPr/>
        </p:nvSpPr>
        <p:spPr>
          <a:xfrm>
            <a:off x="8271052"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Which is why an overlay register exists: an adjustment is somebody saying the map is wrong HERE, and that statement is worth keeping.</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Evidence, not assertion. Every claim is bound to the artefact it rests on, because a governance system that asks for trust has reproduced the problem it was built to solve.</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word is not a metaphor</a:t>
            </a:r>
          </a:p>
        </p:txBody>
      </p:sp>
      <p:sp>
        <p:nvSpPr>
          <p:cNvPr id="34" name="TextBox 33"/>
          <p:cNvSpPr txBox="1"/>
          <p:nvPr/>
        </p:nvSpPr>
        <p:spPr>
          <a:xfrm>
            <a:off x="4633874"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It is the definition. A model is a map; governance is knowing the difference; and every refusal in this platform is an instance of that sentence.</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it applies to MAYA itself</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platform is also a representation — of an estate. Its own documentation is compiled from the register rather than written, so the map of the maps cannot drift either.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478024"/>
            <a:ext cx="6169584" cy="1188720"/>
          </a:xfrm>
          <a:prstGeom prst="rect">
            <a:avLst/>
          </a:prstGeom>
          <a:noFill/>
        </p:spPr>
        <p:txBody>
          <a:bodyPr wrap="square" lIns="0" rIns="0" tIns="0" bIns="0" anchor="t">
            <a:spAutoFit/>
          </a:bodyPr>
          <a:lstStyle/>
          <a:p>
            <a:pPr algn="l">
              <a:spcBef>
                <a:spcPts val="0"/>
              </a:spcBef>
              <a:spcAft>
                <a:spcPts val="0"/>
              </a:spcAft>
            </a:pPr>
            <a:r>
              <a:rPr sz="2600" b="0" i="0">
                <a:solidFill>
                  <a:srgbClr val="FFFFFF"/>
                </a:solidFill>
                <a:latin typeface="Georgia"/>
              </a:rPr>
              <a:t>One Estate, Many Kinds of Model</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Why “is it AI?” separates nothing useful, and what it costs to keep asking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is actually in the estate</a:t>
            </a:r>
          </a:p>
          <a:p>
            <a:pPr>
              <a:lnSpc>
                <a:spcPct val="115000"/>
              </a:lnSpc>
              <a:spcBef>
                <a:spcPts val="0"/>
              </a:spcBef>
              <a:spcAft>
                <a:spcPts val="700"/>
              </a:spcAft>
            </a:pPr>
            <a:r>
              <a:rPr sz="1150" b="0" i="0">
                <a:solidFill>
                  <a:srgbClr val="F6E6E9"/>
                </a:solidFill>
                <a:latin typeface="Calibri"/>
              </a:rPr>
              <a:t>The question that sorts it wrongly</a:t>
            </a:r>
          </a:p>
          <a:p>
            <a:pPr>
              <a:lnSpc>
                <a:spcPct val="115000"/>
              </a:lnSpc>
              <a:spcBef>
                <a:spcPts val="0"/>
              </a:spcBef>
              <a:spcAft>
                <a:spcPts val="700"/>
              </a:spcAft>
            </a:pPr>
            <a:r>
              <a:rPr sz="1150" b="0" i="0">
                <a:solidFill>
                  <a:srgbClr val="F6E6E9"/>
                </a:solidFill>
                <a:latin typeface="Calibri"/>
              </a:rPr>
              <a:t>The question that sorts it correctly</a:t>
            </a:r>
          </a:p>
          <a:p>
            <a:pPr>
              <a:lnSpc>
                <a:spcPct val="115000"/>
              </a:lnSpc>
              <a:spcBef>
                <a:spcPts val="0"/>
              </a:spcBef>
              <a:spcAft>
                <a:spcPts val="700"/>
              </a:spcAft>
            </a:pPr>
            <a:r>
              <a:rPr sz="1150" b="0" i="0">
                <a:solidFill>
                  <a:srgbClr val="F6E6E9"/>
                </a:solidFill>
                <a:latin typeface="Calibri"/>
              </a:rPr>
              <a:t>Asserted, not evidenced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353312"/>
          <a:ext cx="10637214" cy="2863088"/>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FFFFF"/>
                    </a:solidFill>
                  </a:tcPr>
                </a:tc>
                <a:tc>
                  <a:txBody>
                    <a:bodyPr wrap="square"/>
                    <a:lstStyle/>
                    <a:p>
                      <a:pPr algn="l"/>
                      <a:r>
                        <a:rPr sz="1000" b="0">
                          <a:solidFill>
                            <a:srgbClr val="1C1C1E"/>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growing</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6F3E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6F3EF"/>
                    </a:solidFill>
                  </a:tcPr>
                </a:tc>
                <a:tc>
                  <a:txBody>
                    <a:bodyPr wrap="square"/>
                    <a:lstStyle/>
                    <a:p>
                      <a:pPr algn="l"/>
                      <a:r>
                        <a:rPr sz="1000" b="0">
                          <a:solidFill>
                            <a:srgbClr val="1C1C1E"/>
                          </a:solidFill>
                          <a:latin typeface="Calibri"/>
                        </a:rPr>
                        <a:t>unknowable</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FFFF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6F3EF"/>
                    </a:solidFill>
                  </a:tcPr>
                </a:tc>
                <a:tc>
                  <a:txBody>
                    <a:bodyPr wrap="square"/>
                    <a:lstStyle/>
                    <a:p>
                      <a:pPr algn="l"/>
                      <a:r>
                        <a:rPr sz="1000" b="0">
                          <a:solidFill>
                            <a:srgbClr val="1C1C1E"/>
                          </a:solidFill>
                          <a:latin typeface="Calibri"/>
                        </a:rPr>
                        <a:t>cells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thousands</a:t>
                      </a:r>
                    </a:p>
                  </a:txBody>
                  <a:tcPr marL="82296" marR="64008" marT="32004" marB="32004" anchor="ctr">
                    <a:solidFill>
                      <a:srgbClr val="F6F3EF"/>
                    </a:solidFill>
                  </a:tcPr>
                </a:tc>
              </a:tr>
            </a:tbl>
          </a:graphicData>
        </a:graphic>
      </p:graphicFrame>
      <p:sp>
        <p:nvSpPr>
          <p:cNvPr id="11" name="Rectangle 10"/>
          <p:cNvSpPr/>
          <p:nvPr/>
        </p:nvSpPr>
        <p:spPr>
          <a:xfrm>
            <a:off x="777240" y="4472432"/>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72432"/>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9130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management is expected to cover all of it with one process. </a:t>
            </a:r>
            <a:r>
              <a:rPr sz="1050" b="0" i="0">
                <a:solidFill>
                  <a:srgbClr val="1C1C1E"/>
                </a:solidFill>
                <a:latin typeface="Calibri"/>
              </a:rPr>
              <a:t>Most tooling responds by covering the third and fourth rows well and leaving the rest to a spreadsheet — which is the same spreadsheet the programme was bought to replace.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SORTS WRONGLY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“Is it AI?” puts these in different buckets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TextBox 9"/>
          <p:cNvSpPr txBox="1"/>
          <p:nvPr/>
        </p:nvSpPr>
        <p:spPr>
          <a:xfrm>
            <a:off x="777240" y="1353312"/>
            <a:ext cx="4893118" cy="237744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Different buckets</a:t>
            </a:r>
          </a:p>
          <a:p>
            <a:pPr>
              <a:spcBef>
                <a:spcPts val="0"/>
              </a:spcBef>
              <a:spcAft>
                <a:spcPts val="800"/>
              </a:spcAft>
            </a:pPr>
            <a:r>
              <a:rPr sz="1300" b="0" i="0">
                <a:solidFill>
                  <a:srgbClr val="1C1C1E"/>
                </a:solidFill>
                <a:latin typeface="Consolas"/>
              </a:rPr>
              <a:t>Black–Scholes  ·  a linear regression</a:t>
            </a:r>
          </a:p>
          <a:p>
            <a:pPr>
              <a:lnSpc>
                <a:spcPct val="128000"/>
              </a:lnSpc>
              <a:spcBef>
                <a:spcPts val="0"/>
              </a:spcBef>
              <a:spcAft>
                <a:spcPts val="0"/>
              </a:spcAft>
            </a:pPr>
            <a:r>
              <a:rPr sz="1100" b="0" i="0">
                <a:solidFill>
                  <a:srgbClr val="4A4F57"/>
                </a:solidFill>
                <a:latin typeface="Calibri"/>
              </a:rPr>
              <a:t>One is “not AI” and one is “traditional statistics”, and the validation checklist differs — although both have a closed form, both have an operating boundary, and only one of them has parameters at all.</a:t>
            </a:r>
          </a:p>
        </p:txBody>
      </p:sp>
      <p:sp>
        <p:nvSpPr>
          <p:cNvPr id="11" name="TextBox 10"/>
          <p:cNvSpPr txBox="1"/>
          <p:nvPr/>
        </p:nvSpPr>
        <p:spPr>
          <a:xfrm>
            <a:off x="6308591" y="1353312"/>
            <a:ext cx="4893118" cy="237744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same bucket</a:t>
            </a:r>
          </a:p>
          <a:p>
            <a:pPr>
              <a:spcBef>
                <a:spcPts val="0"/>
              </a:spcBef>
              <a:spcAft>
                <a:spcPts val="800"/>
              </a:spcAft>
            </a:pPr>
            <a:r>
              <a:rPr sz="1300" b="0" i="0">
                <a:solidFill>
                  <a:srgbClr val="1C1C1E"/>
                </a:solidFill>
                <a:latin typeface="Consolas"/>
              </a:rPr>
              <a:t>a linear regression  ·  a large language model</a:t>
            </a:r>
          </a:p>
          <a:p>
            <a:pPr>
              <a:lnSpc>
                <a:spcPct val="128000"/>
              </a:lnSpc>
              <a:spcBef>
                <a:spcPts val="0"/>
              </a:spcBef>
              <a:spcAft>
                <a:spcPts val="0"/>
              </a:spcAft>
            </a:pPr>
            <a:r>
              <a:rPr sz="1100" b="0" i="0">
                <a:solidFill>
                  <a:srgbClr val="4A4F57"/>
                </a:solidFill>
                <a:latin typeface="Calibri"/>
              </a:rPr>
              <a:t>Both are “models”, or on a bad day both are “AI”. One is fitted from eight thousand labelled rows you own; the other is configured around weights somebody else replaces on a Tuesday without telling you.</a:t>
            </a:r>
          </a:p>
        </p:txBody>
      </p:sp>
      <p:sp>
        <p:nvSpPr>
          <p:cNvPr id="12" name="Rectangle 11"/>
          <p:cNvSpPr/>
          <p:nvPr/>
        </p:nvSpPr>
        <p:spPr>
          <a:xfrm>
            <a:off x="777240" y="3959352"/>
            <a:ext cx="10637215"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93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8224"/>
            <a:ext cx="10180015"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Everything downstream inherits the confusion. </a:t>
            </a:r>
            <a:r>
              <a:rPr sz="1050" b="0" i="0">
                <a:solidFill>
                  <a:srgbClr val="1C1C1E"/>
                </a:solidFill>
                <a:latin typeface="Calibri"/>
              </a:rPr>
              <a:t>A validation checklist with fields that make no sense for half the estate, so people learn to write “N/A” and then stop reading the fields at all. An inventory whose categories nobody applies consistently, so two teams classify the same model differently and neither is wrong. And controls that are ceremony for some models and absent for others, which is the worst of the three because it looks like coverage.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353312"/>
          <a:ext cx="10637213" cy="2546350"/>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T3</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T4</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FFFF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FFFFF"/>
                    </a:solidFill>
                  </a:tcPr>
                </a:tc>
                <a:tc>
                  <a:txBody>
                    <a:bodyPr wrap="square"/>
                    <a:lstStyle/>
                    <a:p>
                      <a:pPr algn="l"/>
                      <a:r>
                        <a:rPr sz="1000" b="0">
                          <a:solidFill>
                            <a:srgbClr val="1C1C1E"/>
                          </a:solidFill>
                          <a:latin typeface="Calibri"/>
                        </a:rPr>
                        <a:t>T5</a:t>
                      </a:r>
                    </a:p>
                  </a:txBody>
                  <a:tcPr marL="82296" marR="64008" marT="32004" marB="32004" anchor="ctr">
                    <a:solidFill>
                      <a:srgbClr val="FFFFFF"/>
                    </a:solidFill>
                  </a:tcPr>
                </a:tc>
                <a:tc>
                  <a:txBody>
                    <a:bodyPr wrap="square"/>
                    <a:lstStyle/>
                    <a:p>
                      <a:pPr algn="l"/>
                      <a:r>
                        <a:rPr sz="1000" b="0">
                          <a:solidFill>
                            <a:srgbClr val="1C1C1E"/>
                          </a:solidFill>
                          <a:latin typeface="Calibri"/>
                        </a:rPr>
                        <a:t>configured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bl>
          </a:graphicData>
        </a:graphic>
      </p:graphicFrame>
      <p:sp>
        <p:nvSpPr>
          <p:cNvPr id="11" name="Rectangle 10"/>
          <p:cNvSpPr/>
          <p:nvPr/>
        </p:nvSpPr>
        <p:spPr>
          <a:xfrm>
            <a:off x="777240" y="417398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7398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29285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Nobody self-reports whether their model is trained — which is the question that invites the answer requiring least work. It falls out of two facts about the kernel,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which is the part that should worry a board: the second line is in the same position as the regulator, reading assertions it cannot check against artefacts it cannot reach. Every design decision in the rest of this deck is downstream of refusing that arrangement — and the refusals are where it shows.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478024"/>
            <a:ext cx="6169584" cy="1188720"/>
          </a:xfrm>
          <a:prstGeom prst="rect">
            <a:avLst/>
          </a:prstGeom>
          <a:noFill/>
        </p:spPr>
        <p:txBody>
          <a:bodyPr wrap="square" lIns="0" rIns="0" tIns="0" bIns="0" anchor="t">
            <a:spAutoFit/>
          </a:bodyPr>
          <a:lstStyle/>
          <a:p>
            <a:pPr algn="l">
              <a:spcBef>
                <a:spcPts val="0"/>
              </a:spcBef>
              <a:spcAft>
                <a:spcPts val="0"/>
              </a:spcAft>
            </a:pPr>
            <a:r>
              <a:rPr sz="2600" b="0" i="0">
                <a:solidFill>
                  <a:srgbClr val="FFFFFF"/>
                </a:solidFill>
                <a:latin typeface="Georgia"/>
              </a:rPr>
              <a:t>Five Positions, and Their Cost</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Each one is a choice with a price. The price is stated here rather than discovered later.</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It does not run models</a:t>
            </a:r>
          </a:p>
          <a:p>
            <a:pPr>
              <a:lnSpc>
                <a:spcPct val="115000"/>
              </a:lnSpc>
              <a:spcBef>
                <a:spcPts val="0"/>
              </a:spcBef>
              <a:spcAft>
                <a:spcPts val="700"/>
              </a:spcAft>
            </a:pPr>
            <a:r>
              <a:rPr sz="1150" b="0" i="0">
                <a:solidFill>
                  <a:srgbClr val="F6E6E9"/>
                </a:solidFill>
                <a:latin typeface="Calibri"/>
              </a:rPr>
              <a:t>Evidence, not assertion</a:t>
            </a:r>
          </a:p>
          <a:p>
            <a:pPr>
              <a:lnSpc>
                <a:spcPct val="115000"/>
              </a:lnSpc>
              <a:spcBef>
                <a:spcPts val="0"/>
              </a:spcBef>
              <a:spcAft>
                <a:spcPts val="700"/>
              </a:spcAft>
            </a:pPr>
            <a:r>
              <a:rPr sz="1150" b="0" i="0">
                <a:solidFill>
                  <a:srgbClr val="F6E6E9"/>
                </a:solidFill>
                <a:latin typeface="Calibri"/>
              </a:rPr>
              <a:t>Refusals are the product</a:t>
            </a:r>
          </a:p>
          <a:p>
            <a:pPr>
              <a:lnSpc>
                <a:spcPct val="115000"/>
              </a:lnSpc>
              <a:spcBef>
                <a:spcPts val="0"/>
              </a:spcBef>
              <a:spcAft>
                <a:spcPts val="700"/>
              </a:spcAft>
            </a:pPr>
            <a:r>
              <a:rPr sz="1150" b="0" i="0">
                <a:solidFill>
                  <a:srgbClr val="F6E6E9"/>
                </a:solidFill>
                <a:latin typeface="Calibri"/>
              </a:rPr>
              <a:t>Laws, not conventions</a:t>
            </a:r>
          </a:p>
          <a:p>
            <a:pPr>
              <a:lnSpc>
                <a:spcPct val="115000"/>
              </a:lnSpc>
              <a:spcBef>
                <a:spcPts val="0"/>
              </a:spcBef>
              <a:spcAft>
                <a:spcPts val="700"/>
              </a:spcAft>
            </a:pPr>
            <a:r>
              <a:rPr sz="1150" b="0" i="0">
                <a:solidFill>
                  <a:srgbClr val="F6E6E9"/>
                </a:solidFill>
                <a:latin typeface="Calibri"/>
              </a:rPr>
              <a:t>Derived, not entered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hash-chained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chain can only be as good as what was recorded;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fifteen run, and a failing one fails the build</a:t>
                      </a:r>
                    </a:p>
                  </a:txBody>
                  <a:tcPr marL="82296" marR="64008" marT="32004" marB="32004" anchor="ctr">
                    <a:solidFill>
                      <a:srgbClr val="F6F3EF"/>
                    </a:solidFill>
                  </a:tcPr>
                </a:tc>
                <a:tc>
                  <a:txBody>
                    <a:bodyPr wrap="square"/>
                    <a:lstStyle/>
                    <a:p>
                      <a:pPr algn="l"/>
                      <a:r>
                        <a:rPr sz="1000" b="0">
                          <a:solidFill>
                            <a:srgbClr val="1C1C1E"/>
                          </a:solidFill>
                          <a:latin typeface="Calibri"/>
                        </a:rPr>
                        <a:t>six do not run, and a law stated but not executed prevented nothing</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8229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8229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6035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POSITION ONE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URN</a:t>
            </a:r>
          </a:p>
          <a:p>
            <a:pPr>
              <a:lnSpc>
                <a:spcPct val="115000"/>
              </a:lnSpc>
              <a:spcBef>
                <a:spcPts val="0"/>
              </a:spcBef>
              <a:spcAft>
                <a:spcPts val="600"/>
              </a:spcAft>
            </a:pPr>
            <a:r>
              <a:rPr sz="850" b="0" i="0">
                <a:solidFill>
                  <a:srgbClr val="4A4F57"/>
                </a:solidFill>
                <a:latin typeface="Calibri"/>
              </a:rPr>
              <a:t>maya://model/credit.pd.smallbiz#champion —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It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it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5087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508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12893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people notice first is the one about deployment. </a:t>
            </a:r>
            <a:r>
              <a:rPr sz="1050" b="0" i="0">
                <a:solidFill>
                  <a:srgbClr val="1C1C1E"/>
                </a:solidFill>
                <a:latin typeface="Calibri"/>
              </a:rPr>
              <a:t>Promoting a version requires no consumer to redeploy, because no consumer ever held a version. Revocation takes effect in under sixty seconds for the same reason. And an open blocking finding stops RESOLUTION — so a validation finding actually stops the model, rather than generating an email that somebody files.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POSITION THREE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956840"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its parameter</a:t>
            </a:r>
          </a:p>
          <a:p>
            <a:pPr>
              <a:lnSpc>
                <a:spcPct val="134000"/>
              </a:lnSpc>
              <a:spcBef>
                <a:spcPts val="0"/>
              </a:spcBef>
              <a:spcAft>
                <a:spcPts val="0"/>
              </a:spcAft>
            </a:pPr>
            <a:r>
              <a:rPr sz="950" b="0" i="0">
                <a:solidFill>
                  <a:srgbClr val="1C1C1E"/>
                </a:solidFill>
                <a:latin typeface="Consolas"/>
              </a:rPr>
              <a:t>                 object is the terminal object, so there is no point</a:t>
            </a:r>
          </a:p>
          <a:p>
            <a:pPr>
              <a:lnSpc>
                <a:spcPct val="134000"/>
              </a:lnSpc>
              <a:spcBef>
                <a:spcPts val="0"/>
              </a:spcBef>
              <a:spcAft>
                <a:spcPts val="0"/>
              </a:spcAft>
            </a:pPr>
            <a:r>
              <a:rPr sz="950" b="0" i="0">
                <a:solidFill>
                  <a:srgbClr val="1C1C1E"/>
                </a:solidFill>
                <a:latin typeface="Consolas"/>
              </a:rPr>
              <a:t>                 of P to move to",</a:t>
            </a:r>
          </a:p>
          <a:p>
            <a:pPr>
              <a:lnSpc>
                <a:spcPct val="134000"/>
              </a:lnSpc>
              <a:spcBef>
                <a:spcPts val="0"/>
              </a:spcBef>
              <a:spcAft>
                <a:spcPts val="0"/>
              </a:spcAft>
            </a:pPr>
            <a:r>
              <a:rPr sz="950" b="0" i="0">
                <a:solidFill>
                  <a:srgbClr val="1C1C1E"/>
                </a:solidFill>
                <a:latin typeface="Consolas"/>
              </a:rPr>
              <a:t> "remediation": "if this model does have parameters, the kernel</a:t>
            </a:r>
          </a:p>
          <a:p>
            <a:pPr>
              <a:lnSpc>
                <a:spcPct val="134000"/>
              </a:lnSpc>
              <a:spcBef>
                <a:spcPts val="0"/>
              </a:spcBef>
              <a:spcAft>
                <a:spcPts val="0"/>
              </a:spcAft>
            </a:pPr>
            <a:r>
              <a:rPr sz="950" b="0" i="0">
                <a:solidFill>
                  <a:srgbClr val="1C1C1E"/>
                </a:solidFill>
                <a:latin typeface="Consolas"/>
              </a:rPr>
              <a:t>                 declares the wrong parameter_kind;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from a closed taxonomy that maps to a status saying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this one does not say: it does not say “no”. It names the fact about the kernel that made the request meaningless, and points at the version rather than the request — because if the model really does have parameters, the version is where the error is.</a:t>
            </a:r>
          </a:p>
        </p:txBody>
      </p:sp>
      <p:sp>
        <p:nvSpPr>
          <p:cNvPr id="15" name="Rectangle 14"/>
          <p:cNvSpPr/>
          <p:nvPr/>
        </p:nvSpPr>
        <p:spPr>
          <a:xfrm>
            <a:off x="777240" y="3620498"/>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620498"/>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739370"/>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Everything else is bookkeeping — and there is a whole chapter of refusals later, because they are the clearest statement of what the design believes.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The Definition</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 : P ⊗ X → D(Y). One line, and everything else derived from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five words</a:t>
            </a:r>
          </a:p>
          <a:p>
            <a:pPr>
              <a:lnSpc>
                <a:spcPct val="115000"/>
              </a:lnSpc>
              <a:spcBef>
                <a:spcPts val="0"/>
              </a:spcBef>
              <a:spcAft>
                <a:spcPts val="700"/>
              </a:spcAft>
            </a:pPr>
            <a:r>
              <a:rPr sz="1150" b="0" i="0">
                <a:solidFill>
                  <a:srgbClr val="F6E6E9"/>
                </a:solidFill>
                <a:latin typeface="Calibri"/>
              </a:rPr>
              <a:t>Why a distribution</a:t>
            </a:r>
          </a:p>
          <a:p>
            <a:pPr>
              <a:lnSpc>
                <a:spcPct val="115000"/>
              </a:lnSpc>
              <a:spcBef>
                <a:spcPts val="0"/>
              </a:spcBef>
              <a:spcAft>
                <a:spcPts val="700"/>
              </a:spcAft>
            </a:pPr>
            <a:r>
              <a:rPr sz="1150" b="0" i="0">
                <a:solidFill>
                  <a:srgbClr val="F6E6E9"/>
                </a:solidFill>
                <a:latin typeface="Calibri"/>
              </a:rPr>
              <a:t>Trainability, derived</a:t>
            </a:r>
          </a:p>
          <a:p>
            <a:pPr>
              <a:lnSpc>
                <a:spcPct val="115000"/>
              </a:lnSpc>
              <a:spcBef>
                <a:spcPts val="0"/>
              </a:spcBef>
              <a:spcAft>
                <a:spcPts val="700"/>
              </a:spcAft>
            </a:pPr>
            <a:r>
              <a:rPr sz="1150" b="0" i="0">
                <a:solidFill>
                  <a:srgbClr val="F6E6E9"/>
                </a:solidFill>
                <a:latin typeface="Calibri"/>
              </a:rPr>
              <a:t>What it dissolves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tensor: 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which IS a distribution over {default, not}, and treating it as a number is how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2011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2011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792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that receives a distribution and reports a mean has done something the record can name.</a:t>
            </a:r>
          </a:p>
        </p:txBody>
      </p:sp>
      <p:sp>
        <p:nvSpPr>
          <p:cNvPr id="14" name="Rectangle 13"/>
          <p:cNvSpPr/>
          <p:nvPr/>
        </p:nvSpPr>
        <p:spPr>
          <a:xfrm>
            <a:off x="6946824" y="3547872"/>
            <a:ext cx="4467630" cy="17373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547872"/>
            <a:ext cx="41148" cy="17373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666744"/>
            <a:ext cx="4010430" cy="15179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about the map, and the grammar checks it: a stochastic runtime asserting determinism without a pinned seed is refused rather than believed (L-W5).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553135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trainability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T3   a statistical estimator</a:t>
            </a:r>
          </a:p>
          <a:p>
            <a:pPr>
              <a:lnSpc>
                <a:spcPct val="134000"/>
              </a:lnSpc>
              <a:spcBef>
                <a:spcPts val="0"/>
              </a:spcBef>
              <a:spcAft>
                <a:spcPts val="0"/>
              </a:spcAft>
            </a:pPr>
            <a:r>
              <a:rPr sz="950" b="0" i="0">
                <a:solidFill>
                  <a:srgbClr val="1C1C1E"/>
                </a:solidFill>
                <a:latin typeface="Consolas"/>
              </a:rPr>
              <a:t>learned_weights  ×   train           ⟹   T4   a training run</a:t>
            </a:r>
          </a:p>
          <a:p>
            <a:pPr>
              <a:lnSpc>
                <a:spcPct val="134000"/>
              </a:lnSpc>
              <a:spcBef>
                <a:spcPts val="0"/>
              </a:spcBef>
              <a:spcAft>
                <a:spcPts val="0"/>
              </a:spcAft>
            </a:pPr>
            <a:r>
              <a:rPr sz="950" b="0" i="0">
                <a:solidFill>
                  <a:srgbClr val="1C1C1E"/>
                </a:solidFill>
                <a:latin typeface="Consolas"/>
              </a:rPr>
              <a:t>llm_configuration×   configure       ⟹   T5   somebody else's model</a:t>
            </a:r>
          </a:p>
          <a:p>
            <a:pPr>
              <a:lnSpc>
                <a:spcPct val="134000"/>
              </a:lnSpc>
              <a:spcBef>
                <a:spcPts val="0"/>
              </a:spcBef>
              <a:spcAft>
                <a:spcPts val="0"/>
              </a:spcAft>
            </a:pPr>
            <a:r>
              <a:rPr sz="950" b="0" i="0">
                <a:solidFill>
                  <a:srgbClr val="1C1C1E"/>
                </a:solidFill>
                <a:latin typeface="Consolas"/>
              </a:rPr>
              <a:t>rule_set         ×   none            ⟹   T8   rules, written down</a:t>
            </a:r>
          </a:p>
          <a:p>
            <a:pPr>
              <a:lnSpc>
                <a:spcPct val="134000"/>
              </a:lnSpc>
              <a:spcBef>
                <a:spcPts val="0"/>
              </a:spcBef>
              <a:spcAft>
                <a:spcPts val="0"/>
              </a:spcAft>
            </a:pPr>
            <a:r>
              <a:rPr sz="950" b="0" i="0">
                <a:solidFill>
                  <a:srgbClr val="1C1C1E"/>
                </a:solidFill>
                <a:latin typeface="Consolas"/>
              </a:rPr>
              <a:t>opaque           ×   none            ⟹   T6   inside a vendor binary</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is a question that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here is a fact about the ARTIFACT rather than an opinion about it. Two facts go in and the class comes out, so it cannot be wrong without one of the two facts being wrong — and those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and the class says which — so a T0 gets benchmarked against an independent implementation and a T4 gets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none ⟹ T8, and it is governed like anything else rather than living in a separate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has an answer that is not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and L-W10 is where that is enforced rather than remembered.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The Algebra</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One order for four questions, one fold for two levels, and the laws that make both checkable.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Four implementations of one relation</a:t>
            </a:r>
          </a:p>
          <a:p>
            <a:pPr>
              <a:lnSpc>
                <a:spcPct val="115000"/>
              </a:lnSpc>
              <a:spcBef>
                <a:spcPts val="0"/>
              </a:spcBef>
              <a:spcAft>
                <a:spcPts val="700"/>
              </a:spcAft>
            </a:pPr>
            <a:r>
              <a:rPr sz="1150" b="0" i="0">
                <a:solidFill>
                  <a:srgbClr val="F6E6E9"/>
                </a:solidFill>
                <a:latin typeface="Calibri"/>
              </a:rPr>
              <a:t>Schemas as a lattice</a:t>
            </a:r>
          </a:p>
          <a:p>
            <a:pPr>
              <a:lnSpc>
                <a:spcPct val="115000"/>
              </a:lnSpc>
              <a:spcBef>
                <a:spcPts val="0"/>
              </a:spcBef>
              <a:spcAft>
                <a:spcPts val="700"/>
              </a:spcAft>
            </a:pPr>
            <a:r>
              <a:rPr sz="1150" b="0" i="0">
                <a:solidFill>
                  <a:srgbClr val="F6E6E9"/>
                </a:solidFill>
                <a:latin typeface="Calibri"/>
              </a:rPr>
              <a:t>The fold, and what it buys</a:t>
            </a:r>
          </a:p>
          <a:p>
            <a:pPr>
              <a:lnSpc>
                <a:spcPct val="115000"/>
              </a:lnSpc>
              <a:spcBef>
                <a:spcPts val="0"/>
              </a:spcBef>
              <a:spcAft>
                <a:spcPts val="700"/>
              </a:spcAft>
            </a:pPr>
            <a:r>
              <a:rPr sz="1150" b="0" i="0">
                <a:solidFill>
                  <a:srgbClr val="F6E6E9"/>
                </a:solidFill>
                <a:latin typeface="Calibri"/>
              </a:rPr>
              <a:t>Independent edits commute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places asked one question, four different ways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graphicFrame>
        <p:nvGraphicFramePr>
          <p:cNvPr id="10" name="Table 9"/>
          <p:cNvGraphicFramePr>
            <a:graphicFrameLocks noGrp="1"/>
          </p:cNvGraphicFramePr>
          <p:nvPr/>
        </p:nvGraphicFramePr>
        <p:xfrm>
          <a:off x="777240" y="1353312"/>
          <a:ext cx="10637214" cy="1645920"/>
        </p:xfrm>
        <a:graphic>
          <a:graphicData uri="http://schemas.openxmlformats.org/drawingml/2006/table">
            <a:tbl>
              <a:tblPr firstRow="1">
                <a:tableStyleId>{5C22544A-7EE6-4342-B048-85BDC9FD1C3A}</a:tableStyleId>
              </a:tblPr>
              <a:tblGrid>
                <a:gridCol w="2377235"/>
                <a:gridCol w="4205878"/>
                <a:gridCol w="4054101"/>
              </a:tblGrid>
              <a:tr h="329184">
                <a:tc>
                  <a:txBody>
                    <a:bodyPr wrap="square"/>
                    <a:lstStyle/>
                    <a:p>
                      <a:pPr algn="l"/>
                      <a:r>
                        <a:rPr sz="1050" b="1">
                          <a:solidFill>
                            <a:srgbClr val="FFFFFF"/>
                          </a:solidFill>
                          <a:latin typeface="Calibri"/>
                        </a:rPr>
                        <a:t>Where</a:t>
                      </a:r>
                    </a:p>
                  </a:txBody>
                  <a:tcPr marL="82296" marR="64008" marT="32004" marB="32004" anchor="ctr">
                    <a:solidFill>
                      <a:srgbClr val="A51C30"/>
                    </a:solidFill>
                  </a:tcPr>
                </a:tc>
                <a:tc>
                  <a:txBody>
                    <a:bodyPr wrap="square"/>
                    <a:lstStyle/>
                    <a:p>
                      <a:pPr algn="l"/>
                      <a:r>
                        <a:rPr sz="1050" b="1">
                          <a:solidFill>
                            <a:srgbClr val="FFFFFF"/>
                          </a:solidFill>
                          <a:latin typeface="Calibri"/>
                        </a:rPr>
                        <a:t>What it asked</a:t>
                      </a:r>
                    </a:p>
                  </a:txBody>
                  <a:tcPr marL="82296" marR="64008" marT="32004" marB="32004" anchor="ctr">
                    <a:solidFill>
                      <a:srgbClr val="A51C30"/>
                    </a:solidFill>
                  </a:tcPr>
                </a:tc>
                <a:tc>
                  <a:txBody>
                    <a:bodyPr wrap="square"/>
                    <a:lstStyle/>
                    <a:p>
                      <a:pPr algn="l"/>
                      <a:r>
                        <a:rPr sz="1050" b="1">
                          <a:solidFill>
                            <a:srgbClr val="FFFFFF"/>
                          </a:solidFill>
                          <a:latin typeface="Calibri"/>
                        </a:rPr>
                        <a:t>How it answered</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An alias move</a:t>
                      </a:r>
                    </a:p>
                  </a:txBody>
                  <a:tcPr marL="82296" marR="64008" marT="32004" marB="32004" anchor="ctr">
                    <a:solidFill>
                      <a:srgbClr val="FFFFFF"/>
                    </a:solidFill>
                  </a:tcPr>
                </a:tc>
                <a:tc>
                  <a:txBody>
                    <a:bodyPr wrap="square"/>
                    <a:lstStyle/>
                    <a:p>
                      <a:pPr algn="l"/>
                      <a:r>
                        <a:rPr sz="1050" b="0">
                          <a:solidFill>
                            <a:srgbClr val="1C1C1E"/>
                          </a:solidFill>
                          <a:latin typeface="Calibri"/>
                        </a:rPr>
                        <a:t>is the replacement version substitutable?</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 fit warrant</a:t>
                      </a:r>
                    </a:p>
                  </a:txBody>
                  <a:tcPr marL="82296" marR="64008" marT="32004" marB="32004" anchor="ctr">
                    <a:solidFill>
                      <a:srgbClr val="F6F3EF"/>
                    </a:solidFill>
                  </a:tcPr>
                </a:tc>
                <a:tc>
                  <a:txBody>
                    <a:bodyPr wrap="square"/>
                    <a:lstStyle/>
                    <a:p>
                      <a:pPr algn="l"/>
                      <a:r>
                        <a:rPr sz="1050" b="0">
                          <a:solidFill>
                            <a:srgbClr val="1C1C1E"/>
                          </a:solidFill>
                          <a:latin typeface="Calibri"/>
                        </a:rPr>
                        <a:t>does the featureset provide what the kernel reads?</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slot loop</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An operating contract</a:t>
                      </a:r>
                    </a:p>
                  </a:txBody>
                  <a:tcPr marL="82296" marR="64008" marT="32004" marB="32004" anchor="ctr">
                    <a:solidFill>
                      <a:srgbClr val="FFFFFF"/>
                    </a:solidFill>
                  </a:tcPr>
                </a:tc>
                <a:tc>
                  <a:txBody>
                    <a:bodyPr wrap="square"/>
                    <a:lstStyle/>
                    <a:p>
                      <a:pPr algn="l"/>
                      <a:r>
                        <a:rPr sz="1050" b="0">
                          <a:solidFill>
                            <a:srgbClr val="1C1C1E"/>
                          </a:solidFill>
                          <a:latin typeface="Calibri"/>
                        </a:rPr>
                        <a:t>does the new contract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 dependency edge</a:t>
                      </a:r>
                    </a:p>
                  </a:txBody>
                  <a:tcPr marL="82296" marR="64008" marT="32004" marB="32004" anchor="ctr">
                    <a:solidFill>
                      <a:srgbClr val="F6F3EF"/>
                    </a:solidFill>
                  </a:tcPr>
                </a:tc>
                <a:tc>
                  <a:txBody>
                    <a:bodyPr wrap="square"/>
                    <a:lstStyle/>
                    <a:p>
                      <a:pPr algn="l"/>
                      <a:r>
                        <a:rPr sz="1050" b="0">
                          <a:solidFill>
                            <a:srgbClr val="1C1C1E"/>
                          </a:solidFill>
                          <a:latin typeface="Calibri"/>
                        </a:rPr>
                        <a:t>does the source's output arrive where the target reads?</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r>
            </a:tbl>
          </a:graphicData>
        </a:graphic>
      </p:graphicFrame>
      <p:sp>
        <p:nvSpPr>
          <p:cNvPr id="11" name="Rectangle 10"/>
          <p:cNvSpPr/>
          <p:nvPr/>
        </p:nvSpPr>
        <p:spPr>
          <a:xfrm>
            <a:off x="777240" y="327355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27355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39242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t>
            </a:r>
            <a:r>
              <a:rPr sz="1050" b="0" i="0">
                <a:solidFill>
                  <a:srgbClr val="1C1C1E"/>
                </a:solidFill>
                <a:latin typeface="Calibri"/>
              </a:rPr>
              <a:t>And the direction is predictable: toward PERMITTING MORE, because that is the direction in which nobody files a bug. The fourth row is the worst of them — a dependency graph whose edges were never checked, followed by a blast radius that trusted them. So the relation is written once, and everything that used to ask its own version of the question now asks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5744096"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7A7F87"/>
                </a:solidFill>
                <a:latin typeface="Consolas"/>
              </a:rPr>
              <a:t># a NARROWER acceptance is the regression, not a wider one</a:t>
            </a:r>
          </a:p>
        </p:txBody>
      </p:sp>
      <p:sp>
        <p:nvSpPr>
          <p:cNvPr id="14" name="Rectangle 13"/>
          <p:cNvSpPr/>
          <p:nvPr/>
        </p:nvSpPr>
        <p:spPr>
          <a:xfrm>
            <a:off x="777240" y="3302012"/>
            <a:ext cx="5744096"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3020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420884"/>
            <a:ext cx="5286896"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design note had this backwards. </a:t>
            </a:r>
            <a:r>
              <a:rPr sz="1050" b="0" i="0">
                <a:solidFill>
                  <a:srgbClr val="1C1C1E"/>
                </a:solidFill>
                <a:latin typeface="Calibri"/>
              </a:rPr>
              <a:t>It said a refinement is “at a type no wider”, written from the intuition that a subtype is narrower. Standing in for something requires accepting at least what it accepted. The `accepts` relation in the code had it right all along, and writing the implementation found the error in the prose — which is the ordinary direction of that traffic.</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It is a lattice</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Meet is PARTIAL, informatively. </a:t>
            </a:r>
            <a:r>
              <a:rPr sz="1050" b="0" i="0">
                <a:solidFill>
                  <a:srgbClr val="1C1C1E"/>
                </a:solidFill>
                <a:latin typeface="Calibri"/>
              </a:rPr>
              <a:t>Two schemas whose shared slot carries two different dtypes have no meet — no schema accepts both a number and a string in one slot. The honest answer to “can one featureset serve both these models” is then no, with the slot named.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IT UNIFIED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relation, four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graphicFrame>
        <p:nvGraphicFramePr>
          <p:cNvPr id="10" name="Table 9"/>
          <p:cNvGraphicFramePr>
            <a:graphicFrameLocks noGrp="1"/>
          </p:cNvGraphicFramePr>
          <p:nvPr/>
        </p:nvGraphicFramePr>
        <p:xfrm>
          <a:off x="777240" y="1353312"/>
          <a:ext cx="10637213" cy="1955479"/>
        </p:xfrm>
        <a:graphic>
          <a:graphicData uri="http://schemas.openxmlformats.org/drawingml/2006/table">
            <a:tbl>
              <a:tblPr firstRow="1">
                <a:tableStyleId>{5C22544A-7EE6-4342-B048-85BDC9FD1C3A}</a:tableStyleId>
              </a:tblPr>
              <a:tblGrid>
                <a:gridCol w="4205878"/>
                <a:gridCol w="3108692"/>
                <a:gridCol w="3322643"/>
              </a:tblGrid>
              <a:tr h="329184">
                <a:tc>
                  <a:txBody>
                    <a:bodyPr wrap="square"/>
                    <a:lstStyle/>
                    <a:p>
                      <a:pPr algn="l"/>
                      <a:r>
                        <a:rPr sz="1050" b="1">
                          <a:solidFill>
                            <a:srgbClr val="FFFFFF"/>
                          </a:solidFill>
                          <a:latin typeface="Calibri"/>
                        </a:rPr>
                        <a:t>Question</a:t>
                      </a:r>
                    </a:p>
                  </a:txBody>
                  <a:tcPr marL="82296" marR="64008" marT="32004" marB="32004" anchor="ctr">
                    <a:solidFill>
                      <a:srgbClr val="A51C30"/>
                    </a:solidFill>
                  </a:tcPr>
                </a:tc>
                <a:tc>
                  <a:txBody>
                    <a:bodyPr wrap="square"/>
                    <a:lstStyle/>
                    <a:p>
                      <a:pPr algn="l"/>
                      <a:r>
                        <a:rPr sz="1050" b="1">
                          <a:solidFill>
                            <a:srgbClr val="FFFFFF"/>
                          </a:solidFill>
                          <a:latin typeface="Calibri"/>
                        </a:rPr>
                        <a:t>Before</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Featureset satisfies the kernel  (L-W10)</a:t>
                      </a:r>
                    </a:p>
                  </a:txBody>
                  <a:tcPr marL="82296" marR="64008" marT="32004" marB="32004" anchor="ctr">
                    <a:solidFill>
                      <a:srgbClr val="FFFFFF"/>
                    </a:solidFill>
                  </a:tcPr>
                </a:tc>
                <a:tc>
                  <a:txBody>
                    <a:bodyPr wrap="square"/>
                    <a:lstStyle/>
                    <a:p>
                      <a:pPr algn="l"/>
                      <a:r>
                        <a:rPr sz="1050" b="0">
                          <a:solidFill>
                            <a:srgbClr val="1C1C1E"/>
                          </a:solidFill>
                          <a:latin typeface="Calibri"/>
                        </a:rPr>
                        <a:t>a bespoke slot loop</a:t>
                      </a:r>
                    </a:p>
                  </a:txBody>
                  <a:tcPr marL="82296" marR="64008" marT="32004" marB="32004" anchor="ctr">
                    <a:solidFill>
                      <a:srgbClr val="FFFFFF"/>
                    </a:solidFill>
                  </a:tcPr>
                </a:tc>
                <a:tc>
                  <a:txBody>
                    <a:bodyPr wrap="square"/>
                    <a:lstStyle/>
                    <a:p>
                      <a:pPr algn="l"/>
                      <a:r>
                        <a:rPr sz="1050" b="0">
                          <a:solidFill>
                            <a:srgbClr val="1C1C1E"/>
                          </a:solidFill>
                          <a:latin typeface="Calibri"/>
                        </a:rPr>
                        <a:t>refines(resolved, kernel_inputs)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Replacement is substitutable  (L-12)</a:t>
                      </a:r>
                    </a:p>
                  </a:txBody>
                  <a:tcPr marL="82296" marR="64008" marT="32004" marB="32004" anchor="ctr">
                    <a:solidFill>
                      <a:srgbClr val="F6F3EF"/>
                    </a:solidFill>
                  </a:tcPr>
                </a:tc>
                <a:tc>
                  <a:txBody>
                    <a:bodyPr wrap="square"/>
                    <a:lstStyle/>
                    <a:p>
                      <a:pPr algn="l"/>
                      <a:r>
                        <a:rPr sz="1050" b="0">
                          <a:solidFill>
                            <a:srgbClr val="1C1C1E"/>
                          </a:solidFill>
                          <a:latin typeface="Calibri"/>
                        </a:rPr>
                        <a:t>accepts_superset_of</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NOT ASKABLE</a:t>
                      </a:r>
                    </a:p>
                  </a:txBody>
                  <a:tcPr marL="82296" marR="64008" marT="32004" marB="32004" anchor="ctr">
                    <a:solidFill>
                      <a:srgbClr val="FFFFFF"/>
                    </a:solidFill>
                  </a:tcPr>
                </a:tc>
                <a:tc>
                  <a:txBody>
                    <a:bodyPr wrap="square"/>
                    <a:lstStyle/>
                    <a:p>
                      <a:pPr algn="l"/>
                      <a:r>
                        <a:rPr sz="1050" b="0">
                          <a:solidFill>
                            <a:srgbClr val="1C1C1E"/>
                          </a:solidFill>
                          <a:latin typeface="Calibri"/>
                        </a:rPr>
                        <a:t>A ⊑ B</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a:t>
                      </a:r>
                    </a:p>
                  </a:txBody>
                  <a:tcPr marL="82296" marR="64008" marT="32004" marB="32004" anchor="ctr">
                    <a:solidFill>
                      <a:srgbClr val="F6F3EF"/>
                    </a:solidFill>
                  </a:tcPr>
                </a:tc>
                <a:tc>
                  <a:txBody>
                    <a:bodyPr wrap="square"/>
                    <a:lstStyle/>
                    <a:p>
                      <a:pPr algn="l"/>
                      <a:r>
                        <a:rPr sz="1050" b="0">
                          <a:solidFill>
                            <a:srgbClr val="1C1C1E"/>
                          </a:solidFill>
                          <a:latin typeface="Calibri"/>
                        </a:rPr>
                        <a:t>NOT ASKABLE</a:t>
                      </a:r>
                    </a:p>
                  </a:txBody>
                  <a:tcPr marL="82296" marR="64008" marT="32004" marB="32004" anchor="ctr">
                    <a:solidFill>
                      <a:srgbClr val="F6F3EF"/>
                    </a:solidFill>
                  </a:tcPr>
                </a:tc>
                <a:tc>
                  <a:txBody>
                    <a:bodyPr wrap="square"/>
                    <a:lstStyle/>
                    <a:p>
                      <a:pPr algn="l"/>
                      <a:r>
                        <a:rPr sz="1050" b="0">
                          <a:solidFill>
                            <a:srgbClr val="1C1C1E"/>
                          </a:solidFill>
                          <a:latin typeface="Calibri"/>
                        </a:rPr>
                        <a:t>their meet</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NOT ASKABLE</a:t>
                      </a:r>
                    </a:p>
                  </a:txBody>
                  <a:tcPr marL="82296" marR="64008" marT="32004" marB="32004" anchor="ctr">
                    <a:solidFill>
                      <a:srgbClr val="FFFFFF"/>
                    </a:solidFill>
                  </a:tcPr>
                </a:tc>
                <a:tc>
                  <a:txBody>
                    <a:bodyPr wrap="square"/>
                    <a:lstStyle/>
                    <a:p>
                      <a:pPr algn="l"/>
                      <a:r>
                        <a:rPr sz="1050" b="0">
                          <a:solidFill>
                            <a:srgbClr val="1C1C1E"/>
                          </a:solidFill>
                          <a:latin typeface="Calibri"/>
                        </a:rPr>
                        <a:t>their join</a:t>
                      </a:r>
                    </a:p>
                  </a:txBody>
                  <a:tcPr marL="82296" marR="64008" marT="32004" marB="32004" anchor="ctr">
                    <a:solidFill>
                      <a:srgbClr val="FFFFFF"/>
                    </a:solidFill>
                  </a:tcPr>
                </a:tc>
              </a:tr>
            </a:tbl>
          </a:graphicData>
        </a:graphic>
      </p:graphicFrame>
      <p:sp>
        <p:nvSpPr>
          <p:cNvPr id="11" name="Rectangle 10"/>
          <p:cNvSpPr/>
          <p:nvPr/>
        </p:nvSpPr>
        <p:spPr>
          <a:xfrm>
            <a:off x="777240" y="3583114"/>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83114"/>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701986"/>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L-20, asserted over generated schemas. </a:t>
            </a:r>
            <a:r>
              <a:rPr sz="1050" b="0" i="0">
                <a:solidFill>
                  <a:srgbClr val="1C1C1E"/>
                </a:solidFill>
                <a:latin typeface="Calibri"/>
              </a:rPr>
              <a:t>Partial order, meet below both, join above both, idempotence, commutativity, associativity, absorption — and the link A ⊑ B ⟺ A ⊓ B = A that makes it a lattice ORDER rather than an order and two unrelated operations. Two of those four questions could not be asked at all before, and both are ones a practitioner asks out loud in a meeting.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object's own operations, last</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associative — asserted, not assumed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is a STATEMENT — it is the closure of the fold, and it is why features and featuresets share one mechanism rather than two.</a:t>
            </a:r>
          </a:p>
        </p:txBody>
      </p:sp>
      <p:graphicFrame>
        <p:nvGraphicFramePr>
          <p:cNvPr id="15" name="Table 14"/>
          <p:cNvGraphicFramePr>
            <a:graphicFrameLocks noGrp="1"/>
          </p:cNvGraphicFramePr>
          <p:nvPr/>
        </p:nvGraphicFramePr>
        <p:xfrm>
          <a:off x="7159569" y="1353312"/>
          <a:ext cx="4254885" cy="1279398"/>
        </p:xfrm>
        <a:graphic>
          <a:graphicData uri="http://schemas.openxmlformats.org/drawingml/2006/table">
            <a:tbl>
              <a:tblPr firstRow="1">
                <a:tableStyleId>{5C22544A-7EE6-4342-B048-85BDC9FD1C3A}</a:tableStyleId>
              </a:tblPr>
              <a:tblGrid>
                <a:gridCol w="1115513"/>
                <a:gridCol w="3139372"/>
              </a:tblGrid>
              <a:tr h="329184">
                <a:tc>
                  <a:txBody>
                    <a:bodyPr wrap="square"/>
                    <a:lstStyle/>
                    <a:p>
                      <a:pPr algn="l"/>
                      <a:r>
                        <a:rPr sz="1000" b="1">
                          <a:solidFill>
                            <a:srgbClr val="FFFFFF"/>
                          </a:solidFill>
                          <a:latin typeface="Calibri"/>
                        </a:rPr>
                        <a:t>Operation</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2888742"/>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2888742"/>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007614"/>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operation is total. </a:t>
            </a:r>
            <a:r>
              <a:rPr sz="1050" b="0" i="0">
                <a:solidFill>
                  <a:srgbClr val="1C1C1E"/>
                </a:solidFill>
                <a:latin typeface="Calibri"/>
              </a:rPr>
              <a:t>None of the three is idempotent, deliberately: an operation that silently did nothing is one somebody believes happened, and the child then differs from what its author wrote with nothing to show for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LAW THAT WAS MISSING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 — and nobody had 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 · tests/test_laws.py</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 the difference between a merge and a conflict whose resolution is itself a decision nobody recorded. It was never tested, and a failure here could not have been found by testing one edit at a time.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slot is not drop then override — the second order is refused outright. Stating the law only for independent edits is the honest form of it, and a law stated more widely than it holds is a law somebody will rely on where it does not.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6</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Two Clocks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When a fact was true, when it became known — and the read that keeps them apart.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Why one clock cannot answer</a:t>
            </a:r>
          </a:p>
          <a:p>
            <a:pPr>
              <a:lnSpc>
                <a:spcPct val="115000"/>
              </a:lnSpc>
              <a:spcBef>
                <a:spcPts val="0"/>
              </a:spcBef>
              <a:spcAft>
                <a:spcPts val="700"/>
              </a:spcAft>
            </a:pPr>
            <a:r>
              <a:rPr sz="1150" b="0" i="0">
                <a:solidFill>
                  <a:srgbClr val="F6E6E9"/>
                </a:solidFill>
                <a:latin typeface="Calibri"/>
              </a:rPr>
              <a:t>The as-of operator</a:t>
            </a:r>
          </a:p>
          <a:p>
            <a:pPr>
              <a:lnSpc>
                <a:spcPct val="115000"/>
              </a:lnSpc>
              <a:spcBef>
                <a:spcPts val="0"/>
              </a:spcBef>
              <a:spcAft>
                <a:spcPts val="700"/>
              </a:spcAft>
            </a:pPr>
            <a:r>
              <a:rPr sz="1150" b="0" i="0">
                <a:solidFill>
                  <a:srgbClr val="F6E6E9"/>
                </a:solidFill>
                <a:latin typeface="Calibri"/>
              </a:rPr>
              <a:t>Four properties, one of which is reproducibility</a:t>
            </a:r>
          </a:p>
          <a:p>
            <a:pPr>
              <a:lnSpc>
                <a:spcPct val="115000"/>
              </a:lnSpc>
              <a:spcBef>
                <a:spcPts val="0"/>
              </a:spcBef>
              <a:spcAft>
                <a:spcPts val="700"/>
              </a:spcAft>
            </a:pPr>
            <a:r>
              <a:rPr sz="1150" b="0" i="0">
                <a:solidFill>
                  <a:srgbClr val="F6E6E9"/>
                </a:solidFill>
                <a:latin typeface="Calibri"/>
              </a:rPr>
              <a:t>Alignment, and hiding nothing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graphicFrame>
        <p:nvGraphicFramePr>
          <p:cNvPr id="10" name="Table 9"/>
          <p:cNvGraphicFramePr>
            <a:graphicFrameLocks noGrp="1"/>
          </p:cNvGraphicFramePr>
          <p:nvPr/>
        </p:nvGraphicFramePr>
        <p:xfrm>
          <a:off x="777240" y="1764792"/>
          <a:ext cx="10637213" cy="1630220"/>
        </p:xfrm>
        <a:graphic>
          <a:graphicData uri="http://schemas.openxmlformats.org/drawingml/2006/table">
            <a:tbl>
              <a:tblPr firstRow="1">
                <a:tableStyleId>{5C22544A-7EE6-4342-B048-85BDC9FD1C3A}</a:tableStyleId>
              </a:tblPr>
              <a:tblGrid>
                <a:gridCol w="1920074"/>
                <a:gridCol w="4297310"/>
                <a:gridCol w="4419829"/>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a:t>
                      </a:r>
                    </a:p>
                  </a:txBody>
                  <a:tcPr marL="82296" marR="64008" marT="32004" marB="32004" anchor="ctr">
                    <a:solidFill>
                      <a:srgbClr val="A51C30"/>
                    </a:solidFill>
                  </a:tcPr>
                </a:tc>
                <a:tc>
                  <a:txBody>
                    <a:bodyPr wrap="square"/>
                    <a:lstStyle/>
                    <a:p>
                      <a:pPr algn="l"/>
                      <a:r>
                        <a:rPr sz="1050" b="1">
                          <a:solidFill>
                            <a:srgbClr val="FFFFFF"/>
                          </a:solidFill>
                          <a:latin typeface="Calibri"/>
                        </a:rPr>
                        <a:t>ingest_ts</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For a Q1 ratio</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period it describes</a:t>
                      </a:r>
                    </a:p>
                  </a:txBody>
                  <a:tcPr marL="82296" marR="64008" marT="32004" marB="32004" anchor="ctr">
                    <a:solidFill>
                      <a:srgbClr val="F6F3EF"/>
                    </a:solidFill>
                  </a:tcPr>
                </a:tc>
                <a:tc>
                  <a:txBody>
                    <a:bodyPr wrap="square"/>
                    <a:lstStyle/>
                    <a:p>
                      <a:pPr algn="l"/>
                      <a:r>
                        <a:rPr sz="1050" b="0">
                          <a:solidFill>
                            <a:srgbClr val="1C1C1E"/>
                          </a:solidFill>
                          <a:latin typeface="Calibri"/>
                        </a:rPr>
                        <a:t>20 May — when they filed</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about Q1</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199286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199286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77341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label's moment — what the model could have known</a:t>
            </a:r>
          </a:p>
          <a:p>
            <a:pPr>
              <a:lnSpc>
                <a:spcPct val="134000"/>
              </a:lnSpc>
              <a:spcBef>
                <a:spcPts val="0"/>
              </a:spcBef>
              <a:spcAft>
                <a:spcPts val="0"/>
              </a:spcAft>
            </a:pPr>
            <a:r>
              <a:rPr sz="1000" b="0" i="0">
                <a:solidFill>
                  <a:srgbClr val="7A7F87"/>
                </a:solidFill>
                <a:latin typeface="Consolas"/>
              </a:rPr>
              <a:t>#  a  the assembly's as_of — what the PLATFORM could have known</a:t>
            </a:r>
          </a:p>
        </p:txBody>
      </p:sp>
      <p:sp>
        <p:nvSpPr>
          <p:cNvPr id="14" name="Rectangle 13"/>
          <p:cNvSpPr/>
          <p:nvPr/>
        </p:nvSpPr>
        <p:spPr>
          <a:xfrm>
            <a:off x="777240" y="3462832"/>
            <a:ext cx="5956840" cy="17373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7373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5179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`ℓ` is what the model could have known when the decision was made. `a` is what the platform could have known when the set was built, so a restatement arriving after assembly cannot creep into a re-run. Dropping either one admits a different leak, and the second is the one people drop.</a:t>
            </a:r>
          </a:p>
        </p:txBody>
      </p:sp>
      <p:graphicFrame>
        <p:nvGraphicFramePr>
          <p:cNvPr id="17" name="Table 16"/>
          <p:cNvGraphicFramePr>
            <a:graphicFrameLocks noGrp="1"/>
          </p:cNvGraphicFramePr>
          <p:nvPr/>
        </p:nvGraphicFramePr>
        <p:xfrm>
          <a:off x="7159569" y="1353312"/>
          <a:ext cx="4254886" cy="1885872"/>
        </p:xfrm>
        <a:graphic>
          <a:graphicData uri="http://schemas.openxmlformats.org/drawingml/2006/table">
            <a:tbl>
              <a:tblPr firstRow="1">
                <a:tableStyleId>{5C22544A-7EE6-4342-B048-85BDC9FD1C3A}</a:tableStyleId>
              </a:tblPr>
              <a:tblGrid>
                <a:gridCol w="1474071"/>
                <a:gridCol w="2780815"/>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Says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Idempotent</a:t>
                      </a:r>
                    </a:p>
                  </a:txBody>
                  <a:tcPr marL="82296" marR="64008" marT="32004" marB="32004" anchor="ctr">
                    <a:solidFill>
                      <a:srgbClr val="FFFFFF"/>
                    </a:solidFill>
                  </a:tcPr>
                </a:tc>
                <a:tc>
                  <a:txBody>
                    <a:bodyPr wrap="square"/>
                    <a:lstStyle/>
                    <a:p>
                      <a:pPr algn="l"/>
                      <a:r>
                        <a:rPr sz="950" b="0">
                          <a:solidFill>
                            <a:srgbClr val="1C1C1E"/>
                          </a:solidFill>
                          <a:latin typeface="Calibri"/>
                        </a:rPr>
                        <a:t>reading the result again returns it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Commutes with projection</a:t>
                      </a:r>
                    </a:p>
                  </a:txBody>
                  <a:tcPr marL="82296" marR="64008" marT="32004" marB="32004" anchor="ctr">
                    <a:solidFill>
                      <a:srgbClr val="F6F3EF"/>
                    </a:solidFill>
                  </a:tcPr>
                </a:tc>
                <a:tc>
                  <a:txBody>
                    <a:bodyPr wrap="square"/>
                    <a:lstStyle/>
                    <a:p>
                      <a:pPr algn="l"/>
                      <a:r>
                        <a:rPr sz="950" b="0">
                          <a:solidFill>
                            <a:srgbClr val="1C1C1E"/>
                          </a:solidFill>
                          <a:latin typeface="Calibri"/>
                        </a:rPr>
                        <a:t>the choice is made on the clocks alone, so fewer columns cannot change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Monotone in a</a:t>
                      </a:r>
                    </a:p>
                  </a:txBody>
                  <a:tcPr marL="82296" marR="64008" marT="32004" marB="32004" anchor="ctr">
                    <a:solidFill>
                      <a:srgbClr val="FFFFFF"/>
                    </a:solidFill>
                  </a:tcPr>
                </a:tc>
                <a:tc>
                  <a:txBody>
                    <a:bodyPr wrap="square"/>
                    <a:lstStyle/>
                    <a:p>
                      <a:pPr algn="l"/>
                      <a:r>
                        <a:rPr sz="950" b="0">
                          <a:solidFill>
                            <a:srgbClr val="1C1C1E"/>
                          </a:solidFill>
                          <a:latin typeface="Calibri"/>
                        </a:rPr>
                        <a:t>a later read can only WIDEN what is admissible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Saturating at ℓ</a:t>
                      </a:r>
                    </a:p>
                  </a:txBody>
                  <a:tcPr marL="82296" marR="64008" marT="32004" marB="32004" anchor="ctr">
                    <a:solidFill>
                      <a:srgbClr val="F6F3EF"/>
                    </a:solidFill>
                  </a:tcPr>
                </a:tc>
                <a:tc>
                  <a:txBody>
                    <a:bodyPr wrap="square"/>
                    <a:lstStyle/>
                    <a:p>
                      <a:pPr algn="l"/>
                      <a:r>
                        <a:rPr sz="950" b="0">
                          <a:solidFill>
                            <a:srgbClr val="1C1C1E"/>
                          </a:solidFill>
                          <a:latin typeface="Calibri"/>
                        </a:rPr>
                        <a:t>every a ≥ ℓ gives the SAME ANSWER</a:t>
                      </a:r>
                    </a:p>
                  </a:txBody>
                  <a:tcPr marL="82296" marR="64008" marT="32004" marB="32004" anchor="ctr">
                    <a:solidFill>
                      <a:srgbClr val="F6F3EF"/>
                    </a:solidFill>
                  </a:tcPr>
                </a:tc>
              </a:tr>
            </a:tbl>
          </a:graphicData>
        </a:graphic>
      </p:graphicFrame>
      <p:sp>
        <p:nvSpPr>
          <p:cNvPr id="18" name="TextBox 17"/>
          <p:cNvSpPr txBox="1"/>
          <p:nvPr/>
        </p:nvSpPr>
        <p:spPr>
          <a:xfrm>
            <a:off x="7159569" y="3476929"/>
            <a:ext cx="4254886" cy="548640"/>
          </a:xfrm>
          <a:prstGeom prst="rect">
            <a:avLst/>
          </a:prstGeom>
          <a:noFill/>
        </p:spPr>
        <p:txBody>
          <a:bodyPr wrap="square" lIns="0" rIns="0" tIns="0" bIns="0" anchor="t">
            <a:spAutoFit/>
          </a:bodyPr>
          <a:lstStyle/>
          <a:p>
            <a:pPr algn="l">
              <a:spcBef>
                <a:spcPts val="0"/>
              </a:spcBef>
              <a:spcAft>
                <a:spcPts val="0"/>
              </a:spcAft>
            </a:pPr>
            <a:r>
              <a:rPr sz="950" b="1" i="0">
                <a:solidFill>
                  <a:srgbClr val="7A7F87"/>
                </a:solidFill>
                <a:latin typeface="Consolas"/>
              </a:rPr>
              <a:t>L-10 · tests/test_laws.py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WHY MIN(ℓ, A) MATTERS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fourth one is the reproducibility guarantee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Assemble in May</a:t>
            </a:r>
          </a:p>
          <a:p>
            <a:pPr>
              <a:lnSpc>
                <a:spcPct val="115000"/>
              </a:lnSpc>
              <a:spcBef>
                <a:spcPts val="0"/>
              </a:spcBef>
              <a:spcAft>
                <a:spcPts val="600"/>
              </a:spcAft>
            </a:pPr>
            <a:r>
              <a:rPr sz="850" b="0" i="0">
                <a:solidFill>
                  <a:srgbClr val="4A4F57"/>
                </a:solidFill>
                <a:latin typeface="Calibri"/>
              </a:rPr>
              <a:t>the row for a decision labelled in May reads dscr = 1.20, the value knowable then</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A restatement arrives</a:t>
            </a:r>
          </a:p>
          <a:p>
            <a:pPr>
              <a:lnSpc>
                <a:spcPct val="115000"/>
              </a:lnSpc>
              <a:spcBef>
                <a:spcPts val="0"/>
              </a:spcBef>
              <a:spcAft>
                <a:spcPts val="600"/>
              </a:spcAft>
            </a:pPr>
            <a:r>
              <a:rPr sz="850" b="0" i="0">
                <a:solidFill>
                  <a:srgbClr val="4A4F57"/>
                </a:solidFill>
                <a:latin typeface="Calibri"/>
              </a:rPr>
              <a:t>August: the same Q1 figure, revised to 0.40. Both rows are true and both stay</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Re-assemble a year later</a:t>
            </a:r>
          </a:p>
          <a:p>
            <a:pPr>
              <a:lnSpc>
                <a:spcPct val="115000"/>
              </a:lnSpc>
              <a:spcBef>
                <a:spcPts val="0"/>
              </a:spcBef>
              <a:spcAft>
                <a:spcPts val="600"/>
              </a:spcAft>
            </a:pPr>
            <a:r>
              <a:rPr sz="850" b="0" i="0">
                <a:solidFill>
                  <a:srgbClr val="4A4F57"/>
                </a:solidFill>
                <a:latin typeface="Calibri"/>
              </a:rPr>
              <a:t>the ingest bound is min(label, as_of), so it saturates at the label</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The answer is identical</a:t>
            </a:r>
          </a:p>
          <a:p>
            <a:pPr>
              <a:lnSpc>
                <a:spcPct val="115000"/>
              </a:lnSpc>
              <a:spcBef>
                <a:spcPts val="0"/>
              </a:spcBef>
              <a:spcAft>
                <a:spcPts val="600"/>
              </a:spcAft>
            </a:pPr>
            <a:r>
              <a:rPr sz="850" b="0" i="0">
                <a:solidFill>
                  <a:srgbClr val="4A4F57"/>
                </a:solidFill>
                <a:latin typeface="Calibri"/>
              </a:rPr>
              <a:t>1.20 — however many restatements arrived between, and however long ago it was</a:t>
            </a:r>
          </a:p>
        </p:txBody>
      </p:sp>
      <p:sp>
        <p:nvSpPr>
          <p:cNvPr id="22" name="Rectangle 21"/>
          <p:cNvSpPr/>
          <p:nvPr/>
        </p:nvSpPr>
        <p:spPr>
          <a:xfrm>
            <a:off x="777240" y="322783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Without the min, a re-run quietly IMPROVES on the original. </a:t>
            </a:r>
            <a:r>
              <a:rPr sz="1050" b="0" i="0">
                <a:solidFill>
                  <a:srgbClr val="1C1C1E"/>
                </a:solidFill>
                <a:latin typeface="Calibri"/>
              </a:rPr>
              <a:t>That is the least useful kind of reproducibility: the numbers then agree with nothing, including themselves — a validator replaying a decision gets a better answer than the one that was made, cannot tell that is what happened, and reports agreement. The bound is one function call and it is the whole guarantee.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Rule</a:t>
                      </a:r>
                    </a:p>
                  </a:txBody>
                  <a:tcPr marL="82296" marR="64008" marT="32004" marB="32004" anchor="ctr">
                    <a:solidFill>
                      <a:srgbClr val="A51C30"/>
                    </a:solidFill>
                  </a:tcPr>
                </a:tc>
                <a:tc>
                  <a:txBody>
                    <a:bodyPr wrap="square"/>
                    <a:lstStyle/>
                    <a:p>
                      <a:pPr algn="l"/>
                      <a:r>
                        <a:rPr sz="1000" b="1">
                          <a:solidFill>
                            <a:srgbClr val="FFFFFF"/>
                          </a:solidFill>
                          <a:latin typeface="Calibri"/>
                        </a:rPr>
                        <a:t>Fills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They are not refused. They are stamped.</a:t>
            </a:r>
          </a:p>
          <a:p>
            <a:pPr>
              <a:lnSpc>
                <a:spcPct val="126000"/>
              </a:lnSpc>
              <a:spcBef>
                <a:spcPts val="0"/>
              </a:spcBef>
              <a:spcAft>
                <a:spcPts val="900"/>
              </a:spcAft>
            </a:pPr>
            <a:r>
              <a:rPr sz="1100" b="0" i="0">
                <a:solidFill>
                  <a:srgbClr val="1C1C1E"/>
                </a:solidFill>
                <a:latin typeface="Calibri"/>
              </a:rPr>
              <a:t>Back-filling is the right answer for drawing a curve, for an explicitly retrospective backtest, for showing a history to a person —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genuinely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 a different act, with a different error, and doing it silently would hide which was done.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7</a:t>
            </a:r>
          </a:p>
        </p:txBody>
      </p:sp>
      <p:sp>
        <p:nvSpPr>
          <p:cNvPr id="5" name="TextBox 4"/>
          <p:cNvSpPr txBox="1"/>
          <p:nvPr/>
        </p:nvSpPr>
        <p:spPr>
          <a:xfrm>
            <a:off x="1005840" y="2478024"/>
            <a:ext cx="6169584" cy="1188720"/>
          </a:xfrm>
          <a:prstGeom prst="rect">
            <a:avLst/>
          </a:prstGeom>
          <a:noFill/>
        </p:spPr>
        <p:txBody>
          <a:bodyPr wrap="square" lIns="0" rIns="0" tIns="0" bIns="0" anchor="t">
            <a:spAutoFit/>
          </a:bodyPr>
          <a:lstStyle/>
          <a:p>
            <a:pPr algn="l">
              <a:spcBef>
                <a:spcPts val="0"/>
              </a:spcBef>
              <a:spcAft>
                <a:spcPts val="0"/>
              </a:spcAft>
            </a:pPr>
            <a:r>
              <a:rPr sz="2600" b="0" i="0">
                <a:solidFill>
                  <a:srgbClr val="FFFFFF"/>
                </a:solidFill>
                <a:latin typeface="Georgia"/>
              </a:rPr>
              <a:t>Evidence, and Six Questions from One Traversal</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An append-only chain, a semiring per question, and the universal object that makes them one computation.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Why there is no audit log</a:t>
            </a:r>
          </a:p>
          <a:p>
            <a:pPr>
              <a:lnSpc>
                <a:spcPct val="115000"/>
              </a:lnSpc>
              <a:spcBef>
                <a:spcPts val="0"/>
              </a:spcBef>
              <a:spcAft>
                <a:spcPts val="700"/>
              </a:spcAft>
            </a:pPr>
            <a:r>
              <a:rPr sz="1150" b="0" i="0">
                <a:solidFill>
                  <a:srgbClr val="F6E6E9"/>
                </a:solidFill>
                <a:latin typeface="Calibri"/>
              </a:rPr>
              <a:t>The chain, and what verification means</a:t>
            </a:r>
          </a:p>
          <a:p>
            <a:pPr>
              <a:lnSpc>
                <a:spcPct val="115000"/>
              </a:lnSpc>
              <a:spcBef>
                <a:spcPts val="0"/>
              </a:spcBef>
              <a:spcAft>
                <a:spcPts val="700"/>
              </a:spcAft>
            </a:pPr>
            <a:r>
              <a:rPr sz="1150" b="0" i="0">
                <a:solidFill>
                  <a:srgbClr val="F6E6E9"/>
                </a:solidFill>
                <a:latin typeface="Calibri"/>
              </a:rPr>
              <a:t>Six semirings</a:t>
            </a:r>
          </a:p>
          <a:p>
            <a:pPr>
              <a:lnSpc>
                <a:spcPct val="115000"/>
              </a:lnSpc>
              <a:spcBef>
                <a:spcPts val="0"/>
              </a:spcBef>
              <a:spcAft>
                <a:spcPts val="700"/>
              </a:spcAft>
            </a:pPr>
            <a:r>
              <a:rPr sz="1150" b="0" i="0">
                <a:solidFill>
                  <a:srgbClr val="F6E6E9"/>
                </a:solidFill>
                <a:latin typeface="Calibri"/>
              </a:rPr>
              <a:t>The polynomial underneath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IS the audit log — and the consolidation is load-bearing rather than tidy: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is what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parents are a DAG and say what supports what. </a:t>
            </a:r>
            <a:r>
              <a:rPr sz="1050" b="0" i="0">
                <a:solidFill>
                  <a:srgbClr val="1C1C1E"/>
                </a:solidFill>
                <a:latin typeface="Calibri"/>
              </a:rPr>
              <a:t>The seq / prev_hash chain is linear and says what order things happened in — which is what makes deleting a leaf or inserting into the past detectable.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DEFECT THAT LIVED 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where a real defect lived. </a:t>
            </a:r>
            <a:r>
              <a:rPr sz="1050" b="0" i="0">
                <a:solidFill>
                  <a:srgbClr val="1C1C1E"/>
                </a:solidFill>
                <a:latin typeface="Calibri"/>
              </a:rPr>
              <a:t>Verification used to re-link the STORED content hash — which proves the links are intact and says nothing about whether the thing linked is still what was recorded. An edited payload left a chain that verified and a record that lied. The scale suite found it. The unit test that should have found it years earlier was named for payload tampering while actually altering the stored hash: a test passing for a reason other than its name, which is the failure mode a green suite is worst at showing you.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plus</a:t>
                      </a:r>
                    </a:p>
                  </a:txBody>
                  <a:tcPr marL="82296" marR="64008" marT="32004" marB="32004" anchor="ctr">
                    <a:solidFill>
                      <a:srgbClr val="A51C30"/>
                    </a:solidFill>
                  </a:tcPr>
                </a:tc>
                <a:tc>
                  <a:txBody>
                    <a:bodyPr wrap="square"/>
                    <a:lstStyle/>
                    <a:p>
                      <a:pPr algn="l"/>
                      <a:r>
                        <a:rPr sz="1000" b="1">
                          <a:solidFill>
                            <a:srgbClr val="FFFFFF"/>
                          </a:solidFill>
                          <a:latin typeface="Calibri"/>
                        </a:rPr>
                        <a:t>times</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now says so. </a:t>
            </a:r>
            <a:r>
              <a:rPr sz="1050" b="0" i="0">
                <a:solidFill>
                  <a:srgbClr val="1C1C1E"/>
                </a:solidFill>
                <a:latin typeface="Calibri"/>
              </a:rPr>
              <a:t>(max, max) has no annihilating zero — max(0, 5) is 5, not 0 — so it is a commutative idempotent monoid used twice. The practical consequence is worth knowing: a claim resting on a MISSING fact reports the freshness of the facts that are present rather than reporting that it has none. Found by writing the law test, and kept as a test so it is not quietly re-included.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ONE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ℕ[X] — the object the other five are pushed forward from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76479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215798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in the free commutative semiring</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421101"/>
            <a:ext cx="574409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421101"/>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539973"/>
            <a:ext cx="528689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DAGs against five semirings. </a:t>
            </a:r>
            <a:r>
              <a:rPr sz="1050" b="0" i="0">
                <a:solidFill>
                  <a:srgbClr val="1C1C1E"/>
                </a:solidFill>
                <a:latin typeface="Calibri"/>
              </a:rPr>
              <a:t>That turns the claim “the same traversal answers a different question for each” from a design intention into a theorem the suite runs — and L-9 was listed as VACUOUS until ℕ[X] existed to push forward from.</a:t>
            </a:r>
          </a:p>
        </p:txBody>
      </p:sp>
      <p:sp>
        <p:nvSpPr>
          <p:cNvPr id="17" name="TextBox 16"/>
          <p:cNvSpPr txBox="1"/>
          <p:nvPr/>
        </p:nvSpPr>
        <p:spPr>
          <a:xfrm>
            <a:off x="6946824" y="176479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which is why it cannot tell a claim resting on one document from a claim resting on four — and “how corroborated is this” is exactly what a reviewer is asking.</a:t>
            </a:r>
          </a:p>
          <a:p>
            <a:pPr>
              <a:lnSpc>
                <a:spcPct val="126000"/>
              </a:lnSpc>
              <a:spcBef>
                <a:spcPts val="0"/>
              </a:spcBef>
              <a:spcAft>
                <a:spcPts val="0"/>
              </a:spcAft>
            </a:pPr>
            <a:r>
              <a:rPr sz="1100" b="0" i="0">
                <a:solidFill>
                  <a:srgbClr val="1C1C1E"/>
                </a:solidFill>
                <a:latin typeface="Calibri"/>
              </a:rPr>
              <a:t>The same construction now annotates DERIVED FEATURES, where the ingest clock turns out to be a homomorphism into (max, max) rather than a rule somebody could forget.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8</a:t>
            </a:r>
          </a:p>
        </p:txBody>
      </p:sp>
      <p:sp>
        <p:nvSpPr>
          <p:cNvPr id="5" name="TextBox 4"/>
          <p:cNvSpPr txBox="1"/>
          <p:nvPr/>
        </p:nvSpPr>
        <p:spPr>
          <a:xfrm>
            <a:off x="1005840" y="2478024"/>
            <a:ext cx="6169584" cy="1188720"/>
          </a:xfrm>
          <a:prstGeom prst="rect">
            <a:avLst/>
          </a:prstGeom>
          <a:noFill/>
        </p:spPr>
        <p:txBody>
          <a:bodyPr wrap="square" lIns="0" rIns="0" tIns="0" bIns="0" anchor="t">
            <a:spAutoFit/>
          </a:bodyPr>
          <a:lstStyle/>
          <a:p>
            <a:pPr algn="l">
              <a:spcBef>
                <a:spcPts val="0"/>
              </a:spcBef>
              <a:spcAft>
                <a:spcPts val="0"/>
              </a:spcAft>
            </a:pPr>
            <a:r>
              <a:rPr sz="2600" b="0" i="0">
                <a:solidFill>
                  <a:srgbClr val="FFFFFF"/>
                </a:solidFill>
                <a:latin typeface="Georgia"/>
              </a:rPr>
              <a:t>The Laws, and Which of Them Run</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Twenty-one stated, fifteen executable, six not — and the six are named with the reason.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Why a law rather than a test</a:t>
            </a:r>
          </a:p>
          <a:p>
            <a:pPr>
              <a:lnSpc>
                <a:spcPct val="115000"/>
              </a:lnSpc>
              <a:spcBef>
                <a:spcPts val="0"/>
              </a:spcBef>
              <a:spcAft>
                <a:spcPts val="700"/>
              </a:spcAft>
            </a:pPr>
            <a:r>
              <a:rPr sz="1150" b="0" i="0">
                <a:solidFill>
                  <a:srgbClr val="F6E6E9"/>
                </a:solidFill>
                <a:latin typeface="Calibri"/>
              </a:rPr>
              <a:t>What runs today</a:t>
            </a:r>
          </a:p>
          <a:p>
            <a:pPr>
              <a:lnSpc>
                <a:spcPct val="115000"/>
              </a:lnSpc>
              <a:spcBef>
                <a:spcPts val="0"/>
              </a:spcBef>
              <a:spcAft>
                <a:spcPts val="700"/>
              </a:spcAft>
            </a:pPr>
            <a:r>
              <a:rPr sz="1150" b="0" i="0">
                <a:solidFill>
                  <a:srgbClr val="F6E6E9"/>
                </a:solidFill>
                <a:latin typeface="Calibri"/>
              </a:rPr>
              <a:t>What writing them found</a:t>
            </a:r>
          </a:p>
          <a:p>
            <a:pPr>
              <a:lnSpc>
                <a:spcPct val="115000"/>
              </a:lnSpc>
              <a:spcBef>
                <a:spcPts val="0"/>
              </a:spcBef>
              <a:spcAft>
                <a:spcPts val="700"/>
              </a:spcAft>
            </a:pPr>
            <a:r>
              <a:rPr sz="1150" b="0" i="0">
                <a:solidFill>
                  <a:srgbClr val="F6E6E9"/>
                </a:solidFill>
                <a:latin typeface="Calibri"/>
              </a:rPr>
              <a:t>What does not run, and why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 and the test computes whether it still holds.</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15</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7373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7373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5179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was seven of nineteen. </a:t>
            </a:r>
            <a:r>
              <a:rPr sz="1050" b="0" i="0">
                <a:solidFill>
                  <a:srgbClr val="1C1C1E"/>
                </a:solidFill>
                <a:latin typeface="Calibri"/>
              </a:rPr>
              <a:t>The strongest claim this design makes is that the laws are the acceptance criteria, and a claim that is 37% true reads as 100% true to everybody who does not check. The count is now derived from the table's own rows by a test, so it cannot drift the way every other count in the repository has.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fifteen that run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graphicFrame>
        <p:nvGraphicFramePr>
          <p:cNvPr id="10" name="Table 9"/>
          <p:cNvGraphicFramePr>
            <a:graphicFrameLocks noGrp="1"/>
          </p:cNvGraphicFramePr>
          <p:nvPr/>
        </p:nvGraphicFramePr>
        <p:xfrm>
          <a:off x="777240" y="1353312"/>
          <a:ext cx="10637214" cy="4952424"/>
        </p:xfrm>
        <a:graphic>
          <a:graphicData uri="http://schemas.openxmlformats.org/drawingml/2006/table">
            <a:tbl>
              <a:tblPr firstRow="1">
                <a:tableStyleId>{5C22544A-7EE6-4342-B048-85BDC9FD1C3A}</a:tableStyleId>
              </a:tblPr>
              <a:tblGrid>
                <a:gridCol w="822889"/>
                <a:gridCol w="7497435"/>
                <a:gridCol w="2316890"/>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Says</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L-1</a:t>
                      </a:r>
                    </a:p>
                  </a:txBody>
                  <a:tcPr marL="82296" marR="64008" marT="32004" marB="32004" anchor="ctr">
                    <a:solidFill>
                      <a:srgbClr val="FFFFFF"/>
                    </a:solidFill>
                  </a:tcPr>
                </a:tc>
                <a:tc>
                  <a:txBody>
                    <a:bodyPr wrap="square"/>
                    <a:lstStyle/>
                    <a:p>
                      <a:pPr algn="l"/>
                      <a:r>
                        <a:rPr sz="950" b="0">
                          <a:solidFill>
                            <a:srgbClr val="1C1C1E"/>
                          </a:solidFill>
                          <a:latin typeface="Calibri"/>
                        </a:rPr>
                        <a:t>no state is reachable except along declared transitions, from two initial ones</a:t>
                      </a:r>
                    </a:p>
                  </a:txBody>
                  <a:tcPr marL="82296" marR="64008" marT="32004" marB="32004" anchor="ctr">
                    <a:solidFill>
                      <a:srgbClr val="FFFFFF"/>
                    </a:solidFill>
                  </a:tcPr>
                </a:tc>
                <a:tc>
                  <a:txBody>
                    <a:bodyPr wrap="square"/>
                    <a:lstStyle/>
                    <a:p>
                      <a:pPr algn="l"/>
                      <a:r>
                        <a:rPr sz="950" b="0">
                          <a:solidFill>
                            <a:srgbClr val="1C1C1E"/>
                          </a:solidFill>
                          <a:latin typeface="Calibri"/>
                        </a:rPr>
                        <a:t>test_laws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L-2</a:t>
                      </a:r>
                    </a:p>
                  </a:txBody>
                  <a:tcPr marL="82296" marR="64008" marT="32004" marB="32004" anchor="ctr">
                    <a:solidFill>
                      <a:srgbClr val="F6F3EF"/>
                    </a:solidFill>
                  </a:tcPr>
                </a:tc>
                <a:tc>
                  <a:txBody>
                    <a:bodyPr wrap="square"/>
                    <a:lstStyle/>
                    <a:p>
                      <a:pPr algn="l"/>
                      <a:r>
                        <a:rPr sz="950" b="0">
                          <a:solidFill>
                            <a:srgbClr val="1C1C1E"/>
                          </a:solidFill>
                          <a:latin typeface="Calibri"/>
                        </a:rPr>
                        <a:t>hash(manifest(v)) is constant over a version's lifetime</a:t>
                      </a:r>
                    </a:p>
                  </a:txBody>
                  <a:tcPr marL="82296" marR="64008" marT="32004" marB="32004" anchor="ctr">
                    <a:solidFill>
                      <a:srgbClr val="F6F3EF"/>
                    </a:solidFill>
                  </a:tcPr>
                </a:tc>
                <a:tc>
                  <a:txBody>
                    <a:bodyPr wrap="square"/>
                    <a:lstStyle/>
                    <a:p>
                      <a:pPr algn="l"/>
                      <a:r>
                        <a:rPr sz="950" b="0">
                          <a:solidFill>
                            <a:srgbClr val="1C1C1E"/>
                          </a:solidFill>
                          <a:latin typeface="Calibri"/>
                        </a:rPr>
                        <a:t>test_laws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L-3</a:t>
                      </a:r>
                    </a:p>
                  </a:txBody>
                  <a:tcPr marL="82296" marR="64008" marT="32004" marB="32004" anchor="ctr">
                    <a:solidFill>
                      <a:srgbClr val="FFFFFF"/>
                    </a:solidFill>
                  </a:tcPr>
                </a:tc>
                <a:tc>
                  <a:txBody>
                    <a:bodyPr wrap="square"/>
                    <a:lstStyle/>
                    <a:p>
                      <a:pPr algn="l"/>
                      <a:r>
                        <a:rPr sz="950" b="0">
                          <a:solidFill>
                            <a:srgbClr val="1C1C1E"/>
                          </a:solidFill>
                          <a:latin typeface="Calibri"/>
                        </a:rPr>
                        <a:t>a determinism claim is checked by executing twice</a:t>
                      </a:r>
                    </a:p>
                  </a:txBody>
                  <a:tcPr marL="82296" marR="64008" marT="32004" marB="32004" anchor="ctr">
                    <a:solidFill>
                      <a:srgbClr val="FFFFFF"/>
                    </a:solidFill>
                  </a:tcPr>
                </a:tc>
                <a:tc>
                  <a:txBody>
                    <a:bodyPr wrap="square"/>
                    <a:lstStyle/>
                    <a:p>
                      <a:pPr algn="l"/>
                      <a:r>
                        <a:rPr sz="950" b="0">
                          <a:solidFill>
                            <a:srgbClr val="1C1C1E"/>
                          </a:solidFill>
                          <a:latin typeface="Calibri"/>
                        </a:rPr>
                        <a:t>test_laws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L-4</a:t>
                      </a:r>
                    </a:p>
                  </a:txBody>
                  <a:tcPr marL="82296" marR="64008" marT="32004" marB="32004" anchor="ctr">
                    <a:solidFill>
                      <a:srgbClr val="F6F3EF"/>
                    </a:solidFill>
                  </a:tcPr>
                </a:tc>
                <a:tc>
                  <a:txBody>
                    <a:bodyPr wrap="square"/>
                    <a:lstStyle/>
                    <a:p>
                      <a:pPr algn="l"/>
                      <a:r>
                        <a:rPr sz="950" b="0">
                          <a:solidFill>
                            <a:srgbClr val="1C1C1E"/>
                          </a:solidFill>
                          <a:latin typeface="Calibri"/>
                        </a:rPr>
                        <a:t>tiering is monotone in materiality and complexity</a:t>
                      </a:r>
                    </a:p>
                  </a:txBody>
                  <a:tcPr marL="82296" marR="64008" marT="32004" marB="32004" anchor="ctr">
                    <a:solidFill>
                      <a:srgbClr val="F6F3EF"/>
                    </a:solidFill>
                  </a:tcPr>
                </a:tc>
                <a:tc>
                  <a:txBody>
                    <a:bodyPr wrap="square"/>
                    <a:lstStyle/>
                    <a:p>
                      <a:pPr algn="l"/>
                      <a:r>
                        <a:rPr sz="950" b="0">
                          <a:solidFill>
                            <a:srgbClr val="1C1C1E"/>
                          </a:solidFill>
                          <a:latin typeface="Calibri"/>
                        </a:rPr>
                        <a:t>test_risk</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L-5</a:t>
                      </a:r>
                    </a:p>
                  </a:txBody>
                  <a:tcPr marL="82296" marR="64008" marT="32004" marB="32004" anchor="ctr">
                    <a:solidFill>
                      <a:srgbClr val="FFFFFF"/>
                    </a:solidFill>
                  </a:tcPr>
                </a:tc>
                <a:tc>
                  <a:txBody>
                    <a:bodyPr wrap="square"/>
                    <a:lstStyle/>
                    <a:p>
                      <a:pPr algn="l"/>
                      <a:r>
                        <a:rPr sz="950" b="0">
                          <a:solidFill>
                            <a:srgbClr val="1C1C1E"/>
                          </a:solidFill>
                          <a:latin typeface="Calibri"/>
                        </a:rPr>
                        <a:t>the control set is a Galois adjoint of the tier</a:t>
                      </a:r>
                    </a:p>
                  </a:txBody>
                  <a:tcPr marL="82296" marR="64008" marT="32004" marB="32004" anchor="ctr">
                    <a:solidFill>
                      <a:srgbClr val="FFFFFF"/>
                    </a:solidFill>
                  </a:tcPr>
                </a:tc>
                <a:tc>
                  <a:txBody>
                    <a:bodyPr wrap="square"/>
                    <a:lstStyle/>
                    <a:p>
                      <a:pPr algn="l"/>
                      <a:r>
                        <a:rPr sz="950" b="0">
                          <a:solidFill>
                            <a:srgbClr val="1C1C1E"/>
                          </a:solidFill>
                          <a:latin typeface="Calibri"/>
                        </a:rPr>
                        <a:t>test_risk</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L-7</a:t>
                      </a:r>
                    </a:p>
                  </a:txBody>
                  <a:tcPr marL="82296" marR="64008" marT="32004" marB="32004" anchor="ctr">
                    <a:solidFill>
                      <a:srgbClr val="F6F3EF"/>
                    </a:solidFill>
                  </a:tcPr>
                </a:tc>
                <a:tc>
                  <a:txBody>
                    <a:bodyPr wrap="square"/>
                    <a:lstStyle/>
                    <a:p>
                      <a:pPr algn="l"/>
                      <a:r>
                        <a:rPr sz="950" b="0">
                          <a:solidFill>
                            <a:srgbClr val="1C1C1E"/>
                          </a:solidFill>
                          <a:latin typeface="Calibri"/>
                        </a:rPr>
                        <a:t>an alias move requires contract refinement</a:t>
                      </a:r>
                    </a:p>
                  </a:txBody>
                  <a:tcPr marL="82296" marR="64008" marT="32004" marB="32004" anchor="ctr">
                    <a:solidFill>
                      <a:srgbClr val="F6F3EF"/>
                    </a:solidFill>
                  </a:tcPr>
                </a:tc>
                <a:tc>
                  <a:txBody>
                    <a:bodyPr wrap="square"/>
                    <a:lstStyle/>
                    <a:p>
                      <a:pPr algn="l"/>
                      <a:r>
                        <a:rPr sz="950" b="0">
                          <a:solidFill>
                            <a:srgbClr val="1C1C1E"/>
                          </a:solidFill>
                          <a:latin typeface="Calibri"/>
                        </a:rPr>
                        <a:t>aliases.py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L-8</a:t>
                      </a:r>
                    </a:p>
                  </a:txBody>
                  <a:tcPr marL="82296" marR="64008" marT="32004" marB="32004" anchor="ctr">
                    <a:solidFill>
                      <a:srgbClr val="FFFFFF"/>
                    </a:solidFill>
                  </a:tcPr>
                </a:tc>
                <a:tc>
                  <a:txBody>
                    <a:bodyPr wrap="square"/>
                    <a:lstStyle/>
                    <a:p>
                      <a:pPr algn="l"/>
                      <a:r>
                        <a:rPr sz="950" b="0">
                          <a:solidFill>
                            <a:srgbClr val="1C1C1E"/>
                          </a:solidFill>
                          <a:latin typeface="Calibri"/>
                        </a:rPr>
                        <a:t>a regime's translation preserves truth</a:t>
                      </a:r>
                    </a:p>
                  </a:txBody>
                  <a:tcPr marL="82296" marR="64008" marT="32004" marB="32004" anchor="ctr">
                    <a:solidFill>
                      <a:srgbClr val="FFFFFF"/>
                    </a:solidFill>
                  </a:tcPr>
                </a:tc>
                <a:tc>
                  <a:txBody>
                    <a:bodyPr wrap="square"/>
                    <a:lstStyle/>
                    <a:p>
                      <a:pPr algn="l"/>
                      <a:r>
                        <a:rPr sz="950" b="0">
                          <a:solidFill>
                            <a:srgbClr val="1C1C1E"/>
                          </a:solidFill>
                          <a:latin typeface="Calibri"/>
                        </a:rPr>
                        <a:t>regimes/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L-9</a:t>
                      </a:r>
                    </a:p>
                  </a:txBody>
                  <a:tcPr marL="82296" marR="64008" marT="32004" marB="32004" anchor="ctr">
                    <a:solidFill>
                      <a:srgbClr val="F6F3EF"/>
                    </a:solidFill>
                  </a:tcPr>
                </a:tc>
                <a:tc>
                  <a:txBody>
                    <a:bodyPr wrap="square"/>
                    <a:lstStyle/>
                    <a:p>
                      <a:pPr algn="l"/>
                      <a:r>
                        <a:rPr sz="950" b="0">
                          <a:solidFill>
                            <a:srgbClr val="1C1C1E"/>
                          </a:solidFill>
                          <a:latin typeface="Calibri"/>
                        </a:rPr>
                        <a:t>the provenance polynomial is universal</a:t>
                      </a:r>
                    </a:p>
                  </a:txBody>
                  <a:tcPr marL="82296" marR="64008" marT="32004" marB="32004" anchor="ctr">
                    <a:solidFill>
                      <a:srgbClr val="F6F3EF"/>
                    </a:solidFill>
                  </a:tcPr>
                </a:tc>
                <a:tc>
                  <a:txBody>
                    <a:bodyPr wrap="square"/>
                    <a:lstStyle/>
                    <a:p>
                      <a:pPr algn="l"/>
                      <a:r>
                        <a:rPr sz="950" b="0">
                          <a:solidFill>
                            <a:srgbClr val="1C1C1E"/>
                          </a:solidFill>
                          <a:latin typeface="Calibri"/>
                        </a:rPr>
                        <a:t>test_laws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L-10</a:t>
                      </a:r>
                    </a:p>
                  </a:txBody>
                  <a:tcPr marL="82296" marR="64008" marT="32004" marB="32004" anchor="ctr">
                    <a:solidFill>
                      <a:srgbClr val="FFFFFF"/>
                    </a:solidFill>
                  </a:tcPr>
                </a:tc>
                <a:tc>
                  <a:txBody>
                    <a:bodyPr wrap="square"/>
                    <a:lstStyle/>
                    <a:p>
                      <a:pPr algn="l"/>
                      <a:r>
                        <a:rPr sz="950" b="0">
                          <a:solidFill>
                            <a:srgbClr val="1C1C1E"/>
                          </a:solidFill>
                          <a:latin typeface="Calibri"/>
                        </a:rPr>
                        <a:t>the as-of read saturates at the label</a:t>
                      </a:r>
                    </a:p>
                  </a:txBody>
                  <a:tcPr marL="82296" marR="64008" marT="32004" marB="32004" anchor="ctr">
                    <a:solidFill>
                      <a:srgbClr val="FFFFFF"/>
                    </a:solidFill>
                  </a:tcPr>
                </a:tc>
                <a:tc>
                  <a:txBody>
                    <a:bodyPr wrap="square"/>
                    <a:lstStyle/>
                    <a:p>
                      <a:pPr algn="l"/>
                      <a:r>
                        <a:rPr sz="950" b="0">
                          <a:solidFill>
                            <a:srgbClr val="1C1C1E"/>
                          </a:solidFill>
                          <a:latin typeface="Calibri"/>
                        </a:rPr>
                        <a:t>test_laws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L-12</a:t>
                      </a:r>
                    </a:p>
                  </a:txBody>
                  <a:tcPr marL="82296" marR="64008" marT="32004" marB="32004" anchor="ctr">
                    <a:solidFill>
                      <a:srgbClr val="F6F3EF"/>
                    </a:solidFill>
                  </a:tcPr>
                </a:tc>
                <a:tc>
                  <a:txBody>
                    <a:bodyPr wrap="square"/>
                    <a:lstStyle/>
                    <a:p>
                      <a:pPr algn="l"/>
                      <a:r>
                        <a:rPr sz="950" b="0">
                          <a:solidFill>
                            <a:srgbClr val="1C1C1E"/>
                          </a:solidFill>
                          <a:latin typeface="Calibri"/>
                        </a:rPr>
                        <a:t>schema variance: contravariant in, covariant out</a:t>
                      </a:r>
                    </a:p>
                  </a:txBody>
                  <a:tcPr marL="82296" marR="64008" marT="32004" marB="32004" anchor="ctr">
                    <a:solidFill>
                      <a:srgbClr val="F6F3EF"/>
                    </a:solidFill>
                  </a:tcPr>
                </a:tc>
                <a:tc>
                  <a:txBody>
                    <a:bodyPr wrap="square"/>
                    <a:lstStyle/>
                    <a:p>
                      <a:pPr algn="l"/>
                      <a:r>
                        <a:rPr sz="950" b="0">
                          <a:solidFill>
                            <a:srgbClr val="1C1C1E"/>
                          </a:solidFill>
                          <a:latin typeface="Calibri"/>
                        </a:rPr>
                        <a:t>schemas.py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L-16</a:t>
                      </a:r>
                    </a:p>
                  </a:txBody>
                  <a:tcPr marL="82296" marR="64008" marT="32004" marB="32004" anchor="ctr">
                    <a:solidFill>
                      <a:srgbClr val="FFFFFF"/>
                    </a:solidFill>
                  </a:tcPr>
                </a:tc>
                <a:tc>
                  <a:txBody>
                    <a:bodyPr wrap="square"/>
                    <a:lstStyle/>
                    <a:p>
                      <a:pPr algn="l"/>
                      <a:r>
                        <a:rPr sz="950" b="0">
                          <a:solidFill>
                            <a:srgbClr val="1C1C1E"/>
                          </a:solidFill>
                          <a:latin typeface="Calibri"/>
                        </a:rPr>
                        <a:t>no regime obliges and forbids the same term</a:t>
                      </a:r>
                    </a:p>
                  </a:txBody>
                  <a:tcPr marL="82296" marR="64008" marT="32004" marB="32004" anchor="ctr">
                    <a:solidFill>
                      <a:srgbClr val="FFFFFF"/>
                    </a:solidFill>
                  </a:tcPr>
                </a:tc>
                <a:tc>
                  <a:txBody>
                    <a:bodyPr wrap="square"/>
                    <a:lstStyle/>
                    <a:p>
                      <a:pPr algn="l"/>
                      <a:r>
                        <a:rPr sz="950" b="0">
                          <a:solidFill>
                            <a:srgbClr val="1C1C1E"/>
                          </a:solidFill>
                          <a:latin typeface="Calibri"/>
                        </a:rPr>
                        <a:t>regimes/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L-18</a:t>
                      </a:r>
                    </a:p>
                  </a:txBody>
                  <a:tcPr marL="82296" marR="64008" marT="32004" marB="32004" anchor="ctr">
                    <a:solidFill>
                      <a:srgbClr val="F6F3EF"/>
                    </a:solidFill>
                  </a:tcPr>
                </a:tc>
                <a:tc>
                  <a:txBody>
                    <a:bodyPr wrap="square"/>
                    <a:lstStyle/>
                    <a:p>
                      <a:pPr algn="l"/>
                      <a:r>
                        <a:rPr sz="950" b="0">
                          <a:solidFill>
                            <a:srgbClr val="1C1C1E"/>
                          </a:solidFill>
                          <a:latin typeface="Calibri"/>
                        </a:rPr>
                        <a:t>no personal data inline in an evidence node</a:t>
                      </a:r>
                    </a:p>
                  </a:txBody>
                  <a:tcPr marL="82296" marR="64008" marT="32004" marB="32004" anchor="ctr">
                    <a:solidFill>
                      <a:srgbClr val="F6F3EF"/>
                    </a:solidFill>
                  </a:tcPr>
                </a:tc>
                <a:tc>
                  <a:txBody>
                    <a:bodyPr wrap="square"/>
                    <a:lstStyle/>
                    <a:p>
                      <a:pPr algn="l"/>
                      <a:r>
                        <a:rPr sz="950" b="0">
                          <a:solidFill>
                            <a:srgbClr val="1C1C1E"/>
                          </a:solidFill>
                          <a:latin typeface="Calibri"/>
                        </a:rPr>
                        <a:t>evidence/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L-19</a:t>
                      </a:r>
                    </a:p>
                  </a:txBody>
                  <a:tcPr marL="82296" marR="64008" marT="32004" marB="32004" anchor="ctr">
                    <a:solidFill>
                      <a:srgbClr val="FFFFFF"/>
                    </a:solidFill>
                  </a:tcPr>
                </a:tc>
                <a:tc>
                  <a:txBody>
                    <a:bodyPr wrap="square"/>
                    <a:lstStyle/>
                    <a:p>
                      <a:pPr algn="l"/>
                      <a:r>
                        <a:rPr sz="950" b="0">
                          <a:solidFill>
                            <a:srgbClr val="1C1C1E"/>
                          </a:solidFill>
                          <a:latin typeface="Calibri"/>
                        </a:rPr>
                        <a:t>composition is a monoid</a:t>
                      </a:r>
                    </a:p>
                  </a:txBody>
                  <a:tcPr marL="82296" marR="64008" marT="32004" marB="32004" anchor="ctr">
                    <a:solidFill>
                      <a:srgbClr val="FFFFFF"/>
                    </a:solidFill>
                  </a:tcPr>
                </a:tc>
                <a:tc>
                  <a:txBody>
                    <a:bodyPr wrap="square"/>
                    <a:lstStyle/>
                    <a:p>
                      <a:pPr algn="l"/>
                      <a:r>
                        <a:rPr sz="950" b="0">
                          <a:solidFill>
                            <a:srgbClr val="1C1C1E"/>
                          </a:solidFill>
                          <a:latin typeface="Calibri"/>
                        </a:rPr>
                        <a:t>test_composition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L-20</a:t>
                      </a:r>
                    </a:p>
                  </a:txBody>
                  <a:tcPr marL="82296" marR="64008" marT="32004" marB="32004" anchor="ctr">
                    <a:solidFill>
                      <a:srgbClr val="F6F3EF"/>
                    </a:solidFill>
                  </a:tcPr>
                </a:tc>
                <a:tc>
                  <a:txBody>
                    <a:bodyPr wrap="square"/>
                    <a:lstStyle/>
                    <a:p>
                      <a:pPr algn="l"/>
                      <a:r>
                        <a:rPr sz="950" b="0">
                          <a:solidFill>
                            <a:srgbClr val="1C1C1E"/>
                          </a:solidFill>
                          <a:latin typeface="Calibri"/>
                        </a:rPr>
                        <a:t>schemas form a lattice; independent edits commute</a:t>
                      </a:r>
                    </a:p>
                  </a:txBody>
                  <a:tcPr marL="82296" marR="64008" marT="32004" marB="32004" anchor="ctr">
                    <a:solidFill>
                      <a:srgbClr val="F6F3EF"/>
                    </a:solidFill>
                  </a:tcPr>
                </a:tc>
                <a:tc>
                  <a:txBody>
                    <a:bodyPr wrap="square"/>
                    <a:lstStyle/>
                    <a:p>
                      <a:pPr algn="l"/>
                      <a:r>
                        <a:rPr sz="950" b="0">
                          <a:solidFill>
                            <a:srgbClr val="1C1C1E"/>
                          </a:solidFill>
                          <a:latin typeface="Calibri"/>
                        </a:rPr>
                        <a:t>test_laws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L-21</a:t>
                      </a:r>
                    </a:p>
                  </a:txBody>
                  <a:tcPr marL="82296" marR="64008" marT="32004" marB="32004" anchor="ctr">
                    <a:solidFill>
                      <a:srgbClr val="FFFFFF"/>
                    </a:solidFill>
                  </a:tcPr>
                </a:tc>
                <a:tc>
                  <a:txBody>
                    <a:bodyPr wrap="square"/>
                    <a:lstStyle/>
                    <a:p>
                      <a:pPr algn="l"/>
                      <a:r>
                        <a:rPr sz="950" b="0">
                          <a:solidFill>
                            <a:srgbClr val="1C1C1E"/>
                          </a:solidFill>
                          <a:latin typeface="Calibri"/>
                        </a:rPr>
                        <a:t>an input_to edge type-checks or does not exist</a:t>
                      </a:r>
                    </a:p>
                  </a:txBody>
                  <a:tcPr marL="82296" marR="64008" marT="32004" marB="32004" anchor="ctr">
                    <a:solidFill>
                      <a:srgbClr val="FFFFFF"/>
                    </a:solidFill>
                  </a:tcPr>
                </a:tc>
                <a:tc>
                  <a:txBody>
                    <a:bodyPr wrap="square"/>
                    <a:lstStyle/>
                    <a:p>
                      <a:pPr algn="l"/>
                      <a:r>
                        <a:rPr sz="950" b="0">
                          <a:solidFill>
                            <a:srgbClr val="1C1C1E"/>
                          </a:solidFill>
                          <a:latin typeface="Calibri"/>
                        </a:rPr>
                        <a:t>test_laws</a:t>
                      </a:r>
                    </a:p>
                  </a:txBody>
                  <a:tcPr marL="82296" marR="64008" marT="32004" marB="32004" anchor="ctr">
                    <a:solidFill>
                      <a:srgbClr val="FFFF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THE RETURN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writing them found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L-W8 · a shipped example was wrong</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Hull–White calibration warrant declared its parameters came from an artifact while its verb produced them. Two more examples were wrong the same way. Found on the day the law was written.</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L-W11 and L-W13 · two more, the same day</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A VaR backtest that never said what it was calibrated as of, and both LLM examples naming a model family rather than a build. Three of thirteen shipped warrants were quietly under-specified.</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L-1 · baselined was reachable by no edge</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Which looked like a violation and was not: it is a second INITIAL object, because an imported record must not enter through draft or the register would imply evidence was asserted when it was not.</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L-9 · freshness is not a semiring</a:t>
            </a:r>
          </a:p>
        </p:txBody>
      </p:sp>
      <p:sp>
        <p:nvSpPr>
          <p:cNvPr id="29" name="TextBox 28"/>
          <p:cNvSpPr txBox="1"/>
          <p:nvPr/>
        </p:nvSpPr>
        <p:spPr>
          <a:xfrm>
            <a:off x="996695"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(max, max) has no annihilating zero. So the universal property does not reach it, and a claim resting on a missing fact reports the freshness of the facts that are present.</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L-20 · the design note was backwards</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4A4F57"/>
                </a:solidFill>
                <a:latin typeface="Calibri"/>
              </a:rPr>
              <a:t>It said a refinement is “at a type no wider”. Standing in for something requires accepting AT LEAST what it accepted. The code had it right; the prose did not.</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L-10 · a per-model document quoted a global count</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provenance lens reported the PLATFORM-WIDE chain length inside each model's document, so every model's document changed whenever anything happened anywhere.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THE HONEST GAP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six that do not run,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graphicFrame>
        <p:nvGraphicFramePr>
          <p:cNvPr id="10" name="Table 9"/>
          <p:cNvGraphicFramePr>
            <a:graphicFrameLocks noGrp="1"/>
          </p:cNvGraphicFramePr>
          <p:nvPr/>
        </p:nvGraphicFramePr>
        <p:xfrm>
          <a:off x="777240" y="1353312"/>
          <a:ext cx="10637214" cy="2693416"/>
        </p:xfrm>
        <a:graphic>
          <a:graphicData uri="http://schemas.openxmlformats.org/drawingml/2006/table">
            <a:tbl>
              <a:tblPr firstRow="1">
                <a:tableStyleId>{5C22544A-7EE6-4342-B048-85BDC9FD1C3A}</a:tableStyleId>
              </a:tblPr>
              <a:tblGrid>
                <a:gridCol w="2925828"/>
                <a:gridCol w="7711386"/>
              </a:tblGrid>
              <a:tr h="329184">
                <a:tc>
                  <a:txBody>
                    <a:bodyPr wrap="square"/>
                    <a:lstStyle/>
                    <a:p>
                      <a:pPr algn="l"/>
                      <a:r>
                        <a:rPr sz="1000" b="1">
                          <a:solidFill>
                            <a:srgbClr val="FFFFFF"/>
                          </a:solidFill>
                          <a:latin typeface="Calibri"/>
                        </a:rPr>
                        <a:t>Law</a:t>
                      </a:r>
                    </a:p>
                  </a:txBody>
                  <a:tcPr marL="82296" marR="64008" marT="32004" marB="32004" anchor="ctr">
                    <a:solidFill>
                      <a:srgbClr val="A51C30"/>
                    </a:solidFill>
                  </a:tcPr>
                </a:tc>
                <a:tc>
                  <a:txBody>
                    <a:bodyPr wrap="square"/>
                    <a:lstStyle/>
                    <a:p>
                      <a:pPr algn="l"/>
                      <a:r>
                        <a:rPr sz="1000" b="1">
                          <a:solidFill>
                            <a:srgbClr val="FFFFFF"/>
                          </a:solidFill>
                          <a:latin typeface="Calibri"/>
                        </a:rPr>
                        <a:t>Why not</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1000" b="0">
                          <a:solidFill>
                            <a:srgbClr val="1C1C1E"/>
                          </a:solidFill>
                          <a:latin typeface="Calibri"/>
                        </a:rPr>
                        <a:t>needs a replay that checks a document's quantitative claims against the register; the replay exists for validation episodes, not documents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L-11  lens laws</a:t>
                      </a:r>
                    </a:p>
                  </a:txBody>
                  <a:tcPr marL="82296" marR="64008" marT="32004" marB="32004" anchor="ctr">
                    <a:solidFill>
                      <a:srgbClr val="F6F3EF"/>
                    </a:solidFill>
                  </a:tcPr>
                </a:tc>
                <a:tc>
                  <a:txBody>
                    <a:bodyPr wrap="square"/>
                    <a:lstStyle/>
                    <a:p>
                      <a:pPr algn="l"/>
                      <a:r>
                        <a:rPr sz="1000" b="0">
                          <a:solidFill>
                            <a:srgbClr val="1C1C1E"/>
                          </a:solidFill>
                          <a:latin typeface="Calibri"/>
                        </a:rPr>
                        <a:t>needs a `put`. The compiler regenerates whole documents, so there is no round trip — and building one to satisfy a law would be building the wrong thing</a:t>
                      </a:r>
                    </a:p>
                  </a:txBody>
                  <a:tcPr marL="82296" marR="64008" marT="32004" marB="32004" anchor="ctr">
                    <a:solidFill>
                      <a:srgbClr val="F6F3EF"/>
                    </a:solidFill>
                  </a:tcPr>
                </a:tc>
              </a:tr>
              <a:tr h="347472">
                <a:tc>
                  <a:txBody>
                    <a:bodyPr wrap="square"/>
                    <a:lstStyle/>
                    <a:p>
                      <a:pPr algn="l"/>
                      <a:r>
                        <a:rPr sz="10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1000" b="0">
                          <a:solidFill>
                            <a:srgbClr val="1C1C1E"/>
                          </a:solidFill>
                          <a:latin typeface="Calibri"/>
                        </a:rPr>
                        <a:t>no consistency radius is computed anywhere</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1000" b="0">
                          <a:solidFill>
                            <a:srgbClr val="1C1C1E"/>
                          </a:solidFill>
                          <a:latin typeface="Calibri"/>
                        </a:rPr>
                        <a:t>typed composition gives it something to quantify over; the aggregate ρ and composite warrants are not built</a:t>
                      </a:r>
                    </a:p>
                  </a:txBody>
                  <a:tcPr marL="82296" marR="64008" marT="32004" marB="32004" anchor="ctr">
                    <a:solidFill>
                      <a:srgbClr val="F6F3EF"/>
                    </a:solidFill>
                  </a:tcPr>
                </a:tc>
              </a:tr>
              <a:tr h="347472">
                <a:tc>
                  <a:txBody>
                    <a:bodyPr wrap="square"/>
                    <a:lstStyle/>
                    <a:p>
                      <a:pPr algn="l"/>
                      <a:r>
                        <a:rPr sz="1000" b="1">
                          <a:solidFill>
                            <a:srgbClr val="A51C30"/>
                          </a:solidFill>
                          <a:latin typeface="Calibri"/>
                        </a:rPr>
                        <a:t>L-15  fibration completeness</a:t>
                      </a:r>
                    </a:p>
                  </a:txBody>
                  <a:tcPr marL="82296" marR="64008" marT="32004" marB="32004" anchor="ctr">
                    <a:solidFill>
                      <a:srgbClr val="FFFFFF"/>
                    </a:solidFill>
                  </a:tcPr>
                </a:tc>
                <a:tc>
                  <a:txBody>
                    <a:bodyPr wrap="square"/>
                    <a:lstStyle/>
                    <a:p>
                      <a:pPr algn="l"/>
                      <a:r>
                        <a:rPr sz="1000" b="0">
                          <a:solidFill>
                            <a:srgbClr val="1C1C1E"/>
                          </a:solidFill>
                          <a:latin typeface="Calibri"/>
                        </a:rPr>
                        <a:t>needs a plugin loader that refuses to boot on a partial fibre; model classes are strings on the register today</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L-17  contract–serving agreement</a:t>
                      </a:r>
                    </a:p>
                  </a:txBody>
                  <a:tcPr marL="82296" marR="64008" marT="32004" marB="32004" anchor="ctr">
                    <a:solidFill>
                      <a:srgbClr val="F6F3EF"/>
                    </a:solidFill>
                  </a:tcPr>
                </a:tc>
                <a:tc>
                  <a:txBody>
                    <a:bodyPr wrap="square"/>
                    <a:lstStyle/>
                    <a:p>
                      <a:pPr algn="l"/>
                      <a:r>
                        <a:rPr sz="1000" b="0">
                          <a:solidFill>
                            <a:srgbClr val="1C1C1E"/>
                          </a:solidFill>
                          <a:latin typeface="Calibri"/>
                        </a:rPr>
                        <a:t>needs an online store to compare against. Half exists: serving_namespaces computes what serving MUST read</a:t>
                      </a:r>
                    </a:p>
                  </a:txBody>
                  <a:tcPr marL="82296" marR="64008" marT="32004" marB="32004" anchor="ctr">
                    <a:solidFill>
                      <a:srgbClr val="F6F3EF"/>
                    </a:solidFill>
                  </a:tcPr>
                </a:tc>
              </a:tr>
            </a:tbl>
          </a:graphicData>
        </a:graphic>
      </p:graphicFrame>
      <p:sp>
        <p:nvSpPr>
          <p:cNvPr id="11" name="Rectangle 10"/>
          <p:cNvSpPr/>
          <p:nvPr/>
        </p:nvSpPr>
        <p:spPr>
          <a:xfrm>
            <a:off x="777240" y="43027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027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21632"/>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law that is stated but not executed did not prevent anything. </a:t>
            </a:r>
            <a:r>
              <a:rPr sz="1050" b="0" i="0">
                <a:solidFill>
                  <a:srgbClr val="1C1C1E"/>
                </a:solidFill>
                <a:latin typeface="Calibri"/>
              </a:rPr>
              <a:t>Which is why they are listed here rather than only in a table nobody opens — and why the test file that runs the other fifteen carries this same list, so the gap is visible where somebody is already looking.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9</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The Shape of the Whole Thing</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Model, feature, featureset, warrant, parameters — and how they meet.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five words</a:t>
            </a:r>
          </a:p>
          <a:p>
            <a:pPr>
              <a:lnSpc>
                <a:spcPct val="115000"/>
              </a:lnSpc>
              <a:spcBef>
                <a:spcPts val="0"/>
              </a:spcBef>
              <a:spcAft>
                <a:spcPts val="700"/>
              </a:spcAft>
            </a:pPr>
            <a:r>
              <a:rPr sz="1150" b="0" i="0">
                <a:solidFill>
                  <a:srgbClr val="F6E6E9"/>
                </a:solidFill>
                <a:latin typeface="Calibri"/>
              </a:rPr>
              <a:t>The process end to end</a:t>
            </a:r>
          </a:p>
          <a:p>
            <a:pPr>
              <a:lnSpc>
                <a:spcPct val="115000"/>
              </a:lnSpc>
              <a:spcBef>
                <a:spcPts val="0"/>
              </a:spcBef>
              <a:spcAft>
                <a:spcPts val="700"/>
              </a:spcAft>
            </a:pPr>
            <a:r>
              <a:rPr sz="1150" b="0" i="0">
                <a:solidFill>
                  <a:srgbClr val="F6E6E9"/>
                </a:solidFill>
                <a:latin typeface="Calibri"/>
              </a:rPr>
              <a:t>What each object is for</a:t>
            </a:r>
          </a:p>
          <a:p>
            <a:pPr>
              <a:lnSpc>
                <a:spcPct val="115000"/>
              </a:lnSpc>
              <a:spcBef>
                <a:spcPts val="0"/>
              </a:spcBef>
              <a:spcAft>
                <a:spcPts val="700"/>
              </a:spcAft>
            </a:pPr>
            <a:r>
              <a:rPr sz="1150" b="0" i="0">
                <a:solidFill>
                  <a:srgbClr val="F6E6E9"/>
                </a:solidFill>
                <a:latin typeface="Calibri"/>
              </a:rPr>
              <a:t>Where the pins are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words, and how they hold together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353312"/>
            <a:ext cx="10637215" cy="115214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5720" cy="115214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77240" y="1481328"/>
            <a:ext cx="10637215" cy="566928"/>
          </a:xfrm>
          <a:prstGeom prst="rect">
            <a:avLst/>
          </a:prstGeom>
          <a:noFill/>
        </p:spPr>
        <p:txBody>
          <a:bodyPr wrap="square" lIns="0" rIns="0" tIns="0" bIns="0" anchor="t">
            <a:spAutoFit/>
          </a:bodyPr>
          <a:lstStyle/>
          <a:p>
            <a:pPr algn="ctr">
              <a:spcBef>
                <a:spcPts val="0"/>
              </a:spcBef>
              <a:spcAft>
                <a:spcPts val="0"/>
              </a:spcAft>
            </a:pPr>
            <a:r>
              <a:rPr sz="3000" b="1" i="0">
                <a:solidFill>
                  <a:srgbClr val="A51C30"/>
                </a:solidFill>
                <a:latin typeface="Calibri"/>
              </a:rPr>
              <a:t>f</a:t>
            </a:r>
            <a:r>
              <a:rPr sz="3000" b="0" i="0">
                <a:solidFill>
                  <a:srgbClr val="1C1C1E"/>
                </a:solidFill>
                <a:latin typeface="Calibri"/>
              </a:rPr>
              <a:t> :  </a:t>
            </a:r>
            <a:r>
              <a:rPr sz="3000" b="1" i="0">
                <a:solidFill>
                  <a:srgbClr val="A51C30"/>
                </a:solidFill>
                <a:latin typeface="Calibri"/>
              </a:rPr>
              <a:t>P</a:t>
            </a:r>
            <a:r>
              <a:rPr sz="3000" b="0" i="0">
                <a:solidFill>
                  <a:srgbClr val="1C1C1E"/>
                </a:solidFill>
                <a:latin typeface="Calibri"/>
              </a:rPr>
              <a:t>  ⊗  </a:t>
            </a:r>
            <a:r>
              <a:rPr sz="3000" b="1" i="0">
                <a:solidFill>
                  <a:srgbClr val="A51C30"/>
                </a:solidFill>
                <a:latin typeface="Calibri"/>
              </a:rPr>
              <a:t>X</a:t>
            </a:r>
            <a:r>
              <a:rPr sz="3000" b="0" i="0">
                <a:solidFill>
                  <a:srgbClr val="1C1C1E"/>
                </a:solidFill>
                <a:latin typeface="Calibri"/>
              </a:rPr>
              <a:t>  →  </a:t>
            </a:r>
            <a:r>
              <a:rPr sz="3000" b="1" i="0">
                <a:solidFill>
                  <a:srgbClr val="A51C30"/>
                </a:solidFill>
                <a:latin typeface="Calibri"/>
              </a:rPr>
              <a:t>D(Y)</a:t>
            </a:r>
          </a:p>
        </p:txBody>
      </p:sp>
      <p:sp>
        <p:nvSpPr>
          <p:cNvPr id="13" name="TextBox 12"/>
          <p:cNvSpPr txBox="1"/>
          <p:nvPr/>
        </p:nvSpPr>
        <p:spPr>
          <a:xfrm>
            <a:off x="1005840"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f  </a:t>
            </a:r>
            <a:r>
              <a:rPr sz="950" b="1" i="0">
                <a:solidFill>
                  <a:srgbClr val="1C1C1E"/>
                </a:solidFill>
                <a:latin typeface="Calibri"/>
              </a:rPr>
              <a:t>the KERNEL</a:t>
            </a:r>
          </a:p>
          <a:p>
            <a:pPr algn="ctr">
              <a:spcBef>
                <a:spcPts val="0"/>
              </a:spcBef>
              <a:spcAft>
                <a:spcPts val="0"/>
              </a:spcAft>
            </a:pPr>
            <a:r>
              <a:rPr sz="819" b="0" i="0">
                <a:solidFill>
                  <a:srgbClr val="4A4F57"/>
                </a:solidFill>
                <a:latin typeface="Calibri"/>
              </a:rPr>
              <a:t>the shape of the computation</a:t>
            </a:r>
          </a:p>
        </p:txBody>
      </p:sp>
      <p:sp>
        <p:nvSpPr>
          <p:cNvPr id="14" name="TextBox 13"/>
          <p:cNvSpPr txBox="1"/>
          <p:nvPr/>
        </p:nvSpPr>
        <p:spPr>
          <a:xfrm>
            <a:off x="3550843"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P  </a:t>
            </a:r>
            <a:r>
              <a:rPr sz="950" b="1" i="0">
                <a:solidFill>
                  <a:srgbClr val="1C1C1E"/>
                </a:solidFill>
                <a:latin typeface="Calibri"/>
              </a:rPr>
              <a:t>the PARAMETERS</a:t>
            </a:r>
          </a:p>
          <a:p>
            <a:pPr algn="ctr">
              <a:spcBef>
                <a:spcPts val="0"/>
              </a:spcBef>
              <a:spcAft>
                <a:spcPts val="0"/>
              </a:spcAft>
            </a:pPr>
            <a:r>
              <a:rPr sz="819" b="0" i="0">
                <a:solidFill>
                  <a:srgbClr val="4A4F57"/>
                </a:solidFill>
                <a:latin typeface="Calibri"/>
              </a:rPr>
              <a:t>the numbers it runs with</a:t>
            </a:r>
          </a:p>
        </p:txBody>
      </p:sp>
      <p:sp>
        <p:nvSpPr>
          <p:cNvPr id="15" name="TextBox 14"/>
          <p:cNvSpPr txBox="1"/>
          <p:nvPr/>
        </p:nvSpPr>
        <p:spPr>
          <a:xfrm>
            <a:off x="6095847"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X  </a:t>
            </a:r>
            <a:r>
              <a:rPr sz="950" b="1" i="0">
                <a:solidFill>
                  <a:srgbClr val="1C1C1E"/>
                </a:solidFill>
                <a:latin typeface="Calibri"/>
              </a:rPr>
              <a:t>the FEATURES</a:t>
            </a:r>
          </a:p>
          <a:p>
            <a:pPr algn="ctr">
              <a:spcBef>
                <a:spcPts val="0"/>
              </a:spcBef>
              <a:spcAft>
                <a:spcPts val="0"/>
              </a:spcAft>
            </a:pPr>
            <a:r>
              <a:rPr sz="819" b="0" i="0">
                <a:solidFill>
                  <a:srgbClr val="4A4F57"/>
                </a:solidFill>
                <a:latin typeface="Calibri"/>
              </a:rPr>
              <a:t>what it reads</a:t>
            </a:r>
          </a:p>
        </p:txBody>
      </p:sp>
      <p:sp>
        <p:nvSpPr>
          <p:cNvPr id="16" name="TextBox 15"/>
          <p:cNvSpPr txBox="1"/>
          <p:nvPr/>
        </p:nvSpPr>
        <p:spPr>
          <a:xfrm>
            <a:off x="8640851"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D(Y)  </a:t>
            </a:r>
            <a:r>
              <a:rPr sz="950" b="1" i="0">
                <a:solidFill>
                  <a:srgbClr val="1C1C1E"/>
                </a:solidFill>
                <a:latin typeface="Calibri"/>
              </a:rPr>
              <a:t>the OUTPUT</a:t>
            </a:r>
          </a:p>
          <a:p>
            <a:pPr algn="ctr">
              <a:spcBef>
                <a:spcPts val="0"/>
              </a:spcBef>
              <a:spcAft>
                <a:spcPts val="0"/>
              </a:spcAft>
            </a:pPr>
            <a:r>
              <a:rPr sz="819" b="0" i="0">
                <a:solidFill>
                  <a:srgbClr val="4A4F57"/>
                </a:solidFill>
                <a:latin typeface="Calibri"/>
              </a:rPr>
              <a:t>a distribution, not a number</a:t>
            </a:r>
          </a:p>
        </p:txBody>
      </p:sp>
      <p:sp>
        <p:nvSpPr>
          <p:cNvPr id="17" name="Rectangle 16"/>
          <p:cNvSpPr/>
          <p:nvPr/>
        </p:nvSpPr>
        <p:spPr>
          <a:xfrm>
            <a:off x="777240"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905256"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Model</a:t>
            </a:r>
          </a:p>
          <a:p>
            <a:pPr>
              <a:lnSpc>
                <a:spcPct val="118000"/>
              </a:lnSpc>
              <a:spcBef>
                <a:spcPts val="0"/>
              </a:spcBef>
              <a:spcAft>
                <a:spcPts val="700"/>
              </a:spcAft>
            </a:pPr>
            <a:r>
              <a:rPr sz="860" b="0" i="0">
                <a:solidFill>
                  <a:srgbClr val="1C1C1E"/>
                </a:solidFill>
                <a:latin typeface="Calibri"/>
              </a:rPr>
              <a:t>The register entry: what this is for, who owns it, what tier it sits at.</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the code, and not the numbers. Those are its versions and its parameters.</a:t>
            </a:r>
          </a:p>
        </p:txBody>
      </p:sp>
      <p:sp>
        <p:nvSpPr>
          <p:cNvPr id="20" name="Rectangle 19"/>
          <p:cNvSpPr/>
          <p:nvPr/>
        </p:nvSpPr>
        <p:spPr>
          <a:xfrm>
            <a:off x="2933943"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2933943"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3061959"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Kernel</a:t>
            </a:r>
          </a:p>
          <a:p>
            <a:pPr>
              <a:lnSpc>
                <a:spcPct val="118000"/>
              </a:lnSpc>
              <a:spcBef>
                <a:spcPts val="0"/>
              </a:spcBef>
              <a:spcAft>
                <a:spcPts val="700"/>
              </a:spcAft>
            </a:pPr>
            <a:r>
              <a:rPr sz="860" b="0" i="0">
                <a:solidFill>
                  <a:srgbClr val="1C1C1E"/>
                </a:solidFill>
                <a:latin typeface="Calibri"/>
              </a:rPr>
              <a:t>One immutable version of the model — the morphism f : P ⊗ X → D(Y), pinned by digest.</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changed by training. Training picks a point in P; the shape stays.</a:t>
            </a:r>
          </a:p>
        </p:txBody>
      </p:sp>
      <p:sp>
        <p:nvSpPr>
          <p:cNvPr id="23" name="Rectangle 22"/>
          <p:cNvSpPr/>
          <p:nvPr/>
        </p:nvSpPr>
        <p:spPr>
          <a:xfrm>
            <a:off x="5090647"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5090647"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5218663"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Feature</a:t>
            </a:r>
          </a:p>
          <a:p>
            <a:pPr>
              <a:lnSpc>
                <a:spcPct val="118000"/>
              </a:lnSpc>
              <a:spcBef>
                <a:spcPts val="0"/>
              </a:spcBef>
              <a:spcAft>
                <a:spcPts val="700"/>
              </a:spcAft>
            </a:pPr>
            <a:r>
              <a:rPr sz="860" b="0" i="0">
                <a:solidFill>
                  <a:srgbClr val="1C1C1E"/>
                </a:solidFill>
                <a:latin typeface="Calibri"/>
              </a:rPr>
              <a:t>A meaning with an entity, a type, a shape and an owner. A featureset assembles them into X.</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 column. A column is where the values happen to sit today.</a:t>
            </a:r>
          </a:p>
        </p:txBody>
      </p:sp>
      <p:sp>
        <p:nvSpPr>
          <p:cNvPr id="26" name="Rectangle 25"/>
          <p:cNvSpPr/>
          <p:nvPr/>
        </p:nvSpPr>
        <p:spPr>
          <a:xfrm>
            <a:off x="7247351"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247351"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7375367"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Parameters</a:t>
            </a:r>
          </a:p>
          <a:p>
            <a:pPr>
              <a:lnSpc>
                <a:spcPct val="118000"/>
              </a:lnSpc>
              <a:spcBef>
                <a:spcPts val="0"/>
              </a:spcBef>
              <a:spcAft>
                <a:spcPts val="700"/>
              </a:spcAft>
            </a:pPr>
            <a:r>
              <a:rPr sz="860" b="0" i="0">
                <a:solidFill>
                  <a:srgbClr val="1C1C1E"/>
                </a:solidFill>
                <a:latin typeface="Calibri"/>
              </a:rPr>
              <a:t>An inhabitant of P: the coefficients, weights or constants the kernel runs with.</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 new model. A retrain gives a new parameter set, not a new version.</a:t>
            </a:r>
          </a:p>
        </p:txBody>
      </p:sp>
      <p:sp>
        <p:nvSpPr>
          <p:cNvPr id="29" name="Rectangle 28"/>
          <p:cNvSpPr/>
          <p:nvPr/>
        </p:nvSpPr>
        <p:spPr>
          <a:xfrm>
            <a:off x="9404055"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Rectangle 29"/>
          <p:cNvSpPr/>
          <p:nvPr/>
        </p:nvSpPr>
        <p:spPr>
          <a:xfrm>
            <a:off x="9404055"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532071"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Warrant</a:t>
            </a:r>
          </a:p>
          <a:p>
            <a:pPr>
              <a:lnSpc>
                <a:spcPct val="118000"/>
              </a:lnSpc>
              <a:spcBef>
                <a:spcPts val="0"/>
              </a:spcBef>
              <a:spcAft>
                <a:spcPts val="700"/>
              </a:spcAft>
            </a:pPr>
            <a:r>
              <a:rPr sz="860" b="0" i="0">
                <a:solidFill>
                  <a:srgbClr val="1C1C1E"/>
                </a:solidFill>
                <a:latin typeface="Calibri"/>
              </a:rPr>
              <a:t>A signed, expiring document: this kernel, at that point in P, over that data, by whom, until when.</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an execution. MAYA issues it; an engine acts on it and MAYA never runs anything.</a:t>
            </a:r>
          </a:p>
        </p:txBody>
      </p:sp>
      <p:sp>
        <p:nvSpPr>
          <p:cNvPr id="32" name="Rectangle 31"/>
          <p:cNvSpPr/>
          <p:nvPr/>
        </p:nvSpPr>
        <p:spPr>
          <a:xfrm>
            <a:off x="777240" y="5248656"/>
            <a:ext cx="10637215" cy="7315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Rectangle 32"/>
          <p:cNvSpPr/>
          <p:nvPr/>
        </p:nvSpPr>
        <p:spPr>
          <a:xfrm>
            <a:off x="777240" y="5248656"/>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4" name="TextBox 33"/>
          <p:cNvSpPr txBox="1"/>
          <p:nvPr/>
        </p:nvSpPr>
        <p:spPr>
          <a:xfrm>
            <a:off x="1014983" y="5367528"/>
            <a:ext cx="10180015" cy="5120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How they correlate. </a:t>
            </a:r>
            <a:r>
              <a:rPr sz="1050" b="0" i="0">
                <a:solidFill>
                  <a:srgbClr val="1C1C1E"/>
                </a:solidFill>
                <a:latin typeface="Calibri"/>
              </a:rPr>
              <a:t>A MODEL owns versions; each version is a KERNEL. A FEATURESET presents X. A fit inhabits P and returns PARAMETERS. A WARRANT is what names a kernel, a point in P and a source of X together — </a:t>
            </a:r>
            <a:r>
              <a:rPr sz="1050" b="1" i="0">
                <a:solidFill>
                  <a:srgbClr val="1C1C1E"/>
                </a:solidFill>
                <a:latin typeface="Calibri"/>
              </a:rPr>
              <a:t>which is why it is the only one of the five that can be acted 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pinned Delta version</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an inhabitant of P comes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 append-only, hash-linked, and verified by re-deriving each node rather than re-reading it</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object is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graphicFrame>
        <p:nvGraphicFramePr>
          <p:cNvPr id="10" name="Table 9"/>
          <p:cNvGraphicFramePr>
            <a:graphicFrameLocks noGrp="1"/>
          </p:cNvGraphicFramePr>
          <p:nvPr/>
        </p:nvGraphicFramePr>
        <p:xfrm>
          <a:off x="777240" y="1353312"/>
          <a:ext cx="10637214" cy="2546350"/>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Delta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what may be run, by whom, until when, on what data</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an inhabitant of P: the numbers a fit produced</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119118"/>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19118"/>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237990"/>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the single structural decision this platform makes over and over, and it is why </a:t>
            </a:r>
            <a:r>
              <a:rPr sz="1050" b="1" i="0">
                <a:solidFill>
                  <a:srgbClr val="1C1C1E"/>
                </a:solidFill>
                <a:latin typeface="Calibri"/>
              </a:rPr>
              <a:t>the same identifier resolves to the same bytes a year later.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clocks, never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956840" cy="156088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56088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event_ts    when the fact was TRUE in the world</a:t>
            </a:r>
          </a:p>
          <a:p>
            <a:pPr>
              <a:lnSpc>
                <a:spcPct val="134000"/>
              </a:lnSpc>
              <a:spcBef>
                <a:spcPts val="0"/>
              </a:spcBef>
              <a:spcAft>
                <a:spcPts val="0"/>
              </a:spcAft>
            </a:pPr>
            <a:r>
              <a:rPr sz="1000" b="0" i="0">
                <a:solidFill>
                  <a:srgbClr val="1C1C1E"/>
                </a:solidFill>
                <a:latin typeface="Consolas"/>
              </a:rPr>
              <a:t>ingest_ts   when the platform LEARNED it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point-in-time rule:</a:t>
            </a:r>
          </a:p>
          <a:p>
            <a:pPr>
              <a:lnSpc>
                <a:spcPct val="134000"/>
              </a:lnSpc>
              <a:spcBef>
                <a:spcPts val="0"/>
              </a:spcBef>
              <a:spcAft>
                <a:spcPts val="0"/>
              </a:spcAft>
            </a:pPr>
            <a:r>
              <a:rPr sz="1000" b="0" i="0">
                <a:solidFill>
                  <a:srgbClr val="1C1C1E"/>
                </a:solidFill>
                <a:latin typeface="Consolas"/>
              </a:rPr>
              <a:t>    event_ts  &lt;= label_ts</a:t>
            </a:r>
          </a:p>
          <a:p>
            <a:pPr>
              <a:lnSpc>
                <a:spcPct val="134000"/>
              </a:lnSpc>
              <a:spcBef>
                <a:spcPts val="0"/>
              </a:spcBef>
              <a:spcAft>
                <a:spcPts val="0"/>
              </a:spcAft>
            </a:pPr>
            <a:r>
              <a:rPr sz="1000" b="0" i="0">
                <a:solidFill>
                  <a:srgbClr val="1C1C1E"/>
                </a:solidFill>
                <a:latin typeface="Consolas"/>
              </a:rPr>
              <a:t>    ingest_ts &lt;= as_of</a:t>
            </a:r>
          </a:p>
        </p:txBody>
      </p:sp>
      <p:sp>
        <p:nvSpPr>
          <p:cNvPr id="13" name="TextBox 12"/>
          <p:cNvSpPr txBox="1"/>
          <p:nvPr/>
        </p:nvSpPr>
        <p:spPr>
          <a:xfrm>
            <a:off x="777240" y="3151936"/>
            <a:ext cx="5956840" cy="2011680"/>
          </a:xfrm>
          <a:prstGeom prst="rect">
            <a:avLst/>
          </a:prstGeom>
          <a:noFill/>
        </p:spPr>
        <p:txBody>
          <a:bodyPr wrap="square" lIns="0" rIns="0" tIns="0" bIns="0" anchor="t">
            <a:spAutoFit/>
          </a:bodyPr>
          <a:lstStyle/>
          <a:p>
            <a:pPr algn="l">
              <a:lnSpc>
                <a:spcPct val="126000"/>
              </a:lnSpc>
              <a:spcBef>
                <a:spcPts val="0"/>
              </a:spcBef>
              <a:spcAft>
                <a:spcPts val="800"/>
              </a:spcAft>
            </a:pPr>
            <a:r>
              <a:rPr sz="1150" b="0" i="0">
                <a:solidFill>
                  <a:srgbClr val="1C1C1E"/>
                </a:solidFill>
                <a:latin typeface="Calibri"/>
              </a:rPr>
              <a:t>“What did we know, and when did we know it” is a different question from “what was true”, and a training set built without both answers only the second.</a:t>
            </a:r>
          </a:p>
          <a:p>
            <a:pPr>
              <a:lnSpc>
                <a:spcPct val="124000"/>
              </a:lnSpc>
              <a:spcBef>
                <a:spcPts val="0"/>
              </a:spcBef>
              <a:spcAft>
                <a:spcPts val="0"/>
              </a:spcAft>
            </a:pPr>
            <a:r>
              <a:rPr sz="1100" b="0" i="0">
                <a:solidFill>
                  <a:srgbClr val="4A4F57"/>
                </a:solidFill>
                <a:latin typeface="Calibri"/>
              </a:rPr>
              <a:t>A row missing either clock is refused at the upload rather than two layers later during assembly — which is where it stops being fixable.</a:t>
            </a:r>
          </a:p>
        </p:txBody>
      </p:sp>
      <p:sp>
        <p:nvSpPr>
          <p:cNvPr id="14" name="TextBox 13"/>
          <p:cNvSpPr txBox="1"/>
          <p:nvPr/>
        </p:nvSpPr>
        <p:spPr>
          <a:xfrm>
            <a:off x="7159569" y="1353312"/>
            <a:ext cx="4254886"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Where the clocks decide the answer</a:t>
            </a:r>
          </a:p>
        </p:txBody>
      </p:sp>
      <p:graphicFrame>
        <p:nvGraphicFramePr>
          <p:cNvPr id="15" name="Table 14"/>
          <p:cNvGraphicFramePr>
            <a:graphicFrameLocks noGrp="1"/>
          </p:cNvGraphicFramePr>
          <p:nvPr/>
        </p:nvGraphicFramePr>
        <p:xfrm>
          <a:off x="7159569" y="1737360"/>
          <a:ext cx="4254885" cy="2658856"/>
        </p:xfrm>
        <a:graphic>
          <a:graphicData uri="http://schemas.openxmlformats.org/drawingml/2006/table">
            <a:tbl>
              <a:tblPr>
                <a:tableStyleId>{5C22544A-7EE6-4342-B048-85BDC9FD1C3A}</a:tableStyleId>
              </a:tblPr>
              <a:tblGrid>
                <a:gridCol w="1172264"/>
                <a:gridCol w="3082621"/>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Assembly</a:t>
                      </a:r>
                    </a:p>
                  </a:txBody>
                  <a:tcPr marL="82296" marR="64008" marT="32004" marB="32004" anchor="ctr">
                    <a:solidFill>
                      <a:srgbClr val="FFFFFF"/>
                    </a:solidFill>
                  </a:tcPr>
                </a:tc>
                <a:tc>
                  <a:txBody>
                    <a:bodyPr wrap="square"/>
                    <a:lstStyle/>
                    <a:p>
                      <a:pPr algn="l"/>
                      <a:r>
                        <a:rPr sz="950" b="0">
                          <a:solidFill>
                            <a:srgbClr val="1C1C1E"/>
                          </a:solidFill>
                          <a:latin typeface="Calibri"/>
                        </a:rPr>
                        <a:t>the latest fact true by the label date AND known by as_of</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Normalisation</a:t>
                      </a:r>
                    </a:p>
                  </a:txBody>
                  <a:tcPr marL="82296" marR="64008" marT="32004" marB="32004" anchor="ctr">
                    <a:solidFill>
                      <a:srgbClr val="F6F3EF"/>
                    </a:solidFill>
                  </a:tcPr>
                </a:tc>
                <a:tc>
                  <a:txBody>
                    <a:bodyPr wrap="square"/>
                    <a:lstStyle/>
                    <a:p>
                      <a:pPr algn="l"/>
                      <a:r>
                        <a:rPr sz="950" b="0">
                          <a:solidFill>
                            <a:srgbClr val="1C1C1E"/>
                          </a:solidFill>
                          <a:latin typeface="Calibri"/>
                        </a:rPr>
                        <a:t>statistics fitted only from what was knowable then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Derived features</a:t>
                      </a:r>
                    </a:p>
                  </a:txBody>
                  <a:tcPr marL="82296" marR="64008" marT="32004" marB="32004" anchor="ctr">
                    <a:solidFill>
                      <a:srgbClr val="FFFFFF"/>
                    </a:solidFill>
                  </a:tcPr>
                </a:tc>
                <a:tc>
                  <a:txBody>
                    <a:bodyPr wrap="square"/>
                    <a:lstStyle/>
                    <a:p>
                      <a:pPr algn="l"/>
                      <a:r>
                        <a:rPr sz="950" b="0">
                          <a:solidFill>
                            <a:srgbClr val="1C1C1E"/>
                          </a:solidFill>
                          <a:latin typeface="Calibri"/>
                        </a:rPr>
                        <a:t>ingest_ts(Z) = max over the inputs</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Alignment</a:t>
                      </a:r>
                    </a:p>
                  </a:txBody>
                  <a:tcPr marL="82296" marR="64008" marT="32004" marB="32004" anchor="ctr">
                    <a:solidFill>
                      <a:srgbClr val="F6F3EF"/>
                    </a:solidFill>
                  </a:tcPr>
                </a:tc>
                <a:tc>
                  <a:txBody>
                    <a:bodyPr wrap="square"/>
                    <a:lstStyle/>
                    <a:p>
                      <a:pPr algn="l"/>
                      <a:r>
                        <a:rPr sz="950" b="0">
                          <a:solidFill>
                            <a:srgbClr val="1C1C1E"/>
                          </a:solidFill>
                          <a:latin typeface="Calibri"/>
                        </a:rPr>
                        <a:t>a back-filled value carries the clock it became knowable at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Telemetry</a:t>
                      </a:r>
                    </a:p>
                  </a:txBody>
                  <a:tcPr marL="82296" marR="64008" marT="32004" marB="32004" anchor="ctr">
                    <a:solidFill>
                      <a:srgbClr val="FFFFFF"/>
                    </a:solidFill>
                  </a:tcPr>
                </a:tc>
                <a:tc>
                  <a:txBody>
                    <a:bodyPr wrap="square"/>
                    <a:lstStyle/>
                    <a:p>
                      <a:pPr algn="l"/>
                      <a:r>
                        <a:rPr sz="950" b="0">
                          <a:solidFill>
                            <a:srgbClr val="1C1C1E"/>
                          </a:solidFill>
                          <a:latin typeface="Calibri"/>
                        </a:rPr>
                        <a:t>a review of last quarter sees last quarter's population</a:t>
                      </a:r>
                    </a:p>
                  </a:txBody>
                  <a:tcPr marL="82296" marR="64008" marT="32004" marB="32004" anchor="ctr">
                    <a:solidFill>
                      <a:srgbClr val="FFFF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10</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What a Feature Is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Five things it is not, and what each one costs when you assume otherwise.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Not always a number</a:t>
            </a:r>
          </a:p>
          <a:p>
            <a:pPr>
              <a:lnSpc>
                <a:spcPct val="115000"/>
              </a:lnSpc>
              <a:spcBef>
                <a:spcPts val="0"/>
              </a:spcBef>
              <a:spcAft>
                <a:spcPts val="700"/>
              </a:spcAft>
            </a:pPr>
            <a:r>
              <a:rPr sz="1150" b="0" i="0">
                <a:solidFill>
                  <a:srgbClr val="F6E6E9"/>
                </a:solidFill>
                <a:latin typeface="Calibri"/>
              </a:rPr>
              <a:t>Derived features</a:t>
            </a:r>
          </a:p>
          <a:p>
            <a:pPr>
              <a:lnSpc>
                <a:spcPct val="115000"/>
              </a:lnSpc>
              <a:spcBef>
                <a:spcPts val="0"/>
              </a:spcBef>
              <a:spcAft>
                <a:spcPts val="700"/>
              </a:spcAft>
            </a:pPr>
            <a:r>
              <a:rPr sz="1150" b="0" i="0">
                <a:solidFill>
                  <a:srgbClr val="F6E6E9"/>
                </a:solidFill>
                <a:latin typeface="Calibri"/>
              </a:rPr>
              <a:t>The leakage rules</a:t>
            </a:r>
          </a:p>
          <a:p>
            <a:pPr>
              <a:lnSpc>
                <a:spcPct val="115000"/>
              </a:lnSpc>
              <a:spcBef>
                <a:spcPts val="0"/>
              </a:spcBef>
              <a:spcAft>
                <a:spcPts val="700"/>
              </a:spcAft>
            </a:pPr>
            <a:r>
              <a:rPr sz="1150" b="0" i="0">
                <a:solidFill>
                  <a:srgbClr val="F6E6E9"/>
                </a:solidFill>
                <a:latin typeface="Calibri"/>
              </a:rPr>
              <a:t>Sealing and ownership</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Resolution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sp>
        <p:nvSpPr>
          <p:cNvPr id="10" name="Rectangle 9"/>
          <p:cNvSpPr/>
          <p:nvPr/>
        </p:nvSpPr>
        <p:spPr>
          <a:xfrm>
            <a:off x="777240" y="1353312"/>
            <a:ext cx="5318607"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a:t>
            </a:r>
          </a:p>
          <a:p>
            <a:pPr>
              <a:lnSpc>
                <a:spcPct val="134000"/>
              </a:lnSpc>
              <a:spcBef>
                <a:spcPts val="0"/>
              </a:spcBef>
              <a:spcAft>
                <a:spcPts val="0"/>
              </a:spcAft>
            </a:pPr>
            <a:r>
              <a:rPr sz="900" b="0" i="0">
                <a:solidFill>
                  <a:srgbClr val="7A7F87"/>
                </a:solidFill>
                <a:latin typeface="Consolas"/>
              </a:rPr>
              <a:t># the row's own clock. whitelisted at the AST,</a:t>
            </a:r>
          </a:p>
          <a:p>
            <a:pPr>
              <a:lnSpc>
                <a:spcPct val="134000"/>
              </a:lnSpc>
              <a:spcBef>
                <a:spcPts val="0"/>
              </a:spcBef>
              <a:spcAft>
                <a:spcPts val="0"/>
              </a:spcAft>
            </a:pPr>
            <a:r>
              <a:rPr sz="900" b="0" i="0">
                <a:solidFill>
                  <a:srgbClr val="7A7F87"/>
                </a:solidFill>
                <a:latin typeface="Consolas"/>
              </a:rPr>
              <a:t># so what cannot be expressed cannot be smuggled in.</a:t>
            </a:r>
          </a:p>
        </p:txBody>
      </p:sp>
      <p:sp>
        <p:nvSpPr>
          <p:cNvPr id="13" name="Rectangle 12"/>
          <p:cNvSpPr/>
          <p:nvPr/>
        </p:nvSpPr>
        <p:spPr>
          <a:xfrm>
            <a:off x="777240" y="3216264"/>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216264"/>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335136"/>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141524"/>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the transitive closure</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a:t>
                      </a:r>
                    </a:p>
                  </a:txBody>
                  <a:tcPr marL="82296" marR="64008" marT="32004" marB="32004" anchor="ctr">
                    <a:solidFill>
                      <a:srgbClr val="F6F3EF"/>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744096"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featureset's LABEL</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427536"/>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They are one idea applied four times.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That combination is the point. A parent that cannot move is a parent worth building on, and evolution moves to a child where it stays visible.</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11</a:t>
            </a:r>
          </a:p>
        </p:txBody>
      </p:sp>
      <p:sp>
        <p:nvSpPr>
          <p:cNvPr id="5" name="TextBox 4"/>
          <p:cNvSpPr txBox="1"/>
          <p:nvPr/>
        </p:nvSpPr>
        <p:spPr>
          <a:xfrm>
            <a:off x="1005840" y="2375611"/>
            <a:ext cx="6169584" cy="1188720"/>
          </a:xfrm>
          <a:prstGeom prst="rect">
            <a:avLst/>
          </a:prstGeom>
          <a:noFill/>
        </p:spPr>
        <p:txBody>
          <a:bodyPr wrap="square" lIns="0" rIns="0" tIns="0" bIns="0" anchor="t">
            <a:spAutoFit/>
          </a:bodyPr>
          <a:lstStyle/>
          <a:p>
            <a:pPr algn="l">
              <a:spcBef>
                <a:spcPts val="0"/>
              </a:spcBef>
              <a:spcAft>
                <a:spcPts val="0"/>
              </a:spcAft>
            </a:pPr>
            <a:r>
              <a:rPr sz="4000" b="0" i="0">
                <a:solidFill>
                  <a:srgbClr val="FFFFFF"/>
                </a:solidFill>
                <a:latin typeface="Georgia"/>
              </a:rPr>
              <a:t>What a Featureset Is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schema, versions that fill it, and one fold that does both.</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Schema and constituents</a:t>
            </a:r>
          </a:p>
          <a:p>
            <a:pPr>
              <a:lnSpc>
                <a:spcPct val="115000"/>
              </a:lnSpc>
              <a:spcBef>
                <a:spcPts val="0"/>
              </a:spcBef>
              <a:spcAft>
                <a:spcPts val="700"/>
              </a:spcAft>
            </a:pPr>
            <a:r>
              <a:rPr sz="1150" b="0" i="0">
                <a:solidFill>
                  <a:srgbClr val="F6E6E9"/>
                </a:solidFill>
                <a:latin typeface="Calibri"/>
              </a:rPr>
              <a:t>The composition monoid</a:t>
            </a:r>
          </a:p>
          <a:p>
            <a:pPr>
              <a:lnSpc>
                <a:spcPct val="115000"/>
              </a:lnSpc>
              <a:spcBef>
                <a:spcPts val="0"/>
              </a:spcBef>
              <a:spcAft>
                <a:spcPts val="700"/>
              </a:spcAft>
            </a:pPr>
            <a:r>
              <a:rPr sz="1150" b="0" i="0">
                <a:solidFill>
                  <a:srgbClr val="F6E6E9"/>
                </a:solidFill>
                <a:latin typeface="Calibri"/>
              </a:rPr>
              <a:t>Rolling forward</a:t>
            </a:r>
          </a:p>
          <a:p>
            <a:pPr>
              <a:lnSpc>
                <a:spcPct val="115000"/>
              </a:lnSpc>
              <a:spcBef>
                <a:spcPts val="0"/>
              </a:spcBef>
              <a:spcAft>
                <a:spcPts val="700"/>
              </a:spcAft>
            </a:pPr>
            <a:r>
              <a:rPr sz="1150" b="0" i="0">
                <a:solidFill>
                  <a:srgbClr val="F6E6E9"/>
                </a:solidFill>
                <a:latin typeface="Calibri"/>
              </a:rPr>
              <a:t>Retrieval policy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Rectangle 9"/>
          <p:cNvSpPr/>
          <p:nvPr/>
        </p:nvSpPr>
        <p:spPr>
          <a:xfrm>
            <a:off x="777240" y="1353312"/>
            <a:ext cx="5956840"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numeric</a:t>
            </a:r>
          </a:p>
          <a:p>
            <a:pPr>
              <a:lnSpc>
                <a:spcPct val="134000"/>
              </a:lnSpc>
              <a:spcBef>
                <a:spcPts val="0"/>
              </a:spcBef>
              <a:spcAft>
                <a:spcPts val="0"/>
              </a:spcAft>
            </a:pPr>
            <a:r>
              <a:rPr sz="950" b="0" i="0">
                <a:solidFill>
                  <a:srgbClr val="1C1C1E"/>
                </a:solidFill>
                <a:latin typeface="Consolas"/>
              </a:rPr>
              <a:t>         us_index: numeric</a:t>
            </a:r>
          </a:p>
          <a:p>
            <a:pPr>
              <a:lnSpc>
                <a:spcPct val="134000"/>
              </a:lnSpc>
              <a:spcBef>
                <a:spcPts val="0"/>
              </a:spcBef>
              <a:spcAft>
                <a:spcPts val="0"/>
              </a:spcAft>
            </a:pPr>
            <a:r>
              <a:rPr sz="950" b="0" i="0">
                <a:solidFill>
                  <a:srgbClr val="1C1C1E"/>
                </a:solidFill>
                <a:latin typeface="Consolas"/>
              </a:rPr>
              <a:t>         daily_index: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p:txBody>
      </p:sp>
      <p:sp>
        <p:nvSpPr>
          <p:cNvPr id="13" name="TextBox 12"/>
          <p:cNvSpPr txBox="1"/>
          <p:nvPr/>
        </p:nvSpPr>
        <p:spPr>
          <a:xfrm>
            <a:off x="777240" y="3309602"/>
            <a:ext cx="5956840" cy="164592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@v2 draws on a different feature entirely, and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not a version of this featureset — it is a different one, or it is a model change, and the register decides which so nobody has to remember.</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Delta location</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that named views without pinning them would resolve to different bytes next month with its digest unchanged — which is adversarial finding C-2, </a:t>
            </a:r>
            <a:r>
              <a:rPr sz="1050" b="1" i="0">
                <a:solidFill>
                  <a:srgbClr val="1C1C1E"/>
                </a:solidFill>
                <a:latin typeface="Calibri"/>
              </a:rPr>
              <a:t>one level out from the view.</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TextBox 39"/>
          <p:cNvSpPr txBox="1"/>
          <p:nvPr/>
        </p:nvSpPr>
        <p:spPr>
          <a:xfrm>
            <a:off x="777240" y="4219956"/>
            <a:ext cx="10637215" cy="40233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 parent is sealed, and that is the point. </a:t>
            </a:r>
            <a:r>
              <a:rPr sz="1000" b="0" i="0">
                <a:solidFill>
                  <a:srgbClr val="4A4F57"/>
                </a:solidFill>
                <a:latin typeface="Calibri"/>
              </a:rPr>
              <a:t>A sealed feature takes no amendment and can still be composed from, so a parent that cannot move is a parent worth building on — and the change lives in the child, where a reviewer sees it.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1000"/>
              </a:spcAft>
            </a:pPr>
            <a:r>
              <a:rPr sz="1000" b="0" i="0">
                <a:solidFill>
                  <a:srgbClr val="4A4F57"/>
                </a:solidFill>
                <a:latin typeface="Calibri"/>
              </a:rPr>
              <a:t>That is the only rule there is. If a parent could beat a child, naming a parent would be an act of surrender; if the order did not matter, ‘combine these two’ would be ambiguous whenever they disagreed.</a:t>
            </a:r>
          </a:p>
          <a:p>
            <a:pPr>
              <a:lnSpc>
                <a:spcPct val="124000"/>
              </a:lnSpc>
              <a:spcBef>
                <a:spcPts val="0"/>
              </a:spcBef>
              <a:spcAft>
                <a:spcPts val="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Modifying something other things are built 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sp>
        <p:nvSpPr>
          <p:cNvPr id="10" name="Rectangle 9"/>
          <p:cNvSpPr/>
          <p:nvPr/>
        </p:nvSpPr>
        <p:spPr>
          <a:xfrm>
            <a:off x="777240"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Amend it</a:t>
            </a:r>
          </a:p>
        </p:txBody>
      </p:sp>
      <p:sp>
        <p:nvSpPr>
          <p:cNvPr id="14" name="TextBox 13"/>
          <p:cNvSpPr txBox="1"/>
          <p:nvPr/>
        </p:nvSpPr>
        <p:spPr>
          <a:xfrm>
            <a:off x="996695"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4A4F57"/>
                </a:solidFill>
                <a:latin typeface="Calibri"/>
              </a:rPr>
              <a:t>Changes the definition and advances its version. Allowed while the feature is open, and every child records which version it composed against.</a:t>
            </a:r>
          </a:p>
        </p:txBody>
      </p:sp>
      <p:sp>
        <p:nvSpPr>
          <p:cNvPr id="15" name="Rectangle 14"/>
          <p:cNvSpPr/>
          <p:nvPr/>
        </p:nvSpPr>
        <p:spPr>
          <a:xfrm>
            <a:off x="3486835"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86835"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06291"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3706291"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 it</a:t>
            </a:r>
          </a:p>
        </p:txBody>
      </p:sp>
      <p:sp>
        <p:nvSpPr>
          <p:cNvPr id="19" name="TextBox 18"/>
          <p:cNvSpPr txBox="1"/>
          <p:nvPr/>
        </p:nvSpPr>
        <p:spPr>
          <a:xfrm>
            <a:off x="3706291"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amendment, no further versions, no change of owner — and still composable. A parent that cannot move is a parent worth building on.</a:t>
            </a:r>
          </a:p>
        </p:txBody>
      </p:sp>
      <p:sp>
        <p:nvSpPr>
          <p:cNvPr id="20" name="Rectangle 19"/>
          <p:cNvSpPr/>
          <p:nvPr/>
        </p:nvSpPr>
        <p:spPr>
          <a:xfrm>
            <a:off x="6196431"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196431"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15887"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6415887"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Compose a child</a:t>
            </a:r>
          </a:p>
        </p:txBody>
      </p:sp>
      <p:sp>
        <p:nvSpPr>
          <p:cNvPr id="24" name="TextBox 23"/>
          <p:cNvSpPr txBox="1"/>
          <p:nvPr/>
        </p:nvSpPr>
        <p:spPr>
          <a:xfrm>
            <a:off x="6415887"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way to change a sealed thing. The change lives where a reviewer sees it, beside the parent it departs from.</a:t>
            </a:r>
          </a:p>
        </p:txBody>
      </p:sp>
      <p:sp>
        <p:nvSpPr>
          <p:cNvPr id="25" name="Rectangle 24"/>
          <p:cNvSpPr/>
          <p:nvPr/>
        </p:nvSpPr>
        <p:spPr>
          <a:xfrm>
            <a:off x="8906027"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06027"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25483"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4</a:t>
            </a:r>
          </a:p>
        </p:txBody>
      </p:sp>
      <p:sp>
        <p:nvSpPr>
          <p:cNvPr id="28" name="TextBox 27"/>
          <p:cNvSpPr txBox="1"/>
          <p:nvPr/>
        </p:nvSpPr>
        <p:spPr>
          <a:xfrm>
            <a:off x="9125483"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Roll forward</a:t>
            </a:r>
          </a:p>
        </p:txBody>
      </p:sp>
      <p:sp>
        <p:nvSpPr>
          <p:cNvPr id="29" name="TextBox 28"/>
          <p:cNvSpPr txBox="1"/>
          <p:nvPr/>
        </p:nvSpPr>
        <p:spPr>
          <a:xfrm>
            <a:off x="9125483"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For a featureset: mint a version re-resolved to the newest view versions, with a diff naming every slot that moved.</a:t>
            </a:r>
          </a:p>
        </p:txBody>
      </p:sp>
      <p:sp>
        <p:nvSpPr>
          <p:cNvPr id="30" name="Rectangle 29"/>
          <p:cNvSpPr/>
          <p:nvPr/>
        </p:nvSpPr>
        <p:spPr>
          <a:xfrm>
            <a:off x="777240" y="3529584"/>
            <a:ext cx="10637215" cy="9326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29584"/>
            <a:ext cx="45720" cy="9326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1014983" y="3648456"/>
            <a:ext cx="10180015" cy="731520"/>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 But it is never silent, because a stable name over moving contents is the failure this platform was built around.</a:t>
            </a:r>
          </a:p>
        </p:txBody>
      </p:sp>
      <p:sp>
        <p:nvSpPr>
          <p:cNvPr id="33" name="TextBox 32"/>
          <p:cNvSpPr txBox="1"/>
          <p:nvPr/>
        </p:nvSpPr>
        <p:spPr>
          <a:xfrm>
            <a:off x="777240" y="4626864"/>
            <a:ext cx="10637215" cy="3657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Which is why sealing and composing are the same idea from two sides. </a:t>
            </a:r>
            <a:r>
              <a:rPr sz="1000" b="0" i="0">
                <a:solidFill>
                  <a:srgbClr val="4A4F57"/>
                </a:solidFill>
                <a:latin typeface="Calibri"/>
              </a:rPr>
              <a:t>A sealed parent cannot drift, because the amendment that would move it is refused — so sealing turns a promise about stability into a property of the object.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Composition: one fold, two objects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60</a:t>
            </a:r>
          </a:p>
        </p:txBody>
      </p:sp>
      <p:sp>
        <p:nvSpPr>
          <p:cNvPr id="10" name="Rectangle 9"/>
          <p:cNvSpPr/>
          <p:nvPr/>
        </p:nvSpPr>
        <p:spPr>
          <a:xfrm>
            <a:off x="777240" y="1353312"/>
            <a:ext cx="5744096"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compose([a, b, c])  =  merge(merge(a, b), c)</a:t>
            </a:r>
          </a:p>
          <a:p>
            <a:pPr>
              <a:lnSpc>
                <a:spcPct val="134000"/>
              </a:lnSpc>
              <a:spcBef>
                <a:spcPts val="0"/>
              </a:spcBef>
              <a:spcAft>
                <a:spcPts val="0"/>
              </a:spcAft>
            </a:pPr>
            <a:r>
              <a:rPr sz="950" b="0" i="0">
                <a:solidFill>
                  <a:srgbClr val="1C1C1E"/>
                </a:solidFill>
                <a:latin typeface="Consolas"/>
              </a:rPr>
              <a:t>                       then the object's OWN operations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merge is associative;  {} is its identity</a:t>
            </a:r>
          </a:p>
          <a:p>
            <a:pPr>
              <a:lnSpc>
                <a:spcPct val="134000"/>
              </a:lnSpc>
              <a:spcBef>
                <a:spcPts val="0"/>
              </a:spcBef>
              <a:spcAft>
                <a:spcPts val="0"/>
              </a:spcAft>
            </a:pPr>
            <a:r>
              <a:rPr sz="950" b="0" i="0">
                <a:solidFill>
                  <a:srgbClr val="1C1C1E"/>
                </a:solidFill>
                <a:latin typeface="Consolas"/>
              </a:rPr>
              <a:t>  ⇒ composition is a MONOID</a:t>
            </a:r>
          </a:p>
          <a:p>
            <a:pPr>
              <a:lnSpc>
                <a:spcPct val="134000"/>
              </a:lnSpc>
              <a:spcBef>
                <a:spcPts val="0"/>
              </a:spcBef>
              <a:spcAft>
                <a:spcPts val="0"/>
              </a:spcAft>
            </a:pPr>
            <a:r>
              <a:rPr sz="950" b="0" i="0">
                <a:solidFill>
                  <a:srgbClr val="1C1C1E"/>
                </a:solidFill>
                <a:latin typeface="Consolas"/>
              </a:rPr>
              <a:t>  ⇒ 'a combination of features is a feature'</a:t>
            </a:r>
          </a:p>
          <a:p>
            <a:pPr>
              <a:lnSpc>
                <a:spcPct val="134000"/>
              </a:lnSpc>
              <a:spcBef>
                <a:spcPts val="0"/>
              </a:spcBef>
              <a:spcAft>
                <a:spcPts val="0"/>
              </a:spcAft>
            </a:pPr>
            <a:r>
              <a:rPr sz="950" b="0" i="0">
                <a:solidFill>
                  <a:srgbClr val="1C1C1E"/>
                </a:solidFill>
                <a:latin typeface="Consolas"/>
              </a:rPr>
              <a:t>     is a statement, not an aspiration</a:t>
            </a:r>
          </a:p>
        </p:txBody>
      </p:sp>
      <p:sp>
        <p:nvSpPr>
          <p:cNvPr id="13" name="TextBox 12"/>
          <p:cNvSpPr txBox="1"/>
          <p:nvPr/>
        </p:nvSpPr>
        <p:spPr>
          <a:xfrm>
            <a:off x="777240" y="3291314"/>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Left to right, the rightmost wins, and an object’s own operations are applied last — because if a parent could override a child, naming a parent would be an act of surrender.</a:t>
            </a:r>
          </a:p>
          <a:p>
            <a:pPr>
              <a:lnSpc>
                <a:spcPct val="125000"/>
              </a:lnSpc>
              <a:spcBef>
                <a:spcPts val="0"/>
              </a:spcBef>
              <a:spcAft>
                <a:spcPts val="0"/>
              </a:spcAft>
            </a:pPr>
            <a:r>
              <a:rPr sz="1100" b="0" i="0">
                <a:solidFill>
                  <a:srgbClr val="4A4F57"/>
                </a:solidFill>
                <a:latin typeface="Calibri"/>
              </a:rPr>
              <a:t>Inheriting from one parent and combining several are the same operation at different arities, so there is one mechanism and inheritance is the one-parent case.</a:t>
            </a:r>
          </a:p>
        </p:txBody>
      </p:sp>
      <p:sp>
        <p:nvSpPr>
          <p:cNvPr id="14" name="TextBox 13"/>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operation is total</a:t>
            </a:r>
          </a:p>
        </p:txBody>
      </p:sp>
      <p:graphicFrame>
        <p:nvGraphicFramePr>
          <p:cNvPr id="15" name="Table 14"/>
          <p:cNvGraphicFramePr>
            <a:graphicFrameLocks noGrp="1"/>
          </p:cNvGraphicFramePr>
          <p:nvPr/>
        </p:nvGraphicFramePr>
        <p:xfrm>
          <a:off x="6946824" y="1719072"/>
          <a:ext cx="4467629" cy="2287827"/>
        </p:xfrm>
        <a:graphic>
          <a:graphicData uri="http://schemas.openxmlformats.org/drawingml/2006/table">
            <a:tbl>
              <a:tblPr firstRow="1">
                <a:tableStyleId>{5C22544A-7EE6-4342-B048-85BDC9FD1C3A}</a:tableStyleId>
              </a:tblPr>
              <a:tblGrid>
                <a:gridCol w="1624592"/>
                <a:gridCol w="2843037"/>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drop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a drop that quietly does nothing leaves a child differing from what its author wrote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add of something present</a:t>
                      </a:r>
                    </a:p>
                  </a:txBody>
                  <a:tcPr marL="82296" marR="64008" marT="32004" marB="32004" anchor="ctr">
                    <a:solidFill>
                      <a:srgbClr val="F6F3EF"/>
                    </a:solidFill>
                  </a:tcPr>
                </a:tc>
                <a:tc>
                  <a:txBody>
                    <a:bodyPr wrap="square"/>
                    <a:lstStyle/>
                    <a:p>
                      <a:pPr algn="l"/>
                      <a:r>
                        <a:rPr sz="900" b="0">
                          <a:solidFill>
                            <a:srgbClr val="1C1C1E"/>
                          </a:solidFill>
                          <a:latin typeface="Calibri"/>
                        </a:rPr>
                        <a:t>say override — the two read differently to a reviewer and should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override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say add</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a cycle</a:t>
                      </a:r>
                    </a:p>
                  </a:txBody>
                  <a:tcPr marL="82296" marR="64008" marT="32004" marB="32004" anchor="ctr">
                    <a:solidFill>
                      <a:srgbClr val="F6F3EF"/>
                    </a:solidFill>
                  </a:tcPr>
                </a:tc>
                <a:tc>
                  <a:txBody>
                    <a:bodyPr wrap="square"/>
                    <a:lstStyle/>
                    <a:p>
                      <a:pPr algn="l"/>
                      <a:r>
                        <a:rPr sz="900" b="0">
                          <a:solidFill>
                            <a:srgbClr val="1C1C1E"/>
                          </a:solidFill>
                          <a:latin typeface="Calibri"/>
                        </a:rPr>
                        <a:t>there is no fixed point to resolve to</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an ephemeral parent</a:t>
                      </a:r>
                    </a:p>
                  </a:txBody>
                  <a:tcPr marL="82296" marR="64008" marT="32004" marB="32004" anchor="ctr">
                    <a:solidFill>
                      <a:srgbClr val="FFFFFF"/>
                    </a:solidFill>
                  </a:tcPr>
                </a:tc>
                <a:tc>
                  <a:txBody>
                    <a:bodyPr wrap="square"/>
                    <a:lstStyle/>
                    <a:p>
                      <a:pPr algn="l"/>
                      <a:r>
                        <a:rPr sz="900" b="0">
                          <a:solidFill>
                            <a:srgbClr val="1C1C1E"/>
                          </a:solidFill>
                          <a:latin typeface="Calibri"/>
                        </a:rPr>
                        <a:t>it resolves today and dangles tomorrow</a:t>
                      </a:r>
                    </a:p>
                  </a:txBody>
                  <a:tcPr marL="82296" marR="64008" marT="32004" marB="32004" anchor="ctr">
                    <a:solidFill>
                      <a:srgbClr val="FFFFFF"/>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Aligning onto an axis, and the leakage that cannot hide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62</a:t>
            </a:r>
          </a:p>
        </p:txBody>
      </p:sp>
      <p:graphicFrame>
        <p:nvGraphicFramePr>
          <p:cNvPr id="10" name="Table 9"/>
          <p:cNvGraphicFramePr>
            <a:graphicFrameLocks noGrp="1"/>
          </p:cNvGraphicFramePr>
          <p:nvPr/>
        </p:nvGraphicFramePr>
        <p:xfrm>
          <a:off x="777240" y="1764792"/>
          <a:ext cx="5318606" cy="1596136"/>
        </p:xfrm>
        <a:graphic>
          <a:graphicData uri="http://schemas.openxmlformats.org/drawingml/2006/table">
            <a:tbl>
              <a:tblPr firstRow="1">
                <a:tableStyleId>{5C22544A-7EE6-4342-B048-85BDC9FD1C3A}</a:tableStyleId>
              </a:tblPr>
              <a:tblGrid>
                <a:gridCol w="1270115"/>
                <a:gridCol w="2302083"/>
                <a:gridCol w="1746408"/>
              </a:tblGrid>
              <a:tr h="329184">
                <a:tc>
                  <a:txBody>
                    <a:bodyPr wrap="square"/>
                    <a:lstStyle/>
                    <a:p>
                      <a:pPr algn="l"/>
                      <a:r>
                        <a:rPr sz="1000" b="1">
                          <a:solidFill>
                            <a:srgbClr val="FFFFFF"/>
                          </a:solidFill>
                          <a:latin typeface="Calibri"/>
                        </a:rPr>
                        <a:t>Rule</a:t>
                      </a:r>
                    </a:p>
                  </a:txBody>
                  <a:tcPr marL="82296" marR="64008" marT="32004" marB="32004" anchor="ctr">
                    <a:solidFill>
                      <a:srgbClr val="A51C30"/>
                    </a:solidFill>
                  </a:tcPr>
                </a:tc>
                <a:tc>
                  <a:txBody>
                    <a:bodyPr wrap="square"/>
                    <a:lstStyle/>
                    <a:p>
                      <a:pPr algn="l"/>
                      <a:r>
                        <a:rPr sz="1000" b="1">
                          <a:solidFill>
                            <a:srgbClr val="FFFFFF"/>
                          </a:solidFill>
                          <a:latin typeface="Calibri"/>
                        </a:rPr>
                        <a:t>Fills from</a:t>
                      </a:r>
                    </a:p>
                  </a:txBody>
                  <a:tcPr marL="82296" marR="64008" marT="32004" marB="32004" anchor="ctr">
                    <a:solidFill>
                      <a:srgbClr val="A51C30"/>
                    </a:solidFill>
                  </a:tcPr>
                </a:tc>
                <a:tc>
                  <a:txBody>
                    <a:bodyPr wrap="square"/>
                    <a:lstStyle/>
                    <a:p>
                      <a:pPr algn="l"/>
                      <a:r>
                        <a:rPr sz="1000" b="1">
                          <a:solidFill>
                            <a:srgbClr val="FFFFFF"/>
                          </a:solidFill>
                          <a:latin typeface="Calibri"/>
                        </a:rPr>
                        <a:t>Safe for training</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FFFF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6F3E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FFFFF"/>
                    </a:solidFill>
                  </a:tcPr>
                </a:tc>
                <a:tc>
                  <a:txBody>
                    <a:bodyPr wrap="square"/>
                    <a:lstStyle/>
                    <a:p>
                      <a:pPr algn="l"/>
                      <a:r>
                        <a:rPr sz="1000" b="0">
                          <a:solidFill>
                            <a:srgbClr val="1C1C1E"/>
                          </a:solidFill>
                          <a:latin typeface="Calibri"/>
                        </a:rPr>
                        <a:t>both neighbours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6F3E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bl>
          </a:graphicData>
        </a:graphic>
      </p:graphicFrame>
      <p:sp>
        <p:nvSpPr>
          <p:cNvPr id="11" name="TextBox 10"/>
          <p:cNvSpPr txBox="1"/>
          <p:nvPr/>
        </p:nvSpPr>
        <p:spPr>
          <a:xfrm>
            <a:off x="777240" y="3598671"/>
            <a:ext cx="5318607" cy="164592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last three reach into the future. They are right for drawing a curve or for an explicitly retrospective backtest, and wrong for training.</a:t>
            </a:r>
          </a:p>
          <a:p>
            <a:pPr>
              <a:lnSpc>
                <a:spcPct val="125000"/>
              </a:lnSpc>
              <a:spcBef>
                <a:spcPts val="0"/>
              </a:spcBef>
              <a:spcAft>
                <a:spcPts val="0"/>
              </a:spcAft>
            </a:pPr>
            <a:r>
              <a:rPr sz="1150" b="1" i="0">
                <a:solidFill>
                  <a:srgbClr val="A51C30"/>
                </a:solidFill>
                <a:latin typeface="Calibri"/>
              </a:rPr>
              <a:t>They are not refused. They are stamped honestly.</a:t>
            </a:r>
          </a:p>
        </p:txBody>
      </p:sp>
      <p:sp>
        <p:nvSpPr>
          <p:cNvPr id="12" name="Rectangle 11"/>
          <p:cNvSpPr/>
          <p:nvPr/>
        </p:nvSpPr>
        <p:spPr>
          <a:xfrm>
            <a:off x="6521336" y="1764792"/>
            <a:ext cx="4893118"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176479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22504" y="1865376"/>
            <a:ext cx="452735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grid  t=0   100.0   ingest_ts 0.0</a:t>
            </a:r>
          </a:p>
          <a:p>
            <a:pPr>
              <a:lnSpc>
                <a:spcPct val="134000"/>
              </a:lnSpc>
              <a:spcBef>
                <a:spcPts val="0"/>
              </a:spcBef>
              <a:spcAft>
                <a:spcPts val="0"/>
              </a:spcAft>
            </a:pPr>
            <a:r>
              <a:rPr sz="900" b="0" i="0">
                <a:solidFill>
                  <a:srgbClr val="1C1C1E"/>
                </a:solidFill>
                <a:latin typeface="Consolas"/>
              </a:rPr>
              <a:t>grid  t=1   400.0   ingest_ts 3.0   ← filled from t=3</a:t>
            </a:r>
          </a:p>
          <a:p>
            <a:pPr>
              <a:lnSpc>
                <a:spcPct val="134000"/>
              </a:lnSpc>
              <a:spcBef>
                <a:spcPts val="0"/>
              </a:spcBef>
              <a:spcAft>
                <a:spcPts val="0"/>
              </a:spcAft>
            </a:pPr>
            <a:r>
              <a:rPr sz="900" b="0" i="0">
                <a:solidFill>
                  <a:srgbClr val="1C1C1E"/>
                </a:solidFill>
                <a:latin typeface="Consolas"/>
              </a:rPr>
              <a:t>grid  t=2   400.0   ingest_ts 3.0</a:t>
            </a:r>
          </a:p>
          <a:p>
            <a:pPr>
              <a:lnSpc>
                <a:spcPct val="134000"/>
              </a:lnSpc>
              <a:spcBef>
                <a:spcPts val="0"/>
              </a:spcBef>
              <a:spcAft>
                <a:spcPts val="0"/>
              </a:spcAft>
            </a:pPr>
            <a:r>
              <a:rPr sz="900" b="0" i="0">
                <a:solidFill>
                  <a:srgbClr val="1C1C1E"/>
                </a:solidFill>
                <a:latin typeface="Consolas"/>
              </a:rPr>
              <a:t>grid  t=3   400.0   ingest_ts 3.0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 point-in-time read at as_of = 1</a:t>
            </a:r>
          </a:p>
          <a:p>
            <a:pPr>
              <a:lnSpc>
                <a:spcPct val="134000"/>
              </a:lnSpc>
              <a:spcBef>
                <a:spcPts val="0"/>
              </a:spcBef>
              <a:spcAft>
                <a:spcPts val="0"/>
              </a:spcAft>
            </a:pPr>
            <a:r>
              <a:rPr sz="900" b="0" i="0">
                <a:solidFill>
                  <a:srgbClr val="7A7F87"/>
                </a:solidFill>
                <a:latin typeface="Consolas"/>
              </a:rPr>
              <a:t># excludes rows 2 and 3 by the ORDINARY rule</a:t>
            </a:r>
          </a:p>
        </p:txBody>
      </p:sp>
      <p:sp>
        <p:nvSpPr>
          <p:cNvPr id="15" name="TextBox 14"/>
          <p:cNvSpPr txBox="1"/>
          <p:nvPr/>
        </p:nvSpPr>
        <p:spPr>
          <a:xfrm>
            <a:off x="6521336" y="3627744"/>
            <a:ext cx="4893118" cy="146304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A value derived from a later observation inherits that observation’s ingest clock, because that is genuinely when it became knowable.</a:t>
            </a:r>
          </a:p>
          <a:p>
            <a:pPr>
              <a:lnSpc>
                <a:spcPct val="125000"/>
              </a:lnSpc>
              <a:spcBef>
                <a:spcPts val="0"/>
              </a:spcBef>
              <a:spcAft>
                <a:spcPts val="0"/>
              </a:spcAft>
            </a:pPr>
            <a:r>
              <a:rPr sz="1100" b="0" i="0">
                <a:solidFill>
                  <a:srgbClr val="4A4F57"/>
                </a:solidFill>
                <a:latin typeface="Calibri"/>
              </a:rPr>
              <a:t>The leakage is not caught by a check. It is made arithmetically impossible to hide, by the bitemporal machinery already here.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12</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Warrants, and What Comes Back</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featureset version and a model version meet; a parameter set returns.</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fit warrant</a:t>
            </a:r>
          </a:p>
          <a:p>
            <a:pPr>
              <a:lnSpc>
                <a:spcPct val="115000"/>
              </a:lnSpc>
              <a:spcBef>
                <a:spcPts val="0"/>
              </a:spcBef>
              <a:spcAft>
                <a:spcPts val="700"/>
              </a:spcAft>
            </a:pPr>
            <a:r>
              <a:rPr sz="1150" b="0" i="0">
                <a:solidFill>
                  <a:srgbClr val="F6E6E9"/>
                </a:solidFill>
                <a:latin typeface="Calibri"/>
              </a:rPr>
              <a:t>The parameter object</a:t>
            </a:r>
          </a:p>
          <a:p>
            <a:pPr>
              <a:lnSpc>
                <a:spcPct val="115000"/>
              </a:lnSpc>
              <a:spcBef>
                <a:spcPts val="0"/>
              </a:spcBef>
              <a:spcAft>
                <a:spcPts val="700"/>
              </a:spcAft>
            </a:pPr>
            <a:r>
              <a:rPr sz="1150" b="0" i="0">
                <a:solidFill>
                  <a:srgbClr val="F6E6E9"/>
                </a:solidFill>
                <a:latin typeface="Calibri"/>
              </a:rPr>
              <a:t>The scoring warrant</a:t>
            </a:r>
          </a:p>
          <a:p>
            <a:pPr>
              <a:lnSpc>
                <a:spcPct val="115000"/>
              </a:lnSpc>
              <a:spcBef>
                <a:spcPts val="0"/>
              </a:spcBef>
              <a:spcAft>
                <a:spcPts val="700"/>
              </a:spcAft>
            </a:pPr>
            <a:r>
              <a:rPr sz="1150" b="0" i="0">
                <a:solidFill>
                  <a:srgbClr val="F6E6E9"/>
                </a:solidFill>
                <a:latin typeface="Calibri"/>
              </a:rPr>
              <a:t>Three routes to P</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sp>
        <p:nvSpPr>
          <p:cNvPr id="10" name="Rectangle 9"/>
          <p:cNvSpPr/>
          <p:nvPr/>
        </p:nvSpPr>
        <p:spPr>
          <a:xfrm>
            <a:off x="777240" y="1353312"/>
            <a:ext cx="5744096" cy="22041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2041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776929"/>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77692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895801"/>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 Without that, “which data produced these numbers” has no answer.</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inhabitant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The parameter kind, the source binding, the runtime — not a category anybody attached to the model. L-W12 is the clearest case: it bites hardest on a neural network and is deliberately not written in terms of the class, because a PMML scorecard is T3 and carries exactly the same exposure. Keying it on the trainability class would have missed that, and the miss would have looked like coverage.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304961"/>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warrant:resolve policy gate</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per principal and per use, never inherited</a:t>
                      </a:r>
                    </a:p>
                  </a:txBody>
                  <a:tcPr marL="82296" marR="64008" marT="32004" marB="32004" anchor="ctr">
                    <a:solidFill>
                      <a:srgbClr val="FFFFFF"/>
                    </a:solidFill>
                  </a:tcPr>
                </a:tc>
              </a:tr>
            </a:tbl>
          </a:graphicData>
        </a:graphic>
      </p:graphicFrame>
      <p:sp>
        <p:nvSpPr>
          <p:cNvPr id="23" name="Rectangle 22"/>
          <p:cNvSpPr/>
          <p:nvPr/>
        </p:nvSpPr>
        <p:spPr>
          <a:xfrm>
            <a:off x="777240" y="4706531"/>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706531"/>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4825403"/>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TTL and binding kind are refused AT CREATION. </a:t>
            </a:r>
            <a:r>
              <a:rPr sz="1050" b="0" i="0">
                <a:solidFill>
                  <a:srgbClr val="1C1C1E"/>
                </a:solidFill>
                <a:latin typeface="Calibri"/>
              </a:rPr>
              <a:t>Not defended at use — a check performed when the profile is written is one nobody can forget to perform later, and the refusal points at the policy gate that can hold an obligation. A template able to widen authority is an authority mechanism wearing a convenience mechanism's clothes.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13</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How Things Compose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Features compose. Featuresets compose. Models compose — and until recently only two of those were checked.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Five relations, two that propagate</a:t>
            </a:r>
          </a:p>
          <a:p>
            <a:pPr>
              <a:lnSpc>
                <a:spcPct val="115000"/>
              </a:lnSpc>
              <a:spcBef>
                <a:spcPts val="0"/>
              </a:spcBef>
              <a:spcAft>
                <a:spcPts val="700"/>
              </a:spcAft>
            </a:pPr>
            <a:r>
              <a:rPr sz="1150" b="0" i="0">
                <a:solidFill>
                  <a:srgbClr val="F6E6E9"/>
                </a:solidFill>
                <a:latin typeface="Calibri"/>
              </a:rPr>
              <a:t>input_to is a type claim</a:t>
            </a:r>
          </a:p>
          <a:p>
            <a:pPr>
              <a:lnSpc>
                <a:spcPct val="115000"/>
              </a:lnSpc>
              <a:spcBef>
                <a:spcPts val="0"/>
              </a:spcBef>
              <a:spcAft>
                <a:spcPts val="700"/>
              </a:spcAft>
            </a:pPr>
            <a:r>
              <a:rPr sz="1150" b="0" i="0">
                <a:solidFill>
                  <a:srgbClr val="F6E6E9"/>
                </a:solidFill>
                <a:latin typeface="Calibri"/>
              </a:rPr>
              <a:t>Blast radius and shared dependency</a:t>
            </a:r>
          </a:p>
          <a:p>
            <a:pPr>
              <a:lnSpc>
                <a:spcPct val="115000"/>
              </a:lnSpc>
              <a:spcBef>
                <a:spcPts val="0"/>
              </a:spcBef>
              <a:spcAft>
                <a:spcPts val="700"/>
              </a:spcAft>
            </a:pPr>
            <a:r>
              <a:rPr sz="1150" b="0" i="0">
                <a:solidFill>
                  <a:srgbClr val="F6E6E9"/>
                </a:solidFill>
                <a:latin typeface="Calibri"/>
              </a:rPr>
              <a:t>Why aggregate risk cannot add up</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graphicFrame>
        <p:nvGraphicFramePr>
          <p:cNvPr id="10" name="Table 9"/>
          <p:cNvGraphicFramePr>
            <a:graphicFrameLocks noGrp="1"/>
          </p:cNvGraphicFramePr>
          <p:nvPr/>
        </p:nvGraphicFramePr>
        <p:xfrm>
          <a:off x="777240" y="1353312"/>
          <a:ext cx="10637213" cy="1975104"/>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584448"/>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84448"/>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703320"/>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it appears in; a variant counted as one makes a change to the parent look like a change to a book it never touched.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It was called “feeds”, and that was wrong in a bank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TextBox 9"/>
          <p:cNvSpPr txBox="1"/>
          <p:nvPr/>
        </p:nvSpPr>
        <p:spPr>
          <a:xfrm>
            <a:off x="777240" y="1353312"/>
            <a:ext cx="5744096" cy="292608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A feed here means market data, a reference file, a nightly drop.</a:t>
            </a:r>
          </a:p>
          <a:p>
            <a:pPr>
              <a:lnSpc>
                <a:spcPct val="128000"/>
              </a:lnSpc>
              <a:spcBef>
                <a:spcPts val="0"/>
              </a:spcBef>
              <a:spcAft>
                <a:spcPts val="900"/>
              </a:spcAft>
            </a:pPr>
            <a:r>
              <a:rPr sz="1200" b="0" i="0">
                <a:solidFill>
                  <a:srgbClr val="1C1C1E"/>
                </a:solidFill>
                <a:latin typeface="Calibri"/>
              </a:rPr>
              <a:t>So “A feeds B” read as though MAYA consumed or produced one. It does neither: it moves no data and runs no model.</a:t>
            </a:r>
          </a:p>
          <a:p>
            <a:pPr>
              <a:lnSpc>
                <a:spcPct val="128000"/>
              </a:lnSpc>
              <a:spcBef>
                <a:spcPts val="0"/>
              </a:spcBef>
              <a:spcAft>
                <a:spcPts val="900"/>
              </a:spcAft>
            </a:pPr>
            <a:r>
              <a:rPr sz="1200" b="0" i="0">
                <a:solidFill>
                  <a:srgbClr val="1C1C1E"/>
                </a:solidFill>
                <a:latin typeface="Calibri"/>
              </a:rPr>
              <a:t>The edge is a statement about two entries in the REGISTER, and the wire it describes is carried by whatever engine runs the two ends. input_to says what the relation is.</a:t>
            </a:r>
          </a:p>
          <a:p>
            <a:pPr>
              <a:lnSpc>
                <a:spcPct val="128000"/>
              </a:lnSpc>
              <a:spcBef>
                <a:spcPts val="0"/>
              </a:spcBef>
              <a:spcAft>
                <a:spcPts val="0"/>
              </a:spcAft>
            </a:pPr>
            <a:r>
              <a:rPr sz="1100" b="0" i="0">
                <a:solidFill>
                  <a:srgbClr val="4A4F57"/>
                </a:solidFill>
                <a:latin typeface="Calibri"/>
              </a:rPr>
              <a:t>`feeds` is still accepted and stored under the new name — and deliberately not published, because a vocabulary offering two words for one relation invites somebody to think they mean different things.</a:t>
            </a:r>
          </a:p>
        </p:txBody>
      </p:sp>
      <p:sp>
        <p:nvSpPr>
          <p:cNvPr id="11" name="Rectangle 10"/>
          <p:cNvSpPr/>
          <p:nvPr/>
        </p:nvSpPr>
        <p:spPr>
          <a:xfrm>
            <a:off x="6946824" y="1353312"/>
            <a:ext cx="4467630"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444752"/>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4" name="TextBox 13"/>
          <p:cNvSpPr txBox="1"/>
          <p:nvPr/>
        </p:nvSpPr>
        <p:spPr>
          <a:xfrm>
            <a:off x="7147992" y="1746504"/>
            <a:ext cx="410187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refines( output_schema(source),</a:t>
            </a:r>
          </a:p>
          <a:p>
            <a:pPr>
              <a:lnSpc>
                <a:spcPct val="134000"/>
              </a:lnSpc>
              <a:spcBef>
                <a:spcPts val="0"/>
              </a:spcBef>
              <a:spcAft>
                <a:spcPts val="0"/>
              </a:spcAft>
            </a:pPr>
            <a:r>
              <a:rPr sz="950" b="0" i="0">
                <a:solidFill>
                  <a:srgbClr val="1C1C1E"/>
                </a:solidFill>
                <a:latin typeface="Consolas"/>
              </a:rPr>
              <a:t>         input_schema(target)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extra outputs      → fine, simply unread</a:t>
            </a:r>
          </a:p>
          <a:p>
            <a:pPr>
              <a:lnSpc>
                <a:spcPct val="134000"/>
              </a:lnSpc>
              <a:spcBef>
                <a:spcPts val="0"/>
              </a:spcBef>
              <a:spcAft>
                <a:spcPts val="0"/>
              </a:spcAft>
            </a:pPr>
            <a:r>
              <a:rPr sz="950" b="0" i="0">
                <a:solidFill>
                  <a:srgbClr val="7A7F87"/>
                </a:solidFill>
                <a:latin typeface="Consolas"/>
              </a:rPr>
              <a:t># a missing output   → a wire to nowhere: refused</a:t>
            </a:r>
          </a:p>
          <a:p>
            <a:pPr>
              <a:lnSpc>
                <a:spcPct val="134000"/>
              </a:lnSpc>
              <a:spcBef>
                <a:spcPts val="0"/>
              </a:spcBef>
              <a:spcAft>
                <a:spcPts val="0"/>
              </a:spcAft>
            </a:pPr>
            <a:r>
              <a:rPr sz="950" b="0" i="0">
                <a:solidFill>
                  <a:srgbClr val="7A7F87"/>
                </a:solidFill>
                <a:latin typeface="Consolas"/>
              </a:rPr>
              <a:t># a narrowed output  → the same regression L-12</a:t>
            </a:r>
          </a:p>
          <a:p>
            <a:pPr>
              <a:lnSpc>
                <a:spcPct val="134000"/>
              </a:lnSpc>
              <a:spcBef>
                <a:spcPts val="0"/>
              </a:spcBef>
              <a:spcAft>
                <a:spcPts val="0"/>
              </a:spcAft>
            </a:pPr>
            <a:r>
              <a:rPr sz="950" b="0" i="0">
                <a:solidFill>
                  <a:srgbClr val="7A7F87"/>
                </a:solidFill>
                <a:latin typeface="Consolas"/>
              </a:rPr>
              <a:t>#                      names at an alias move</a:t>
            </a:r>
          </a:p>
        </p:txBody>
      </p:sp>
      <p:sp>
        <p:nvSpPr>
          <p:cNvPr id="15" name="Rectangle 14"/>
          <p:cNvSpPr/>
          <p:nvPr/>
        </p:nvSpPr>
        <p:spPr>
          <a:xfrm>
            <a:off x="6946824" y="3602210"/>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02210"/>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721082"/>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Recorded and never checked, it was a drawing. </a:t>
            </a:r>
            <a:r>
              <a:rPr sz="1050" b="0" i="0">
                <a:solidFill>
                  <a:srgbClr val="1C1C1E"/>
                </a:solidFill>
                <a:latin typeface="Calibri"/>
              </a:rPr>
              <a:t>The blast radius followed edges nobody had validated, and a composite had no schema anybody could derive. Checked, it is composition — and the composite's type is DERIVED rather than declared.</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WHAT IT IS FOR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questions this makes answerable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sp>
        <p:nvSpPr>
          <p:cNvPr id="10" name="TextBox 9"/>
          <p:cNvSpPr txBox="1"/>
          <p:nvPr/>
        </p:nvSpPr>
        <p:spPr>
          <a:xfrm>
            <a:off x="777240" y="1353312"/>
            <a:ext cx="4893118" cy="292608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What breaks if I change this?</a:t>
            </a:r>
          </a:p>
          <a:p>
            <a:pPr>
              <a:lnSpc>
                <a:spcPct val="126000"/>
              </a:lnSpc>
              <a:spcBef>
                <a:spcPts val="0"/>
              </a:spcBef>
              <a:spcAft>
                <a:spcPts val="800"/>
              </a:spcAft>
            </a:pPr>
            <a:r>
              <a:rPr sz="1100" b="0" i="0">
                <a:solidFill>
                  <a:srgbClr val="1C1C1E"/>
                </a:solidFill>
                <a:latin typeface="Calibri"/>
              </a:rPr>
              <a:t>Only propagating edges are followed, and each model comes back with its DISTANCE — so the immediately affected are visible separately from those two hops away.</a:t>
            </a:r>
          </a:p>
          <a:p>
            <a:pPr>
              <a:lnSpc>
                <a:spcPct val="126000"/>
              </a:lnSpc>
              <a:spcBef>
                <a:spcPts val="0"/>
              </a:spcBef>
              <a:spcAft>
                <a:spcPts val="0"/>
              </a:spcAft>
            </a:pPr>
            <a:r>
              <a:rPr sz="1100" b="0" i="0">
                <a:solidFill>
                  <a:srgbClr val="4A4F57"/>
                </a:solidFill>
                <a:latin typeface="Calibri"/>
              </a:rPr>
              <a:t>The worst tier reached is reported too. A change touching one Tier 1 model is not the same as one touching five Tier 4s, and a count alone cannot tell you which happened.</a:t>
            </a:r>
          </a:p>
        </p:txBody>
      </p:sp>
      <p:sp>
        <p:nvSpPr>
          <p:cNvPr id="11" name="TextBox 10"/>
          <p:cNvSpPr txBox="1"/>
          <p:nvPr/>
        </p:nvSpPr>
        <p:spPr>
          <a:xfrm>
            <a:off x="6308591" y="1353312"/>
            <a:ext cx="4893118" cy="292608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What do these two rest on in common?</a:t>
            </a:r>
          </a:p>
          <a:p>
            <a:pPr>
              <a:lnSpc>
                <a:spcPct val="126000"/>
              </a:lnSpc>
              <a:spcBef>
                <a:spcPts val="0"/>
              </a:spcBef>
              <a:spcAft>
                <a:spcPts val="800"/>
              </a:spcAft>
            </a:pPr>
            <a:r>
              <a:rPr sz="1100" b="0" i="0">
                <a:solidFill>
                  <a:srgbClr val="1C1C1E"/>
                </a:solidFill>
                <a:latin typeface="Calibri"/>
              </a:rPr>
              <a:t>This is the interesting one. Two models fed by the same curve are NOT two independent risks — and a network that copies a dependency is not the same as one that duplicates it.</a:t>
            </a:r>
          </a:p>
          <a:p>
            <a:pPr>
              <a:lnSpc>
                <a:spcPct val="126000"/>
              </a:lnSpc>
              <a:spcBef>
                <a:spcPts val="0"/>
              </a:spcBef>
              <a:spcAft>
                <a:spcPts val="0"/>
              </a:spcAft>
            </a:pPr>
            <a:r>
              <a:rPr sz="1100" b="0" i="0">
                <a:solidFill>
                  <a:srgbClr val="4A4F57"/>
                </a:solidFill>
                <a:latin typeface="Calibri"/>
              </a:rPr>
              <a:t>That difference is precisely why an aggregate risk figure cannot simply add up, and why supervisors ask about “common dependencies and shared assumptions”. Here it has an answer instead of a paragraph.</a:t>
            </a:r>
          </a:p>
        </p:txBody>
      </p:sp>
      <p:sp>
        <p:nvSpPr>
          <p:cNvPr id="12" name="Rectangle 11"/>
          <p:cNvSpPr/>
          <p:nvPr/>
        </p:nvSpPr>
        <p:spPr>
          <a:xfrm>
            <a:off x="777240" y="4507992"/>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5079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626864"/>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cycle is refused. </a:t>
            </a:r>
            <a:r>
              <a:rPr sz="1050" b="0" i="0">
                <a:solidFill>
                  <a:srgbClr val="1C1C1E"/>
                </a:solidFill>
                <a:latin typeface="Calibri"/>
              </a:rPr>
              <a:t>A model whose output is its own input has no defined value, and a blast radius over it does not terminate — so the edge that would close the cycle is the one that is refused, naming the path that already exists.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COPY MAP IS THE OBSTRUCTION</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 so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0"/>
              </a:spcAft>
            </a:pPr>
            <a:r>
              <a:rPr sz="1100" b="0" i="0">
                <a:solidFill>
                  <a:srgbClr val="1C1C1E"/>
                </a:solidFill>
                <a:latin typeface="Calibri"/>
              </a:rPr>
              <a:t>This is a theorem arriving as a product decision rather than a footnote — which is the strongest form the argument takes anywhere in the platform.</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14</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Documentation, as a Graph</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Five moments, five objects, and the pins that connect them.</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When documentation actually arrives</a:t>
            </a:r>
          </a:p>
          <a:p>
            <a:pPr>
              <a:lnSpc>
                <a:spcPct val="115000"/>
              </a:lnSpc>
              <a:spcBef>
                <a:spcPts val="0"/>
              </a:spcBef>
              <a:spcAft>
                <a:spcPts val="700"/>
              </a:spcAft>
            </a:pPr>
            <a:r>
              <a:rPr sz="1150" b="0" i="0">
                <a:solidFill>
                  <a:srgbClr val="F6E6E9"/>
                </a:solidFill>
                <a:latin typeface="Calibri"/>
              </a:rPr>
              <a:t>The moment that had no document</a:t>
            </a:r>
          </a:p>
          <a:p>
            <a:pPr>
              <a:lnSpc>
                <a:spcPct val="115000"/>
              </a:lnSpc>
              <a:spcBef>
                <a:spcPts val="0"/>
              </a:spcBef>
              <a:spcAft>
                <a:spcPts val="700"/>
              </a:spcAft>
            </a:pPr>
            <a:r>
              <a:rPr sz="1150" b="0" i="0">
                <a:solidFill>
                  <a:srgbClr val="F6E6E9"/>
                </a:solidFill>
                <a:latin typeface="Calibri"/>
              </a:rPr>
              <a:t>The dossier</a:t>
            </a:r>
          </a:p>
          <a:p>
            <a:pPr>
              <a:lnSpc>
                <a:spcPct val="115000"/>
              </a:lnSpc>
              <a:spcBef>
                <a:spcPts val="0"/>
              </a:spcBef>
              <a:spcAft>
                <a:spcPts val="700"/>
              </a:spcAft>
            </a:pPr>
            <a:r>
              <a:rPr sz="1150" b="0" i="0">
                <a:solidFill>
                  <a:srgbClr val="F6E6E9"/>
                </a:solidFill>
                <a:latin typeface="Calibri"/>
              </a:rPr>
              <a:t>What travels to somebody without a login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were unfilable,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 which is finding C-2 in documentation's clothing.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hundred and fifty governed acts a year, none of them readable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And none of them had a record anybody could read. The note explaining the one morning it went wrong lived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A fitted set with no warrant has no answer to “which data produced these numbers”, and that is worth saying out loud rather than leaving a heading with nothing under it.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Rectangle 9"/>
          <p:cNvSpPr/>
          <p:nvPr/>
        </p:nvSpPr>
        <p:spPr>
          <a:xfrm>
            <a:off x="777240" y="1353312"/>
            <a:ext cx="5956840"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 Annex IV</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 the documents are rendered, not compiled, because cutting a pack monthly should not silently author four documents a month. And it does not re-materialise personal data: a flagged node carries its erasable pointer into the pack exactly as it does in the platform, because resolving it would put personal data where an erasure request cannot reach it.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15</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What MAYA Refuses, and Why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refusals are the product. Everything else is bookkeeping.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refusals that matter</a:t>
            </a:r>
          </a:p>
          <a:p>
            <a:pPr>
              <a:lnSpc>
                <a:spcPct val="115000"/>
              </a:lnSpc>
              <a:spcBef>
                <a:spcPts val="0"/>
              </a:spcBef>
              <a:spcAft>
                <a:spcPts val="700"/>
              </a:spcAft>
            </a:pPr>
            <a:r>
              <a:rPr sz="1150" b="0" i="0">
                <a:solidFill>
                  <a:srgbClr val="F6E6E9"/>
                </a:solidFill>
                <a:latin typeface="Calibri"/>
              </a:rPr>
              <a:t>What it deliberately will not do</a:t>
            </a:r>
          </a:p>
          <a:p>
            <a:pPr>
              <a:lnSpc>
                <a:spcPct val="115000"/>
              </a:lnSpc>
              <a:spcBef>
                <a:spcPts val="0"/>
              </a:spcBef>
              <a:spcAft>
                <a:spcPts val="700"/>
              </a:spcAft>
            </a:pPr>
            <a:r>
              <a:rPr sz="1150" b="0" i="0">
                <a:solidFill>
                  <a:srgbClr val="F6E6E9"/>
                </a:solidFill>
                <a:latin typeface="Calibri"/>
              </a:rPr>
              <a:t>Where the boundary is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captive engine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the rest of it worth relying on — </a:t>
            </a:r>
            <a:r>
              <a:rPr sz="1050" b="1" i="0">
                <a:solidFill>
                  <a:srgbClr val="1C1C1E"/>
                </a:solidFill>
                <a:latin typeface="Calibri"/>
              </a:rPr>
              <a:t>and every honest gap is written down in the implementation plan.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16</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Architecture and Design Rules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Components, responsibilities, and the seven rules that bind them.</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Component inventory</a:t>
            </a:r>
          </a:p>
          <a:p>
            <a:pPr>
              <a:lnSpc>
                <a:spcPct val="115000"/>
              </a:lnSpc>
              <a:spcBef>
                <a:spcPts val="0"/>
              </a:spcBef>
              <a:spcAft>
                <a:spcPts val="700"/>
              </a:spcAft>
            </a:pPr>
            <a:r>
              <a:rPr sz="1150" b="0" i="0">
                <a:solidFill>
                  <a:srgbClr val="F6E6E9"/>
                </a:solidFill>
                <a:latin typeface="Calibri"/>
              </a:rPr>
              <a:t>Responsibility boundaries</a:t>
            </a:r>
          </a:p>
          <a:p>
            <a:pPr>
              <a:lnSpc>
                <a:spcPct val="115000"/>
              </a:lnSpc>
              <a:spcBef>
                <a:spcPts val="0"/>
              </a:spcBef>
              <a:spcAft>
                <a:spcPts val="700"/>
              </a:spcAft>
            </a:pPr>
            <a:r>
              <a:rPr sz="1150" b="0" i="0">
                <a:solidFill>
                  <a:srgbClr val="F6E6E9"/>
                </a:solidFill>
                <a:latin typeface="Calibri"/>
              </a:rPr>
              <a:t>Seven design rules</a:t>
            </a:r>
          </a:p>
          <a:p>
            <a:pPr>
              <a:lnSpc>
                <a:spcPct val="115000"/>
              </a:lnSpc>
              <a:spcBef>
                <a:spcPts val="0"/>
              </a:spcBef>
              <a:spcAft>
                <a:spcPts val="700"/>
              </a:spcAft>
            </a:pPr>
            <a:r>
              <a:rPr sz="1150" b="0" i="0">
                <a:solidFill>
                  <a:srgbClr val="F6E6E9"/>
                </a:solidFill>
                <a:latin typeface="Calibri"/>
              </a:rPr>
              <a:t>Process model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maya-web (static)</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Event stream</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model_algebra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composition</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&amp; outbox</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telemetry</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plugin loader</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sandbox client</a:t>
            </a:r>
          </a:p>
        </p:txBody>
      </p:sp>
      <p:sp>
        <p:nvSpPr>
          <p:cNvPr id="77" name="TextBox 76"/>
          <p:cNvSpPr txBox="1"/>
          <p:nvPr/>
        </p:nvSpPr>
        <p:spPr>
          <a:xfrm>
            <a:off x="777240" y="5020055"/>
            <a:ext cx="10637215" cy="365760"/>
          </a:xfrm>
          <a:prstGeom prst="rect">
            <a:avLst/>
          </a:prstGeom>
          <a:noFill/>
        </p:spPr>
        <p:txBody>
          <a:bodyPr wrap="square" lIns="0" rIns="0" tIns="0" bIns="0" anchor="t">
            <a:spAutoFit/>
          </a:bodyPr>
          <a:lstStyle/>
          <a:p>
            <a:pPr algn="l">
              <a:spcBef>
                <a:spcPts val="0"/>
              </a:spcBef>
              <a:spcAft>
                <a:spcPts val="0"/>
              </a:spcAft>
            </a:pPr>
            <a:r>
              <a:rPr sz="1150" b="1" i="0">
                <a:solidFill>
                  <a:srgbClr val="A51C30"/>
                </a:solidFill>
                <a:latin typeface="Calibri"/>
              </a:rPr>
              <a:t>Dependency rule, enforced in CI. </a:t>
            </a:r>
            <a:r>
              <a:rPr sz="1150" b="0" i="0">
                <a:solidFill>
                  <a:srgbClr val="1C1C1E"/>
                </a:solidFill>
                <a:latin typeface="Calibri"/>
              </a:rPr>
              <a:t>Arrows point downward only. The core domain imports nothing from MAYA; interfaces import everything and are imported by nothing.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Append chain, semiring evaluation, gluing</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Lattices, τ, control adequacy, derivation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Institutions, comorphisms, Rego gates, MTL obligations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sp>
        <p:nvSpPr>
          <p:cNvPr id="10" name="Rectangle 9"/>
          <p:cNvSpPr/>
          <p:nvPr/>
        </p:nvSpPr>
        <p:spPr>
          <a:xfrm>
            <a:off x="777240"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exposes a Protocol and is consumed only through it. No cross-component imports of internals.</a:t>
            </a:r>
          </a:p>
        </p:txBody>
      </p:sp>
      <p:sp>
        <p:nvSpPr>
          <p:cNvPr id="15" name="Rectangle 14"/>
          <p:cNvSpPr/>
          <p:nvPr/>
        </p:nvSpPr>
        <p:spPr>
          <a:xfrm>
            <a:off x="349597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component edge.</a:t>
            </a:r>
          </a:p>
        </p:txBody>
      </p:sp>
      <p:sp>
        <p:nvSpPr>
          <p:cNvPr id="20" name="Rectangle 19"/>
          <p:cNvSpPr/>
          <p:nvPr/>
        </p:nvSpPr>
        <p:spPr>
          <a:xfrm>
            <a:off x="621471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writes</a:t>
            </a:r>
          </a:p>
        </p:txBody>
      </p:sp>
      <p:sp>
        <p:nvSpPr>
          <p:cNvPr id="24" name="TextBox 23"/>
          <p:cNvSpPr txBox="1"/>
          <p:nvPr/>
        </p:nvSpPr>
        <p:spPr>
          <a:xfrm>
            <a:off x="643417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write path is idempotent given an Idempotency-Key or a natural key.</a:t>
            </a:r>
          </a:p>
        </p:txBody>
      </p:sp>
      <p:sp>
        <p:nvSpPr>
          <p:cNvPr id="25" name="Rectangle 24"/>
          <p:cNvSpPr/>
          <p:nvPr/>
        </p:nvSpPr>
        <p:spPr>
          <a:xfrm>
            <a:off x="893345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derived value is persisted with its derivation record, in the same transaction.</a:t>
            </a:r>
          </a:p>
        </p:txBody>
      </p:sp>
      <p:sp>
        <p:nvSpPr>
          <p:cNvPr id="30" name="Rectangle 29"/>
          <p:cNvSpPr/>
          <p:nvPr/>
        </p:nvSpPr>
        <p:spPr>
          <a:xfrm>
            <a:off x="777240"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Nothing outside platform/db opens a transaction. Components receive a UnitOfWork.</a:t>
            </a:r>
          </a:p>
        </p:txBody>
      </p:sp>
      <p:sp>
        <p:nvSpPr>
          <p:cNvPr id="35" name="Rectangle 34"/>
          <p:cNvSpPr/>
          <p:nvPr/>
        </p:nvSpPr>
        <p:spPr>
          <a:xfrm>
            <a:off x="349597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9592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306824"/>
            <a:ext cx="2042083"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externally visible failure maps to the error taxonomy. Never an unmapped 500.</a:t>
            </a:r>
          </a:p>
        </p:txBody>
      </p:sp>
      <p:sp>
        <p:nvSpPr>
          <p:cNvPr id="40" name="Rectangle 39"/>
          <p:cNvSpPr/>
          <p:nvPr/>
        </p:nvSpPr>
        <p:spPr>
          <a:xfrm>
            <a:off x="621471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link to remediate it.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DEPLOYABLE UNITS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graphicFrame>
        <p:nvGraphicFramePr>
          <p:cNvPr id="10" name="Table 9"/>
          <p:cNvGraphicFramePr>
            <a:graphicFrameLocks noGrp="1"/>
          </p:cNvGraphicFramePr>
          <p:nvPr/>
        </p:nvGraphicFramePr>
        <p:xfrm>
          <a:off x="777240" y="1353312"/>
          <a:ext cx="10637214" cy="2998570"/>
        </p:xfrm>
        <a:graphic>
          <a:graphicData uri="http://schemas.openxmlformats.org/drawingml/2006/table">
            <a:tbl>
              <a:tblPr firstRow="1">
                <a:tableStyleId>{5C22544A-7EE6-4342-B048-85BDC9FD1C3A}</a:tableStyleId>
              </a:tblPr>
              <a:tblGrid>
                <a:gridCol w="1918186"/>
                <a:gridCol w="2005376"/>
                <a:gridCol w="4533895"/>
                <a:gridCol w="2179757"/>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Scaling</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maya-web</a:t>
                      </a:r>
                    </a:p>
                  </a:txBody>
                  <a:tcPr marL="82296" marR="64008" marT="32004" marB="32004" anchor="ctr">
                    <a:solidFill>
                      <a:srgbClr val="FFFFFF"/>
                    </a:solidFill>
                  </a:tcPr>
                </a:tc>
                <a:tc>
                  <a:txBody>
                    <a:bodyPr wrap="square"/>
                    <a:lstStyle/>
                    <a:p>
                      <a:pPr algn="l"/>
                      <a:r>
                        <a:rPr sz="1050" b="0">
                          <a:solidFill>
                            <a:srgbClr val="1C1C1E"/>
                          </a:solidFill>
                          <a:latin typeface="Calibri"/>
                        </a:rPr>
                        <a:t>Static, CDN + 2 pods</a:t>
                      </a:r>
                    </a:p>
                  </a:txBody>
                  <a:tcPr marL="82296" marR="64008" marT="32004" marB="32004" anchor="ctr">
                    <a:solidFill>
                      <a:srgbClr val="FFFFFF"/>
                    </a:solidFill>
                  </a:tcPr>
                </a:tc>
                <a:tc>
                  <a:txBody>
                    <a:bodyPr wrap="square"/>
                    <a:lstStyle/>
                    <a:p>
                      <a:pPr algn="l"/>
                      <a:r>
                        <a:rPr sz="1050" b="0">
                          <a:solidFill>
                            <a:srgbClr val="1C1C1E"/>
                          </a:solidFill>
                          <a:latin typeface="Calibri"/>
                        </a:rPr>
                        <a:t>Separate process and pipeline (ADR-011);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Yes — stops human review only</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maya-api</a:t>
                      </a:r>
                    </a:p>
                  </a:txBody>
                  <a:tcPr marL="82296" marR="64008" marT="32004" marB="32004" anchor="ctr">
                    <a:solidFill>
                      <a:srgbClr val="F6F3EF"/>
                    </a:solidFill>
                  </a:tcPr>
                </a:tc>
                <a:tc>
                  <a:txBody>
                    <a:bodyPr wrap="square"/>
                    <a:lstStyle/>
                    <a:p>
                      <a:pPr algn="l"/>
                      <a:r>
                        <a:rPr sz="1050" b="0">
                          <a:solidFill>
                            <a:srgbClr val="1C1C1E"/>
                          </a:solidFill>
                          <a:latin typeface="Calibri"/>
                        </a:rPr>
                        <a:t>3–10 pods, CPU-bound</a:t>
                      </a:r>
                    </a:p>
                  </a:txBody>
                  <a:tcPr marL="82296" marR="64008" marT="32004" marB="32004" anchor="ctr">
                    <a:solidFill>
                      <a:srgbClr val="F6F3EF"/>
                    </a:solidFill>
                  </a:tcPr>
                </a:tc>
                <a:tc>
                  <a:txBody>
                    <a:bodyPr wrap="square"/>
                    <a:lstStyle/>
                    <a:p>
                      <a:pPr algn="l"/>
                      <a:r>
                        <a:rPr sz="1050" b="0">
                          <a:solidFill>
                            <a:srgbClr val="1C1C1E"/>
                          </a:solidFill>
                          <a:latin typeface="Calibri"/>
                        </a:rPr>
                        <a:t>The bulk of the domain; deploys together for transactional integrity</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maya-warrants</a:t>
                      </a:r>
                    </a:p>
                  </a:txBody>
                  <a:tcPr marL="82296" marR="64008" marT="32004" marB="32004" anchor="ctr">
                    <a:solidFill>
                      <a:srgbClr val="FFFFFF"/>
                    </a:solidFill>
                  </a:tcPr>
                </a:tc>
                <a:tc>
                  <a:txBody>
                    <a:bodyPr wrap="square"/>
                    <a:lstStyle/>
                    <a:p>
                      <a:pPr algn="l"/>
                      <a:r>
                        <a:rPr sz="1050" b="0">
                          <a:solidFill>
                            <a:srgbClr val="1C1C1E"/>
                          </a:solidFill>
                          <a:latin typeface="Calibri"/>
                        </a:rPr>
                        <a:t>10–100 pods, regional</a:t>
                      </a:r>
                    </a:p>
                  </a:txBody>
                  <a:tcPr marL="82296" marR="64008" marT="32004" marB="32004" anchor="ctr">
                    <a:solidFill>
                      <a:srgbClr val="FFFFFF"/>
                    </a:solidFill>
                  </a:tcPr>
                </a:tc>
                <a:tc>
                  <a:txBody>
                    <a:bodyPr wrap="square"/>
                    <a:lstStyle/>
                    <a:p>
                      <a:pPr algn="l"/>
                      <a:r>
                        <a:rPr sz="1050" b="0">
                          <a:solidFill>
                            <a:srgbClr val="1C1C1E"/>
                          </a:solidFill>
                          <a:latin typeface="Calibri"/>
                        </a:rPr>
                        <a:t>10× tighter SLA; reads only the warrant projection; survives control-plane outage</a:t>
                      </a:r>
                    </a:p>
                  </a:txBody>
                  <a:tcPr marL="82296" marR="64008" marT="32004" marB="32004" anchor="ctr">
                    <a:solidFill>
                      <a:srgbClr val="FFFFFF"/>
                    </a:solidFill>
                  </a:tcPr>
                </a:tc>
                <a:tc>
                  <a:txBody>
                    <a:bodyPr wrap="square"/>
                    <a:lstStyle/>
                    <a:p>
                      <a:pPr algn="l"/>
                      <a:r>
                        <a:rPr sz="1050" b="0">
                          <a:solidFill>
                            <a:srgbClr val="1C1C1E"/>
                          </a:solidFill>
                          <a:latin typeface="Calibri"/>
                        </a:rPr>
                        <a:t>Yes — by design</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maya-worker</a:t>
                      </a:r>
                    </a:p>
                  </a:txBody>
                  <a:tcPr marL="82296" marR="64008" marT="32004" marB="32004" anchor="ctr">
                    <a:solidFill>
                      <a:srgbClr val="F6F3EF"/>
                    </a:solidFill>
                  </a:tcPr>
                </a:tc>
                <a:tc>
                  <a:txBody>
                    <a:bodyPr wrap="square"/>
                    <a:lstStyle/>
                    <a:p>
                      <a:pPr algn="l"/>
                      <a:r>
                        <a:rPr sz="1050" b="0">
                          <a:solidFill>
                            <a:srgbClr val="1C1C1E"/>
                          </a:solidFill>
                          <a:latin typeface="Calibri"/>
                        </a:rPr>
                        <a:t>Queue-depth autoscaled</a:t>
                      </a:r>
                    </a:p>
                  </a:txBody>
                  <a:tcPr marL="82296" marR="64008" marT="32004" marB="32004" anchor="ctr">
                    <a:solidFill>
                      <a:srgbClr val="F6F3EF"/>
                    </a:solidFill>
                  </a:tcPr>
                </a:tc>
                <a:tc>
                  <a:txBody>
                    <a:bodyPr wrap="square"/>
                    <a:lstStyle/>
                    <a:p>
                      <a:pPr algn="l"/>
                      <a:r>
                        <a:rPr sz="1050" b="0">
                          <a:solidFill>
                            <a:srgbClr val="1C1C1E"/>
                          </a:solidFill>
                          <a:latin typeface="Calibri"/>
                        </a:rPr>
                        <a:t>Long-running, retryable, at-least-once</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maya-sandbox</a:t>
                      </a:r>
                    </a:p>
                  </a:txBody>
                  <a:tcPr marL="82296" marR="64008" marT="32004" marB="32004" anchor="ctr">
                    <a:solidFill>
                      <a:srgbClr val="FFFFFF"/>
                    </a:solidFill>
                  </a:tcPr>
                </a:tc>
                <a:tc>
                  <a:txBody>
                    <a:bodyPr wrap="square"/>
                    <a:lstStyle/>
                    <a:p>
                      <a:pPr algn="l"/>
                      <a:r>
                        <a:rPr sz="1050" b="0">
                          <a:solidFill>
                            <a:srgbClr val="1C1C1E"/>
                          </a:solidFill>
                          <a:latin typeface="Calibri"/>
                        </a:rPr>
                        <a:t>Job per task, gVisor</a:t>
                      </a:r>
                    </a:p>
                  </a:txBody>
                  <a:tcPr marL="82296" marR="64008" marT="32004" marB="32004" anchor="ctr">
                    <a:solidFill>
                      <a:srgbClr val="FFFFFF"/>
                    </a:solidFill>
                  </a:tcPr>
                </a:tc>
                <a:tc>
                  <a:txBody>
                    <a:bodyPr wrap="square"/>
                    <a:lstStyle/>
                    <a:p>
                      <a:pPr algn="l"/>
                      <a:r>
                        <a:rPr sz="1050" b="0">
                          <a:solidFill>
                            <a:srgbClr val="1C1C1E"/>
                          </a:solidFill>
                          <a:latin typeface="Calibri"/>
                        </a:rPr>
                        <a:t>Never runs untrusted code in-process with the control plane</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Spark / Databricks</a:t>
                      </a:r>
                    </a:p>
                  </a:txBody>
                  <a:tcPr marL="82296" marR="64008" marT="32004" marB="32004" anchor="ctr">
                    <a:solidFill>
                      <a:srgbClr val="F6F3EF"/>
                    </a:solidFill>
                  </a:tcPr>
                </a:tc>
                <a:tc>
                  <a:txBody>
                    <a:bodyPr wrap="square"/>
                    <a:lstStyle/>
                    <a:p>
                      <a:pPr algn="l"/>
                      <a:r>
                        <a:rPr sz="1050" b="0">
                          <a:solidFill>
                            <a:srgbClr val="1C1C1E"/>
                          </a:solidFill>
                          <a:latin typeface="Calibri"/>
                        </a:rPr>
                        <a:t>Cluster-managed</a:t>
                      </a:r>
                    </a:p>
                  </a:txBody>
                  <a:tcPr marL="82296" marR="64008" marT="32004" marB="32004" anchor="ctr">
                    <a:solidFill>
                      <a:srgbClr val="F6F3EF"/>
                    </a:solidFill>
                  </a:tcPr>
                </a:tc>
                <a:tc>
                  <a:txBody>
                    <a:bodyPr wrap="square"/>
                    <a:lstStyle/>
                    <a:p>
                      <a:pPr algn="l"/>
                      <a:r>
                        <a:rPr sz="1050" b="0">
                          <a:solidFill>
                            <a:srgbClr val="1C1C1E"/>
                          </a:solidFill>
                          <a:latin typeface="Calibri"/>
                        </a:rPr>
                        <a:t>Data-plane compute: PIT joins, materialisation, monitoring</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bl>
          </a:graphicData>
        </a:graphic>
      </p:graphicFrame>
      <p:sp>
        <p:nvSpPr>
          <p:cNvPr id="11" name="Rectangle 10"/>
          <p:cNvSpPr/>
          <p:nvPr/>
        </p:nvSpPr>
        <p:spPr>
          <a:xfrm>
            <a:off x="777240" y="4607915"/>
            <a:ext cx="10637215" cy="8229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07915"/>
            <a:ext cx="41148" cy="8229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35931"/>
            <a:ext cx="10088575" cy="6400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The one asymmetry. </a:t>
            </a:r>
            <a:r>
              <a:rPr sz="1200" b="0" i="0">
                <a:solidFill>
                  <a:srgbClr val="1C1C1E"/>
                </a:solidFill>
                <a:latin typeface="Calibri"/>
              </a:rPr>
              <a:t>Governance must not become the bank's single point of failure. If the control plane is down, already-authorised production scoring continues; only new issuance and governance changes stop.</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17</a:t>
            </a:r>
          </a:p>
        </p:txBody>
      </p:sp>
      <p:sp>
        <p:nvSpPr>
          <p:cNvPr id="5" name="TextBox 4"/>
          <p:cNvSpPr txBox="1"/>
          <p:nvPr/>
        </p:nvSpPr>
        <p:spPr>
          <a:xfrm>
            <a:off x="1005840" y="2419502"/>
            <a:ext cx="6169584" cy="1188720"/>
          </a:xfrm>
          <a:prstGeom prst="rect">
            <a:avLst/>
          </a:prstGeom>
          <a:noFill/>
        </p:spPr>
        <p:txBody>
          <a:bodyPr wrap="square" lIns="0" rIns="0" tIns="0" bIns="0" anchor="t">
            <a:spAutoFit/>
          </a:bodyPr>
          <a:lstStyle/>
          <a:p>
            <a:pPr algn="l">
              <a:spcBef>
                <a:spcPts val="0"/>
              </a:spcBef>
              <a:spcAft>
                <a:spcPts val="0"/>
              </a:spcAft>
            </a:pPr>
            <a:r>
              <a:rPr sz="3400" b="0" i="0">
                <a:solidFill>
                  <a:srgbClr val="FFFFFF"/>
                </a:solidFill>
                <a:latin typeface="Georgia"/>
              </a:rPr>
              <a:t>Core Domain and Registry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algebra in code, and the registry that indexes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model algebra</a:t>
            </a:r>
          </a:p>
          <a:p>
            <a:pPr>
              <a:lnSpc>
                <a:spcPct val="115000"/>
              </a:lnSpc>
              <a:spcBef>
                <a:spcPts val="0"/>
              </a:spcBef>
              <a:spcAft>
                <a:spcPts val="700"/>
              </a:spcAft>
            </a:pPr>
            <a:r>
              <a:rPr sz="1150" b="0" i="0">
                <a:solidFill>
                  <a:srgbClr val="F6E6E9"/>
                </a:solidFill>
                <a:latin typeface="Calibri"/>
              </a:rPr>
              <a:t>Trainability is derived</a:t>
            </a:r>
          </a:p>
          <a:p>
            <a:pPr>
              <a:lnSpc>
                <a:spcPct val="115000"/>
              </a:lnSpc>
              <a:spcBef>
                <a:spcPts val="0"/>
              </a:spcBef>
              <a:spcAft>
                <a:spcPts val="700"/>
              </a:spcAft>
            </a:pPr>
            <a:r>
              <a:rPr sz="1150" b="0" i="0">
                <a:solidFill>
                  <a:srgbClr val="F6E6E9"/>
                </a:solidFill>
                <a:latin typeface="Calibri"/>
              </a:rPr>
              <a:t>Contract algebra</a:t>
            </a:r>
          </a:p>
          <a:p>
            <a:pPr>
              <a:lnSpc>
                <a:spcPct val="115000"/>
              </a:lnSpc>
              <a:spcBef>
                <a:spcPts val="0"/>
              </a:spcBef>
              <a:spcAft>
                <a:spcPts val="700"/>
              </a:spcAft>
            </a:pPr>
            <a:r>
              <a:rPr sz="1150" b="0" i="0">
                <a:solidFill>
                  <a:srgbClr val="F6E6E9"/>
                </a:solidFill>
                <a:latin typeface="Calibri"/>
              </a:rPr>
              <a:t>The fibre registry</a:t>
            </a:r>
          </a:p>
          <a:p>
            <a:pPr>
              <a:lnSpc>
                <a:spcPct val="115000"/>
              </a:lnSpc>
              <a:spcBef>
                <a:spcPts val="0"/>
              </a:spcBef>
              <a:spcAft>
                <a:spcPts val="700"/>
              </a:spcAft>
            </a:pPr>
            <a:r>
              <a:rPr sz="1150" b="0" i="0">
                <a:solidFill>
                  <a:srgbClr val="F6E6E9"/>
                </a:solidFill>
                <a:latin typeface="Calibri"/>
              </a:rPr>
              <a:t>Version creation</a:t>
            </a:r>
          </a:p>
          <a:p>
            <a:pPr>
              <a:lnSpc>
                <a:spcPct val="115000"/>
              </a:lnSpc>
              <a:spcBef>
                <a:spcPts val="0"/>
              </a:spcBef>
              <a:spcAft>
                <a:spcPts val="700"/>
              </a:spcAft>
            </a:pPr>
            <a:r>
              <a:rPr sz="1150" b="0" i="0">
                <a:solidFill>
                  <a:srgbClr val="F6E6E9"/>
                </a:solidFill>
                <a:latin typeface="Calibri"/>
              </a:rPr>
              <a:t>Alias moves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5956840" cy="46410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464103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591080" cy="416554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 learned_weights |</a:t>
            </a:r>
          </a:p>
          <a:p>
            <a:pPr>
              <a:lnSpc>
                <a:spcPct val="134000"/>
              </a:lnSpc>
              <a:spcBef>
                <a:spcPts val="0"/>
              </a:spcBef>
              <a:spcAft>
                <a:spcPts val="0"/>
              </a:spcAft>
            </a:pPr>
            <a:r>
              <a:rPr sz="950" b="0" i="0">
                <a:solidFill>
                  <a:srgbClr val="7A7F87"/>
                </a:solidFill>
                <a:latin typeface="Consolas"/>
              </a:rPr>
              <a:t>                                 # llm_configuration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is_accessible(self) -&gt; bool:    # False for vendor black boxes</a:t>
            </a:r>
          </a:p>
          <a:p>
            <a:pPr>
              <a:lnSpc>
                <a:spcPct val="134000"/>
              </a:lnSpc>
              <a:spcBef>
                <a:spcPts val="0"/>
              </a:spcBef>
              <a:spcAft>
                <a:spcPts val="0"/>
              </a:spcAft>
            </a:pPr>
            <a:r>
              <a:rPr sz="950" b="0" i="0">
                <a:solidFill>
                  <a:srgbClr val="1C1C1E"/>
                </a:solidFill>
                <a:latin typeface="Consolas"/>
              </a:rPr>
              <a:t>        return self.kind != "opaque"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a:t>
            </a:r>
          </a:p>
          <a:p>
            <a:pPr>
              <a:lnSpc>
                <a:spcPct val="134000"/>
              </a:lnSpc>
              <a:spcBef>
                <a:spcPts val="0"/>
              </a:spcBef>
              <a:spcAft>
                <a:spcPts val="0"/>
              </a:spcAft>
            </a:pPr>
            <a:r>
              <a:rPr sz="950" b="0" i="0">
                <a:solidFill>
                  <a:srgbClr val="1C1C1E"/>
                </a:solidFill>
                <a:latin typeface="Consolas"/>
              </a:rPr>
              <a:t>    output: ObjectSpec</a:t>
            </a:r>
          </a:p>
          <a:p>
            <a:pPr>
              <a:lnSpc>
                <a:spcPct val="134000"/>
              </a:lnSpc>
              <a:spcBef>
                <a:spcPts val="0"/>
              </a:spcBef>
              <a:spcAft>
                <a:spcPts val="0"/>
              </a:spcAft>
            </a:pPr>
            <a:r>
              <a:rPr sz="950" b="0" i="0">
                <a:solidFill>
                  <a:srgbClr val="1C1C1E"/>
                </a:solidFill>
                <a:latin typeface="Consolas"/>
              </a:rPr>
              <a:t>    deterministic: bool              # law L-3</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300" b="1" i="0">
                <a:solidFill>
                  <a:srgbClr val="1C1C1E"/>
                </a:solidFill>
                <a:latin typeface="Georgia"/>
              </a:rPr>
              <a:t>Why it is shaped this way</a:t>
            </a:r>
          </a:p>
          <a:p>
            <a:pPr>
              <a:spcBef>
                <a:spcPts val="800"/>
              </a:spcBef>
              <a:spcAft>
                <a:spcPts val="300"/>
              </a:spcAft>
            </a:pPr>
            <a:r>
              <a:rPr sz="1150" b="1">
                <a:solidFill>
                  <a:srgbClr val="A51C30"/>
                </a:solidFill>
                <a:latin typeface="Calibri"/>
              </a:rPr>
              <a:t>▪  </a:t>
            </a:r>
            <a:r>
              <a:rPr sz="1150" b="1">
                <a:solidFill>
                  <a:srgbClr val="1C1C1E"/>
                </a:solidFill>
                <a:latin typeface="Calibri"/>
              </a:rPr>
              <a:t>Parameters are an object, not a blob</a:t>
            </a:r>
          </a:p>
          <a:p>
            <a:pPr lvl="1">
              <a:spcBef>
                <a:spcPts val="0"/>
              </a:spcBef>
              <a:spcAft>
                <a:spcPts val="0"/>
              </a:spcAft>
            </a:pPr>
            <a:r>
              <a:rPr sz="1000">
                <a:solidFill>
                  <a:srgbClr val="4A4F57"/>
                </a:solidFill>
                <a:latin typeface="Calibri"/>
              </a:rPr>
              <a:t>P is first-class, so “no parameters” and “inaccessible parameters” are expressible states rather than nulls</a:t>
            </a:r>
          </a:p>
          <a:p>
            <a:pPr>
              <a:spcBef>
                <a:spcPts val="800"/>
              </a:spcBef>
              <a:spcAft>
                <a:spcPts val="300"/>
              </a:spcAft>
            </a:pPr>
            <a:r>
              <a:rPr sz="1150" b="1">
                <a:solidFill>
                  <a:srgbClr val="A51C30"/>
                </a:solidFill>
                <a:latin typeface="Calibri"/>
              </a:rPr>
              <a:t>▪  </a:t>
            </a:r>
            <a:r>
              <a:rPr sz="1150" b="1">
                <a:solidFill>
                  <a:srgbClr val="1C1C1E"/>
                </a:solidFill>
                <a:latin typeface="Calibri"/>
              </a:rPr>
              <a:t>Determinism is stored and tested</a:t>
            </a:r>
          </a:p>
          <a:p>
            <a:pPr lvl="1">
              <a:spcBef>
                <a:spcPts val="0"/>
              </a:spcBef>
              <a:spcAft>
                <a:spcPts val="0"/>
              </a:spcAft>
            </a:pPr>
            <a:r>
              <a:rPr sz="1000">
                <a:solidFill>
                  <a:srgbClr val="4A4F57"/>
                </a:solidFill>
                <a:latin typeface="Calibri"/>
              </a:rPr>
              <a:t>f commutes with copy — which is exactly the reproducibility replay in §8.2</a:t>
            </a:r>
          </a:p>
          <a:p>
            <a:pPr>
              <a:spcBef>
                <a:spcPts val="800"/>
              </a:spcBef>
              <a:spcAft>
                <a:spcPts val="300"/>
              </a:spcAft>
            </a:pPr>
            <a:r>
              <a:rPr sz="1150" b="1">
                <a:solidFill>
                  <a:srgbClr val="A51C30"/>
                </a:solidFill>
                <a:latin typeface="Calibri"/>
              </a:rPr>
              <a:t>▪  </a:t>
            </a:r>
            <a:r>
              <a:rPr sz="1150" b="1">
                <a:solidFill>
                  <a:srgbClr val="1C1C1E"/>
                </a:solidFill>
                <a:latin typeface="Calibri"/>
              </a:rPr>
              <a:t>No framework, no I/O</a:t>
            </a:r>
          </a:p>
          <a:p>
            <a:pPr lvl="1">
              <a:spcBef>
                <a:spcPts val="0"/>
              </a:spcBef>
              <a:spcAft>
                <a:spcPts val="0"/>
              </a:spcAft>
            </a:pPr>
            <a:r>
              <a:rPr sz="1000">
                <a:solidFill>
                  <a:srgbClr val="4A4F57"/>
                </a:solidFill>
                <a:latin typeface="Calibri"/>
              </a:rPr>
              <a:t>Fully unit-testable; the laws run in milliseconds over generated inputs</a:t>
            </a:r>
          </a:p>
          <a:p>
            <a:pPr>
              <a:spcBef>
                <a:spcPts val="800"/>
              </a:spcBef>
              <a:spcAft>
                <a:spcPts val="300"/>
              </a:spcAft>
            </a:pPr>
            <a:r>
              <a:rPr sz="1150" b="1">
                <a:solidFill>
                  <a:srgbClr val="A51C30"/>
                </a:solidFill>
                <a:latin typeface="Calibri"/>
              </a:rPr>
              <a:t>▪  </a:t>
            </a:r>
            <a:r>
              <a:rPr sz="1150" b="1">
                <a:solidFill>
                  <a:srgbClr val="1C1C1E"/>
                </a:solidFill>
                <a:latin typeface="Calibri"/>
              </a:rPr>
              <a:t>Frozen dataclasses</a:t>
            </a:r>
          </a:p>
          <a:p>
            <a:pPr lvl="1">
              <a:spcBef>
                <a:spcPts val="0"/>
              </a:spcBef>
              <a:spcAft>
                <a:spcPts val="0"/>
              </a:spcAft>
            </a:pPr>
            <a:r>
              <a:rPr sz="1000">
                <a:solidFill>
                  <a:srgbClr val="4A4F57"/>
                </a:solidFill>
                <a:latin typeface="Calibri"/>
              </a:rPr>
              <a:t>Immutability at the type level mirrors immutability at the storage level</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CLASSIFICATION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Trainability is derived, never declared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Rectangle 9"/>
          <p:cNvSpPr/>
          <p:nvPr/>
        </p:nvSpPr>
        <p:spPr>
          <a:xfrm>
            <a:off x="777240" y="1353312"/>
            <a:ext cx="10637215"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10271455"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def trainability_class(self, fit: FitProcedure, adaptive: bool) -&gt; str:</a:t>
            </a:r>
          </a:p>
          <a:p>
            <a:pPr>
              <a:lnSpc>
                <a:spcPct val="134000"/>
              </a:lnSpc>
              <a:spcBef>
                <a:spcPts val="0"/>
              </a:spcBef>
              <a:spcAft>
                <a:spcPts val="0"/>
              </a:spcAft>
            </a:pPr>
            <a:r>
              <a:rPr sz="1050" b="0" i="0">
                <a:solidFill>
                  <a:srgbClr val="1C1C1E"/>
                </a:solidFill>
                <a:latin typeface="Consolas"/>
              </a:rPr>
              <a:t>    if not self.parameters.is_accessible:   return "T6"    # vendor black box</a:t>
            </a:r>
          </a:p>
          <a:p>
            <a:pPr>
              <a:lnSpc>
                <a:spcPct val="134000"/>
              </a:lnSpc>
              <a:spcBef>
                <a:spcPts val="0"/>
              </a:spcBef>
              <a:spcAft>
                <a:spcPts val="0"/>
              </a:spcAft>
            </a:pPr>
            <a:r>
              <a:rPr sz="1050" b="0" i="0">
                <a:solidFill>
                  <a:srgbClr val="1C1C1E"/>
                </a:solidFill>
                <a:latin typeface="Consolas"/>
              </a:rPr>
              <a:t>    if self.parameters.is_terminal:         return "T0"    # analytic — P ≅ I</a:t>
            </a:r>
          </a:p>
          <a:p>
            <a:pPr>
              <a:lnSpc>
                <a:spcPct val="134000"/>
              </a:lnSpc>
              <a:spcBef>
                <a:spcPts val="0"/>
              </a:spcBef>
              <a:spcAft>
                <a:spcPts val="0"/>
              </a:spcAft>
            </a:pPr>
            <a:r>
              <a:rPr sz="1050" b="0" i="0">
                <a:solidFill>
                  <a:srgbClr val="1C1C1E"/>
                </a:solidFill>
                <a:latin typeface="Consolas"/>
              </a:rPr>
              <a:t>    return {"calibrate": "T1", "estimate": "T2",</a:t>
            </a:r>
          </a:p>
          <a:p>
            <a:pPr>
              <a:lnSpc>
                <a:spcPct val="134000"/>
              </a:lnSpc>
              <a:spcBef>
                <a:spcPts val="0"/>
              </a:spcBef>
              <a:spcAft>
                <a:spcPts val="0"/>
              </a:spcAft>
            </a:pPr>
            <a:r>
              <a:rPr sz="1050" b="0" i="0">
                <a:solidFill>
                  <a:srgbClr val="1C1C1E"/>
                </a:solidFill>
                <a:latin typeface="Consolas"/>
              </a:rPr>
              <a:t>            "train": "T4" if adaptive else "T3",</a:t>
            </a:r>
          </a:p>
          <a:p>
            <a:pPr>
              <a:lnSpc>
                <a:spcPct val="134000"/>
              </a:lnSpc>
              <a:spcBef>
                <a:spcPts val="0"/>
              </a:spcBef>
              <a:spcAft>
                <a:spcPts val="0"/>
              </a:spcAft>
            </a:pPr>
            <a:r>
              <a:rPr sz="1050" b="0" i="0">
                <a:solidFill>
                  <a:srgbClr val="1C1C1E"/>
                </a:solidFill>
                <a:latin typeface="Consolas"/>
              </a:rPr>
              <a:t>            "configure": "T5", "elicit": "T7", "author": "T8"}[fit]</a:t>
            </a:r>
          </a:p>
        </p:txBody>
      </p:sp>
      <p:sp>
        <p:nvSpPr>
          <p:cNvPr id="14" name="TextBox 13"/>
          <p:cNvSpPr txBox="1"/>
          <p:nvPr/>
        </p:nvSpPr>
        <p:spPr>
          <a:xfrm>
            <a:off x="777240" y="3545448"/>
            <a:ext cx="4999491" cy="2194560"/>
          </a:xfrm>
          <a:prstGeom prst="rect">
            <a:avLst/>
          </a:prstGeom>
          <a:noFill/>
        </p:spPr>
        <p:txBody>
          <a:bodyPr wrap="square" lIns="0" rIns="0" tIns="0" bIns="0" anchor="t">
            <a:spAutoFit/>
          </a:bodyPr>
          <a:lstStyle/>
          <a:p>
            <a:pPr algn="l">
              <a:spcBef>
                <a:spcPts val="0"/>
              </a:spcBef>
              <a:spcAft>
                <a:spcPts val="800"/>
              </a:spcAft>
            </a:pPr>
            <a:r>
              <a:rPr sz="1300" b="1" i="0">
                <a:solidFill>
                  <a:srgbClr val="1C1C1E"/>
                </a:solidFill>
                <a:latin typeface="Georgia"/>
              </a:rPr>
              <a:t>What this buys</a:t>
            </a:r>
          </a:p>
          <a:p>
            <a:pPr>
              <a:spcBef>
                <a:spcPts val="0"/>
              </a:spcBef>
              <a:spcAft>
                <a:spcPts val="700"/>
              </a:spcAft>
            </a:pPr>
            <a:r>
              <a:rPr sz="1150" b="1">
                <a:solidFill>
                  <a:srgbClr val="A51C30"/>
                </a:solidFill>
                <a:latin typeface="Calibri"/>
              </a:rPr>
              <a:t>▪  </a:t>
            </a:r>
            <a:r>
              <a:rPr sz="1150">
                <a:solidFill>
                  <a:srgbClr val="1C1C1E"/>
                </a:solidFill>
                <a:latin typeface="Calibri"/>
              </a:rPr>
              <a:t>The class is a function of the parameter object and the fitting procedure — never an enum a user picks</a:t>
            </a:r>
          </a:p>
          <a:p>
            <a:pPr>
              <a:spcBef>
                <a:spcPts val="0"/>
              </a:spcBef>
              <a:spcAft>
                <a:spcPts val="700"/>
              </a:spcAft>
            </a:pPr>
            <a:r>
              <a:rPr sz="1150" b="1">
                <a:solidFill>
                  <a:srgbClr val="A51C30"/>
                </a:solidFill>
                <a:latin typeface="Calibri"/>
              </a:rPr>
              <a:t>▪  </a:t>
            </a:r>
            <a:r>
              <a:rPr sz="1150">
                <a:solidFill>
                  <a:srgbClr val="1C1C1E"/>
                </a:solidFill>
                <a:latin typeface="Calibri"/>
              </a:rPr>
              <a:t>Mislabelled records become impossible, so the estate cannot quietly drift</a:t>
            </a:r>
          </a:p>
          <a:p>
            <a:pPr>
              <a:spcBef>
                <a:spcPts val="0"/>
              </a:spcBef>
              <a:spcAft>
                <a:spcPts val="700"/>
              </a:spcAft>
            </a:pPr>
            <a:r>
              <a:rPr sz="1150" b="1">
                <a:solidFill>
                  <a:srgbClr val="A51C30"/>
                </a:solidFill>
                <a:latin typeface="Calibri"/>
              </a:rPr>
              <a:t>▪  </a:t>
            </a:r>
            <a:r>
              <a:rPr sz="1150">
                <a:solidFill>
                  <a:srgbClr val="1C1C1E"/>
                </a:solidFill>
                <a:latin typeface="Calibri"/>
              </a:rPr>
              <a:t>T0 and T6 are the two extremal cases and both fall out, rather than being special-cased</a:t>
            </a:r>
          </a:p>
        </p:txBody>
      </p:sp>
      <p:sp>
        <p:nvSpPr>
          <p:cNvPr id="15" name="Rectangle 14"/>
          <p:cNvSpPr/>
          <p:nvPr/>
        </p:nvSpPr>
        <p:spPr>
          <a:xfrm>
            <a:off x="6414964" y="3545448"/>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545448"/>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673464"/>
            <a:ext cx="4542291" cy="118872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The consequence that matters. </a:t>
            </a:r>
            <a:r>
              <a:rPr sz="11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REASONING ABOUT BLACK BOXES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DECIDABLE SUBSTITUTABILITY</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a:t>
            </a:r>
          </a:p>
          <a:p>
            <a:pPr>
              <a:lnSpc>
                <a:spcPct val="134000"/>
              </a:lnSpc>
              <a:spcBef>
                <a:spcPts val="0"/>
              </a:spcBef>
              <a:spcAft>
                <a:spcPts val="0"/>
              </a:spcAft>
            </a:pPr>
            <a:r>
              <a:rPr sz="950" b="0" i="0">
                <a:solidFill>
                  <a:srgbClr val="1C1C1E"/>
                </a:solidFill>
                <a:latin typeface="Consolas"/>
              </a:rPr>
              <a:t>    weaker_assumption  = other.assumptions.implies(self.assumptions)</a:t>
            </a:r>
          </a:p>
          <a:p>
            <a:pPr>
              <a:lnSpc>
                <a:spcPct val="134000"/>
              </a:lnSpc>
              <a:spcBef>
                <a:spcPts val="0"/>
              </a:spcBef>
              <a:spcAft>
                <a:spcPts val="0"/>
              </a:spcAft>
            </a:pPr>
            <a:r>
              <a:rPr sz="950" b="0" i="0">
                <a:solidFill>
                  <a:srgbClr val="1C1C1E"/>
                </a:solidFill>
                <a:latin typeface="Consolas"/>
              </a:rPr>
              <a:t>    stronger_guarantee = (other.assumptions &amp; self.guarantees) \</a:t>
            </a:r>
          </a:p>
          <a:p>
            <a:pPr>
              <a:lnSpc>
                <a:spcPct val="134000"/>
              </a:lnSpc>
              <a:spcBef>
                <a:spcPts val="0"/>
              </a:spcBef>
              <a:spcAft>
                <a:spcPts val="0"/>
              </a:spcAft>
            </a:pPr>
            <a:r>
              <a:rPr sz="950" b="0" i="0">
                <a:solidFill>
                  <a:srgbClr val="1C1C1E"/>
                </a:solidFill>
                <a:latin typeface="Consolas"/>
              </a:rPr>
              <a:t>                            .implies(other.guarantees)</a:t>
            </a:r>
          </a:p>
          <a:p>
            <a:pPr>
              <a:lnSpc>
                <a:spcPct val="134000"/>
              </a:lnSpc>
              <a:spcBef>
                <a:spcPts val="0"/>
              </a:spcBef>
              <a:spcAft>
                <a:spcPts val="0"/>
              </a:spcAft>
            </a:pPr>
            <a:r>
              <a:rPr sz="950" b="0" i="0">
                <a:solidFill>
                  <a:srgbClr val="1C1C1E"/>
                </a:solidFill>
                <a:latin typeface="Consolas"/>
              </a:rPr>
              <a:t>    return RefinementResult(</a:t>
            </a:r>
          </a:p>
          <a:p>
            <a:pPr>
              <a:lnSpc>
                <a:spcPct val="134000"/>
              </a:lnSpc>
              <a:spcBef>
                <a:spcPts val="0"/>
              </a:spcBef>
              <a:spcAft>
                <a:spcPts val="0"/>
              </a:spcAft>
            </a:pPr>
            <a:r>
              <a:rPr sz="950" b="0" i="0">
                <a:solidFill>
                  <a:srgbClr val="1C1C1E"/>
                </a:solidFill>
                <a:latin typeface="Consolas"/>
              </a:rPr>
              <a:t>        holds = weaker_assumption and stronger_guarantee,</a:t>
            </a:r>
          </a:p>
          <a:p>
            <a:pPr>
              <a:lnSpc>
                <a:spcPct val="134000"/>
              </a:lnSpc>
              <a:spcBef>
                <a:spcPts val="0"/>
              </a:spcBef>
              <a:spcAft>
                <a:spcPts val="0"/>
              </a:spcAft>
            </a:pPr>
            <a:r>
              <a:rPr sz="950" b="0" i="0">
                <a:solidFill>
                  <a:srgbClr val="1C1C1E"/>
                </a:solidFill>
                <a:latin typeface="Consolas"/>
              </a:rPr>
              <a:t>        failing_clauses = [...],   # DR-7: always name what failed</a:t>
            </a:r>
          </a:p>
          <a:p>
            <a:pPr>
              <a:lnSpc>
                <a:spcPct val="134000"/>
              </a:lnSpc>
              <a:spcBef>
                <a:spcPts val="0"/>
              </a:spcBef>
              <a:spcAft>
                <a:spcPts val="0"/>
              </a:spcAft>
            </a:pPr>
            <a:r>
              <a:rPr sz="950" b="0" i="0">
                <a:solidFill>
                  <a:srgbClr val="1C1C1E"/>
                </a:solidFill>
                <a:latin typeface="Consolas"/>
              </a:rPr>
              <a:t>    )</a:t>
            </a:r>
          </a:p>
        </p:txBody>
      </p:sp>
      <p:sp>
        <p:nvSpPr>
          <p:cNvPr id="14" name="TextBox 13"/>
          <p:cNvSpPr txBox="1"/>
          <p:nvPr/>
        </p:nvSpPr>
        <p:spPr>
          <a:xfrm>
            <a:off x="7053196" y="1353312"/>
            <a:ext cx="4361258" cy="164592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deliberately restricted predicate language</a:t>
            </a:r>
          </a:p>
          <a:p>
            <a:pPr>
              <a:lnSpc>
                <a:spcPct val="125000"/>
              </a:lnSpc>
              <a:spcBef>
                <a:spcPts val="0"/>
              </a:spcBef>
              <a:spcAft>
                <a:spcPts val="700"/>
              </a:spcAft>
            </a:pPr>
            <a:r>
              <a:rPr sz="1100" b="0" i="0">
                <a:solidFill>
                  <a:srgbClr val="4A4F57"/>
                </a:solidFill>
                <a:latin typeface="Calibri"/>
              </a:rPr>
              <a:t>Conjunctions of interval constraints, set membership, metric comparisons and freshness bounds — chosen so refinement stays decidable.</a:t>
            </a:r>
          </a:p>
          <a:p>
            <a:pPr>
              <a:lnSpc>
                <a:spcPct val="125000"/>
              </a:lnSpc>
              <a:spcBef>
                <a:spcPts val="0"/>
              </a:spcBef>
              <a:spcAft>
                <a:spcPts val="600"/>
              </a:spcAft>
            </a:pPr>
            <a:r>
              <a:rPr sz="1100" b="0" i="0">
                <a:solidFill>
                  <a:srgbClr val="4A4F57"/>
                </a:solidFill>
                <a:latin typeface="Calibri"/>
              </a:rPr>
              <a:t>Richer assumptions are recorded as </a:t>
            </a:r>
            <a:r>
              <a:rPr sz="1100" b="1" i="1">
                <a:solidFill>
                  <a:srgbClr val="1C1C1E"/>
                </a:solidFill>
                <a:latin typeface="Calibri"/>
              </a:rPr>
              <a:t>narrative</a:t>
            </a:r>
            <a:r>
              <a:rPr sz="1100" b="0" i="0">
                <a:solidFill>
                  <a:srgbClr val="4A4F57"/>
                </a:solidFill>
                <a:latin typeface="Calibri"/>
              </a:rPr>
              <a:t> and explicitly excluded from automated refinement — so nobody believes a check happened that did not.</a:t>
            </a:r>
          </a:p>
        </p:txBody>
      </p:sp>
      <p:sp>
        <p:nvSpPr>
          <p:cNvPr id="15" name="TextBox 14"/>
          <p:cNvSpPr txBox="1"/>
          <p:nvPr/>
        </p:nvSpPr>
        <p:spPr>
          <a:xfrm>
            <a:off x="777240" y="4046197"/>
            <a:ext cx="10637215" cy="365760"/>
          </a:xfrm>
          <a:prstGeom prst="rect">
            <a:avLst/>
          </a:prstGeom>
          <a:noFill/>
        </p:spPr>
        <p:txBody>
          <a:bodyPr wrap="square" lIns="0" rIns="0" tIns="0" bIns="0" anchor="t">
            <a:spAutoFit/>
          </a:bodyPr>
          <a:lstStyle/>
          <a:p>
            <a:pPr algn="l">
              <a:spcBef>
                <a:spcPts val="0"/>
              </a:spcBef>
              <a:spcAft>
                <a:spcPts val="0"/>
              </a:spcAft>
            </a:pPr>
            <a:r>
              <a:rPr sz="1300" b="1" i="0">
                <a:solidFill>
                  <a:srgbClr val="1C1C1E"/>
                </a:solidFill>
                <a:latin typeface="Georgia"/>
              </a:rPr>
              <a:t>Where the four operations are used</a:t>
            </a:r>
          </a:p>
        </p:txBody>
      </p:sp>
      <p:graphicFrame>
        <p:nvGraphicFramePr>
          <p:cNvPr id="16" name="Table 15"/>
          <p:cNvGraphicFramePr>
            <a:graphicFrameLocks noGrp="1"/>
          </p:cNvGraphicFramePr>
          <p:nvPr/>
        </p:nvGraphicFramePr>
        <p:xfrm>
          <a:off x="777240" y="4411957"/>
          <a:ext cx="10637214" cy="1813773"/>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Operation</a:t>
                      </a:r>
                    </a:p>
                  </a:txBody>
                  <a:tcPr marL="82296" marR="64008" marT="32004" marB="32004" anchor="ctr">
                    <a:solidFill>
                      <a:srgbClr val="A51C30"/>
                    </a:solidFill>
                  </a:tcPr>
                </a:tc>
                <a:tc>
                  <a:txBody>
                    <a:bodyPr wrap="square"/>
                    <a:lstStyle/>
                    <a:p>
                      <a:pPr algn="l"/>
                      <a:r>
                        <a:rPr sz="1100" b="1">
                          <a:solidFill>
                            <a:srgbClr val="FFFFFF"/>
                          </a:solidFill>
                          <a:latin typeface="Calibri"/>
                        </a:rPr>
                        <a:t>Question it answers</a:t>
                      </a:r>
                    </a:p>
                  </a:txBody>
                  <a:tcPr marL="82296" marR="64008" marT="32004" marB="32004" anchor="ctr">
                    <a:solidFill>
                      <a:srgbClr val="A51C30"/>
                    </a:solidFill>
                  </a:tcPr>
                </a:tc>
                <a:tc>
                  <a:txBody>
                    <a:bodyPr wrap="square"/>
                    <a:lstStyle/>
                    <a:p>
                      <a:pPr algn="l"/>
                      <a:r>
                        <a:rPr sz="1100" b="1">
                          <a:solidFill>
                            <a:srgbClr val="FFFFFF"/>
                          </a:solidFill>
                          <a:latin typeface="Calibri"/>
                        </a:rPr>
                        <a:t>Used at</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Refinement  ⪯</a:t>
                      </a:r>
                    </a:p>
                  </a:txBody>
                  <a:tcPr marL="82296" marR="64008" marT="32004" marB="32004" anchor="ctr">
                    <a:solidFill>
                      <a:srgbClr val="FFFFFF"/>
                    </a:solidFill>
                  </a:tcPr>
                </a:tc>
                <a:tc>
                  <a:txBody>
                    <a:bodyPr wrap="square"/>
                    <a:lstStyle/>
                    <a:p>
                      <a:pPr algn="l"/>
                      <a:r>
                        <a:rPr sz="105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50" b="0">
                          <a:solidFill>
                            <a:srgbClr val="1C1C1E"/>
                          </a:solidFill>
                          <a:latin typeface="Calibri"/>
                        </a:rPr>
                        <a:t>Every alias move — a proof obligation, not a meeting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Composition  ⊗</a:t>
                      </a:r>
                    </a:p>
                  </a:txBody>
                  <a:tcPr marL="82296" marR="64008" marT="32004" marB="32004" anchor="ctr">
                    <a:solidFill>
                      <a:srgbClr val="F6F3EF"/>
                    </a:solidFill>
                  </a:tcPr>
                </a:tc>
                <a:tc>
                  <a:txBody>
                    <a:bodyPr wrap="square"/>
                    <a:lstStyle/>
                    <a:p>
                      <a:pPr algn="l"/>
                      <a:r>
                        <a:rPr sz="1050" b="0">
                          <a:solidFill>
                            <a:srgbClr val="1C1C1E"/>
                          </a:solidFill>
                          <a:latin typeface="Calibri"/>
                        </a:rPr>
                        <a:t>What does this model chain promise end to end?</a:t>
                      </a:r>
                    </a:p>
                  </a:txBody>
                  <a:tcPr marL="82296" marR="64008" marT="32004" marB="32004" anchor="ctr">
                    <a:solidFill>
                      <a:srgbClr val="F6F3EF"/>
                    </a:solidFill>
                  </a:tcPr>
                </a:tc>
                <a:tc>
                  <a:txBody>
                    <a:bodyPr wrap="square"/>
                    <a:lstStyle/>
                    <a:p>
                      <a:pPr algn="l"/>
                      <a:r>
                        <a:rPr sz="1050" b="0">
                          <a:solidFill>
                            <a:srgbClr val="1C1C1E"/>
                          </a:solidFill>
                          <a:latin typeface="Calibri"/>
                        </a:rPr>
                        <a:t>Composite warrants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Conjunction  ∧</a:t>
                      </a:r>
                    </a:p>
                  </a:txBody>
                  <a:tcPr marL="82296" marR="64008" marT="32004" marB="32004" anchor="ctr">
                    <a:solidFill>
                      <a:srgbClr val="FFFFFF"/>
                    </a:solidFill>
                  </a:tcPr>
                </a:tc>
                <a:tc>
                  <a:txBody>
                    <a:bodyPr wrap="square"/>
                    <a:lstStyle/>
                    <a:p>
                      <a:pPr algn="l"/>
                      <a:r>
                        <a:rPr sz="1050" b="0">
                          <a:solidFill>
                            <a:srgbClr val="1C1C1E"/>
                          </a:solidFill>
                          <a:latin typeface="Calibri"/>
                        </a:rPr>
                        <a:t>Satisfy performance and fairness and latency together</a:t>
                      </a:r>
                    </a:p>
                  </a:txBody>
                  <a:tcPr marL="82296" marR="64008" marT="32004" marB="32004" anchor="ctr">
                    <a:solidFill>
                      <a:srgbClr val="FFFFFF"/>
                    </a:solidFill>
                  </a:tcPr>
                </a:tc>
                <a:tc>
                  <a:txBody>
                    <a:bodyPr wrap="square"/>
                    <a:lstStyle/>
                    <a:p>
                      <a:pPr algn="l"/>
                      <a:r>
                        <a:rPr sz="1050" b="0">
                          <a:solidFill>
                            <a:srgbClr val="1C1C1E"/>
                          </a:solidFill>
                          <a:latin typeface="Calibri"/>
                        </a:rPr>
                        <a:t>Merging viewpoints on one model</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Quotient  /</a:t>
                      </a:r>
                    </a:p>
                  </a:txBody>
                  <a:tcPr marL="82296" marR="64008" marT="32004" marB="32004" anchor="ctr">
                    <a:solidFill>
                      <a:srgbClr val="F6F3EF"/>
                    </a:solidFill>
                  </a:tcPr>
                </a:tc>
                <a:tc>
                  <a:txBody>
                    <a:bodyPr wrap="square"/>
                    <a:lstStyle/>
                    <a:p>
                      <a:pPr algn="l"/>
                      <a:r>
                        <a:rPr sz="1050" b="0">
                          <a:solidFill>
                            <a:srgbClr val="1C1C1E"/>
                          </a:solidFill>
                          <a:latin typeface="Calibri"/>
                        </a:rPr>
                        <a:t>Given the target and what we have, what must the missing piece guarantee?</a:t>
                      </a:r>
                    </a:p>
                  </a:txBody>
                  <a:tcPr marL="82296" marR="64008" marT="32004" marB="32004" anchor="ctr">
                    <a:solidFill>
                      <a:srgbClr val="F6F3EF"/>
                    </a:solidFill>
                  </a:tcPr>
                </a:tc>
                <a:tc>
                  <a:txBody>
                    <a:bodyPr wrap="square"/>
                    <a:lstStyle/>
                    <a:p>
                      <a:pPr algn="l"/>
                      <a:r>
                        <a:rPr sz="1050" b="0">
                          <a:solidFill>
                            <a:srgbClr val="1C1C1E"/>
                          </a:solidFill>
                          <a:latin typeface="Calibri"/>
                        </a:rPr>
                        <a:t>Turns a validation gap into a specification</a:t>
                      </a:r>
                    </a:p>
                  </a:txBody>
                  <a:tcPr marL="82296" marR="64008" marT="32004" marB="32004" anchor="ctr">
                    <a:solidFill>
                      <a:srgbClr val="F6F3EF"/>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EXTENSIBILITY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fibre registry, and why it fails at startup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sp>
        <p:nvSpPr>
          <p:cNvPr id="10" name="Rectangle 9"/>
          <p:cNvSpPr/>
          <p:nvPr/>
        </p:nvSpPr>
        <p:spPr>
          <a:xfrm>
            <a:off x="777240" y="1353312"/>
            <a:ext cx="6169584" cy="341880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41880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STARTUP TOTALITY CHECK</a:t>
            </a:r>
          </a:p>
        </p:txBody>
      </p:sp>
      <p:sp>
        <p:nvSpPr>
          <p:cNvPr id="13" name="TextBox 12"/>
          <p:cNvSpPr txBox="1"/>
          <p:nvPr/>
        </p:nvSpPr>
        <p:spPr>
          <a:xfrm>
            <a:off x="978408" y="1746504"/>
            <a:ext cx="5803824" cy="2943316"/>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FibreRegistry:</a:t>
            </a:r>
          </a:p>
          <a:p>
            <a:pPr>
              <a:lnSpc>
                <a:spcPct val="134000"/>
              </a:lnSpc>
              <a:spcBef>
                <a:spcPts val="0"/>
              </a:spcBef>
              <a:spcAft>
                <a:spcPts val="0"/>
              </a:spcAft>
            </a:pPr>
            <a:r>
              <a:rPr sz="950" b="0" i="0">
                <a:solidFill>
                  <a:srgbClr val="1C1C1E"/>
                </a:solidFill>
                <a:latin typeface="Consolas"/>
              </a:rPr>
              <a:t>    def __init__(self, plugins: PluginLoader):</a:t>
            </a:r>
          </a:p>
          <a:p>
            <a:pPr>
              <a:lnSpc>
                <a:spcPct val="134000"/>
              </a:lnSpc>
              <a:spcBef>
                <a:spcPts val="0"/>
              </a:spcBef>
              <a:spcAft>
                <a:spcPts val="0"/>
              </a:spcAft>
            </a:pPr>
            <a:r>
              <a:rPr sz="950" b="0" i="0">
                <a:solidFill>
                  <a:srgbClr val="1C1C1E"/>
                </a:solidFill>
                <a:latin typeface="Consolas"/>
              </a:rPr>
              <a:t>        for ep in plugins.entry_points("maya.model_class"):</a:t>
            </a:r>
          </a:p>
          <a:p>
            <a:pPr>
              <a:lnSpc>
                <a:spcPct val="134000"/>
              </a:lnSpc>
              <a:spcBef>
                <a:spcPts val="0"/>
              </a:spcBef>
              <a:spcAft>
                <a:spcPts val="0"/>
              </a:spcAft>
            </a:pPr>
            <a:r>
              <a:rPr sz="950" b="0" i="0">
                <a:solidFill>
                  <a:srgbClr val="1C1C1E"/>
                </a:solidFill>
                <a:latin typeface="Consolas"/>
              </a:rPr>
              <a:t>            f = ep.load()()</a:t>
            </a:r>
          </a:p>
          <a:p>
            <a:pPr>
              <a:lnSpc>
                <a:spcPct val="134000"/>
              </a:lnSpc>
              <a:spcBef>
                <a:spcPts val="0"/>
              </a:spcBef>
              <a:spcAft>
                <a:spcPts val="0"/>
              </a:spcAft>
            </a:pPr>
            <a:r>
              <a:rPr sz="950" b="0" i="0">
                <a:solidFill>
                  <a:srgbClr val="1C1C1E"/>
                </a:solidFill>
                <a:latin typeface="Consolas"/>
              </a:rPr>
              <a:t>            self._validate_total(f)      # law L-15</a:t>
            </a:r>
          </a:p>
          <a:p>
            <a:pPr>
              <a:lnSpc>
                <a:spcPct val="134000"/>
              </a:lnSpc>
              <a:spcBef>
                <a:spcPts val="0"/>
              </a:spcBef>
              <a:spcAft>
                <a:spcPts val="0"/>
              </a:spcAft>
            </a:pPr>
            <a:r>
              <a:rPr sz="950" b="0" i="0">
                <a:solidFill>
                  <a:srgbClr val="1C1C1E"/>
                </a:solidFill>
                <a:latin typeface="Consolas"/>
              </a:rPr>
              <a:t>            self._fibres[f.key] = f</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def _validate_total(self, f) -&gt; None:</a:t>
            </a:r>
          </a:p>
          <a:p>
            <a:pPr>
              <a:lnSpc>
                <a:spcPct val="134000"/>
              </a:lnSpc>
              <a:spcBef>
                <a:spcPts val="0"/>
              </a:spcBef>
              <a:spcAft>
                <a:spcPts val="0"/>
              </a:spcAft>
            </a:pPr>
            <a:r>
              <a:rPr sz="950" b="0" i="0">
                <a:solidFill>
                  <a:srgbClr val="1C1C1E"/>
                </a:solidFill>
                <a:latin typeface="Consolas"/>
              </a:rPr>
              <a:t>        missing = [n for n in ("evidence_schema", "lifecycle",</a:t>
            </a:r>
          </a:p>
          <a:p>
            <a:pPr>
              <a:lnSpc>
                <a:spcPct val="134000"/>
              </a:lnSpc>
              <a:spcBef>
                <a:spcPts val="0"/>
              </a:spcBef>
              <a:spcAft>
                <a:spcPts val="0"/>
              </a:spcAft>
            </a:pPr>
            <a:r>
              <a:rPr sz="950" b="0" i="0">
                <a:solidFill>
                  <a:srgbClr val="1C1C1E"/>
                </a:solidFill>
                <a:latin typeface="Consolas"/>
              </a:rPr>
              <a:t>                   "default_monitors", "document_templates",</a:t>
            </a:r>
          </a:p>
          <a:p>
            <a:pPr>
              <a:lnSpc>
                <a:spcPct val="134000"/>
              </a:lnSpc>
              <a:spcBef>
                <a:spcPts val="0"/>
              </a:spcBef>
              <a:spcAft>
                <a:spcPts val="0"/>
              </a:spcAft>
            </a:pPr>
            <a:r>
              <a:rPr sz="950" b="0" i="0">
                <a:solidFill>
                  <a:srgbClr val="1C1C1E"/>
                </a:solidFill>
                <a:latin typeface="Consolas"/>
              </a:rPr>
              <a:t>                   "tiering_hints", "contract_template")</a:t>
            </a:r>
          </a:p>
          <a:p>
            <a:pPr>
              <a:lnSpc>
                <a:spcPct val="134000"/>
              </a:lnSpc>
              <a:spcBef>
                <a:spcPts val="0"/>
              </a:spcBef>
              <a:spcAft>
                <a:spcPts val="0"/>
              </a:spcAft>
            </a:pPr>
            <a:r>
              <a:rPr sz="950" b="0" i="0">
                <a:solidFill>
                  <a:srgbClr val="1C1C1E"/>
                </a:solidFill>
                <a:latin typeface="Consolas"/>
              </a:rPr>
              <a:t>                   if not getattr(f, n)()]</a:t>
            </a:r>
          </a:p>
          <a:p>
            <a:pPr>
              <a:lnSpc>
                <a:spcPct val="134000"/>
              </a:lnSpc>
              <a:spcBef>
                <a:spcPts val="0"/>
              </a:spcBef>
              <a:spcAft>
                <a:spcPts val="0"/>
              </a:spcAft>
            </a:pPr>
            <a:r>
              <a:rPr sz="950" b="0" i="0">
                <a:solidFill>
                  <a:srgbClr val="1C1C1E"/>
                </a:solidFill>
                <a:latin typeface="Consolas"/>
              </a:rPr>
              <a:t>        if missing:</a:t>
            </a:r>
          </a:p>
          <a:p>
            <a:pPr>
              <a:lnSpc>
                <a:spcPct val="134000"/>
              </a:lnSpc>
              <a:spcBef>
                <a:spcPts val="0"/>
              </a:spcBef>
              <a:spcAft>
                <a:spcPts val="0"/>
              </a:spcAft>
            </a:pPr>
            <a:r>
              <a:rPr sz="950" b="0" i="0">
                <a:solidFill>
                  <a:srgbClr val="1C1C1E"/>
                </a:solidFill>
                <a:latin typeface="Consolas"/>
              </a:rPr>
              <a:t>            raise FibreIncomplete(f.key, missing)  # refuse to boot</a:t>
            </a:r>
          </a:p>
        </p:txBody>
      </p:sp>
      <p:sp>
        <p:nvSpPr>
          <p:cNvPr id="14" name="TextBox 13"/>
          <p:cNvSpPr txBox="1"/>
          <p:nvPr/>
        </p:nvSpPr>
        <p:spPr>
          <a:xfrm>
            <a:off x="7372313" y="135331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Nine extension points</a:t>
            </a:r>
          </a:p>
          <a:p>
            <a:pPr>
              <a:lnSpc>
                <a:spcPct val="130000"/>
              </a:lnSpc>
              <a:spcBef>
                <a:spcPts val="0"/>
              </a:spcBef>
              <a:spcAft>
                <a:spcPts val="1200"/>
              </a:spcAft>
            </a:pPr>
            <a:r>
              <a:rPr sz="1100" b="0" i="0">
                <a:solidFill>
                  <a:srgbClr val="4A4F57"/>
                </a:solidFill>
                <a:latin typeface="Calibri"/>
              </a:rPr>
              <a:t>model class · regime · semiring · artifact format · validation test · metric · document template · warrant flavour · connector</a:t>
            </a:r>
          </a:p>
          <a:p>
            <a:pPr>
              <a:spcBef>
                <a:spcPts val="0"/>
              </a:spcBef>
              <a:spcAft>
                <a:spcPts val="700"/>
              </a:spcAft>
            </a:pPr>
            <a:r>
              <a:rPr sz="1250" b="1" i="0">
                <a:solidFill>
                  <a:srgbClr val="1C1C1E"/>
                </a:solidFill>
                <a:latin typeface="Georgia"/>
              </a:rPr>
              <a:t>Why refuse to boot?</a:t>
            </a:r>
          </a:p>
          <a:p>
            <a:pPr>
              <a:lnSpc>
                <a:spcPct val="130000"/>
              </a:lnSpc>
              <a:spcBef>
                <a:spcPts val="0"/>
              </a:spcBef>
              <a:spcAft>
                <a:spcPts val="1200"/>
              </a:spcAft>
            </a:pPr>
            <a:r>
              <a:rPr sz="1100" b="0" i="0">
                <a:solidFill>
                  <a:srgbClr val="4A4F57"/>
                </a:solidFill>
                <a:latin typeface="Calibri"/>
              </a:rPr>
              <a:t>A half-registered fibre would otherwise surface as a confusing runtime error weeks later, in the one place the platform has to be trustworthy. Failing loudly at startup is the cheaper failure.</a:t>
            </a:r>
          </a:p>
          <a:p>
            <a:pPr>
              <a:lnSpc>
                <a:spcPct val="126000"/>
              </a:lnSpc>
              <a:spcBef>
                <a:spcPts val="0"/>
              </a:spcBef>
              <a:spcAft>
                <a:spcPts val="0"/>
              </a:spcAft>
            </a:pPr>
            <a:r>
              <a:rPr sz="1050" b="1" i="0">
                <a:solidFill>
                  <a:srgbClr val="A51C30"/>
                </a:solidFill>
                <a:latin typeface="Calibri"/>
              </a:rPr>
              <a:t>Not built. </a:t>
            </a:r>
            <a:r>
              <a:rPr sz="1050" b="0" i="0">
                <a:solidFill>
                  <a:srgbClr val="1C1C1E"/>
                </a:solidFill>
                <a:latin typeface="Calibri"/>
              </a:rPr>
              <a:t>A model class is a string on the register today; there is no plugin loader and no totality check, so L-15 is stated and not enforced. The extensibility that </a:t>
            </a:r>
            <a:r>
              <a:rPr sz="1050" b="1" i="0">
                <a:solidFill>
                  <a:srgbClr val="1C1C1E"/>
                </a:solidFill>
                <a:latin typeface="Calibri"/>
              </a:rPr>
              <a:t>is</a:t>
            </a:r>
            <a:r>
              <a:rPr sz="1050" b="0" i="0">
                <a:solidFill>
                  <a:srgbClr val="1C1C1E"/>
                </a:solidFill>
                <a:latin typeface="Calibri"/>
              </a:rPr>
              <a:t> built is the warrant grammar's: a new model technology is a new value in one vocabulary, not a new document type.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the full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Rectangle 9"/>
          <p:cNvSpPr/>
          <p:nvPr/>
        </p:nvSpPr>
        <p:spPr>
          <a:xfrm>
            <a:off x="777240"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Manifest checked against the fibre's JSON Schema</a:t>
            </a:r>
          </a:p>
        </p:txBody>
      </p:sp>
      <p:sp>
        <p:nvSpPr>
          <p:cNvPr id="13" name="Rectangle 12"/>
          <p:cNvSpPr/>
          <p:nvPr/>
        </p:nvSpPr>
        <p:spPr>
          <a:xfrm>
            <a:off x="232296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32296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46927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Quarantine</a:t>
            </a:r>
          </a:p>
          <a:p>
            <a:pPr>
              <a:lnSpc>
                <a:spcPct val="115000"/>
              </a:lnSpc>
              <a:spcBef>
                <a:spcPts val="0"/>
              </a:spcBef>
              <a:spcAft>
                <a:spcPts val="600"/>
              </a:spcAft>
            </a:pPr>
            <a:r>
              <a:rPr sz="850" b="0" i="0">
                <a:solidFill>
                  <a:srgbClr val="4A4F57"/>
                </a:solidFill>
                <a:latin typeface="Calibri"/>
              </a:rPr>
              <a:t>Artifact streamed to a no-execute, content-addressed store</a:t>
            </a:r>
          </a:p>
        </p:txBody>
      </p:sp>
      <p:sp>
        <p:nvSpPr>
          <p:cNvPr id="16" name="Rectangle 15"/>
          <p:cNvSpPr/>
          <p:nvPr/>
        </p:nvSpPr>
        <p:spPr>
          <a:xfrm>
            <a:off x="3868695"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3868695"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014999"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Sandbox</a:t>
            </a:r>
          </a:p>
          <a:p>
            <a:pPr>
              <a:lnSpc>
                <a:spcPct val="115000"/>
              </a:lnSpc>
              <a:spcBef>
                <a:spcPts val="0"/>
              </a:spcBef>
              <a:spcAft>
                <a:spcPts val="600"/>
              </a:spcAft>
            </a:pPr>
            <a:r>
              <a:rPr sz="850" b="0" i="0">
                <a:solidFill>
                  <a:srgbClr val="4A4F57"/>
                </a:solidFill>
                <a:latin typeface="Calibri"/>
              </a:rPr>
              <a:t>Malware, pickle opcodes, SCA, secrets, licence; then graph parse</a:t>
            </a:r>
          </a:p>
        </p:txBody>
      </p:sp>
      <p:sp>
        <p:nvSpPr>
          <p:cNvPr id="19" name="Rectangle 18"/>
          <p:cNvSpPr/>
          <p:nvPr/>
        </p:nvSpPr>
        <p:spPr>
          <a:xfrm>
            <a:off x="5414423"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414423"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5560727"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Policy</a:t>
            </a:r>
          </a:p>
          <a:p>
            <a:pPr>
              <a:lnSpc>
                <a:spcPct val="115000"/>
              </a:lnSpc>
              <a:spcBef>
                <a:spcPts val="0"/>
              </a:spcBef>
              <a:spcAft>
                <a:spcPts val="600"/>
              </a:spcAft>
            </a:pPr>
            <a:r>
              <a:rPr sz="850" b="0" i="0">
                <a:solidFill>
                  <a:srgbClr val="4A4F57"/>
                </a:solidFill>
                <a:latin typeface="Calibri"/>
              </a:rPr>
              <a:t>Format policy for the target environment; reject with an exception path</a:t>
            </a:r>
          </a:p>
        </p:txBody>
      </p:sp>
      <p:sp>
        <p:nvSpPr>
          <p:cNvPr id="22" name="Rectangle 21"/>
          <p:cNvSpPr/>
          <p:nvPr/>
        </p:nvSpPr>
        <p:spPr>
          <a:xfrm>
            <a:off x="6960151"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6960151"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106455"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Features</a:t>
            </a:r>
          </a:p>
          <a:p>
            <a:pPr>
              <a:lnSpc>
                <a:spcPct val="115000"/>
              </a:lnSpc>
              <a:spcBef>
                <a:spcPts val="0"/>
              </a:spcBef>
              <a:spcAft>
                <a:spcPts val="600"/>
              </a:spcAft>
            </a:pPr>
            <a:r>
              <a:rPr sz="850" b="0" i="0">
                <a:solidFill>
                  <a:srgbClr val="4A4F57"/>
                </a:solidFill>
                <a:latin typeface="Calibri"/>
              </a:rPr>
              <a:t>Declared inputs reconciled against the feature registry</a:t>
            </a:r>
          </a:p>
        </p:txBody>
      </p:sp>
      <p:sp>
        <p:nvSpPr>
          <p:cNvPr id="25" name="Rectangle 24"/>
          <p:cNvSpPr/>
          <p:nvPr/>
        </p:nvSpPr>
        <p:spPr>
          <a:xfrm>
            <a:off x="8505879"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505879"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8652183"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created immutable; artifact promoted, signed, attested</a:t>
            </a:r>
          </a:p>
        </p:txBody>
      </p:sp>
      <p:sp>
        <p:nvSpPr>
          <p:cNvPr id="28" name="Rectangle 27"/>
          <p:cNvSpPr/>
          <p:nvPr/>
        </p:nvSpPr>
        <p:spPr>
          <a:xfrm>
            <a:off x="1005160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Rectangle 28"/>
          <p:cNvSpPr/>
          <p:nvPr/>
        </p:nvSpPr>
        <p:spPr>
          <a:xfrm>
            <a:off x="1005160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TextBox 29"/>
          <p:cNvSpPr txBox="1"/>
          <p:nvPr/>
        </p:nvSpPr>
        <p:spPr>
          <a:xfrm>
            <a:off x="1019791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7</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Nodes appended: artifact, introspection, scans, contract, manifest</a:t>
            </a:r>
          </a:p>
        </p:txBody>
      </p:sp>
      <p:sp>
        <p:nvSpPr>
          <p:cNvPr id="31" name="Rectangle 30"/>
          <p:cNvSpPr/>
          <p:nvPr/>
        </p:nvSpPr>
        <p:spPr>
          <a:xfrm>
            <a:off x="777240" y="31089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1089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51560" y="3236976"/>
            <a:ext cx="10088575" cy="7772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Transaction boundary. </a:t>
            </a:r>
            <a:r>
              <a:rPr sz="1200" b="0" i="0">
                <a:solidFill>
                  <a:srgbClr val="1C1C1E"/>
                </a:solidFill>
                <a:latin typeface="Calibri"/>
              </a:rPr>
              <a:t>Steps 6–7 are one Postgres transaction plus an outbox row for the object-store promotion. If promotion fails the outbox retries; the version exists but is marked artifact_pending and cannot be aliased. </a:t>
            </a:r>
            <a:r>
              <a:rPr sz="1200" b="1" i="0">
                <a:solidFill>
                  <a:srgbClr val="A51C30"/>
                </a:solidFill>
                <a:latin typeface="Calibri"/>
              </a:rPr>
              <a:t>Partial visibility is preferable to a lost write.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sp>
        <p:nvSpPr>
          <p:cNvPr id="10" name="Rectangle 9"/>
          <p:cNvSpPr/>
          <p:nvPr/>
        </p:nvSpPr>
        <p:spPr>
          <a:xfrm>
            <a:off x="777240" y="1353312"/>
            <a:ext cx="10637215"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core/registry/aliases.py</a:t>
            </a:r>
          </a:p>
        </p:txBody>
      </p:sp>
      <p:sp>
        <p:nvSpPr>
          <p:cNvPr id="13" name="TextBox 12"/>
          <p:cNvSpPr txBox="1"/>
          <p:nvPr/>
        </p:nvSpPr>
        <p:spPr>
          <a:xfrm>
            <a:off x="978408" y="1746504"/>
            <a:ext cx="10271455"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uow.transaction():</a:t>
            </a:r>
          </a:p>
          <a:p>
            <a:pPr>
              <a:lnSpc>
                <a:spcPct val="134000"/>
              </a:lnSpc>
              <a:spcBef>
                <a:spcPts val="0"/>
              </a:spcBef>
              <a:spcAft>
                <a:spcPts val="0"/>
              </a:spcAft>
            </a:pPr>
            <a:r>
              <a:rPr sz="950" b="0" i="0">
                <a:solidFill>
                  <a:srgbClr val="1C1C1E"/>
                </a:solidFill>
                <a:latin typeface="Consolas"/>
              </a:rPr>
              <a:t>    lock = advisory_lock(f"alias:{model_id}:{env}")     # serialise per (model, env)</a:t>
            </a:r>
          </a:p>
          <a:p>
            <a:pPr>
              <a:lnSpc>
                <a:spcPct val="134000"/>
              </a:lnSpc>
              <a:spcBef>
                <a:spcPts val="0"/>
              </a:spcBef>
              <a:spcAft>
                <a:spcPts val="0"/>
              </a:spcAft>
            </a:pPr>
            <a:r>
              <a:rPr sz="950" b="0" i="0">
                <a:solidFill>
                  <a:srgbClr val="1C1C1E"/>
                </a:solidFill>
                <a:latin typeface="Consolas"/>
              </a:rPr>
              <a:t>    ref  = new.contract.refines(cur.contract)            # law L-7</a:t>
            </a:r>
          </a:p>
          <a:p>
            <a:pPr>
              <a:lnSpc>
                <a:spcPct val="134000"/>
              </a:lnSpc>
              <a:spcBef>
                <a:spcPts val="0"/>
              </a:spcBef>
              <a:spcAft>
                <a:spcPts val="0"/>
              </a:spcAft>
            </a:pPr>
            <a:r>
              <a:rPr sz="950" b="0" i="0">
                <a:solidFill>
                  <a:srgbClr val="1C1C1E"/>
                </a:solidFill>
                <a:latin typeface="Consolas"/>
              </a:rPr>
              <a:t>    var  = substitutable(new.schema, cur.schema)         # law L-12</a:t>
            </a:r>
          </a:p>
          <a:p>
            <a:pPr>
              <a:lnSpc>
                <a:spcPct val="134000"/>
              </a:lnSpc>
              <a:spcBef>
                <a:spcPts val="0"/>
              </a:spcBef>
              <a:spcAft>
                <a:spcPts val="0"/>
              </a:spcAft>
            </a:pPr>
            <a:r>
              <a:rPr sz="950" b="0" i="0">
                <a:solidFill>
                  <a:srgbClr val="1C1C1E"/>
                </a:solidFill>
                <a:latin typeface="Consolas"/>
              </a:rPr>
              <a:t>    if not (ref.holds and var.ok):</a:t>
            </a:r>
          </a:p>
          <a:p>
            <a:pPr>
              <a:lnSpc>
                <a:spcPct val="134000"/>
              </a:lnSpc>
              <a:spcBef>
                <a:spcPts val="0"/>
              </a:spcBef>
              <a:spcAft>
                <a:spcPts val="0"/>
              </a:spcAft>
            </a:pPr>
            <a:r>
              <a:rPr sz="950" b="0" i="0">
                <a:solidFill>
                  <a:srgbClr val="1C1C1E"/>
                </a:solidFill>
                <a:latin typeface="Consolas"/>
              </a:rPr>
              <a:t>        raise AliasMoveRefused(ref, var, consumers=warrants.consumers_of(...))</a:t>
            </a:r>
          </a:p>
          <a:p>
            <a:pPr>
              <a:lnSpc>
                <a:spcPct val="134000"/>
              </a:lnSpc>
              <a:spcBef>
                <a:spcPts val="0"/>
              </a:spcBef>
              <a:spcAft>
                <a:spcPts val="0"/>
              </a:spcAft>
            </a:pPr>
            <a:r>
              <a:rPr sz="950" b="0" i="0">
                <a:solidFill>
                  <a:srgbClr val="1C1C1E"/>
                </a:solidFill>
                <a:latin typeface="Consolas"/>
              </a:rPr>
              <a:t>    if not policy.evaluate("gates.alias_move", ctx).allow: raise PolicyDenied(...)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warrant_projection.rebuild(model_id, env, name, new)    # PRE-WARM before invalidate</a:t>
            </a:r>
          </a:p>
          <a:p>
            <a:pPr>
              <a:lnSpc>
                <a:spcPct val="134000"/>
              </a:lnSpc>
              <a:spcBef>
                <a:spcPts val="0"/>
              </a:spcBef>
              <a:spcAft>
                <a:spcPts val="0"/>
              </a:spcAft>
            </a:pPr>
            <a:r>
              <a:rPr sz="950" b="0" i="0">
                <a:solidFill>
                  <a:srgbClr val="1C1C1E"/>
                </a:solidFill>
                <a:latin typeface="Consolas"/>
              </a:rPr>
              <a:t>    aliases.point(model_id, env, name, new)</a:t>
            </a:r>
          </a:p>
          <a:p>
            <a:pPr>
              <a:lnSpc>
                <a:spcPct val="134000"/>
              </a:lnSpc>
              <a:spcBef>
                <a:spcPts val="0"/>
              </a:spcBef>
              <a:spcAft>
                <a:spcPts val="0"/>
              </a:spcAft>
            </a:pPr>
            <a:r>
              <a:rPr sz="950" b="0" i="0">
                <a:solidFill>
                  <a:srgbClr val="1C1C1E"/>
                </a:solidFill>
                <a:latin typeface="Consolas"/>
              </a:rPr>
              <a:t>    alias_history.append(cur, new, ref, var, actor, justification)</a:t>
            </a:r>
          </a:p>
          <a:p>
            <a:pPr>
              <a:lnSpc>
                <a:spcPct val="134000"/>
              </a:lnSpc>
              <a:spcBef>
                <a:spcPts val="0"/>
              </a:spcBef>
              <a:spcAft>
                <a:spcPts val="0"/>
              </a:spcAft>
            </a:pPr>
            <a:r>
              <a:rPr sz="950" b="0" i="0">
                <a:solidFill>
                  <a:srgbClr val="1C1C1E"/>
                </a:solidFill>
                <a:latin typeface="Consolas"/>
              </a:rPr>
              <a:t>    outbox.put(CacheInvalidate(...), AliasMoved(...))</a:t>
            </a:r>
          </a:p>
          <a:p>
            <a:pPr>
              <a:lnSpc>
                <a:spcPct val="134000"/>
              </a:lnSpc>
              <a:spcBef>
                <a:spcPts val="0"/>
              </a:spcBef>
              <a:spcAft>
                <a:spcPts val="0"/>
              </a:spcAft>
            </a:pPr>
            <a:r>
              <a:rPr sz="950" b="0" i="0">
                <a:solidFill>
                  <a:srgbClr val="1C1C1E"/>
                </a:solidFill>
                <a:latin typeface="Consolas"/>
              </a:rPr>
              <a:t>monitoring.schedule_post_move_comparison(model_id, env, window="P7D")</a:t>
            </a:r>
          </a:p>
        </p:txBody>
      </p:sp>
      <p:sp>
        <p:nvSpPr>
          <p:cNvPr id="14" name="TextBox 13"/>
          <p:cNvSpPr txBox="1"/>
          <p:nvPr/>
        </p:nvSpPr>
        <p:spPr>
          <a:xfrm>
            <a:off x="777240" y="4842730"/>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00" b="1" i="0">
                <a:solidFill>
                  <a:srgbClr val="A51C30"/>
                </a:solidFill>
                <a:latin typeface="Calibri"/>
              </a:rPr>
              <a:t>Three things are happening. </a:t>
            </a:r>
            <a:r>
              <a:rPr sz="1200" b="0" i="0">
                <a:solidFill>
                  <a:srgbClr val="1C1C1E"/>
                </a:solidFill>
                <a:latin typeface="Calibri"/>
              </a:rPr>
              <a:t>Substitutability is a </a:t>
            </a:r>
            <a:r>
              <a:rPr sz="1200" b="1" i="0">
                <a:solidFill>
                  <a:srgbClr val="1C1C1E"/>
                </a:solidFill>
                <a:latin typeface="Calibri"/>
              </a:rPr>
              <a:t>proof</a:t>
            </a:r>
            <a:r>
              <a:rPr sz="1200" b="0" i="0">
                <a:solidFill>
                  <a:srgbClr val="1C1C1E"/>
                </a:solidFill>
                <a:latin typeface="Calibri"/>
              </a:rPr>
              <a:t> — consumers cannot be broken and are not redeployed. Pre-warming before invalidating is the fix for the cache stampede found in adversarial review, so a hot alias is never served from an empty cache. And the automatic seven-day post-move comparison is SS1/23's parallel outcomes analysis, performed as infrastructure rather than as a project.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18</a:t>
            </a:r>
          </a:p>
        </p:txBody>
      </p:sp>
      <p:sp>
        <p:nvSpPr>
          <p:cNvPr id="5" name="TextBox 4"/>
          <p:cNvSpPr txBox="1"/>
          <p:nvPr/>
        </p:nvSpPr>
        <p:spPr>
          <a:xfrm>
            <a:off x="1005840" y="2375611"/>
            <a:ext cx="6169584" cy="1188720"/>
          </a:xfrm>
          <a:prstGeom prst="rect">
            <a:avLst/>
          </a:prstGeom>
          <a:noFill/>
        </p:spPr>
        <p:txBody>
          <a:bodyPr wrap="square" lIns="0" rIns="0" tIns="0" bIns="0" anchor="t">
            <a:spAutoFit/>
          </a:bodyPr>
          <a:lstStyle/>
          <a:p>
            <a:pPr algn="l">
              <a:spcBef>
                <a:spcPts val="0"/>
              </a:spcBef>
              <a:spcAft>
                <a:spcPts val="0"/>
              </a:spcAft>
            </a:pPr>
            <a:r>
              <a:rPr sz="4000" b="0" i="0">
                <a:solidFill>
                  <a:srgbClr val="FFFFFF"/>
                </a:solidFill>
                <a:latin typeface="Georgia"/>
              </a:rPr>
              <a:t>The Feature Platform</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Point-in-time correctness, version-namespaced serving, monitoring at scale.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PIT assembly</a:t>
            </a:r>
          </a:p>
          <a:p>
            <a:pPr>
              <a:lnSpc>
                <a:spcPct val="115000"/>
              </a:lnSpc>
              <a:spcBef>
                <a:spcPts val="0"/>
              </a:spcBef>
              <a:spcAft>
                <a:spcPts val="700"/>
              </a:spcAft>
            </a:pPr>
            <a:r>
              <a:rPr sz="1150" b="0" i="0">
                <a:solidFill>
                  <a:srgbClr val="F6E6E9"/>
                </a:solidFill>
                <a:latin typeface="Calibri"/>
              </a:rPr>
              <a:t>Three-layer verification</a:t>
            </a:r>
          </a:p>
          <a:p>
            <a:pPr>
              <a:lnSpc>
                <a:spcPct val="115000"/>
              </a:lnSpc>
              <a:spcBef>
                <a:spcPts val="0"/>
              </a:spcBef>
              <a:spcAft>
                <a:spcPts val="700"/>
              </a:spcAft>
            </a:pPr>
            <a:r>
              <a:rPr sz="1150" b="0" i="0">
                <a:solidFill>
                  <a:srgbClr val="F6E6E9"/>
                </a:solidFill>
                <a:latin typeface="Calibri"/>
              </a:rPr>
              <a:t>Online store namespacing</a:t>
            </a:r>
          </a:p>
          <a:p>
            <a:pPr>
              <a:lnSpc>
                <a:spcPct val="115000"/>
              </a:lnSpc>
              <a:spcBef>
                <a:spcPts val="0"/>
              </a:spcBef>
              <a:spcAft>
                <a:spcPts val="700"/>
              </a:spcAft>
            </a:pPr>
            <a:r>
              <a:rPr sz="1150" b="0" i="0">
                <a:solidFill>
                  <a:srgbClr val="F6E6E9"/>
                </a:solidFill>
                <a:latin typeface="Calibri"/>
              </a:rPr>
              <a:t>Monitoring pipeline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sp>
        <p:nvSpPr>
          <p:cNvPr id="10" name="Rectangle 9"/>
          <p:cNvSpPr/>
          <p:nvPr/>
        </p:nvSpPr>
        <p:spPr>
          <a:xfrm>
            <a:off x="777240" y="1353312"/>
            <a:ext cx="5956840"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static = analyse_temporal_predicates(spine, views)   # LAYER 1</a:t>
            </a:r>
          </a:p>
          <a:p>
            <a:pPr>
              <a:lnSpc>
                <a:spcPct val="134000"/>
              </a:lnSpc>
              <a:spcBef>
                <a:spcPts val="0"/>
              </a:spcBef>
              <a:spcAft>
                <a:spcPts val="0"/>
              </a:spcAft>
            </a:pPr>
            <a:r>
              <a:rPr sz="950" b="0" i="0">
                <a:solidFill>
                  <a:srgbClr val="1C1C1E"/>
                </a:solidFill>
                <a:latin typeface="Consolas"/>
              </a:rPr>
              <a:t>if not (static.has_valid_time_bound and</a:t>
            </a:r>
          </a:p>
          <a:p>
            <a:pPr>
              <a:lnSpc>
                <a:spcPct val="134000"/>
              </a:lnSpc>
              <a:spcBef>
                <a:spcPts val="0"/>
              </a:spcBef>
              <a:spcAft>
                <a:spcPts val="0"/>
              </a:spcAft>
            </a:pPr>
            <a:r>
              <a:rPr sz="950" b="0" i="0">
                <a:solidFill>
                  <a:srgbClr val="1C1C1E"/>
                </a:solidFill>
                <a:latin typeface="Consolas"/>
              </a:rPr>
              <a:t>        static.has_transaction_time_bound):</a:t>
            </a:r>
          </a:p>
          <a:p>
            <a:pPr>
              <a:lnSpc>
                <a:spcPct val="134000"/>
              </a:lnSpc>
              <a:spcBef>
                <a:spcPts val="0"/>
              </a:spcBef>
              <a:spcAft>
                <a:spcPts val="0"/>
              </a:spcAft>
            </a:pPr>
            <a:r>
              <a:rPr sz="950" b="0" i="0">
                <a:solidFill>
                  <a:srgbClr val="1C1C1E"/>
                </a:solidFill>
                <a:latin typeface="Consolas"/>
              </a:rPr>
              <a:t>    raise AssemblyRejected(static.missing)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df = spark.read(spine)</a:t>
            </a:r>
          </a:p>
          <a:p>
            <a:pPr>
              <a:lnSpc>
                <a:spcPct val="134000"/>
              </a:lnSpc>
              <a:spcBef>
                <a:spcPts val="0"/>
              </a:spcBef>
              <a:spcAft>
                <a:spcPts val="0"/>
              </a:spcAft>
            </a:pPr>
            <a:r>
              <a:rPr sz="950" b="0" i="0">
                <a:solidFill>
                  <a:srgbClr val="1C1C1E"/>
                </a:solidFill>
                <a:latin typeface="Consolas"/>
              </a:rPr>
              <a:t>for v in views:</a:t>
            </a:r>
          </a:p>
          <a:p>
            <a:pPr>
              <a:lnSpc>
                <a:spcPct val="134000"/>
              </a:lnSpc>
              <a:spcBef>
                <a:spcPts val="0"/>
              </a:spcBef>
              <a:spcAft>
                <a:spcPts val="0"/>
              </a:spcAft>
            </a:pPr>
            <a:r>
              <a:rPr sz="950" b="0" i="0">
                <a:solidFill>
                  <a:srgbClr val="1C1C1E"/>
                </a:solidFill>
                <a:latin typeface="Consolas"/>
              </a:rPr>
              <a:t>    df = df.join(pit_lateral(v, as_of), on=["entity_id"], how="left")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snap   = delta.write(df, name=name)</a:t>
            </a:r>
          </a:p>
          <a:p>
            <a:pPr>
              <a:lnSpc>
                <a:spcPct val="134000"/>
              </a:lnSpc>
              <a:spcBef>
                <a:spcPts val="0"/>
              </a:spcBef>
              <a:spcAft>
                <a:spcPts val="0"/>
              </a:spcAft>
            </a:pPr>
            <a:r>
              <a:rPr sz="950" b="0" i="0">
                <a:solidFill>
                  <a:srgbClr val="1C1C1E"/>
                </a:solidFill>
                <a:latin typeface="Consolas"/>
              </a:rPr>
              <a:t>report = verify_pit(snap, spine, views, as_of)       # LAYER 2</a:t>
            </a:r>
          </a:p>
          <a:p>
            <a:pPr>
              <a:lnSpc>
                <a:spcPct val="134000"/>
              </a:lnSpc>
              <a:spcBef>
                <a:spcPts val="0"/>
              </a:spcBef>
              <a:spcAft>
                <a:spcPts val="0"/>
              </a:spcAft>
            </a:pPr>
            <a:r>
              <a:rPr sz="950" b="0" i="0">
                <a:solidFill>
                  <a:srgbClr val="1C1C1E"/>
                </a:solidFill>
                <a:latin typeface="Consolas"/>
              </a:rPr>
              <a:t>if not report.passed:</a:t>
            </a:r>
          </a:p>
          <a:p>
            <a:pPr>
              <a:lnSpc>
                <a:spcPct val="134000"/>
              </a:lnSpc>
              <a:spcBef>
                <a:spcPts val="0"/>
              </a:spcBef>
              <a:spcAft>
                <a:spcPts val="0"/>
              </a:spcAft>
            </a:pPr>
            <a:r>
              <a:rPr sz="950" b="0" i="0">
                <a:solidFill>
                  <a:srgbClr val="1C1C1E"/>
                </a:solidFill>
                <a:latin typeface="Consolas"/>
              </a:rPr>
              <a:t>    findings.raise_(severity="Critical", category="leakage", ...)</a:t>
            </a:r>
          </a:p>
        </p:txBody>
      </p:sp>
      <p:sp>
        <p:nvSpPr>
          <p:cNvPr id="14" name="Rectangle 13"/>
          <p:cNvSpPr/>
          <p:nvPr/>
        </p:nvSpPr>
        <p:spPr>
          <a:xfrm>
            <a:off x="7159569" y="1353312"/>
            <a:ext cx="4254886" cy="230378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159569" y="1353312"/>
            <a:ext cx="41148" cy="230378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360737" y="1444752"/>
            <a:ext cx="388912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GENERATED JOIN</a:t>
            </a:r>
          </a:p>
        </p:txBody>
      </p:sp>
      <p:sp>
        <p:nvSpPr>
          <p:cNvPr id="17" name="TextBox 16"/>
          <p:cNvSpPr txBox="1"/>
          <p:nvPr/>
        </p:nvSpPr>
        <p:spPr>
          <a:xfrm>
            <a:off x="7360737" y="1746504"/>
            <a:ext cx="388912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LEFT JOIN LATERAL (</a:t>
            </a:r>
          </a:p>
          <a:p>
            <a:pPr>
              <a:lnSpc>
                <a:spcPct val="134000"/>
              </a:lnSpc>
              <a:spcBef>
                <a:spcPts val="0"/>
              </a:spcBef>
              <a:spcAft>
                <a:spcPts val="0"/>
              </a:spcAft>
            </a:pPr>
            <a:r>
              <a:rPr sz="900" b="0" i="0">
                <a:solidFill>
                  <a:srgbClr val="1C1C1E"/>
                </a:solidFill>
                <a:latin typeface="Consolas"/>
              </a:rPr>
              <a:t>  SELECT &lt;features&gt;</a:t>
            </a:r>
          </a:p>
          <a:p>
            <a:pPr>
              <a:lnSpc>
                <a:spcPct val="134000"/>
              </a:lnSpc>
              <a:spcBef>
                <a:spcPts val="0"/>
              </a:spcBef>
              <a:spcAft>
                <a:spcPts val="0"/>
              </a:spcAft>
            </a:pPr>
            <a:r>
              <a:rPr sz="900" b="0" i="0">
                <a:solidFill>
                  <a:srgbClr val="1C1C1E"/>
                </a:solidFill>
                <a:latin typeface="Consolas"/>
              </a:rPr>
              <a:t>  FROM   &lt;view&gt; VERSION AS OF :dv   -- txn time</a:t>
            </a:r>
          </a:p>
          <a:p>
            <a:pPr>
              <a:lnSpc>
                <a:spcPct val="134000"/>
              </a:lnSpc>
              <a:spcBef>
                <a:spcPts val="0"/>
              </a:spcBef>
              <a:spcAft>
                <a:spcPts val="0"/>
              </a:spcAft>
            </a:pPr>
            <a:r>
              <a:rPr sz="900" b="0" i="0">
                <a:solidFill>
                  <a:srgbClr val="1C1C1E"/>
                </a:solidFill>
                <a:latin typeface="Consolas"/>
              </a:rPr>
              <a:t>  WHERE  entity_id  = s.entity_id</a:t>
            </a:r>
          </a:p>
          <a:p>
            <a:pPr>
              <a:lnSpc>
                <a:spcPct val="134000"/>
              </a:lnSpc>
              <a:spcBef>
                <a:spcPts val="0"/>
              </a:spcBef>
              <a:spcAft>
                <a:spcPts val="0"/>
              </a:spcAft>
            </a:pPr>
            <a:r>
              <a:rPr sz="900" b="0" i="0">
                <a:solidFill>
                  <a:srgbClr val="1C1C1E"/>
                </a:solidFill>
                <a:latin typeface="Consolas"/>
              </a:rPr>
              <a:t>    AND  event_ts  &lt;= s.label_ts    -- valid time</a:t>
            </a:r>
          </a:p>
          <a:p>
            <a:pPr>
              <a:lnSpc>
                <a:spcPct val="134000"/>
              </a:lnSpc>
              <a:spcBef>
                <a:spcPts val="0"/>
              </a:spcBef>
              <a:spcAft>
                <a:spcPts val="0"/>
              </a:spcAft>
            </a:pPr>
            <a:r>
              <a:rPr sz="900" b="0" i="0">
                <a:solidFill>
                  <a:srgbClr val="1C1C1E"/>
                </a:solidFill>
                <a:latin typeface="Consolas"/>
              </a:rPr>
              <a:t>    AND  ingest_ts &lt;= :as_of        -- txn time</a:t>
            </a:r>
          </a:p>
          <a:p>
            <a:pPr>
              <a:lnSpc>
                <a:spcPct val="134000"/>
              </a:lnSpc>
              <a:spcBef>
                <a:spcPts val="0"/>
              </a:spcBef>
              <a:spcAft>
                <a:spcPts val="0"/>
              </a:spcAft>
            </a:pPr>
            <a:r>
              <a:rPr sz="900" b="0" i="0">
                <a:solidFill>
                  <a:srgbClr val="1C1C1E"/>
                </a:solidFill>
                <a:latin typeface="Consolas"/>
              </a:rPr>
              <a:t>  ORDER BY event_ts DESC, ingest_ts DESC</a:t>
            </a:r>
          </a:p>
          <a:p>
            <a:pPr>
              <a:lnSpc>
                <a:spcPct val="134000"/>
              </a:lnSpc>
              <a:spcBef>
                <a:spcPts val="0"/>
              </a:spcBef>
              <a:spcAft>
                <a:spcPts val="0"/>
              </a:spcAft>
            </a:pPr>
            <a:r>
              <a:rPr sz="900" b="0" i="0">
                <a:solidFill>
                  <a:srgbClr val="1C1C1E"/>
                </a:solidFill>
                <a:latin typeface="Consolas"/>
              </a:rPr>
              <a:t>  LIMIT 1</a:t>
            </a:r>
          </a:p>
          <a:p>
            <a:pPr>
              <a:lnSpc>
                <a:spcPct val="134000"/>
              </a:lnSpc>
              <a:spcBef>
                <a:spcPts val="0"/>
              </a:spcBef>
              <a:spcAft>
                <a:spcPts val="0"/>
              </a:spcAft>
            </a:pPr>
            <a:r>
              <a:rPr sz="900" b="0" i="0">
                <a:solidFill>
                  <a:srgbClr val="1C1C1E"/>
                </a:solidFill>
                <a:latin typeface="Consolas"/>
              </a:rPr>
              <a:t>) f ON true</a:t>
            </a:r>
          </a:p>
        </p:txBody>
      </p:sp>
      <p:sp>
        <p:nvSpPr>
          <p:cNvPr id="18" name="TextBox 17"/>
          <p:cNvSpPr txBox="1"/>
          <p:nvPr/>
        </p:nvSpPr>
        <p:spPr>
          <a:xfrm>
            <a:off x="777240" y="4842730"/>
            <a:ext cx="10637215" cy="10058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Delta supplies the second clock. </a:t>
            </a:r>
            <a:r>
              <a:rPr sz="1200" b="0" i="0">
                <a:solidFill>
                  <a:srgbClr val="1C1C1E"/>
                </a:solidFill>
                <a:latin typeface="Calibri"/>
              </a:rPr>
              <a:t>VERSION AS OF gives the transaction-time axis natively — which is why Delta rather than a plain warehouse table is the right substrate for a regulated feature store. Because both clocks are recorded, the platform can also answer the question that arises when a source is restated: </a:t>
            </a:r>
            <a:r>
              <a:rPr sz="1200" b="1" i="0">
                <a:solidFill>
                  <a:srgbClr val="1C1C1E"/>
                </a:solidFill>
                <a:latin typeface="Calibri"/>
              </a:rPr>
              <a:t>which historical training sets, model versions and decisions used the superseded values?</a:t>
            </a:r>
            <a:r>
              <a:rPr sz="1200" b="0" i="0">
                <a:solidFill>
                  <a:srgbClr val="1C1C1E"/>
                </a:solidFill>
                <a:latin typeface="Calibri"/>
              </a:rPr>
              <a:t> With one clock, that question is unanswerable.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graphicFrame>
        <p:nvGraphicFramePr>
          <p:cNvPr id="10" name="Table 9"/>
          <p:cNvGraphicFramePr>
            <a:graphicFrameLocks noGrp="1"/>
          </p:cNvGraphicFramePr>
          <p:nvPr/>
        </p:nvGraphicFramePr>
        <p:xfrm>
          <a:off x="777240" y="1353312"/>
          <a:ext cx="10637214" cy="2150808"/>
        </p:xfrm>
        <a:graphic>
          <a:graphicData uri="http://schemas.openxmlformats.org/drawingml/2006/table">
            <a:tbl>
              <a:tblPr firstRow="1">
                <a:tableStyleId>{5C22544A-7EE6-4342-B048-85BDC9FD1C3A}</a:tableStyleId>
              </a:tblPr>
              <a:tblGrid>
                <a:gridCol w="2109103"/>
                <a:gridCol w="4585006"/>
                <a:gridCol w="39431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83171">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Parses the assembly query and requires BOTH a valid-time and a transaction-time bound. An assembly lacking either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2 · Stratified sampling</a:t>
                      </a:r>
                    </a:p>
                  </a:txBody>
                  <a:tcPr marL="82296" marR="64008" marT="32004" marB="32004" anchor="ctr">
                    <a:solidFill>
                      <a:srgbClr val="F6F3EF"/>
                    </a:solidFill>
                  </a:tcPr>
                </a:tc>
                <a:tc>
                  <a:txBody>
                    <a:bodyPr wrap="square"/>
                    <a:lstStyle/>
                    <a:p>
                      <a:pPr algn="l"/>
                      <a:r>
                        <a:rPr sz="1050" b="0">
                          <a:solidFill>
                            <a:srgbClr val="1C1C1E"/>
                          </a:solidFill>
                          <a:latin typeface="Calibri"/>
                        </a:rPr>
                        <a:t>Independent recomputation over strata across label period, entity type and label value</a:t>
                      </a:r>
                    </a:p>
                  </a:txBody>
                  <a:tcPr marL="82296" marR="64008" marT="32004" marB="32004" anchor="ctr">
                    <a:solidFill>
                      <a:srgbClr val="F6F3EF"/>
                    </a:solidFill>
                  </a:tcPr>
                </a:tc>
                <a:tc>
                  <a:txBody>
                    <a:bodyPr wrap="square"/>
                    <a:lstStyle/>
                    <a:p>
                      <a:pPr algn="l"/>
                      <a:r>
                        <a:rPr sz="1050" b="0">
                          <a:solidFill>
                            <a:srgbClr val="1C1C1E"/>
                          </a:solidFill>
                          <a:latin typeface="Calibri"/>
                        </a:rPr>
                        <a:t>Detects systematic violations at a stated statistical power. Does not prove absence</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3 · Adversarial injection</a:t>
                      </a:r>
                    </a:p>
                  </a:txBody>
                  <a:tcPr marL="82296" marR="64008" marT="32004" marB="32004" anchor="ctr">
                    <a:solidFill>
                      <a:srgbClr val="FFFFFF"/>
                    </a:solidFill>
                  </a:tcPr>
                </a:tc>
                <a:tc>
                  <a:txBody>
                    <a:bodyPr wrap="square"/>
                    <a:lstStyle/>
                    <a:p>
                      <a:pPr algn="l"/>
                      <a:r>
                        <a:rPr sz="1050" b="0">
                          <a:solidFill>
                            <a:srgbClr val="1C1C1E"/>
                          </a:solidFill>
                          <a:latin typeface="Calibri"/>
                        </a:rPr>
                        <a:t>CI injects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Proves the verifier still works — the failure mode that would otherwise be silent and catastrophic</a:t>
                      </a:r>
                    </a:p>
                  </a:txBody>
                  <a:tcPr marL="82296" marR="64008" marT="32004" marB="32004" anchor="ctr">
                    <a:solidFill>
                      <a:srgbClr val="FFFFFF"/>
                    </a:solidFill>
                  </a:tcPr>
                </a:tc>
              </a:tr>
            </a:tbl>
          </a:graphicData>
        </a:graphic>
      </p:graphicFrame>
      <p:sp>
        <p:nvSpPr>
          <p:cNvPr id="11" name="Rectangle 10"/>
          <p:cNvSpPr/>
          <p:nvPr/>
        </p:nvSpPr>
        <p:spPr>
          <a:xfrm>
            <a:off x="777240" y="3778440"/>
            <a:ext cx="10637215"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3906456"/>
            <a:ext cx="9997135" cy="86868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Law L-10, restated honestly</a:t>
            </a:r>
          </a:p>
          <a:p>
            <a:pPr>
              <a:lnSpc>
                <a:spcPct val="126000"/>
              </a:lnSpc>
              <a:spcBef>
                <a:spcPts val="0"/>
              </a:spcBef>
              <a:spcAft>
                <a:spcPts val="0"/>
              </a:spcAft>
            </a:pPr>
            <a:r>
              <a:rPr sz="1150" b="1" i="0">
                <a:solidFill>
                  <a:srgbClr val="FFFFFF"/>
                </a:solidFill>
                <a:latin typeface="Calibri"/>
              </a:rPr>
              <a:t>“No assembly passes without a static temporal bound, and sampling detects systematic violations at stated power.”  </a:t>
            </a:r>
            <a:r>
              <a:rPr sz="1150" b="0" i="0">
                <a:solidFill>
                  <a:srgbClr val="F6E0E4"/>
                </a:solidFill>
                <a:latin typeface="Calibri"/>
              </a:rPr>
              <a:t>Weaker than the original wording — and true. Adversarial review rejected the single-layer claim, because a leak confined to a rare, high-value segment is exactly where sampling fails and where the damage is greatest.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DEFECT THAT REPORTED GREEN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online store must be version-namespaced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98</a:t>
            </a:r>
          </a:p>
        </p:txBody>
      </p:sp>
      <p:sp>
        <p:nvSpPr>
          <p:cNvPr id="10" name="Rectangle 9"/>
          <p:cNvSpPr/>
          <p:nvPr/>
        </p:nvSpPr>
        <p:spPr>
          <a:xfrm>
            <a:off x="777240" y="1353312"/>
            <a:ext cx="10637215" cy="118872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96012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Finding C-2 — the most serious defect adversarial review found</a:t>
            </a:r>
          </a:p>
          <a:p>
            <a:pPr>
              <a:lnSpc>
                <a:spcPct val="126000"/>
              </a:lnSpc>
              <a:spcBef>
                <a:spcPts val="0"/>
              </a:spcBef>
              <a:spcAft>
                <a:spcPts val="0"/>
              </a:spcAft>
            </a:pPr>
            <a:r>
              <a:rPr sz="1150" b="0" i="0">
                <a:solidFill>
                  <a:srgbClr val="F6E0E4"/>
                </a:solidFill>
                <a:latin typeface="Calibri"/>
              </a:rPr>
              <a:t>Contracts pinned feature view v7. The online store served whatever was latest. On a transformation change, a model would be served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very platform that exists to prevent it.</a:t>
            </a:r>
          </a:p>
        </p:txBody>
      </p:sp>
      <p:sp>
        <p:nvSpPr>
          <p:cNvPr id="12" name="Rectangle 11"/>
          <p:cNvSpPr/>
          <p:nvPr/>
        </p:nvSpPr>
        <p:spPr>
          <a:xfrm>
            <a:off x="777240" y="277063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77063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86207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FIX — VERSION IS PART OF THE KEY</a:t>
            </a:r>
          </a:p>
        </p:txBody>
      </p:sp>
      <p:sp>
        <p:nvSpPr>
          <p:cNvPr id="15" name="TextBox 14"/>
          <p:cNvSpPr txBox="1"/>
          <p:nvPr/>
        </p:nvSpPr>
        <p:spPr>
          <a:xfrm>
            <a:off x="978408" y="316382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72491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822191"/>
            <a:ext cx="4893118" cy="118872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Law L-17 checks this in production, continuously. </a:t>
            </a:r>
            <a:r>
              <a:rPr sz="1150" b="0" i="0">
                <a:solidFill>
                  <a:srgbClr val="1C1C1E"/>
                </a:solidFill>
                <a:latin typeface="Calibri"/>
              </a:rPr>
              <a:t>The namespace served must equal the namespace pinned. C-2 was invisible to every design-time check, so its guard is a runtime one.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EVALUATION AT SCALE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pipeline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sp>
        <p:nvSpPr>
          <p:cNvPr id="10" name="Rectangle 9"/>
          <p:cNvSpPr/>
          <p:nvPr/>
        </p:nvSpPr>
        <p:spPr>
          <a:xfrm>
            <a:off x="777240"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85039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inference_log</a:t>
            </a:r>
          </a:p>
          <a:p>
            <a:pPr algn="ctr">
              <a:spcBef>
                <a:spcPts val="0"/>
              </a:spcBef>
              <a:spcAft>
                <a:spcPts val="0"/>
              </a:spcAft>
            </a:pPr>
            <a:r>
              <a:rPr sz="900" b="0" i="0">
                <a:solidFill>
                  <a:srgbClr val="FFFFFF"/>
                </a:solidFill>
                <a:latin typeface="Calibri"/>
              </a:rPr>
              <a:t>Delta + CDF</a:t>
            </a:r>
          </a:p>
        </p:txBody>
      </p:sp>
      <p:cxnSp>
        <p:nvCxnSpPr>
          <p:cNvPr id="12" name="Connector 11"/>
          <p:cNvCxnSpPr/>
          <p:nvPr/>
        </p:nvCxnSpPr>
        <p:spPr>
          <a:xfrm>
            <a:off x="212441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32558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239873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Incremental reader</a:t>
            </a:r>
          </a:p>
          <a:p>
            <a:pPr algn="ctr">
              <a:spcBef>
                <a:spcPts val="0"/>
              </a:spcBef>
              <a:spcAft>
                <a:spcPts val="0"/>
              </a:spcAft>
            </a:pPr>
            <a:r>
              <a:rPr sz="900" b="0" i="0">
                <a:solidFill>
                  <a:srgbClr val="FFFFFF"/>
                </a:solidFill>
                <a:latin typeface="Calibri"/>
              </a:rPr>
              <a:t>changed partitions only</a:t>
            </a:r>
          </a:p>
        </p:txBody>
      </p:sp>
      <p:cxnSp>
        <p:nvCxnSpPr>
          <p:cNvPr id="15" name="Connector 14"/>
          <p:cNvCxnSpPr/>
          <p:nvPr/>
        </p:nvCxnSpPr>
        <p:spPr>
          <a:xfrm>
            <a:off x="367275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7392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94707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Metric compute</a:t>
            </a:r>
          </a:p>
          <a:p>
            <a:pPr algn="ctr">
              <a:spcBef>
                <a:spcPts val="0"/>
              </a:spcBef>
              <a:spcAft>
                <a:spcPts val="0"/>
              </a:spcAft>
            </a:pPr>
            <a:r>
              <a:rPr sz="900" b="0" i="0">
                <a:solidFill>
                  <a:srgbClr val="FFFFFF"/>
                </a:solidFill>
                <a:latin typeface="Calibri"/>
              </a:rPr>
              <a:t>Spark · per monitor × slice</a:t>
            </a:r>
          </a:p>
        </p:txBody>
      </p:sp>
      <p:cxnSp>
        <p:nvCxnSpPr>
          <p:cNvPr id="18" name="Connector 17"/>
          <p:cNvCxnSpPr/>
          <p:nvPr/>
        </p:nvCxnSpPr>
        <p:spPr>
          <a:xfrm>
            <a:off x="522109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422261"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549541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observations</a:t>
            </a:r>
          </a:p>
          <a:p>
            <a:pPr algn="ctr">
              <a:spcBef>
                <a:spcPts val="0"/>
              </a:spcBef>
              <a:spcAft>
                <a:spcPts val="0"/>
              </a:spcAft>
            </a:pPr>
            <a:r>
              <a:rPr sz="900" b="0" i="0">
                <a:solidFill>
                  <a:srgbClr val="FFFFFF"/>
                </a:solidFill>
                <a:latin typeface="Calibri"/>
              </a:rPr>
              <a:t>Delta</a:t>
            </a:r>
          </a:p>
        </p:txBody>
      </p:sp>
      <p:cxnSp>
        <p:nvCxnSpPr>
          <p:cNvPr id="21" name="Connector 20"/>
          <p:cNvCxnSpPr/>
          <p:nvPr/>
        </p:nvCxnSpPr>
        <p:spPr>
          <a:xfrm>
            <a:off x="676943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970601"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04375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Threshold ladder</a:t>
            </a:r>
          </a:p>
          <a:p>
            <a:pPr algn="ctr">
              <a:spcBef>
                <a:spcPts val="0"/>
              </a:spcBef>
              <a:spcAft>
                <a:spcPts val="0"/>
              </a:spcAft>
            </a:pPr>
            <a:r>
              <a:rPr sz="900" b="0" i="0">
                <a:solidFill>
                  <a:srgbClr val="FFFFFF"/>
                </a:solidFill>
                <a:latin typeface="Calibri"/>
              </a:rPr>
              <a:t>per tier</a:t>
            </a:r>
          </a:p>
        </p:txBody>
      </p:sp>
      <p:cxnSp>
        <p:nvCxnSpPr>
          <p:cNvPr id="24" name="Connector 23"/>
          <p:cNvCxnSpPr/>
          <p:nvPr/>
        </p:nvCxnSpPr>
        <p:spPr>
          <a:xfrm>
            <a:off x="831777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8518942" y="1444752"/>
            <a:ext cx="1347172"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859209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Correlated finding</a:t>
            </a:r>
          </a:p>
        </p:txBody>
      </p:sp>
      <p:cxnSp>
        <p:nvCxnSpPr>
          <p:cNvPr id="27" name="Connector 26"/>
          <p:cNvCxnSpPr/>
          <p:nvPr/>
        </p:nvCxnSpPr>
        <p:spPr>
          <a:xfrm>
            <a:off x="986611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0067282" y="1444752"/>
            <a:ext cx="1347172" cy="7772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1014043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Warrant restriction</a:t>
            </a:r>
          </a:p>
        </p:txBody>
      </p:sp>
      <p:sp>
        <p:nvSpPr>
          <p:cNvPr id="30" name="TextBox 29"/>
          <p:cNvSpPr txBox="1"/>
          <p:nvPr/>
        </p:nvSpPr>
        <p:spPr>
          <a:xfrm>
            <a:off x="777240" y="2450591"/>
            <a:ext cx="4999491" cy="21945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Delayed labels are the hard part</a:t>
            </a:r>
          </a:p>
          <a:p>
            <a:pPr>
              <a:lnSpc>
                <a:spcPct val="126000"/>
              </a:lnSpc>
              <a:spcBef>
                <a:spcPts val="0"/>
              </a:spcBef>
              <a:spcAft>
                <a:spcPts val="800"/>
              </a:spcAft>
            </a:pPr>
            <a:r>
              <a:rPr sz="1150" b="0" i="0">
                <a:solidFill>
                  <a:srgbClr val="4A4F57"/>
                </a:solidFill>
                <a:latin typeface="Calibri"/>
              </a:rPr>
              <a:t>Credit outcomes mature over months. Monitors declare a label_delay; performance metrics are computed on vintage cohorts whose outcome window has closed, and the UI shows both the metric and the maturity of the cohort it came from.</a:t>
            </a:r>
          </a:p>
          <a:p>
            <a:pPr>
              <a:lnSpc>
                <a:spcPct val="126000"/>
              </a:lnSpc>
              <a:spcBef>
                <a:spcPts val="0"/>
              </a:spcBef>
              <a:spcAft>
                <a:spcPts val="600"/>
              </a:spcAft>
            </a:pPr>
            <a:r>
              <a:rPr sz="1150" b="1" i="0">
                <a:solidFill>
                  <a:srgbClr val="1C1C1E"/>
                </a:solidFill>
                <a:latin typeface="Calibri"/>
              </a:rPr>
              <a:t>Reporting an AUC on immature outcomes is worse than reporting nothing</a:t>
            </a:r>
            <a:r>
              <a:rPr sz="1150" b="0" i="0">
                <a:solidFill>
                  <a:srgbClr val="4A4F57"/>
                </a:solidFill>
                <a:latin typeface="Calibri"/>
              </a:rPr>
              <a:t> — it is confidently wrong in a direction nobody checks.</a:t>
            </a:r>
          </a:p>
        </p:txBody>
      </p:sp>
      <p:sp>
        <p:nvSpPr>
          <p:cNvPr id="31" name="TextBox 30"/>
          <p:cNvSpPr txBox="1"/>
          <p:nvPr/>
        </p:nvSpPr>
        <p:spPr>
          <a:xfrm>
            <a:off x="6414964" y="2450591"/>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Metric sets are seeded per trainability class</a:t>
            </a:r>
          </a:p>
        </p:txBody>
      </p:sp>
      <p:graphicFrame>
        <p:nvGraphicFramePr>
          <p:cNvPr id="32" name="Table 31"/>
          <p:cNvGraphicFramePr>
            <a:graphicFrameLocks noGrp="1"/>
          </p:cNvGraphicFramePr>
          <p:nvPr/>
        </p:nvGraphicFramePr>
        <p:xfrm>
          <a:off x="6414964" y="2798064"/>
          <a:ext cx="4999490" cy="2570480"/>
        </p:xfrm>
        <a:graphic>
          <a:graphicData uri="http://schemas.openxmlformats.org/drawingml/2006/table">
            <a:tbl>
              <a:tblPr firstRow="1">
                <a:tableStyleId>{5C22544A-7EE6-4342-B048-85BDC9FD1C3A}</a:tableStyleId>
              </a:tblPr>
              <a:tblGrid>
                <a:gridCol w="1491076"/>
                <a:gridCol w="3508414"/>
              </a:tblGrid>
              <a:tr h="329184">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Default metrics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T1 calibrated</a:t>
                      </a:r>
                    </a:p>
                  </a:txBody>
                  <a:tcPr marL="82296" marR="64008" marT="32004" marB="32004" anchor="ctr">
                    <a:solidFill>
                      <a:srgbClr val="FFFFFF"/>
                    </a:solidFill>
                  </a:tcPr>
                </a:tc>
                <a:tc>
                  <a:txBody>
                    <a:bodyPr wrap="square"/>
                    <a:lstStyle/>
                    <a:p>
                      <a:pPr algn="l"/>
                      <a:r>
                        <a:rPr sz="1000" b="0">
                          <a:solidFill>
                            <a:srgbClr val="1C1C1E"/>
                          </a:solidFill>
                          <a:latin typeface="Calibri"/>
                        </a:rPr>
                        <a:t>Calibration error, arbitrage-free checks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T2 / T3</a:t>
                      </a:r>
                    </a:p>
                  </a:txBody>
                  <a:tcPr marL="82296" marR="64008" marT="32004" marB="32004" anchor="ctr">
                    <a:solidFill>
                      <a:srgbClr val="F6F3EF"/>
                    </a:solidFill>
                  </a:tcPr>
                </a:tc>
                <a:tc>
                  <a:txBody>
                    <a:bodyPr wrap="square"/>
                    <a:lstStyle/>
                    <a:p>
                      <a:pPr algn="l"/>
                      <a:r>
                        <a:rPr sz="1000" b="0">
                          <a:solidFill>
                            <a:srgbClr val="1C1C1E"/>
                          </a:solidFill>
                          <a:latin typeface="Calibri"/>
                        </a:rPr>
                        <a:t>KS, AUC, PSI, Hosmer–Lemeshow</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T4 adaptive</a:t>
                      </a:r>
                    </a:p>
                  </a:txBody>
                  <a:tcPr marL="82296" marR="64008" marT="32004" marB="32004" anchor="ctr">
                    <a:solidFill>
                      <a:srgbClr val="FFFFFF"/>
                    </a:solidFill>
                  </a:tcPr>
                </a:tc>
                <a:tc>
                  <a:txBody>
                    <a:bodyPr wrap="square"/>
                    <a:lstStyle/>
                    <a:p>
                      <a:pPr algn="l"/>
                      <a:r>
                        <a:rPr sz="1000" b="0">
                          <a:solidFill>
                            <a:srgbClr val="1C1C1E"/>
                          </a:solidFill>
                          <a:latin typeface="Calibri"/>
                        </a:rPr>
                        <a:t>Parameter-change magnitude, parallel outcomes analysis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T5 foundation</a:t>
                      </a:r>
                    </a:p>
                  </a:txBody>
                  <a:tcPr marL="82296" marR="64008" marT="32004" marB="32004" anchor="ctr">
                    <a:solidFill>
                      <a:srgbClr val="F6F3EF"/>
                    </a:solidFill>
                  </a:tcPr>
                </a:tc>
                <a:tc>
                  <a:txBody>
                    <a:bodyPr wrap="square"/>
                    <a:lstStyle/>
                    <a:p>
                      <a:pPr algn="l"/>
                      <a:r>
                        <a:rPr sz="1000" b="0">
                          <a:solidFill>
                            <a:srgbClr val="1C1C1E"/>
                          </a:solidFill>
                          <a:latin typeface="Calibri"/>
                        </a:rPr>
                        <a:t>Groundedness, hallucination rate, human edit distance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T6 opaque</a:t>
                      </a:r>
                    </a:p>
                  </a:txBody>
                  <a:tcPr marL="82296" marR="64008" marT="32004" marB="32004" anchor="ctr">
                    <a:solidFill>
                      <a:srgbClr val="FFFFFF"/>
                    </a:solidFill>
                  </a:tcPr>
                </a:tc>
                <a:tc>
                  <a:txBody>
                    <a:bodyPr wrap="square"/>
                    <a:lstStyle/>
                    <a:p>
                      <a:pPr algn="l"/>
                      <a:r>
                        <a:rPr sz="1000" b="0">
                          <a:solidFill>
                            <a:srgbClr val="1C1C1E"/>
                          </a:solidFill>
                          <a:latin typeface="Calibri"/>
                        </a:rPr>
                        <a:t>Own-outcomes divergence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T8 authored</a:t>
                      </a:r>
                    </a:p>
                  </a:txBody>
                  <a:tcPr marL="82296" marR="64008" marT="32004" marB="32004" anchor="ctr">
                    <a:solidFill>
                      <a:srgbClr val="F6F3EF"/>
                    </a:solidFill>
                  </a:tcPr>
                </a:tc>
                <a:tc>
                  <a:txBody>
                    <a:bodyPr wrap="square"/>
                    <a:lstStyle/>
                    <a:p>
                      <a:pPr algn="l"/>
                      <a:r>
                        <a:rPr sz="100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INGESTION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Telemetry — monitoring's missing half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100</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Monitors could always be evaluated. They had to be </a:t>
            </a:r>
            <a:r>
              <a:rPr sz="1250" b="1" i="0">
                <a:solidFill>
                  <a:srgbClr val="1C1C1E"/>
                </a:solidFill>
                <a:latin typeface="Calibri"/>
              </a:rPr>
              <a:t>handed</a:t>
            </a:r>
            <a:r>
              <a:rPr sz="1250" b="0" i="0">
                <a:solidFill>
                  <a:srgbClr val="1C1C1E"/>
                </a:solidFill>
                <a:latin typeface="Calibri"/>
              </a:rPr>
              <a:t> their rows — which made monitoring something somebody remembered to do, and left the scheduler able only to record that a monitor had stopped.</a:t>
            </a:r>
          </a:p>
        </p:txBody>
      </p:sp>
      <p:sp>
        <p:nvSpPr>
          <p:cNvPr id="11" name="Rectangle 10"/>
          <p:cNvSpPr/>
          <p:nvPr/>
        </p:nvSpPr>
        <p:spPr>
          <a:xfrm>
            <a:off x="777240" y="1920240"/>
            <a:ext cx="5090007" cy="10515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20240"/>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2048256"/>
            <a:ext cx="4614519" cy="86868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4" name="Rectangle 13"/>
          <p:cNvSpPr/>
          <p:nvPr/>
        </p:nvSpPr>
        <p:spPr>
          <a:xfrm>
            <a:off x="6324447" y="1920240"/>
            <a:ext cx="5090007" cy="10515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324447" y="1920240"/>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562191" y="2048256"/>
            <a:ext cx="4614519" cy="86868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sp>
        <p:nvSpPr>
          <p:cNvPr id="17" name="TextBox 16"/>
          <p:cNvSpPr txBox="1"/>
          <p:nvPr/>
        </p:nvSpPr>
        <p:spPr>
          <a:xfrm>
            <a:off x="777240" y="3090672"/>
            <a:ext cx="10637215" cy="384048"/>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streams, never one. </a:t>
            </a:r>
            <a:r>
              <a:rPr sz="1150" b="0" i="0">
                <a:solidFill>
                  <a:srgbClr val="1C1C1E"/>
                </a:solidFill>
                <a:latin typeface="Calibri"/>
              </a:rPr>
              <a:t>The gap between them is precisely what the delayed-label discipline reasons about, so flattening them would take that reasoning away before it started.</a:t>
            </a:r>
          </a:p>
        </p:txBody>
      </p:sp>
      <p:graphicFrame>
        <p:nvGraphicFramePr>
          <p:cNvPr id="18" name="Table 17"/>
          <p:cNvGraphicFramePr>
            <a:graphicFrameLocks noGrp="1"/>
          </p:cNvGraphicFramePr>
          <p:nvPr/>
        </p:nvGraphicFramePr>
        <p:xfrm>
          <a:off x="777240" y="3547872"/>
          <a:ext cx="10637214" cy="2845562"/>
        </p:xfrm>
        <a:graphic>
          <a:graphicData uri="http://schemas.openxmlformats.org/drawingml/2006/table">
            <a:tbl>
              <a:tblPr firstRow="1">
                <a:tableStyleId>{5C22544A-7EE6-4342-B048-85BDC9FD1C3A}</a:tableStyleId>
              </a:tblPr>
              <a:tblGrid>
                <a:gridCol w="3301204"/>
                <a:gridCol w="7336010"/>
              </a:tblGrid>
              <a:tr h="329184">
                <a:tc>
                  <a:txBody>
                    <a:bodyPr wrap="square"/>
                    <a:lstStyle/>
                    <a:p>
                      <a:pPr algn="l"/>
                      <a:r>
                        <a:rPr sz="1050" b="1">
                          <a:solidFill>
                            <a:srgbClr val="FFFFFF"/>
                          </a:solidFill>
                          <a:latin typeface="Calibri"/>
                        </a:rPr>
                        <a:t>Rule</a:t>
                      </a:r>
                    </a:p>
                  </a:txBody>
                  <a:tcPr marL="82296" marR="64008" marT="32004" marB="32004" anchor="ctr">
                    <a:solidFill>
                      <a:srgbClr val="A51C30"/>
                    </a:solidFill>
                  </a:tcPr>
                </a:tc>
                <a:tc>
                  <a:txBody>
                    <a:bodyPr wrap="square"/>
                    <a:lstStyle/>
                    <a:p>
                      <a:pPr algn="l"/>
                      <a:r>
                        <a:rPr sz="1050" b="1">
                          <a:solidFill>
                            <a:srgbClr val="FFFFFF"/>
                          </a:solidFill>
                          <a:latin typeface="Calibri"/>
                        </a:rPr>
                        <a:t>The failure it prevents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1000" b="0">
                          <a:solidFill>
                            <a:srgbClr val="1C1C1E"/>
                          </a:solidFill>
                          <a:latin typeface="Calibri"/>
                        </a:rPr>
                        <a:t>Real collectors deliver at least once. A monitor that double-counts a redelivered batch reports a population that never existed</a:t>
                      </a:r>
                    </a:p>
                  </a:txBody>
                  <a:tcPr marL="82296" marR="64008" marT="32004" marB="32004" anchor="ctr">
                    <a:solidFill>
                      <a:srgbClr val="FFFFFF"/>
                    </a:solidFill>
                  </a:tcPr>
                </a:tc>
              </a:tr>
              <a:tr h="457200">
                <a:tc>
                  <a:txBody>
                    <a:bodyPr wrap="square"/>
                    <a:lstStyle/>
                    <a:p>
                      <a:pPr algn="l"/>
                      <a:r>
                        <a:rPr sz="100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100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100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1000" b="0">
                          <a:solidFill>
                            <a:srgbClr val="1C1C1E"/>
                          </a:solidFill>
                          <a:latin typeface="Calibri"/>
                        </a:rPr>
                        <a:t>A statistic that cannot say what population it speaks for</a:t>
                      </a:r>
                    </a:p>
                  </a:txBody>
                  <a:tcPr marL="82296" marR="64008" marT="32004" marB="32004" anchor="ctr">
                    <a:solidFill>
                      <a:srgbClr val="FFFFFF"/>
                    </a:solidFill>
                  </a:tcPr>
                </a:tc>
              </a:tr>
              <a:tr h="657606">
                <a:tc>
                  <a:txBody>
                    <a:bodyPr wrap="square"/>
                    <a:lstStyle/>
                    <a:p>
                      <a:pPr algn="l"/>
                      <a:r>
                        <a:rPr sz="1000" b="1">
                          <a:solidFill>
                            <a:srgbClr val="A51C30"/>
                          </a:solidFill>
                          <a:latin typeface="Calibri"/>
                        </a:rPr>
                        <a:t>The join happens at READ time against a stated moment, and unlabelled rows come back unlabelled</a:t>
                      </a:r>
                    </a:p>
                  </a:txBody>
                  <a:tcPr marL="82296" marR="64008" marT="32004" marB="32004" anchor="ctr">
                    <a:solidFill>
                      <a:srgbClr val="F6F3EF"/>
                    </a:solidFill>
                  </a:tcPr>
                </a:tc>
                <a:tc>
                  <a:txBody>
                    <a:bodyPr wrap="square"/>
                    <a:lstStyle/>
                    <a:p>
                      <a:pPr algn="l"/>
                      <a:r>
                        <a:rPr sz="1000" b="0">
                          <a:solidFill>
                            <a:srgbClr val="1C1C1E"/>
                          </a:solidFill>
                          <a:latin typeface="Calibri"/>
                        </a:rPr>
                        <a:t>A cohort that looks complete and is not — the monitor decides maturity per row, and a join that dropped the unlabelled would decide for it</a:t>
                      </a:r>
                    </a:p>
                  </a:txBody>
                  <a:tcPr marL="82296" marR="64008" marT="32004" marB="32004" anchor="ctr">
                    <a:solidFill>
                      <a:srgbClr val="F6F3EF"/>
                    </a:solidFill>
                  </a:tcPr>
                </a:tc>
              </a:tr>
              <a:tr h="457200">
                <a:tc>
                  <a:txBody>
                    <a:bodyPr wrap="square"/>
                    <a:lstStyle/>
                    <a:p>
                      <a:pPr algn="l"/>
                      <a:r>
                        <a:rPr sz="100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1000" b="0">
                          <a:solidFill>
                            <a:srgbClr val="1C1C1E"/>
                          </a:solidFill>
                          <a:latin typeface="Calibri"/>
                        </a:rPr>
                        <a:t>“What is this drifting from” being part of whoever ran it rather than part of the record</a:t>
                      </a:r>
                    </a:p>
                  </a:txBody>
                  <a:tcPr marL="82296" marR="64008" marT="32004" marB="32004" anchor="ctr">
                    <a:solidFill>
                      <a:srgbClr val="FFFFFF"/>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The model </a:t>
            </a:r>
            <a:r>
              <a:rPr sz="1250" b="1" i="0">
                <a:solidFill>
                  <a:srgbClr val="1C1C1E"/>
                </a:solidFill>
                <a:latin typeface="Calibri"/>
              </a:rPr>
              <a:t>record</a:t>
            </a:r>
            <a:r>
              <a:rPr sz="1250" b="0" i="0">
                <a:solidFill>
                  <a:srgbClr val="1C1C1E"/>
                </a:solidFill>
                <a:latin typeface="Calibri"/>
              </a:rPr>
              <a:t> was attested by several people while the </a:t>
            </a:r>
            <a:r>
              <a:rPr sz="1250" b="1" i="0">
                <a:solidFill>
                  <a:srgbClr val="1C1C1E"/>
                </a:solidFill>
                <a:latin typeface="Calibri"/>
              </a:rPr>
              <a:t>version</a:t>
            </a:r>
            <a:r>
              <a:rPr sz="1250" b="0" i="0">
                <a:solidFill>
                  <a:srgbClr val="1C1C1E"/>
                </a:solidFill>
                <a:latin typeface="Calibri"/>
              </a:rPr>
              <a:t> — the thing that actually runs — was approved by one.</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adjunction (L-5) that decides every other control set. Depth of control follows materiality</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would be a way of choosing your own control depth, and it is the obvious way to game a rule like this one</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58893"/>
            <a:ext cx="4542291" cy="1115568"/>
          </a:xfrm>
          <a:prstGeom prst="rect">
            <a:avLst/>
          </a:prstGeom>
          <a:noFill/>
        </p:spPr>
        <p:txBody>
          <a:bodyPr wrap="square" lIns="0" rIns="0" tIns="0" bIns="0" anchor="t">
            <a:spAutoFit/>
          </a:bodyPr>
          <a:lstStyle/>
          <a:p>
            <a:pPr algn="l">
              <a:lnSpc>
                <a:spcPct val="122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a:t>
            </a:r>
            <a:r>
              <a:rPr sz="1050" b="1" i="0">
                <a:solidFill>
                  <a:srgbClr val="1C1C1E"/>
                </a:solidFill>
                <a:latin typeface="Calibri"/>
              </a:rPr>
              <a:t>cannot be a constraint</a:t>
            </a:r>
            <a:r>
              <a:rPr sz="1050" b="0" i="0">
                <a:solidFill>
                  <a:srgbClr val="1C1C1E"/>
                </a:solidFill>
                <a:latin typeface="Calibri"/>
              </a:rPr>
              <a:t> and lives in the service, because it is about people rather than about rows.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Featuresets — X becomes an object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sp>
        <p:nvSpPr>
          <p:cNvPr id="10" name="TextBox 9"/>
          <p:cNvSpPr txBox="1"/>
          <p:nvPr/>
        </p:nvSpPr>
        <p:spPr>
          <a:xfrm>
            <a:off x="777240" y="1353312"/>
            <a:ext cx="5956840"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 featureset declares a schema; a version fills it</a:t>
            </a:r>
          </a:p>
        </p:txBody>
      </p:sp>
      <p:sp>
        <p:nvSpPr>
          <p:cNvPr id="11" name="Rectangle 10"/>
          <p:cNvSpPr/>
          <p:nvPr/>
        </p:nvSpPr>
        <p:spPr>
          <a:xfrm>
            <a:off x="777240" y="1737360"/>
            <a:ext cx="5956840" cy="190396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90396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inflation   slots: {gb_index, us_index, daily_index}</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the model reads daily_index, and always did.</a:t>
            </a:r>
          </a:p>
          <a:p>
            <a:pPr>
              <a:lnSpc>
                <a:spcPct val="134000"/>
              </a:lnSpc>
              <a:spcBef>
                <a:spcPts val="0"/>
              </a:spcBef>
              <a:spcAft>
                <a:spcPts val="0"/>
              </a:spcAft>
            </a:pPr>
            <a:r>
              <a:rPr sz="950" b="0" i="0">
                <a:solidFill>
                  <a:srgbClr val="7A7F87"/>
                </a:solidFill>
                <a:latin typeface="Consolas"/>
              </a:rPr>
              <a:t># a version that CANNOT fill the schema is refused:</a:t>
            </a:r>
          </a:p>
          <a:p>
            <a:pPr>
              <a:lnSpc>
                <a:spcPct val="134000"/>
              </a:lnSpc>
              <a:spcBef>
                <a:spcPts val="0"/>
              </a:spcBef>
              <a:spcAft>
                <a:spcPts val="0"/>
              </a:spcAft>
            </a:pPr>
            <a:r>
              <a:rPr sz="950" b="0" i="0">
                <a:solidFill>
                  <a:srgbClr val="7A7F87"/>
                </a:solidFill>
                <a:latin typeface="Consolas"/>
              </a:rPr>
              <a:t># it is a different set, or it is a model change.</a:t>
            </a:r>
          </a:p>
        </p:txBody>
      </p:sp>
      <p:sp>
        <p:nvSpPr>
          <p:cNvPr id="14" name="TextBox 13"/>
          <p:cNvSpPr txBox="1"/>
          <p:nvPr/>
        </p:nvSpPr>
        <p:spPr>
          <a:xfrm>
            <a:off x="777240" y="3879067"/>
            <a:ext cx="5956840" cy="1645920"/>
          </a:xfrm>
          <a:prstGeom prst="rect">
            <a:avLst/>
          </a:prstGeom>
          <a:noFill/>
        </p:spPr>
        <p:txBody>
          <a:bodyPr wrap="square" lIns="0" rIns="0" tIns="0" bIns="0" anchor="t">
            <a:spAutoFit/>
          </a:bodyPr>
          <a:lstStyle/>
          <a:p>
            <a:pPr algn="l">
              <a:lnSpc>
                <a:spcPct val="124000"/>
              </a:lnSpc>
              <a:spcBef>
                <a:spcPts val="0"/>
              </a:spcBef>
              <a:spcAft>
                <a:spcPts val="600"/>
              </a:spcAft>
            </a:pPr>
            <a:r>
              <a:rPr sz="1050" b="0" i="0">
                <a:solidFill>
                  <a:srgbClr val="4A4F57"/>
                </a:solidFill>
                <a:latin typeface="Calibri"/>
              </a:rPr>
              <a:t>Every slot pins the feature AND the feature view version supplying it. A set that named views without pinning them would resolve to different bytes next month with its digest unchanged — finding C-2, one level out from the view.</a:t>
            </a:r>
          </a:p>
          <a:p>
            <a:pPr>
              <a:lnSpc>
                <a:spcPct val="124000"/>
              </a:lnSpc>
              <a:spcBef>
                <a:spcPts val="0"/>
              </a:spcBef>
              <a:spcAft>
                <a:spcPts val="0"/>
              </a:spcAft>
            </a:pPr>
            <a:r>
              <a:rPr sz="1050" b="0" i="0">
                <a:solidFill>
                  <a:srgbClr val="4A4F57"/>
                </a:solidFill>
                <a:latin typeface="Calibri"/>
              </a:rPr>
              <a:t>The set owns the shape; the warrant owns the window. Otherwise “same features, 2019–23 vs 2020–24” would be two featuresets.</a:t>
            </a:r>
          </a:p>
        </p:txBody>
      </p:sp>
      <p:sp>
        <p:nvSpPr>
          <p:cNvPr id="15" name="TextBox 14"/>
          <p:cNvSpPr txBox="1"/>
          <p:nvPr/>
        </p:nvSpPr>
        <p:spPr>
          <a:xfrm>
            <a:off x="7159569" y="1353312"/>
            <a:ext cx="4254886"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Derived features: Z = f(X, Y)</a:t>
            </a:r>
          </a:p>
        </p:txBody>
      </p:sp>
      <p:graphicFrame>
        <p:nvGraphicFramePr>
          <p:cNvPr id="16" name="Table 15"/>
          <p:cNvGraphicFramePr>
            <a:graphicFrameLocks noGrp="1"/>
          </p:cNvGraphicFramePr>
          <p:nvPr/>
        </p:nvGraphicFramePr>
        <p:xfrm>
          <a:off x="7159569" y="1737360"/>
          <a:ext cx="4254885" cy="2047784"/>
        </p:xfrm>
        <a:graphic>
          <a:graphicData uri="http://schemas.openxmlformats.org/drawingml/2006/table">
            <a:tbl>
              <a:tblPr firstRow="1">
                <a:tableStyleId>{5C22544A-7EE6-4342-B048-85BDC9FD1C3A}</a:tableStyleId>
              </a:tblPr>
              <a:tblGrid>
                <a:gridCol w="1731639"/>
                <a:gridCol w="2523246"/>
              </a:tblGrid>
              <a:tr h="329184">
                <a:tc>
                  <a:txBody>
                    <a:bodyPr wrap="square"/>
                    <a:lstStyle/>
                    <a:p>
                      <a:pPr algn="l"/>
                      <a:r>
                        <a:rPr sz="950" b="1">
                          <a:solidFill>
                            <a:srgbClr val="FFFFFF"/>
                          </a:solidFill>
                          <a:latin typeface="Calibri"/>
                        </a:rPr>
                        <a:t>Rule</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Lineage is transitive</a:t>
                      </a:r>
                    </a:p>
                  </a:txBody>
                  <a:tcPr marL="82296" marR="64008" marT="32004" marB="32004" anchor="ctr">
                    <a:solidFill>
                      <a:srgbClr val="FFFFFF"/>
                    </a:solidFill>
                  </a:tcPr>
                </a:tc>
                <a:tc>
                  <a:txBody>
                    <a:bodyPr wrap="square"/>
                    <a:lstStyle/>
                    <a:p>
                      <a:pPr algn="l"/>
                      <a:r>
                        <a:rPr sz="950" b="0">
                          <a:solidFill>
                            <a:srgbClr val="1C1C1E"/>
                          </a:solidFill>
                          <a:latin typeface="Calibri"/>
                        </a:rPr>
                        <a:t>A primitive retired under something deriving from it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50" b="0">
                          <a:solidFill>
                            <a:srgbClr val="1C1C1E"/>
                          </a:solidFill>
                          <a:latin typeface="Calibri"/>
                        </a:rPr>
                        <a:t>A value appearing knowable before its inputs were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 slot from the label</a:t>
                      </a:r>
                    </a:p>
                  </a:txBody>
                  <a:tcPr marL="82296" marR="64008" marT="32004" marB="32004" anchor="ctr">
                    <a:solidFill>
                      <a:srgbClr val="FFFFFF"/>
                    </a:solidFill>
                  </a:tcPr>
                </a:tc>
                <a:tc>
                  <a:txBody>
                    <a:bodyPr wrap="square"/>
                    <a:lstStyle/>
                    <a:p>
                      <a:pPr algn="l"/>
                      <a:r>
                        <a:rPr sz="950" b="0">
                          <a:solidFill>
                            <a:srgbClr val="1C1C1E"/>
                          </a:solidFill>
                          <a:latin typeface="Calibri"/>
                        </a:rPr>
                        <a:t>Leakage with a division sign in front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50" b="0">
                          <a:solidFill>
                            <a:srgbClr val="1C1C1E"/>
                          </a:solidFill>
                          <a:latin typeface="Calibri"/>
                        </a:rPr>
                        <a:t>Laundering an uncertified input</a:t>
                      </a:r>
                    </a:p>
                  </a:txBody>
                  <a:tcPr marL="82296" marR="64008" marT="32004" marB="32004" anchor="ctr">
                    <a:solidFill>
                      <a:srgbClr val="F6F3EF"/>
                    </a:solidFill>
                  </a:tcPr>
                </a:tc>
              </a:tr>
            </a:tbl>
          </a:graphicData>
        </a:graphic>
      </p:graphicFrame>
      <p:sp>
        <p:nvSpPr>
          <p:cNvPr id="17" name="Rectangle 16"/>
          <p:cNvSpPr/>
          <p:nvPr/>
        </p:nvSpPr>
        <p:spPr>
          <a:xfrm>
            <a:off x="777240" y="5029200"/>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5029200"/>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5138927"/>
            <a:ext cx="10180015" cy="54864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language is small on purpose. </a:t>
            </a:r>
            <a:r>
              <a:rPr sz="1100" b="0" i="0">
                <a:solidFill>
                  <a:srgbClr val="1C1C1E"/>
                </a:solidFill>
                <a:latin typeface="Calibri"/>
              </a:rPr>
              <a:t>Arithmetic, nine total functions, the row’s own clock — whitelisted at the AST, so what cannot be expressed cannot be smuggled in. MAYA transforms features it holds; </a:t>
            </a:r>
            <a:r>
              <a:rPr sz="1100" b="1" i="0">
                <a:solidFill>
                  <a:srgbClr val="1C1C1E"/>
                </a:solidFill>
                <a:latin typeface="Calibri"/>
              </a:rPr>
              <a:t>it does not run models.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parameter object — an inhabitant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sp>
        <p:nvSpPr>
          <p:cNvPr id="10" name="TextBox 9"/>
          <p:cNvSpPr txBox="1"/>
          <p:nvPr/>
        </p:nvSpPr>
        <p:spPr>
          <a:xfrm>
            <a:off x="777240" y="135331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Fitting does not change the kernel</a:t>
            </a:r>
          </a:p>
        </p:txBody>
      </p:sp>
      <p:sp>
        <p:nvSpPr>
          <p:cNvPr id="11" name="Rectangle 10"/>
          <p:cNvSpPr/>
          <p:nvPr/>
        </p:nvSpPr>
        <p:spPr>
          <a:xfrm>
            <a:off x="777240" y="1737360"/>
            <a:ext cx="5531351" cy="190396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90396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5165591"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a fit produces a PARAMETER SET,</a:t>
            </a:r>
          </a:p>
          <a:p>
            <a:pPr>
              <a:lnSpc>
                <a:spcPct val="134000"/>
              </a:lnSpc>
              <a:spcBef>
                <a:spcPts val="0"/>
              </a:spcBef>
              <a:spcAft>
                <a:spcPts val="0"/>
              </a:spcAft>
            </a:pPr>
            <a:r>
              <a:rPr sz="950" b="0" i="0">
                <a:solidFill>
                  <a:srgbClr val="1C1C1E"/>
                </a:solidFill>
                <a:latin typeface="Consolas"/>
              </a:rPr>
              <a:t>  not a model version.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warrant(fit)   model_version × featureset@v × window</a:t>
            </a:r>
          </a:p>
          <a:p>
            <a:pPr>
              <a:lnSpc>
                <a:spcPct val="134000"/>
              </a:lnSpc>
              <a:spcBef>
                <a:spcPts val="0"/>
              </a:spcBef>
              <a:spcAft>
                <a:spcPts val="0"/>
              </a:spcAft>
            </a:pPr>
            <a:r>
              <a:rPr sz="950" b="0" i="0">
                <a:solidFill>
                  <a:srgbClr val="1C1C1E"/>
                </a:solidFill>
                <a:latin typeface="Consolas"/>
              </a:rPr>
              <a:t>warrant(score) model_version × parameter_set@v</a:t>
            </a:r>
          </a:p>
        </p:txBody>
      </p:sp>
      <p:sp>
        <p:nvSpPr>
          <p:cNvPr id="14" name="TextBox 13"/>
          <p:cNvSpPr txBox="1"/>
          <p:nvPr/>
        </p:nvSpPr>
        <p:spPr>
          <a:xfrm>
            <a:off x="777240" y="3879067"/>
            <a:ext cx="5531351" cy="173736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Minting a model version per retrain would make “the model changed” mean two different things. But a parameter set changes behaviour, so it is immutable, versioned, and cannot be run on until somebody other than whoever recorded it has approved — the gate that governs versions, applied to the other half of the pair.</a:t>
            </a:r>
          </a:p>
        </p:txBody>
      </p:sp>
      <p:sp>
        <p:nvSpPr>
          <p:cNvPr id="15" name="TextBox 14"/>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three depths of governance</a:t>
            </a:r>
          </a:p>
        </p:txBody>
      </p:sp>
      <p:graphicFrame>
        <p:nvGraphicFramePr>
          <p:cNvPr id="16" name="Table 15"/>
          <p:cNvGraphicFramePr>
            <a:graphicFrameLocks noGrp="1"/>
          </p:cNvGraphicFramePr>
          <p:nvPr/>
        </p:nvGraphicFramePr>
        <p:xfrm>
          <a:off x="6840452" y="1737360"/>
          <a:ext cx="4574002" cy="1253832"/>
        </p:xfrm>
        <a:graphic>
          <a:graphicData uri="http://schemas.openxmlformats.org/drawingml/2006/table">
            <a:tbl>
              <a:tblPr firstRow="1">
                <a:tableStyleId>{5C22544A-7EE6-4342-B048-85BDC9FD1C3A}</a:tableStyleId>
              </a:tblPr>
              <a:tblGrid>
                <a:gridCol w="1327936"/>
                <a:gridCol w="1918130"/>
                <a:gridCol w="1327936"/>
              </a:tblGrid>
              <a:tr h="329184">
                <a:tc>
                  <a:txBody>
                    <a:bodyPr wrap="square"/>
                    <a:lstStyle/>
                    <a:p>
                      <a:pPr algn="l"/>
                      <a:r>
                        <a:rPr sz="950" b="1">
                          <a:solidFill>
                            <a:srgbClr val="FFFFFF"/>
                          </a:solidFill>
                          <a:latin typeface="Calibri"/>
                        </a:rPr>
                        <a:t>Provenance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7" name="TextBox 16"/>
          <p:cNvSpPr txBox="1"/>
          <p:nvPr/>
        </p:nvSpPr>
        <p:spPr>
          <a:xfrm>
            <a:off x="6840452" y="3136391"/>
            <a:ext cx="4574002" cy="173736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The middle row is why provenance is not cosmetic: a Hull–White model recalibrated every morning would drown the register if each day needed a committee. The bottom row is the model that never trains — a closed form arrives with its parameters, and L-W1 refuses it a fit warrant as a type error.</a:t>
            </a:r>
          </a:p>
        </p:txBody>
      </p:sp>
      <p:sp>
        <p:nvSpPr>
          <p:cNvPr id="18" name="Rectangle 17"/>
          <p:cNvSpPr/>
          <p:nvPr/>
        </p:nvSpPr>
        <p:spPr>
          <a:xfrm>
            <a:off x="777240" y="5029200"/>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029200"/>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138927"/>
            <a:ext cx="10180015" cy="54864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Accepted only against a warrant we issued. </a:t>
            </a:r>
            <a:r>
              <a:rPr sz="1100" b="0" i="0">
                <a:solidFill>
                  <a:srgbClr val="1C1C1E"/>
                </a:solidFill>
                <a:latin typeface="Calibri"/>
              </a:rPr>
              <a:t>No back door. Without it, </a:t>
            </a:r>
            <a:r>
              <a:rPr sz="1100" b="1" i="0">
                <a:solidFill>
                  <a:srgbClr val="1C1C1E"/>
                </a:solidFill>
                <a:latin typeface="Calibri"/>
              </a:rPr>
              <a:t>“which data produced these numbers” has no answer</a:t>
            </a:r>
            <a:r>
              <a:rPr sz="1100" b="0" i="0">
                <a:solidFill>
                  <a:srgbClr val="1C1C1E"/>
                </a:solidFill>
                <a:latin typeface="Calibri"/>
              </a:rPr>
              <a:t>, and the lineage the pinned versions and bitemporal clocks exist to establish stops one step short of the thing it was for.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19</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Governance Subsystems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Evidence, risk, regimes, lifecycle, validation.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Evidence append and chain</a:t>
            </a:r>
          </a:p>
          <a:p>
            <a:pPr>
              <a:lnSpc>
                <a:spcPct val="115000"/>
              </a:lnSpc>
              <a:spcBef>
                <a:spcPts val="0"/>
              </a:spcBef>
              <a:spcAft>
                <a:spcPts val="700"/>
              </a:spcAft>
            </a:pPr>
            <a:r>
              <a:rPr sz="1150" b="0" i="0">
                <a:solidFill>
                  <a:srgbClr val="F6E6E9"/>
                </a:solidFill>
                <a:latin typeface="Calibri"/>
              </a:rPr>
              <a:t>Semiring evaluation</a:t>
            </a:r>
          </a:p>
          <a:p>
            <a:pPr>
              <a:lnSpc>
                <a:spcPct val="115000"/>
              </a:lnSpc>
              <a:spcBef>
                <a:spcPts val="0"/>
              </a:spcBef>
              <a:spcAft>
                <a:spcPts val="700"/>
              </a:spcAft>
            </a:pPr>
            <a:r>
              <a:rPr sz="1150" b="0" i="0">
                <a:solidFill>
                  <a:srgbClr val="F6E6E9"/>
                </a:solidFill>
                <a:latin typeface="Calibri"/>
              </a:rPr>
              <a:t>The tiering algorithm</a:t>
            </a:r>
          </a:p>
          <a:p>
            <a:pPr>
              <a:lnSpc>
                <a:spcPct val="115000"/>
              </a:lnSpc>
              <a:spcBef>
                <a:spcPts val="0"/>
              </a:spcBef>
              <a:spcAft>
                <a:spcPts val="700"/>
              </a:spcAft>
            </a:pPr>
            <a:r>
              <a:rPr sz="1150" b="0" i="0">
                <a:solidFill>
                  <a:srgbClr val="F6E6E9"/>
                </a:solidFill>
                <a:latin typeface="Calibri"/>
              </a:rPr>
              <a:t>Anti-gaming</a:t>
            </a:r>
          </a:p>
          <a:p>
            <a:pPr>
              <a:lnSpc>
                <a:spcPct val="115000"/>
              </a:lnSpc>
              <a:spcBef>
                <a:spcPts val="0"/>
              </a:spcBef>
              <a:spcAft>
                <a:spcPts val="700"/>
              </a:spcAft>
            </a:pPr>
            <a:r>
              <a:rPr sz="1150" b="0" i="0">
                <a:solidFill>
                  <a:srgbClr val="F6E6E9"/>
                </a:solidFill>
                <a:latin typeface="Calibri"/>
              </a:rPr>
              <a:t>Institutions in code</a:t>
            </a:r>
          </a:p>
          <a:p>
            <a:pPr>
              <a:lnSpc>
                <a:spcPct val="115000"/>
              </a:lnSpc>
              <a:spcBef>
                <a:spcPts val="0"/>
              </a:spcBef>
              <a:spcAft>
                <a:spcPts val="700"/>
              </a:spcAft>
            </a:pPr>
            <a:r>
              <a:rPr sz="1150" b="0" i="0">
                <a:solidFill>
                  <a:srgbClr val="F6E6E9"/>
                </a:solidFill>
                <a:latin typeface="Calibri"/>
              </a:rPr>
              <a:t>Lifecycle and baseline import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uow.lock("evidence_chain"):        # serialises seq only</a:t>
            </a:r>
          </a:p>
          <a:p>
            <a:pPr>
              <a:lnSpc>
                <a:spcPct val="134000"/>
              </a:lnSpc>
              <a:spcBef>
                <a:spcPts val="0"/>
              </a:spcBef>
              <a:spcAft>
                <a:spcPts val="0"/>
              </a:spcAft>
            </a:pPr>
            <a:r>
              <a:rPr sz="950" b="0" i="0">
                <a:solidFill>
                  <a:srgbClr val="1C1C1E"/>
                </a:solidFill>
                <a:latin typeface="Consolas"/>
              </a:rPr>
              <a:t>    prev = evidence.head()</a:t>
            </a:r>
          </a:p>
          <a:p>
            <a:pPr>
              <a:lnSpc>
                <a:spcPct val="134000"/>
              </a:lnSpc>
              <a:spcBef>
                <a:spcPts val="0"/>
              </a:spcBef>
              <a:spcAft>
                <a:spcPts val="0"/>
              </a:spcAft>
            </a:pPr>
            <a:r>
              <a:rPr sz="950" b="0" i="0">
                <a:solidFill>
                  <a:srgbClr val="1C1C1E"/>
                </a:solidFill>
                <a:latin typeface="Consolas"/>
              </a:rPr>
              <a:t>    node = EvidenceNode(</a:t>
            </a:r>
          </a:p>
          <a:p>
            <a:pPr>
              <a:lnSpc>
                <a:spcPct val="134000"/>
              </a:lnSpc>
              <a:spcBef>
                <a:spcPts val="0"/>
              </a:spcBef>
              <a:spcAft>
                <a:spcPts val="0"/>
              </a:spcAft>
            </a:pPr>
            <a:r>
              <a:rPr sz="950" b="0" i="0">
                <a:solidFill>
                  <a:srgbClr val="1C1C1E"/>
                </a:solidFill>
                <a:latin typeface="Consolas"/>
              </a:rPr>
              <a:t>        seq = prev.seq + 1,</a:t>
            </a:r>
          </a:p>
          <a:p>
            <a:pPr>
              <a:lnSpc>
                <a:spcPct val="134000"/>
              </a:lnSpc>
              <a:spcBef>
                <a:spcPts val="0"/>
              </a:spcBef>
              <a:spcAft>
                <a:spcPts val="0"/>
              </a:spcAft>
            </a:pPr>
            <a:r>
              <a:rPr sz="950" b="0" i="0">
                <a:solidFill>
                  <a:srgbClr val="1C1C1E"/>
                </a:solidFill>
                <a:latin typeface="Consolas"/>
              </a:rPr>
              <a:t>        payload = {} if personal_data else payload,     # law L-18</a:t>
            </a:r>
          </a:p>
          <a:p>
            <a:pPr>
              <a:lnSpc>
                <a:spcPct val="134000"/>
              </a:lnSpc>
              <a:spcBef>
                <a:spcPts val="0"/>
              </a:spcBef>
              <a:spcAft>
                <a:spcPts val="0"/>
              </a:spcAft>
            </a:pPr>
            <a:r>
              <a:rPr sz="950" b="0" i="0">
                <a:solidFill>
                  <a:srgbClr val="1C1C1E"/>
                </a:solidFill>
                <a:latin typeface="Consolas"/>
              </a:rPr>
              <a:t>        payload_uri = delta.put(payload) if personal_data else None,</a:t>
            </a:r>
          </a:p>
          <a:p>
            <a:pPr>
              <a:lnSpc>
                <a:spcPct val="134000"/>
              </a:lnSpc>
              <a:spcBef>
                <a:spcPts val="0"/>
              </a:spcBef>
              <a:spcAft>
                <a:spcPts val="0"/>
              </a:spcAft>
            </a:pPr>
            <a:r>
              <a:rPr sz="950" b="0" i="0">
                <a:solidFill>
                  <a:srgbClr val="1C1C1E"/>
                </a:solidFill>
                <a:latin typeface="Consolas"/>
              </a:rPr>
              <a:t>        content_hash = sha256(canonical_json(...)),</a:t>
            </a:r>
          </a:p>
          <a:p>
            <a:pPr>
              <a:lnSpc>
                <a:spcPct val="134000"/>
              </a:lnSpc>
              <a:spcBef>
                <a:spcPts val="0"/>
              </a:spcBef>
              <a:spcAft>
                <a:spcPts val="0"/>
              </a:spcAft>
            </a:pPr>
            <a:r>
              <a:rPr sz="950" b="0" i="0">
                <a:solidFill>
                  <a:srgbClr val="1C1C1E"/>
                </a:solidFill>
                <a:latin typeface="Consolas"/>
              </a:rPr>
              <a:t>        prev_hash    = prev.chain_hash,</a:t>
            </a:r>
          </a:p>
          <a:p>
            <a:pPr>
              <a:lnSpc>
                <a:spcPct val="134000"/>
              </a:lnSpc>
              <a:spcBef>
                <a:spcPts val="0"/>
              </a:spcBef>
              <a:spcAft>
                <a:spcPts val="0"/>
              </a:spcAft>
            </a:pPr>
            <a:r>
              <a:rPr sz="950" b="0" i="0">
                <a:solidFill>
                  <a:srgbClr val="1C1C1E"/>
                </a:solidFill>
                <a:latin typeface="Consolas"/>
              </a:rPr>
              <a:t>        chain_hash   = sha256(f"{seq}|{prev_hash}|{content_hash}|"</a:t>
            </a:r>
          </a:p>
          <a:p>
            <a:pPr>
              <a:lnSpc>
                <a:spcPct val="134000"/>
              </a:lnSpc>
              <a:spcBef>
                <a:spcPts val="0"/>
              </a:spcBef>
              <a:spcAft>
                <a:spcPts val="0"/>
              </a:spcAft>
            </a:pPr>
            <a:r>
              <a:rPr sz="950" b="0" i="0">
                <a:solidFill>
                  <a:srgbClr val="1C1C1E"/>
                </a:solidFill>
                <a:latin typeface="Consolas"/>
              </a:rPr>
              <a:t>                              f"{sorted(parent.chain_hash)}"),</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evidence.insert(node)                # INSERT-only database role</a:t>
            </a:r>
          </a:p>
        </p:txBody>
      </p:sp>
      <p:sp>
        <p:nvSpPr>
          <p:cNvPr id="14" name="TextBox 13"/>
          <p:cNvSpPr txBox="1"/>
          <p:nvPr/>
        </p:nvSpPr>
        <p:spPr>
          <a:xfrm>
            <a:off x="7585057" y="1353312"/>
            <a:ext cx="3829397" cy="320040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700"/>
              </a:spcBef>
              <a:spcAft>
                <a:spcPts val="300"/>
              </a:spcAft>
            </a:pPr>
            <a:r>
              <a:rPr sz="1100" b="1">
                <a:solidFill>
                  <a:srgbClr val="A51C30"/>
                </a:solidFill>
                <a:latin typeface="Calibri"/>
              </a:rPr>
              <a:t>▪  </a:t>
            </a:r>
            <a:r>
              <a:rPr sz="110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700"/>
              </a:spcBef>
              <a:spcAft>
                <a:spcPts val="300"/>
              </a:spcAft>
            </a:pPr>
            <a:r>
              <a:rPr sz="1100" b="1">
                <a:solidFill>
                  <a:srgbClr val="A51C30"/>
                </a:solidFill>
                <a:latin typeface="Calibri"/>
              </a:rPr>
              <a:t>▪  </a:t>
            </a:r>
            <a:r>
              <a:rPr sz="1100" b="1">
                <a:solidFill>
                  <a:srgbClr val="1C1C1E"/>
                </a:solidFill>
                <a:latin typeface="Calibri"/>
              </a:rPr>
              <a:t>The linear chain expresses order</a:t>
            </a:r>
          </a:p>
          <a:p>
            <a:pPr lvl="1">
              <a:spcBef>
                <a:spcPts val="0"/>
              </a:spcBef>
              <a:spcAft>
                <a:spcPts val="0"/>
              </a:spcAft>
            </a:pPr>
            <a:r>
              <a:rPr sz="950">
                <a:solidFill>
                  <a:srgbClr val="4A4F57"/>
                </a:solidFill>
                <a:latin typeface="Calibri"/>
              </a:rPr>
              <a:t>so deletion of a leaf and insertion into the past become detectable</a:t>
            </a:r>
          </a:p>
          <a:p>
            <a:pPr>
              <a:spcBef>
                <a:spcPts val="700"/>
              </a:spcBef>
              <a:spcAft>
                <a:spcPts val="300"/>
              </a:spcAft>
            </a:pPr>
            <a:r>
              <a:rPr sz="1100" b="1">
                <a:solidFill>
                  <a:srgbClr val="A51C30"/>
                </a:solidFill>
                <a:latin typeface="Calibri"/>
              </a:rPr>
              <a:t>▪  </a:t>
            </a:r>
            <a:r>
              <a:rPr sz="1100" b="1">
                <a:solidFill>
                  <a:srgbClr val="1C1C1E"/>
                </a:solidFill>
                <a:latin typeface="Calibri"/>
              </a:rPr>
              <a:t>Anchored daily</a:t>
            </a:r>
          </a:p>
          <a:p>
            <a:pPr lvl="1">
              <a:spcBef>
                <a:spcPts val="0"/>
              </a:spcBef>
              <a:spcAft>
                <a:spcPts val="0"/>
              </a:spcAft>
            </a:pPr>
            <a:r>
              <a:rPr sz="950">
                <a:solidFill>
                  <a:srgbClr val="4A4F57"/>
                </a:solidFill>
                <a:latin typeface="Calibri"/>
              </a:rPr>
              <a:t>chain head written to WORM and an RFC-3161 timestamp — self-consistency of a chain an attacker controls proves nothing</a:t>
            </a:r>
          </a:p>
          <a:p>
            <a:pPr>
              <a:spcBef>
                <a:spcPts val="700"/>
              </a:spcBef>
              <a:spcAft>
                <a:spcPts val="300"/>
              </a:spcAft>
            </a:pPr>
            <a:r>
              <a:rPr sz="1100" b="1">
                <a:solidFill>
                  <a:srgbClr val="A51C30"/>
                </a:solidFill>
                <a:latin typeface="Calibri"/>
              </a:rPr>
              <a:t>▪  </a:t>
            </a:r>
            <a:r>
              <a:rPr sz="1100" b="1">
                <a:solidFill>
                  <a:srgbClr val="1C1C1E"/>
                </a:solidFill>
                <a:latin typeface="Calibri"/>
              </a:rPr>
              <a:t>Personal data is never inline</a:t>
            </a:r>
          </a:p>
          <a:p>
            <a:pPr lvl="1">
              <a:spcBef>
                <a:spcPts val="0"/>
              </a:spcBef>
              <a:spcAft>
                <a:spcPts val="0"/>
              </a:spcAft>
            </a:pPr>
            <a:r>
              <a:rPr sz="950">
                <a:solidFill>
                  <a:srgbClr val="4A4F57"/>
                </a:solidFill>
                <a:latin typeface="Calibri"/>
              </a:rPr>
              <a:t>only an erasable pointer, so crypto-shredding leaves the chain valid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546350"/>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 not built —</a:t>
                      </a:r>
                    </a:p>
                  </a:txBody>
                  <a:tcPr marL="82296" marR="64008" marT="32004" marB="32004" anchor="ctr">
                    <a:solidFill>
                      <a:srgbClr val="FFFFFF"/>
                    </a:solidFill>
                  </a:tcPr>
                </a:tc>
                <a:tc>
                  <a:txBody>
                    <a:bodyPr wrap="square"/>
                    <a:lstStyle/>
                    <a:p>
                      <a:pPr algn="l"/>
                      <a:r>
                        <a:rPr sz="1000" b="0">
                          <a:solidFill>
                            <a:srgbClr val="1C1C1E"/>
                          </a:solidFill>
                          <a:latin typeface="Calibri"/>
                        </a:rPr>
                        <a:t>ℕ[X], classification, regime admissibility</a:t>
                      </a:r>
                    </a:p>
                  </a:txBody>
                  <a:tcPr marL="82296" marR="64008" marT="32004" marB="32004" anchor="ctr">
                    <a:solidFill>
                      <a:srgbClr val="FFFFFF"/>
                    </a:solidFill>
                  </a:tcPr>
                </a:tc>
              </a:tr>
            </a:tbl>
          </a:graphicData>
        </a:graphic>
      </p:graphicFrame>
      <p:sp>
        <p:nvSpPr>
          <p:cNvPr id="15" name="TextBox 14"/>
          <p:cNvSpPr txBox="1"/>
          <p:nvPr/>
        </p:nvSpPr>
        <p:spPr>
          <a:xfrm>
            <a:off x="7053196" y="4100829"/>
            <a:ext cx="4361258" cy="86868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Without ℕ[X] there is no universal object, </a:t>
            </a:r>
            <a:r>
              <a:rPr sz="1000" b="0" i="0">
                <a:solidFill>
                  <a:srgbClr val="1C1C1E"/>
                </a:solidFill>
                <a:latin typeface="Calibri"/>
              </a:rPr>
              <a:t>so each semiring is its own traversal of the same memoised DAG rather than a homomorphic image of one. Six questions, one implementation — and the honest count.</a:t>
            </a:r>
          </a:p>
        </p:txBody>
      </p:sp>
      <p:sp>
        <p:nvSpPr>
          <p:cNvPr id="16" name="Rectangle 15"/>
          <p:cNvSpPr/>
          <p:nvPr/>
        </p:nvSpPr>
        <p:spPr>
          <a:xfrm>
            <a:off x="777240" y="4620737"/>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620737"/>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51560" y="4748753"/>
            <a:ext cx="10088575" cy="6858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Complexity, stated honestly. </a:t>
            </a:r>
            <a:r>
              <a:rPr sz="110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a:t>
            </a:r>
            <a:r>
              <a:rPr sz="1100" b="1" i="0">
                <a:solidFill>
                  <a:srgbClr val="A51C30"/>
                </a:solidFill>
                <a:latin typeface="Calibri"/>
              </a:rPr>
              <a:t>It marks the answer partial — it does not fall back to a cheaper semiring. The marker is the control.</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tiering algorithm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 tested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 = Materiality(quantitative = rules.exposure_band(...),</a:t>
            </a:r>
          </a:p>
          <a:p>
            <a:pPr>
              <a:lnSpc>
                <a:spcPct val="134000"/>
              </a:lnSpc>
              <a:spcBef>
                <a:spcPts val="0"/>
              </a:spcBef>
              <a:spcAft>
                <a:spcPts val="0"/>
              </a:spcAft>
            </a:pPr>
            <a:r>
              <a:rPr sz="950" b="0" i="0">
                <a:solidFill>
                  <a:srgbClr val="1C1C1E"/>
                </a:solidFill>
                <a:latin typeface="Consolas"/>
              </a:rPr>
              <a:t>                qualitative  = rules.purpose_class(...)).join()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c = Complexity.meet(data=..., methodology=..., implementation=...,</a:t>
            </a:r>
          </a:p>
          <a:p>
            <a:pPr>
              <a:lnSpc>
                <a:spcPct val="134000"/>
              </a:lnSpc>
              <a:spcBef>
                <a:spcPts val="0"/>
              </a:spcBef>
              <a:spcAft>
                <a:spcPts val="0"/>
              </a:spcAft>
            </a:pPr>
            <a:r>
              <a:rPr sz="950" b="0" i="0">
                <a:solidFill>
                  <a:srgbClr val="1C1C1E"/>
                </a:solidFill>
                <a:latin typeface="Consolas"/>
              </a:rPr>
              <a:t>                    use_intensity=..., interpretability=...,</a:t>
            </a:r>
          </a:p>
          <a:p>
            <a:pPr>
              <a:lnSpc>
                <a:spcPct val="134000"/>
              </a:lnSpc>
              <a:spcBef>
                <a:spcPts val="0"/>
              </a:spcBef>
              <a:spcAft>
                <a:spcPts val="0"/>
              </a:spcAft>
            </a:pPr>
            <a:r>
              <a:rPr sz="950" b="0" i="0">
                <a:solidFill>
                  <a:srgbClr val="1C1C1E"/>
                </a:solidFill>
                <a:latin typeface="Consolas"/>
              </a:rPr>
              <a:t>                    transparency=..., bias_potential=...)</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Galois adjoint — law L-5</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a:p>
            <a:pPr>
              <a:lnSpc>
                <a:spcPct val="134000"/>
              </a:lnSpc>
              <a:spcBef>
                <a:spcPts val="0"/>
              </a:spcBef>
              <a:spcAft>
                <a:spcPts val="0"/>
              </a:spcAft>
            </a:pPr>
            <a:r>
              <a:rPr sz="950" b="0" i="0">
                <a:solidFill>
                  <a:srgbClr val="1C1C1E"/>
                </a:solidFill>
                <a:latin typeface="Consolas"/>
              </a:rPr>
              <a:t>                      next_review_due=..., triggers=...)</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axes, never one score</a:t>
            </a:r>
          </a:p>
          <a:p>
            <a:pPr>
              <a:lnSpc>
                <a:spcPct val="126000"/>
              </a:lnSpc>
              <a:spcBef>
                <a:spcPts val="0"/>
              </a:spcBef>
              <a:spcAft>
                <a:spcPts val="1000"/>
              </a:spcAft>
            </a:pPr>
            <a:r>
              <a:rPr sz="1100" b="0" i="0">
                <a:solidFill>
                  <a:srgbClr val="4A4F57"/>
                </a:solidFill>
                <a:latin typeface="Calibri"/>
              </a:rPr>
              <a:t>Materiality and complexity are separate lattices. Collapsing them into a product lets a very complex model with modest exposure land beside a simple model with enormous exposure.</a:t>
            </a:r>
          </a:p>
          <a:p>
            <a:pPr>
              <a:spcBef>
                <a:spcPts val="0"/>
              </a:spcBef>
              <a:spcAft>
                <a:spcPts val="700"/>
              </a:spcAft>
            </a:pPr>
            <a:r>
              <a:rPr sz="1250" b="1" i="0">
                <a:solidFill>
                  <a:srgbClr val="1C1C1E"/>
                </a:solidFill>
                <a:latin typeface="Georgia"/>
              </a:rPr>
              <a:t>The guarantee</a:t>
            </a:r>
          </a:p>
          <a:p>
            <a:pPr>
              <a:lnSpc>
                <a:spcPct val="126000"/>
              </a:lnSpc>
              <a:spcBef>
                <a:spcPts val="0"/>
              </a:spcBef>
              <a:spcAft>
                <a:spcPts val="600"/>
              </a:spcAft>
            </a:pPr>
            <a:r>
              <a:rPr sz="1100" b="0" i="0">
                <a:solidFill>
                  <a:srgbClr val="4A4F57"/>
                </a:solidFill>
                <a:latin typeface="Calibri"/>
              </a:rPr>
              <a:t>τ is monotone, so </a:t>
            </a:r>
            <a:r>
              <a:rPr sz="1100" b="1" i="0">
                <a:solidFill>
                  <a:srgbClr val="1C1C1E"/>
                </a:solidFill>
                <a:latin typeface="Calibri"/>
              </a:rPr>
              <a:t>nothing we can learn about a model that makes it more consequential or more complicated will ever move it into a lighter control regime.</a:t>
            </a:r>
            <a:r>
              <a:rPr sz="1100" b="0" i="0">
                <a:solidFill>
                  <a:srgbClr val="4A4F57"/>
                </a:solidFill>
                <a:latin typeface="Calibri"/>
              </a:rPr>
              <a:t> An unconstrained scoring formula cannot make that promise, and typically cannot even be checked.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Anti-gaming: where the facts come from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graphicFrame>
        <p:nvGraphicFramePr>
          <p:cNvPr id="10" name="Table 9"/>
          <p:cNvGraphicFramePr>
            <a:graphicFrameLocks noGrp="1"/>
          </p:cNvGraphicFramePr>
          <p:nvPr/>
        </p:nvGraphicFramePr>
        <p:xfrm>
          <a:off x="777240" y="1353312"/>
          <a:ext cx="10637214" cy="1846426"/>
        </p:xfrm>
        <a:graphic>
          <a:graphicData uri="http://schemas.openxmlformats.org/drawingml/2006/table">
            <a:tbl>
              <a:tblPr firstRow="1">
                <a:tableStyleId>{5C22544A-7EE6-4342-B048-85BDC9FD1C3A}</a:tableStyleId>
              </a:tblPr>
              <a:tblGrid>
                <a:gridCol w="2200803"/>
                <a:gridCol w="4951807"/>
                <a:gridCol w="3484604"/>
              </a:tblGrid>
              <a:tr h="333781">
                <a:tc>
                  <a:txBody>
                    <a:bodyPr wrap="square"/>
                    <a:lstStyle/>
                    <a:p>
                      <a:pPr algn="l"/>
                      <a:r>
                        <a:rPr sz="1100" b="1">
                          <a:solidFill>
                            <a:srgbClr val="FFFFFF"/>
                          </a:solidFill>
                          <a:latin typeface="Calibri"/>
                        </a:rPr>
                        <a:t>Fact</a:t>
                      </a:r>
                    </a:p>
                  </a:txBody>
                  <a:tcPr marL="82296" marR="64008" marT="32004" marB="32004" anchor="ctr">
                    <a:solidFill>
                      <a:srgbClr val="A51C30"/>
                    </a:solidFill>
                  </a:tcPr>
                </a:tc>
                <a:tc>
                  <a:txBody>
                    <a:bodyPr wrap="square"/>
                    <a:lstStyle/>
                    <a:p>
                      <a:pPr algn="l"/>
                      <a:r>
                        <a:rPr sz="1100" b="1">
                          <a:solidFill>
                            <a:srgbClr val="FFFFFF"/>
                          </a:solidFill>
                          <a:latin typeface="Calibri"/>
                        </a:rPr>
                        <a:t>Source</a:t>
                      </a:r>
                    </a:p>
                  </a:txBody>
                  <a:tcPr marL="82296" marR="64008" marT="32004" marB="32004" anchor="ctr">
                    <a:solidFill>
                      <a:srgbClr val="A51C30"/>
                    </a:solidFill>
                  </a:tcPr>
                </a:tc>
                <a:tc>
                  <a:txBody>
                    <a:bodyPr wrap="square"/>
                    <a:lstStyle/>
                    <a:p>
                      <a:pPr algn="l"/>
                      <a:r>
                        <a:rPr sz="1100" b="1">
                          <a:solidFill>
                            <a:srgbClr val="FFFFFF"/>
                          </a:solidFill>
                          <a:latin typeface="Calibri"/>
                        </a:rPr>
                        <a:t>If unavailable</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exposure_measure</a:t>
                      </a:r>
                    </a:p>
                  </a:txBody>
                  <a:tcPr marL="82296" marR="64008" marT="32004" marB="32004" anchor="ctr">
                    <a:solidFill>
                      <a:srgbClr val="FFFFFF"/>
                    </a:solidFill>
                  </a:tcPr>
                </a:tc>
                <a:tc>
                  <a:txBody>
                    <a:bodyPr wrap="square"/>
                    <a:lstStyle/>
                    <a:p>
                      <a:pPr algn="l"/>
                      <a:r>
                        <a:rPr sz="1050" b="0">
                          <a:solidFill>
                            <a:srgbClr val="1C1C1E"/>
                          </a:solidFill>
                          <a:latin typeface="Calibri"/>
                        </a:rPr>
                        <a:t>Bound to a system of record — risk data mart, GL, portfolio system — with nightly reconciliation</a:t>
                      </a:r>
                    </a:p>
                  </a:txBody>
                  <a:tcPr marL="82296" marR="64008" marT="32004" marB="32004" anchor="ctr">
                    <a:solidFill>
                      <a:srgbClr val="FFFFFF"/>
                    </a:solidFill>
                  </a:tcPr>
                </a:tc>
                <a:tc>
                  <a:txBody>
                    <a:bodyPr wrap="square"/>
                    <a:lstStyle/>
                    <a:p>
                      <a:pPr algn="l"/>
                      <a:r>
                        <a:rPr sz="1050" b="0">
                          <a:solidFill>
                            <a:srgbClr val="1C1C1E"/>
                          </a:solidFill>
                          <a:latin typeface="Calibri"/>
                        </a:rPr>
                        <a:t>Marked unsourced; peer-cohort outlier detection applies; flagged on the model page</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purpose_class</a:t>
                      </a:r>
                    </a:p>
                  </a:txBody>
                  <a:tcPr marL="82296" marR="64008" marT="32004" marB="32004" anchor="ctr">
                    <a:solidFill>
                      <a:srgbClr val="F6F3EF"/>
                    </a:solidFill>
                  </a:tcPr>
                </a:tc>
                <a:tc>
                  <a:txBody>
                    <a:bodyPr wrap="square"/>
                    <a:lstStyle/>
                    <a:p>
                      <a:pPr algn="l"/>
                      <a:r>
                        <a:rPr sz="1050" b="0">
                          <a:solidFill>
                            <a:srgbClr val="1C1C1E"/>
                          </a:solidFill>
                          <a:latin typeface="Calibri"/>
                        </a:rPr>
                        <a:t>Human — but a change requires approval at the tier being LEFT, not the tier being entered</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complexity components</a:t>
                      </a:r>
                    </a:p>
                  </a:txBody>
                  <a:tcPr marL="82296" marR="64008" marT="32004" marB="32004" anchor="ctr">
                    <a:solidFill>
                      <a:srgbClr val="FFFFFF"/>
                    </a:solidFill>
                  </a:tcPr>
                </a:tc>
                <a:tc>
                  <a:txBody>
                    <a:bodyPr wrap="square"/>
                    <a:lstStyle/>
                    <a:p>
                      <a:pPr algn="l"/>
                      <a:r>
                        <a:rPr sz="1050" b="0">
                          <a:solidFill>
                            <a:srgbClr val="1C1C1E"/>
                          </a:solidFill>
                          <a:latin typeface="Calibri"/>
                        </a:rPr>
                        <a:t>Derived from artifact introspection, feature contract and lineage where possible</a:t>
                      </a:r>
                    </a:p>
                  </a:txBody>
                  <a:tcPr marL="82296" marR="64008" marT="32004" marB="32004" anchor="ctr">
                    <a:solidFill>
                      <a:srgbClr val="FFFFFF"/>
                    </a:solidFill>
                  </a:tcPr>
                </a:tc>
                <a:tc>
                  <a:txBody>
                    <a:bodyPr wrap="square"/>
                    <a:lstStyle/>
                    <a:p>
                      <a:pPr algn="l"/>
                      <a:r>
                        <a:rPr sz="1050" b="0">
                          <a:solidFill>
                            <a:srgbClr val="1C1C1E"/>
                          </a:solidFill>
                          <a:latin typeface="Calibri"/>
                        </a:rPr>
                        <a:t>Human, with recorded rationale</a:t>
                      </a:r>
                    </a:p>
                  </a:txBody>
                  <a:tcPr marL="82296" marR="64008" marT="32004" marB="32004" anchor="ctr">
                    <a:solidFill>
                      <a:srgbClr val="FFFFFF"/>
                    </a:solidFill>
                  </a:tcPr>
                </a:tc>
              </a:tr>
            </a:tbl>
          </a:graphicData>
        </a:graphic>
      </p:graphicFrame>
      <p:sp>
        <p:nvSpPr>
          <p:cNvPr id="11" name="TextBox 10"/>
          <p:cNvSpPr txBox="1"/>
          <p:nvPr/>
        </p:nvSpPr>
        <p:spPr>
          <a:xfrm>
            <a:off x="777240" y="3474059"/>
            <a:ext cx="5105863"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The attack the obvious control misses</a:t>
            </a:r>
          </a:p>
          <a:p>
            <a:pPr>
              <a:lnSpc>
                <a:spcPct val="126000"/>
              </a:lnSpc>
              <a:spcBef>
                <a:spcPts val="0"/>
              </a:spcBef>
              <a:spcAft>
                <a:spcPts val="0"/>
              </a:spcAft>
            </a:pPr>
            <a:r>
              <a:rPr sz="1150" b="0" i="0">
                <a:solidFill>
                  <a:srgbClr val="4A4F57"/>
                </a:solidFill>
                <a:latin typeface="Calibri"/>
              </a:rPr>
              <a:t>Tier is derived, traced and monotone — so overriding it is visible. But it is derived from facts, and understating an exposure lowers the tier through a perfectly valid, fully audited derivation.</a:t>
            </a:r>
          </a:p>
        </p:txBody>
      </p:sp>
      <p:sp>
        <p:nvSpPr>
          <p:cNvPr id="12" name="Rectangle 11"/>
          <p:cNvSpPr/>
          <p:nvPr/>
        </p:nvSpPr>
        <p:spPr>
          <a:xfrm>
            <a:off x="6521336" y="3474059"/>
            <a:ext cx="4893118"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3474059"/>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59080" y="3602075"/>
            <a:ext cx="4435918"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Retrospective calibration</a:t>
            </a:r>
          </a:p>
          <a:p>
            <a:pPr>
              <a:lnSpc>
                <a:spcPct val="126000"/>
              </a:lnSpc>
              <a:spcBef>
                <a:spcPts val="0"/>
              </a:spcBef>
              <a:spcAft>
                <a:spcPts val="0"/>
              </a:spcAft>
            </a:pPr>
            <a:r>
              <a:rPr sz="1150" b="0" i="0">
                <a:solidFill>
                  <a:srgbClr val="1C1C1E"/>
                </a:solidFill>
                <a:latin typeface="Calibri"/>
              </a:rPr>
              <a:t>Annually, tier assignments are back-tested against realised incidents, findings and losses. </a:t>
            </a:r>
            <a:r>
              <a:rPr sz="1150" b="1" i="0">
                <a:solidFill>
                  <a:srgbClr val="1C1C1E"/>
                </a:solidFill>
                <a:latin typeface="Calibri"/>
              </a:rPr>
              <a:t>A tier that never predicts anything is evidence of systematic understatement — not of a quiet portfolio.</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Institutions in code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core   = CoreFacts.for_model(model_id)</a:t>
            </a:r>
          </a:p>
          <a:p>
            <a:pPr>
              <a:lnSpc>
                <a:spcPct val="134000"/>
              </a:lnSpc>
              <a:spcBef>
                <a:spcPts val="0"/>
              </a:spcBef>
              <a:spcAft>
                <a:spcPts val="0"/>
              </a:spcAft>
            </a:pPr>
            <a:r>
              <a:rPr sz="950" b="0" i="0">
                <a:solidFill>
                  <a:srgbClr val="1C1C1E"/>
                </a:solidFill>
                <a:latin typeface="Consolas"/>
              </a:rPr>
              <a:t>    local  = inst.translate(core)                    # the comorphism component</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{"sentence": "is_model",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s.is_obligation and s.evaluate(local).value])</a:t>
            </a:r>
          </a:p>
        </p:txBody>
      </p:sp>
      <p:sp>
        <p:nvSpPr>
          <p:cNvPr id="14" name="TextBox 13"/>
          <p:cNvSpPr txBox="1"/>
          <p:nvPr/>
        </p:nvSpPr>
        <p:spPr>
          <a:xfrm>
            <a:off x="777240" y="4417032"/>
            <a:ext cx="5531351"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someone who was not there.</a:t>
            </a:r>
          </a:p>
        </p:txBody>
      </p:sp>
      <p:sp>
        <p:nvSpPr>
          <p:cNvPr id="15" name="Rectangle 14"/>
          <p:cNvSpPr/>
          <p:nvPr/>
        </p:nvSpPr>
        <p:spPr>
          <a:xfrm>
            <a:off x="6734080" y="4417032"/>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41703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545048"/>
            <a:ext cx="4223174"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Law L-8 runs in CI</a:t>
            </a:r>
          </a:p>
          <a:p>
            <a:pPr>
              <a:lnSpc>
                <a:spcPct val="126000"/>
              </a:lnSpc>
              <a:spcBef>
                <a:spcPts val="0"/>
              </a:spcBef>
              <a:spcAft>
                <a:spcPts val="0"/>
              </a:spcAft>
            </a:pPr>
            <a:r>
              <a:rPr sz="1100" b="0" i="0">
                <a:solidFill>
                  <a:srgbClr val="1C1C1E"/>
                </a:solidFill>
                <a:latin typeface="Calibri"/>
              </a:rPr>
              <a:t>Hypothesis generates inventory states. For each regime and sentence, evaluating natively and evaluating the translation must agree. </a:t>
            </a:r>
            <a:r>
              <a:rPr sz="1100" b="1" i="0">
                <a:solidFill>
                  <a:srgbClr val="1C1C1E"/>
                </a:solidFill>
                <a:latin typeface="Calibri"/>
              </a:rPr>
              <a:t>A disagreement is a defective encoding — exactly the bug that produces an indefensible scope determination.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A rule may name the payload field carrying the identity it is about — a finding is raised against the model, while the act concerns one finding. Without that, raiser ≠ closer was </a:t>
            </a:r>
            <a:r>
              <a:rPr sz="1050" b="1" i="0">
                <a:solidFill>
                  <a:srgbClr val="1C1C1E"/>
                </a:solidFill>
                <a:latin typeface="Calibri"/>
              </a:rPr>
              <a:t>inert over HTTP</a:t>
            </a:r>
            <a:r>
              <a:rPr sz="1050" b="0" i="0">
                <a:solidFill>
                  <a:srgbClr val="4A4F57"/>
                </a:solidFill>
                <a:latin typeface="Calibri"/>
              </a:rPr>
              <a:t>: it searched under the finding's own id, found nothing, and permitted everything.</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10128"/>
            <a:ext cx="4542291" cy="11887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this exists. </a:t>
            </a:r>
            <a:r>
              <a:rPr sz="110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a:t>
            </a:r>
            <a:r>
              <a:rPr sz="1100" b="1" i="0">
                <a:solidFill>
                  <a:srgbClr val="1C1C1E"/>
                </a:solidFill>
                <a:latin typeface="Calibri"/>
              </a:rPr>
              <a:t>never rendered in the same colour as a breach.</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111</a:t>
            </a:r>
          </a:p>
        </p:txBody>
      </p:sp>
      <p:sp>
        <p:nvSpPr>
          <p:cNvPr id="10" name="TextBox 9"/>
          <p:cNvSpPr txBox="1"/>
          <p:nvPr/>
        </p:nvSpPr>
        <p:spPr>
          <a:xfrm>
            <a:off x="777240" y="1764792"/>
            <a:ext cx="10637215" cy="475488"/>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A gate that cannot change without a release is a gate people work around. A gate that </a:t>
            </a:r>
            <a:r>
              <a:rPr sz="1200" b="1" i="0">
                <a:solidFill>
                  <a:srgbClr val="1C1C1E"/>
                </a:solidFill>
                <a:latin typeface="Calibri"/>
              </a:rPr>
              <a:t>can</a:t>
            </a:r>
            <a:r>
              <a:rPr sz="1200" b="0" i="0">
                <a:solidFill>
                  <a:srgbClr val="1C1C1E"/>
                </a:solidFill>
                <a:latin typeface="Calibri"/>
              </a:rPr>
              <a:t> change without one is a gate that can be </a:t>
            </a:r>
            <a:r>
              <a:rPr sz="1200" b="1" i="0">
                <a:solidFill>
                  <a:srgbClr val="A51C30"/>
                </a:solidFill>
                <a:latin typeface="Calibri"/>
              </a:rPr>
              <a:t>weakened</a:t>
            </a:r>
            <a:r>
              <a:rPr sz="1200" b="0" i="0">
                <a:solidFill>
                  <a:srgbClr val="1C1C1E"/>
                </a:solidFill>
                <a:latin typeface="Calibri"/>
              </a:rPr>
              <a:t> without one, which is worse. Everything here makes the first possible without making the second silent.</a:t>
            </a:r>
          </a:p>
        </p:txBody>
      </p:sp>
      <p:sp>
        <p:nvSpPr>
          <p:cNvPr id="11" name="Rectangle 10"/>
          <p:cNvSpPr/>
          <p:nvPr/>
        </p:nvSpPr>
        <p:spPr>
          <a:xfrm>
            <a:off x="777240" y="2331720"/>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331720"/>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423160"/>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4" name="TextBox 13"/>
          <p:cNvSpPr txBox="1"/>
          <p:nvPr/>
        </p:nvSpPr>
        <p:spPr>
          <a:xfrm>
            <a:off x="978408" y="2724911"/>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5" name="TextBox 14"/>
          <p:cNvSpPr txBox="1"/>
          <p:nvPr/>
        </p:nvSpPr>
        <p:spPr>
          <a:xfrm>
            <a:off x="777240" y="4643688"/>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Rego was the obvious answer and was not taken. </a:t>
            </a:r>
            <a:r>
              <a:rPr sz="1050" b="0" i="0">
                <a:solidFill>
                  <a:srgbClr val="1C1C1E"/>
                </a:solidFill>
                <a:latin typeface="Calibri"/>
              </a:rPr>
              <a:t>A gate written in a general language is a program, and a reviewer signing off a governance control would have to run it to know what it does.</a:t>
            </a:r>
          </a:p>
        </p:txBody>
      </p:sp>
      <p:graphicFrame>
        <p:nvGraphicFramePr>
          <p:cNvPr id="16" name="Table 15"/>
          <p:cNvGraphicFramePr>
            <a:graphicFrameLocks noGrp="1"/>
          </p:cNvGraphicFramePr>
          <p:nvPr/>
        </p:nvGraphicFramePr>
        <p:xfrm>
          <a:off x="6840452" y="2331720"/>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7" name="Rectangle 16"/>
          <p:cNvSpPr/>
          <p:nvPr/>
        </p:nvSpPr>
        <p:spPr>
          <a:xfrm>
            <a:off x="777240" y="5440679"/>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69848" y="5541264"/>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91456"/>
            <a:ext cx="10180015" cy="7315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both. </a:t>
            </a:r>
            <a:r>
              <a:rPr sz="1100" b="0" i="0">
                <a:solidFill>
                  <a:srgbClr val="1C1C1E"/>
                </a:solidFill>
                <a:latin typeface="Calibri"/>
              </a:rPr>
              <a:t>A platform that only compiles cannot hold the paper the quant actually wrote; one that only stores files is a share drive with a database in front. Held apart, the register can say which is which — and </a:t>
            </a:r>
            <a:r>
              <a:rPr sz="1100" b="1" i="0">
                <a:solidFill>
                  <a:srgbClr val="1C1C1E"/>
                </a:solidFill>
                <a:latin typeface="Calibri"/>
              </a:rPr>
              <a:t>a rejected document stays on file with its reason</a:t>
            </a:r>
            <a:r>
              <a:rPr sz="1100" b="0" i="0">
                <a:solidFill>
                  <a:srgbClr val="1C1C1E"/>
                </a:solidFill>
                <a:latin typeface="Calibri"/>
              </a:rPr>
              <a:t>, because the papers that did not pass are the ones a supervisor asks about.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20</a:t>
            </a:r>
          </a:p>
        </p:txBody>
      </p:sp>
      <p:sp>
        <p:nvSpPr>
          <p:cNvPr id="5" name="TextBox 4"/>
          <p:cNvSpPr txBox="1"/>
          <p:nvPr/>
        </p:nvSpPr>
        <p:spPr>
          <a:xfrm>
            <a:off x="1005840" y="2346350"/>
            <a:ext cx="6169584" cy="1188720"/>
          </a:xfrm>
          <a:prstGeom prst="rect">
            <a:avLst/>
          </a:prstGeom>
          <a:noFill/>
        </p:spPr>
        <p:txBody>
          <a:bodyPr wrap="square" lIns="0" rIns="0" tIns="0" bIns="0" anchor="t">
            <a:spAutoFit/>
          </a:bodyPr>
          <a:lstStyle/>
          <a:p>
            <a:pPr algn="l">
              <a:spcBef>
                <a:spcPts val="0"/>
              </a:spcBef>
              <a:spcAft>
                <a:spcPts val="0"/>
              </a:spcAft>
            </a:pPr>
            <a:r>
              <a:rPr sz="4400" b="0" i="0">
                <a:solidFill>
                  <a:srgbClr val="FFFFFF"/>
                </a:solidFill>
                <a:latin typeface="Georgia"/>
              </a:rPr>
              <a:t>The Execution Plane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How a governed model actually gets run — and stopped.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warrant grammar</a:t>
            </a:r>
          </a:p>
          <a:p>
            <a:pPr>
              <a:lnSpc>
                <a:spcPct val="115000"/>
              </a:lnSpc>
              <a:spcBef>
                <a:spcPts val="0"/>
              </a:spcBef>
              <a:spcAft>
                <a:spcPts val="700"/>
              </a:spcAft>
            </a:pPr>
            <a:r>
              <a:rPr sz="1150" b="0" i="0">
                <a:solidFill>
                  <a:srgbClr val="F6E6E9"/>
                </a:solidFill>
                <a:latin typeface="Calibri"/>
              </a:rPr>
              <a:t>Resolution algorithm</a:t>
            </a:r>
          </a:p>
          <a:p>
            <a:pPr>
              <a:lnSpc>
                <a:spcPct val="115000"/>
              </a:lnSpc>
              <a:spcBef>
                <a:spcPts val="0"/>
              </a:spcBef>
              <a:spcAft>
                <a:spcPts val="700"/>
              </a:spcAft>
            </a:pPr>
            <a:r>
              <a:rPr sz="1150" b="0" i="0">
                <a:solidFill>
                  <a:srgbClr val="F6E6E9"/>
                </a:solidFill>
                <a:latin typeface="Calibri"/>
              </a:rPr>
              <a:t>Caching and stampede control</a:t>
            </a:r>
          </a:p>
          <a:p>
            <a:pPr>
              <a:lnSpc>
                <a:spcPct val="115000"/>
              </a:lnSpc>
              <a:spcBef>
                <a:spcPts val="0"/>
              </a:spcBef>
              <a:spcAft>
                <a:spcPts val="700"/>
              </a:spcAft>
            </a:pPr>
            <a:r>
              <a:rPr sz="1150" b="0" i="0">
                <a:solidFill>
                  <a:srgbClr val="F6E6E9"/>
                </a:solidFill>
                <a:latin typeface="Calibri"/>
              </a:rPr>
              <a:t>Revocation</a:t>
            </a:r>
          </a:p>
          <a:p>
            <a:pPr>
              <a:lnSpc>
                <a:spcPct val="115000"/>
              </a:lnSpc>
              <a:spcBef>
                <a:spcPts val="0"/>
              </a:spcBef>
              <a:spcAft>
                <a:spcPts val="700"/>
              </a:spcAft>
            </a:pPr>
            <a:r>
              <a:rPr sz="1150" b="0" i="0">
                <a:solidFill>
                  <a:srgbClr val="F6E6E9"/>
                </a:solidFill>
                <a:latin typeface="Calibri"/>
              </a:rPr>
              <a:t>Use reconciliation</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114</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17</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python.callable · container · rest · sql · spreadsheet · rules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section, not a new document type, and not a change to anything that already works.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115</a:t>
            </a:r>
          </a:p>
        </p:txBody>
      </p:sp>
      <p:graphicFrame>
        <p:nvGraphicFramePr>
          <p:cNvPr id="10" name="Table 9"/>
          <p:cNvGraphicFramePr>
            <a:graphicFrameLocks noGrp="1"/>
          </p:cNvGraphicFramePr>
          <p:nvPr/>
        </p:nvGraphicFramePr>
        <p:xfrm>
          <a:off x="777240" y="1353312"/>
          <a:ext cx="10637213" cy="3790213"/>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Credit-memo agent</a:t>
                      </a:r>
                    </a:p>
                  </a:txBody>
                  <a:tcPr marL="82296" marR="64008" marT="32004" marB="32004" anchor="ctr">
                    <a:solidFill>
                      <a:srgbClr val="FFFFF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FFFFF"/>
                    </a:solidFill>
                  </a:tcPr>
                </a:tc>
                <a:tc>
                  <a:txBody>
                    <a:bodyPr wrap="square"/>
                    <a:lstStyle/>
                    <a:p>
                      <a:pPr algn="l"/>
                      <a:r>
                        <a:rPr sz="1050" b="0">
                          <a:solidFill>
                            <a:srgbClr val="1C1C1E"/>
                          </a:solidFill>
                          <a:latin typeface="Calibri"/>
                        </a:rPr>
                        <a:t>llm.agent</a:t>
                      </a:r>
                    </a:p>
                  </a:txBody>
                  <a:tcPr marL="82296" marR="64008" marT="32004" marB="32004" anchor="ctr">
                    <a:solidFill>
                      <a:srgbClr val="FFFFFF"/>
                    </a:solidFill>
                  </a:tcPr>
                </a:tc>
                <a:tc>
                  <a:txBody>
                    <a:bodyPr wrap="square"/>
                    <a:lstStyle/>
                    <a:p>
                      <a:pPr algn="l"/>
                      <a:r>
                        <a:rPr sz="1050" b="0">
                          <a:solidFill>
                            <a:srgbClr val="1C1C1E"/>
                          </a:solidFill>
                          <a:latin typeface="Calibri"/>
                        </a:rPr>
                        <a:t>generate</a:t>
                      </a:r>
                    </a:p>
                  </a:txBody>
                  <a:tcPr marL="82296" marR="64008" marT="32004" marB="32004" anchor="ctr">
                    <a:solidFill>
                      <a:srgbClr val="FFFFFF"/>
                    </a:solidFill>
                  </a:tcPr>
                </a:tc>
                <a:tc>
                  <a:txBody>
                    <a:bodyPr wrap="square"/>
                    <a:lstStyle/>
                    <a:p>
                      <a:pPr algn="l"/>
                      <a:r>
                        <a:rPr sz="1050" b="0">
                          <a:solidFill>
                            <a:srgbClr val="1C1C1E"/>
                          </a:solidFill>
                          <a:latin typeface="Calibri"/>
                        </a:rPr>
                        <a:t>document_corpus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Treasury spreadsheet</a:t>
                      </a:r>
                    </a:p>
                  </a:txBody>
                  <a:tcPr marL="82296" marR="64008" marT="32004" marB="32004" anchor="ctr">
                    <a:solidFill>
                      <a:srgbClr val="F6F3EF"/>
                    </a:solidFill>
                  </a:tcPr>
                </a:tc>
                <a:tc>
                  <a:txBody>
                    <a:bodyPr wrap="square"/>
                    <a:lstStyle/>
                    <a:p>
                      <a:pPr algn="l"/>
                      <a:r>
                        <a:rPr sz="1050" b="0">
                          <a:solidFill>
                            <a:srgbClr val="1C1C1E"/>
                          </a:solidFill>
                          <a:latin typeface="Calibri"/>
                        </a:rPr>
                        <a:t>rule_set  (T8)</a:t>
                      </a:r>
                    </a:p>
                  </a:txBody>
                  <a:tcPr marL="82296" marR="64008" marT="32004" marB="32004" anchor="ctr">
                    <a:solidFill>
                      <a:srgbClr val="F6F3EF"/>
                    </a:solidFill>
                  </a:tcPr>
                </a:tc>
                <a:tc>
                  <a:txBody>
                    <a:bodyPr wrap="square"/>
                    <a:lstStyle/>
                    <a:p>
                      <a:pPr algn="l"/>
                      <a:r>
                        <a:rPr sz="1050" b="0">
                          <a:solidFill>
                            <a:srgbClr val="1C1C1E"/>
                          </a:solidFill>
                          <a:latin typeface="Calibri"/>
                        </a:rPr>
                        <a:t>spreadsheet</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request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VaR backtest</a:t>
                      </a:r>
                    </a:p>
                  </a:txBody>
                  <a:tcPr marL="82296" marR="64008" marT="32004" marB="32004" anchor="ctr">
                    <a:solidFill>
                      <a:srgbClr val="FFFFF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FFFFF"/>
                    </a:solidFill>
                  </a:tcPr>
                </a:tc>
                <a:tc>
                  <a:txBody>
                    <a:bodyPr wrap="square"/>
                    <a:lstStyle/>
                    <a:p>
                      <a:pPr algn="l"/>
                      <a:r>
                        <a:rPr sz="1050" b="0">
                          <a:solidFill>
                            <a:srgbClr val="1C1C1E"/>
                          </a:solidFill>
                          <a:latin typeface="Calibri"/>
                        </a:rPr>
                        <a:t>python.callable</a:t>
                      </a:r>
                    </a:p>
                  </a:txBody>
                  <a:tcPr marL="82296" marR="64008" marT="32004" marB="32004" anchor="ctr">
                    <a:solidFill>
                      <a:srgbClr val="FFFFFF"/>
                    </a:solidFill>
                  </a:tcPr>
                </a:tc>
                <a:tc>
                  <a:txBody>
                    <a:bodyPr wrap="square"/>
                    <a:lstStyle/>
                    <a:p>
                      <a:pPr algn="l"/>
                      <a:r>
                        <a:rPr sz="1050" b="0">
                          <a:solidFill>
                            <a:srgbClr val="1C1C1E"/>
                          </a:solidFill>
                          <a:latin typeface="Calibri"/>
                        </a:rPr>
                        <a:t>backtest</a:t>
                      </a:r>
                    </a:p>
                  </a:txBody>
                  <a:tcPr marL="82296" marR="64008" marT="32004" marB="32004" anchor="ctr">
                    <a:solidFill>
                      <a:srgbClr val="FFFFF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FFFFF"/>
                    </a:solidFill>
                  </a:tcPr>
                </a:tc>
              </a:tr>
            </a:tbl>
          </a:graphicData>
        </a:graphic>
      </p:graphicFrame>
      <p:sp>
        <p:nvSpPr>
          <p:cNvPr id="11" name="Rectangle 10"/>
          <p:cNvSpPr/>
          <p:nvPr/>
        </p:nvSpPr>
        <p:spPr>
          <a:xfrm>
            <a:off x="777240" y="5381269"/>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81269"/>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5490997"/>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116</a:t>
            </a:r>
          </a:p>
        </p:txBody>
      </p:sp>
      <p:sp>
        <p:nvSpPr>
          <p:cNvPr id="10" name="TextBox 9"/>
          <p:cNvSpPr txBox="1"/>
          <p:nvPr/>
        </p:nvSpPr>
        <p:spPr>
          <a:xfrm>
            <a:off x="777240" y="1353312"/>
            <a:ext cx="10637215" cy="512064"/>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4A4F57"/>
                </a:solidFill>
                <a:latin typeface="Calibri"/>
              </a:rPr>
              <a:t>Not invented for the grammar. They fall out of the algebra: the trainability class is DERIVED from how the parameter object is inhabited, so what a class admits is what the class means.</a:t>
            </a:r>
          </a:p>
        </p:txBody>
      </p:sp>
      <p:graphicFrame>
        <p:nvGraphicFramePr>
          <p:cNvPr id="11" name="Table 10"/>
          <p:cNvGraphicFramePr>
            <a:graphicFrameLocks noGrp="1"/>
          </p:cNvGraphicFramePr>
          <p:nvPr/>
        </p:nvGraphicFramePr>
        <p:xfrm>
          <a:off x="777240" y="1755648"/>
          <a:ext cx="10637214" cy="3966683"/>
        </p:xfrm>
        <a:graphic>
          <a:graphicData uri="http://schemas.openxmlformats.org/drawingml/2006/table">
            <a:tbl>
              <a:tblPr firstRow="1">
                <a:tableStyleId>{5C22544A-7EE6-4342-B048-85BDC9FD1C3A}</a:tableStyleId>
              </a:tblPr>
              <a:tblGrid>
                <a:gridCol w="779451"/>
                <a:gridCol w="2888554"/>
                <a:gridCol w="69692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not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temperature 0.7 is not reproducible, and would be believed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training does not change the kernel, so a run declining to say which inhabitant it runs at produces a number attributable to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featureset read for training,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does not provide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it needs the register, not the document</a:t>
                      </a:r>
                    </a:p>
                  </a:txBody>
                  <a:tcPr marL="82296" marR="64008" marT="32004" marB="32004" anchor="ctr">
                    <a:solidFill>
                      <a:srgbClr val="FFFFFF"/>
                    </a:solidFill>
                  </a:tcPr>
                </a:tc>
              </a:tr>
            </a:tbl>
          </a:graphicData>
        </a:graphic>
      </p:graphicFrame>
      <p:sp>
        <p:nvSpPr>
          <p:cNvPr id="12" name="TextBox 11"/>
          <p:cNvSpPr txBox="1"/>
          <p:nvPr/>
        </p:nvSpPr>
        <p:spPr>
          <a:xfrm>
            <a:off x="777240" y="5777204"/>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A51C30"/>
                </a:solidFill>
                <a:latin typeface="Calibri"/>
              </a:rPr>
              <a:t>Validated before signed, never after. </a:t>
            </a:r>
            <a:r>
              <a:rPr sz="950" b="0" i="0">
                <a:solidFill>
                  <a:srgbClr val="1C1C1E"/>
                </a:solidFill>
                <a:latin typeface="Calibri"/>
              </a:rPr>
              <a:t>A signature over a non-conforming document would assure it is authentic and not that it is usable, and an engine would read it as both. </a:t>
            </a:r>
            <a:r>
              <a:rPr sz="950" b="1" i="0">
                <a:solidFill>
                  <a:srgbClr val="1C1C1E"/>
                </a:solidFill>
                <a:latin typeface="Calibri"/>
              </a:rPr>
              <a:t>L-W8 caught a real error in a shipped example the day it was written.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HOT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117</a:t>
            </a:r>
          </a:p>
        </p:txBody>
      </p:sp>
      <p:sp>
        <p:nvSpPr>
          <p:cNvPr id="10" name="Rectangle 9"/>
          <p:cNvSpPr/>
          <p:nvPr/>
        </p:nvSpPr>
        <p:spPr>
          <a:xfrm>
            <a:off x="777240" y="1353312"/>
            <a:ext cx="6382329" cy="38476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476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6016569" cy="3372170"/>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def resolve(req) -&gt; WarrantDescriptor:</a:t>
            </a:r>
          </a:p>
          <a:p>
            <a:pPr>
              <a:lnSpc>
                <a:spcPct val="134000"/>
              </a:lnSpc>
              <a:spcBef>
                <a:spcPts val="0"/>
              </a:spcBef>
              <a:spcAft>
                <a:spcPts val="0"/>
              </a:spcAft>
            </a:pPr>
            <a:r>
              <a:rPr sz="900" b="0" i="0">
                <a:solidFill>
                  <a:srgbClr val="1C1C1E"/>
                </a:solidFill>
                <a:latin typeface="Consolas"/>
              </a:rPr>
              <a:t>    principal = authn.verify(req.token)      # workload identity</a:t>
            </a:r>
          </a:p>
          <a:p>
            <a:pPr>
              <a:lnSpc>
                <a:spcPct val="134000"/>
              </a:lnSpc>
              <a:spcBef>
                <a:spcPts val="0"/>
              </a:spcBef>
              <a:spcAft>
                <a:spcPts val="0"/>
              </a:spcAft>
            </a:pPr>
            <a:r>
              <a:rPr sz="900" b="0" i="0">
                <a:solidFill>
                  <a:srgbClr val="1C1C1E"/>
                </a:solidFill>
                <a:latin typeface="Consolas"/>
              </a:rPr>
              <a:t>    key = (req.urn, principal.id, req.environment, req.declared_use_id)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if (d := local_lru.get(key)) and d.fresh(): return d</a:t>
            </a:r>
          </a:p>
          <a:p>
            <a:pPr>
              <a:lnSpc>
                <a:spcPct val="134000"/>
              </a:lnSpc>
              <a:spcBef>
                <a:spcPts val="0"/>
              </a:spcBef>
              <a:spcAft>
                <a:spcPts val="0"/>
              </a:spcAft>
            </a:pPr>
            <a:r>
              <a:rPr sz="900" b="0" i="0">
                <a:solidFill>
                  <a:srgbClr val="1C1C1E"/>
                </a:solidFill>
                <a:latin typeface="Consolas"/>
              </a:rPr>
              <a:t>    if revocations.contains(d): raise Revoked(...)   # floor beats every cache</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with singleflight(key):                  # coalesce concurrent misses</a:t>
            </a:r>
          </a:p>
          <a:p>
            <a:pPr>
              <a:lnSpc>
                <a:spcPct val="134000"/>
              </a:lnSpc>
              <a:spcBef>
                <a:spcPts val="0"/>
              </a:spcBef>
              <a:spcAft>
                <a:spcPts val="0"/>
              </a:spcAft>
            </a:pPr>
            <a:r>
              <a:rPr sz="900" b="0" i="0">
                <a:solidFill>
                  <a:srgbClr val="1C1C1E"/>
                </a:solidFill>
                <a:latin typeface="Consolas"/>
              </a:rPr>
              <a:t>        row = warrant_projection.get(req.urn, req.environment)  # ONLY table read</a:t>
            </a:r>
          </a:p>
          <a:p>
            <a:pPr>
              <a:lnSpc>
                <a:spcPct val="134000"/>
              </a:lnSpc>
              <a:spcBef>
                <a:spcPts val="0"/>
              </a:spcBef>
              <a:spcAft>
                <a:spcPts val="0"/>
              </a:spcAft>
            </a:pPr>
            <a:r>
              <a:rPr sz="900" b="0" i="0">
                <a:solidFill>
                  <a:srgbClr val="1C1C1E"/>
                </a:solidFill>
                <a:latin typeface="Consolas"/>
              </a:rPr>
              <a:t>        if row.revoked:                     raise Revoked(...)</a:t>
            </a:r>
          </a:p>
          <a:p>
            <a:pPr>
              <a:lnSpc>
                <a:spcPct val="134000"/>
              </a:lnSpc>
              <a:spcBef>
                <a:spcPts val="0"/>
              </a:spcBef>
              <a:spcAft>
                <a:spcPts val="0"/>
              </a:spcAft>
            </a:pPr>
            <a:r>
              <a:rPr sz="900" b="0" i="0">
                <a:solidFill>
                  <a:srgbClr val="1C1C1E"/>
                </a:solidFill>
                <a:latin typeface="Consolas"/>
              </a:rPr>
              <a:t>        ent = row.entitlements.get(principal.id)</a:t>
            </a:r>
          </a:p>
          <a:p>
            <a:pPr>
              <a:lnSpc>
                <a:spcPct val="134000"/>
              </a:lnSpc>
              <a:spcBef>
                <a:spcPts val="0"/>
              </a:spcBef>
              <a:spcAft>
                <a:spcPts val="0"/>
              </a:spcAft>
            </a:pPr>
            <a:r>
              <a:rPr sz="900" b="0" i="0">
                <a:solidFill>
                  <a:srgbClr val="1C1C1E"/>
                </a:solidFill>
                <a:latin typeface="Consolas"/>
              </a:rPr>
              <a:t>        if ent is None or ent.model_use_id != req.declared_use_id:</a:t>
            </a:r>
          </a:p>
          <a:p>
            <a:pPr>
              <a:lnSpc>
                <a:spcPct val="134000"/>
              </a:lnSpc>
              <a:spcBef>
                <a:spcPts val="0"/>
              </a:spcBef>
              <a:spcAft>
                <a:spcPts val="0"/>
              </a:spcAft>
            </a:pPr>
            <a:r>
              <a:rPr sz="900" b="0" i="0">
                <a:solidFill>
                  <a:srgbClr val="1C1C1E"/>
                </a:solidFill>
                <a:latin typeface="Consolas"/>
              </a:rPr>
              <a:t>                                            raise NoEntitlement(...)</a:t>
            </a:r>
          </a:p>
          <a:p>
            <a:pPr>
              <a:lnSpc>
                <a:spcPct val="134000"/>
              </a:lnSpc>
              <a:spcBef>
                <a:spcPts val="0"/>
              </a:spcBef>
              <a:spcAft>
                <a:spcPts val="0"/>
              </a:spcAft>
            </a:pPr>
            <a:r>
              <a:rPr sz="900" b="0" i="0">
                <a:solidFill>
                  <a:srgbClr val="1C1C1E"/>
                </a:solidFill>
                <a:latin typeface="Consolas"/>
              </a:rPr>
              <a:t>        if row.governance_snapshot.blocking_findings: raise Restricted(...)</a:t>
            </a:r>
          </a:p>
          <a:p>
            <a:pPr>
              <a:lnSpc>
                <a:spcPct val="134000"/>
              </a:lnSpc>
              <a:spcBef>
                <a:spcPts val="0"/>
              </a:spcBef>
              <a:spcAft>
                <a:spcPts val="0"/>
              </a:spcAft>
            </a:pPr>
            <a:r>
              <a:rPr sz="900" b="0" i="0">
                <a:solidFill>
                  <a:srgbClr val="1C1C1E"/>
                </a:solidFill>
                <a:latin typeface="Consolas"/>
              </a:rPr>
              <a:t>        d = sign(build_descriptor(row, ent, req))</a:t>
            </a:r>
          </a:p>
          <a:p>
            <a:pPr>
              <a:lnSpc>
                <a:spcPct val="134000"/>
              </a:lnSpc>
              <a:spcBef>
                <a:spcPts val="0"/>
              </a:spcBef>
              <a:spcAft>
                <a:spcPts val="0"/>
              </a:spcAft>
            </a:pPr>
            <a:r>
              <a:rPr sz="900" b="0" i="0">
                <a:solidFill>
                  <a:srgbClr val="1C1C1E"/>
                </a:solidFill>
                <a:latin typeface="Consolas"/>
              </a:rPr>
              <a:t>        redis.setex(key, ttl_with_jitter(row.tier), d)</a:t>
            </a:r>
          </a:p>
          <a:p>
            <a:pPr>
              <a:lnSpc>
                <a:spcPct val="134000"/>
              </a:lnSpc>
              <a:spcBef>
                <a:spcPts val="0"/>
              </a:spcBef>
              <a:spcAft>
                <a:spcPts val="0"/>
              </a:spcAft>
            </a:pPr>
            <a:r>
              <a:rPr sz="900" b="0" i="0">
                <a:solidFill>
                  <a:srgbClr val="1C1C1E"/>
                </a:solidFill>
                <a:latin typeface="Consolas"/>
              </a:rPr>
              <a:t>    return d</a:t>
            </a:r>
          </a:p>
        </p:txBody>
      </p:sp>
      <p:sp>
        <p:nvSpPr>
          <p:cNvPr id="14" name="TextBox 13"/>
          <p:cNvSpPr txBox="1"/>
          <p:nvPr/>
        </p:nvSpPr>
        <p:spPr>
          <a:xfrm>
            <a:off x="7585057" y="1353312"/>
            <a:ext cx="3829397" cy="33832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How p99 &lt; 50 ms is met</a:t>
            </a:r>
          </a:p>
          <a:p>
            <a:pPr>
              <a:spcBef>
                <a:spcPts val="700"/>
              </a:spcBef>
              <a:spcAft>
                <a:spcPts val="300"/>
              </a:spcAft>
            </a:pPr>
            <a:r>
              <a:rPr sz="1100" b="1">
                <a:solidFill>
                  <a:srgbClr val="A51C30"/>
                </a:solidFill>
                <a:latin typeface="Calibri"/>
              </a:rPr>
              <a:t>▪  </a:t>
            </a:r>
            <a:r>
              <a:rPr sz="1100" b="1">
                <a:solidFill>
                  <a:srgbClr val="1C1C1E"/>
                </a:solidFill>
                <a:latin typeface="Calibri"/>
              </a:rPr>
              <a:t>Never touch the primary</a:t>
            </a:r>
          </a:p>
          <a:p>
            <a:pPr lvl="1">
              <a:spcBef>
                <a:spcPts val="0"/>
              </a:spcBef>
              <a:spcAft>
                <a:spcPts val="0"/>
              </a:spcAft>
            </a:pPr>
            <a:r>
              <a:rPr sz="950">
                <a:solidFill>
                  <a:srgbClr val="4A4F57"/>
                </a:solidFill>
                <a:latin typeface="Calibri"/>
              </a:rPr>
              <a:t>warrant_projection is served from a read replica — and it is the ONLY table this service knows</a:t>
            </a:r>
          </a:p>
          <a:p>
            <a:pPr>
              <a:spcBef>
                <a:spcPts val="700"/>
              </a:spcBef>
              <a:spcAft>
                <a:spcPts val="300"/>
              </a:spcAft>
            </a:pPr>
            <a:r>
              <a:rPr sz="1100" b="1">
                <a:solidFill>
                  <a:srgbClr val="A51C30"/>
                </a:solidFill>
                <a:latin typeface="Calibri"/>
              </a:rPr>
              <a:t>▪  </a:t>
            </a:r>
            <a:r>
              <a:rPr sz="1100" b="1">
                <a:solidFill>
                  <a:srgbClr val="1C1C1E"/>
                </a:solidFill>
                <a:latin typeface="Calibri"/>
              </a:rPr>
              <a:t>Common case is a Redis GET</a:t>
            </a:r>
          </a:p>
          <a:p>
            <a:pPr lvl="1">
              <a:spcBef>
                <a:spcPts val="0"/>
              </a:spcBef>
              <a:spcAft>
                <a:spcPts val="0"/>
              </a:spcAft>
            </a:pPr>
            <a:r>
              <a:rPr sz="950">
                <a:solidFill>
                  <a:srgbClr val="4A4F57"/>
                </a:solidFill>
                <a:latin typeface="Calibri"/>
              </a:rPr>
              <a:t>plus one signature check — HMAC-SHA256 today, Ed25519 the production target</a:t>
            </a:r>
          </a:p>
          <a:p>
            <a:pPr>
              <a:spcBef>
                <a:spcPts val="700"/>
              </a:spcBef>
              <a:spcAft>
                <a:spcPts val="300"/>
              </a:spcAft>
            </a:pPr>
            <a:r>
              <a:rPr sz="1100" b="1">
                <a:solidFill>
                  <a:srgbClr val="A51C30"/>
                </a:solidFill>
                <a:latin typeface="Calibri"/>
              </a:rPr>
              <a:t>▪  </a:t>
            </a:r>
            <a:r>
              <a:rPr sz="1100" b="1">
                <a:solidFill>
                  <a:srgbClr val="1C1C1E"/>
                </a:solidFill>
                <a:latin typeface="Calibri"/>
              </a:rPr>
              <a:t>Two cache tiers</a:t>
            </a:r>
          </a:p>
          <a:p>
            <a:pPr lvl="1">
              <a:spcBef>
                <a:spcPts val="0"/>
              </a:spcBef>
              <a:spcAft>
                <a:spcPts val="0"/>
              </a:spcAft>
            </a:pPr>
            <a:r>
              <a:rPr sz="950">
                <a:solidFill>
                  <a:srgbClr val="4A4F57"/>
                </a:solidFill>
                <a:latin typeface="Calibri"/>
              </a:rPr>
              <a:t>in-process LRU in front of Redis</a:t>
            </a:r>
          </a:p>
          <a:p>
            <a:pPr>
              <a:spcBef>
                <a:spcPts val="700"/>
              </a:spcBef>
              <a:spcAft>
                <a:spcPts val="300"/>
              </a:spcAft>
            </a:pPr>
            <a:r>
              <a:rPr sz="1100" b="1">
                <a:solidFill>
                  <a:srgbClr val="A51C30"/>
                </a:solidFill>
                <a:latin typeface="Calibri"/>
              </a:rPr>
              <a:t>▪  </a:t>
            </a:r>
            <a:r>
              <a:rPr sz="1100" b="1">
                <a:solidFill>
                  <a:srgbClr val="1C1C1E"/>
                </a:solidFill>
                <a:latin typeface="Calibri"/>
              </a:rPr>
              <a:t>Schema decoupling</a:t>
            </a:r>
          </a:p>
          <a:p>
            <a:pPr lvl="1">
              <a:spcBef>
                <a:spcPts val="0"/>
              </a:spcBef>
              <a:spcAft>
                <a:spcPts val="0"/>
              </a:spcAft>
            </a:pPr>
            <a:r>
              <a:rPr sz="950">
                <a:solidFill>
                  <a:srgbClr val="4A4F57"/>
                </a:solidFill>
                <a:latin typeface="Calibri"/>
              </a:rPr>
              <a:t>the projection is a published contract with its own version, so a control-plane migration cannot break the one component that must never break</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TWO FAILURE MODES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Stampede control and revocation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118</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Stampede — a routine operation, not an incident</a:t>
            </a:r>
          </a:p>
        </p:txBody>
      </p:sp>
      <p:graphicFrame>
        <p:nvGraphicFramePr>
          <p:cNvPr id="11" name="Table 10"/>
          <p:cNvGraphicFramePr>
            <a:graphicFrameLocks noGrp="1"/>
          </p:cNvGraphicFramePr>
          <p:nvPr/>
        </p:nvGraphicFramePr>
        <p:xfrm>
          <a:off x="777240" y="1719072"/>
          <a:ext cx="4999490" cy="1820951"/>
        </p:xfrm>
        <a:graphic>
          <a:graphicData uri="http://schemas.openxmlformats.org/drawingml/2006/table">
            <a:tbl>
              <a:tblPr firstRow="1">
                <a:tableStyleId>{5C22544A-7EE6-4342-B048-85BDC9FD1C3A}</a:tableStyleId>
              </a:tblPr>
              <a:tblGrid>
                <a:gridCol w="1999796"/>
                <a:gridCol w="2999694"/>
              </a:tblGrid>
              <a:tr h="329184">
                <a:tc>
                  <a:txBody>
                    <a:bodyPr wrap="square"/>
                    <a:lstStyle/>
                    <a:p>
                      <a:pPr algn="l"/>
                      <a:r>
                        <a:rPr sz="1050" b="1">
                          <a:solidFill>
                            <a:srgbClr val="FFFFFF"/>
                          </a:solidFill>
                          <a:latin typeface="Calibri"/>
                        </a:rPr>
                        <a:t>Control</a:t>
                      </a:r>
                    </a:p>
                  </a:txBody>
                  <a:tcPr marL="82296" marR="64008" marT="32004" marB="32004" anchor="ctr">
                    <a:solidFill>
                      <a:srgbClr val="A51C30"/>
                    </a:solidFill>
                  </a:tcPr>
                </a:tc>
                <a:tc>
                  <a:txBody>
                    <a:bodyPr wrap="square"/>
                    <a:lstStyle/>
                    <a:p>
                      <a:pPr algn="l"/>
                      <a:r>
                        <a:rPr sz="1050" b="1">
                          <a:solidFill>
                            <a:srgbClr val="FFFFFF"/>
                          </a:solidFill>
                          <a:latin typeface="Calibri"/>
                        </a:rPr>
                        <a:t>What it prevents</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Pre-warm before invalidate</a:t>
                      </a:r>
                    </a:p>
                  </a:txBody>
                  <a:tcPr marL="82296" marR="64008" marT="32004" marB="32004" anchor="ctr">
                    <a:solidFill>
                      <a:srgbClr val="FFFFFF"/>
                    </a:solidFill>
                  </a:tcPr>
                </a:tc>
                <a:tc>
                  <a:txBody>
                    <a:bodyPr wrap="square"/>
                    <a:lstStyle/>
                    <a:p>
                      <a:pPr algn="l"/>
                      <a:r>
                        <a:rPr sz="1050" b="0">
                          <a:solidFill>
                            <a:srgbClr val="1C1C1E"/>
                          </a:solidFill>
                          <a:latin typeface="Calibri"/>
                        </a:rPr>
                        <a:t>The cache is never empty for a hot alias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Single-flight coalescing</a:t>
                      </a:r>
                    </a:p>
                  </a:txBody>
                  <a:tcPr marL="82296" marR="64008" marT="32004" marB="32004" anchor="ctr">
                    <a:solidFill>
                      <a:srgbClr val="F6F3EF"/>
                    </a:solidFill>
                  </a:tcPr>
                </a:tc>
                <a:tc>
                  <a:txBody>
                    <a:bodyPr wrap="square"/>
                    <a:lstStyle/>
                    <a:p>
                      <a:pPr algn="l"/>
                      <a:r>
                        <a:rPr sz="1050" b="0">
                          <a:solidFill>
                            <a:srgbClr val="1C1C1E"/>
                          </a:solidFill>
                          <a:latin typeface="Calibri"/>
                        </a:rPr>
                        <a:t>N concurrent misses become one backend call</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TTL jitter ±20%</a:t>
                      </a:r>
                    </a:p>
                  </a:txBody>
                  <a:tcPr marL="82296" marR="64008" marT="32004" marB="32004" anchor="ctr">
                    <a:solidFill>
                      <a:srgbClr val="FFFFFF"/>
                    </a:solidFill>
                  </a:tcPr>
                </a:tc>
                <a:tc>
                  <a:txBody>
                    <a:bodyPr wrap="square"/>
                    <a:lstStyle/>
                    <a:p>
                      <a:pPr algn="l"/>
                      <a:r>
                        <a:rPr sz="1050" b="0">
                          <a:solidFill>
                            <a:srgbClr val="1C1C1E"/>
                          </a:solidFill>
                          <a:latin typeface="Calibri"/>
                        </a:rPr>
                        <a:t>Synchronised expiry across the fleet</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Stale-while-revalidate 5 s</a:t>
                      </a:r>
                    </a:p>
                  </a:txBody>
                  <a:tcPr marL="82296" marR="64008" marT="32004" marB="32004" anchor="ctr">
                    <a:solidFill>
                      <a:srgbClr val="F6F3EF"/>
                    </a:solidFill>
                  </a:tcPr>
                </a:tc>
                <a:tc>
                  <a:txBody>
                    <a:bodyPr wrap="square"/>
                    <a:lstStyle/>
                    <a:p>
                      <a:pPr algn="l"/>
                      <a:r>
                        <a:rPr sz="1050" b="0">
                          <a:solidFill>
                            <a:srgbClr val="1C1C1E"/>
                          </a:solidFill>
                          <a:latin typeface="Calibri"/>
                        </a:rPr>
                        <a:t>A latency cliff during rebuild</a:t>
                      </a:r>
                    </a:p>
                  </a:txBody>
                  <a:tcPr marL="82296" marR="64008" marT="32004" marB="32004" anchor="ctr">
                    <a:solidFill>
                      <a:srgbClr val="F6F3EF"/>
                    </a:solidFill>
                  </a:tcPr>
                </a:tc>
              </a:tr>
            </a:tbl>
          </a:graphicData>
        </a:graphic>
      </p:graphicFrame>
      <p:sp>
        <p:nvSpPr>
          <p:cNvPr id="12" name="TextBox 11"/>
          <p:cNvSpPr txBox="1"/>
          <p:nvPr/>
        </p:nvSpPr>
        <p:spPr>
          <a:xfrm>
            <a:off x="777240" y="3722903"/>
            <a:ext cx="4999491" cy="12801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Why it matters. </a:t>
            </a:r>
            <a:r>
              <a:rPr sz="1150" b="0" i="0">
                <a:solidFill>
                  <a:srgbClr val="1C1C1E"/>
                </a:solidFill>
                <a:latin typeface="Calibri"/>
              </a:rPr>
              <a:t>An alias move on a model taking 14,000 requests/second causes every in-flight consumer to miss simultaneously. Without pre-warming, a governed, routine operation takes the database down.</a:t>
            </a:r>
          </a:p>
        </p:txBody>
      </p:sp>
      <p:sp>
        <p:nvSpPr>
          <p:cNvPr id="13" name="TextBox 12"/>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Revocation — four propagation paths</a:t>
            </a:r>
          </a:p>
        </p:txBody>
      </p:sp>
      <p:graphicFrame>
        <p:nvGraphicFramePr>
          <p:cNvPr id="14" name="Table 13"/>
          <p:cNvGraphicFramePr>
            <a:graphicFrameLocks noGrp="1"/>
          </p:cNvGraphicFramePr>
          <p:nvPr/>
        </p:nvGraphicFramePr>
        <p:xfrm>
          <a:off x="6414964" y="1719072"/>
          <a:ext cx="4999490" cy="1820951"/>
        </p:xfrm>
        <a:graphic>
          <a:graphicData uri="http://schemas.openxmlformats.org/drawingml/2006/table">
            <a:tbl>
              <a:tblPr firstRow="1">
                <a:tableStyleId>{5C22544A-7EE6-4342-B048-85BDC9FD1C3A}</a:tableStyleId>
              </a:tblPr>
              <a:tblGrid>
                <a:gridCol w="3635993"/>
                <a:gridCol w="1363497"/>
              </a:tblGrid>
              <a:tr h="329184">
                <a:tc>
                  <a:txBody>
                    <a:bodyPr wrap="square"/>
                    <a:lstStyle/>
                    <a:p>
                      <a:pPr algn="l"/>
                      <a:r>
                        <a:rPr sz="1050" b="1">
                          <a:solidFill>
                            <a:srgbClr val="FFFFFF"/>
                          </a:solidFill>
                          <a:latin typeface="Calibri"/>
                        </a:rPr>
                        <a:t>Path</a:t>
                      </a:r>
                    </a:p>
                  </a:txBody>
                  <a:tcPr marL="82296" marR="64008" marT="32004" marB="32004" anchor="ctr">
                    <a:solidFill>
                      <a:srgbClr val="A51C30"/>
                    </a:solidFill>
                  </a:tcPr>
                </a:tc>
                <a:tc>
                  <a:txBody>
                    <a:bodyPr wrap="square"/>
                    <a:lstStyle/>
                    <a:p>
                      <a:pPr algn="l"/>
                      <a:r>
                        <a:rPr sz="1050" b="1">
                          <a:solidFill>
                            <a:srgbClr val="FFFFFF"/>
                          </a:solidFill>
                          <a:latin typeface="Calibri"/>
                        </a:rPr>
                        <a:t>Latency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Redis revocation set → resolvers fail closed</a:t>
                      </a:r>
                    </a:p>
                  </a:txBody>
                  <a:tcPr marL="82296" marR="64008" marT="32004" marB="32004" anchor="ctr">
                    <a:solidFill>
                      <a:srgbClr val="FFFFFF"/>
                    </a:solidFill>
                  </a:tcPr>
                </a:tc>
                <a:tc>
                  <a:txBody>
                    <a:bodyPr wrap="square"/>
                    <a:lstStyle/>
                    <a:p>
                      <a:pPr algn="l"/>
                      <a:r>
                        <a:rPr sz="1050" b="0">
                          <a:solidFill>
                            <a:srgbClr val="1C1C1E"/>
                          </a:solidFill>
                          <a:latin typeface="Calibri"/>
                        </a:rPr>
                        <a:t>immediate</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Kafka event → SDKs drop the descriptor</a:t>
                      </a:r>
                    </a:p>
                  </a:txBody>
                  <a:tcPr marL="82296" marR="64008" marT="32004" marB="32004" anchor="ctr">
                    <a:solidFill>
                      <a:srgbClr val="F6F3EF"/>
                    </a:solidFill>
                  </a:tcPr>
                </a:tc>
                <a:tc>
                  <a:txBody>
                    <a:bodyPr wrap="square"/>
                    <a:lstStyle/>
                    <a:p>
                      <a:pPr algn="l"/>
                      <a:r>
                        <a:rPr sz="1050" b="0">
                          <a:solidFill>
                            <a:srgbClr val="1C1C1E"/>
                          </a:solidFill>
                          <a:latin typeface="Calibri"/>
                        </a:rPr>
                        <a:t>≈ 1 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Epoch on every response → polling engines re-resolve</a:t>
                      </a:r>
                    </a:p>
                  </a:txBody>
                  <a:tcPr marL="82296" marR="64008" marT="32004" marB="32004" anchor="ctr">
                    <a:solidFill>
                      <a:srgbClr val="FFFFFF"/>
                    </a:solidFill>
                  </a:tcPr>
                </a:tc>
                <a:tc>
                  <a:txBody>
                    <a:bodyPr wrap="square"/>
                    <a:lstStyle/>
                    <a:p>
                      <a:pPr algn="l"/>
                      <a:r>
                        <a:rPr sz="1050" b="0">
                          <a:solidFill>
                            <a:srgbClr val="1C1C1E"/>
                          </a:solidFill>
                          <a:latin typeface="Calibri"/>
                        </a:rPr>
                        <a:t>≤ 30 s</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TTL expiry → fully partitioned engine</a:t>
                      </a:r>
                    </a:p>
                  </a:txBody>
                  <a:tcPr marL="82296" marR="64008" marT="32004" marB="32004" anchor="ctr">
                    <a:solidFill>
                      <a:srgbClr val="F6F3EF"/>
                    </a:solidFill>
                  </a:tcPr>
                </a:tc>
                <a:tc>
                  <a:txBody>
                    <a:bodyPr wrap="square"/>
                    <a:lstStyle/>
                    <a:p>
                      <a:pPr algn="l"/>
                      <a:r>
                        <a:rPr sz="1050" b="0">
                          <a:solidFill>
                            <a:srgbClr val="1C1C1E"/>
                          </a:solidFill>
                          <a:latin typeface="Calibri"/>
                        </a:rPr>
                        <a:t>≤ 60 s (Tier 1)</a:t>
                      </a:r>
                    </a:p>
                  </a:txBody>
                  <a:tcPr marL="82296" marR="64008" marT="32004" marB="32004" anchor="ctr">
                    <a:solidFill>
                      <a:srgbClr val="F6F3EF"/>
                    </a:solidFill>
                  </a:tcPr>
                </a:tc>
              </a:tr>
            </a:tbl>
          </a:graphicData>
        </a:graphic>
      </p:graphicFrame>
      <p:sp>
        <p:nvSpPr>
          <p:cNvPr id="15" name="Rectangle 14"/>
          <p:cNvSpPr/>
          <p:nvPr/>
        </p:nvSpPr>
        <p:spPr>
          <a:xfrm>
            <a:off x="6414964" y="3722903"/>
            <a:ext cx="4999491"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722903"/>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850919"/>
            <a:ext cx="4542291" cy="11430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revocation floor. </a:t>
            </a:r>
            <a:r>
              <a:rPr sz="1100" b="0" i="0">
                <a:solidFill>
                  <a:srgbClr val="1C1C1E"/>
                </a:solidFill>
                <a:latin typeface="Calibri"/>
              </a:rPr>
              <a:t>SDKs persist a local revocation list. A descriptor on that list is refused </a:t>
            </a:r>
            <a:r>
              <a:rPr sz="1100" b="1" i="0">
                <a:solidFill>
                  <a:srgbClr val="1C1C1E"/>
                </a:solidFill>
                <a:latin typeface="Calibri"/>
              </a:rPr>
              <a:t>regardless of grace state</a:t>
            </a:r>
            <a:r>
              <a:rPr sz="1100" b="0" i="0">
                <a:solidFill>
                  <a:srgbClr val="1C1C1E"/>
                </a:solidFill>
                <a:latin typeface="Calibri"/>
              </a:rPr>
              <a:t>. Grace extends authorisation currency; it never extends revocation ignorance. Tier 1 default grace is zero.</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CAPABILITY NOBODY ELSE HAS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versus actual use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119</a:t>
            </a:r>
          </a:p>
        </p:txBody>
      </p:sp>
      <p:sp>
        <p:nvSpPr>
          <p:cNvPr id="10" name="TextBox 9"/>
          <p:cNvSpPr txBox="1"/>
          <p:nvPr/>
        </p:nvSpPr>
        <p:spPr>
          <a:xfrm>
            <a:off x="777240" y="1353312"/>
            <a:ext cx="10637215" cy="41148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SS1/23 asks the inventory to record intended use </a:t>
            </a:r>
            <a:r>
              <a:rPr sz="1250" b="1" i="1">
                <a:solidFill>
                  <a:srgbClr val="A51C30"/>
                </a:solidFill>
                <a:latin typeface="Calibri"/>
              </a:rPr>
              <a:t>compared to actual use</a:t>
            </a:r>
            <a:r>
              <a:rPr sz="1250" b="0" i="0">
                <a:solidFill>
                  <a:srgbClr val="1C1C1E"/>
                </a:solidFill>
                <a:latin typeface="Calibri"/>
              </a:rPr>
              <a:t>. Warrant telemetry makes that observable rather than aspirational. A nightly job compares the observed context distribution against approved model_use rows.</a:t>
            </a:r>
          </a:p>
        </p:txBody>
      </p:sp>
      <p:graphicFrame>
        <p:nvGraphicFramePr>
          <p:cNvPr id="11" name="Table 10"/>
          <p:cNvGraphicFramePr>
            <a:graphicFrameLocks noGrp="1"/>
          </p:cNvGraphicFramePr>
          <p:nvPr/>
        </p:nvGraphicFramePr>
        <p:xfrm>
          <a:off x="777240" y="1920240"/>
          <a:ext cx="10637214" cy="2418613"/>
        </p:xfrm>
        <a:graphic>
          <a:graphicData uri="http://schemas.openxmlformats.org/drawingml/2006/table">
            <a:tbl>
              <a:tblPr firstRow="1">
                <a:tableStyleId>{5C22544A-7EE6-4342-B048-85BDC9FD1C3A}</a:tableStyleId>
              </a:tblPr>
              <a:tblGrid>
                <a:gridCol w="2475903"/>
                <a:gridCol w="5135207"/>
                <a:gridCol w="3026104"/>
              </a:tblGrid>
              <a:tr h="333781">
                <a:tc>
                  <a:txBody>
                    <a:bodyPr wrap="square"/>
                    <a:lstStyle/>
                    <a:p>
                      <a:pPr algn="l"/>
                      <a:r>
                        <a:rPr sz="1100" b="1">
                          <a:solidFill>
                            <a:srgbClr val="FFFFFF"/>
                          </a:solidFill>
                          <a:latin typeface="Calibri"/>
                        </a:rPr>
                        <a:t>Exception</a:t>
                      </a:r>
                    </a:p>
                  </a:txBody>
                  <a:tcPr marL="82296" marR="64008" marT="32004" marB="32004" anchor="ctr">
                    <a:solidFill>
                      <a:srgbClr val="A51C30"/>
                    </a:solidFill>
                  </a:tcPr>
                </a:tc>
                <a:tc>
                  <a:txBody>
                    <a:bodyPr wrap="square"/>
                    <a:lstStyle/>
                    <a:p>
                      <a:pPr algn="l"/>
                      <a:r>
                        <a:rPr sz="1100" b="1">
                          <a:solidFill>
                            <a:srgbClr val="FFFFFF"/>
                          </a:solidFill>
                          <a:latin typeface="Calibri"/>
                        </a:rPr>
                        <a:t>Example</a:t>
                      </a:r>
                    </a:p>
                  </a:txBody>
                  <a:tcPr marL="82296" marR="64008" marT="32004" marB="32004" anchor="ctr">
                    <a:solidFill>
                      <a:srgbClr val="A51C30"/>
                    </a:solidFill>
                  </a:tcPr>
                </a:tc>
                <a:tc>
                  <a:txBody>
                    <a:bodyPr wrap="square"/>
                    <a:lstStyle/>
                    <a:p>
                      <a:pPr algn="l"/>
                      <a:r>
                        <a:rPr sz="1100" b="1">
                          <a:solidFill>
                            <a:srgbClr val="FFFFFF"/>
                          </a:solidFill>
                          <a:latin typeface="Calibri"/>
                        </a:rPr>
                        <a:t>Becomes</a:t>
                      </a:r>
                    </a:p>
                  </a:txBody>
                  <a:tcPr marL="82296" marR="64008" marT="32004" marB="32004" anchor="ctr">
                    <a:solidFill>
                      <a:srgbClr val="A51C30"/>
                    </a:solidFill>
                  </a:tcPr>
                </a:tc>
              </a:tr>
              <a:tr h="347472">
                <a:tc>
                  <a:txBody>
                    <a:bodyPr wrap="square"/>
                    <a:lstStyle/>
                    <a:p>
                      <a:pPr algn="l"/>
                      <a:r>
                        <a:rPr sz="1050" b="1">
                          <a:solidFill>
                            <a:srgbClr val="A51C30"/>
                          </a:solidFill>
                          <a:latin typeface="Calibri"/>
                        </a:rPr>
                        <a:t>Off-label portfolio</a:t>
                      </a:r>
                    </a:p>
                  </a:txBody>
                  <a:tcPr marL="82296" marR="64008" marT="32004" marB="32004" anchor="ctr">
                    <a:solidFill>
                      <a:srgbClr val="FFFFFF"/>
                    </a:solidFill>
                  </a:tcPr>
                </a:tc>
                <a:tc>
                  <a:txBody>
                    <a:bodyPr wrap="square"/>
                    <a:lstStyle/>
                    <a:p>
                      <a:pPr algn="l"/>
                      <a:r>
                        <a:rPr sz="1050" b="0">
                          <a:solidFill>
                            <a:srgbClr val="1C1C1E"/>
                          </a:solidFill>
                          <a:latin typeface="Calibri"/>
                        </a:rPr>
                        <a:t>223 calls for a portfolio that is not an approved use</a:t>
                      </a:r>
                    </a:p>
                  </a:txBody>
                  <a:tcPr marL="82296" marR="64008" marT="32004" marB="32004" anchor="ctr">
                    <a:solidFill>
                      <a:srgbClr val="FFFFFF"/>
                    </a:solidFill>
                  </a:tcPr>
                </a:tc>
                <a:tc>
                  <a:txBody>
                    <a:bodyPr wrap="square"/>
                    <a:lstStyle/>
                    <a:p>
                      <a:pPr algn="l"/>
                      <a:r>
                        <a:rPr sz="1050" b="0">
                          <a:solidFill>
                            <a:srgbClr val="1C1C1E"/>
                          </a:solidFill>
                          <a:latin typeface="Calibri"/>
                        </a:rPr>
                        <a:t>Finding, owner, due date</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Unapproved geography</a:t>
                      </a:r>
                    </a:p>
                  </a:txBody>
                  <a:tcPr marL="82296" marR="64008" marT="32004" marB="32004" anchor="ctr">
                    <a:solidFill>
                      <a:srgbClr val="F6F3EF"/>
                    </a:solidFill>
                  </a:tcPr>
                </a:tc>
                <a:tc>
                  <a:txBody>
                    <a:bodyPr wrap="square"/>
                    <a:lstStyle/>
                    <a:p>
                      <a:pPr algn="l"/>
                      <a:r>
                        <a:rPr sz="1050" b="0">
                          <a:solidFill>
                            <a:srgbClr val="1C1C1E"/>
                          </a:solidFill>
                          <a:latin typeface="Calibri"/>
                        </a:rPr>
                        <a:t>Calls originating outside the approval's scope</a:t>
                      </a:r>
                    </a:p>
                  </a:txBody>
                  <a:tcPr marL="82296" marR="64008" marT="32004" marB="32004" anchor="ctr">
                    <a:solidFill>
                      <a:srgbClr val="F6F3EF"/>
                    </a:solidFill>
                  </a:tcPr>
                </a:tc>
                <a:tc>
                  <a:txBody>
                    <a:bodyPr wrap="square"/>
                    <a:lstStyle/>
                    <a:p>
                      <a:pPr algn="l"/>
                      <a:r>
                        <a:rPr sz="1050" b="0">
                          <a:solidFill>
                            <a:srgbClr val="1C1C1E"/>
                          </a:solidFill>
                          <a:latin typeface="Calibri"/>
                        </a:rPr>
                        <a:t>Finding + scope review</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Volume anomaly</a:t>
                      </a:r>
                    </a:p>
                  </a:txBody>
                  <a:tcPr marL="82296" marR="64008" marT="32004" marB="32004" anchor="ctr">
                    <a:solidFill>
                      <a:srgbClr val="FFFFFF"/>
                    </a:solidFill>
                  </a:tcPr>
                </a:tc>
                <a:tc>
                  <a:txBody>
                    <a:bodyPr wrap="square"/>
                    <a:lstStyle/>
                    <a:p>
                      <a:pPr algn="l"/>
                      <a:r>
                        <a:rPr sz="1050" b="0">
                          <a:solidFill>
                            <a:srgbClr val="1C1C1E"/>
                          </a:solidFill>
                          <a:latin typeface="Calibri"/>
                        </a:rPr>
                        <a:t>40× expected daily volume — suggests a new, unassessed use</a:t>
                      </a:r>
                    </a:p>
                  </a:txBody>
                  <a:tcPr marL="82296" marR="64008" marT="32004" marB="32004" anchor="ctr">
                    <a:solidFill>
                      <a:srgbClr val="FFFFFF"/>
                    </a:solidFill>
                  </a:tcPr>
                </a:tc>
                <a:tc>
                  <a:txBody>
                    <a:bodyPr wrap="square"/>
                    <a:lstStyle/>
                    <a:p>
                      <a:pPr algn="l"/>
                      <a:r>
                        <a:rPr sz="1050" b="0">
                          <a:solidFill>
                            <a:srgbClr val="1C1C1E"/>
                          </a:solidFill>
                          <a:latin typeface="Calibri"/>
                        </a:rPr>
                        <a:t>Investigation task</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Boundary violation rate</a:t>
                      </a:r>
                    </a:p>
                  </a:txBody>
                  <a:tcPr marL="82296" marR="64008" marT="32004" marB="32004" anchor="ctr">
                    <a:solidFill>
                      <a:srgbClr val="F6F3EF"/>
                    </a:solidFill>
                  </a:tcPr>
                </a:tc>
                <a:tc>
                  <a:txBody>
                    <a:bodyPr wrap="square"/>
                    <a:lstStyle/>
                    <a:p>
                      <a:pPr algn="l"/>
                      <a:r>
                        <a:rPr sz="1050" b="0">
                          <a:solidFill>
                            <a:srgbClr val="1C1C1E"/>
                          </a:solidFill>
                          <a:latin typeface="Calibri"/>
                        </a:rPr>
                        <a:t>0.26% of inputs outside declared operating boundaries</a:t>
                      </a:r>
                    </a:p>
                  </a:txBody>
                  <a:tcPr marL="82296" marR="64008" marT="32004" marB="32004" anchor="ctr">
                    <a:solidFill>
                      <a:srgbClr val="F6F3EF"/>
                    </a:solidFill>
                  </a:tcPr>
                </a:tc>
                <a:tc>
                  <a:txBody>
                    <a:bodyPr wrap="square"/>
                    <a:lstStyle/>
                    <a:p>
                      <a:pPr algn="l"/>
                      <a:r>
                        <a:rPr sz="1050" b="0">
                          <a:solidFill>
                            <a:srgbClr val="1C1C1E"/>
                          </a:solidFill>
                          <a:latin typeface="Calibri"/>
                        </a:rPr>
                        <a:t>Contract assumption A is failing</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Dormant approval</a:t>
                      </a:r>
                    </a:p>
                  </a:txBody>
                  <a:tcPr marL="82296" marR="64008" marT="32004" marB="32004" anchor="ctr">
                    <a:solidFill>
                      <a:srgbClr val="FFFFFF"/>
                    </a:solidFill>
                  </a:tcPr>
                </a:tc>
                <a:tc>
                  <a:txBody>
                    <a:bodyPr wrap="square"/>
                    <a:lstStyle/>
                    <a:p>
                      <a:pPr algn="l"/>
                      <a:r>
                        <a:rPr sz="1050" b="0">
                          <a:solidFill>
                            <a:srgbClr val="1C1C1E"/>
                          </a:solidFill>
                          <a:latin typeface="Calibri"/>
                        </a:rPr>
                        <a:t>An approved use with zero calls for 180 days</a:t>
                      </a:r>
                    </a:p>
                  </a:txBody>
                  <a:tcPr marL="82296" marR="64008" marT="32004" marB="32004" anchor="ctr">
                    <a:solidFill>
                      <a:srgbClr val="FFFFFF"/>
                    </a:solidFill>
                  </a:tcPr>
                </a:tc>
                <a:tc>
                  <a:txBody>
                    <a:bodyPr wrap="square"/>
                    <a:lstStyle/>
                    <a:p>
                      <a:pPr algn="l"/>
                      <a:r>
                        <a:rPr sz="1050" b="0">
                          <a:solidFill>
                            <a:srgbClr val="1C1C1E"/>
                          </a:solidFill>
                          <a:latin typeface="Calibri"/>
                        </a:rPr>
                        <a:t>Candidate for withdrawal</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Undeclared consumer</a:t>
                      </a:r>
                    </a:p>
                  </a:txBody>
                  <a:tcPr marL="82296" marR="64008" marT="32004" marB="32004" anchor="ctr">
                    <a:solidFill>
                      <a:srgbClr val="F6F3EF"/>
                    </a:solidFill>
                  </a:tcPr>
                </a:tc>
                <a:tc>
                  <a:txBody>
                    <a:bodyPr wrap="square"/>
                    <a:lstStyle/>
                    <a:p>
                      <a:pPr algn="l"/>
                      <a:r>
                        <a:rPr sz="1050" b="0">
                          <a:solidFill>
                            <a:srgbClr val="1C1C1E"/>
                          </a:solidFill>
                          <a:latin typeface="Calibri"/>
                        </a:rPr>
                        <a:t>A new principal resolving the warrant</a:t>
                      </a:r>
                    </a:p>
                  </a:txBody>
                  <a:tcPr marL="82296" marR="64008" marT="32004" marB="32004" anchor="ctr">
                    <a:solidFill>
                      <a:srgbClr val="F6F3EF"/>
                    </a:solidFill>
                  </a:tcPr>
                </a:tc>
                <a:tc>
                  <a:txBody>
                    <a:bodyPr wrap="square"/>
                    <a:lstStyle/>
                    <a:p>
                      <a:pPr algn="l"/>
                      <a:r>
                        <a:rPr sz="1050" b="0">
                          <a:solidFill>
                            <a:srgbClr val="1C1C1E"/>
                          </a:solidFill>
                          <a:latin typeface="Calibri"/>
                        </a:rPr>
                        <a:t>Entitlement review</a:t>
                      </a:r>
                    </a:p>
                  </a:txBody>
                  <a:tcPr marL="82296" marR="64008" marT="32004" marB="32004" anchor="ctr">
                    <a:solidFill>
                      <a:srgbClr val="F6F3EF"/>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21</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Machine Assistance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Where AI does the work, where it may not, and why that is structural.</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capability contract</a:t>
            </a:r>
          </a:p>
          <a:p>
            <a:pPr>
              <a:lnSpc>
                <a:spcPct val="115000"/>
              </a:lnSpc>
              <a:spcBef>
                <a:spcPts val="0"/>
              </a:spcBef>
              <a:spcAft>
                <a:spcPts val="700"/>
              </a:spcAft>
            </a:pPr>
            <a:r>
              <a:rPr sz="1150" b="0" i="0">
                <a:solidFill>
                  <a:srgbClr val="F6E6E9"/>
                </a:solidFill>
                <a:latin typeface="Calibri"/>
              </a:rPr>
              <a:t>The grounding gate</a:t>
            </a:r>
          </a:p>
          <a:p>
            <a:pPr>
              <a:lnSpc>
                <a:spcPct val="115000"/>
              </a:lnSpc>
              <a:spcBef>
                <a:spcPts val="0"/>
              </a:spcBef>
              <a:spcAft>
                <a:spcPts val="700"/>
              </a:spcAft>
            </a:pPr>
            <a:r>
              <a:rPr sz="1150" b="0" i="0">
                <a:solidFill>
                  <a:srgbClr val="F6E6E9"/>
                </a:solidFill>
                <a:latin typeface="Calibri"/>
              </a:rPr>
              <a:t>Structural prohibition</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DESIGN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121</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Capability(Protocol):</a:t>
            </a:r>
          </a:p>
          <a:p>
            <a:pPr>
              <a:lnSpc>
                <a:spcPct val="134000"/>
              </a:lnSpc>
              <a:spcBef>
                <a:spcPts val="0"/>
              </a:spcBef>
              <a:spcAft>
                <a:spcPts val="0"/>
              </a:spcAft>
            </a:pPr>
            <a:r>
              <a:rPr sz="950" b="0" i="0">
                <a:solidFill>
                  <a:srgbClr val="1C1C1E"/>
                </a:solidFill>
                <a:latin typeface="Consolas"/>
              </a:rPr>
              <a:t>    key: str</a:t>
            </a:r>
          </a:p>
          <a:p>
            <a:pPr>
              <a:lnSpc>
                <a:spcPct val="134000"/>
              </a:lnSpc>
              <a:spcBef>
                <a:spcPts val="0"/>
              </a:spcBef>
              <a:spcAft>
                <a:spcPts val="0"/>
              </a:spcAft>
            </a:pPr>
            <a:r>
              <a:rPr sz="950" b="0" i="0">
                <a:solidFill>
                  <a:srgbClr val="1C1C1E"/>
                </a:solidFill>
                <a:latin typeface="Consolas"/>
              </a:rPr>
              <a:t>    assist_tier: Literal["A", "B"]   # "C" is unrepresentable</a:t>
            </a:r>
          </a:p>
          <a:p>
            <a:pPr>
              <a:lnSpc>
                <a:spcPct val="134000"/>
              </a:lnSpc>
              <a:spcBef>
                <a:spcPts val="0"/>
              </a:spcBef>
              <a:spcAft>
                <a:spcPts val="0"/>
              </a:spcAft>
            </a:pPr>
            <a:r>
              <a:rPr sz="950" b="0" i="0">
                <a:solidFill>
                  <a:srgbClr val="1C1C1E"/>
                </a:solidFill>
                <a:latin typeface="Consolas"/>
              </a:rPr>
              <a:t>    oracle_key: str | None            # required for tier A</a:t>
            </a:r>
          </a:p>
          <a:p>
            <a:pPr>
              <a:lnSpc>
                <a:spcPct val="134000"/>
              </a:lnSpc>
              <a:spcBef>
                <a:spcPts val="0"/>
              </a:spcBef>
              <a:spcAft>
                <a:spcPts val="0"/>
              </a:spcAft>
            </a:pPr>
            <a:r>
              <a:rPr sz="950" b="0" i="0">
                <a:solidFill>
                  <a:srgbClr val="1C1C1E"/>
                </a:solidFill>
                <a:latin typeface="Consolas"/>
              </a:rPr>
              <a:t>    def generate(self, ctx) -&gt; Draft: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run(cap, ctx) -&gt; CapabilityResult:</a:t>
            </a:r>
          </a:p>
          <a:p>
            <a:pPr>
              <a:lnSpc>
                <a:spcPct val="134000"/>
              </a:lnSpc>
              <a:spcBef>
                <a:spcPts val="0"/>
              </a:spcBef>
              <a:spcAft>
                <a:spcPts val="0"/>
              </a:spcAft>
            </a:pPr>
            <a:r>
              <a:rPr sz="950" b="0" i="0">
                <a:solidFill>
                  <a:srgbClr val="1C1C1E"/>
                </a:solidFill>
                <a:latin typeface="Consolas"/>
              </a:rPr>
              <a:t>    draft = cap.generate(ctx)</a:t>
            </a:r>
          </a:p>
          <a:p>
            <a:pPr>
              <a:lnSpc>
                <a:spcPct val="134000"/>
              </a:lnSpc>
              <a:spcBef>
                <a:spcPts val="0"/>
              </a:spcBef>
              <a:spcAft>
                <a:spcPts val="0"/>
              </a:spcAft>
            </a:pPr>
            <a:r>
              <a:rPr sz="950" b="0" i="0">
                <a:solidFill>
                  <a:srgbClr val="1C1C1E"/>
                </a:solidFill>
                <a:latin typeface="Consolas"/>
              </a:rPr>
              <a:t>    if cap.assist_tier == "A":</a:t>
            </a:r>
          </a:p>
          <a:p>
            <a:pPr>
              <a:lnSpc>
                <a:spcPct val="134000"/>
              </a:lnSpc>
              <a:spcBef>
                <a:spcPts val="0"/>
              </a:spcBef>
              <a:spcAft>
                <a:spcPts val="0"/>
              </a:spcAft>
            </a:pPr>
            <a:r>
              <a:rPr sz="950" b="0" i="0">
                <a:solidFill>
                  <a:srgbClr val="1C1C1E"/>
                </a:solidFill>
                <a:latin typeface="Consolas"/>
              </a:rPr>
              <a:t>        ok = oracles.get(cap.oracle_key).check(draft, ctx)</a:t>
            </a:r>
          </a:p>
          <a:p>
            <a:pPr>
              <a:lnSpc>
                <a:spcPct val="134000"/>
              </a:lnSpc>
              <a:spcBef>
                <a:spcPts val="0"/>
              </a:spcBef>
              <a:spcAft>
                <a:spcPts val="0"/>
              </a:spcAft>
            </a:pPr>
            <a:r>
              <a:rPr sz="950" b="0" i="0">
                <a:solidFill>
                  <a:srgbClr val="1C1C1E"/>
                </a:solidFill>
                <a:latin typeface="Consolas"/>
              </a:rPr>
              <a:t>        if not ok.holds:</a:t>
            </a:r>
          </a:p>
          <a:p>
            <a:pPr>
              <a:lnSpc>
                <a:spcPct val="134000"/>
              </a:lnSpc>
              <a:spcBef>
                <a:spcPts val="0"/>
              </a:spcBef>
              <a:spcAft>
                <a:spcPts val="0"/>
              </a:spcAft>
            </a:pPr>
            <a:r>
              <a:rPr sz="950" b="0" i="0">
                <a:solidFill>
                  <a:srgbClr val="1C1C1E"/>
                </a:solidFill>
                <a:latin typeface="Consolas"/>
              </a:rPr>
              <a:t>            return CapabilityResult(rejected=True, reason=ok.detail)</a:t>
            </a:r>
          </a:p>
          <a:p>
            <a:pPr>
              <a:lnSpc>
                <a:spcPct val="134000"/>
              </a:lnSpc>
              <a:spcBef>
                <a:spcPts val="0"/>
              </a:spcBef>
              <a:spcAft>
                <a:spcPts val="0"/>
              </a:spcAft>
            </a:pPr>
            <a:r>
              <a:rPr sz="950" b="0" i="0">
                <a:solidFill>
                  <a:srgbClr val="1C1C1E"/>
                </a:solidFill>
                <a:latin typeface="Consolas"/>
              </a:rPr>
              <a:t>    else:</a:t>
            </a:r>
          </a:p>
          <a:p>
            <a:pPr>
              <a:lnSpc>
                <a:spcPct val="134000"/>
              </a:lnSpc>
              <a:spcBef>
                <a:spcPts val="0"/>
              </a:spcBef>
              <a:spcAft>
                <a:spcPts val="0"/>
              </a:spcAft>
            </a:pPr>
            <a:r>
              <a:rPr sz="950" b="0" i="0">
                <a:solidFill>
                  <a:srgbClr val="1C1C1E"/>
                </a:solidFill>
                <a:latin typeface="Consolas"/>
              </a:rPr>
              <a:t>        draft = grounding_gate(draft, ctx)</a:t>
            </a:r>
          </a:p>
          <a:p>
            <a:pPr>
              <a:lnSpc>
                <a:spcPct val="134000"/>
              </a:lnSpc>
              <a:spcBef>
                <a:spcPts val="0"/>
              </a:spcBef>
              <a:spcAft>
                <a:spcPts val="0"/>
              </a:spcAft>
            </a:pPr>
            <a:r>
              <a:rPr sz="950" b="0" i="0">
                <a:solidFill>
                  <a:srgbClr val="1C1C1E"/>
                </a:solidFill>
                <a:latin typeface="Consolas"/>
              </a:rPr>
              <a:t>    ai_generations.record(cap, draft, ctx)</a:t>
            </a:r>
          </a:p>
          <a:p>
            <a:pPr>
              <a:lnSpc>
                <a:spcPct val="134000"/>
              </a:lnSpc>
              <a:spcBef>
                <a:spcPts val="0"/>
              </a:spcBef>
              <a:spcAft>
                <a:spcPts val="0"/>
              </a:spcAft>
            </a:pPr>
            <a:r>
              <a:rPr sz="950" b="0" i="0">
                <a:solidFill>
                  <a:srgbClr val="1C1C1E"/>
                </a:solidFill>
                <a:latin typeface="Consolas"/>
              </a:rPr>
              <a:t>    return CapabilityResult(draft=draft, requires_attestation=True)</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0"/>
              </a:spcAft>
            </a:pPr>
            <a:r>
              <a:rPr sz="1100" b="0" i="0">
                <a:solidFill>
                  <a:srgbClr val="4A4F57"/>
                </a:solidFill>
                <a:latin typeface="Calibri"/>
              </a:rPr>
              <a:t>The criterion is not the model's capability, nor the task's sensitivity. It is whether the structure supplies a decision procedure.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122</a:t>
            </a:r>
          </a:p>
        </p:txBody>
      </p:sp>
      <p:sp>
        <p:nvSpPr>
          <p:cNvPr id="10" name="Rectangle 9"/>
          <p:cNvSpPr/>
          <p:nvPr/>
        </p:nvSpPr>
        <p:spPr>
          <a:xfrm>
            <a:off x="777240" y="1353312"/>
            <a:ext cx="6169584"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803824"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grounding_gate(draft, ctx) -&gt; Draft:</a:t>
            </a:r>
          </a:p>
          <a:p>
            <a:pPr>
              <a:lnSpc>
                <a:spcPct val="134000"/>
              </a:lnSpc>
              <a:spcBef>
                <a:spcPts val="0"/>
              </a:spcBef>
              <a:spcAft>
                <a:spcPts val="0"/>
              </a:spcAft>
            </a:pPr>
            <a:r>
              <a:rPr sz="950" b="0" i="0">
                <a:solidFill>
                  <a:srgbClr val="1C1C1E"/>
                </a:solidFill>
                <a:latin typeface="Consolas"/>
              </a:rPr>
              <a:t>    for s in draft.sentences:</a:t>
            </a:r>
          </a:p>
          <a:p>
            <a:pPr>
              <a:lnSpc>
                <a:spcPct val="134000"/>
              </a:lnSpc>
              <a:spcBef>
                <a:spcPts val="0"/>
              </a:spcBef>
              <a:spcAft>
                <a:spcPts val="0"/>
              </a:spcAft>
            </a:pPr>
            <a:r>
              <a:rPr sz="950" b="0" i="0">
                <a:solidFill>
                  <a:srgbClr val="1C1C1E"/>
                </a:solidFill>
                <a:latin typeface="Consolas"/>
              </a:rPr>
              <a:t>        if not s.is_factual_claim: continue</a:t>
            </a:r>
          </a:p>
          <a:p>
            <a:pPr>
              <a:lnSpc>
                <a:spcPct val="134000"/>
              </a:lnSpc>
              <a:spcBef>
                <a:spcPts val="0"/>
              </a:spcBef>
              <a:spcAft>
                <a:spcPts val="0"/>
              </a:spcAft>
            </a:pPr>
            <a:r>
              <a:rPr sz="950" b="0" i="0">
                <a:solidFill>
                  <a:srgbClr val="1C1C1E"/>
                </a:solidFill>
                <a:latin typeface="Consolas"/>
              </a:rPr>
              <a:t>        supported = evidence.evaluate(</a:t>
            </a:r>
          </a:p>
          <a:p>
            <a:pPr>
              <a:lnSpc>
                <a:spcPct val="134000"/>
              </a:lnSpc>
              <a:spcBef>
                <a:spcPts val="0"/>
              </a:spcBef>
              <a:spcAft>
                <a:spcPts val="0"/>
              </a:spcAft>
            </a:pPr>
            <a:r>
              <a:rPr sz="950" b="0" i="0">
                <a:solidFill>
                  <a:srgbClr val="1C1C1E"/>
                </a:solidFill>
                <a:latin typeface="Consolas"/>
              </a:rPr>
              <a:t>            s.claim_ref, BOOLEAN,</a:t>
            </a:r>
          </a:p>
          <a:p>
            <a:pPr>
              <a:lnSpc>
                <a:spcPct val="134000"/>
              </a:lnSpc>
              <a:spcBef>
                <a:spcPts val="0"/>
              </a:spcBef>
              <a:spcAft>
                <a:spcPts val="0"/>
              </a:spcAft>
            </a:pPr>
            <a:r>
              <a:rPr sz="950" b="0" i="0">
                <a:solidFill>
                  <a:srgbClr val="1C1C1E"/>
                </a:solidFill>
                <a:latin typeface="Consolas"/>
              </a:rPr>
              <a:t>            valuation=lambda x: x in s.cited_evidence_ids)</a:t>
            </a:r>
          </a:p>
          <a:p>
            <a:pPr>
              <a:lnSpc>
                <a:spcPct val="134000"/>
              </a:lnSpc>
              <a:spcBef>
                <a:spcPts val="0"/>
              </a:spcBef>
              <a:spcAft>
                <a:spcPts val="0"/>
              </a:spcAft>
            </a:pPr>
            <a:r>
              <a:rPr sz="950" b="0" i="0">
                <a:solidFill>
                  <a:srgbClr val="1C1C1E"/>
                </a:solidFill>
                <a:latin typeface="Consolas"/>
              </a:rPr>
              <a:t>        if not supported:</a:t>
            </a:r>
          </a:p>
          <a:p>
            <a:pPr>
              <a:lnSpc>
                <a:spcPct val="134000"/>
              </a:lnSpc>
              <a:spcBef>
                <a:spcPts val="0"/>
              </a:spcBef>
              <a:spcAft>
                <a:spcPts val="0"/>
              </a:spcAft>
            </a:pPr>
            <a:r>
              <a:rPr sz="950" b="0" i="0">
                <a:solidFill>
                  <a:srgbClr val="1C1C1E"/>
                </a:solidFill>
                <a:latin typeface="Consolas"/>
              </a:rPr>
              <a:t>            draft.reject(s, missing=evidence.evaluate(s.claim_ref, WHY))</a:t>
            </a:r>
          </a:p>
          <a:p>
            <a:pPr>
              <a:lnSpc>
                <a:spcPct val="134000"/>
              </a:lnSpc>
              <a:spcBef>
                <a:spcPts val="0"/>
              </a:spcBef>
              <a:spcAft>
                <a:spcPts val="0"/>
              </a:spcAft>
            </a:pPr>
            <a:r>
              <a:rPr sz="950" b="0" i="0">
                <a:solidFill>
                  <a:srgbClr val="1C1C1E"/>
                </a:solidFill>
                <a:latin typeface="Consolas"/>
              </a:rPr>
              <a:t>    draft.numbers = interpolate_from_evidence(draft.number_slots, ctx)</a:t>
            </a:r>
          </a:p>
          <a:p>
            <a:pPr>
              <a:lnSpc>
                <a:spcPct val="134000"/>
              </a:lnSpc>
              <a:spcBef>
                <a:spcPts val="0"/>
              </a:spcBef>
              <a:spcAft>
                <a:spcPts val="0"/>
              </a:spcAft>
            </a:pPr>
            <a:r>
              <a:rPr sz="950" b="0" i="0">
                <a:solidFill>
                  <a:srgbClr val="1C1C1E"/>
                </a:solidFill>
                <a:latin typeface="Consolas"/>
              </a:rPr>
              <a:t>    draft.mark_unverified(draft.unmapped_sentences)</a:t>
            </a:r>
          </a:p>
          <a:p>
            <a:pPr>
              <a:lnSpc>
                <a:spcPct val="134000"/>
              </a:lnSpc>
              <a:spcBef>
                <a:spcPts val="0"/>
              </a:spcBef>
              <a:spcAft>
                <a:spcPts val="0"/>
              </a:spcAft>
            </a:pPr>
            <a:r>
              <a:rPr sz="950" b="0" i="0">
                <a:solidFill>
                  <a:srgbClr val="1C1C1E"/>
                </a:solidFill>
                <a:latin typeface="Consolas"/>
              </a:rPr>
              <a:t>    return draft</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Verification, not another model call</a:t>
            </a:r>
          </a:p>
          <a:p>
            <a:pPr>
              <a:lnSpc>
                <a:spcPct val="126000"/>
              </a:lnSpc>
              <a:spcBef>
                <a:spcPts val="0"/>
              </a:spcBef>
              <a:spcAft>
                <a:spcPts val="1000"/>
              </a:spcAft>
            </a:pPr>
            <a:r>
              <a:rPr sz="1150" b="0" i="0">
                <a:solidFill>
                  <a:srgbClr val="4A4F57"/>
                </a:solidFill>
                <a:latin typeface="Calibri"/>
              </a:rPr>
              <a:t>Switch on exactly the cited identifiers, evaluate the claim's derivation in Boolean, and see whether it still holds. If it does, the citation is genuine. If not, the sentence is rejected — not flagged.</a:t>
            </a:r>
          </a:p>
          <a:p>
            <a:pPr>
              <a:lnSpc>
                <a:spcPct val="126000"/>
              </a:lnSpc>
              <a:spcBef>
                <a:spcPts val="0"/>
              </a:spcBef>
              <a:spcAft>
                <a:spcPts val="1000"/>
              </a:spcAft>
            </a:pPr>
            <a:r>
              <a:rPr sz="1150" b="1" i="0">
                <a:solidFill>
                  <a:srgbClr val="A51C30"/>
                </a:solidFill>
                <a:latin typeface="Calibri"/>
              </a:rPr>
              <a:t>Numbers are never generated. </a:t>
            </a:r>
            <a:r>
              <a:rPr sz="1150" b="0" i="0">
                <a:solidFill>
                  <a:srgbClr val="1C1C1E"/>
                </a:solidFill>
                <a:latin typeface="Calibri"/>
              </a:rPr>
              <a:t>They are interpolated from evidence, which removes the entire class of hallucinated statistics.</a:t>
            </a:r>
          </a:p>
          <a:p>
            <a:pPr>
              <a:lnSpc>
                <a:spcPct val="126000"/>
              </a:lnSpc>
              <a:spcBef>
                <a:spcPts val="0"/>
              </a:spcBef>
              <a:spcAft>
                <a:spcPts val="600"/>
              </a:spcAft>
            </a:pPr>
            <a:r>
              <a:rPr sz="1150" b="1" i="0">
                <a:solidFill>
                  <a:srgbClr val="A51C30"/>
                </a:solidFill>
                <a:latin typeface="Calibri"/>
              </a:rPr>
              <a:t>Unmapped sentences are marked, not hidden. </a:t>
            </a:r>
            <a:r>
              <a:rPr sz="1150" b="0" i="0">
                <a:solidFill>
                  <a:srgbClr val="1C1C1E"/>
                </a:solidFill>
                <a:latin typeface="Calibri"/>
              </a:rPr>
              <a:t>A quantified claim like “on all monitored slices” has no supporting term at all — and that is exactly the sentence human review reliably waves through.</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Structural prohibition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123</a:t>
            </a:r>
          </a:p>
        </p:txBody>
      </p:sp>
      <p:sp>
        <p:nvSpPr>
          <p:cNvPr id="10" name="Rectangle 9"/>
          <p:cNvSpPr/>
          <p:nvPr/>
        </p:nvSpPr>
        <p:spPr>
          <a:xfrm>
            <a:off x="777240" y="1353312"/>
            <a:ext cx="5531351" cy="10601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601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TIER C IS UNREPRESENTABLE IN THE SCHEMA</a:t>
            </a:r>
          </a:p>
        </p:txBody>
      </p:sp>
      <p:sp>
        <p:nvSpPr>
          <p:cNvPr id="13" name="TextBox 12"/>
          <p:cNvSpPr txBox="1"/>
          <p:nvPr/>
        </p:nvSpPr>
        <p:spPr>
          <a:xfrm>
            <a:off x="978408" y="1746504"/>
            <a:ext cx="5165591" cy="584621"/>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1C1C1E"/>
                </a:solidFill>
                <a:latin typeface="Consolas"/>
              </a:rPr>
              <a:t>assist_tier char(1) NOT NULL</a:t>
            </a:r>
          </a:p>
          <a:p>
            <a:pPr>
              <a:lnSpc>
                <a:spcPct val="134000"/>
              </a:lnSpc>
              <a:spcBef>
                <a:spcPts val="0"/>
              </a:spcBef>
              <a:spcAft>
                <a:spcPts val="0"/>
              </a:spcAft>
            </a:pPr>
            <a:r>
              <a:rPr sz="1150" b="0" i="0">
                <a:solidFill>
                  <a:srgbClr val="1C1C1E"/>
                </a:solidFill>
                <a:latin typeface="Consolas"/>
              </a:rPr>
              <a:t>    CHECK (assist_tier IN ('A','B'))</a:t>
            </a:r>
          </a:p>
        </p:txBody>
      </p:sp>
      <p:sp>
        <p:nvSpPr>
          <p:cNvPr id="14" name="TextBox 13"/>
          <p:cNvSpPr txBox="1"/>
          <p:nvPr/>
        </p:nvSpPr>
        <p:spPr>
          <a:xfrm>
            <a:off x="777240" y="2669453"/>
            <a:ext cx="5531351" cy="210312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And no credential exists</a:t>
            </a:r>
          </a:p>
          <a:p>
            <a:pPr>
              <a:lnSpc>
                <a:spcPct val="126000"/>
              </a:lnSpc>
              <a:spcBef>
                <a:spcPts val="0"/>
              </a:spcBef>
              <a:spcAft>
                <a:spcPts val="1000"/>
              </a:spcAft>
            </a:pPr>
            <a:r>
              <a:rPr sz="1150" b="0" i="0">
                <a:solidFill>
                  <a:srgbClr val="4A4F57"/>
                </a:solidFill>
                <a:latin typeface="Calibri"/>
              </a:rPr>
              <a:t>No ai_capability principal is ever granted a lifecycle-transition scope in the IAM model. A capability cannot make a governance decision because it holds no credential to attempt one.</a:t>
            </a:r>
          </a:p>
          <a:p>
            <a:pPr>
              <a:lnSpc>
                <a:spcPct val="126000"/>
              </a:lnSpc>
              <a:spcBef>
                <a:spcPts val="0"/>
              </a:spcBef>
              <a:spcAft>
                <a:spcPts val="600"/>
              </a:spcAft>
            </a:pPr>
            <a:r>
              <a:rPr sz="1150" b="0" i="0">
                <a:solidFill>
                  <a:srgbClr val="4A4F57"/>
                </a:solidFill>
                <a:latin typeface="Calibri"/>
              </a:rPr>
              <a:t>Policy erodes under commercial pressure from sensible people with good reasons. </a:t>
            </a:r>
            <a:r>
              <a:rPr sz="1150" b="1" i="0">
                <a:solidFill>
                  <a:srgbClr val="1C1C1E"/>
                </a:solidFill>
                <a:latin typeface="Calibri"/>
              </a:rPr>
              <a:t>Missing credentials do not.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171907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22</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Interfaces and the SDK</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One API, consumed identically by the interface, the SDK and every engine.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API conventions</a:t>
            </a:r>
          </a:p>
          <a:p>
            <a:pPr>
              <a:lnSpc>
                <a:spcPct val="115000"/>
              </a:lnSpc>
              <a:spcBef>
                <a:spcPts val="0"/>
              </a:spcBef>
              <a:spcAft>
                <a:spcPts val="700"/>
              </a:spcAft>
            </a:pPr>
            <a:r>
              <a:rPr sz="1150" b="0" i="0">
                <a:solidFill>
                  <a:srgbClr val="F6E6E9"/>
                </a:solidFill>
                <a:latin typeface="Calibri"/>
              </a:rPr>
              <a:t>Resource surface</a:t>
            </a:r>
          </a:p>
          <a:p>
            <a:pPr>
              <a:lnSpc>
                <a:spcPct val="115000"/>
              </a:lnSpc>
              <a:spcBef>
                <a:spcPts val="0"/>
              </a:spcBef>
              <a:spcAft>
                <a:spcPts val="700"/>
              </a:spcAft>
            </a:pPr>
            <a:r>
              <a:rPr sz="1150" b="0" i="0">
                <a:solidFill>
                  <a:srgbClr val="F6E6E9"/>
                </a:solidFill>
                <a:latin typeface="Calibri"/>
              </a:rPr>
              <a:t>Front-end design</a:t>
            </a:r>
          </a:p>
          <a:p>
            <a:pPr>
              <a:lnSpc>
                <a:spcPct val="115000"/>
              </a:lnSpc>
              <a:spcBef>
                <a:spcPts val="0"/>
              </a:spcBef>
              <a:spcAft>
                <a:spcPts val="700"/>
              </a:spcAft>
            </a:pPr>
            <a:r>
              <a:rPr sz="1150" b="0" i="0">
                <a:solidFill>
                  <a:srgbClr val="F6E6E9"/>
                </a:solidFill>
                <a:latin typeface="Calibri"/>
              </a:rPr>
              <a:t>SDK and events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125</a:t>
            </a:r>
          </a:p>
        </p:txBody>
      </p:sp>
      <p:graphicFrame>
        <p:nvGraphicFramePr>
          <p:cNvPr id="10" name="Table 9"/>
          <p:cNvGraphicFramePr>
            <a:graphicFrameLocks noGrp="1"/>
          </p:cNvGraphicFramePr>
          <p:nvPr/>
        </p:nvGraphicFramePr>
        <p:xfrm>
          <a:off x="777240" y="1353312"/>
          <a:ext cx="10637214" cy="3765327"/>
        </p:xfrm>
        <a:graphic>
          <a:graphicData uri="http://schemas.openxmlformats.org/drawingml/2006/table">
            <a:tbl>
              <a:tblPr firstRow="1">
                <a:tableStyleId>{5C22544A-7EE6-4342-B048-85BDC9FD1C3A}</a:tableStyleId>
              </a:tblPr>
              <a:tblGrid>
                <a:gridCol w="1742302"/>
                <a:gridCol w="4218206"/>
                <a:gridCol w="4676706"/>
              </a:tblGrid>
              <a:tr h="333781">
                <a:tc>
                  <a:txBody>
                    <a:bodyPr wrap="square"/>
                    <a:lstStyle/>
                    <a:p>
                      <a:pPr algn="l"/>
                      <a:r>
                        <a:rPr sz="1100" b="1">
                          <a:solidFill>
                            <a:srgbClr val="FFFFFF"/>
                          </a:solidFill>
                          <a:latin typeface="Calibri"/>
                        </a:rPr>
                        <a:t>Concern</a:t>
                      </a:r>
                    </a:p>
                  </a:txBody>
                  <a:tcPr marL="82296" marR="64008" marT="32004" marB="32004" anchor="ctr">
                    <a:solidFill>
                      <a:srgbClr val="A51C30"/>
                    </a:solidFill>
                  </a:tcPr>
                </a:tc>
                <a:tc>
                  <a:txBody>
                    <a:bodyPr wrap="square"/>
                    <a:lstStyle/>
                    <a:p>
                      <a:pPr algn="l"/>
                      <a:r>
                        <a:rPr sz="1100" b="1">
                          <a:solidFill>
                            <a:srgbClr val="FFFFFF"/>
                          </a:solidFill>
                          <a:latin typeface="Calibri"/>
                        </a:rPr>
                        <a:t>Decision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Base</a:t>
                      </a:r>
                    </a:p>
                  </a:txBody>
                  <a:tcPr marL="82296" marR="64008" marT="32004" marB="32004" anchor="ctr">
                    <a:solidFill>
                      <a:srgbClr val="FFFFFF"/>
                    </a:solidFill>
                  </a:tcPr>
                </a:tc>
                <a:tc>
                  <a:txBody>
                    <a:bodyPr wrap="square"/>
                    <a:lstStyle/>
                    <a:p>
                      <a:pPr algn="l"/>
                      <a:r>
                        <a:rPr sz="1050" b="0">
                          <a:solidFill>
                            <a:srgbClr val="1C1C1E"/>
                          </a:solidFill>
                          <a:latin typeface="Calibri"/>
                        </a:rPr>
                        <a:t>/api/v1, OpenAPI 3.1, JSON</a:t>
                      </a:r>
                    </a:p>
                  </a:txBody>
                  <a:tcPr marL="82296" marR="64008" marT="32004" marB="32004" anchor="ctr">
                    <a:solidFill>
                      <a:srgbClr val="FFFFFF"/>
                    </a:solidFill>
                  </a:tcPr>
                </a:tc>
                <a:tc>
                  <a:txBody>
                    <a:bodyPr wrap="square"/>
                    <a:lstStyle/>
                    <a:p>
                      <a:pPr algn="l"/>
                      <a:r>
                        <a:rPr sz="1050" b="0">
                          <a:solidFill>
                            <a:srgbClr val="1C1C1E"/>
                          </a:solidFill>
                          <a:latin typeface="Calibri"/>
                        </a:rPr>
                        <a:t>One versioned contract; the UI has no privileged path</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Errors</a:t>
                      </a:r>
                    </a:p>
                  </a:txBody>
                  <a:tcPr marL="82296" marR="64008" marT="32004" marB="32004" anchor="ctr">
                    <a:solidFill>
                      <a:srgbClr val="F6F3EF"/>
                    </a:solidFill>
                  </a:tcPr>
                </a:tc>
                <a:tc>
                  <a:txBody>
                    <a:bodyPr wrap="square"/>
                    <a:lstStyle/>
                    <a:p>
                      <a:pPr algn="l"/>
                      <a:r>
                        <a:rPr sz="1050" b="0">
                          <a:solidFill>
                            <a:srgbClr val="1C1C1E"/>
                          </a:solidFill>
                          <a:latin typeface="Calibri"/>
                        </a:rPr>
                        <a:t>RFC 9457 problem+json with code, deny_reason[], remediation_url</a:t>
                      </a:r>
                    </a:p>
                  </a:txBody>
                  <a:tcPr marL="82296" marR="64008" marT="32004" marB="32004" anchor="ctr">
                    <a:solidFill>
                      <a:srgbClr val="F6F3EF"/>
                    </a:solidFill>
                  </a:tcPr>
                </a:tc>
                <a:tc>
                  <a:txBody>
                    <a:bodyPr wrap="square"/>
                    <a:lstStyle/>
                    <a:p>
                      <a:pPr algn="l"/>
                      <a:r>
                        <a:rPr sz="1050" b="0">
                          <a:solidFill>
                            <a:srgbClr val="1C1C1E"/>
                          </a:solidFill>
                          <a:latin typeface="Calibri"/>
                        </a:rPr>
                        <a:t>DR-6 and DR-7 — blocking must always explain</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Pagination</a:t>
                      </a:r>
                    </a:p>
                  </a:txBody>
                  <a:tcPr marL="82296" marR="64008" marT="32004" marB="32004" anchor="ctr">
                    <a:solidFill>
                      <a:srgbClr val="FFFFFF"/>
                    </a:solidFill>
                  </a:tcPr>
                </a:tc>
                <a:tc>
                  <a:txBody>
                    <a:bodyPr wrap="square"/>
                    <a:lstStyle/>
                    <a:p>
                      <a:pPr algn="l"/>
                      <a:r>
                        <a:rPr sz="1050" b="0">
                          <a:solidFill>
                            <a:srgbClr val="1C1C1E"/>
                          </a:solidFill>
                          <a:latin typeface="Calibri"/>
                        </a:rPr>
                        <a:t>Keyset with cursor / next_cursor</a:t>
                      </a:r>
                    </a:p>
                  </a:txBody>
                  <a:tcPr marL="82296" marR="64008" marT="32004" marB="32004" anchor="ctr">
                    <a:solidFill>
                      <a:srgbClr val="FFFFFF"/>
                    </a:solidFill>
                  </a:tcPr>
                </a:tc>
                <a:tc>
                  <a:txBody>
                    <a:bodyPr wrap="square"/>
                    <a:lstStyle/>
                    <a:p>
                      <a:pPr algn="l"/>
                      <a:r>
                        <a:rPr sz="1050" b="0">
                          <a:solidFill>
                            <a:srgbClr val="1C1C1E"/>
                          </a:solidFill>
                          <a:latin typeface="Calibri"/>
                        </a:rPr>
                        <a:t>Stable paging over 50,000 models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Concurrency</a:t>
                      </a:r>
                    </a:p>
                  </a:txBody>
                  <a:tcPr marL="82296" marR="64008" marT="32004" marB="32004" anchor="ctr">
                    <a:solidFill>
                      <a:srgbClr val="F6F3E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6F3EF"/>
                    </a:solidFill>
                  </a:tcPr>
                </a:tc>
                <a:tc>
                  <a:txBody>
                    <a:bodyPr wrap="square"/>
                    <a:lstStyle/>
                    <a:p>
                      <a:pPr algn="l"/>
                      <a:r>
                        <a:rPr sz="1050" b="0">
                          <a:solidFill>
                            <a:srgbClr val="1C1C1E"/>
                          </a:solidFill>
                          <a:latin typeface="Calibri"/>
                        </a:rPr>
                        <a:t>The UI shows a real conflict dialog instead of overwriting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Idempotency</a:t>
                      </a:r>
                    </a:p>
                  </a:txBody>
                  <a:tcPr marL="82296" marR="64008" marT="32004" marB="32004" anchor="ctr">
                    <a:solidFill>
                      <a:srgbClr val="FFFFFF"/>
                    </a:solidFill>
                  </a:tcPr>
                </a:tc>
                <a:tc>
                  <a:txBody>
                    <a:bodyPr wrap="square"/>
                    <a:lstStyle/>
                    <a:p>
                      <a:pPr algn="l"/>
                      <a:r>
                        <a:rPr sz="1050" b="0">
                          <a:solidFill>
                            <a:srgbClr val="1C1C1E"/>
                          </a:solidFill>
                          <a:latin typeface="Calibri"/>
                        </a:rPr>
                        <a:t>Idempotency-Key on POST, 24-hour replay window</a:t>
                      </a:r>
                    </a:p>
                  </a:txBody>
                  <a:tcPr marL="82296" marR="64008" marT="32004" marB="32004" anchor="ctr">
                    <a:solidFill>
                      <a:srgbClr val="FFFFFF"/>
                    </a:solidFill>
                  </a:tcPr>
                </a:tc>
                <a:tc>
                  <a:txBody>
                    <a:bodyPr wrap="square"/>
                    <a:lstStyle/>
                    <a:p>
                      <a:pPr algn="l"/>
                      <a:r>
                        <a:rPr sz="1050" b="0">
                          <a:solidFill>
                            <a:srgbClr val="1C1C1E"/>
                          </a:solidFill>
                          <a:latin typeface="Calibri"/>
                        </a:rPr>
                        <a:t>Safe retry on flaky networks — DR-3</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Shaping</a:t>
                      </a:r>
                    </a:p>
                  </a:txBody>
                  <a:tcPr marL="82296" marR="64008" marT="32004" marB="32004" anchor="ctr">
                    <a:solidFill>
                      <a:srgbClr val="F6F3EF"/>
                    </a:solidFill>
                  </a:tcPr>
                </a:tc>
                <a:tc>
                  <a:txBody>
                    <a:bodyPr wrap="square"/>
                    <a:lstStyle/>
                    <a:p>
                      <a:pPr algn="l"/>
                      <a:r>
                        <a:rPr sz="1050" b="0">
                          <a:solidFill>
                            <a:srgbClr val="1C1C1E"/>
                          </a:solidFill>
                          <a:latin typeface="Calibri"/>
                        </a:rPr>
                        <a:t>?expand= and ?fields=</a:t>
                      </a:r>
                    </a:p>
                  </a:txBody>
                  <a:tcPr marL="82296" marR="64008" marT="32004" marB="32004" anchor="ctr">
                    <a:solidFill>
                      <a:srgbClr val="F6F3EF"/>
                    </a:solidFill>
                  </a:tcPr>
                </a:tc>
                <a:tc>
                  <a:txBody>
                    <a:bodyPr wrap="square"/>
                    <a:lstStyle/>
                    <a:p>
                      <a:pPr algn="l"/>
                      <a:r>
                        <a:rPr sz="1050" b="0">
                          <a:solidFill>
                            <a:srgbClr val="1C1C1E"/>
                          </a:solidFill>
                          <a:latin typeface="Calibri"/>
                        </a:rPr>
                        <a:t>One request per screen instead of N+1 chatter</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Derivations</a:t>
                      </a:r>
                    </a:p>
                  </a:txBody>
                  <a:tcPr marL="82296" marR="64008" marT="32004" marB="32004" anchor="ctr">
                    <a:solidFill>
                      <a:srgbClr val="FFFFFF"/>
                    </a:solidFill>
                  </a:tcPr>
                </a:tc>
                <a:tc>
                  <a:txBody>
                    <a:bodyPr wrap="square"/>
                    <a:lstStyle/>
                    <a:p>
                      <a:pPr algn="l"/>
                      <a:r>
                        <a:rPr sz="1050" b="0">
                          <a:solidFill>
                            <a:srgbClr val="1C1C1E"/>
                          </a:solidFill>
                          <a:latin typeface="Calibri"/>
                        </a:rPr>
                        <a:t>GET /derivations/{id} on every derived value</a:t>
                      </a:r>
                    </a:p>
                  </a:txBody>
                  <a:tcPr marL="82296" marR="64008" marT="32004" marB="32004" anchor="ctr">
                    <a:solidFill>
                      <a:srgbClr val="FFFFFF"/>
                    </a:solidFill>
                  </a:tcPr>
                </a:tc>
                <a:tc>
                  <a:txBody>
                    <a:bodyPr wrap="square"/>
                    <a:lstStyle/>
                    <a:p>
                      <a:pPr algn="l"/>
                      <a:r>
                        <a:rPr sz="1050" b="0">
                          <a:solidFill>
                            <a:srgbClr val="1C1C1E"/>
                          </a:solidFill>
                          <a:latin typeface="Calibri"/>
                        </a:rPr>
                        <a:t>Powers the universal [why?] affordance</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Time travel</a:t>
                      </a:r>
                    </a:p>
                  </a:txBody>
                  <a:tcPr marL="82296" marR="64008" marT="32004" marB="32004" anchor="ctr">
                    <a:solidFill>
                      <a:srgbClr val="F6F3EF"/>
                    </a:solidFill>
                  </a:tcPr>
                </a:tc>
                <a:tc>
                  <a:txBody>
                    <a:bodyPr wrap="square"/>
                    <a:lstStyle/>
                    <a:p>
                      <a:pPr algn="l"/>
                      <a:r>
                        <a:rPr sz="1050" b="0">
                          <a:solidFill>
                            <a:srgbClr val="1C1C1E"/>
                          </a:solidFill>
                          <a:latin typeface="Calibri"/>
                        </a:rPr>
                        <a:t>?as_of= on inventory reads</a:t>
                      </a:r>
                    </a:p>
                  </a:txBody>
                  <a:tcPr marL="82296" marR="64008" marT="32004" marB="32004" anchor="ctr">
                    <a:solidFill>
                      <a:srgbClr val="F6F3EF"/>
                    </a:solidFill>
                  </a:tcPr>
                </a:tc>
                <a:tc>
                  <a:txBody>
                    <a:bodyPr wrap="square"/>
                    <a:lstStyle/>
                    <a:p>
                      <a:pPr algn="l"/>
                      <a:r>
                        <a:rPr sz="1050" b="0">
                          <a:solidFill>
                            <a:srgbClr val="1C1C1E"/>
                          </a:solidFill>
                          <a:latin typeface="Calibri"/>
                        </a:rPr>
                        <a:t>Examiner questions about a past date</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Events</a:t>
                      </a:r>
                    </a:p>
                  </a:txBody>
                  <a:tcPr marL="82296" marR="64008" marT="32004" marB="32004" anchor="ctr">
                    <a:solidFill>
                      <a:srgbClr val="FFFFFF"/>
                    </a:solidFill>
                  </a:tcPr>
                </a:tc>
                <a:tc>
                  <a:txBody>
                    <a:bodyPr wrap="square"/>
                    <a:lstStyle/>
                    <a:p>
                      <a:pPr algn="l"/>
                      <a:r>
                        <a:rPr sz="1050" b="0">
                          <a:solidFill>
                            <a:srgbClr val="1C1C1E"/>
                          </a:solidFill>
                          <a:latin typeface="Calibri"/>
                        </a:rPr>
                        <a:t>GET /events (SSE)</a:t>
                      </a:r>
                    </a:p>
                  </a:txBody>
                  <a:tcPr marL="82296" marR="64008" marT="32004" marB="32004" anchor="ctr">
                    <a:solidFill>
                      <a:srgbClr val="FFFFFF"/>
                    </a:solidFill>
                  </a:tcPr>
                </a:tc>
                <a:tc>
                  <a:txBody>
                    <a:bodyPr wrap="square"/>
                    <a:lstStyle/>
                    <a:p>
                      <a:pPr algn="l"/>
                      <a:r>
                        <a:rPr sz="1050" b="0">
                          <a:solidFill>
                            <a:srgbClr val="1C1C1E"/>
                          </a:solidFill>
                          <a:latin typeface="Calibri"/>
                        </a:rPr>
                        <a:t>Task inbox, breaches, job progress without polling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Deprecation</a:t>
                      </a:r>
                    </a:p>
                  </a:txBody>
                  <a:tcPr marL="82296" marR="64008" marT="32004" marB="32004" anchor="ctr">
                    <a:solidFill>
                      <a:srgbClr val="F6F3EF"/>
                    </a:solidFill>
                  </a:tcPr>
                </a:tc>
                <a:tc>
                  <a:txBody>
                    <a:bodyPr wrap="square"/>
                    <a:lstStyle/>
                    <a:p>
                      <a:pPr algn="l"/>
                      <a:r>
                        <a:rPr sz="1050" b="0">
                          <a:solidFill>
                            <a:srgbClr val="1C1C1E"/>
                          </a:solidFill>
                          <a:latin typeface="Calibri"/>
                        </a:rPr>
                        <a:t>Two minor versions of overlap; Sunset headers</a:t>
                      </a:r>
                    </a:p>
                  </a:txBody>
                  <a:tcPr marL="82296" marR="64008" marT="32004" marB="32004" anchor="ctr">
                    <a:solidFill>
                      <a:srgbClr val="F6F3EF"/>
                    </a:solidFill>
                  </a:tcPr>
                </a:tc>
                <a:tc>
                  <a:txBody>
                    <a:bodyPr wrap="square"/>
                    <a:lstStyle/>
                    <a:p>
                      <a:pPr algn="l"/>
                      <a:r>
                        <a:rPr sz="1050" b="0">
                          <a:solidFill>
                            <a:srgbClr val="1C1C1E"/>
                          </a:solidFill>
                          <a:latin typeface="Calibri"/>
                        </a:rPr>
                        <a:t>Clients are never surprised</a:t>
                      </a:r>
                    </a:p>
                  </a:txBody>
                  <a:tcPr marL="82296" marR="64008" marT="32004" marB="32004" anchor="ctr">
                    <a:solidFill>
                      <a:srgbClr val="F6F3EF"/>
                    </a:solidFill>
                  </a:tcPr>
                </a:tc>
              </a:tr>
            </a:tbl>
          </a:graphicData>
        </a:graphic>
      </p:graphicFrame>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ENDPOINTS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Resource surface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126</a:t>
            </a:r>
          </a:p>
        </p:txBody>
      </p:sp>
      <p:graphicFrame>
        <p:nvGraphicFramePr>
          <p:cNvPr id="10" name="Table 9"/>
          <p:cNvGraphicFramePr>
            <a:graphicFrameLocks noGrp="1"/>
          </p:cNvGraphicFramePr>
          <p:nvPr/>
        </p:nvGraphicFramePr>
        <p:xfrm>
          <a:off x="777240" y="1353312"/>
          <a:ext cx="10637214" cy="4763516"/>
        </p:xfrm>
        <a:graphic>
          <a:graphicData uri="http://schemas.openxmlformats.org/drawingml/2006/table">
            <a:tbl>
              <a:tblPr firstRow="1">
                <a:tableStyleId>{5C22544A-7EE6-4342-B048-85BDC9FD1C3A}</a:tableStyleId>
              </a:tblPr>
              <a:tblGrid>
                <a:gridCol w="1650602"/>
                <a:gridCol w="8986612"/>
              </a:tblGrid>
              <a:tr h="329184">
                <a:tc>
                  <a:txBody>
                    <a:bodyPr wrap="square"/>
                    <a:lstStyle/>
                    <a:p>
                      <a:pPr algn="l"/>
                      <a:r>
                        <a:rPr sz="1050" b="1">
                          <a:solidFill>
                            <a:srgbClr val="FFFFFF"/>
                          </a:solidFill>
                          <a:latin typeface="Calibri"/>
                        </a:rPr>
                        <a:t>Group</a:t>
                      </a:r>
                    </a:p>
                  </a:txBody>
                  <a:tcPr marL="82296" marR="64008" marT="32004" marB="32004" anchor="ctr">
                    <a:solidFill>
                      <a:srgbClr val="A51C30"/>
                    </a:solidFill>
                  </a:tcPr>
                </a:tc>
                <a:tc>
                  <a:txBody>
                    <a:bodyPr wrap="square"/>
                    <a:lstStyle/>
                    <a:p>
                      <a:pPr algn="l"/>
                      <a:r>
                        <a:rPr sz="1050" b="1">
                          <a:solidFill>
                            <a:srgbClr val="FFFFFF"/>
                          </a:solidFill>
                          <a:latin typeface="Calibri"/>
                        </a:rPr>
                        <a:t>Endpoints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/models · /models/{urn} · /uses · /assumptions · /limitations · /relationships · /blast-radius · /scope-determinations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/models/{urn}/versions · /versions/{id} · /compare · /contract · /reproducibility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Aliases</a:t>
                      </a:r>
                    </a:p>
                  </a:txBody>
                  <a:tcPr marL="82296" marR="64008" marT="32004" marB="32004" anchor="ctr">
                    <a:solidFill>
                      <a:srgbClr val="FFFFFF"/>
                    </a:solidFill>
                  </a:tcPr>
                </a:tc>
                <a:tc>
                  <a:txBody>
                    <a:bodyPr wrap="square"/>
                    <a:lstStyle/>
                    <a:p>
                      <a:pPr algn="l"/>
                      <a:r>
                        <a:rPr sz="1000" b="0">
                          <a:solidFill>
                            <a:srgbClr val="1C1C1E"/>
                          </a:solidFill>
                          <a:latin typeface="Calibri"/>
                        </a:rPr>
                        <a:t>/models/{urn}/environments/{env}/aliases/{name} · /history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a:t>
                      </a:r>
                    </a:p>
                  </a:txBody>
                  <a:tcPr marL="82296" marR="64008" marT="32004" marB="32004" anchor="ctr">
                    <a:solidFill>
                      <a:srgbClr val="F6F3EF"/>
                    </a:solidFill>
                  </a:tcPr>
                </a:tc>
                <a:tc>
                  <a:txBody>
                    <a:bodyPr wrap="square"/>
                    <a:lstStyle/>
                    <a:p>
                      <a:pPr algn="l"/>
                      <a:r>
                        <a:rPr sz="1000" b="0">
                          <a:solidFill>
                            <a:srgbClr val="1C1C1E"/>
                          </a:solidFill>
                          <a:latin typeface="Calibri"/>
                        </a:rPr>
                        <a:t>/models/{urn}/assessments · /assessments/{id} · /tiering/rulesets · /tiering/simulate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a:t>
                      </a:r>
                    </a:p>
                  </a:txBody>
                  <a:tcPr marL="82296" marR="64008" marT="32004" marB="32004" anchor="ctr">
                    <a:solidFill>
                      <a:srgbClr val="FFFFFF"/>
                    </a:solidFill>
                  </a:tcPr>
                </a:tc>
                <a:tc>
                  <a:txBody>
                    <a:bodyPr wrap="square"/>
                    <a:lstStyle/>
                    <a:p>
                      <a:pPr algn="l"/>
                      <a:r>
                        <a:rPr sz="1000" b="0">
                          <a:solidFill>
                            <a:srgbClr val="1C1C1E"/>
                          </a:solidFill>
                          <a:latin typeface="Calibri"/>
                        </a:rPr>
                        <a:t>/features · /feature-views · /feature-views/{id}/versions · /contracts · /training-sets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Runs</a:t>
                      </a:r>
                    </a:p>
                  </a:txBody>
                  <a:tcPr marL="82296" marR="64008" marT="32004" marB="32004" anchor="ctr">
                    <a:solidFill>
                      <a:srgbClr val="F6F3EF"/>
                    </a:solidFill>
                  </a:tcPr>
                </a:tc>
                <a:tc>
                  <a:txBody>
                    <a:bodyPr wrap="square"/>
                    <a:lstStyle/>
                    <a:p>
                      <a:pPr algn="l"/>
                      <a:r>
                        <a:rPr sz="1000" b="0">
                          <a:solidFill>
                            <a:srgbClr val="1C1C1E"/>
                          </a:solidFill>
                          <a:latin typeface="Calibri"/>
                        </a:rPr>
                        <a:t>/runs · /runs/{id}/metrics · /artifacts · /runs/{id}/replay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/validations · /validations/{id}/tests · /findings · /findings/{id}/remediation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Overlays</a:t>
                      </a:r>
                    </a:p>
                  </a:txBody>
                  <a:tcPr marL="82296" marR="64008" marT="32004" marB="32004" anchor="ctr">
                    <a:solidFill>
                      <a:srgbClr val="F6F3EF"/>
                    </a:solidFill>
                  </a:tcPr>
                </a:tc>
                <a:tc>
                  <a:txBody>
                    <a:bodyPr wrap="square"/>
                    <a:lstStyle/>
                    <a:p>
                      <a:pPr algn="l"/>
                      <a:r>
                        <a:rPr sz="1000" b="0">
                          <a:solidFill>
                            <a:srgbClr val="1C1C1E"/>
                          </a:solidFill>
                          <a:latin typeface="Calibri"/>
                        </a:rPr>
                        <a:t>/overlays · /overlays/{id}/measurements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/monitors · /observations · /breaches · /health/{urn}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Warrants</a:t>
                      </a:r>
                    </a:p>
                  </a:txBody>
                  <a:tcPr marL="82296" marR="64008" marT="32004" marB="32004" anchor="ctr">
                    <a:solidFill>
                      <a:srgbClr val="F6F3EF"/>
                    </a:solidFill>
                  </a:tcPr>
                </a:tc>
                <a:tc>
                  <a:txBody>
                    <a:bodyPr wrap="square"/>
                    <a:lstStyle/>
                    <a:p>
                      <a:pPr algn="l"/>
                      <a:r>
                        <a:rPr sz="1000" b="0">
                          <a:solidFill>
                            <a:srgbClr val="1C1C1E"/>
                          </a:solidFill>
                          <a:latin typeface="Calibri"/>
                        </a:rPr>
                        <a:t>/warrants · /v1/resolve (warrant service) · /warrants/{id}/revoke · /telemetry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/documents/compile · /documents/{id} · /documents/{id}/render · /export-packs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a:t>
                      </a:r>
                    </a:p>
                  </a:txBody>
                  <a:tcPr marL="82296" marR="64008" marT="32004" marB="32004" anchor="ctr">
                    <a:solidFill>
                      <a:srgbClr val="F6F3EF"/>
                    </a:solidFill>
                  </a:tcPr>
                </a:tc>
                <a:tc>
                  <a:txBody>
                    <a:bodyPr wrap="square"/>
                    <a:lstStyle/>
                    <a:p>
                      <a:pPr algn="l"/>
                      <a:r>
                        <a:rPr sz="1000" b="0">
                          <a:solidFill>
                            <a:srgbClr val="1C1C1E"/>
                          </a:solidFill>
                          <a:latin typeface="Calibri"/>
                        </a:rPr>
                        <a:t>/policies · /policies/evaluate · /obligations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Assistance</a:t>
                      </a:r>
                    </a:p>
                  </a:txBody>
                  <a:tcPr marL="82296" marR="64008" marT="32004" marB="32004" anchor="ctr">
                    <a:solidFill>
                      <a:srgbClr val="FFFFFF"/>
                    </a:solidFill>
                  </a:tcPr>
                </a:tc>
                <a:tc>
                  <a:txBody>
                    <a:bodyPr wrap="square"/>
                    <a:lstStyle/>
                    <a:p>
                      <a:pPr algn="l"/>
                      <a:r>
                        <a:rPr sz="1000" b="0">
                          <a:solidFill>
                            <a:srgbClr val="1C1C1E"/>
                          </a:solidFill>
                          <a:latin typeface="Calibri"/>
                        </a:rPr>
                        <a:t>/ai/capabilities · /ai/{capability}/draft · /ai/generations/{id}/attest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Admin</a:t>
                      </a:r>
                    </a:p>
                  </a:txBody>
                  <a:tcPr marL="82296" marR="64008" marT="32004" marB="32004" anchor="ctr">
                    <a:solidFill>
                      <a:srgbClr val="F6F3EF"/>
                    </a:solidFill>
                  </a:tcPr>
                </a:tc>
                <a:tc>
                  <a:txBody>
                    <a:bodyPr wrap="square"/>
                    <a:lstStyle/>
                    <a:p>
                      <a:pPr algn="l"/>
                      <a:r>
                        <a:rPr sz="1000" b="0">
                          <a:solidFill>
                            <a:srgbClr val="1C1C1E"/>
                          </a:solidFill>
                          <a:latin typeface="Calibri"/>
                        </a:rPr>
                        <a:t>/model-classes · /lifecycles · /templates · /regimes · /connectors · /users</a:t>
                      </a:r>
                    </a:p>
                  </a:txBody>
                  <a:tcPr marL="82296" marR="64008" marT="32004" marB="32004" anchor="ctr">
                    <a:solidFill>
                      <a:srgbClr val="F6F3EF"/>
                    </a:solidFill>
                  </a:tcPr>
                </a:tc>
              </a:tr>
            </a:tbl>
          </a:graphicData>
        </a:graphic>
      </p:graphicFrame>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127</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828800"/>
          </a:xfrm>
          <a:prstGeom prst="rect">
            <a:avLst/>
          </a:prstGeom>
          <a:noFill/>
        </p:spPr>
        <p:txBody>
          <a:bodyPr wrap="square" lIns="0" rIns="0" tIns="0" bIns="0" anchor="t">
            <a:spAutoFit/>
          </a:bodyPr>
          <a:lstStyle/>
          <a:p>
            <a:pPr algn="l"/>
          </a:p>
          <a:p>
            <a:pPr>
              <a:spcBef>
                <a:spcPts val="700"/>
              </a:spcBef>
              <a:spcAft>
                <a:spcPts val="300"/>
              </a:spcAft>
            </a:pPr>
            <a:r>
              <a:rPr sz="1050" b="1">
                <a:solidFill>
                  <a:srgbClr val="A51C30"/>
                </a:solidFill>
                <a:latin typeface="Calibri"/>
              </a:rPr>
              <a:t>▪  </a:t>
            </a:r>
            <a:r>
              <a:rPr sz="1050" b="1">
                <a:solidFill>
                  <a:srgbClr val="1C1C1E"/>
                </a:solidFill>
                <a:latin typeface="Calibri"/>
              </a:rPr>
              <a:t>CONSTRUCT the padded block, never parse what you recover</a:t>
            </a:r>
          </a:p>
          <a:p>
            <a:pPr lvl="1">
              <a:spcBef>
                <a:spcPts val="0"/>
              </a:spcBef>
              <a:spcAft>
                <a:spcPts val="0"/>
              </a:spcAft>
            </a:pPr>
            <a:r>
              <a:rPr sz="950">
                <a:solidFill>
                  <a:srgbClr val="4A4F57"/>
                </a:solidFill>
                <a:latin typeface="Calibri"/>
              </a:rPr>
              <a:t>that is the difference between correct PKCS#1 v1.5 and the Bleichenbacher forgery, which works precisely against verifiers that parse</a:t>
            </a:r>
          </a:p>
          <a:p>
            <a:pPr>
              <a:spcBef>
                <a:spcPts val="700"/>
              </a:spcBef>
              <a:spcAft>
                <a:spcPts val="300"/>
              </a:spcAft>
            </a:pPr>
            <a:r>
              <a:rPr sz="1050" b="1">
                <a:solidFill>
                  <a:srgbClr val="A51C30"/>
                </a:solidFill>
                <a:latin typeface="Calibri"/>
              </a:rPr>
              <a:t>▪  </a:t>
            </a:r>
            <a:r>
              <a:rPr sz="1050" b="1">
                <a:solidFill>
                  <a:srgbClr val="1C1C1E"/>
                </a:solidFill>
                <a:latin typeface="Calibri"/>
              </a:rPr>
              <a:t>Decide the algorithm; do not read alg from the token</a:t>
            </a:r>
          </a:p>
          <a:p>
            <a:pPr lvl="1">
              <a:spcBef>
                <a:spcPts val="0"/>
              </a:spcBef>
              <a:spcAft>
                <a:spcPts val="0"/>
              </a:spcAft>
            </a:pPr>
            <a:r>
              <a:rPr sz="950">
                <a:solidFill>
                  <a:srgbClr val="4A4F57"/>
                </a:solidFill>
                <a:latin typeface="Calibri"/>
              </a:rPr>
              <a:t>the other famous way a JWT is accepted with no signature at all</a:t>
            </a:r>
          </a:p>
          <a:p>
            <a:pPr>
              <a:spcBef>
                <a:spcPts val="700"/>
              </a:spcBef>
              <a:spcAft>
                <a:spcPts val="300"/>
              </a:spcAft>
            </a:pPr>
            <a:r>
              <a:rPr sz="1050" b="1">
                <a:solidFill>
                  <a:srgbClr val="A51C30"/>
                </a:solidFill>
                <a:latin typeface="Calibri"/>
              </a:rPr>
              <a:t>▪  </a:t>
            </a:r>
            <a:r>
              <a:rPr sz="1050" b="1">
                <a:solidFill>
                  <a:srgbClr val="1C1C1E"/>
                </a:solidFill>
                <a:latin typeface="Calibri"/>
              </a:rPr>
              <a:t>No crypto dependency, by design</a:t>
            </a:r>
          </a:p>
          <a:p>
            <a:pPr lvl="1">
              <a:spcBef>
                <a:spcPts val="0"/>
              </a:spcBef>
              <a:spcAft>
                <a:spcPts val="0"/>
              </a:spcAft>
            </a:pPr>
            <a:r>
              <a:rPr sz="950">
                <a:solidFill>
                  <a:srgbClr val="4A4F57"/>
                </a:solidFill>
                <a:latin typeface="Calibri"/>
              </a:rPr>
              <a:t>a governance system that cannot be deployed air-gapped is one somebody works around — the same reason every front-end asset is vendored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128</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maya-web — a separate process</a:t>
            </a:r>
          </a:p>
        </p:txBody>
      </p:sp>
      <p:graphicFrame>
        <p:nvGraphicFramePr>
          <p:cNvPr id="11" name="Table 10"/>
          <p:cNvGraphicFramePr>
            <a:graphicFrameLocks noGrp="1"/>
          </p:cNvGraphicFramePr>
          <p:nvPr/>
        </p:nvGraphicFramePr>
        <p:xfrm>
          <a:off x="777240" y="1719072"/>
          <a:ext cx="4999490" cy="2680208"/>
        </p:xfrm>
        <a:graphic>
          <a:graphicData uri="http://schemas.openxmlformats.org/drawingml/2006/table">
            <a:tbl>
              <a:tblPr firstRow="1">
                <a:tableStyleId>{5C22544A-7EE6-4342-B048-85BDC9FD1C3A}</a:tableStyleId>
              </a:tblPr>
              <a:tblGrid>
                <a:gridCol w="1140234"/>
                <a:gridCol w="3859256"/>
              </a:tblGrid>
              <a:tr h="329184">
                <a:tc>
                  <a:txBody>
                    <a:bodyPr wrap="square"/>
                    <a:lstStyle/>
                    <a:p>
                      <a:pPr algn="l"/>
                      <a:r>
                        <a:rPr sz="1050" b="1">
                          <a:solidFill>
                            <a:srgbClr val="FFFFFF"/>
                          </a:solidFill>
                          <a:latin typeface="Calibri"/>
                        </a:rPr>
                        <a:t>Concern</a:t>
                      </a:r>
                    </a:p>
                  </a:txBody>
                  <a:tcPr marL="82296" marR="64008" marT="32004" marB="32004" anchor="ctr">
                    <a:solidFill>
                      <a:srgbClr val="A51C30"/>
                    </a:solidFill>
                  </a:tcPr>
                </a:tc>
                <a:tc>
                  <a:txBody>
                    <a:bodyPr wrap="square"/>
                    <a:lstStyle/>
                    <a:p>
                      <a:pPr algn="l"/>
                      <a:r>
                        <a:rPr sz="1050" b="1">
                          <a:solidFill>
                            <a:srgbClr val="FFFFFF"/>
                          </a:solidFill>
                          <a:latin typeface="Calibri"/>
                        </a:rPr>
                        <a:t>Design</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Auth</a:t>
                      </a:r>
                    </a:p>
                  </a:txBody>
                  <a:tcPr marL="82296" marR="64008" marT="32004" marB="32004" anchor="ctr">
                    <a:solidFill>
                      <a:srgbClr val="FFFFFF"/>
                    </a:solidFill>
                  </a:tcPr>
                </a:tc>
                <a:tc>
                  <a:txBody>
                    <a:bodyPr wrap="square"/>
                    <a:lstStyle/>
                    <a:p>
                      <a:pPr algn="l"/>
                      <a:r>
                        <a:rPr sz="1000" b="0">
                          <a:solidFill>
                            <a:srgbClr val="1C1C1E"/>
                          </a:solidFill>
                          <a:latin typeface="Calibri"/>
                        </a:rPr>
                        <a:t>OIDC + PKCE; access token in memory only; refresh via __Host- SameSite=Strict cookie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Logic</a:t>
                      </a:r>
                    </a:p>
                  </a:txBody>
                  <a:tcPr marL="82296" marR="64008" marT="32004" marB="32004" anchor="ctr">
                    <a:solidFill>
                      <a:srgbClr val="F6F3EF"/>
                    </a:solidFill>
                  </a:tcPr>
                </a:tc>
                <a:tc>
                  <a:txBody>
                    <a:bodyPr wrap="square"/>
                    <a:lstStyle/>
                    <a:p>
                      <a:pPr algn="l"/>
                      <a:r>
                        <a:rPr sz="1000" b="0">
                          <a:solidFill>
                            <a:srgbClr val="1C1C1E"/>
                          </a:solidFill>
                          <a:latin typeface="Calibri"/>
                        </a:rPr>
                        <a:t>P4′ — the client renders decisions, never derives them</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Client</a:t>
                      </a:r>
                    </a:p>
                  </a:txBody>
                  <a:tcPr marL="82296" marR="64008" marT="32004" marB="32004" anchor="ctr">
                    <a:solidFill>
                      <a:srgbClr val="FFFFFF"/>
                    </a:solidFill>
                  </a:tcPr>
                </a:tc>
                <a:tc>
                  <a:txBody>
                    <a:bodyPr wrap="square"/>
                    <a:lstStyle/>
                    <a:p>
                      <a:pPr algn="l"/>
                      <a:r>
                        <a:rPr sz="1000" b="0">
                          <a:solidFill>
                            <a:srgbClr val="1C1C1E"/>
                          </a:solidFill>
                          <a:latin typeface="Calibri"/>
                        </a:rPr>
                        <a:t>Generated from OpenAPI; pinned by openapi.lock.json; drift fails the build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Forms</a:t>
                      </a:r>
                    </a:p>
                  </a:txBody>
                  <a:tcPr marL="82296" marR="64008" marT="32004" marB="32004" anchor="ctr">
                    <a:solidFill>
                      <a:srgbClr val="F6F3EF"/>
                    </a:solidFill>
                  </a:tcPr>
                </a:tc>
                <a:tc>
                  <a:txBody>
                    <a:bodyPr wrap="square"/>
                    <a:lstStyle/>
                    <a:p>
                      <a:pPr algn="l"/>
                      <a:r>
                        <a:rPr sz="1000" b="0">
                          <a:solidFill>
                            <a:srgbClr val="1C1C1E"/>
                          </a:solidFill>
                          <a:latin typeface="Calibri"/>
                        </a:rPr>
                        <a:t>Generated in-browser from the fibre's JSON Schema — a new model class needs no front-end release</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Fetched as server-rendered HTML/PDF, never assembled client-side</a:t>
                      </a:r>
                    </a:p>
                  </a:txBody>
                  <a:tcPr marL="82296" marR="64008" marT="32004" marB="32004" anchor="ctr">
                    <a:solidFill>
                      <a:srgbClr val="FFFFF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700"/>
              </a:spcAft>
            </a:pPr>
            <a:r>
              <a:rPr sz="1150" b="1">
                <a:solidFill>
                  <a:srgbClr val="A51C30"/>
                </a:solidFill>
                <a:latin typeface="Calibri"/>
              </a:rPr>
              <a:t>▪  </a:t>
            </a:r>
            <a:r>
              <a:rPr sz="1150">
                <a:solidFill>
                  <a:srgbClr val="1C1C1E"/>
                </a:solidFill>
                <a:latin typeface="Calibri"/>
              </a:rPr>
              <a:t>Resolve and verify the descriptor signature</a:t>
            </a:r>
          </a:p>
          <a:p>
            <a:pPr>
              <a:spcBef>
                <a:spcPts val="0"/>
              </a:spcBef>
              <a:spcAft>
                <a:spcPts val="700"/>
              </a:spcAft>
            </a:pPr>
            <a:r>
              <a:rPr sz="1150" b="1">
                <a:solidFill>
                  <a:srgbClr val="A51C30"/>
                </a:solidFill>
                <a:latin typeface="Calibri"/>
              </a:rPr>
              <a:t>▪  </a:t>
            </a:r>
            <a:r>
              <a:rPr sz="1150">
                <a:solidFill>
                  <a:srgbClr val="1C1C1E"/>
                </a:solidFill>
                <a:latin typeface="Calibri"/>
              </a:rPr>
              <a:t>Fetch features per the contract; check freshness</a:t>
            </a:r>
          </a:p>
          <a:p>
            <a:pPr>
              <a:spcBef>
                <a:spcPts val="0"/>
              </a:spcBef>
              <a:spcAft>
                <a:spcPts val="700"/>
              </a:spcAft>
            </a:pPr>
            <a:r>
              <a:rPr sz="1150" b="1">
                <a:solidFill>
                  <a:srgbClr val="A51C30"/>
                </a:solidFill>
                <a:latin typeface="Calibri"/>
              </a:rPr>
              <a:t>▪  </a:t>
            </a:r>
            <a:r>
              <a:rPr sz="1150">
                <a:solidFill>
                  <a:srgbClr val="1C1C1E"/>
                </a:solidFill>
                <a:latin typeface="Calibri"/>
              </a:rPr>
              <a:t>Check operating boundaries before scoring</a:t>
            </a:r>
          </a:p>
          <a:p>
            <a:pPr>
              <a:spcBef>
                <a:spcPts val="0"/>
              </a:spcBef>
              <a:spcAft>
                <a:spcPts val="700"/>
              </a:spcAft>
            </a:pPr>
            <a:r>
              <a:rPr sz="1150" b="1">
                <a:solidFill>
                  <a:srgbClr val="A51C30"/>
                </a:solidFill>
                <a:latin typeface="Calibri"/>
              </a:rPr>
              <a:t>▪  </a:t>
            </a:r>
            <a:r>
              <a:rPr sz="1150">
                <a:solidFill>
                  <a:srgbClr val="1C1C1E"/>
                </a:solidFill>
                <a:latin typeface="Calibri"/>
              </a:rPr>
              <a:t>Emit signed telemetry</a:t>
            </a:r>
          </a:p>
          <a:p>
            <a:pPr>
              <a:spcBef>
                <a:spcPts val="0"/>
              </a:spcBef>
              <a:spcAft>
                <a:spcPts val="700"/>
              </a:spcAft>
            </a:pPr>
            <a:r>
              <a:rPr sz="1150" b="1">
                <a:solidFill>
                  <a:srgbClr val="A51C30"/>
                </a:solidFill>
                <a:latin typeface="Calibri"/>
              </a:rPr>
              <a:t>▪  </a:t>
            </a:r>
            <a:r>
              <a:rPr sz="1150">
                <a:solidFill>
                  <a:srgbClr val="1C1C1E"/>
                </a:solidFill>
                <a:latin typeface="Calibri"/>
              </a:rPr>
              <a:t>Maintain the local revocation list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design point. </a:t>
            </a:r>
            <a:r>
              <a:rPr sz="1150" b="0" i="0">
                <a:solidFill>
                  <a:srgbClr val="1C1C1E"/>
                </a:solidFill>
                <a:latin typeface="Calibri"/>
              </a:rPr>
              <a:t>A developer who uses the SDK gets governance for free and cannot forget a step. If the compliant path is slower than the non-compliant one, the inventory rots — so the SDK ships in Phase 1, not later.</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23</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Cross-cutting and Operations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Transactions, concurrency, errors, SLOs, capacity, testing.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Transactions and the outbox</a:t>
            </a:r>
          </a:p>
          <a:p>
            <a:pPr>
              <a:lnSpc>
                <a:spcPct val="115000"/>
              </a:lnSpc>
              <a:spcBef>
                <a:spcPts val="0"/>
              </a:spcBef>
              <a:spcAft>
                <a:spcPts val="700"/>
              </a:spcAft>
            </a:pPr>
            <a:r>
              <a:rPr sz="1150" b="0" i="0">
                <a:solidFill>
                  <a:srgbClr val="F6E6E9"/>
                </a:solidFill>
                <a:latin typeface="Calibri"/>
              </a:rPr>
              <a:t>Concurrency and idempotency</a:t>
            </a:r>
          </a:p>
          <a:p>
            <a:pPr>
              <a:lnSpc>
                <a:spcPct val="115000"/>
              </a:lnSpc>
              <a:spcBef>
                <a:spcPts val="0"/>
              </a:spcBef>
              <a:spcAft>
                <a:spcPts val="700"/>
              </a:spcAft>
            </a:pPr>
            <a:r>
              <a:rPr sz="1150" b="0" i="0">
                <a:solidFill>
                  <a:srgbClr val="F6E6E9"/>
                </a:solidFill>
                <a:latin typeface="Calibri"/>
              </a:rPr>
              <a:t>Error taxonomy</a:t>
            </a:r>
          </a:p>
          <a:p>
            <a:pPr>
              <a:lnSpc>
                <a:spcPct val="115000"/>
              </a:lnSpc>
              <a:spcBef>
                <a:spcPts val="0"/>
              </a:spcBef>
              <a:spcAft>
                <a:spcPts val="700"/>
              </a:spcAft>
            </a:pPr>
            <a:r>
              <a:rPr sz="1150" b="0" i="0">
                <a:solidFill>
                  <a:srgbClr val="F6E6E9"/>
                </a:solidFill>
                <a:latin typeface="Calibri"/>
              </a:rPr>
              <a:t>SLOs and signals</a:t>
            </a:r>
          </a:p>
          <a:p>
            <a:pPr>
              <a:lnSpc>
                <a:spcPct val="115000"/>
              </a:lnSpc>
              <a:spcBef>
                <a:spcPts val="0"/>
              </a:spcBef>
              <a:spcAft>
                <a:spcPts val="700"/>
              </a:spcAft>
            </a:pPr>
            <a:r>
              <a:rPr sz="1150" b="0" i="0">
                <a:solidFill>
                  <a:srgbClr val="F6E6E9"/>
                </a:solidFill>
                <a:latin typeface="Calibri"/>
              </a:rPr>
              <a:t>Capacity</a:t>
            </a:r>
          </a:p>
          <a:p>
            <a:pPr>
              <a:lnSpc>
                <a:spcPct val="115000"/>
              </a:lnSpc>
              <a:spcBef>
                <a:spcPts val="0"/>
              </a:spcBef>
              <a:spcAft>
                <a:spcPts val="700"/>
              </a:spcAft>
            </a:pPr>
            <a:r>
              <a:rPr sz="1150" b="0" i="0">
                <a:solidFill>
                  <a:srgbClr val="F6E6E9"/>
                </a:solidFill>
                <a:latin typeface="Calibri"/>
              </a:rPr>
              <a:t>Testing</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Transactions and the outbox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130</a:t>
            </a:r>
          </a:p>
        </p:txBody>
      </p:sp>
      <p:sp>
        <p:nvSpPr>
          <p:cNvPr id="10" name="Rectangle 9"/>
          <p:cNvSpPr/>
          <p:nvPr/>
        </p:nvSpPr>
        <p:spPr>
          <a:xfrm>
            <a:off x="777240" y="1353312"/>
            <a:ext cx="5531351"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1746504"/>
            <a:ext cx="5165591"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uow.transaction() as tx:      # ONE Postgres transaction</a:t>
            </a:r>
          </a:p>
          <a:p>
            <a:pPr>
              <a:lnSpc>
                <a:spcPct val="134000"/>
              </a:lnSpc>
              <a:spcBef>
                <a:spcPts val="0"/>
              </a:spcBef>
              <a:spcAft>
                <a:spcPts val="0"/>
              </a:spcAft>
            </a:pPr>
            <a:r>
              <a:rPr sz="1000" b="0" i="0">
                <a:solidFill>
                  <a:srgbClr val="1C1C1E"/>
                </a:solidFill>
                <a:latin typeface="Consolas"/>
              </a:rPr>
              <a:t>    ...domain mutations...</a:t>
            </a:r>
          </a:p>
          <a:p>
            <a:pPr>
              <a:lnSpc>
                <a:spcPct val="134000"/>
              </a:lnSpc>
              <a:spcBef>
                <a:spcPts val="0"/>
              </a:spcBef>
              <a:spcAft>
                <a:spcPts val="0"/>
              </a:spcAft>
            </a:pPr>
            <a:r>
              <a:rPr sz="1000" b="0" i="0">
                <a:solidFill>
                  <a:srgbClr val="1C1C1E"/>
                </a:solidFill>
                <a:latin typeface="Consolas"/>
              </a:rPr>
              <a:t>    tx.evidence.append(...)        # same transaction — DR-4</a:t>
            </a:r>
          </a:p>
          <a:p>
            <a:pPr>
              <a:lnSpc>
                <a:spcPct val="134000"/>
              </a:lnSpc>
              <a:spcBef>
                <a:spcPts val="0"/>
              </a:spcBef>
              <a:spcAft>
                <a:spcPts val="0"/>
              </a:spcAft>
            </a:pPr>
            <a:r>
              <a:rPr sz="1000" b="0" i="0">
                <a:solidFill>
                  <a:srgbClr val="1C1C1E"/>
                </a:solidFill>
                <a:latin typeface="Consolas"/>
              </a:rPr>
              <a:t>    tx.audit.write(...)            # same transaction</a:t>
            </a:r>
          </a:p>
          <a:p>
            <a:pPr>
              <a:lnSpc>
                <a:spcPct val="134000"/>
              </a:lnSpc>
              <a:spcBef>
                <a:spcPts val="0"/>
              </a:spcBef>
              <a:spcAft>
                <a:spcPts val="0"/>
              </a:spcAft>
            </a:pPr>
            <a:r>
              <a:rPr sz="1000" b="0" i="0">
                <a:solidFill>
                  <a:srgbClr val="1C1C1E"/>
                </a:solidFill>
                <a:latin typeface="Consolas"/>
              </a:rPr>
              <a:t>    tx.outbox.put(event)           # the only way out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commit → relay → Kafka / Delta / cache invalidation</a:t>
            </a:r>
          </a:p>
        </p:txBody>
      </p:sp>
      <p:sp>
        <p:nvSpPr>
          <p:cNvPr id="14" name="TextBox 13"/>
          <p:cNvSpPr txBox="1"/>
          <p:nvPr/>
        </p:nvSpPr>
        <p:spPr>
          <a:xfrm>
            <a:off x="777240" y="3677259"/>
            <a:ext cx="5531351" cy="20116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Rules that follow</a:t>
            </a:r>
          </a:p>
          <a:p>
            <a:pPr>
              <a:spcBef>
                <a:spcPts val="0"/>
              </a:spcBef>
              <a:spcAft>
                <a:spcPts val="600"/>
              </a:spcAft>
            </a:pPr>
            <a:r>
              <a:rPr sz="1100" b="1">
                <a:solidFill>
                  <a:srgbClr val="A51C30"/>
                </a:solidFill>
                <a:latin typeface="Calibri"/>
              </a:rPr>
              <a:t>▪  </a:t>
            </a:r>
            <a:r>
              <a:rPr sz="1100">
                <a:solidFill>
                  <a:srgbClr val="1C1C1E"/>
                </a:solidFill>
                <a:latin typeface="Calibri"/>
              </a:rPr>
              <a:t>Nothing outside platform/db opens a transaction — components receive a UnitOfWork</a:t>
            </a:r>
          </a:p>
          <a:p>
            <a:pPr>
              <a:spcBef>
                <a:spcPts val="0"/>
              </a:spcBef>
              <a:spcAft>
                <a:spcPts val="600"/>
              </a:spcAft>
            </a:pPr>
            <a:r>
              <a:rPr sz="1100" b="1">
                <a:solidFill>
                  <a:srgbClr val="A51C30"/>
                </a:solidFill>
                <a:latin typeface="Calibri"/>
              </a:rPr>
              <a:t>▪  </a:t>
            </a:r>
            <a:r>
              <a:rPr sz="1100">
                <a:solidFill>
                  <a:srgbClr val="1C1C1E"/>
                </a:solidFill>
                <a:latin typeface="Calibri"/>
              </a:rPr>
              <a:t>A derived value and its derivation record commit together, or neither does</a:t>
            </a:r>
          </a:p>
          <a:p>
            <a:pPr>
              <a:spcBef>
                <a:spcPts val="0"/>
              </a:spcBef>
              <a:spcAft>
                <a:spcPts val="600"/>
              </a:spcAft>
            </a:pPr>
            <a:r>
              <a:rPr sz="1100" b="1">
                <a:solidFill>
                  <a:srgbClr val="A51C30"/>
                </a:solidFill>
                <a:latin typeface="Calibri"/>
              </a:rPr>
              <a:t>▪  </a:t>
            </a:r>
            <a:r>
              <a:rPr sz="1100">
                <a:solidFill>
                  <a:srgbClr val="1C1C1E"/>
                </a:solidFill>
                <a:latin typeface="Calibri"/>
              </a:rPr>
              <a:t>Every Delta write carries outbox_id and MERGEs on it, so at-least-once delivery is safe</a:t>
            </a:r>
          </a:p>
          <a:p>
            <a:pPr>
              <a:spcBef>
                <a:spcPts val="0"/>
              </a:spcBef>
              <a:spcAft>
                <a:spcPts val="600"/>
              </a:spcAft>
            </a:pPr>
            <a:r>
              <a:rPr sz="1100" b="1">
                <a:solidFill>
                  <a:srgbClr val="A51C30"/>
                </a:solidFill>
                <a:latin typeface="Calibri"/>
              </a:rPr>
              <a:t>▪  </a:t>
            </a:r>
            <a:r>
              <a:rPr sz="1100">
                <a:solidFill>
                  <a:srgbClr val="1C1C1E"/>
                </a:solidFill>
                <a:latin typeface="Calibri"/>
              </a:rPr>
              <a:t>Nightly reconciliation compares outbox(done) against Delta counts — with a defined repair action, not merely an alert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Partitioning and retention</a:t>
            </a:r>
          </a:p>
        </p:txBody>
      </p:sp>
      <p:graphicFrame>
        <p:nvGraphicFramePr>
          <p:cNvPr id="16" name="Table 15"/>
          <p:cNvGraphicFramePr>
            <a:graphicFrameLocks noGrp="1"/>
          </p:cNvGraphicFramePr>
          <p:nvPr/>
        </p:nvGraphicFramePr>
        <p:xfrm>
          <a:off x="6734080" y="1719072"/>
          <a:ext cx="4680373" cy="1951456"/>
        </p:xfrm>
        <a:graphic>
          <a:graphicData uri="http://schemas.openxmlformats.org/drawingml/2006/table">
            <a:tbl>
              <a:tblPr firstRow="1">
                <a:tableStyleId>{5C22544A-7EE6-4342-B048-85BDC9FD1C3A}</a:tableStyleId>
              </a:tblPr>
              <a:tblGrid>
                <a:gridCol w="1608878"/>
                <a:gridCol w="1901402"/>
                <a:gridCol w="1170093"/>
              </a:tblGrid>
              <a:tr h="329184">
                <a:tc>
                  <a:txBody>
                    <a:bodyPr wrap="square"/>
                    <a:lstStyle/>
                    <a:p>
                      <a:pPr algn="l"/>
                      <a:r>
                        <a:rPr sz="1000" b="1">
                          <a:solidFill>
                            <a:srgbClr val="FFFFFF"/>
                          </a:solidFill>
                          <a:latin typeface="Calibri"/>
                        </a:rPr>
                        <a:t>Table</a:t>
                      </a:r>
                    </a:p>
                  </a:txBody>
                  <a:tcPr marL="82296" marR="64008" marT="32004" marB="32004" anchor="ctr">
                    <a:solidFill>
                      <a:srgbClr val="A51C30"/>
                    </a:solidFill>
                  </a:tcPr>
                </a:tc>
                <a:tc>
                  <a:txBody>
                    <a:bodyPr wrap="square"/>
                    <a:lstStyle/>
                    <a:p>
                      <a:pPr algn="l"/>
                      <a:r>
                        <a:rPr sz="1000" b="1">
                          <a:solidFill>
                            <a:srgbClr val="FFFFFF"/>
                          </a:solidFill>
                          <a:latin typeface="Calibri"/>
                        </a:rPr>
                        <a:t>Partition</a:t>
                      </a:r>
                    </a:p>
                  </a:txBody>
                  <a:tcPr marL="82296" marR="64008" marT="32004" marB="32004" anchor="ctr">
                    <a:solidFill>
                      <a:srgbClr val="A51C30"/>
                    </a:solidFill>
                  </a:tcPr>
                </a:tc>
                <a:tc>
                  <a:txBody>
                    <a:bodyPr wrap="square"/>
                    <a:lstStyle/>
                    <a:p>
                      <a:pPr algn="l"/>
                      <a:r>
                        <a:rPr sz="1000" b="1">
                          <a:solidFill>
                            <a:srgbClr val="FFFFFF"/>
                          </a:solidFill>
                          <a:latin typeface="Calibri"/>
                        </a:rPr>
                        <a:t>Retention</a:t>
                      </a:r>
                    </a:p>
                  </a:txBody>
                  <a:tcPr marL="82296" marR="64008" marT="32004" marB="32004" anchor="ctr">
                    <a:solidFill>
                      <a:srgbClr val="A51C30"/>
                    </a:solidFill>
                  </a:tcPr>
                </a:tc>
              </a:tr>
              <a:tr h="384048">
                <a:tc>
                  <a:txBody>
                    <a:bodyPr wrap="square"/>
                    <a:lstStyle/>
                    <a:p>
                      <a:pPr algn="l"/>
                      <a:r>
                        <a:rPr sz="950" b="1">
                          <a:solidFill>
                            <a:srgbClr val="A51C30"/>
                          </a:solidFill>
                          <a:latin typeface="Calibri"/>
                        </a:rPr>
                        <a:t>audit_log</a:t>
                      </a:r>
                    </a:p>
                  </a:txBody>
                  <a:tcPr marL="82296" marR="64008" marT="32004" marB="32004" anchor="ctr">
                    <a:solidFill>
                      <a:srgbClr val="FFFFFF"/>
                    </a:solidFill>
                  </a:tcPr>
                </a:tc>
                <a:tc>
                  <a:txBody>
                    <a:bodyPr wrap="square"/>
                    <a:lstStyle/>
                    <a:p>
                      <a:pPr algn="l"/>
                      <a:r>
                        <a:rPr sz="950" b="0">
                          <a:solidFill>
                            <a:srgbClr val="1C1C1E"/>
                          </a:solidFill>
                          <a:latin typeface="Calibri"/>
                        </a:rPr>
                        <a:t>Monthly, separate database</a:t>
                      </a:r>
                    </a:p>
                  </a:txBody>
                  <a:tcPr marL="82296" marR="64008" marT="32004" marB="32004" anchor="ctr">
                    <a:solidFill>
                      <a:srgbClr val="FFFFFF"/>
                    </a:solidFill>
                  </a:tcPr>
                </a:tc>
                <a:tc>
                  <a:txBody>
                    <a:bodyPr wrap="square"/>
                    <a:lstStyle/>
                    <a:p>
                      <a:pPr algn="l"/>
                      <a:r>
                        <a:rPr sz="950" b="0">
                          <a:solidFill>
                            <a:srgbClr val="1C1C1E"/>
                          </a:solidFill>
                          <a:latin typeface="Calibri"/>
                        </a:rPr>
                        <a:t>10 y, WORM</a:t>
                      </a:r>
                    </a:p>
                  </a:txBody>
                  <a:tcPr marL="82296" marR="64008" marT="32004" marB="32004" anchor="ctr">
                    <a:solidFill>
                      <a:srgbClr val="FFFFFF"/>
                    </a:solidFill>
                  </a:tcPr>
                </a:tc>
              </a:tr>
              <a:tr h="384048">
                <a:tc>
                  <a:txBody>
                    <a:bodyPr wrap="square"/>
                    <a:lstStyle/>
                    <a:p>
                      <a:pPr algn="l"/>
                      <a:r>
                        <a:rPr sz="950" b="1">
                          <a:solidFill>
                            <a:srgbClr val="A51C30"/>
                          </a:solidFill>
                          <a:latin typeface="Calibri"/>
                        </a:rPr>
                        <a:t>evidence_node</a:t>
                      </a:r>
                    </a:p>
                  </a:txBody>
                  <a:tcPr marL="82296" marR="64008" marT="32004" marB="32004" anchor="ctr">
                    <a:solidFill>
                      <a:srgbClr val="F6F3EF"/>
                    </a:solidFill>
                  </a:tcPr>
                </a:tc>
                <a:tc>
                  <a:txBody>
                    <a:bodyPr wrap="square"/>
                    <a:lstStyle/>
                    <a:p>
                      <a:pPr algn="l"/>
                      <a:r>
                        <a:rPr sz="950" b="0">
                          <a:solidFill>
                            <a:srgbClr val="1C1C1E"/>
                          </a:solidFill>
                          <a:latin typeface="Calibri"/>
                        </a:rPr>
                        <a:t>Monthly</a:t>
                      </a:r>
                    </a:p>
                  </a:txBody>
                  <a:tcPr marL="82296" marR="64008" marT="32004" marB="32004" anchor="ctr">
                    <a:solidFill>
                      <a:srgbClr val="F6F3EF"/>
                    </a:solidFill>
                  </a:tcPr>
                </a:tc>
                <a:tc>
                  <a:txBody>
                    <a:bodyPr wrap="square"/>
                    <a:lstStyle/>
                    <a:p>
                      <a:pPr algn="l"/>
                      <a:r>
                        <a:rPr sz="950" b="0">
                          <a:solidFill>
                            <a:srgbClr val="1C1C1E"/>
                          </a:solidFill>
                          <a:latin typeface="Calibri"/>
                        </a:rPr>
                        <a:t>Life + 10 y</a:t>
                      </a:r>
                    </a:p>
                  </a:txBody>
                  <a:tcPr marL="82296" marR="64008" marT="32004" marB="32004" anchor="ctr">
                    <a:solidFill>
                      <a:srgbClr val="F6F3EF"/>
                    </a:solidFill>
                  </a:tcPr>
                </a:tc>
              </a:tr>
              <a:tr h="384048">
                <a:tc>
                  <a:txBody>
                    <a:bodyPr wrap="square"/>
                    <a:lstStyle/>
                    <a:p>
                      <a:pPr algn="l"/>
                      <a:r>
                        <a:rPr sz="950" b="1">
                          <a:solidFill>
                            <a:srgbClr val="A51C30"/>
                          </a:solidFill>
                          <a:latin typeface="Calibri"/>
                        </a:rPr>
                        <a:t>ai_generation</a:t>
                      </a:r>
                    </a:p>
                  </a:txBody>
                  <a:tcPr marL="82296" marR="64008" marT="32004" marB="32004" anchor="ctr">
                    <a:solidFill>
                      <a:srgbClr val="FFFFFF"/>
                    </a:solidFill>
                  </a:tcPr>
                </a:tc>
                <a:tc>
                  <a:txBody>
                    <a:bodyPr wrap="square"/>
                    <a:lstStyle/>
                    <a:p>
                      <a:pPr algn="l"/>
                      <a:r>
                        <a:rPr sz="950" b="0">
                          <a:solidFill>
                            <a:srgbClr val="1C1C1E"/>
                          </a:solidFill>
                          <a:latin typeface="Calibri"/>
                        </a:rPr>
                        <a:t>Monthly</a:t>
                      </a:r>
                    </a:p>
                  </a:txBody>
                  <a:tcPr marL="82296" marR="64008" marT="32004" marB="32004" anchor="ctr">
                    <a:solidFill>
                      <a:srgbClr val="FFFFFF"/>
                    </a:solidFill>
                  </a:tcPr>
                </a:tc>
                <a:tc>
                  <a:txBody>
                    <a:bodyPr wrap="square"/>
                    <a:lstStyle/>
                    <a:p>
                      <a:pPr algn="l"/>
                      <a:r>
                        <a:rPr sz="950" b="0">
                          <a:solidFill>
                            <a:srgbClr val="1C1C1E"/>
                          </a:solidFill>
                          <a:latin typeface="Calibri"/>
                        </a:rPr>
                        <a:t>3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inference_log (Delta)</a:t>
                      </a:r>
                    </a:p>
                  </a:txBody>
                  <a:tcPr marL="82296" marR="64008" marT="32004" marB="32004" anchor="ctr">
                    <a:solidFill>
                      <a:srgbClr val="F6F3EF"/>
                    </a:solidFill>
                  </a:tcPr>
                </a:tc>
                <a:tc>
                  <a:txBody>
                    <a:bodyPr wrap="square"/>
                    <a:lstStyle/>
                    <a:p>
                      <a:pPr algn="l"/>
                      <a:r>
                        <a:rPr sz="950" b="0">
                          <a:solidFill>
                            <a:srgbClr val="1C1C1E"/>
                          </a:solidFill>
                          <a:latin typeface="Calibri"/>
                        </a:rPr>
                        <a:t>By date, clustered by model_urn</a:t>
                      </a:r>
                    </a:p>
                  </a:txBody>
                  <a:tcPr marL="82296" marR="64008" marT="32004" marB="32004" anchor="ctr">
                    <a:solidFill>
                      <a:srgbClr val="F6F3EF"/>
                    </a:solidFill>
                  </a:tcPr>
                </a:tc>
                <a:tc>
                  <a:txBody>
                    <a:bodyPr wrap="square"/>
                    <a:lstStyle/>
                    <a:p>
                      <a:pPr algn="l"/>
                      <a:r>
                        <a:rPr sz="950" b="0">
                          <a:solidFill>
                            <a:srgbClr val="1C1C1E"/>
                          </a:solidFill>
                          <a:latin typeface="Calibri"/>
                        </a:rPr>
                        <a:t>Per regulatory class</a:t>
                      </a:r>
                    </a:p>
                  </a:txBody>
                  <a:tcPr marL="82296" marR="64008" marT="32004" marB="32004" anchor="ctr">
                    <a:solidFill>
                      <a:srgbClr val="F6F3EF"/>
                    </a:solidFill>
                  </a:tcPr>
                </a:tc>
              </a:tr>
            </a:tbl>
          </a:graphicData>
        </a:graphic>
      </p:graphicFrame>
      <p:sp>
        <p:nvSpPr>
          <p:cNvPr id="17" name="Rectangle 16"/>
          <p:cNvSpPr/>
          <p:nvPr/>
        </p:nvSpPr>
        <p:spPr>
          <a:xfrm>
            <a:off x="6734080" y="3685031"/>
            <a:ext cx="4680374"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734080" y="368503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971824" y="3813048"/>
            <a:ext cx="4223174" cy="86868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Audit lives on its own database. </a:t>
            </a:r>
            <a:r>
              <a:rPr sz="1100" b="0" i="0">
                <a:solidFill>
                  <a:srgbClr val="1C1C1E"/>
                </a:solidFill>
                <a:latin typeface="Calibri"/>
              </a:rPr>
              <a:t>It is write-heavy and cannot be lost; evidence traversal is read-heavy and recursive. On one primary they compete.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CORRECTNESS UNDER LOAD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Concurrency, idempotency, caching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131</a:t>
            </a:r>
          </a:p>
        </p:txBody>
      </p:sp>
      <p:graphicFrame>
        <p:nvGraphicFramePr>
          <p:cNvPr id="10" name="Table 9"/>
          <p:cNvGraphicFramePr>
            <a:graphicFrameLocks noGrp="1"/>
          </p:cNvGraphicFramePr>
          <p:nvPr/>
        </p:nvGraphicFramePr>
        <p:xfrm>
          <a:off x="777240" y="1353312"/>
          <a:ext cx="5637723" cy="3338193"/>
        </p:xfrm>
        <a:graphic>
          <a:graphicData uri="http://schemas.openxmlformats.org/drawingml/2006/table">
            <a:tbl>
              <a:tblPr firstRow="1">
                <a:tableStyleId>{5C22544A-7EE6-4342-B048-85BDC9FD1C3A}</a:tableStyleId>
              </a:tblPr>
              <a:tblGrid>
                <a:gridCol w="2220921"/>
                <a:gridCol w="3416802"/>
              </a:tblGrid>
              <a:tr h="333781">
                <a:tc>
                  <a:txBody>
                    <a:bodyPr wrap="square"/>
                    <a:lstStyle/>
                    <a:p>
                      <a:pPr algn="l"/>
                      <a:r>
                        <a:rPr sz="1100" b="1">
                          <a:solidFill>
                            <a:srgbClr val="FFFFFF"/>
                          </a:solidFill>
                          <a:latin typeface="Calibri"/>
                        </a:rPr>
                        <a:t>Hazard</a:t>
                      </a:r>
                    </a:p>
                  </a:txBody>
                  <a:tcPr marL="82296" marR="64008" marT="32004" marB="32004" anchor="ctr">
                    <a:solidFill>
                      <a:srgbClr val="A51C30"/>
                    </a:solidFill>
                  </a:tcPr>
                </a:tc>
                <a:tc>
                  <a:txBody>
                    <a:bodyPr wrap="square"/>
                    <a:lstStyle/>
                    <a:p>
                      <a:pPr algn="l"/>
                      <a:r>
                        <a:rPr sz="1100" b="1">
                          <a:solidFill>
                            <a:srgbClr val="FFFFFF"/>
                          </a:solidFill>
                          <a:latin typeface="Calibri"/>
                        </a:rPr>
                        <a:t>Control</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Concurrent alias moves</a:t>
                      </a:r>
                    </a:p>
                  </a:txBody>
                  <a:tcPr marL="82296" marR="64008" marT="32004" marB="32004" anchor="ctr">
                    <a:solidFill>
                      <a:srgbClr val="FFFFFF"/>
                    </a:solidFill>
                  </a:tcPr>
                </a:tc>
                <a:tc>
                  <a:txBody>
                    <a:bodyPr wrap="square"/>
                    <a:lstStyle/>
                    <a:p>
                      <a:pPr algn="l"/>
                      <a:r>
                        <a:rPr sz="1050" b="0">
                          <a:solidFill>
                            <a:srgbClr val="1C1C1E"/>
                          </a:solidFill>
                          <a:latin typeface="Calibri"/>
                        </a:rPr>
                        <a:t>Postgres advisory lock per (model, environment)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Concurrent version creation</a:t>
                      </a:r>
                    </a:p>
                  </a:txBody>
                  <a:tcPr marL="82296" marR="64008" marT="32004" marB="32004" anchor="ctr">
                    <a:solidFill>
                      <a:srgbClr val="F6F3EF"/>
                    </a:solidFill>
                  </a:tcPr>
                </a:tc>
                <a:tc>
                  <a:txBody>
                    <a:bodyPr wrap="square"/>
                    <a:lstStyle/>
                    <a:p>
                      <a:pPr algn="l"/>
                      <a:r>
                        <a:rPr sz="1050" b="0">
                          <a:solidFill>
                            <a:srgbClr val="1C1C1E"/>
                          </a:solidFill>
                          <a:latin typeface="Calibri"/>
                        </a:rPr>
                        <a:t>Unique (model_id, semver); content-addressed artifacts deduplicate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contention</a:t>
                      </a:r>
                    </a:p>
                  </a:txBody>
                  <a:tcPr marL="82296" marR="64008" marT="32004" marB="32004" anchor="ctr">
                    <a:solidFill>
                      <a:srgbClr val="FFFFFF"/>
                    </a:solidFill>
                  </a:tcPr>
                </a:tc>
                <a:tc>
                  <a:txBody>
                    <a:bodyPr wrap="square"/>
                    <a:lstStyle/>
                    <a:p>
                      <a:pPr algn="l"/>
                      <a:r>
                        <a:rPr sz="1050" b="0">
                          <a:solidFill>
                            <a:srgbClr val="1C1C1E"/>
                          </a:solidFill>
                          <a:latin typeface="Calibri"/>
                        </a:rPr>
                        <a:t>Short lock around seq allocation only; append is O(1)</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Duplicate API submissions</a:t>
                      </a:r>
                    </a:p>
                  </a:txBody>
                  <a:tcPr marL="82296" marR="64008" marT="32004" marB="32004" anchor="ctr">
                    <a:solidFill>
                      <a:srgbClr val="F6F3EF"/>
                    </a:solidFill>
                  </a:tcPr>
                </a:tc>
                <a:tc>
                  <a:txBody>
                    <a:bodyPr wrap="square"/>
                    <a:lstStyle/>
                    <a:p>
                      <a:pPr algn="l"/>
                      <a:r>
                        <a:rPr sz="1050" b="0">
                          <a:solidFill>
                            <a:srgbClr val="1C1C1E"/>
                          </a:solidFill>
                          <a:latin typeface="Calibri"/>
                        </a:rPr>
                        <a:t>Idempotency-Key with a 24-hour replay of the original response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Lost updates on inventory edits</a:t>
                      </a:r>
                    </a:p>
                  </a:txBody>
                  <a:tcPr marL="82296" marR="64008" marT="32004" marB="32004" anchor="ctr">
                    <a:solidFill>
                      <a:srgbClr val="FFFFF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Duplicate outbox delivery</a:t>
                      </a:r>
                    </a:p>
                  </a:txBody>
                  <a:tcPr marL="82296" marR="64008" marT="32004" marB="32004" anchor="ctr">
                    <a:solidFill>
                      <a:srgbClr val="F6F3EF"/>
                    </a:solidFill>
                  </a:tcPr>
                </a:tc>
                <a:tc>
                  <a:txBody>
                    <a:bodyPr wrap="square"/>
                    <a:lstStyle/>
                    <a:p>
                      <a:pPr algn="l"/>
                      <a:r>
                        <a:rPr sz="1050" b="0">
                          <a:solidFill>
                            <a:srgbClr val="1C1C1E"/>
                          </a:solidFill>
                          <a:latin typeface="Calibri"/>
                        </a:rPr>
                        <a:t>MERGE on outbox_id</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Concurrent materialisation</a:t>
                      </a:r>
                    </a:p>
                  </a:txBody>
                  <a:tcPr marL="82296" marR="64008" marT="32004" marB="32004" anchor="ctr">
                    <a:solidFill>
                      <a:srgbClr val="FFFFFF"/>
                    </a:solidFill>
                  </a:tcPr>
                </a:tc>
                <a:tc>
                  <a:txBody>
                    <a:bodyPr wrap="square"/>
                    <a:lstStyle/>
                    <a:p>
                      <a:pPr algn="l"/>
                      <a:r>
                        <a:rPr sz="1050" b="0">
                          <a:solidFill>
                            <a:srgbClr val="1C1C1E"/>
                          </a:solidFill>
                          <a:latin typeface="Calibri"/>
                        </a:rPr>
                        <a:t>Delta ACID; view version pinned per job</a:t>
                      </a:r>
                    </a:p>
                  </a:txBody>
                  <a:tcPr marL="82296" marR="64008" marT="32004" marB="32004" anchor="ctr">
                    <a:solidFill>
                      <a:srgbClr val="FFFFFF"/>
                    </a:solidFill>
                  </a:tcPr>
                </a:tc>
              </a:tr>
            </a:tbl>
          </a:graphicData>
        </a:graphic>
      </p:graphicFrame>
      <p:sp>
        <p:nvSpPr>
          <p:cNvPr id="11" name="TextBox 10"/>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Cache inventory</a:t>
            </a:r>
          </a:p>
        </p:txBody>
      </p:sp>
      <p:graphicFrame>
        <p:nvGraphicFramePr>
          <p:cNvPr id="12" name="Table 11"/>
          <p:cNvGraphicFramePr>
            <a:graphicFrameLocks noGrp="1"/>
          </p:cNvGraphicFramePr>
          <p:nvPr/>
        </p:nvGraphicFramePr>
        <p:xfrm>
          <a:off x="6840452" y="1719072"/>
          <a:ext cx="4574000" cy="2513024"/>
        </p:xfrm>
        <a:graphic>
          <a:graphicData uri="http://schemas.openxmlformats.org/drawingml/2006/table">
            <a:tbl>
              <a:tblPr firstRow="1">
                <a:tableStyleId>{5C22544A-7EE6-4342-B048-85BDC9FD1C3A}</a:tableStyleId>
              </a:tblPr>
              <a:tblGrid>
                <a:gridCol w="1783085"/>
                <a:gridCol w="1317932"/>
                <a:gridCol w="1472983"/>
              </a:tblGrid>
              <a:tr h="329184">
                <a:tc>
                  <a:txBody>
                    <a:bodyPr wrap="square"/>
                    <a:lstStyle/>
                    <a:p>
                      <a:pPr algn="l"/>
                      <a:r>
                        <a:rPr sz="1000" b="1">
                          <a:solidFill>
                            <a:srgbClr val="FFFFFF"/>
                          </a:solidFill>
                          <a:latin typeface="Calibri"/>
                        </a:rPr>
                        <a:t>Cache</a:t>
                      </a:r>
                    </a:p>
                  </a:txBody>
                  <a:tcPr marL="82296" marR="64008" marT="32004" marB="32004" anchor="ctr">
                    <a:solidFill>
                      <a:srgbClr val="A51C30"/>
                    </a:solidFill>
                  </a:tcPr>
                </a:tc>
                <a:tc>
                  <a:txBody>
                    <a:bodyPr wrap="square"/>
                    <a:lstStyle/>
                    <a:p>
                      <a:pPr algn="l"/>
                      <a:r>
                        <a:rPr sz="1000" b="1">
                          <a:solidFill>
                            <a:srgbClr val="FFFFFF"/>
                          </a:solidFill>
                          <a:latin typeface="Calibri"/>
                        </a:rPr>
                        <a:t>TTL</a:t>
                      </a:r>
                    </a:p>
                  </a:txBody>
                  <a:tcPr marL="82296" marR="64008" marT="32004" marB="32004" anchor="ctr">
                    <a:solidFill>
                      <a:srgbClr val="A51C30"/>
                    </a:solidFill>
                  </a:tcPr>
                </a:tc>
                <a:tc>
                  <a:txBody>
                    <a:bodyPr wrap="square"/>
                    <a:lstStyle/>
                    <a:p>
                      <a:pPr algn="l"/>
                      <a:r>
                        <a:rPr sz="1000" b="1">
                          <a:solidFill>
                            <a:srgbClr val="FFFFFF"/>
                          </a:solidFill>
                          <a:latin typeface="Calibri"/>
                        </a:rPr>
                        <a:t>Invalidation</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Warrant descriptor (Redis)</a:t>
                      </a:r>
                    </a:p>
                  </a:txBody>
                  <a:tcPr marL="82296" marR="64008" marT="32004" marB="32004" anchor="ctr">
                    <a:solidFill>
                      <a:srgbClr val="FFFFFF"/>
                    </a:solidFill>
                  </a:tcPr>
                </a:tc>
                <a:tc>
                  <a:txBody>
                    <a:bodyPr wrap="square"/>
                    <a:lstStyle/>
                    <a:p>
                      <a:pPr algn="l"/>
                      <a:r>
                        <a:rPr sz="950" b="0">
                          <a:solidFill>
                            <a:srgbClr val="1C1C1E"/>
                          </a:solidFill>
                          <a:latin typeface="Calibri"/>
                        </a:rPr>
                        <a:t>60 s – 1 h by tier</a:t>
                      </a:r>
                    </a:p>
                  </a:txBody>
                  <a:tcPr marL="82296" marR="64008" marT="32004" marB="32004" anchor="ctr">
                    <a:solidFill>
                      <a:srgbClr val="FFFFFF"/>
                    </a:solidFill>
                  </a:tcPr>
                </a:tc>
                <a:tc>
                  <a:txBody>
                    <a:bodyPr wrap="square"/>
                    <a:lstStyle/>
                    <a:p>
                      <a:pPr algn="l"/>
                      <a:r>
                        <a:rPr sz="950" b="0">
                          <a:solidFill>
                            <a:srgbClr val="1C1C1E"/>
                          </a:solidFill>
                          <a:latin typeface="Calibri"/>
                        </a:rPr>
                        <a:t>Pre-warm, then swap</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Warrant descriptor (LRU)</a:t>
                      </a:r>
                    </a:p>
                  </a:txBody>
                  <a:tcPr marL="82296" marR="64008" marT="32004" marB="32004" anchor="ctr">
                    <a:solidFill>
                      <a:srgbClr val="F6F3EF"/>
                    </a:solidFill>
                  </a:tcPr>
                </a:tc>
                <a:tc>
                  <a:txBody>
                    <a:bodyPr wrap="square"/>
                    <a:lstStyle/>
                    <a:p>
                      <a:pPr algn="l"/>
                      <a:r>
                        <a:rPr sz="950" b="0">
                          <a:solidFill>
                            <a:srgbClr val="1C1C1E"/>
                          </a:solidFill>
                          <a:latin typeface="Calibri"/>
                        </a:rPr>
                        <a:t>≤ TTL</a:t>
                      </a:r>
                    </a:p>
                  </a:txBody>
                  <a:tcPr marL="82296" marR="64008" marT="32004" marB="32004" anchor="ctr">
                    <a:solidFill>
                      <a:srgbClr val="F6F3EF"/>
                    </a:solidFill>
                  </a:tcPr>
                </a:tc>
                <a:tc>
                  <a:txBody>
                    <a:bodyPr wrap="square"/>
                    <a:lstStyle/>
                    <a:p>
                      <a:pPr algn="l"/>
                      <a:r>
                        <a:rPr sz="950" b="0">
                          <a:solidFill>
                            <a:srgbClr val="1C1C1E"/>
                          </a:solidFill>
                          <a:latin typeface="Calibri"/>
                        </a:rPr>
                        <a:t>Epoch bump</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Inventory summary</a:t>
                      </a:r>
                    </a:p>
                  </a:txBody>
                  <a:tcPr marL="82296" marR="64008" marT="32004" marB="32004" anchor="ctr">
                    <a:solidFill>
                      <a:srgbClr val="FFFFFF"/>
                    </a:solidFill>
                  </a:tcPr>
                </a:tc>
                <a:tc>
                  <a:txBody>
                    <a:bodyPr wrap="square"/>
                    <a:lstStyle/>
                    <a:p>
                      <a:pPr algn="l"/>
                      <a:r>
                        <a:rPr sz="950" b="0">
                          <a:solidFill>
                            <a:srgbClr val="1C1C1E"/>
                          </a:solidFill>
                          <a:latin typeface="Calibri"/>
                        </a:rPr>
                        <a:t>materialised</a:t>
                      </a:r>
                    </a:p>
                  </a:txBody>
                  <a:tcPr marL="82296" marR="64008" marT="32004" marB="32004" anchor="ctr">
                    <a:solidFill>
                      <a:srgbClr val="FFFFFF"/>
                    </a:solidFill>
                  </a:tcPr>
                </a:tc>
                <a:tc>
                  <a:txBody>
                    <a:bodyPr wrap="square"/>
                    <a:lstStyle/>
                    <a:p>
                      <a:pPr algn="l"/>
                      <a:r>
                        <a:rPr sz="950" b="0">
                          <a:solidFill>
                            <a:srgbClr val="1C1C1E"/>
                          </a:solidFill>
                          <a:latin typeface="Calibri"/>
                        </a:rPr>
                        <a:t>Domain event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Rendered documents</a:t>
                      </a:r>
                    </a:p>
                  </a:txBody>
                  <a:tcPr marL="82296" marR="64008" marT="32004" marB="32004" anchor="ctr">
                    <a:solidFill>
                      <a:srgbClr val="F6F3EF"/>
                    </a:solidFill>
                  </a:tcPr>
                </a:tc>
                <a:tc>
                  <a:txBody>
                    <a:bodyPr wrap="square"/>
                    <a:lstStyle/>
                    <a:p>
                      <a:pPr algn="l"/>
                      <a:r>
                        <a:rPr sz="950" b="0">
                          <a:solidFill>
                            <a:srgbClr val="1C1C1E"/>
                          </a:solidFill>
                          <a:latin typeface="Calibri"/>
                        </a:rPr>
                        <a:t>indefinite</a:t>
                      </a:r>
                    </a:p>
                  </a:txBody>
                  <a:tcPr marL="82296" marR="64008" marT="32004" marB="32004" anchor="ctr">
                    <a:solidFill>
                      <a:srgbClr val="F6F3EF"/>
                    </a:solidFill>
                  </a:tcPr>
                </a:tc>
                <a:tc>
                  <a:txBody>
                    <a:bodyPr wrap="square"/>
                    <a:lstStyle/>
                    <a:p>
                      <a:pPr algn="l"/>
                      <a:r>
                        <a:rPr sz="950" b="0">
                          <a:solidFill>
                            <a:srgbClr val="1C1C1E"/>
                          </a:solidFill>
                          <a:latin typeface="Calibri"/>
                        </a:rPr>
                        <a:t>evidence_digest change</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Blast-radius closure</a:t>
                      </a:r>
                    </a:p>
                  </a:txBody>
                  <a:tcPr marL="82296" marR="64008" marT="32004" marB="32004" anchor="ctr">
                    <a:solidFill>
                      <a:srgbClr val="FFFFFF"/>
                    </a:solidFill>
                  </a:tcPr>
                </a:tc>
                <a:tc>
                  <a:txBody>
                    <a:bodyPr wrap="square"/>
                    <a:lstStyle/>
                    <a:p>
                      <a:pPr algn="l"/>
                      <a:r>
                        <a:rPr sz="950" b="0">
                          <a:solidFill>
                            <a:srgbClr val="1C1C1E"/>
                          </a:solidFill>
                          <a:latin typeface="Calibri"/>
                        </a:rPr>
                        <a:t>24 h</a:t>
                      </a:r>
                    </a:p>
                  </a:txBody>
                  <a:tcPr marL="82296" marR="64008" marT="32004" marB="32004" anchor="ctr">
                    <a:solidFill>
                      <a:srgbClr val="FFFFFF"/>
                    </a:solidFill>
                  </a:tcPr>
                </a:tc>
                <a:tc>
                  <a:txBody>
                    <a:bodyPr wrap="square"/>
                    <a:lstStyle/>
                    <a:p>
                      <a:pPr algn="l"/>
                      <a:r>
                        <a:rPr sz="950" b="0">
                          <a:solidFill>
                            <a:srgbClr val="1C1C1E"/>
                          </a:solidFill>
                          <a:latin typeface="Calibri"/>
                        </a:rPr>
                        <a:t>Edge change</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Policy bundles</a:t>
                      </a:r>
                    </a:p>
                  </a:txBody>
                  <a:tcPr marL="82296" marR="64008" marT="32004" marB="32004" anchor="ctr">
                    <a:solidFill>
                      <a:srgbClr val="F6F3EF"/>
                    </a:solidFill>
                  </a:tcPr>
                </a:tc>
                <a:tc>
                  <a:txBody>
                    <a:bodyPr wrap="square"/>
                    <a:lstStyle/>
                    <a:p>
                      <a:pPr algn="l"/>
                      <a:r>
                        <a:rPr sz="950" b="0">
                          <a:solidFill>
                            <a:srgbClr val="1C1C1E"/>
                          </a:solidFill>
                          <a:latin typeface="Calibri"/>
                        </a:rPr>
                        <a:t>version</a:t>
                      </a:r>
                    </a:p>
                  </a:txBody>
                  <a:tcPr marL="82296" marR="64008" marT="32004" marB="32004" anchor="ctr">
                    <a:solidFill>
                      <a:srgbClr val="F6F3EF"/>
                    </a:solidFill>
                  </a:tcPr>
                </a:tc>
                <a:tc>
                  <a:txBody>
                    <a:bodyPr wrap="square"/>
                    <a:lstStyle/>
                    <a:p>
                      <a:pPr algn="l"/>
                      <a:r>
                        <a:rPr sz="950" b="0">
                          <a:solidFill>
                            <a:srgbClr val="1C1C1E"/>
                          </a:solidFill>
                          <a:latin typeface="Calibri"/>
                        </a:rPr>
                        <a:t>On publish</a:t>
                      </a:r>
                    </a:p>
                  </a:txBody>
                  <a:tcPr marL="82296" marR="64008" marT="32004" marB="32004" anchor="ctr">
                    <a:solidFill>
                      <a:srgbClr val="F6F3EF"/>
                    </a:solidFill>
                  </a:tcPr>
                </a:tc>
              </a:tr>
            </a:tbl>
          </a:graphicData>
        </a:graphic>
      </p:graphicFrame>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Error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132</a:t>
            </a:r>
          </a:p>
        </p:txBody>
      </p:sp>
      <p:graphicFrame>
        <p:nvGraphicFramePr>
          <p:cNvPr id="10" name="Table 9"/>
          <p:cNvGraphicFramePr>
            <a:graphicFrameLocks noGrp="1"/>
          </p:cNvGraphicFramePr>
          <p:nvPr/>
        </p:nvGraphicFramePr>
        <p:xfrm>
          <a:off x="777240" y="1353312"/>
          <a:ext cx="10637213" cy="4130040"/>
        </p:xfrm>
        <a:graphic>
          <a:graphicData uri="http://schemas.openxmlformats.org/drawingml/2006/table">
            <a:tbl>
              <a:tblPr firstRow="1">
                <a:tableStyleId>{5C22544A-7EE6-4342-B048-85BDC9FD1C3A}</a:tableStyleId>
              </a:tblPr>
              <a:tblGrid>
                <a:gridCol w="2292503"/>
                <a:gridCol w="1100401"/>
                <a:gridCol w="3851405"/>
                <a:gridCol w="3392904"/>
              </a:tblGrid>
              <a:tr h="329184">
                <a:tc>
                  <a:txBody>
                    <a:bodyPr wrap="square"/>
                    <a:lstStyle/>
                    <a:p>
                      <a:pPr algn="l"/>
                      <a:r>
                        <a:rPr sz="1050" b="1">
                          <a:solidFill>
                            <a:srgbClr val="FFFFFF"/>
                          </a:solidFill>
                          <a:latin typeface="Calibri"/>
                        </a:rPr>
                        <a:t>Code</a:t>
                      </a:r>
                    </a:p>
                  </a:txBody>
                  <a:tcPr marL="82296" marR="64008" marT="32004" marB="32004" anchor="ctr">
                    <a:solidFill>
                      <a:srgbClr val="A51C30"/>
                    </a:solidFill>
                  </a:tcPr>
                </a:tc>
                <a:tc>
                  <a:txBody>
                    <a:bodyPr wrap="square"/>
                    <a:lstStyle/>
                    <a:p>
                      <a:pPr algn="l"/>
                      <a:r>
                        <a:rPr sz="1050" b="1">
                          <a:solidFill>
                            <a:srgbClr val="FFFFFF"/>
                          </a:solidFill>
                          <a:latin typeface="Calibri"/>
                        </a:rPr>
                        <a:t>HTTP</a:t>
                      </a:r>
                    </a:p>
                  </a:txBody>
                  <a:tcPr marL="82296" marR="64008" marT="32004" marB="32004" anchor="ctr">
                    <a:solidFill>
                      <a:srgbClr val="A51C30"/>
                    </a:solidFill>
                  </a:tcPr>
                </a:tc>
                <a:tc>
                  <a:txBody>
                    <a:bodyPr wrap="square"/>
                    <a:lstStyle/>
                    <a:p>
                      <a:pPr algn="l"/>
                      <a:r>
                        <a:rPr sz="1050" b="1">
                          <a:solidFill>
                            <a:srgbClr val="FFFFFF"/>
                          </a:solidFill>
                          <a:latin typeface="Calibri"/>
                        </a:rPr>
                        <a:t>Meaning</a:t>
                      </a:r>
                    </a:p>
                  </a:txBody>
                  <a:tcPr marL="82296" marR="64008" marT="32004" marB="32004" anchor="ctr">
                    <a:solidFill>
                      <a:srgbClr val="A51C30"/>
                    </a:solidFill>
                  </a:tcPr>
                </a:tc>
                <a:tc>
                  <a:txBody>
                    <a:bodyPr wrap="square"/>
                    <a:lstStyle/>
                    <a:p>
                      <a:pPr algn="l"/>
                      <a:r>
                        <a:rPr sz="1050" b="1">
                          <a:solidFill>
                            <a:srgbClr val="FFFFFF"/>
                          </a:solidFill>
                          <a:latin typeface="Calibri"/>
                        </a:rPr>
                        <a:t>Client action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1000" b="0">
                          <a:solidFill>
                            <a:srgbClr val="1C1C1E"/>
                          </a:solidFill>
                          <a:latin typeface="Calibri"/>
                        </a:rPr>
                        <a:t>422</a:t>
                      </a:r>
                    </a:p>
                  </a:txBody>
                  <a:tcPr marL="82296" marR="64008" marT="32004" marB="32004" anchor="ctr">
                    <a:solidFill>
                      <a:srgbClr val="FFFFFF"/>
                    </a:solidFill>
                  </a:tcPr>
                </a:tc>
                <a:tc>
                  <a:txBody>
                    <a:bodyPr wrap="square"/>
                    <a:lstStyle/>
                    <a:p>
                      <a:pPr algn="l"/>
                      <a:r>
                        <a:rPr sz="100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1000" b="0">
                          <a:solidFill>
                            <a:srgbClr val="1C1C1E"/>
                          </a:solidFill>
                          <a:latin typeface="Calibri"/>
                        </a:rPr>
                        <a:t>Fix and retry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artifact_rejected</a:t>
                      </a:r>
                    </a:p>
                  </a:txBody>
                  <a:tcPr marL="82296" marR="64008" marT="32004" marB="32004" anchor="ctr">
                    <a:solidFill>
                      <a:srgbClr val="F6F3EF"/>
                    </a:solidFill>
                  </a:tcPr>
                </a:tc>
                <a:tc>
                  <a:txBody>
                    <a:bodyPr wrap="square"/>
                    <a:lstStyle/>
                    <a:p>
                      <a:pPr algn="l"/>
                      <a:r>
                        <a:rPr sz="1000" b="0">
                          <a:solidFill>
                            <a:srgbClr val="1C1C1E"/>
                          </a:solidFill>
                          <a:latin typeface="Calibri"/>
                        </a:rPr>
                        <a:t>422</a:t>
                      </a:r>
                    </a:p>
                  </a:txBody>
                  <a:tcPr marL="82296" marR="64008" marT="32004" marB="32004" anchor="ctr">
                    <a:solidFill>
                      <a:srgbClr val="F6F3EF"/>
                    </a:solidFill>
                  </a:tcPr>
                </a:tc>
                <a:tc>
                  <a:txBody>
                    <a:bodyPr wrap="square"/>
                    <a:lstStyle/>
                    <a:p>
                      <a:pPr algn="l"/>
                      <a:r>
                        <a:rPr sz="1000" b="0">
                          <a:solidFill>
                            <a:srgbClr val="1C1C1E"/>
                          </a:solidFill>
                          <a:latin typeface="Calibri"/>
                        </a:rPr>
                        <a:t>Scan or format policy refused it</a:t>
                      </a:r>
                    </a:p>
                  </a:txBody>
                  <a:tcPr marL="82296" marR="64008" marT="32004" marB="32004" anchor="ctr">
                    <a:solidFill>
                      <a:srgbClr val="F6F3EF"/>
                    </a:solidFill>
                  </a:tcPr>
                </a:tc>
                <a:tc>
                  <a:txBody>
                    <a:bodyPr wrap="square"/>
                    <a:lstStyle/>
                    <a:p>
                      <a:pPr algn="l"/>
                      <a:r>
                        <a:rPr sz="1000" b="0">
                          <a:solidFill>
                            <a:srgbClr val="1C1C1E"/>
                          </a:solidFill>
                          <a:latin typeface="Calibri"/>
                        </a:rPr>
                        <a:t>Convert format, or request an expiring exception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transition_blocked</a:t>
                      </a:r>
                    </a:p>
                  </a:txBody>
                  <a:tcPr marL="82296" marR="64008" marT="32004" marB="32004" anchor="ctr">
                    <a:solidFill>
                      <a:srgbClr val="FFFFFF"/>
                    </a:solidFill>
                  </a:tcPr>
                </a:tc>
                <a:tc>
                  <a:txBody>
                    <a:bodyPr wrap="square"/>
                    <a:lstStyle/>
                    <a:p>
                      <a:pPr algn="l"/>
                      <a:r>
                        <a:rPr sz="1000" b="0">
                          <a:solidFill>
                            <a:srgbClr val="1C1C1E"/>
                          </a:solidFill>
                          <a:latin typeface="Calibri"/>
                        </a:rPr>
                        <a:t>409</a:t>
                      </a:r>
                    </a:p>
                  </a:txBody>
                  <a:tcPr marL="82296" marR="64008" marT="32004" marB="32004" anchor="ctr">
                    <a:solidFill>
                      <a:srgbClr val="FFFFFF"/>
                    </a:solidFill>
                  </a:tcPr>
                </a:tc>
                <a:tc>
                  <a:txBody>
                    <a:bodyPr wrap="square"/>
                    <a:lstStyle/>
                    <a:p>
                      <a:pPr algn="l"/>
                      <a:r>
                        <a:rPr sz="1000" b="0">
                          <a:solidFill>
                            <a:srgbClr val="1C1C1E"/>
                          </a:solidFill>
                          <a:latin typeface="Calibri"/>
                        </a:rPr>
                        <a:t>Lifecycle guards unmet</a:t>
                      </a:r>
                    </a:p>
                  </a:txBody>
                  <a:tcPr marL="82296" marR="64008" marT="32004" marB="32004" anchor="ctr">
                    <a:solidFill>
                      <a:srgbClr val="FFFFFF"/>
                    </a:solidFill>
                  </a:tcPr>
                </a:tc>
                <a:tc>
                  <a:txBody>
                    <a:bodyPr wrap="square"/>
                    <a:lstStyle/>
                    <a:p>
                      <a:pPr algn="l"/>
                      <a:r>
                        <a:rPr sz="1000" b="0">
                          <a:solidFill>
                            <a:srgbClr val="1C1C1E"/>
                          </a:solidFill>
                          <a:latin typeface="Calibri"/>
                        </a:rPr>
                        <a:t>Follow deny_reason[].remediation_url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policy_denied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A gate refused</a:t>
                      </a:r>
                    </a:p>
                  </a:txBody>
                  <a:tcPr marL="82296" marR="64008" marT="32004" marB="32004" anchor="ctr">
                    <a:solidFill>
                      <a:srgbClr val="F6F3EF"/>
                    </a:solidFill>
                  </a:tcPr>
                </a:tc>
                <a:tc>
                  <a:txBody>
                    <a:bodyPr wrap="square"/>
                    <a:lstStyle/>
                    <a:p>
                      <a:pPr algn="l"/>
                      <a:r>
                        <a:rPr sz="1000" b="0">
                          <a:solidFill>
                            <a:srgbClr val="1C1C1E"/>
                          </a:solidFill>
                          <a:latin typeface="Calibri"/>
                        </a:rPr>
                        <a:t>As above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no_entitlement</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1000" b="0">
                          <a:solidFill>
                            <a:srgbClr val="1C1C1E"/>
                          </a:solidFill>
                          <a:latin typeface="Calibri"/>
                        </a:rPr>
                        <a:t>Request a grant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use_not_approved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Declared use is not an approved use</a:t>
                      </a:r>
                    </a:p>
                  </a:txBody>
                  <a:tcPr marL="82296" marR="64008" marT="32004" marB="32004" anchor="ctr">
                    <a:solidFill>
                      <a:srgbClr val="F6F3EF"/>
                    </a:solidFill>
                  </a:tcPr>
                </a:tc>
                <a:tc>
                  <a:txBody>
                    <a:bodyPr wrap="square"/>
                    <a:lstStyle/>
                    <a:p>
                      <a:pPr algn="l"/>
                      <a:r>
                        <a:rPr sz="1000" b="0">
                          <a:solidFill>
                            <a:srgbClr val="1C1C1E"/>
                          </a:solidFill>
                          <a:latin typeface="Calibri"/>
                        </a:rPr>
                        <a:t>Seek approval</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restricted</a:t>
                      </a:r>
                    </a:p>
                  </a:txBody>
                  <a:tcPr marL="82296" marR="64008" marT="32004" marB="32004" anchor="ctr">
                    <a:solidFill>
                      <a:srgbClr val="FFFFFF"/>
                    </a:solidFill>
                  </a:tcPr>
                </a:tc>
                <a:tc>
                  <a:txBody>
                    <a:bodyPr wrap="square"/>
                    <a:lstStyle/>
                    <a:p>
                      <a:pPr algn="l"/>
                      <a:r>
                        <a:rPr sz="1000" b="0">
                          <a:solidFill>
                            <a:srgbClr val="1C1C1E"/>
                          </a:solidFill>
                          <a:latin typeface="Calibri"/>
                        </a:rPr>
                        <a:t>423</a:t>
                      </a:r>
                    </a:p>
                  </a:txBody>
                  <a:tcPr marL="82296" marR="64008" marT="32004" marB="32004" anchor="ctr">
                    <a:solidFill>
                      <a:srgbClr val="FFFFFF"/>
                    </a:solidFill>
                  </a:tcPr>
                </a:tc>
                <a:tc>
                  <a:txBody>
                    <a:bodyPr wrap="square"/>
                    <a:lstStyle/>
                    <a:p>
                      <a:pPr algn="l"/>
                      <a:r>
                        <a:rPr sz="1000" b="0">
                          <a:solidFill>
                            <a:srgbClr val="1C1C1E"/>
                          </a:solidFill>
                          <a:latin typeface="Calibri"/>
                        </a:rPr>
                        <a:t>Blocking finding or suspension</a:t>
                      </a:r>
                    </a:p>
                  </a:txBody>
                  <a:tcPr marL="82296" marR="64008" marT="32004" marB="32004" anchor="ctr">
                    <a:solidFill>
                      <a:srgbClr val="FFFFFF"/>
                    </a:solidFill>
                  </a:tcPr>
                </a:tc>
                <a:tc>
                  <a:txBody>
                    <a:bodyPr wrap="square"/>
                    <a:lstStyle/>
                    <a:p>
                      <a:pPr algn="l"/>
                      <a:r>
                        <a:rPr sz="1000" b="0">
                          <a:solidFill>
                            <a:srgbClr val="1C1C1E"/>
                          </a:solidFill>
                          <a:latin typeface="Calibri"/>
                        </a:rPr>
                        <a:t>Remediate, or break-glass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revoked</a:t>
                      </a:r>
                    </a:p>
                  </a:txBody>
                  <a:tcPr marL="82296" marR="64008" marT="32004" marB="32004" anchor="ctr">
                    <a:solidFill>
                      <a:srgbClr val="F6F3EF"/>
                    </a:solidFill>
                  </a:tcPr>
                </a:tc>
                <a:tc>
                  <a:txBody>
                    <a:bodyPr wrap="square"/>
                    <a:lstStyle/>
                    <a:p>
                      <a:pPr algn="l"/>
                      <a:r>
                        <a:rPr sz="1000" b="0">
                          <a:solidFill>
                            <a:srgbClr val="1C1C1E"/>
                          </a:solidFill>
                          <a:latin typeface="Calibri"/>
                        </a:rPr>
                        <a:t>410</a:t>
                      </a:r>
                    </a:p>
                  </a:txBody>
                  <a:tcPr marL="82296" marR="64008" marT="32004" marB="32004" anchor="ctr">
                    <a:solidFill>
                      <a:srgbClr val="F6F3EF"/>
                    </a:solidFill>
                  </a:tcPr>
                </a:tc>
                <a:tc>
                  <a:txBody>
                    <a:bodyPr wrap="square"/>
                    <a:lstStyle/>
                    <a:p>
                      <a:pPr algn="l"/>
                      <a:r>
                        <a:rPr sz="1000" b="0">
                          <a:solidFill>
                            <a:srgbClr val="1C1C1E"/>
                          </a:solidFill>
                          <a:latin typeface="Calibri"/>
                        </a:rPr>
                        <a:t>Warrant revoked</a:t>
                      </a:r>
                    </a:p>
                  </a:txBody>
                  <a:tcPr marL="82296" marR="64008" marT="32004" marB="32004" anchor="ctr">
                    <a:solidFill>
                      <a:srgbClr val="F6F3EF"/>
                    </a:solidFill>
                  </a:tcPr>
                </a:tc>
                <a:tc>
                  <a:txBody>
                    <a:bodyPr wrap="square"/>
                    <a:lstStyle/>
                    <a:p>
                      <a:pPr algn="l"/>
                      <a:r>
                        <a:rPr sz="1000" b="0">
                          <a:solidFill>
                            <a:srgbClr val="1C1C1E"/>
                          </a:solidFill>
                          <a:latin typeface="Calibri"/>
                        </a:rPr>
                        <a:t>Stop — do not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step_up_required</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Re-authentication needed</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Re-authenticate with intent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precondition_failed</a:t>
                      </a:r>
                    </a:p>
                  </a:txBody>
                  <a:tcPr marL="82296" marR="64008" marT="32004" marB="32004" anchor="ctr">
                    <a:solidFill>
                      <a:srgbClr val="F6F3EF"/>
                    </a:solidFill>
                  </a:tcPr>
                </a:tc>
                <a:tc>
                  <a:txBody>
                    <a:bodyPr wrap="square"/>
                    <a:lstStyle/>
                    <a:p>
                      <a:pPr algn="l"/>
                      <a:r>
                        <a:rPr sz="1000" b="0">
                          <a:solidFill>
                            <a:srgbClr val="1C1C1E"/>
                          </a:solidFill>
                          <a:latin typeface="Calibri"/>
                        </a:rPr>
                        <a:t>412</a:t>
                      </a:r>
                    </a:p>
                  </a:txBody>
                  <a:tcPr marL="82296" marR="64008" marT="32004" marB="32004" anchor="ctr">
                    <a:solidFill>
                      <a:srgbClr val="F6F3EF"/>
                    </a:solidFill>
                  </a:tcPr>
                </a:tc>
                <a:tc>
                  <a:txBody>
                    <a:bodyPr wrap="square"/>
                    <a:lstStyle/>
                    <a:p>
                      <a:pPr algn="l"/>
                      <a:r>
                        <a:rPr sz="1000" b="0">
                          <a:solidFill>
                            <a:srgbClr val="1C1C1E"/>
                          </a:solidFill>
                          <a:latin typeface="Calibri"/>
                        </a:rPr>
                        <a:t>ETag mismatch</a:t>
                      </a:r>
                    </a:p>
                  </a:txBody>
                  <a:tcPr marL="82296" marR="64008" marT="32004" marB="32004" anchor="ctr">
                    <a:solidFill>
                      <a:srgbClr val="F6F3EF"/>
                    </a:solidFill>
                  </a:tcPr>
                </a:tc>
                <a:tc>
                  <a:txBody>
                    <a:bodyPr wrap="square"/>
                    <a:lstStyle/>
                    <a:p>
                      <a:pPr algn="l"/>
                      <a:r>
                        <a:rPr sz="1000" b="0">
                          <a:solidFill>
                            <a:srgbClr val="1C1C1E"/>
                          </a:solidFill>
                          <a:latin typeface="Calibri"/>
                        </a:rPr>
                        <a:t>Refetch, merge,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quota_exceeded</a:t>
                      </a:r>
                    </a:p>
                  </a:txBody>
                  <a:tcPr marL="82296" marR="64008" marT="32004" marB="32004" anchor="ctr">
                    <a:solidFill>
                      <a:srgbClr val="FFFFFF"/>
                    </a:solidFill>
                  </a:tcPr>
                </a:tc>
                <a:tc>
                  <a:txBody>
                    <a:bodyPr wrap="square"/>
                    <a:lstStyle/>
                    <a:p>
                      <a:pPr algn="l"/>
                      <a:r>
                        <a:rPr sz="1000" b="0">
                          <a:solidFill>
                            <a:srgbClr val="1C1C1E"/>
                          </a:solidFill>
                          <a:latin typeface="Calibri"/>
                        </a:rPr>
                        <a:t>429</a:t>
                      </a:r>
                    </a:p>
                  </a:txBody>
                  <a:tcPr marL="82296" marR="64008" marT="32004" marB="32004" anchor="ctr">
                    <a:solidFill>
                      <a:srgbClr val="FFFFFF"/>
                    </a:solidFill>
                  </a:tcPr>
                </a:tc>
                <a:tc>
                  <a:txBody>
                    <a:bodyPr wrap="square"/>
                    <a:lstStyle/>
                    <a:p>
                      <a:pPr algn="l"/>
                      <a:r>
                        <a:rPr sz="1000" b="0">
                          <a:solidFill>
                            <a:srgbClr val="1C1C1E"/>
                          </a:solidFill>
                          <a:latin typeface="Calibri"/>
                        </a:rPr>
                        <a:t>Rate, quota or cost budget</a:t>
                      </a:r>
                    </a:p>
                  </a:txBody>
                  <a:tcPr marL="82296" marR="64008" marT="32004" marB="32004" anchor="ctr">
                    <a:solidFill>
                      <a:srgbClr val="FFFFFF"/>
                    </a:solidFill>
                  </a:tcPr>
                </a:tc>
                <a:tc>
                  <a:txBody>
                    <a:bodyPr wrap="square"/>
                    <a:lstStyle/>
                    <a:p>
                      <a:pPr algn="l"/>
                      <a:r>
                        <a:rPr sz="1000" b="0">
                          <a:solidFill>
                            <a:srgbClr val="1C1C1E"/>
                          </a:solidFill>
                          <a:latin typeface="Calibri"/>
                        </a:rPr>
                        <a:t>Back off</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evidence_truncated</a:t>
                      </a:r>
                    </a:p>
                  </a:txBody>
                  <a:tcPr marL="82296" marR="64008" marT="32004" marB="32004" anchor="ctr">
                    <a:solidFill>
                      <a:srgbClr val="F6F3EF"/>
                    </a:solidFill>
                  </a:tcPr>
                </a:tc>
                <a:tc>
                  <a:txBody>
                    <a:bodyPr wrap="square"/>
                    <a:lstStyle/>
                    <a:p>
                      <a:pPr algn="l"/>
                      <a:r>
                        <a:rPr sz="1000" b="0">
                          <a:solidFill>
                            <a:srgbClr val="1C1C1E"/>
                          </a:solidFill>
                          <a:latin typeface="Calibri"/>
                        </a:rPr>
                        <a:t>200 + flag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term cap reached</a:t>
                      </a:r>
                    </a:p>
                  </a:txBody>
                  <a:tcPr marL="82296" marR="64008" marT="32004" marB="32004" anchor="ctr">
                    <a:solidFill>
                      <a:srgbClr val="F6F3EF"/>
                    </a:solidFill>
                  </a:tcPr>
                </a:tc>
                <a:tc>
                  <a:txBody>
                    <a:bodyPr wrap="square"/>
                    <a:lstStyle/>
                    <a:p>
                      <a:pPr algn="l"/>
                      <a:r>
                        <a:rPr sz="1000" b="0">
                          <a:solidFill>
                            <a:srgbClr val="1C1C1E"/>
                          </a:solidFill>
                          <a:latin typeface="Calibri"/>
                        </a:rPr>
                        <a:t>Narrow the query</a:t>
                      </a:r>
                    </a:p>
                  </a:txBody>
                  <a:tcPr marL="82296" marR="64008" marT="32004" marB="32004" anchor="ctr">
                    <a:solidFill>
                      <a:srgbClr val="F6F3EF"/>
                    </a:solidFill>
                  </a:tcPr>
                </a:tc>
              </a:tr>
            </a:tbl>
          </a:graphicData>
        </a:graphic>
      </p:graphicFrame>
      <p:sp>
        <p:nvSpPr>
          <p:cNvPr id="11" name="TextBox 10"/>
          <p:cNvSpPr txBox="1"/>
          <p:nvPr/>
        </p:nvSpPr>
        <p:spPr>
          <a:xfrm>
            <a:off x="777240" y="5702808"/>
            <a:ext cx="10637215" cy="457200"/>
          </a:xfrm>
          <a:prstGeom prst="rect">
            <a:avLst/>
          </a:prstGeom>
          <a:noFill/>
        </p:spPr>
        <p:txBody>
          <a:bodyPr wrap="square" lIns="0" rIns="0" tIns="0" bIns="0" anchor="t">
            <a:spAutoFit/>
          </a:bodyPr>
          <a:lstStyle/>
          <a:p>
            <a:pPr algn="l">
              <a:spcBef>
                <a:spcPts val="0"/>
              </a:spcBef>
              <a:spcAft>
                <a:spcPts val="0"/>
              </a:spcAft>
            </a:pPr>
            <a:r>
              <a:rPr sz="1150" b="0" i="0">
                <a:solidFill>
                  <a:srgbClr val="1C1C1E"/>
                </a:solidFill>
                <a:latin typeface="Calibri"/>
              </a:rPr>
              <a:t>Anything unmapped </a:t>
            </a:r>
            <a:r>
              <a:rPr sz="1150" b="1" i="0">
                <a:solidFill>
                  <a:srgbClr val="1C1C1E"/>
                </a:solidFill>
                <a:latin typeface="Calibri"/>
              </a:rPr>
              <a:t>is logged with a correlation id and returned as internal_error carrying that id</a:t>
            </a:r>
            <a:r>
              <a:rPr sz="1150" b="0" i="0">
                <a:solidFill>
                  <a:srgbClr val="1C1C1E"/>
                </a:solidFill>
                <a:latin typeface="Calibri"/>
              </a:rPr>
              <a:t> — so the user and support are looking at the same event, not two different ones.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SLOs and golden signals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133</a:t>
            </a:r>
          </a:p>
        </p:txBody>
      </p:sp>
      <p:graphicFrame>
        <p:nvGraphicFramePr>
          <p:cNvPr id="10" name="Table 9"/>
          <p:cNvGraphicFramePr>
            <a:graphicFrameLocks noGrp="1"/>
          </p:cNvGraphicFramePr>
          <p:nvPr/>
        </p:nvGraphicFramePr>
        <p:xfrm>
          <a:off x="777240" y="1353312"/>
          <a:ext cx="5318606" cy="2813100"/>
        </p:xfrm>
        <a:graphic>
          <a:graphicData uri="http://schemas.openxmlformats.org/drawingml/2006/table">
            <a:tbl>
              <a:tblPr firstRow="1">
                <a:tableStyleId>{5C22544A-7EE6-4342-B048-85BDC9FD1C3A}</a:tableStyleId>
              </a:tblPr>
              <a:tblGrid>
                <a:gridCol w="2532670"/>
                <a:gridCol w="1350757"/>
                <a:gridCol w="1435179"/>
              </a:tblGrid>
              <a:tr h="333781">
                <a:tc>
                  <a:txBody>
                    <a:bodyPr wrap="square"/>
                    <a:lstStyle/>
                    <a:p>
                      <a:pPr algn="l"/>
                      <a:r>
                        <a:rPr sz="1100" b="1">
                          <a:solidFill>
                            <a:srgbClr val="FFFFFF"/>
                          </a:solidFill>
                          <a:latin typeface="Calibri"/>
                        </a:rPr>
                        <a:t>SLO</a:t>
                      </a:r>
                    </a:p>
                  </a:txBody>
                  <a:tcPr marL="82296" marR="64008" marT="32004" marB="32004" anchor="ctr">
                    <a:solidFill>
                      <a:srgbClr val="A51C30"/>
                    </a:solidFill>
                  </a:tcPr>
                </a:tc>
                <a:tc>
                  <a:txBody>
                    <a:bodyPr wrap="square"/>
                    <a:lstStyle/>
                    <a:p>
                      <a:pPr algn="l"/>
                      <a:r>
                        <a:rPr sz="1100" b="1">
                          <a:solidFill>
                            <a:srgbClr val="FFFFFF"/>
                          </a:solidFill>
                          <a:latin typeface="Calibri"/>
                        </a:rPr>
                        <a:t>Target</a:t>
                      </a:r>
                    </a:p>
                  </a:txBody>
                  <a:tcPr marL="82296" marR="64008" marT="32004" marB="32004" anchor="ctr">
                    <a:solidFill>
                      <a:srgbClr val="A51C30"/>
                    </a:solidFill>
                  </a:tcPr>
                </a:tc>
                <a:tc>
                  <a:txBody>
                    <a:bodyPr wrap="square"/>
                    <a:lstStyle/>
                    <a:p>
                      <a:pPr algn="l"/>
                      <a:r>
                        <a:rPr sz="1100" b="1">
                          <a:solidFill>
                            <a:srgbClr val="FFFFFF"/>
                          </a:solidFill>
                          <a:latin typeface="Calibri"/>
                        </a:rPr>
                        <a:t>Error budget</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Warrant resolution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Warrant resolution p99 (cached)</a:t>
                      </a:r>
                    </a:p>
                  </a:txBody>
                  <a:tcPr marL="82296" marR="64008" marT="32004" marB="32004" anchor="ctr">
                    <a:solidFill>
                      <a:srgbClr val="F6F3EF"/>
                    </a:solidFill>
                  </a:tcPr>
                </a:tc>
                <a:tc>
                  <a:txBody>
                    <a:bodyPr wrap="square"/>
                    <a:lstStyle/>
                    <a:p>
                      <a:pPr algn="l"/>
                      <a:r>
                        <a:rPr sz="1050" b="0">
                          <a:solidFill>
                            <a:srgbClr val="1C1C1E"/>
                          </a:solidFill>
                          <a:latin typeface="Calibri"/>
                        </a:rPr>
                        <a:t>&lt; 50 ms</a:t>
                      </a:r>
                    </a:p>
                  </a:txBody>
                  <a:tcPr marL="82296" marR="64008" marT="32004" marB="32004" anchor="ctr">
                    <a:solidFill>
                      <a:srgbClr val="F6F3EF"/>
                    </a:solidFill>
                  </a:tcPr>
                </a:tc>
                <a:tc>
                  <a:txBody>
                    <a:bodyPr wrap="square"/>
                    <a:lstStyle/>
                    <a:p>
                      <a:pPr algn="l"/>
                      <a:r>
                        <a:rPr sz="1050" b="0">
                          <a:solidFill>
                            <a:srgbClr val="1C1C1E"/>
                          </a:solidFill>
                          <a:latin typeface="Calibri"/>
                        </a:rPr>
                        <a:t>1% of requests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Control plane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Inventory read p95</a:t>
                      </a:r>
                    </a:p>
                  </a:txBody>
                  <a:tcPr marL="82296" marR="64008" marT="32004" marB="32004" anchor="ctr">
                    <a:solidFill>
                      <a:srgbClr val="F6F3EF"/>
                    </a:solidFill>
                  </a:tcPr>
                </a:tc>
                <a:tc>
                  <a:txBody>
                    <a:bodyPr wrap="square"/>
                    <a:lstStyle/>
                    <a:p>
                      <a:pPr algn="l"/>
                      <a:r>
                        <a:rPr sz="1050" b="0">
                          <a:solidFill>
                            <a:srgbClr val="1C1C1E"/>
                          </a:solidFill>
                          <a:latin typeface="Calibri"/>
                        </a:rPr>
                        <a:t>&lt; 500 ms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Training-set build (1B × 500)</a:t>
                      </a:r>
                    </a:p>
                  </a:txBody>
                  <a:tcPr marL="82296" marR="64008" marT="32004" marB="32004" anchor="ctr">
                    <a:solidFill>
                      <a:srgbClr val="FFFFFF"/>
                    </a:solidFill>
                  </a:tcPr>
                </a:tc>
                <a:tc>
                  <a:txBody>
                    <a:bodyPr wrap="square"/>
                    <a:lstStyle/>
                    <a:p>
                      <a:pPr algn="l"/>
                      <a:r>
                        <a:rPr sz="1050" b="0">
                          <a:solidFill>
                            <a:srgbClr val="1C1C1E"/>
                          </a:solidFill>
                          <a:latin typeface="Calibri"/>
                        </a:rPr>
                        <a:t>&lt; 30 min</a:t>
                      </a:r>
                    </a:p>
                  </a:txBody>
                  <a:tcPr marL="82296" marR="64008" marT="32004" marB="32004" anchor="ctr">
                    <a:solidFill>
                      <a:srgbClr val="FFFFFF"/>
                    </a:solidFill>
                  </a:tcPr>
                </a:tc>
                <a:tc>
                  <a:txBody>
                    <a:bodyPr wrap="square"/>
                    <a:lstStyle/>
                    <a:p>
                      <a:pPr algn="l"/>
                      <a:r>
                        <a:rPr sz="1050" b="0">
                          <a:solidFill>
                            <a:srgbClr val="1C1C1E"/>
                          </a:solidFill>
                          <a:latin typeface="Calibri"/>
                        </a:rPr>
                        <a:t>10%</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Document compile p95</a:t>
                      </a:r>
                    </a:p>
                  </a:txBody>
                  <a:tcPr marL="82296" marR="64008" marT="32004" marB="32004" anchor="ctr">
                    <a:solidFill>
                      <a:srgbClr val="F6F3EF"/>
                    </a:solidFill>
                  </a:tcPr>
                </a:tc>
                <a:tc>
                  <a:txBody>
                    <a:bodyPr wrap="square"/>
                    <a:lstStyle/>
                    <a:p>
                      <a:pPr algn="l"/>
                      <a:r>
                        <a:rPr sz="1050" b="0">
                          <a:solidFill>
                            <a:srgbClr val="1C1C1E"/>
                          </a:solidFill>
                          <a:latin typeface="Calibri"/>
                        </a:rPr>
                        <a:t>&lt; 60 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verification</a:t>
                      </a:r>
                    </a:p>
                  </a:txBody>
                  <a:tcPr marL="82296" marR="64008" marT="32004" marB="32004" anchor="ctr">
                    <a:solidFill>
                      <a:srgbClr val="FFFFFF"/>
                    </a:solidFill>
                  </a:tcPr>
                </a:tc>
                <a:tc>
                  <a:txBody>
                    <a:bodyPr wrap="square"/>
                    <a:lstStyle/>
                    <a:p>
                      <a:pPr algn="l"/>
                      <a:r>
                        <a:rPr sz="1050" b="0">
                          <a:solidFill>
                            <a:srgbClr val="1C1C1E"/>
                          </a:solidFill>
                          <a:latin typeface="Calibri"/>
                        </a:rPr>
                        <a:t>Daily, zero breaks</a:t>
                      </a:r>
                    </a:p>
                  </a:txBody>
                  <a:tcPr marL="82296" marR="64008" marT="32004" marB="32004" anchor="ctr">
                    <a:solidFill>
                      <a:srgbClr val="FFFFFF"/>
                    </a:solidFill>
                  </a:tcPr>
                </a:tc>
                <a:tc>
                  <a:txBody>
                    <a:bodyPr wrap="square"/>
                    <a:lstStyle/>
                    <a:p>
                      <a:pPr algn="l"/>
                      <a:r>
                        <a:rPr sz="1050" b="0">
                          <a:solidFill>
                            <a:srgbClr val="1C1C1E"/>
                          </a:solidFill>
                          <a:latin typeface="Calibri"/>
                        </a:rPr>
                        <a:t>Zero tolerance</a:t>
                      </a:r>
                    </a:p>
                  </a:txBody>
                  <a:tcPr marL="82296" marR="64008" marT="32004" marB="32004" anchor="ctr">
                    <a:solidFill>
                      <a:srgbClr val="FFFFFF"/>
                    </a:solidFill>
                  </a:tcPr>
                </a:tc>
              </a:tr>
            </a:tbl>
          </a:graphicData>
        </a:graphic>
      </p:graphicFrame>
      <p:sp>
        <p:nvSpPr>
          <p:cNvPr id="11" name="TextBox 10"/>
          <p:cNvSpPr txBox="1"/>
          <p:nvPr/>
        </p:nvSpPr>
        <p:spPr>
          <a:xfrm>
            <a:off x="6521336" y="1353312"/>
            <a:ext cx="4893118"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Golden signals, per component</a:t>
            </a:r>
          </a:p>
        </p:txBody>
      </p:sp>
      <p:sp>
        <p:nvSpPr>
          <p:cNvPr id="12" name="TextBox 11"/>
          <p:cNvSpPr txBox="1"/>
          <p:nvPr/>
        </p:nvSpPr>
        <p:spPr>
          <a:xfrm>
            <a:off x="6521336" y="1737360"/>
            <a:ext cx="4893118" cy="2377440"/>
          </a:xfrm>
          <a:prstGeom prst="rect">
            <a:avLst/>
          </a:prstGeom>
          <a:noFill/>
        </p:spPr>
        <p:txBody>
          <a:bodyPr wrap="square" lIns="0" rIns="0" tIns="0" bIns="0" anchor="t">
            <a:spAutoFit/>
          </a:bodyPr>
          <a:lstStyle/>
          <a:p>
            <a:pPr algn="l"/>
          </a:p>
          <a:p>
            <a:pPr>
              <a:spcBef>
                <a:spcPts val="600"/>
              </a:spcBef>
              <a:spcAft>
                <a:spcPts val="300"/>
              </a:spcAft>
            </a:pPr>
            <a:r>
              <a:rPr sz="1100" b="1">
                <a:solidFill>
                  <a:srgbClr val="A51C30"/>
                </a:solidFill>
                <a:latin typeface="Calibri"/>
              </a:rPr>
              <a:t>▪  </a:t>
            </a:r>
            <a:r>
              <a:rPr sz="1100" b="1">
                <a:solidFill>
                  <a:srgbClr val="1C1C1E"/>
                </a:solidFill>
                <a:latin typeface="Calibri"/>
              </a:rPr>
              <a:t>Warrant service</a:t>
            </a:r>
          </a:p>
          <a:p>
            <a:pPr lvl="1">
              <a:spcBef>
                <a:spcPts val="0"/>
              </a:spcBef>
              <a:spcAft>
                <a:spcPts val="0"/>
              </a:spcAft>
            </a:pPr>
            <a:r>
              <a:rPr sz="950">
                <a:solidFill>
                  <a:srgbClr val="4A4F57"/>
                </a:solidFill>
                <a:latin typeface="Calibri"/>
              </a:rPr>
              <a:t>resolutions/s · cache hit ratio · p50/p99 · denial rate · revocation lag · degraded-mode volume</a:t>
            </a:r>
          </a:p>
          <a:p>
            <a:pPr>
              <a:spcBef>
                <a:spcPts val="600"/>
              </a:spcBef>
              <a:spcAft>
                <a:spcPts val="300"/>
              </a:spcAft>
            </a:pPr>
            <a:r>
              <a:rPr sz="1100" b="1">
                <a:solidFill>
                  <a:srgbClr val="A51C30"/>
                </a:solidFill>
                <a:latin typeface="Calibri"/>
              </a:rPr>
              <a:t>▪  </a:t>
            </a:r>
            <a:r>
              <a:rPr sz="1100" b="1">
                <a:solidFill>
                  <a:srgbClr val="1C1C1E"/>
                </a:solidFill>
                <a:latin typeface="Calibri"/>
              </a:rPr>
              <a:t>Control plane</a:t>
            </a:r>
          </a:p>
          <a:p>
            <a:pPr lvl="1">
              <a:spcBef>
                <a:spcPts val="0"/>
              </a:spcBef>
              <a:spcAft>
                <a:spcPts val="0"/>
              </a:spcAft>
            </a:pPr>
            <a:r>
              <a:rPr sz="950">
                <a:solidFill>
                  <a:srgbClr val="4A4F57"/>
                </a:solidFill>
                <a:latin typeface="Calibri"/>
              </a:rPr>
              <a:t>request rate · latency · error rate by taxonomy code · transaction duration · outbox lag</a:t>
            </a:r>
          </a:p>
          <a:p>
            <a:pPr>
              <a:spcBef>
                <a:spcPts val="600"/>
              </a:spcBef>
              <a:spcAft>
                <a:spcPts val="300"/>
              </a:spcAft>
            </a:pPr>
            <a:r>
              <a:rPr sz="1100" b="1">
                <a:solidFill>
                  <a:srgbClr val="A51C30"/>
                </a:solidFill>
                <a:latin typeface="Calibri"/>
              </a:rPr>
              <a:t>▪  </a:t>
            </a:r>
            <a:r>
              <a:rPr sz="1100" b="1">
                <a:solidFill>
                  <a:srgbClr val="1C1C1E"/>
                </a:solidFill>
                <a:latin typeface="Calibri"/>
              </a:rPr>
              <a:t>Workers</a:t>
            </a:r>
          </a:p>
          <a:p>
            <a:pPr lvl="1">
              <a:spcBef>
                <a:spcPts val="0"/>
              </a:spcBef>
              <a:spcAft>
                <a:spcPts val="0"/>
              </a:spcAft>
            </a:pPr>
            <a:r>
              <a:rPr sz="950">
                <a:solidFill>
                  <a:srgbClr val="4A4F57"/>
                </a:solidFill>
                <a:latin typeface="Calibri"/>
              </a:rPr>
              <a:t>queue depth · job duration · retry rate · sandbox failures</a:t>
            </a:r>
          </a:p>
          <a:p>
            <a:pPr>
              <a:spcBef>
                <a:spcPts val="600"/>
              </a:spcBef>
              <a:spcAft>
                <a:spcPts val="300"/>
              </a:spcAft>
            </a:pPr>
            <a:r>
              <a:rPr sz="1100" b="1">
                <a:solidFill>
                  <a:srgbClr val="A51C30"/>
                </a:solidFill>
                <a:latin typeface="Calibri"/>
              </a:rPr>
              <a:t>▪  </a:t>
            </a:r>
            <a:r>
              <a:rPr sz="1100" b="1">
                <a:solidFill>
                  <a:srgbClr val="1C1C1E"/>
                </a:solidFill>
                <a:latin typeface="Calibri"/>
              </a:rPr>
              <a:t>Data plane</a:t>
            </a:r>
          </a:p>
          <a:p>
            <a:pPr lvl="1">
              <a:spcBef>
                <a:spcPts val="0"/>
              </a:spcBef>
              <a:spcAft>
                <a:spcPts val="0"/>
              </a:spcAft>
            </a:pPr>
            <a:r>
              <a:rPr sz="950">
                <a:solidFill>
                  <a:srgbClr val="4A4F57"/>
                </a:solidFill>
                <a:latin typeface="Calibri"/>
              </a:rPr>
              <a:t>job duration · rows processed · small-file count · skew divergence · PIT rejections</a:t>
            </a:r>
          </a:p>
        </p:txBody>
      </p:sp>
      <p:sp>
        <p:nvSpPr>
          <p:cNvPr id="13" name="Rectangle 12"/>
          <p:cNvSpPr/>
          <p:nvPr/>
        </p:nvSpPr>
        <p:spPr>
          <a:xfrm>
            <a:off x="6521336" y="4187952"/>
            <a:ext cx="4893118"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521336" y="4187952"/>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759080" y="4306824"/>
            <a:ext cx="4435918" cy="640080"/>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C1C1E"/>
                </a:solidFill>
                <a:latin typeface="Calibri"/>
              </a:rPr>
              <a:t>Ten runbooks: chain verification failure · outbox lag · stampede · Delta small files · sandbox escape · policy gridlock · revocation failure · base-model drift · key rotation · regional failover</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SIZING AND ASSURANCE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Capacity and testing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134</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Capacity model</a:t>
            </a:r>
          </a:p>
        </p:txBody>
      </p:sp>
      <p:graphicFrame>
        <p:nvGraphicFramePr>
          <p:cNvPr id="11" name="Table 10"/>
          <p:cNvGraphicFramePr>
            <a:graphicFrameLocks noGrp="1"/>
          </p:cNvGraphicFramePr>
          <p:nvPr/>
        </p:nvGraphicFramePr>
        <p:xfrm>
          <a:off x="777240" y="1719072"/>
          <a:ext cx="4999490" cy="2863088"/>
        </p:xfrm>
        <a:graphic>
          <a:graphicData uri="http://schemas.openxmlformats.org/drawingml/2006/table">
            <a:tbl>
              <a:tblPr firstRow="1">
                <a:tableStyleId>{5C22544A-7EE6-4342-B048-85BDC9FD1C3A}</a:tableStyleId>
              </a:tblPr>
              <a:tblGrid>
                <a:gridCol w="2543600"/>
                <a:gridCol w="1227945"/>
                <a:gridCol w="1227945"/>
              </a:tblGrid>
              <a:tr h="329184">
                <a:tc>
                  <a:txBody>
                    <a:bodyPr wrap="square"/>
                    <a:lstStyle/>
                    <a:p>
                      <a:pPr algn="l"/>
                      <a:r>
                        <a:rPr sz="1000" b="1">
                          <a:solidFill>
                            <a:srgbClr val="FFFFFF"/>
                          </a:solidFill>
                          <a:latin typeface="Calibri"/>
                        </a:rPr>
                        <a:t>Dimension</a:t>
                      </a:r>
                    </a:p>
                  </a:txBody>
                  <a:tcPr marL="82296" marR="64008" marT="32004" marB="32004" anchor="ctr">
                    <a:solidFill>
                      <a:srgbClr val="A51C30"/>
                    </a:solidFill>
                  </a:tcPr>
                </a:tc>
                <a:tc>
                  <a:txBody>
                    <a:bodyPr wrap="square"/>
                    <a:lstStyle/>
                    <a:p>
                      <a:pPr algn="l"/>
                      <a:r>
                        <a:rPr sz="1000" b="1">
                          <a:solidFill>
                            <a:srgbClr val="FFFFFF"/>
                          </a:solidFill>
                          <a:latin typeface="Calibri"/>
                        </a:rPr>
                        <a:t>Year 1</a:t>
                      </a:r>
                    </a:p>
                  </a:txBody>
                  <a:tcPr marL="82296" marR="64008" marT="32004" marB="32004" anchor="ctr">
                    <a:solidFill>
                      <a:srgbClr val="A51C30"/>
                    </a:solidFill>
                  </a:tcPr>
                </a:tc>
                <a:tc>
                  <a:txBody>
                    <a:bodyPr wrap="square"/>
                    <a:lstStyle/>
                    <a:p>
                      <a:pPr algn="l"/>
                      <a:r>
                        <a:rPr sz="1000" b="1">
                          <a:solidFill>
                            <a:srgbClr val="FFFFFF"/>
                          </a:solidFill>
                          <a:latin typeface="Calibri"/>
                        </a:rPr>
                        <a:t>Year 3</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1,500</a:t>
                      </a:r>
                    </a:p>
                  </a:txBody>
                  <a:tcPr marL="82296" marR="64008" marT="32004" marB="32004" anchor="ctr">
                    <a:solidFill>
                      <a:srgbClr val="FFFFFF"/>
                    </a:solidFill>
                  </a:tcPr>
                </a:tc>
                <a:tc>
                  <a:txBody>
                    <a:bodyPr wrap="square"/>
                    <a:lstStyle/>
                    <a:p>
                      <a:pPr algn="l"/>
                      <a:r>
                        <a:rPr sz="1000" b="0">
                          <a:solidFill>
                            <a:srgbClr val="1C1C1E"/>
                          </a:solidFill>
                          <a:latin typeface="Calibri"/>
                        </a:rPr>
                        <a:t>5,000</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8,000</a:t>
                      </a:r>
                    </a:p>
                  </a:txBody>
                  <a:tcPr marL="82296" marR="64008" marT="32004" marB="32004" anchor="ctr">
                    <a:solidFill>
                      <a:srgbClr val="F6F3EF"/>
                    </a:solidFill>
                  </a:tcPr>
                </a:tc>
                <a:tc>
                  <a:txBody>
                    <a:bodyPr wrap="square"/>
                    <a:lstStyle/>
                    <a:p>
                      <a:pPr algn="l"/>
                      <a:r>
                        <a:rPr sz="1000" b="0">
                          <a:solidFill>
                            <a:srgbClr val="1C1C1E"/>
                          </a:solidFill>
                          <a:latin typeface="Calibri"/>
                        </a:rPr>
                        <a:t>40,000</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nodes</a:t>
                      </a:r>
                    </a:p>
                  </a:txBody>
                  <a:tcPr marL="82296" marR="64008" marT="32004" marB="32004" anchor="ctr">
                    <a:solidFill>
                      <a:srgbClr val="FFFFFF"/>
                    </a:solidFill>
                  </a:tcPr>
                </a:tc>
                <a:tc>
                  <a:txBody>
                    <a:bodyPr wrap="square"/>
                    <a:lstStyle/>
                    <a:p>
                      <a:pPr algn="l"/>
                      <a:r>
                        <a:rPr sz="1000" b="0">
                          <a:solidFill>
                            <a:srgbClr val="1C1C1E"/>
                          </a:solidFill>
                          <a:latin typeface="Calibri"/>
                        </a:rPr>
                        <a:t>4 M</a:t>
                      </a:r>
                    </a:p>
                  </a:txBody>
                  <a:tcPr marL="82296" marR="64008" marT="32004" marB="32004" anchor="ctr">
                    <a:solidFill>
                      <a:srgbClr val="FFFFFF"/>
                    </a:solidFill>
                  </a:tcPr>
                </a:tc>
                <a:tc>
                  <a:txBody>
                    <a:bodyPr wrap="square"/>
                    <a:lstStyle/>
                    <a:p>
                      <a:pPr algn="l"/>
                      <a:r>
                        <a:rPr sz="1000" b="0">
                          <a:solidFill>
                            <a:srgbClr val="1C1C1E"/>
                          </a:solidFill>
                          <a:latin typeface="Calibri"/>
                        </a:rPr>
                        <a:t>25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Postgres (ex-audit)</a:t>
                      </a:r>
                    </a:p>
                  </a:txBody>
                  <a:tcPr marL="82296" marR="64008" marT="32004" marB="32004" anchor="ctr">
                    <a:solidFill>
                      <a:srgbClr val="F6F3EF"/>
                    </a:solidFill>
                  </a:tcPr>
                </a:tc>
                <a:tc>
                  <a:txBody>
                    <a:bodyPr wrap="square"/>
                    <a:lstStyle/>
                    <a:p>
                      <a:pPr algn="l"/>
                      <a:r>
                        <a:rPr sz="1000" b="0">
                          <a:solidFill>
                            <a:srgbClr val="1C1C1E"/>
                          </a:solidFill>
                          <a:latin typeface="Calibri"/>
                        </a:rPr>
                        <a:t>120 GB</a:t>
                      </a:r>
                    </a:p>
                  </a:txBody>
                  <a:tcPr marL="82296" marR="64008" marT="32004" marB="32004" anchor="ctr">
                    <a:solidFill>
                      <a:srgbClr val="F6F3EF"/>
                    </a:solidFill>
                  </a:tcPr>
                </a:tc>
                <a:tc>
                  <a:txBody>
                    <a:bodyPr wrap="square"/>
                    <a:lstStyle/>
                    <a:p>
                      <a:pPr algn="l"/>
                      <a:r>
                        <a:rPr sz="1000" b="0">
                          <a:solidFill>
                            <a:srgbClr val="1C1C1E"/>
                          </a:solidFill>
                          <a:latin typeface="Calibri"/>
                        </a:rPr>
                        <a:t>600 GB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Audit rows</a:t>
                      </a:r>
                    </a:p>
                  </a:txBody>
                  <a:tcPr marL="82296" marR="64008" marT="32004" marB="32004" anchor="ctr">
                    <a:solidFill>
                      <a:srgbClr val="FFFFFF"/>
                    </a:solidFill>
                  </a:tcPr>
                </a:tc>
                <a:tc>
                  <a:txBody>
                    <a:bodyPr wrap="square"/>
                    <a:lstStyle/>
                    <a:p>
                      <a:pPr algn="l"/>
                      <a:r>
                        <a:rPr sz="1000" b="0">
                          <a:solidFill>
                            <a:srgbClr val="1C1C1E"/>
                          </a:solidFill>
                          <a:latin typeface="Calibri"/>
                        </a:rPr>
                        <a:t>60 M</a:t>
                      </a:r>
                    </a:p>
                  </a:txBody>
                  <a:tcPr marL="82296" marR="64008" marT="32004" marB="32004" anchor="ctr">
                    <a:solidFill>
                      <a:srgbClr val="FFFFFF"/>
                    </a:solidFill>
                  </a:tcPr>
                </a:tc>
                <a:tc>
                  <a:txBody>
                    <a:bodyPr wrap="square"/>
                    <a:lstStyle/>
                    <a:p>
                      <a:pPr algn="l"/>
                      <a:r>
                        <a:rPr sz="1000" b="0">
                          <a:solidFill>
                            <a:srgbClr val="1C1C1E"/>
                          </a:solidFill>
                          <a:latin typeface="Calibri"/>
                        </a:rPr>
                        <a:t>400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Delta features</a:t>
                      </a:r>
                    </a:p>
                  </a:txBody>
                  <a:tcPr marL="82296" marR="64008" marT="32004" marB="32004" anchor="ctr">
                    <a:solidFill>
                      <a:srgbClr val="F6F3EF"/>
                    </a:solidFill>
                  </a:tcPr>
                </a:tc>
                <a:tc>
                  <a:txBody>
                    <a:bodyPr wrap="square"/>
                    <a:lstStyle/>
                    <a:p>
                      <a:pPr algn="l"/>
                      <a:r>
                        <a:rPr sz="1000" b="0">
                          <a:solidFill>
                            <a:srgbClr val="1C1C1E"/>
                          </a:solidFill>
                          <a:latin typeface="Calibri"/>
                        </a:rPr>
                        <a:t>15 TB</a:t>
                      </a:r>
                    </a:p>
                  </a:txBody>
                  <a:tcPr marL="82296" marR="64008" marT="32004" marB="32004" anchor="ctr">
                    <a:solidFill>
                      <a:srgbClr val="F6F3EF"/>
                    </a:solidFill>
                  </a:tcPr>
                </a:tc>
                <a:tc>
                  <a:txBody>
                    <a:bodyPr wrap="square"/>
                    <a:lstStyle/>
                    <a:p>
                      <a:pPr algn="l"/>
                      <a:r>
                        <a:rPr sz="1000" b="0">
                          <a:solidFill>
                            <a:srgbClr val="1C1C1E"/>
                          </a:solidFill>
                          <a:latin typeface="Calibri"/>
                        </a:rPr>
                        <a:t>80 TB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Inference log rows</a:t>
                      </a:r>
                    </a:p>
                  </a:txBody>
                  <a:tcPr marL="82296" marR="64008" marT="32004" marB="32004" anchor="ctr">
                    <a:solidFill>
                      <a:srgbClr val="FFFFFF"/>
                    </a:solidFill>
                  </a:tcPr>
                </a:tc>
                <a:tc>
                  <a:txBody>
                    <a:bodyPr wrap="square"/>
                    <a:lstStyle/>
                    <a:p>
                      <a:pPr algn="l"/>
                      <a:r>
                        <a:rPr sz="1000" b="0">
                          <a:solidFill>
                            <a:srgbClr val="1C1C1E"/>
                          </a:solidFill>
                          <a:latin typeface="Calibri"/>
                        </a:rPr>
                        <a:t>8 B</a:t>
                      </a:r>
                    </a:p>
                  </a:txBody>
                  <a:tcPr marL="82296" marR="64008" marT="32004" marB="32004" anchor="ctr">
                    <a:solidFill>
                      <a:srgbClr val="FFFFFF"/>
                    </a:solidFill>
                  </a:tcPr>
                </a:tc>
                <a:tc>
                  <a:txBody>
                    <a:bodyPr wrap="square"/>
                    <a:lstStyle/>
                    <a:p>
                      <a:pPr algn="l"/>
                      <a:r>
                        <a:rPr sz="1000" b="0">
                          <a:solidFill>
                            <a:srgbClr val="1C1C1E"/>
                          </a:solidFill>
                          <a:latin typeface="Calibri"/>
                        </a:rPr>
                        <a:t>60 B</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resolutions, peak</a:t>
                      </a:r>
                    </a:p>
                  </a:txBody>
                  <a:tcPr marL="82296" marR="64008" marT="32004" marB="32004" anchor="ctr">
                    <a:solidFill>
                      <a:srgbClr val="F6F3EF"/>
                    </a:solidFill>
                  </a:tcPr>
                </a:tc>
                <a:tc>
                  <a:txBody>
                    <a:bodyPr wrap="square"/>
                    <a:lstStyle/>
                    <a:p>
                      <a:pPr algn="l"/>
                      <a:r>
                        <a:rPr sz="1000" b="0">
                          <a:solidFill>
                            <a:srgbClr val="1C1C1E"/>
                          </a:solidFill>
                          <a:latin typeface="Calibri"/>
                        </a:rPr>
                        <a:t>400/s</a:t>
                      </a:r>
                    </a:p>
                  </a:txBody>
                  <a:tcPr marL="82296" marR="64008" marT="32004" marB="32004" anchor="ctr">
                    <a:solidFill>
                      <a:srgbClr val="F6F3EF"/>
                    </a:solidFill>
                  </a:tcPr>
                </a:tc>
                <a:tc>
                  <a:txBody>
                    <a:bodyPr wrap="square"/>
                    <a:lstStyle/>
                    <a:p>
                      <a:pPr algn="l"/>
                      <a:r>
                        <a:rPr sz="1000" b="0">
                          <a:solidFill>
                            <a:srgbClr val="1C1C1E"/>
                          </a:solidFill>
                          <a:latin typeface="Calibri"/>
                        </a:rPr>
                        <a:t>2,500/s</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Test suites and what each proves</a:t>
            </a:r>
          </a:p>
        </p:txBody>
      </p:sp>
      <p:graphicFrame>
        <p:nvGraphicFramePr>
          <p:cNvPr id="13" name="Table 12"/>
          <p:cNvGraphicFramePr>
            <a:graphicFrameLocks noGrp="1"/>
          </p:cNvGraphicFramePr>
          <p:nvPr/>
        </p:nvGraphicFramePr>
        <p:xfrm>
          <a:off x="6414964" y="1719072"/>
          <a:ext cx="4999490" cy="3277870"/>
        </p:xfrm>
        <a:graphic>
          <a:graphicData uri="http://schemas.openxmlformats.org/drawingml/2006/table">
            <a:tbl>
              <a:tblPr firstRow="1">
                <a:tableStyleId>{5C22544A-7EE6-4342-B048-85BDC9FD1C3A}</a:tableStyleId>
              </a:tblPr>
              <a:tblGrid>
                <a:gridCol w="1551566"/>
                <a:gridCol w="3447924"/>
              </a:tblGrid>
              <a:tr h="329184">
                <a:tc>
                  <a:txBody>
                    <a:bodyPr wrap="square"/>
                    <a:lstStyle/>
                    <a:p>
                      <a:pPr algn="l"/>
                      <a:r>
                        <a:rPr sz="1000" b="1">
                          <a:solidFill>
                            <a:srgbClr val="FFFFFF"/>
                          </a:solidFill>
                          <a:latin typeface="Calibri"/>
                        </a:rPr>
                        <a:t>Suite</a:t>
                      </a:r>
                    </a:p>
                  </a:txBody>
                  <a:tcPr marL="82296" marR="64008" marT="32004" marB="32004" anchor="ctr">
                    <a:solidFill>
                      <a:srgbClr val="A51C30"/>
                    </a:solidFill>
                  </a:tcPr>
                </a:tc>
                <a:tc>
                  <a:txBody>
                    <a:bodyPr wrap="square"/>
                    <a:lstStyle/>
                    <a:p>
                      <a:pPr algn="l"/>
                      <a:r>
                        <a:rPr sz="1000" b="1">
                          <a:solidFill>
                            <a:srgbClr val="FFFFFF"/>
                          </a:solidFill>
                          <a:latin typeface="Calibri"/>
                        </a:rPr>
                        <a:t>Proves</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Unit</a:t>
                      </a:r>
                    </a:p>
                  </a:txBody>
                  <a:tcPr marL="82296" marR="64008" marT="32004" marB="32004" anchor="ctr">
                    <a:solidFill>
                      <a:srgbClr val="FFFFFF"/>
                    </a:solidFill>
                  </a:tcPr>
                </a:tc>
                <a:tc>
                  <a:txBody>
                    <a:bodyPr wrap="square"/>
                    <a:lstStyle/>
                    <a:p>
                      <a:pPr algn="l"/>
                      <a:r>
                        <a:rPr sz="1000" b="0">
                          <a:solidFill>
                            <a:srgbClr val="1C1C1E"/>
                          </a:solidFill>
                          <a:latin typeface="Calibri"/>
                        </a:rPr>
                        <a:t>Domain algebra correctness (≥90% on domain/)</a:t>
                      </a:r>
                    </a:p>
                  </a:txBody>
                  <a:tcPr marL="82296" marR="64008" marT="32004" marB="32004" anchor="ctr">
                    <a:solidFill>
                      <a:srgbClr val="FFFFFF"/>
                    </a:solidFill>
                  </a:tcPr>
                </a:tc>
              </a:tr>
              <a:tr h="657606">
                <a:tc>
                  <a:txBody>
                    <a:bodyPr wrap="square"/>
                    <a:lstStyle/>
                    <a:p>
                      <a:pPr algn="l"/>
                      <a:r>
                        <a:rPr sz="1000" b="1">
                          <a:solidFill>
                            <a:srgbClr val="A51C30"/>
                          </a:solidFill>
                          <a:latin typeface="Calibri"/>
                        </a:rPr>
                        <a:t>Laws — the executable ones</a:t>
                      </a:r>
                    </a:p>
                  </a:txBody>
                  <a:tcPr marL="82296" marR="64008" marT="32004" marB="32004" anchor="ctr">
                    <a:solidFill>
                      <a:srgbClr val="F6F3EF"/>
                    </a:solidFill>
                  </a:tcPr>
                </a:tc>
                <a:tc>
                  <a:txBody>
                    <a:bodyPr wrap="square"/>
                    <a:lstStyle/>
                    <a:p>
                      <a:pPr algn="l"/>
                      <a:r>
                        <a:rPr sz="1000" b="0">
                          <a:solidFill>
                            <a:srgbClr val="1C1C1E"/>
                          </a:solidFill>
                          <a:latin typeface="Calibri"/>
                        </a:rPr>
                        <a:t>L-4, L-5, L-7, L-12, L-18, L-19 and the eleven warrant laws. The rest are stated and not yet executable, and 00 §12 says which</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Integration</a:t>
                      </a:r>
                    </a:p>
                  </a:txBody>
                  <a:tcPr marL="82296" marR="64008" marT="32004" marB="32004" anchor="ctr">
                    <a:solidFill>
                      <a:srgbClr val="FFFFFF"/>
                    </a:solidFill>
                  </a:tcPr>
                </a:tc>
                <a:tc>
                  <a:txBody>
                    <a:bodyPr wrap="square"/>
                    <a:lstStyle/>
                    <a:p>
                      <a:pPr algn="l"/>
                      <a:r>
                        <a:rPr sz="1000" b="0">
                          <a:solidFill>
                            <a:srgbClr val="1C1C1E"/>
                          </a:solidFill>
                          <a:latin typeface="Calibri"/>
                        </a:rPr>
                        <a:t>Repository and service paths against real infrastructure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Contract</a:t>
                      </a:r>
                    </a:p>
                  </a:txBody>
                  <a:tcPr marL="82296" marR="64008" marT="32004" marB="32004" anchor="ctr">
                    <a:solidFill>
                      <a:srgbClr val="F6F3EF"/>
                    </a:solidFill>
                  </a:tcPr>
                </a:tc>
                <a:tc>
                  <a:txBody>
                    <a:bodyPr wrap="square"/>
                    <a:lstStyle/>
                    <a:p>
                      <a:pPr algn="l"/>
                      <a:r>
                        <a:rPr sz="1000" b="0">
                          <a:solidFill>
                            <a:srgbClr val="1C1C1E"/>
                          </a:solidFill>
                          <a:latin typeface="Calibri"/>
                        </a:rPr>
                        <a:t>API matches the spec; SDK round-trips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Adversarial</a:t>
                      </a:r>
                    </a:p>
                  </a:txBody>
                  <a:tcPr marL="82296" marR="64008" marT="32004" marB="32004" anchor="ctr">
                    <a:solidFill>
                      <a:srgbClr val="FFFFFF"/>
                    </a:solidFill>
                  </a:tcPr>
                </a:tc>
                <a:tc>
                  <a:txBody>
                    <a:bodyPr wrap="square"/>
                    <a:lstStyle/>
                    <a:p>
                      <a:pPr algn="l"/>
                      <a:r>
                        <a:rPr sz="1000" b="0">
                          <a:solidFill>
                            <a:srgbClr val="1C1C1E"/>
                          </a:solidFill>
                          <a:latin typeface="Calibri"/>
                        </a:rPr>
                        <a:t>Leakage injection · RLS negative tests · stampede load · malicious artifacts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Migration</a:t>
                      </a:r>
                    </a:p>
                  </a:txBody>
                  <a:tcPr marL="82296" marR="64008" marT="32004" marB="32004" anchor="ctr">
                    <a:solidFill>
                      <a:srgbClr val="F6F3EF"/>
                    </a:solidFill>
                  </a:tcPr>
                </a:tc>
                <a:tc>
                  <a:txBody>
                    <a:bodyPr wrap="square"/>
                    <a:lstStyle/>
                    <a:p>
                      <a:pPr algn="l"/>
                      <a:r>
                        <a:rPr sz="1000" b="0">
                          <a:solidFill>
                            <a:srgbClr val="1C1C1E"/>
                          </a:solidFill>
                          <a:latin typeface="Calibri"/>
                        </a:rPr>
                        <a:t>Up and down against production-shaped data</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Performance</a:t>
                      </a:r>
                    </a:p>
                  </a:txBody>
                  <a:tcPr marL="82296" marR="64008" marT="32004" marB="32004" anchor="ctr">
                    <a:solidFill>
                      <a:srgbClr val="FFFFFF"/>
                    </a:solidFill>
                  </a:tcPr>
                </a:tc>
                <a:tc>
                  <a:txBody>
                    <a:bodyPr wrap="square"/>
                    <a:lstStyle/>
                    <a:p>
                      <a:pPr algn="l"/>
                      <a:r>
                        <a:rPr sz="1000" b="0">
                          <a:solidFill>
                            <a:srgbClr val="1C1C1E"/>
                          </a:solidFill>
                          <a:latin typeface="Calibri"/>
                        </a:rPr>
                        <a:t>The SLOs, or the build fails</a:t>
                      </a:r>
                    </a:p>
                  </a:txBody>
                  <a:tcPr marL="82296" marR="64008" marT="32004" marB="32004" anchor="ctr">
                    <a:solidFill>
                      <a:srgbClr val="FFFFFF"/>
                    </a:solidFill>
                  </a:tcPr>
                </a:tc>
              </a:tr>
            </a:tbl>
          </a:graphicData>
        </a:graphic>
      </p:graphicFrame>
      <p:sp>
        <p:nvSpPr>
          <p:cNvPr id="14" name="TextBox 13"/>
          <p:cNvSpPr txBox="1"/>
          <p:nvPr/>
        </p:nvSpPr>
        <p:spPr>
          <a:xfrm>
            <a:off x="6414964" y="5179822"/>
            <a:ext cx="4999491" cy="82296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adversarial tests are not optional. </a:t>
            </a:r>
            <a:r>
              <a:rPr sz="1050" b="0" i="0">
                <a:solidFill>
                  <a:srgbClr val="1C1C1E"/>
                </a:solidFill>
                <a:latin typeface="Calibri"/>
              </a:rPr>
              <a:t>A PIT verifier that silently stops detecting leakage, or an RLS policy that silently stops isolating, is a catastrophic invisible regression. Both are tested by injecting the failure they must catch.</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Seven kinds of model, one at a time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24</a:t>
            </a:r>
          </a:p>
        </p:txBody>
      </p:sp>
      <p:sp>
        <p:nvSpPr>
          <p:cNvPr id="5" name="TextBox 4"/>
          <p:cNvSpPr txBox="1"/>
          <p:nvPr/>
        </p:nvSpPr>
        <p:spPr>
          <a:xfrm>
            <a:off x="1005840" y="2346350"/>
            <a:ext cx="6169584" cy="1188720"/>
          </a:xfrm>
          <a:prstGeom prst="rect">
            <a:avLst/>
          </a:prstGeom>
          <a:noFill/>
        </p:spPr>
        <p:txBody>
          <a:bodyPr wrap="square" lIns="0" rIns="0" tIns="0" bIns="0" anchor="t">
            <a:spAutoFit/>
          </a:bodyPr>
          <a:lstStyle/>
          <a:p>
            <a:pPr algn="l">
              <a:spcBef>
                <a:spcPts val="0"/>
              </a:spcBef>
              <a:spcAft>
                <a:spcPts val="0"/>
              </a:spcAft>
            </a:pPr>
            <a:r>
              <a:rPr sz="4400" b="0" i="0">
                <a:solidFill>
                  <a:srgbClr val="FFFFFF"/>
                </a:solidFill>
                <a:latin typeface="Georgia"/>
              </a:rPr>
              <a:t>Every Kind of Model</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Seven shapes, one definition — and how each is saved, managed and served.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matrix, on one page</a:t>
            </a:r>
          </a:p>
          <a:p>
            <a:pPr>
              <a:lnSpc>
                <a:spcPct val="115000"/>
              </a:lnSpc>
              <a:spcBef>
                <a:spcPts val="0"/>
              </a:spcBef>
              <a:spcAft>
                <a:spcPts val="700"/>
              </a:spcAft>
            </a:pPr>
            <a:r>
              <a:rPr sz="1150" b="0" i="0">
                <a:solidFill>
                  <a:srgbClr val="F6E6E9"/>
                </a:solidFill>
                <a:latin typeface="Calibri"/>
              </a:rPr>
              <a:t>Regression, GARCH, closed-form</a:t>
            </a:r>
          </a:p>
          <a:p>
            <a:pPr>
              <a:lnSpc>
                <a:spcPct val="115000"/>
              </a:lnSpc>
              <a:spcBef>
                <a:spcPts val="0"/>
              </a:spcBef>
              <a:spcAft>
                <a:spcPts val="700"/>
              </a:spcAft>
            </a:pPr>
            <a:r>
              <a:rPr sz="1150" b="0" i="0">
                <a:solidFill>
                  <a:srgbClr val="F6E6E9"/>
                </a:solidFill>
                <a:latin typeface="Calibri"/>
              </a:rPr>
              <a:t>Calibration and simulation</a:t>
            </a:r>
          </a:p>
          <a:p>
            <a:pPr>
              <a:lnSpc>
                <a:spcPct val="115000"/>
              </a:lnSpc>
              <a:spcBef>
                <a:spcPts val="0"/>
              </a:spcBef>
              <a:spcAft>
                <a:spcPts val="700"/>
              </a:spcAft>
            </a:pPr>
            <a:r>
              <a:rPr sz="1150" b="0" i="0">
                <a:solidFill>
                  <a:srgbClr val="F6E6E9"/>
                </a:solidFill>
                <a:latin typeface="Calibri"/>
              </a:rPr>
              <a:t>Neural networks and LLMs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137</a:t>
            </a:r>
          </a:p>
        </p:txBody>
      </p:sp>
      <p:graphicFrame>
        <p:nvGraphicFramePr>
          <p:cNvPr id="10" name="Table 9"/>
          <p:cNvGraphicFramePr>
            <a:graphicFrameLocks noGrp="1"/>
          </p:cNvGraphicFramePr>
          <p:nvPr/>
        </p:nvGraphicFramePr>
        <p:xfrm>
          <a:off x="777240" y="1353312"/>
          <a:ext cx="10637212" cy="2794912"/>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T3</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T4</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6F3E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6F3EF"/>
                    </a:solidFill>
                  </a:tcPr>
                </a:tc>
                <a:tc>
                  <a:txBody>
                    <a:bodyPr wrap="square"/>
                    <a:lstStyle/>
                    <a:p>
                      <a:pPr algn="l"/>
                      <a:r>
                        <a:rPr sz="950" b="0">
                          <a:solidFill>
                            <a:srgbClr val="1C1C1E"/>
                          </a:solidFill>
                          <a:latin typeface="Calibri"/>
                        </a:rPr>
                        <a:t>opaque</a:t>
                      </a:r>
                    </a:p>
                  </a:txBody>
                  <a:tcPr marL="82296" marR="64008" marT="32004" marB="32004" anchor="ctr">
                    <a:solidFill>
                      <a:srgbClr val="F6F3EF"/>
                    </a:solidFill>
                  </a:tcPr>
                </a:tc>
                <a:tc>
                  <a:txBody>
                    <a:bodyPr wrap="square"/>
                    <a:lstStyle/>
                    <a:p>
                      <a:pPr algn="l"/>
                      <a:r>
                        <a:rPr sz="950" b="0">
                          <a:solidFill>
                            <a:srgbClr val="1C1C1E"/>
                          </a:solidFill>
                          <a:latin typeface="Calibri"/>
                        </a:rPr>
                        <a:t>none</a:t>
                      </a:r>
                    </a:p>
                  </a:txBody>
                  <a:tcPr marL="82296" marR="64008" marT="32004" marB="32004" anchor="ctr">
                    <a:solidFill>
                      <a:srgbClr val="F6F3EF"/>
                    </a:solidFill>
                  </a:tcPr>
                </a:tc>
                <a:tc>
                  <a:txBody>
                    <a:bodyPr wrap="square"/>
                    <a:lstStyle/>
                    <a:p>
                      <a:pPr algn="l"/>
                      <a:r>
                        <a:rPr sz="950" b="0">
                          <a:solidFill>
                            <a:srgbClr val="1C1C1E"/>
                          </a:solidFill>
                          <a:latin typeface="Calibri"/>
                        </a:rPr>
                        <a:t>T6</a:t>
                      </a:r>
                    </a:p>
                  </a:txBody>
                  <a:tcPr marL="82296" marR="64008" marT="32004" marB="32004" anchor="ctr">
                    <a:solidFill>
                      <a:srgbClr val="F6F3EF"/>
                    </a:solidFill>
                  </a:tcPr>
                </a:tc>
              </a:tr>
            </a:tbl>
          </a:graphicData>
        </a:graphic>
      </p:graphicFrame>
      <p:sp>
        <p:nvSpPr>
          <p:cNvPr id="11" name="Rectangle 10"/>
          <p:cNvSpPr/>
          <p:nvPr/>
        </p:nvSpPr>
        <p:spPr>
          <a:xfrm>
            <a:off x="777240" y="4404258"/>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04258"/>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23130"/>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138</a:t>
            </a:r>
          </a:p>
        </p:txBody>
      </p:sp>
      <p:graphicFrame>
        <p:nvGraphicFramePr>
          <p:cNvPr id="10" name="Table 9"/>
          <p:cNvGraphicFramePr>
            <a:graphicFrameLocks noGrp="1"/>
          </p:cNvGraphicFramePr>
          <p:nvPr/>
        </p:nvGraphicFramePr>
        <p:xfrm>
          <a:off x="777240" y="1353312"/>
          <a:ext cx="10637213" cy="2107438"/>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6F3EF"/>
                    </a:solidFill>
                  </a:tcPr>
                </a:tc>
                <a:tc>
                  <a:txBody>
                    <a:bodyPr wrap="square"/>
                    <a:lstStyle/>
                    <a:p>
                      <a:pPr algn="l"/>
                      <a:r>
                        <a:rPr sz="1000" b="0">
                          <a:solidFill>
                            <a:srgbClr val="1C1C1E"/>
                          </a:solidFill>
                          <a:latin typeface="Calibri"/>
                        </a:rPr>
                        <a:t>zero</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6F3E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6F3EF"/>
                    </a:solidFill>
                  </a:tcPr>
                </a:tc>
              </a:tr>
            </a:tbl>
          </a:graphicData>
        </a:graphic>
      </p:graphicFrame>
      <p:sp>
        <p:nvSpPr>
          <p:cNvPr id="11" name="Rectangle 10"/>
          <p:cNvSpPr/>
          <p:nvPr/>
        </p:nvSpPr>
        <p:spPr>
          <a:xfrm>
            <a:off x="777240" y="373507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3507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53942"/>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Linear regression - the ordinary case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139</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ordinary least squares</a:t>
                      </a:r>
                    </a:p>
                  </a:txBody>
                  <a:tcPr marL="82296" marR="64008" marT="32004" marB="32004" anchor="ctr">
                    <a:solidFill>
                      <a:srgbClr val="F6F3EF"/>
                    </a:solidFill>
                  </a:tcPr>
                </a:tc>
                <a:tc>
                  <a:txBody>
                    <a:bodyPr wrap="square"/>
                    <a:lstStyle/>
                    <a:p>
                      <a:pPr algn="l"/>
                      <a:r>
                        <a:rPr sz="1000" b="0">
                          <a:solidFill>
                            <a:srgbClr val="1C1C1E"/>
                          </a:solidFill>
                          <a:latin typeface="Calibri"/>
                        </a:rPr>
                        <a:t>MAYA's own estimator runtime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estimated_coefficients / estimate</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estimator, family ols</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target and regressors</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Values, digested</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coefficients are rows. The digest is re-derived from the values at resolve time, never compared against a stored copy of itself.</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Reviewed one by one</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Each parameter set is approved by somebody who did not record it. The condition number is read before the R-squared.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Warrant names the set</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134863"/>
            <a:ext cx="10637215" cy="61981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61981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40035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condition number first. </a:t>
            </a:r>
            <a:r>
              <a:rPr sz="1050" b="0" i="0">
                <a:solidFill>
                  <a:srgbClr val="1C1C1E"/>
                </a:solidFill>
                <a:latin typeface="Calibri"/>
              </a:rPr>
              <a:t>In the thousands, the coefficients are a solution to this sample rather than a property of the world. MAYA does not decide whether a fit is any good -- it puts the number in front of somebody who can, and records that they looked.</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GARCH and ARIMA - an iterative fit, and state at scoring time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140</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maximum likelihood, iteratively</a:t>
                      </a:r>
                    </a:p>
                  </a:txBody>
                  <a:tcPr marL="82296" marR="64008" marT="32004" marB="32004" anchor="ctr">
                    <a:solidFill>
                      <a:srgbClr val="F6F3EF"/>
                    </a:solidFill>
                  </a:tcPr>
                </a:tc>
                <a:tc>
                  <a:txBody>
                    <a:bodyPr wrap="square"/>
                    <a:lstStyle/>
                    <a:p>
                      <a:pPr algn="l"/>
                      <a:r>
                        <a:rPr sz="1000" b="0">
                          <a:solidFill>
                            <a:srgbClr val="1C1C1E"/>
                          </a:solidFill>
                          <a:latin typeface="Calibri"/>
                        </a:rPr>
                        <a:t>estimator, family garch11</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estimated_coefficients / estimate</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The catch</a:t>
                      </a:r>
                    </a:p>
                  </a:txBody>
                  <a:tcPr marL="82296" marR="64008" marT="32004" marB="32004" anchor="ctr">
                    <a:solidFill>
                      <a:srgbClr val="F6F3EF"/>
                    </a:solidFill>
                  </a:tcPr>
                </a:tc>
                <a:tc>
                  <a:txBody>
                    <a:bodyPr wrap="square"/>
                    <a:lstStyle/>
                    <a:p>
                      <a:pPr algn="l"/>
                      <a:r>
                        <a:rPr sz="1000" b="0">
                          <a:solidFill>
                            <a:srgbClr val="1C1C1E"/>
                          </a:solidFill>
                          <a:latin typeface="Calibri"/>
                        </a:rPr>
                        <a:t>it can fail while looking like it succeeded</a:t>
                      </a:r>
                    </a:p>
                  </a:txBody>
                  <a:tcPr marL="82296" marR="64008" marT="32004" marB="32004" anchor="ctr">
                    <a:solidFill>
                      <a:srgbClr val="F6F3EF"/>
                    </a:solidFill>
                  </a:tcPr>
                </a:tc>
                <a:tc>
                  <a:txBody>
                    <a:bodyPr wrap="square"/>
                    <a:lstStyle/>
                    <a:p>
                      <a:pPr algn="l"/>
                      <a:r>
                        <a:rPr sz="1000" b="0">
                          <a:solidFill>
                            <a:srgbClr val="1C1C1E"/>
                          </a:solidFill>
                          <a:latin typeface="Calibri"/>
                        </a:rPr>
                        <a:t>an unconverged fit is refused, not flagged</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Values, plus convergence</a:t>
            </a:r>
          </a:p>
        </p:txBody>
      </p:sp>
      <p:sp>
        <p:nvSpPr>
          <p:cNvPr id="15" name="TextBox 14"/>
          <p:cNvSpPr txBox="1"/>
          <p:nvPr/>
        </p:nvSpPr>
        <p:spPr>
          <a:xfrm>
            <a:off x="996695"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Iterations, log-likelihood and persistence are part of the result. A result that does not carry them is not reviewable.</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Constrained during the fit</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alpha + beta &lt; 1 is enforced while solving. Without it there is no unconditional variance and the forecast explodes.</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State is supplied, not invented</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Scoring needs the last shock and last variance. The answer says which state it used and which it returns.</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ARMA, ARIMA and EGARCH sit in exactly this slot. </a:t>
            </a:r>
            <a:r>
              <a:rPr sz="850" b="0" i="0">
                <a:solidFill>
                  <a:srgbClr val="1C1C1E"/>
                </a:solidFill>
                <a:latin typeface="Calibri"/>
              </a:rPr>
              <a:t>Same kind, same procedure, order (p, d, q) in the kernel entry. MAYA's captive engine implements ols and garch11 only -- fit the rest in your own engine and deliver the parameters back under the warrant. None of the governance changes, which is the point of separating the estimator from the register.</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141</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calibrated term-structure model - daily, by exception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142</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one set per day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the swaption grid</a:t>
                      </a:r>
                    </a:p>
                  </a:txBody>
                  <a:tcPr marL="82296" marR="64008" marT="32004" marB="32004" anchor="ctr">
                    <a:solidFill>
                      <a:srgbClr val="F6F3EF"/>
                    </a:solidFill>
                  </a:tcPr>
                </a:tc>
                <a:tc>
                  <a:txBody>
                    <a:bodyPr wrap="square"/>
                    <a:lstStyle/>
                    <a:p>
                      <a:pPr algn="l"/>
                      <a:r>
                        <a:rPr sz="1000" b="0">
                          <a:solidFill>
                            <a:srgbClr val="1C1C1E"/>
                          </a:solidFill>
                          <a:latin typeface="Calibri"/>
                        </a:rPr>
                        <a:t>the bank's engine, under a fit warrant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calibration_set / calibrate</a:t>
                      </a:r>
                    </a:p>
                  </a:txBody>
                  <a:tcPr marL="82296" marR="64008" marT="32004" marB="32004" anchor="ctr">
                    <a:solidFill>
                      <a:srgbClr val="FFFFFF"/>
                    </a:solidFill>
                  </a:tcPr>
                </a:tc>
                <a:tc>
                  <a:txBody>
                    <a:bodyPr wrap="square"/>
                    <a:lstStyle/>
                    <a:p>
                      <a:pPr algn="l"/>
                      <a:r>
                        <a:rPr sz="1000" b="0">
                          <a:solidFill>
                            <a:srgbClr val="1C1C1E"/>
                          </a:solidFill>
                          <a:latin typeface="Calibri"/>
                        </a:rPr>
                        <a:t>class T1,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Cadence</a:t>
                      </a:r>
                    </a:p>
                  </a:txBody>
                  <a:tcPr marL="82296" marR="64008" marT="32004" marB="32004" anchor="ctr">
                    <a:solidFill>
                      <a:srgbClr val="F6F3EF"/>
                    </a:solidFill>
                  </a:tcPr>
                </a:tc>
                <a:tc>
                  <a:txBody>
                    <a:bodyPr wrap="square"/>
                    <a:lstStyle/>
                    <a:p>
                      <a:pPr algn="l"/>
                      <a:r>
                        <a:rPr sz="1000" b="0">
                          <a:solidFill>
                            <a:srgbClr val="1C1C1E"/>
                          </a:solidFill>
                          <a:latin typeface="Calibri"/>
                        </a:rPr>
                        <a:t>every morning</a:t>
                      </a:r>
                    </a:p>
                  </a:txBody>
                  <a:tcPr marL="82296" marR="64008" marT="32004" marB="32004" anchor="ctr">
                    <a:solidFill>
                      <a:srgbClr val="F6F3EF"/>
                    </a:solidFill>
                  </a:tcPr>
                </a:tc>
                <a:tc>
                  <a:txBody>
                    <a:bodyPr wrap="square"/>
                    <a:lstStyle/>
                    <a:p>
                      <a:pPr algn="l"/>
                      <a:r>
                        <a:rPr sz="1000" b="0">
                          <a:solidFill>
                            <a:srgbClr val="1C1C1E"/>
                          </a:solidFill>
                          <a:latin typeface="Calibri"/>
                        </a:rPr>
                        <a:t>250 parameter sets, one approved kernel</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set per business day</a:t>
            </a:r>
          </a:p>
        </p:txBody>
      </p:sp>
      <p:sp>
        <p:nvSpPr>
          <p:cNvPr id="15" name="TextBox 14"/>
          <p:cNvSpPr txBox="1"/>
          <p:nvPr/>
        </p:nvSpPr>
        <p:spPr>
          <a:xfrm>
            <a:off x="996695"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provenance = calibrated: the numbers reproduce a market rather than summarise a history, and every downstream reader branches on that.</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by envelope</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published, versioned, case-tested policy accepts what fits and holds what does not. A gate with no refusing case is refused at publication.</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Residuals, not accuracy</a:t>
            </a:r>
          </a:p>
        </p:txBody>
      </p:sp>
      <p:sp>
        <p:nvSpPr>
          <p:cNvPr id="25" name="TextBox 24"/>
          <p:cNvSpPr txBox="1"/>
          <p:nvPr/>
        </p:nvSpPr>
        <p:spPr>
          <a:xfrm>
            <a:off x="8258860"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There is no label to wait for. A climbing RMSE means the one-factor form is running out of grid -- a model finding, not a bad day.</a:t>
            </a:r>
          </a:p>
        </p:txBody>
      </p:sp>
      <p:sp>
        <p:nvSpPr>
          <p:cNvPr id="26" name="Rectangle 25"/>
          <p:cNvSpPr/>
          <p:nvPr/>
        </p:nvSpPr>
        <p:spPr>
          <a:xfrm>
            <a:off x="777240" y="5546344"/>
            <a:ext cx="10637215" cy="61114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1114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391693"/>
          </a:xfrm>
          <a:prstGeom prst="rect">
            <a:avLst/>
          </a:prstGeom>
          <a:noFill/>
        </p:spPr>
        <p:txBody>
          <a:bodyPr wrap="square" lIns="0" rIns="0" tIns="0" bIns="0" anchor="t">
            <a:spAutoFit/>
          </a:bodyPr>
          <a:lstStyle/>
          <a:p>
            <a:pPr algn="l">
              <a:lnSpc>
                <a:spcPct val="124000"/>
              </a:lnSpc>
              <a:spcBef>
                <a:spcPts val="0"/>
              </a:spcBef>
              <a:spcAft>
                <a:spcPts val="0"/>
              </a:spcAft>
            </a:pPr>
            <a:r>
              <a:rPr sz="1025" b="1" i="0">
                <a:solidFill>
                  <a:srgbClr val="A51C30"/>
                </a:solidFill>
                <a:latin typeface="Calibri"/>
              </a:rPr>
              <a:t>Nobody approves 250 calibrations a year. </a:t>
            </a:r>
            <a:r>
              <a:rPr sz="1025" b="0" i="0">
                <a:solidFill>
                  <a:srgbClr val="1C1C1E"/>
                </a:solidFill>
                <a:latin typeface="Calibri"/>
              </a:rPr>
              <a:t>Somebody approves the envelope once and looks at the eleven days it was breached. That is what 'recording new parameters is not a new model version' buys operationally -- and why calibrated is its own class rather than a kind of training.</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Monte Carlo engine - the seed is a parameter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parameters, seed, path count, scheme, antithetic flag</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the bank's engine, under a fit warrant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calibration_set / calibrate</a:t>
                      </a:r>
                    </a:p>
                  </a:txBody>
                  <a:tcPr marL="82296" marR="64008" marT="32004" marB="32004" anchor="ctr">
                    <a:solidFill>
                      <a:srgbClr val="FFFFFF"/>
                    </a:solidFill>
                  </a:tcPr>
                </a:tc>
                <a:tc>
                  <a:txBody>
                    <a:bodyPr wrap="square"/>
                    <a:lstStyle/>
                    <a:p>
                      <a:pPr algn="l"/>
                      <a:r>
                        <a:rPr sz="1000" b="0">
                          <a:solidFill>
                            <a:srgbClr val="1C1C1E"/>
                          </a:solidFill>
                          <a:latin typeface="Calibri"/>
                        </a:rPr>
                        <a:t>class T1,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Claim checked</a:t>
                      </a:r>
                    </a:p>
                  </a:txBody>
                  <a:tcPr marL="82296" marR="64008" marT="32004" marB="32004" anchor="ctr">
                    <a:solidFill>
                      <a:srgbClr val="F6F3EF"/>
                    </a:solidFill>
                  </a:tcPr>
                </a:tc>
                <a:tc>
                  <a:txBody>
                    <a:bodyPr wrap="square"/>
                    <a:lstStyle/>
                    <a:p>
                      <a:pPr algn="l"/>
                      <a:r>
                        <a:rPr sz="1000" b="0">
                          <a:solidFill>
                            <a:srgbClr val="1C1C1E"/>
                          </a:solidFill>
                          <a:latin typeface="Calibri"/>
                        </a:rPr>
                        <a:t>deterministic = true</a:t>
                      </a:r>
                    </a:p>
                  </a:txBody>
                  <a:tcPr marL="82296" marR="64008" marT="32004" marB="32004" anchor="ctr">
                    <a:solidFill>
                      <a:srgbClr val="F6F3EF"/>
                    </a:solidFill>
                  </a:tcPr>
                </a:tc>
                <a:tc>
                  <a:txBody>
                    <a:bodyPr wrap="square"/>
                    <a:lstStyle/>
                    <a:p>
                      <a:pPr algn="l"/>
                      <a:r>
                        <a:rPr sz="1000" b="0">
                          <a:solidFill>
                            <a:srgbClr val="1C1C1E"/>
                          </a:solidFill>
                          <a:latin typeface="Calibri"/>
                        </a:rPr>
                        <a:t>L-W6: refused if no seed is bound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Configuration is in P</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Paths, seed, scheme and antithetic each change the answer. If they are not in P they are not in the digest, the warrant or the replay.</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Standard error is reviewed</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Monte Carlo answer is an estimate with an interval. The convergence study attaches to the parameter set as evidence with an author.</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verb is simulate</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Drawing from the output distribution is a different operation from scoring. A warrant for score will not simulate.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Eleven thousand tests could not catch it. </a:t>
            </a:r>
            <a:r>
              <a:rPr sz="1050" b="0" i="0">
                <a:solidFill>
                  <a:srgbClr val="1C1C1E"/>
                </a:solidFill>
                <a:latin typeface="Calibri"/>
              </a:rPr>
              <a:t>An engine reseeded per request instead of once at start-up passed every single-trade valuation, because a single valuation averages over paths either way. What changed was the correlation BETWEEN valuations in a netting set. No number of tests of that shape would have found it: every element of the suite had length one.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144</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T4,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145</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did not have to change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146</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definition, seven media</a:t>
            </a:r>
          </a:p>
        </p:txBody>
      </p:sp>
      <p:sp>
        <p:nvSpPr>
          <p:cNvPr id="14" name="TextBox 13"/>
          <p:cNvSpPr txBox="1"/>
          <p:nvPr/>
        </p:nvSpPr>
        <p:spPr>
          <a:xfrm>
            <a:off x="996695"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 : P (x) X -&gt; D(Y) took a closed-form pricer, a daily calibration, a 20-million-weight network and a prompt assembly without a special case in the register.</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class is derived, not declared</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4A4F57"/>
                </a:solidFill>
                <a:latin typeface="Calibri"/>
              </a:rPr>
              <a:t>Nobody self-reported 'is this trained?'. The class falls out of how P is inhabited, which is a fact about the artifact rather than an opinion about it.</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unit of change follows the medium</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Values refit into a new parameter set; an artifact refits into a new version. That is a consequence of the medium, not a policy choice.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Warrants did not fork</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One grammar, four vocabularies. simulate and generate are verbs it already had, and the laws that check them are the same laws.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Evidence is uniform</a:t>
            </a:r>
          </a:p>
        </p:txBody>
      </p:sp>
      <p:sp>
        <p:nvSpPr>
          <p:cNvPr id="34" name="TextBox 33"/>
          <p:cNvSpPr txBox="1"/>
          <p:nvPr/>
        </p:nvSpPr>
        <p:spPr>
          <a:xfrm>
            <a:off x="4633874"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same append-only chain records a calibration, a training run and a drafted paragraph, so one query answers 'what happened to this model' across all of them.</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seventh one fitted without a redesign</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Which is the only evidence for the definition that counts. A taxonomy that needs a new branch per model family is a list.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25</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A Worked Example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Real data, real fits: the S&amp;P 500 and the US unemployment rate.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data, and its two clocks</a:t>
            </a:r>
          </a:p>
          <a:p>
            <a:pPr>
              <a:lnSpc>
                <a:spcPct val="115000"/>
              </a:lnSpc>
              <a:spcBef>
                <a:spcPts val="0"/>
              </a:spcBef>
              <a:spcAft>
                <a:spcPts val="700"/>
              </a:spcAft>
            </a:pPr>
            <a:r>
              <a:rPr sz="1150" b="0" i="0">
                <a:solidFill>
                  <a:srgbClr val="F6E6E9"/>
                </a:solidFill>
                <a:latin typeface="Calibri"/>
              </a:rPr>
              <a:t>The gap that is really there</a:t>
            </a:r>
          </a:p>
          <a:p>
            <a:pPr>
              <a:lnSpc>
                <a:spcPct val="115000"/>
              </a:lnSpc>
              <a:spcBef>
                <a:spcPts val="0"/>
              </a:spcBef>
              <a:spcAft>
                <a:spcPts val="700"/>
              </a:spcAft>
            </a:pPr>
            <a:r>
              <a:rPr sz="1150" b="0" i="0">
                <a:solidFill>
                  <a:srgbClr val="F6E6E9"/>
                </a:solidFill>
                <a:latin typeface="Calibri"/>
              </a:rPr>
              <a:t>Two models over one X</a:t>
            </a:r>
          </a:p>
          <a:p>
            <a:pPr>
              <a:lnSpc>
                <a:spcPct val="115000"/>
              </a:lnSpc>
              <a:spcBef>
                <a:spcPts val="0"/>
              </a:spcBef>
              <a:spcAft>
                <a:spcPts val="700"/>
              </a:spcAft>
            </a:pPr>
            <a:r>
              <a:rPr sz="1150" b="0" i="0">
                <a:solidFill>
                  <a:srgbClr val="F6E6E9"/>
                </a:solidFill>
                <a:latin typeface="Calibri"/>
              </a:rPr>
              <a:t>Extending it, and what that forces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148</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258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not a hypothetical about leakage. It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149</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Nothing was constructed to make this slide interesting — the hole is in the series.</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150</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151</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152</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They are the data every number in this chapter was computed from, carrying their own provenance in the header — which series, from where, retrieved when, and which column means what.</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 and a file that did not say so would be inviting somebody to rely on it.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258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in the repository, at docs/examples/, as CSV. </a:t>
            </a:r>
            <a:r>
              <a:rPr sz="1050" b="0" i="0">
                <a:solidFill>
                  <a:srgbClr val="1C1C1E"/>
                </a:solidFill>
                <a:latin typeface="Calibri"/>
              </a:rPr>
              <a:t>The deck is regenerated from source rather than edited as a binary, so the figures and the files cannot drift apart — </a:t>
            </a:r>
            <a:r>
              <a:rPr sz="1050" b="1" i="0">
                <a:solidFill>
                  <a:srgbClr val="1C1C1E"/>
                </a:solidFill>
                <a:latin typeface="Calibri"/>
              </a:rPr>
              <a:t>the generator reads these same two CSVs.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1143000" y="10058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TextBox 4"/>
          <p:cNvSpPr txBox="1"/>
          <p:nvPr/>
        </p:nvSpPr>
        <p:spPr>
          <a:xfrm>
            <a:off x="1143000" y="1280160"/>
            <a:ext cx="8509772" cy="2377440"/>
          </a:xfrm>
          <a:prstGeom prst="rect">
            <a:avLst/>
          </a:prstGeom>
          <a:noFill/>
        </p:spPr>
        <p:txBody>
          <a:bodyPr wrap="square" lIns="0" rIns="0" tIns="0" bIns="0" anchor="t">
            <a:spAutoFit/>
          </a:bodyPr>
          <a:lstStyle/>
          <a:p>
            <a:pPr algn="l">
              <a:spcBef>
                <a:spcPts val="0"/>
              </a:spcBef>
              <a:spcAft>
                <a:spcPts val="1400"/>
              </a:spcAft>
            </a:pPr>
            <a:r>
              <a:rPr sz="3400" b="0" i="0">
                <a:solidFill>
                  <a:srgbClr val="FFFFFF"/>
                </a:solidFill>
                <a:latin typeface="Georgia"/>
              </a:rPr>
              <a:t>One idea, applied everywhere</a:t>
            </a:r>
          </a:p>
          <a:p>
            <a:pPr>
              <a:lnSpc>
                <a:spcPct val="132000"/>
              </a:lnSpc>
              <a:spcBef>
                <a:spcPts val="0"/>
              </a:spcBef>
              <a:spcAft>
                <a:spcPts val="0"/>
              </a:spcAft>
            </a:pPr>
            <a:r>
              <a:rPr sz="1500" b="0" i="1">
                <a:solidFill>
                  <a:srgbClr val="F4DFE3"/>
                </a:solidFill>
                <a:latin typeface="Calibri"/>
              </a:rPr>
              <a:t>A pin is to a version, never to a name. A clock records when something became knowable, not when it was written down. A refusal says what to do instead. And what the platform will not do is written down beside what it will.</a:t>
            </a:r>
          </a:p>
        </p:txBody>
      </p:sp>
      <p:sp>
        <p:nvSpPr>
          <p:cNvPr id="6" name="TextBox 5"/>
          <p:cNvSpPr txBox="1"/>
          <p:nvPr/>
        </p:nvSpPr>
        <p:spPr>
          <a:xfrm>
            <a:off x="1143000" y="3858768"/>
            <a:ext cx="7871539" cy="192024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design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153</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Immutability is enforced, not asserted</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Triggers that raise, append-only database roles, a chain anchored outside the system. Silence is never an acceptable enforcement mechanism.</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Every derived value carries its derivation</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status, scope, health — each written with its inputs, rule version and rationale, in the same transaction.</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Extension without migration</a:t>
            </a:r>
          </a:p>
        </p:txBody>
      </p:sp>
      <p:sp>
        <p:nvSpPr>
          <p:cNvPr id="24" name="TextBox 23"/>
          <p:cNvSpPr txBox="1"/>
          <p:nvPr/>
        </p:nvSpPr>
        <p:spPr>
          <a:xfrm>
            <a:off x="8271052"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Model classes are fibres, regulators are institutions. Nine plugin points. A new kind of model needs no DDL and no front-end release.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not a single point of failure</a:t>
            </a:r>
          </a:p>
        </p:txBody>
      </p:sp>
      <p:sp>
        <p:nvSpPr>
          <p:cNvPr id="29" name="TextBox 28"/>
          <p:cNvSpPr txBox="1"/>
          <p:nvPr/>
        </p:nvSpPr>
        <p:spPr>
          <a:xfrm>
            <a:off x="996695"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the control plane is down, authorised scoring continues. Only new issuance and changes stop.</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SDK-first, schema-generated forms, compiled documentation. If governance is slower than the workaround, the inventory rots.</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theory is tested</a:t>
            </a:r>
          </a:p>
        </p:txBody>
      </p:sp>
      <p:sp>
        <p:nvSpPr>
          <p:cNvPr id="39" name="TextBox 38"/>
          <p:cNvSpPr txBox="1"/>
          <p:nvPr/>
        </p:nvSpPr>
        <p:spPr>
          <a:xfrm>
            <a:off x="8271052"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Seventeen laws run today and a failing one fails the build. The remaining twelve are stated and marked as not yet executable — because a document claiming all of them run is the decay it was written to prevent.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4" name="Picture 3" descr="maya-mark-white.png"/>
          <p:cNvPicPr>
            <a:picLocks noChangeAspect="1"/>
          </p:cNvPicPr>
          <p:nvPr/>
        </p:nvPicPr>
        <p:blipFill>
          <a:blip r:embed="rId2"/>
          <a:stretch>
            <a:fillRect/>
          </a:stretch>
        </p:blipFill>
        <p:spPr>
          <a:xfrm>
            <a:off x="1124712" y="1481328"/>
            <a:ext cx="841248" cy="841248"/>
          </a:xfrm>
          <a:prstGeom prst="rect">
            <a:avLst/>
          </a:prstGeom>
        </p:spPr>
      </p:pic>
      <p:sp>
        <p:nvSpPr>
          <p:cNvPr id="5" name="TextBox 4"/>
          <p:cNvSpPr txBox="1"/>
          <p:nvPr/>
        </p:nvSpPr>
        <p:spPr>
          <a:xfrm>
            <a:off x="1143000" y="2468880"/>
            <a:ext cx="8722516" cy="1463040"/>
          </a:xfrm>
          <a:prstGeom prst="rect">
            <a:avLst/>
          </a:prstGeom>
          <a:noFill/>
        </p:spPr>
        <p:txBody>
          <a:bodyPr wrap="square" lIns="0" rIns="0" tIns="0" bIns="0" anchor="t">
            <a:spAutoFit/>
          </a:bodyPr>
          <a:lstStyle/>
          <a:p>
            <a:pPr algn="l">
              <a:spcBef>
                <a:spcPts val="0"/>
              </a:spcBef>
              <a:spcAft>
                <a:spcPts val="600"/>
              </a:spcAft>
            </a:pPr>
            <a:r>
              <a:rPr sz="3800" b="0" i="0">
                <a:solidFill>
                  <a:srgbClr val="FFFFFF"/>
                </a:solidFill>
                <a:latin typeface="Georgia"/>
              </a:rPr>
              <a:t>Detailed System Design</a:t>
            </a:r>
          </a:p>
          <a:p>
            <a:pPr>
              <a:spcBef>
                <a:spcPts val="0"/>
              </a:spcBef>
              <a:spcAft>
                <a:spcPts val="800"/>
              </a:spcAft>
            </a:pPr>
            <a:r>
              <a:rPr sz="1700" b="0" i="1">
                <a:solidFill>
                  <a:srgbClr val="F2D8DC"/>
                </a:solidFill>
                <a:latin typeface="Georgia"/>
              </a:rPr>
              <a:t>Evidence, not assertion.</a:t>
            </a:r>
          </a:p>
        </p:txBody>
      </p:sp>
      <p:sp>
        <p:nvSpPr>
          <p:cNvPr id="6" name="Rectangle 5"/>
          <p:cNvSpPr/>
          <p:nvPr/>
        </p:nvSpPr>
        <p:spPr>
          <a:xfrm>
            <a:off x="1143000" y="3675887"/>
            <a:ext cx="146304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143000" y="3931920"/>
            <a:ext cx="7871539" cy="137160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Full document: docs/14-detailed-design.md   ·   Architecture: docs/04-architecture.md   ·   Adversarial review: docs/11-adversarial-review.md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