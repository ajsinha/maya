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seven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4" cy="2609925"/>
        </p:xfrm>
        <a:graphic>
          <a:graphicData uri="http://schemas.openxmlformats.org/drawingml/2006/table">
            <a:tbl>
              <a:tblPr firstRow="1">
                <a:tableStyleId>{5C22544A-7EE6-4342-B048-85BDC9FD1C3A}</a:tableStyleId>
              </a:tblPr>
              <a:tblGrid>
                <a:gridCol w="2925828"/>
                <a:gridCol w="4754471"/>
                <a:gridCol w="2956915"/>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And you can stop after</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15, having seen every refusal you will meet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 and chapter 24 for the evidence each class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15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and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and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nowhere;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is nine slides and answers a question the rest of the deck assumes. </a:t>
            </a:r>
            <a:r>
              <a:rPr sz="1050" b="0" i="0">
                <a:solidFill>
                  <a:srgbClr val="1C1C1E"/>
                </a:solidFill>
                <a:latin typeface="Calibri"/>
              </a:rPr>
              <a:t>If you read nothing else, read that — the whole design is downstream of one sentence about what a model is, and the sections that look like engineering decisions are consequences of it rather than choices made beside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66219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~200 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extensibility,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worked examples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11 — Adversarial review</a:t>
                      </a:r>
                    </a:p>
                  </a:txBody>
                  <a:tcPr marL="82296" marR="64008" marT="32004" marB="32004" anchor="ctr">
                    <a:solidFill>
                      <a:srgbClr val="F6F3EF"/>
                    </a:solidFill>
                  </a:tcPr>
                </a:tc>
                <a:tc>
                  <a:txBody>
                    <a:bodyPr wrap="square"/>
                    <a:lstStyle/>
                    <a:p>
                      <a:pPr algn="l"/>
                      <a:r>
                        <a:rPr sz="1050" b="0">
                          <a:solidFill>
                            <a:srgbClr val="1C1C1E"/>
                          </a:solidFill>
                          <a:latin typeface="Calibri"/>
                        </a:rPr>
                        <a:t>what was wrong with all of it</a:t>
                      </a:r>
                    </a:p>
                  </a:txBody>
                  <a:tcPr marL="82296" marR="64008" marT="32004" marB="32004" anchor="ctr">
                    <a:solidFill>
                      <a:srgbClr val="F6F3EF"/>
                    </a:solidFill>
                  </a:tcPr>
                </a:tc>
                <a:tc>
                  <a:txBody>
                    <a:bodyPr wrap="square"/>
                    <a:lstStyle/>
                    <a:p>
                      <a:pPr algn="l"/>
                      <a:r>
                        <a:rPr sz="1050" b="0">
                          <a:solidFill>
                            <a:srgbClr val="1C1C1E"/>
                          </a:solidFill>
                          <a:latin typeface="Calibri"/>
                        </a:rPr>
                        <a:t>27 findings; 17 required redesign — folded in here</a:t>
                      </a:r>
                    </a:p>
                  </a:txBody>
                  <a:tcPr marL="82296" marR="64008" marT="32004" marB="32004" anchor="ctr">
                    <a:solidFill>
                      <a:srgbClr val="F6F3EF"/>
                    </a:solidFill>
                  </a:tcPr>
                </a:tc>
              </a:tr>
            </a:tbl>
          </a:graphicData>
        </a:graphic>
      </p:graphicFrame>
      <p:sp>
        <p:nvSpPr>
          <p:cNvPr id="11" name="Rectangle 10"/>
          <p:cNvSpPr/>
          <p:nvPr/>
        </p:nvSpPr>
        <p:spPr>
          <a:xfrm>
            <a:off x="777240" y="428983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8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70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A practitioner who has read Parts I to III should be able to register a model, compose a featureset and issue a warrant without guessing; and an engineer who has read Part IV should be able to open a component and begin implementing without inventing an interface. Where that is not true it is a gap in this deck rather than a decision left to the reader.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Name, and What It Is For</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māyā is appearance: the representation that stands in for reality and is so easily mistaken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 word means</a:t>
            </a:r>
          </a:p>
          <a:p>
            <a:pPr>
              <a:lnSpc>
                <a:spcPct val="115000"/>
              </a:lnSpc>
              <a:spcBef>
                <a:spcPts val="0"/>
              </a:spcBef>
              <a:spcAft>
                <a:spcPts val="700"/>
              </a:spcAft>
            </a:pPr>
            <a:r>
              <a:rPr sz="1150" b="0" i="0">
                <a:solidFill>
                  <a:srgbClr val="F6E6E9"/>
                </a:solidFill>
                <a:latin typeface="Calibri"/>
              </a:rPr>
              <a:t>The mark, and the oldest model there is</a:t>
            </a:r>
          </a:p>
          <a:p>
            <a:pPr>
              <a:lnSpc>
                <a:spcPct val="115000"/>
              </a:lnSpc>
              <a:spcBef>
                <a:spcPts val="0"/>
              </a:spcBef>
              <a:spcAft>
                <a:spcPts val="700"/>
              </a:spcAft>
            </a:pPr>
            <a:r>
              <a:rPr sz="1150" b="0" i="0">
                <a:solidFill>
                  <a:srgbClr val="F6E6E9"/>
                </a:solidFill>
                <a:latin typeface="Calibri"/>
              </a:rPr>
              <a:t>Map and territory</a:t>
            </a:r>
          </a:p>
          <a:p>
            <a:pPr>
              <a:lnSpc>
                <a:spcPct val="115000"/>
              </a:lnSpc>
              <a:spcBef>
                <a:spcPts val="0"/>
              </a:spcBef>
              <a:spcAft>
                <a:spcPts val="700"/>
              </a:spcAft>
            </a:pPr>
            <a:r>
              <a:rPr sz="1150" b="0" i="0">
                <a:solidFill>
                  <a:srgbClr val="F6E6E9"/>
                </a:solidFill>
                <a:latin typeface="Calibri"/>
              </a:rPr>
              <a:t>What that commits the platform 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a:t>
            </a:r>
          </a:p>
          <a:p>
            <a:pPr>
              <a:lnSpc>
                <a:spcPct val="130000"/>
              </a:lnSpc>
              <a:spcBef>
                <a:spcPts val="0"/>
              </a:spcBef>
              <a:spcAft>
                <a:spcPts val="1000"/>
              </a:spcAft>
            </a:pPr>
            <a:r>
              <a:rPr sz="1300" b="0" i="0">
                <a:solidFill>
                  <a:srgbClr val="1C1C1E"/>
                </a:solidFill>
                <a:latin typeface="Calibri"/>
              </a:rPr>
              <a:t>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That is exactly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5544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554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3350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 and for the discipline of never mistaking it for the world.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A logo is usually decoration. This one is the argument, and the argument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naming it that commits the platform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gap is measured, not denied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carries an operating boundary — the domain it was validated in — and a warrant that runs outside it is refused rather than answered.</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Representation is versioned</a:t>
            </a:r>
          </a:p>
        </p:txBody>
      </p:sp>
      <p:sp>
        <p:nvSpPr>
          <p:cNvPr id="19" name="TextBox 18"/>
          <p:cNvSpPr txBox="1"/>
          <p:nvPr/>
        </p:nvSpPr>
        <p:spPr>
          <a:xfrm>
            <a:off x="4633874"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is a rendering, and renderings are replaced. Immutable versions and a governed alias are what let the rendering change without the thing it renders appearing to.</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Error has a direction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is why an overlay register exists: an adjustment is somebody saying the map is wrong HERE, and that statement is worth keeping.</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Evidence, not assertion. Every claim is bound to the artefact it rests on, because a governance system that asks for trust has reproduced the problem it was built to solve.</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word is not a metaphor</a:t>
            </a:r>
          </a:p>
        </p:txBody>
      </p:sp>
      <p:sp>
        <p:nvSpPr>
          <p:cNvPr id="34" name="TextBox 33"/>
          <p:cNvSpPr txBox="1"/>
          <p:nvPr/>
        </p:nvSpPr>
        <p:spPr>
          <a:xfrm>
            <a:off x="4633874"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the definition. A model is a map; governance is knowing the difference; and every refusal in this platform is an instance of that sentence.</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it applies to MAYA itself</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platform is also a representation — of an estate. Its own documentation is compiled from the register rather than written, so the map of the maps cannot drift either.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One Estate, Many Kinds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Why “is it AI?” separates nothing useful, and what it costs to keep asking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is actually in the estate</a:t>
            </a:r>
          </a:p>
          <a:p>
            <a:pPr>
              <a:lnSpc>
                <a:spcPct val="115000"/>
              </a:lnSpc>
              <a:spcBef>
                <a:spcPts val="0"/>
              </a:spcBef>
              <a:spcAft>
                <a:spcPts val="700"/>
              </a:spcAft>
            </a:pPr>
            <a:r>
              <a:rPr sz="1150" b="0" i="0">
                <a:solidFill>
                  <a:srgbClr val="F6E6E9"/>
                </a:solidFill>
                <a:latin typeface="Calibri"/>
              </a:rPr>
              <a:t>The question that sorts it wrongly</a:t>
            </a:r>
          </a:p>
          <a:p>
            <a:pPr>
              <a:lnSpc>
                <a:spcPct val="115000"/>
              </a:lnSpc>
              <a:spcBef>
                <a:spcPts val="0"/>
              </a:spcBef>
              <a:spcAft>
                <a:spcPts val="700"/>
              </a:spcAft>
            </a:pPr>
            <a:r>
              <a:rPr sz="1150" b="0" i="0">
                <a:solidFill>
                  <a:srgbClr val="F6E6E9"/>
                </a:solidFill>
                <a:latin typeface="Calibri"/>
              </a:rPr>
              <a:t>The question that sorts it correctly</a:t>
            </a:r>
          </a:p>
          <a:p>
            <a:pPr>
              <a:lnSpc>
                <a:spcPct val="115000"/>
              </a:lnSpc>
              <a:spcBef>
                <a:spcPts val="0"/>
              </a:spcBef>
              <a:spcAft>
                <a:spcPts val="700"/>
              </a:spcAft>
            </a:pPr>
            <a:r>
              <a:rPr sz="1150" b="0" i="0">
                <a:solidFill>
                  <a:srgbClr val="F6E6E9"/>
                </a:solidFill>
                <a:latin typeface="Calibri"/>
              </a:rPr>
              <a:t>Asserted, not evidenced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353312"/>
          <a:ext cx="10637214" cy="2863088"/>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FFFFF"/>
                    </a:solidFill>
                  </a:tcPr>
                </a:tc>
                <a:tc>
                  <a:txBody>
                    <a:bodyPr wrap="square"/>
                    <a:lstStyle/>
                    <a:p>
                      <a:pPr algn="l"/>
                      <a:r>
                        <a:rPr sz="1000" b="0">
                          <a:solidFill>
                            <a:srgbClr val="1C1C1E"/>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growing</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6F3E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6F3EF"/>
                    </a:solidFill>
                  </a:tcPr>
                </a:tc>
                <a:tc>
                  <a:txBody>
                    <a:bodyPr wrap="square"/>
                    <a:lstStyle/>
                    <a:p>
                      <a:pPr algn="l"/>
                      <a:r>
                        <a:rPr sz="1000" b="0">
                          <a:solidFill>
                            <a:srgbClr val="1C1C1E"/>
                          </a:solidFill>
                          <a:latin typeface="Calibri"/>
                        </a:rPr>
                        <a:t>unknowable</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FFFF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6F3EF"/>
                    </a:solidFill>
                  </a:tcPr>
                </a:tc>
                <a:tc>
                  <a:txBody>
                    <a:bodyPr wrap="square"/>
                    <a:lstStyle/>
                    <a:p>
                      <a:pPr algn="l"/>
                      <a:r>
                        <a:rPr sz="1000" b="0">
                          <a:solidFill>
                            <a:srgbClr val="1C1C1E"/>
                          </a:solidFill>
                          <a:latin typeface="Calibri"/>
                        </a:rPr>
                        <a:t>cells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thousands</a:t>
                      </a:r>
                    </a:p>
                  </a:txBody>
                  <a:tcPr marL="82296" marR="64008" marT="32004" marB="32004" anchor="ctr">
                    <a:solidFill>
                      <a:srgbClr val="F6F3EF"/>
                    </a:solidFill>
                  </a:tcPr>
                </a:tc>
              </a:tr>
            </a:tbl>
          </a:graphicData>
        </a:graphic>
      </p:graphicFrame>
      <p:sp>
        <p:nvSpPr>
          <p:cNvPr id="11" name="Rectangle 10"/>
          <p:cNvSpPr/>
          <p:nvPr/>
        </p:nvSpPr>
        <p:spPr>
          <a:xfrm>
            <a:off x="777240" y="4472432"/>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72432"/>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130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management is expected to cover all of it with one process. </a:t>
            </a:r>
            <a:r>
              <a:rPr sz="1050" b="0" i="0">
                <a:solidFill>
                  <a:srgbClr val="1C1C1E"/>
                </a:solidFill>
                <a:latin typeface="Calibri"/>
              </a:rPr>
              <a:t>Most tooling responds by covering the third and fourth rows well and leaving the rest to a spreadsheet — which is the same spreadsheet the programme was bought to replace.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SORTS WRONGLY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AI?” puts these in different buckets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TextBox 9"/>
          <p:cNvSpPr txBox="1"/>
          <p:nvPr/>
        </p:nvSpPr>
        <p:spPr>
          <a:xfrm>
            <a:off x="777240" y="1353312"/>
            <a:ext cx="4893118" cy="237744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Different buckets</a:t>
            </a:r>
          </a:p>
          <a:p>
            <a:pPr>
              <a:spcBef>
                <a:spcPts val="0"/>
              </a:spcBef>
              <a:spcAft>
                <a:spcPts val="800"/>
              </a:spcAft>
            </a:pPr>
            <a:r>
              <a:rPr sz="1300" b="0" i="0">
                <a:solidFill>
                  <a:srgbClr val="1C1C1E"/>
                </a:solidFill>
                <a:latin typeface="Consolas"/>
              </a:rPr>
              <a:t>Black–Scholes  ·  a linear regression</a:t>
            </a:r>
          </a:p>
          <a:p>
            <a:pPr>
              <a:lnSpc>
                <a:spcPct val="128000"/>
              </a:lnSpc>
              <a:spcBef>
                <a:spcPts val="0"/>
              </a:spcBef>
              <a:spcAft>
                <a:spcPts val="0"/>
              </a:spcAft>
            </a:pPr>
            <a:r>
              <a:rPr sz="1100" b="0" i="0">
                <a:solidFill>
                  <a:srgbClr val="4A4F57"/>
                </a:solidFill>
                <a:latin typeface="Calibri"/>
              </a:rPr>
              <a:t>One is “not AI” and one is “traditional statistics”, and the validation checklist differs — although both have a closed form, both have an operating boundary, and only one of them has parameters at all.</a:t>
            </a:r>
          </a:p>
        </p:txBody>
      </p:sp>
      <p:sp>
        <p:nvSpPr>
          <p:cNvPr id="11" name="TextBox 10"/>
          <p:cNvSpPr txBox="1"/>
          <p:nvPr/>
        </p:nvSpPr>
        <p:spPr>
          <a:xfrm>
            <a:off x="6308591" y="1353312"/>
            <a:ext cx="4893118" cy="237744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same bucket</a:t>
            </a:r>
          </a:p>
          <a:p>
            <a:pPr>
              <a:spcBef>
                <a:spcPts val="0"/>
              </a:spcBef>
              <a:spcAft>
                <a:spcPts val="800"/>
              </a:spcAft>
            </a:pPr>
            <a:r>
              <a:rPr sz="1300" b="0" i="0">
                <a:solidFill>
                  <a:srgbClr val="1C1C1E"/>
                </a:solidFill>
                <a:latin typeface="Consolas"/>
              </a:rPr>
              <a:t>a linear regression  ·  a large language model</a:t>
            </a:r>
          </a:p>
          <a:p>
            <a:pPr>
              <a:lnSpc>
                <a:spcPct val="128000"/>
              </a:lnSpc>
              <a:spcBef>
                <a:spcPts val="0"/>
              </a:spcBef>
              <a:spcAft>
                <a:spcPts val="0"/>
              </a:spcAft>
            </a:pPr>
            <a:r>
              <a:rPr sz="1100" b="0" i="0">
                <a:solidFill>
                  <a:srgbClr val="4A4F57"/>
                </a:solidFill>
                <a:latin typeface="Calibri"/>
              </a:rPr>
              <a:t>Both are “models”, or on a bad day both are “AI”. One is fitted from eight thousand labelled rows you own; the other is configured around weights somebody else replaces on a Tuesday without telling you.</a:t>
            </a:r>
          </a:p>
        </p:txBody>
      </p:sp>
      <p:sp>
        <p:nvSpPr>
          <p:cNvPr id="12" name="Rectangle 11"/>
          <p:cNvSpPr/>
          <p:nvPr/>
        </p:nvSpPr>
        <p:spPr>
          <a:xfrm>
            <a:off x="777240" y="3959352"/>
            <a:ext cx="10637215"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93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8224"/>
            <a:ext cx="10180015"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Everything downstream inherits the confusion. </a:t>
            </a:r>
            <a:r>
              <a:rPr sz="1050" b="0" i="0">
                <a:solidFill>
                  <a:srgbClr val="1C1C1E"/>
                </a:solidFill>
                <a:latin typeface="Calibri"/>
              </a:rPr>
              <a:t>A validation checklist with fields that make no sense for half the estate, so people learn to write “N/A” and then stop reading the fields at all. An inventory whose categories nobody applies consistently, so two teams classify the same model differently and neither is wrong. And controls that are ceremony for some models and absent for others, which is the worst of the three because it looks like coverage.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2546350"/>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FFFF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FFFFF"/>
                    </a:solidFill>
                  </a:tcPr>
                </a:tc>
                <a:tc>
                  <a:txBody>
                    <a:bodyPr wrap="square"/>
                    <a:lstStyle/>
                    <a:p>
                      <a:pPr algn="l"/>
                      <a:r>
                        <a:rPr sz="1000" b="0">
                          <a:solidFill>
                            <a:srgbClr val="1C1C1E"/>
                          </a:solidFill>
                          <a:latin typeface="Calibri"/>
                        </a:rPr>
                        <a:t>T5</a:t>
                      </a:r>
                    </a:p>
                  </a:txBody>
                  <a:tcPr marL="82296" marR="64008" marT="32004" marB="32004" anchor="ctr">
                    <a:solidFill>
                      <a:srgbClr val="FFFFFF"/>
                    </a:solidFill>
                  </a:tcPr>
                </a:tc>
                <a:tc>
                  <a:txBody>
                    <a:bodyPr wrap="square"/>
                    <a:lstStyle/>
                    <a:p>
                      <a:pPr algn="l"/>
                      <a:r>
                        <a:rPr sz="1000" b="0">
                          <a:solidFill>
                            <a:srgbClr val="1C1C1E"/>
                          </a:solidFill>
                          <a:latin typeface="Calibri"/>
                        </a:rPr>
                        <a:t>configured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bl>
          </a:graphicData>
        </a:graphic>
      </p:graphicFrame>
      <p:sp>
        <p:nvSpPr>
          <p:cNvPr id="11" name="Rectangle 10"/>
          <p:cNvSpPr/>
          <p:nvPr/>
        </p:nvSpPr>
        <p:spPr>
          <a:xfrm>
            <a:off x="777240" y="417398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7398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9285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Nobody self-reports whether their model is trained — which is the question that invites the answer requiring least work. It falls out of two facts about the kernel,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which is the part that should worry a board: the second line is in the same position as the regulator, reading assertions it cannot check against artefacts it cannot reach. Every design decision in the rest of this deck is downstream of refusing that arrangement — and the refusals are where it shows.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Five Positions, and Their Cost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Each one is a choice with a price. The price is stated here rather than discovered later.</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It does not run models</a:t>
            </a:r>
          </a:p>
          <a:p>
            <a:pPr>
              <a:lnSpc>
                <a:spcPct val="115000"/>
              </a:lnSpc>
              <a:spcBef>
                <a:spcPts val="0"/>
              </a:spcBef>
              <a:spcAft>
                <a:spcPts val="700"/>
              </a:spcAft>
            </a:pPr>
            <a:r>
              <a:rPr sz="1150" b="0" i="0">
                <a:solidFill>
                  <a:srgbClr val="F6E6E9"/>
                </a:solidFill>
                <a:latin typeface="Calibri"/>
              </a:rPr>
              <a:t>Evidence, not assertion</a:t>
            </a:r>
          </a:p>
          <a:p>
            <a:pPr>
              <a:lnSpc>
                <a:spcPct val="115000"/>
              </a:lnSpc>
              <a:spcBef>
                <a:spcPts val="0"/>
              </a:spcBef>
              <a:spcAft>
                <a:spcPts val="700"/>
              </a:spcAft>
            </a:pPr>
            <a:r>
              <a:rPr sz="1150" b="0" i="0">
                <a:solidFill>
                  <a:srgbClr val="F6E6E9"/>
                </a:solidFill>
                <a:latin typeface="Calibri"/>
              </a:rPr>
              <a:t>Refusals are the product</a:t>
            </a:r>
          </a:p>
          <a:p>
            <a:pPr>
              <a:lnSpc>
                <a:spcPct val="115000"/>
              </a:lnSpc>
              <a:spcBef>
                <a:spcPts val="0"/>
              </a:spcBef>
              <a:spcAft>
                <a:spcPts val="700"/>
              </a:spcAft>
            </a:pPr>
            <a:r>
              <a:rPr sz="1150" b="0" i="0">
                <a:solidFill>
                  <a:srgbClr val="F6E6E9"/>
                </a:solidFill>
                <a:latin typeface="Calibri"/>
              </a:rPr>
              <a:t>Laws, not conventions</a:t>
            </a:r>
          </a:p>
          <a:p>
            <a:pPr>
              <a:lnSpc>
                <a:spcPct val="115000"/>
              </a:lnSpc>
              <a:spcBef>
                <a:spcPts val="0"/>
              </a:spcBef>
              <a:spcAft>
                <a:spcPts val="700"/>
              </a:spcAft>
            </a:pPr>
            <a:r>
              <a:rPr sz="1150" b="0" i="0">
                <a:solidFill>
                  <a:srgbClr val="F6E6E9"/>
                </a:solidFill>
                <a:latin typeface="Calibri"/>
              </a:rPr>
              <a:t>Derived, not entered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hash-chained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chain can only be as good as what was recorded;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fifteen run, and a failing one fails the build</a:t>
                      </a:r>
                    </a:p>
                  </a:txBody>
                  <a:tcPr marL="82296" marR="64008" marT="32004" marB="32004" anchor="ctr">
                    <a:solidFill>
                      <a:srgbClr val="F6F3EF"/>
                    </a:solidFill>
                  </a:tcPr>
                </a:tc>
                <a:tc>
                  <a:txBody>
                    <a:bodyPr wrap="square"/>
                    <a:lstStyle/>
                    <a:p>
                      <a:pPr algn="l"/>
                      <a:r>
                        <a:rPr sz="1000" b="0">
                          <a:solidFill>
                            <a:srgbClr val="1C1C1E"/>
                          </a:solidFill>
                          <a:latin typeface="Calibri"/>
                        </a:rPr>
                        <a:t>six do not run, and a law stated but not executed prevented nothing</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POSITION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URN</a:t>
            </a:r>
          </a:p>
          <a:p>
            <a:pPr>
              <a:lnSpc>
                <a:spcPct val="115000"/>
              </a:lnSpc>
              <a:spcBef>
                <a:spcPts val="0"/>
              </a:spcBef>
              <a:spcAft>
                <a:spcPts val="600"/>
              </a:spcAft>
            </a:pPr>
            <a:r>
              <a:rPr sz="850" b="0" i="0">
                <a:solidFill>
                  <a:srgbClr val="4A4F57"/>
                </a:solidFill>
                <a:latin typeface="Calibri"/>
              </a:rPr>
              <a:t>maya://model/credit.pd.smallbiz#champion —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It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it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5087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508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12893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people notice first is the one about deployment. </a:t>
            </a:r>
            <a:r>
              <a:rPr sz="1050" b="0" i="0">
                <a:solidFill>
                  <a:srgbClr val="1C1C1E"/>
                </a:solidFill>
                <a:latin typeface="Calibri"/>
              </a:rPr>
              <a:t>Promoting a version requires no consumer to redeploy, because no consumer ever held a version. Revocation takes effect in under sixty seconds for the same reason. And an open blocking finding stops RESOLUTION — so a validation finding actually stops the model, rather than generating an email that somebody files.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POSITION THREE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its parameter</a:t>
            </a:r>
          </a:p>
          <a:p>
            <a:pPr>
              <a:lnSpc>
                <a:spcPct val="134000"/>
              </a:lnSpc>
              <a:spcBef>
                <a:spcPts val="0"/>
              </a:spcBef>
              <a:spcAft>
                <a:spcPts val="0"/>
              </a:spcAft>
            </a:pPr>
            <a:r>
              <a:rPr sz="950" b="0" i="0">
                <a:solidFill>
                  <a:srgbClr val="1C1C1E"/>
                </a:solidFill>
                <a:latin typeface="Consolas"/>
              </a:rPr>
              <a:t>                 object is the terminal object, so there is no point</a:t>
            </a:r>
          </a:p>
          <a:p>
            <a:pPr>
              <a:lnSpc>
                <a:spcPct val="134000"/>
              </a:lnSpc>
              <a:spcBef>
                <a:spcPts val="0"/>
              </a:spcBef>
              <a:spcAft>
                <a:spcPts val="0"/>
              </a:spcAft>
            </a:pPr>
            <a:r>
              <a:rPr sz="950" b="0" i="0">
                <a:solidFill>
                  <a:srgbClr val="1C1C1E"/>
                </a:solidFill>
                <a:latin typeface="Consolas"/>
              </a:rPr>
              <a:t>                 of P to move to",</a:t>
            </a:r>
          </a:p>
          <a:p>
            <a:pPr>
              <a:lnSpc>
                <a:spcPct val="134000"/>
              </a:lnSpc>
              <a:spcBef>
                <a:spcPts val="0"/>
              </a:spcBef>
              <a:spcAft>
                <a:spcPts val="0"/>
              </a:spcAft>
            </a:pPr>
            <a:r>
              <a:rPr sz="950" b="0" i="0">
                <a:solidFill>
                  <a:srgbClr val="1C1C1E"/>
                </a:solidFill>
                <a:latin typeface="Consolas"/>
              </a:rPr>
              <a:t> "remediation": "if this model does have parameters, the kernel</a:t>
            </a:r>
          </a:p>
          <a:p>
            <a:pPr>
              <a:lnSpc>
                <a:spcPct val="134000"/>
              </a:lnSpc>
              <a:spcBef>
                <a:spcPts val="0"/>
              </a:spcBef>
              <a:spcAft>
                <a:spcPts val="0"/>
              </a:spcAft>
            </a:pPr>
            <a:r>
              <a:rPr sz="950" b="0" i="0">
                <a:solidFill>
                  <a:srgbClr val="1C1C1E"/>
                </a:solidFill>
                <a:latin typeface="Consolas"/>
              </a:rPr>
              <a:t>                 declares the wrong parameter_kind;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from a closed taxonomy that maps to a status saying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this one does not say: it does not say “no”. It names the fact about the kernel that made the request meaningless, and points at the version rather than the request — because if the model really does have parameters, the version is where the error is.</a:t>
            </a:r>
          </a:p>
        </p:txBody>
      </p:sp>
      <p:sp>
        <p:nvSpPr>
          <p:cNvPr id="15" name="Rectangle 14"/>
          <p:cNvSpPr/>
          <p:nvPr/>
        </p:nvSpPr>
        <p:spPr>
          <a:xfrm>
            <a:off x="777240" y="3620498"/>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620498"/>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739370"/>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Everything else is bookkeeping — and there is a whole chapter of refusals later, because they are the clearest statement of what the design believes.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The Definition</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 : P ⊗ X → D(Y). One line, and everything else derived from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five words</a:t>
            </a:r>
          </a:p>
          <a:p>
            <a:pPr>
              <a:lnSpc>
                <a:spcPct val="115000"/>
              </a:lnSpc>
              <a:spcBef>
                <a:spcPts val="0"/>
              </a:spcBef>
              <a:spcAft>
                <a:spcPts val="700"/>
              </a:spcAft>
            </a:pPr>
            <a:r>
              <a:rPr sz="1150" b="0" i="0">
                <a:solidFill>
                  <a:srgbClr val="F6E6E9"/>
                </a:solidFill>
                <a:latin typeface="Calibri"/>
              </a:rPr>
              <a:t>Why a distribution</a:t>
            </a:r>
          </a:p>
          <a:p>
            <a:pPr>
              <a:lnSpc>
                <a:spcPct val="115000"/>
              </a:lnSpc>
              <a:spcBef>
                <a:spcPts val="0"/>
              </a:spcBef>
              <a:spcAft>
                <a:spcPts val="700"/>
              </a:spcAft>
            </a:pPr>
            <a:r>
              <a:rPr sz="1150" b="0" i="0">
                <a:solidFill>
                  <a:srgbClr val="F6E6E9"/>
                </a:solidFill>
                <a:latin typeface="Calibri"/>
              </a:rPr>
              <a:t>Trainability, derived</a:t>
            </a:r>
          </a:p>
          <a:p>
            <a:pPr>
              <a:lnSpc>
                <a:spcPct val="115000"/>
              </a:lnSpc>
              <a:spcBef>
                <a:spcPts val="0"/>
              </a:spcBef>
              <a:spcAft>
                <a:spcPts val="700"/>
              </a:spcAft>
            </a:pPr>
            <a:r>
              <a:rPr sz="1150" b="0" i="0">
                <a:solidFill>
                  <a:srgbClr val="F6E6E9"/>
                </a:solidFill>
                <a:latin typeface="Calibri"/>
              </a:rPr>
              <a:t>What it dissolves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tensor: 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which IS a distribution over {default, not}, and treating it as a number is how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2011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2011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792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that receives a distribution and reports a mean has done something the record can name.</a:t>
            </a:r>
          </a:p>
        </p:txBody>
      </p:sp>
      <p:sp>
        <p:nvSpPr>
          <p:cNvPr id="14" name="Rectangle 13"/>
          <p:cNvSpPr/>
          <p:nvPr/>
        </p:nvSpPr>
        <p:spPr>
          <a:xfrm>
            <a:off x="6946824" y="3547872"/>
            <a:ext cx="446763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54787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666744"/>
            <a:ext cx="401043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about the map, and the grammar checks it: a stochastic runtime asserting determinism without a pinned seed is refused rather than believed (L-W5).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531351"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trainability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         ... and adaptive        ⟹   T4   training that continues</a:t>
            </a:r>
          </a:p>
          <a:p>
            <a:pPr>
              <a:lnSpc>
                <a:spcPct val="134000"/>
              </a:lnSpc>
              <a:spcBef>
                <a:spcPts val="0"/>
              </a:spcBef>
              <a:spcAft>
                <a:spcPts val="0"/>
              </a:spcAft>
            </a:pPr>
            <a:r>
              <a:rPr sz="950" b="0" i="0">
                <a:solidFill>
                  <a:srgbClr val="1C1C1E"/>
                </a:solidFill>
                <a:latin typeface="Consolas"/>
              </a:rPr>
              <a:t>llm_configuration×   configure       ⟹   T5   somebody else's model</a:t>
            </a:r>
          </a:p>
          <a:p>
            <a:pPr>
              <a:lnSpc>
                <a:spcPct val="134000"/>
              </a:lnSpc>
              <a:spcBef>
                <a:spcPts val="0"/>
              </a:spcBef>
              <a:spcAft>
                <a:spcPts val="0"/>
              </a:spcAft>
            </a:pPr>
            <a:r>
              <a:rPr sz="950" b="0" i="0">
                <a:solidFill>
                  <a:srgbClr val="1C1C1E"/>
                </a:solidFill>
                <a:latin typeface="Consolas"/>
              </a:rPr>
              <a:t>rule_set         ×   none            ⟹   T8   rules, written down</a:t>
            </a:r>
          </a:p>
          <a:p>
            <a:pPr>
              <a:lnSpc>
                <a:spcPct val="134000"/>
              </a:lnSpc>
              <a:spcBef>
                <a:spcPts val="0"/>
              </a:spcBef>
              <a:spcAft>
                <a:spcPts val="0"/>
              </a:spcAft>
            </a:pPr>
            <a:r>
              <a:rPr sz="950" b="0" i="0">
                <a:solidFill>
                  <a:srgbClr val="1C1C1E"/>
                </a:solidFill>
                <a:latin typeface="Consolas"/>
              </a:rPr>
              <a:t>opaque           ×   none            ⟹   T6   inside a vendor binary</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is a question that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here is a fact about the ARTIFACT rather than an opinion about it. Two facts go in and the class comes out, so it cannot be wrong without one of the two facts being wrong — and those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and the class says which — so a T0 gets benchmarked against an independent implementation and a T3 gets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none ⟹ T8, and it is governed like anything else rather than living in a separate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has an answer that is not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and L-W10 is where that is enforced rather than remembered.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The Algebra</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order for four questions, one fold for two levels, and the laws that make both checkable.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Four implementations of one relation</a:t>
            </a:r>
          </a:p>
          <a:p>
            <a:pPr>
              <a:lnSpc>
                <a:spcPct val="115000"/>
              </a:lnSpc>
              <a:spcBef>
                <a:spcPts val="0"/>
              </a:spcBef>
              <a:spcAft>
                <a:spcPts val="700"/>
              </a:spcAft>
            </a:pPr>
            <a:r>
              <a:rPr sz="1150" b="0" i="0">
                <a:solidFill>
                  <a:srgbClr val="F6E6E9"/>
                </a:solidFill>
                <a:latin typeface="Calibri"/>
              </a:rPr>
              <a:t>Schemas as a lattice</a:t>
            </a:r>
          </a:p>
          <a:p>
            <a:pPr>
              <a:lnSpc>
                <a:spcPct val="115000"/>
              </a:lnSpc>
              <a:spcBef>
                <a:spcPts val="0"/>
              </a:spcBef>
              <a:spcAft>
                <a:spcPts val="700"/>
              </a:spcAft>
            </a:pPr>
            <a:r>
              <a:rPr sz="1150" b="0" i="0">
                <a:solidFill>
                  <a:srgbClr val="F6E6E9"/>
                </a:solidFill>
                <a:latin typeface="Calibri"/>
              </a:rPr>
              <a:t>The fold, and what it buys</a:t>
            </a:r>
          </a:p>
          <a:p>
            <a:pPr>
              <a:lnSpc>
                <a:spcPct val="115000"/>
              </a:lnSpc>
              <a:spcBef>
                <a:spcPts val="0"/>
              </a:spcBef>
              <a:spcAft>
                <a:spcPts val="700"/>
              </a:spcAft>
            </a:pPr>
            <a:r>
              <a:rPr sz="1150" b="0" i="0">
                <a:solidFill>
                  <a:srgbClr val="F6E6E9"/>
                </a:solidFill>
                <a:latin typeface="Calibri"/>
              </a:rPr>
              <a:t>Independent edits commute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places asked one question, four different ways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4" cy="1645920"/>
        </p:xfrm>
        <a:graphic>
          <a:graphicData uri="http://schemas.openxmlformats.org/drawingml/2006/table">
            <a:tbl>
              <a:tblPr firstRow="1">
                <a:tableStyleId>{5C22544A-7EE6-4342-B048-85BDC9FD1C3A}</a:tableStyleId>
              </a:tblPr>
              <a:tblGrid>
                <a:gridCol w="2377235"/>
                <a:gridCol w="4205878"/>
                <a:gridCol w="4054101"/>
              </a:tblGrid>
              <a:tr h="329184">
                <a:tc>
                  <a:txBody>
                    <a:bodyPr wrap="square"/>
                    <a:lstStyle/>
                    <a:p>
                      <a:pPr algn="l"/>
                      <a:r>
                        <a:rPr sz="1050" b="1">
                          <a:solidFill>
                            <a:srgbClr val="FFFFFF"/>
                          </a:solidFill>
                          <a:latin typeface="Calibri"/>
                        </a:rPr>
                        <a:t>Where</a:t>
                      </a:r>
                    </a:p>
                  </a:txBody>
                  <a:tcPr marL="82296" marR="64008" marT="32004" marB="32004" anchor="ctr">
                    <a:solidFill>
                      <a:srgbClr val="A51C30"/>
                    </a:solidFill>
                  </a:tcPr>
                </a:tc>
                <a:tc>
                  <a:txBody>
                    <a:bodyPr wrap="square"/>
                    <a:lstStyle/>
                    <a:p>
                      <a:pPr algn="l"/>
                      <a:r>
                        <a:rPr sz="1050" b="1">
                          <a:solidFill>
                            <a:srgbClr val="FFFFFF"/>
                          </a:solidFill>
                          <a:latin typeface="Calibri"/>
                        </a:rPr>
                        <a:t>What it asked</a:t>
                      </a:r>
                    </a:p>
                  </a:txBody>
                  <a:tcPr marL="82296" marR="64008" marT="32004" marB="32004" anchor="ctr">
                    <a:solidFill>
                      <a:srgbClr val="A51C30"/>
                    </a:solidFill>
                  </a:tcPr>
                </a:tc>
                <a:tc>
                  <a:txBody>
                    <a:bodyPr wrap="square"/>
                    <a:lstStyle/>
                    <a:p>
                      <a:pPr algn="l"/>
                      <a:r>
                        <a:rPr sz="1050" b="1">
                          <a:solidFill>
                            <a:srgbClr val="FFFFFF"/>
                          </a:solidFill>
                          <a:latin typeface="Calibri"/>
                        </a:rPr>
                        <a:t>How it answered</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An alias move</a:t>
                      </a:r>
                    </a:p>
                  </a:txBody>
                  <a:tcPr marL="82296" marR="64008" marT="32004" marB="32004" anchor="ctr">
                    <a:solidFill>
                      <a:srgbClr val="FFFFFF"/>
                    </a:solidFill>
                  </a:tcPr>
                </a:tc>
                <a:tc>
                  <a:txBody>
                    <a:bodyPr wrap="square"/>
                    <a:lstStyle/>
                    <a:p>
                      <a:pPr algn="l"/>
                      <a:r>
                        <a:rPr sz="1050" b="0">
                          <a:solidFill>
                            <a:srgbClr val="1C1C1E"/>
                          </a:solidFill>
                          <a:latin typeface="Calibri"/>
                        </a:rPr>
                        <a:t>is the replacement version substitutable?</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 fit warrant</a:t>
                      </a:r>
                    </a:p>
                  </a:txBody>
                  <a:tcPr marL="82296" marR="64008" marT="32004" marB="32004" anchor="ctr">
                    <a:solidFill>
                      <a:srgbClr val="F6F3EF"/>
                    </a:solidFill>
                  </a:tcPr>
                </a:tc>
                <a:tc>
                  <a:txBody>
                    <a:bodyPr wrap="square"/>
                    <a:lstStyle/>
                    <a:p>
                      <a:pPr algn="l"/>
                      <a:r>
                        <a:rPr sz="1050" b="0">
                          <a:solidFill>
                            <a:srgbClr val="1C1C1E"/>
                          </a:solidFill>
                          <a:latin typeface="Calibri"/>
                        </a:rPr>
                        <a:t>does the featureset provide what the kernel reads?</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slot loop</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An operating contract</a:t>
                      </a:r>
                    </a:p>
                  </a:txBody>
                  <a:tcPr marL="82296" marR="64008" marT="32004" marB="32004" anchor="ctr">
                    <a:solidFill>
                      <a:srgbClr val="FFFFFF"/>
                    </a:solidFill>
                  </a:tcPr>
                </a:tc>
                <a:tc>
                  <a:txBody>
                    <a:bodyPr wrap="square"/>
                    <a:lstStyle/>
                    <a:p>
                      <a:pPr algn="l"/>
                      <a:r>
                        <a:rPr sz="1050" b="0">
                          <a:solidFill>
                            <a:srgbClr val="1C1C1E"/>
                          </a:solidFill>
                          <a:latin typeface="Calibri"/>
                        </a:rPr>
                        <a:t>does the new contract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 dependency edge</a:t>
                      </a:r>
                    </a:p>
                  </a:txBody>
                  <a:tcPr marL="82296" marR="64008" marT="32004" marB="32004" anchor="ctr">
                    <a:solidFill>
                      <a:srgbClr val="F6F3EF"/>
                    </a:solidFill>
                  </a:tcPr>
                </a:tc>
                <a:tc>
                  <a:txBody>
                    <a:bodyPr wrap="square"/>
                    <a:lstStyle/>
                    <a:p>
                      <a:pPr algn="l"/>
                      <a:r>
                        <a:rPr sz="1050" b="0">
                          <a:solidFill>
                            <a:srgbClr val="1C1C1E"/>
                          </a:solidFill>
                          <a:latin typeface="Calibri"/>
                        </a:rPr>
                        <a:t>does the source's output arrive where the target reads?</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r>
            </a:tbl>
          </a:graphicData>
        </a:graphic>
      </p:graphicFrame>
      <p:sp>
        <p:nvSpPr>
          <p:cNvPr id="11" name="Rectangle 10"/>
          <p:cNvSpPr/>
          <p:nvPr/>
        </p:nvSpPr>
        <p:spPr>
          <a:xfrm>
            <a:off x="777240" y="327355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27355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39242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t>
            </a:r>
            <a:r>
              <a:rPr sz="1050" b="0" i="0">
                <a:solidFill>
                  <a:srgbClr val="1C1C1E"/>
                </a:solidFill>
                <a:latin typeface="Calibri"/>
              </a:rPr>
              <a:t>And the direction is predictable: toward PERMITTING MORE, because that is the direction in which nobody files a bug. The fourth row is the worst of them — a dependency graph whose edges were never checked, followed by a blast radius that trusted them. So the relation is written once, and everything that used to ask its own version of the question now asks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744096"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7A7F87"/>
                </a:solidFill>
                <a:latin typeface="Consolas"/>
              </a:rPr>
              <a:t># a NARROWER acceptance is the regression, not a wider one</a:t>
            </a:r>
          </a:p>
        </p:txBody>
      </p:sp>
      <p:sp>
        <p:nvSpPr>
          <p:cNvPr id="14" name="Rectangle 13"/>
          <p:cNvSpPr/>
          <p:nvPr/>
        </p:nvSpPr>
        <p:spPr>
          <a:xfrm>
            <a:off x="777240" y="3302012"/>
            <a:ext cx="5744096"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3020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420884"/>
            <a:ext cx="5286896"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design note had this backwards. </a:t>
            </a:r>
            <a:r>
              <a:rPr sz="1050" b="0" i="0">
                <a:solidFill>
                  <a:srgbClr val="1C1C1E"/>
                </a:solidFill>
                <a:latin typeface="Calibri"/>
              </a:rPr>
              <a:t>It said a refinement is “at a type no wider”, written from the intuition that a subtype is narrower. Standing in for something requires accepting at least what it accepted. The `accepts` relation in the code had it right all along, and writing the implementation found the error in the prose — which is the ordinary direction of that traffic.</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It is a lattice</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Meet is PARTIAL, informatively. </a:t>
            </a:r>
            <a:r>
              <a:rPr sz="1050" b="0" i="0">
                <a:solidFill>
                  <a:srgbClr val="1C1C1E"/>
                </a:solidFill>
                <a:latin typeface="Calibri"/>
              </a:rPr>
              <a:t>Two schemas whose shared slot carries two different dtypes have no meet — no schema accepts both a number and a string in one slot. The honest answer to “can one featureset serve both these models” is then no, with the slot named.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IT UNIFIED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relation, four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353312"/>
          <a:ext cx="10637213" cy="1955479"/>
        </p:xfrm>
        <a:graphic>
          <a:graphicData uri="http://schemas.openxmlformats.org/drawingml/2006/table">
            <a:tbl>
              <a:tblPr firstRow="1">
                <a:tableStyleId>{5C22544A-7EE6-4342-B048-85BDC9FD1C3A}</a:tableStyleId>
              </a:tblPr>
              <a:tblGrid>
                <a:gridCol w="4205878"/>
                <a:gridCol w="3108692"/>
                <a:gridCol w="3322643"/>
              </a:tblGrid>
              <a:tr h="329184">
                <a:tc>
                  <a:txBody>
                    <a:bodyPr wrap="square"/>
                    <a:lstStyle/>
                    <a:p>
                      <a:pPr algn="l"/>
                      <a:r>
                        <a:rPr sz="1050" b="1">
                          <a:solidFill>
                            <a:srgbClr val="FFFFFF"/>
                          </a:solidFill>
                          <a:latin typeface="Calibri"/>
                        </a:rPr>
                        <a:t>Question</a:t>
                      </a:r>
                    </a:p>
                  </a:txBody>
                  <a:tcPr marL="82296" marR="64008" marT="32004" marB="32004" anchor="ctr">
                    <a:solidFill>
                      <a:srgbClr val="A51C30"/>
                    </a:solidFill>
                  </a:tcPr>
                </a:tc>
                <a:tc>
                  <a:txBody>
                    <a:bodyPr wrap="square"/>
                    <a:lstStyle/>
                    <a:p>
                      <a:pPr algn="l"/>
                      <a:r>
                        <a:rPr sz="1050" b="1">
                          <a:solidFill>
                            <a:srgbClr val="FFFFFF"/>
                          </a:solidFill>
                          <a:latin typeface="Calibri"/>
                        </a:rPr>
                        <a:t>Before</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Featureset satisfies the kernel  (L-W10)</a:t>
                      </a:r>
                    </a:p>
                  </a:txBody>
                  <a:tcPr marL="82296" marR="64008" marT="32004" marB="32004" anchor="ctr">
                    <a:solidFill>
                      <a:srgbClr val="FFFFFF"/>
                    </a:solidFill>
                  </a:tcPr>
                </a:tc>
                <a:tc>
                  <a:txBody>
                    <a:bodyPr wrap="square"/>
                    <a:lstStyle/>
                    <a:p>
                      <a:pPr algn="l"/>
                      <a:r>
                        <a:rPr sz="1050" b="0">
                          <a:solidFill>
                            <a:srgbClr val="1C1C1E"/>
                          </a:solidFill>
                          <a:latin typeface="Calibri"/>
                        </a:rPr>
                        <a:t>a bespoke slot loop</a:t>
                      </a:r>
                    </a:p>
                  </a:txBody>
                  <a:tcPr marL="82296" marR="64008" marT="32004" marB="32004" anchor="ctr">
                    <a:solidFill>
                      <a:srgbClr val="FFFFFF"/>
                    </a:solidFill>
                  </a:tcPr>
                </a:tc>
                <a:tc>
                  <a:txBody>
                    <a:bodyPr wrap="square"/>
                    <a:lstStyle/>
                    <a:p>
                      <a:pPr algn="l"/>
                      <a:r>
                        <a:rPr sz="1050" b="0">
                          <a:solidFill>
                            <a:srgbClr val="1C1C1E"/>
                          </a:solidFill>
                          <a:latin typeface="Calibri"/>
                        </a:rPr>
                        <a:t>refines(resolved, kernel_inputs)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Replacement is substitutable  (L-12)</a:t>
                      </a:r>
                    </a:p>
                  </a:txBody>
                  <a:tcPr marL="82296" marR="64008" marT="32004" marB="32004" anchor="ctr">
                    <a:solidFill>
                      <a:srgbClr val="F6F3EF"/>
                    </a:solidFill>
                  </a:tcPr>
                </a:tc>
                <a:tc>
                  <a:txBody>
                    <a:bodyPr wrap="square"/>
                    <a:lstStyle/>
                    <a:p>
                      <a:pPr algn="l"/>
                      <a:r>
                        <a:rPr sz="1050" b="0">
                          <a:solidFill>
                            <a:srgbClr val="1C1C1E"/>
                          </a:solidFill>
                          <a:latin typeface="Calibri"/>
                        </a:rPr>
                        <a:t>accepts_superset_of</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NOT ASKABLE</a:t>
                      </a:r>
                    </a:p>
                  </a:txBody>
                  <a:tcPr marL="82296" marR="64008" marT="32004" marB="32004" anchor="ctr">
                    <a:solidFill>
                      <a:srgbClr val="FFFFFF"/>
                    </a:solidFill>
                  </a:tcPr>
                </a:tc>
                <a:tc>
                  <a:txBody>
                    <a:bodyPr wrap="square"/>
                    <a:lstStyle/>
                    <a:p>
                      <a:pPr algn="l"/>
                      <a:r>
                        <a:rPr sz="1050" b="0">
                          <a:solidFill>
                            <a:srgbClr val="1C1C1E"/>
                          </a:solidFill>
                          <a:latin typeface="Calibri"/>
                        </a:rPr>
                        <a:t>A ⊑ B</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a:t>
                      </a:r>
                    </a:p>
                  </a:txBody>
                  <a:tcPr marL="82296" marR="64008" marT="32004" marB="32004" anchor="ctr">
                    <a:solidFill>
                      <a:srgbClr val="F6F3EF"/>
                    </a:solidFill>
                  </a:tcPr>
                </a:tc>
                <a:tc>
                  <a:txBody>
                    <a:bodyPr wrap="square"/>
                    <a:lstStyle/>
                    <a:p>
                      <a:pPr algn="l"/>
                      <a:r>
                        <a:rPr sz="1050" b="0">
                          <a:solidFill>
                            <a:srgbClr val="1C1C1E"/>
                          </a:solidFill>
                          <a:latin typeface="Calibri"/>
                        </a:rPr>
                        <a:t>NOT ASKABLE</a:t>
                      </a:r>
                    </a:p>
                  </a:txBody>
                  <a:tcPr marL="82296" marR="64008" marT="32004" marB="32004" anchor="ctr">
                    <a:solidFill>
                      <a:srgbClr val="F6F3EF"/>
                    </a:solidFill>
                  </a:tcPr>
                </a:tc>
                <a:tc>
                  <a:txBody>
                    <a:bodyPr wrap="square"/>
                    <a:lstStyle/>
                    <a:p>
                      <a:pPr algn="l"/>
                      <a:r>
                        <a:rPr sz="1050" b="0">
                          <a:solidFill>
                            <a:srgbClr val="1C1C1E"/>
                          </a:solidFill>
                          <a:latin typeface="Calibri"/>
                        </a:rPr>
                        <a:t>their meet</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NOT ASKABLE</a:t>
                      </a:r>
                    </a:p>
                  </a:txBody>
                  <a:tcPr marL="82296" marR="64008" marT="32004" marB="32004" anchor="ctr">
                    <a:solidFill>
                      <a:srgbClr val="FFFFFF"/>
                    </a:solidFill>
                  </a:tcPr>
                </a:tc>
                <a:tc>
                  <a:txBody>
                    <a:bodyPr wrap="square"/>
                    <a:lstStyle/>
                    <a:p>
                      <a:pPr algn="l"/>
                      <a:r>
                        <a:rPr sz="1050" b="0">
                          <a:solidFill>
                            <a:srgbClr val="1C1C1E"/>
                          </a:solidFill>
                          <a:latin typeface="Calibri"/>
                        </a:rPr>
                        <a:t>their join</a:t>
                      </a:r>
                    </a:p>
                  </a:txBody>
                  <a:tcPr marL="82296" marR="64008" marT="32004" marB="32004" anchor="ctr">
                    <a:solidFill>
                      <a:srgbClr val="FFFFFF"/>
                    </a:solidFill>
                  </a:tcPr>
                </a:tc>
              </a:tr>
            </a:tbl>
          </a:graphicData>
        </a:graphic>
      </p:graphicFrame>
      <p:sp>
        <p:nvSpPr>
          <p:cNvPr id="11" name="Rectangle 10"/>
          <p:cNvSpPr/>
          <p:nvPr/>
        </p:nvSpPr>
        <p:spPr>
          <a:xfrm>
            <a:off x="777240" y="3583114"/>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83114"/>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701986"/>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L-20, asserted over generated schemas. </a:t>
            </a:r>
            <a:r>
              <a:rPr sz="1050" b="0" i="0">
                <a:solidFill>
                  <a:srgbClr val="1C1C1E"/>
                </a:solidFill>
                <a:latin typeface="Calibri"/>
              </a:rPr>
              <a:t>Partial order, meet below both, join above both, idempotence, commutativity, associativity, absorption — and the link A ⊑ B ⟺ A ⊓ B = A that makes it a lattice ORDER rather than an order and two unrelated operations. Two of those four questions could not be asked at all before, and both are ones a practitioner asks out loud in a meeting.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object's own operations, last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associative — asserted, not assumed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is a STATEMENT — it is the closure of the fold, and it is why features and featuresets share one mechanism rather than two.</a:t>
            </a:r>
          </a:p>
        </p:txBody>
      </p:sp>
      <p:graphicFrame>
        <p:nvGraphicFramePr>
          <p:cNvPr id="15" name="Table 14"/>
          <p:cNvGraphicFramePr>
            <a:graphicFrameLocks noGrp="1"/>
          </p:cNvGraphicFramePr>
          <p:nvPr/>
        </p:nvGraphicFramePr>
        <p:xfrm>
          <a:off x="7159569" y="1353312"/>
          <a:ext cx="4254885" cy="1279398"/>
        </p:xfrm>
        <a:graphic>
          <a:graphicData uri="http://schemas.openxmlformats.org/drawingml/2006/table">
            <a:tbl>
              <a:tblPr firstRow="1">
                <a:tableStyleId>{5C22544A-7EE6-4342-B048-85BDC9FD1C3A}</a:tableStyleId>
              </a:tblPr>
              <a:tblGrid>
                <a:gridCol w="1115513"/>
                <a:gridCol w="3139372"/>
              </a:tblGrid>
              <a:tr h="329184">
                <a:tc>
                  <a:txBody>
                    <a:bodyPr wrap="square"/>
                    <a:lstStyle/>
                    <a:p>
                      <a:pPr algn="l"/>
                      <a:r>
                        <a:rPr sz="1000" b="1">
                          <a:solidFill>
                            <a:srgbClr val="FFFFFF"/>
                          </a:solidFill>
                          <a:latin typeface="Calibri"/>
                        </a:rPr>
                        <a:t>Operation</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2888742"/>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288874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007614"/>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operation is total. </a:t>
            </a:r>
            <a:r>
              <a:rPr sz="1050" b="0" i="0">
                <a:solidFill>
                  <a:srgbClr val="1C1C1E"/>
                </a:solidFill>
                <a:latin typeface="Calibri"/>
              </a:rPr>
              <a:t>None of the three is idempotent, deliberately: an operation that silently did nothing is one somebody believes happened, and the child then differs from what its author wrote with nothing to show for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LAW THAT WAS MISSING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 — and nobody had 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 · tests/test_laws.py</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 the difference between a merge and a conflict whose resolution is itself a decision nobody recorded. It was never tested, and a failure here could not have been found by testing one edit at a time.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slot is not drop then override — the second order is refused outright. Stating the law only for independent edits is the honest form of it, and a law stated more widely than it holds is a law somebody will rely on where it does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Two Clocks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When a fact was true, when it became known — and the read that keeps them apart.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one clock cannot answer</a:t>
            </a:r>
          </a:p>
          <a:p>
            <a:pPr>
              <a:lnSpc>
                <a:spcPct val="115000"/>
              </a:lnSpc>
              <a:spcBef>
                <a:spcPts val="0"/>
              </a:spcBef>
              <a:spcAft>
                <a:spcPts val="700"/>
              </a:spcAft>
            </a:pPr>
            <a:r>
              <a:rPr sz="1150" b="0" i="0">
                <a:solidFill>
                  <a:srgbClr val="F6E6E9"/>
                </a:solidFill>
                <a:latin typeface="Calibri"/>
              </a:rPr>
              <a:t>The as-of operator</a:t>
            </a:r>
          </a:p>
          <a:p>
            <a:pPr>
              <a:lnSpc>
                <a:spcPct val="115000"/>
              </a:lnSpc>
              <a:spcBef>
                <a:spcPts val="0"/>
              </a:spcBef>
              <a:spcAft>
                <a:spcPts val="700"/>
              </a:spcAft>
            </a:pPr>
            <a:r>
              <a:rPr sz="1150" b="0" i="0">
                <a:solidFill>
                  <a:srgbClr val="F6E6E9"/>
                </a:solidFill>
                <a:latin typeface="Calibri"/>
              </a:rPr>
              <a:t>Four properties, one of which is reproducibility</a:t>
            </a:r>
          </a:p>
          <a:p>
            <a:pPr>
              <a:lnSpc>
                <a:spcPct val="115000"/>
              </a:lnSpc>
              <a:spcBef>
                <a:spcPts val="0"/>
              </a:spcBef>
              <a:spcAft>
                <a:spcPts val="700"/>
              </a:spcAft>
            </a:pPr>
            <a:r>
              <a:rPr sz="1150" b="0" i="0">
                <a:solidFill>
                  <a:srgbClr val="F6E6E9"/>
                </a:solidFill>
                <a:latin typeface="Calibri"/>
              </a:rPr>
              <a:t>Alignment, and hiding nothing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764792"/>
          <a:ext cx="10637213" cy="1630220"/>
        </p:xfrm>
        <a:graphic>
          <a:graphicData uri="http://schemas.openxmlformats.org/drawingml/2006/table">
            <a:tbl>
              <a:tblPr firstRow="1">
                <a:tableStyleId>{5C22544A-7EE6-4342-B048-85BDC9FD1C3A}</a:tableStyleId>
              </a:tblPr>
              <a:tblGrid>
                <a:gridCol w="1920074"/>
                <a:gridCol w="4297310"/>
                <a:gridCol w="4419829"/>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a:t>
                      </a:r>
                    </a:p>
                  </a:txBody>
                  <a:tcPr marL="82296" marR="64008" marT="32004" marB="32004" anchor="ctr">
                    <a:solidFill>
                      <a:srgbClr val="A51C30"/>
                    </a:solidFill>
                  </a:tcPr>
                </a:tc>
                <a:tc>
                  <a:txBody>
                    <a:bodyPr wrap="square"/>
                    <a:lstStyle/>
                    <a:p>
                      <a:pPr algn="l"/>
                      <a:r>
                        <a:rPr sz="1050" b="1">
                          <a:solidFill>
                            <a:srgbClr val="FFFFFF"/>
                          </a:solidFill>
                          <a:latin typeface="Calibri"/>
                        </a:rPr>
                        <a:t>ingest_ts</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For a Q1 ratio</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period it describes</a:t>
                      </a:r>
                    </a:p>
                  </a:txBody>
                  <a:tcPr marL="82296" marR="64008" marT="32004" marB="32004" anchor="ctr">
                    <a:solidFill>
                      <a:srgbClr val="F6F3EF"/>
                    </a:solidFill>
                  </a:tcPr>
                </a:tc>
                <a:tc>
                  <a:txBody>
                    <a:bodyPr wrap="square"/>
                    <a:lstStyle/>
                    <a:p>
                      <a:pPr algn="l"/>
                      <a:r>
                        <a:rPr sz="1050" b="0">
                          <a:solidFill>
                            <a:srgbClr val="1C1C1E"/>
                          </a:solidFill>
                          <a:latin typeface="Calibri"/>
                        </a:rPr>
                        <a:t>20 May — when they filed</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about Q1</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199286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199286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77341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label's moment — what the model could have known</a:t>
            </a:r>
          </a:p>
          <a:p>
            <a:pPr>
              <a:lnSpc>
                <a:spcPct val="134000"/>
              </a:lnSpc>
              <a:spcBef>
                <a:spcPts val="0"/>
              </a:spcBef>
              <a:spcAft>
                <a:spcPts val="0"/>
              </a:spcAft>
            </a:pPr>
            <a:r>
              <a:rPr sz="1000" b="0" i="0">
                <a:solidFill>
                  <a:srgbClr val="7A7F87"/>
                </a:solidFill>
                <a:latin typeface="Consolas"/>
              </a:rPr>
              <a:t>#  a  the assembly's as_of — what the PLATFORM could have known</a:t>
            </a:r>
          </a:p>
        </p:txBody>
      </p:sp>
      <p:sp>
        <p:nvSpPr>
          <p:cNvPr id="14" name="Rectangle 13"/>
          <p:cNvSpPr/>
          <p:nvPr/>
        </p:nvSpPr>
        <p:spPr>
          <a:xfrm>
            <a:off x="777240" y="3462832"/>
            <a:ext cx="595684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`ℓ` is what the model could have known when the decision was made. `a` is what the platform could have known when the set was built, so a restatement arriving after assembly cannot creep into a re-run. Dropping either one admits a different leak, and the second is the one people drop.</a:t>
            </a:r>
          </a:p>
        </p:txBody>
      </p:sp>
      <p:graphicFrame>
        <p:nvGraphicFramePr>
          <p:cNvPr id="17" name="Table 16"/>
          <p:cNvGraphicFramePr>
            <a:graphicFrameLocks noGrp="1"/>
          </p:cNvGraphicFramePr>
          <p:nvPr/>
        </p:nvGraphicFramePr>
        <p:xfrm>
          <a:off x="7159569" y="1353312"/>
          <a:ext cx="4254886" cy="1885872"/>
        </p:xfrm>
        <a:graphic>
          <a:graphicData uri="http://schemas.openxmlformats.org/drawingml/2006/table">
            <a:tbl>
              <a:tblPr firstRow="1">
                <a:tableStyleId>{5C22544A-7EE6-4342-B048-85BDC9FD1C3A}</a:tableStyleId>
              </a:tblPr>
              <a:tblGrid>
                <a:gridCol w="1474071"/>
                <a:gridCol w="2780815"/>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Says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Idempotent</a:t>
                      </a:r>
                    </a:p>
                  </a:txBody>
                  <a:tcPr marL="82296" marR="64008" marT="32004" marB="32004" anchor="ctr">
                    <a:solidFill>
                      <a:srgbClr val="FFFFFF"/>
                    </a:solidFill>
                  </a:tcPr>
                </a:tc>
                <a:tc>
                  <a:txBody>
                    <a:bodyPr wrap="square"/>
                    <a:lstStyle/>
                    <a:p>
                      <a:pPr algn="l"/>
                      <a:r>
                        <a:rPr sz="950" b="0">
                          <a:solidFill>
                            <a:srgbClr val="1C1C1E"/>
                          </a:solidFill>
                          <a:latin typeface="Calibri"/>
                        </a:rPr>
                        <a:t>reading the result again returns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Commutes with projection</a:t>
                      </a:r>
                    </a:p>
                  </a:txBody>
                  <a:tcPr marL="82296" marR="64008" marT="32004" marB="32004" anchor="ctr">
                    <a:solidFill>
                      <a:srgbClr val="F6F3EF"/>
                    </a:solidFill>
                  </a:tcPr>
                </a:tc>
                <a:tc>
                  <a:txBody>
                    <a:bodyPr wrap="square"/>
                    <a:lstStyle/>
                    <a:p>
                      <a:pPr algn="l"/>
                      <a:r>
                        <a:rPr sz="950" b="0">
                          <a:solidFill>
                            <a:srgbClr val="1C1C1E"/>
                          </a:solidFill>
                          <a:latin typeface="Calibri"/>
                        </a:rPr>
                        <a:t>the choice is made on the clocks alone, so fewer columns cannot change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Monotone in a</a:t>
                      </a:r>
                    </a:p>
                  </a:txBody>
                  <a:tcPr marL="82296" marR="64008" marT="32004" marB="32004" anchor="ctr">
                    <a:solidFill>
                      <a:srgbClr val="FFFFFF"/>
                    </a:solidFill>
                  </a:tcPr>
                </a:tc>
                <a:tc>
                  <a:txBody>
                    <a:bodyPr wrap="square"/>
                    <a:lstStyle/>
                    <a:p>
                      <a:pPr algn="l"/>
                      <a:r>
                        <a:rPr sz="950" b="0">
                          <a:solidFill>
                            <a:srgbClr val="1C1C1E"/>
                          </a:solidFill>
                          <a:latin typeface="Calibri"/>
                        </a:rPr>
                        <a:t>a later read can only WIDEN what is admissible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Saturating at ℓ</a:t>
                      </a:r>
                    </a:p>
                  </a:txBody>
                  <a:tcPr marL="82296" marR="64008" marT="32004" marB="32004" anchor="ctr">
                    <a:solidFill>
                      <a:srgbClr val="F6F3EF"/>
                    </a:solidFill>
                  </a:tcPr>
                </a:tc>
                <a:tc>
                  <a:txBody>
                    <a:bodyPr wrap="square"/>
                    <a:lstStyle/>
                    <a:p>
                      <a:pPr algn="l"/>
                      <a:r>
                        <a:rPr sz="950" b="0">
                          <a:solidFill>
                            <a:srgbClr val="1C1C1E"/>
                          </a:solidFill>
                          <a:latin typeface="Calibri"/>
                        </a:rPr>
                        <a:t>every a ≥ ℓ gives the SAME ANSWER</a:t>
                      </a:r>
                    </a:p>
                  </a:txBody>
                  <a:tcPr marL="82296" marR="64008" marT="32004" marB="32004" anchor="ctr">
                    <a:solidFill>
                      <a:srgbClr val="F6F3EF"/>
                    </a:solidFill>
                  </a:tcPr>
                </a:tc>
              </a:tr>
            </a:tbl>
          </a:graphicData>
        </a:graphic>
      </p:graphicFrame>
      <p:sp>
        <p:nvSpPr>
          <p:cNvPr id="18" name="TextBox 17"/>
          <p:cNvSpPr txBox="1"/>
          <p:nvPr/>
        </p:nvSpPr>
        <p:spPr>
          <a:xfrm>
            <a:off x="7159569" y="3476929"/>
            <a:ext cx="4254886" cy="548640"/>
          </a:xfrm>
          <a:prstGeom prst="rect">
            <a:avLst/>
          </a:prstGeom>
          <a:noFill/>
        </p:spPr>
        <p:txBody>
          <a:bodyPr wrap="square" lIns="0" rIns="0" tIns="0" bIns="0" anchor="t">
            <a:spAutoFit/>
          </a:bodyPr>
          <a:lstStyle/>
          <a:p>
            <a:pPr algn="l">
              <a:spcBef>
                <a:spcPts val="0"/>
              </a:spcBef>
              <a:spcAft>
                <a:spcPts val="0"/>
              </a:spcAft>
            </a:pPr>
            <a:r>
              <a:rPr sz="950" b="1" i="0">
                <a:solidFill>
                  <a:srgbClr val="7A7F87"/>
                </a:solidFill>
                <a:latin typeface="Consolas"/>
              </a:rPr>
              <a:t>L-10 · tests/test_laws.py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WHY MIN(ℓ, A)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fourth one is the reproducibility guarantee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Assemble in May</a:t>
            </a:r>
          </a:p>
          <a:p>
            <a:pPr>
              <a:lnSpc>
                <a:spcPct val="115000"/>
              </a:lnSpc>
              <a:spcBef>
                <a:spcPts val="0"/>
              </a:spcBef>
              <a:spcAft>
                <a:spcPts val="600"/>
              </a:spcAft>
            </a:pPr>
            <a:r>
              <a:rPr sz="850" b="0" i="0">
                <a:solidFill>
                  <a:srgbClr val="4A4F57"/>
                </a:solidFill>
                <a:latin typeface="Calibri"/>
              </a:rPr>
              <a:t>the row for a decision labelled in May reads dscr = 1.20, the value knowable then</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A restatement arrives</a:t>
            </a:r>
          </a:p>
          <a:p>
            <a:pPr>
              <a:lnSpc>
                <a:spcPct val="115000"/>
              </a:lnSpc>
              <a:spcBef>
                <a:spcPts val="0"/>
              </a:spcBef>
              <a:spcAft>
                <a:spcPts val="600"/>
              </a:spcAft>
            </a:pPr>
            <a:r>
              <a:rPr sz="850" b="0" i="0">
                <a:solidFill>
                  <a:srgbClr val="4A4F57"/>
                </a:solidFill>
                <a:latin typeface="Calibri"/>
              </a:rPr>
              <a:t>August: the same Q1 figure, revised to 0.40. Both rows are true and both stay</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Re-assemble a year later</a:t>
            </a:r>
          </a:p>
          <a:p>
            <a:pPr>
              <a:lnSpc>
                <a:spcPct val="115000"/>
              </a:lnSpc>
              <a:spcBef>
                <a:spcPts val="0"/>
              </a:spcBef>
              <a:spcAft>
                <a:spcPts val="600"/>
              </a:spcAft>
            </a:pPr>
            <a:r>
              <a:rPr sz="850" b="0" i="0">
                <a:solidFill>
                  <a:srgbClr val="4A4F57"/>
                </a:solidFill>
                <a:latin typeface="Calibri"/>
              </a:rPr>
              <a:t>the ingest bound is min(label, as_of), so it saturates at the label</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The answer is identical</a:t>
            </a:r>
          </a:p>
          <a:p>
            <a:pPr>
              <a:lnSpc>
                <a:spcPct val="115000"/>
              </a:lnSpc>
              <a:spcBef>
                <a:spcPts val="0"/>
              </a:spcBef>
              <a:spcAft>
                <a:spcPts val="600"/>
              </a:spcAft>
            </a:pPr>
            <a:r>
              <a:rPr sz="850" b="0" i="0">
                <a:solidFill>
                  <a:srgbClr val="4A4F57"/>
                </a:solidFill>
                <a:latin typeface="Calibri"/>
              </a:rPr>
              <a:t>1.20 — however many restatements arrived between, and however long ago it was</a:t>
            </a:r>
          </a:p>
        </p:txBody>
      </p:sp>
      <p:sp>
        <p:nvSpPr>
          <p:cNvPr id="22" name="Rectangle 21"/>
          <p:cNvSpPr/>
          <p:nvPr/>
        </p:nvSpPr>
        <p:spPr>
          <a:xfrm>
            <a:off x="777240" y="322783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Without the min, a re-run quietly IMPROVES on the original. </a:t>
            </a:r>
            <a:r>
              <a:rPr sz="1050" b="0" i="0">
                <a:solidFill>
                  <a:srgbClr val="1C1C1E"/>
                </a:solidFill>
                <a:latin typeface="Calibri"/>
              </a:rPr>
              <a:t>That is the least useful kind of reproducibility: the numbers then agree with nothing, including themselves — a validator replaying a decision gets a better answer than the one that was made, cannot tell that is what happened, and reports agreement. The bound is one function call and it is the whole guarantee.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They are not refused. They are stamped.</a:t>
            </a:r>
          </a:p>
          <a:p>
            <a:pPr>
              <a:lnSpc>
                <a:spcPct val="126000"/>
              </a:lnSpc>
              <a:spcBef>
                <a:spcPts val="0"/>
              </a:spcBef>
              <a:spcAft>
                <a:spcPts val="900"/>
              </a:spcAft>
            </a:pPr>
            <a:r>
              <a:rPr sz="1100" b="0" i="0">
                <a:solidFill>
                  <a:srgbClr val="1C1C1E"/>
                </a:solidFill>
                <a:latin typeface="Calibri"/>
              </a:rPr>
              <a:t>Back-filling is the right answer for drawing a curve, for an explicitly retrospective backtest, for showing a history to a person —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genuinely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 a different act, with a different error, and doing it silently would hide which was done.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Evidence, and Six Questions from One Traversal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An append-only chain, a semiring per question, and the universal object that makes them one computation.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there is no audit log</a:t>
            </a:r>
          </a:p>
          <a:p>
            <a:pPr>
              <a:lnSpc>
                <a:spcPct val="115000"/>
              </a:lnSpc>
              <a:spcBef>
                <a:spcPts val="0"/>
              </a:spcBef>
              <a:spcAft>
                <a:spcPts val="700"/>
              </a:spcAft>
            </a:pPr>
            <a:r>
              <a:rPr sz="1150" b="0" i="0">
                <a:solidFill>
                  <a:srgbClr val="F6E6E9"/>
                </a:solidFill>
                <a:latin typeface="Calibri"/>
              </a:rPr>
              <a:t>The chain, and what verification means</a:t>
            </a:r>
          </a:p>
          <a:p>
            <a:pPr>
              <a:lnSpc>
                <a:spcPct val="115000"/>
              </a:lnSpc>
              <a:spcBef>
                <a:spcPts val="0"/>
              </a:spcBef>
              <a:spcAft>
                <a:spcPts val="700"/>
              </a:spcAft>
            </a:pPr>
            <a:r>
              <a:rPr sz="1150" b="0" i="0">
                <a:solidFill>
                  <a:srgbClr val="F6E6E9"/>
                </a:solidFill>
                <a:latin typeface="Calibri"/>
              </a:rPr>
              <a:t>Six semirings</a:t>
            </a:r>
          </a:p>
          <a:p>
            <a:pPr>
              <a:lnSpc>
                <a:spcPct val="115000"/>
              </a:lnSpc>
              <a:spcBef>
                <a:spcPts val="0"/>
              </a:spcBef>
              <a:spcAft>
                <a:spcPts val="700"/>
              </a:spcAft>
            </a:pPr>
            <a:r>
              <a:rPr sz="1150" b="0" i="0">
                <a:solidFill>
                  <a:srgbClr val="F6E6E9"/>
                </a:solidFill>
                <a:latin typeface="Calibri"/>
              </a:rPr>
              <a:t>The polynomial underneath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IS the audit log — and the consolidation is load-bearing rather than tidy: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is what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parents are a DAG and say what supports what. </a:t>
            </a:r>
            <a:r>
              <a:rPr sz="1050" b="0" i="0">
                <a:solidFill>
                  <a:srgbClr val="1C1C1E"/>
                </a:solidFill>
                <a:latin typeface="Calibri"/>
              </a:rPr>
              <a:t>The seq / prev_hash chain is linear and says what order things happened in — which is what makes deleting a leaf or inserting into the past detectable.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DEFECT THAT LIVED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where a real defect lived. </a:t>
            </a:r>
            <a:r>
              <a:rPr sz="1050" b="0" i="0">
                <a:solidFill>
                  <a:srgbClr val="1C1C1E"/>
                </a:solidFill>
                <a:latin typeface="Calibri"/>
              </a:rPr>
              <a:t>Verification used to re-link the STORED content hash — which proves the links are intact and says nothing about whether the thing linked is still what was recorded. An edited payload left a chain that verified and a record that lied. The scale suite found it. The unit test that should have found it years earlier was named for payload tampering while actually altering the stored hash: a test passing for a reason other than its name, which is the failure mode a green suite is worst at showing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plus</a:t>
                      </a:r>
                    </a:p>
                  </a:txBody>
                  <a:tcPr marL="82296" marR="64008" marT="32004" marB="32004" anchor="ctr">
                    <a:solidFill>
                      <a:srgbClr val="A51C30"/>
                    </a:solidFill>
                  </a:tcPr>
                </a:tc>
                <a:tc>
                  <a:txBody>
                    <a:bodyPr wrap="square"/>
                    <a:lstStyle/>
                    <a:p>
                      <a:pPr algn="l"/>
                      <a:r>
                        <a:rPr sz="1000" b="1">
                          <a:solidFill>
                            <a:srgbClr val="FFFFFF"/>
                          </a:solidFill>
                          <a:latin typeface="Calibri"/>
                        </a:rPr>
                        <a:t>times</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now says so. </a:t>
            </a:r>
            <a:r>
              <a:rPr sz="1050" b="0" i="0">
                <a:solidFill>
                  <a:srgbClr val="1C1C1E"/>
                </a:solidFill>
                <a:latin typeface="Calibri"/>
              </a:rPr>
              <a:t>(max, max) has no annihilating zero — max(0, 5) is 5, not 0 — so it is a commutative idempotent monoid used twice. The practical consequence is worth knowing: a claim resting on a MISSING fact reports the freshness of the facts that are present rather than reporting that it has none. Found by writing the law test, and kept as a test so it is not quietly re-included.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ℕ[X] — the object the other five are pushed forward from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76479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215798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in the free commutative semiring</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421101"/>
            <a:ext cx="574409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421101"/>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539973"/>
            <a:ext cx="528689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DAGs against five semirings. </a:t>
            </a:r>
            <a:r>
              <a:rPr sz="1050" b="0" i="0">
                <a:solidFill>
                  <a:srgbClr val="1C1C1E"/>
                </a:solidFill>
                <a:latin typeface="Calibri"/>
              </a:rPr>
              <a:t>That turns the claim “the same traversal answers a different question for each” from a design intention into a theorem the suite runs — and L-9 was listed as VACUOUS until ℕ[X] existed to push forward from.</a:t>
            </a:r>
          </a:p>
        </p:txBody>
      </p:sp>
      <p:sp>
        <p:nvSpPr>
          <p:cNvPr id="17" name="TextBox 16"/>
          <p:cNvSpPr txBox="1"/>
          <p:nvPr/>
        </p:nvSpPr>
        <p:spPr>
          <a:xfrm>
            <a:off x="6946824" y="176479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which is why it cannot tell a claim resting on one document from a claim resting on four — and “how corroborated is this” is exactly what a reviewer is asking.</a:t>
            </a:r>
          </a:p>
          <a:p>
            <a:pPr>
              <a:lnSpc>
                <a:spcPct val="126000"/>
              </a:lnSpc>
              <a:spcBef>
                <a:spcPts val="0"/>
              </a:spcBef>
              <a:spcAft>
                <a:spcPts val="0"/>
              </a:spcAft>
            </a:pPr>
            <a:r>
              <a:rPr sz="1100" b="0" i="0">
                <a:solidFill>
                  <a:srgbClr val="1C1C1E"/>
                </a:solidFill>
                <a:latin typeface="Calibri"/>
              </a:rPr>
              <a:t>The same construction now annotates DERIVED FEATURES, where the ingest clock turns out to be a homomorphism into (max, max) rather than a rule somebody could forget.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The Laws, and Which of Them Run</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Twenty-one stated, fifteen executable, six not — and the six are named with the reason.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a law rather than a test</a:t>
            </a:r>
          </a:p>
          <a:p>
            <a:pPr>
              <a:lnSpc>
                <a:spcPct val="115000"/>
              </a:lnSpc>
              <a:spcBef>
                <a:spcPts val="0"/>
              </a:spcBef>
              <a:spcAft>
                <a:spcPts val="700"/>
              </a:spcAft>
            </a:pPr>
            <a:r>
              <a:rPr sz="1150" b="0" i="0">
                <a:solidFill>
                  <a:srgbClr val="F6E6E9"/>
                </a:solidFill>
                <a:latin typeface="Calibri"/>
              </a:rPr>
              <a:t>What runs today</a:t>
            </a:r>
          </a:p>
          <a:p>
            <a:pPr>
              <a:lnSpc>
                <a:spcPct val="115000"/>
              </a:lnSpc>
              <a:spcBef>
                <a:spcPts val="0"/>
              </a:spcBef>
              <a:spcAft>
                <a:spcPts val="700"/>
              </a:spcAft>
            </a:pPr>
            <a:r>
              <a:rPr sz="1150" b="0" i="0">
                <a:solidFill>
                  <a:srgbClr val="F6E6E9"/>
                </a:solidFill>
                <a:latin typeface="Calibri"/>
              </a:rPr>
              <a:t>What writing them found</a:t>
            </a:r>
          </a:p>
          <a:p>
            <a:pPr>
              <a:lnSpc>
                <a:spcPct val="115000"/>
              </a:lnSpc>
              <a:spcBef>
                <a:spcPts val="0"/>
              </a:spcBef>
              <a:spcAft>
                <a:spcPts val="700"/>
              </a:spcAft>
            </a:pPr>
            <a:r>
              <a:rPr sz="1150" b="0" i="0">
                <a:solidFill>
                  <a:srgbClr val="F6E6E9"/>
                </a:solidFill>
                <a:latin typeface="Calibri"/>
              </a:rPr>
              <a:t>What does not run, and why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 and the test computes whether it still holds.</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15</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was seven of nineteen. </a:t>
            </a:r>
            <a:r>
              <a:rPr sz="1050" b="0" i="0">
                <a:solidFill>
                  <a:srgbClr val="1C1C1E"/>
                </a:solidFill>
                <a:latin typeface="Calibri"/>
              </a:rPr>
              <a:t>The strongest claim this design makes is that the laws are the acceptance criteria, and a claim that is 37% true reads as 100% true to everybody who does not check. The count is now derived from the table's own rows by a test, so it cannot drift the way every other count in the repository has.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fifteen that run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graphicFrame>
        <p:nvGraphicFramePr>
          <p:cNvPr id="10" name="Table 9"/>
          <p:cNvGraphicFramePr>
            <a:graphicFrameLocks noGrp="1"/>
          </p:cNvGraphicFramePr>
          <p:nvPr/>
        </p:nvGraphicFramePr>
        <p:xfrm>
          <a:off x="777240" y="1353312"/>
          <a:ext cx="10637214" cy="4952424"/>
        </p:xfrm>
        <a:graphic>
          <a:graphicData uri="http://schemas.openxmlformats.org/drawingml/2006/table">
            <a:tbl>
              <a:tblPr firstRow="1">
                <a:tableStyleId>{5C22544A-7EE6-4342-B048-85BDC9FD1C3A}</a:tableStyleId>
              </a:tblPr>
              <a:tblGrid>
                <a:gridCol w="822889"/>
                <a:gridCol w="7497435"/>
                <a:gridCol w="2316890"/>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Says</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L-1</a:t>
                      </a:r>
                    </a:p>
                  </a:txBody>
                  <a:tcPr marL="82296" marR="64008" marT="32004" marB="32004" anchor="ctr">
                    <a:solidFill>
                      <a:srgbClr val="FFFFFF"/>
                    </a:solidFill>
                  </a:tcPr>
                </a:tc>
                <a:tc>
                  <a:txBody>
                    <a:bodyPr wrap="square"/>
                    <a:lstStyle/>
                    <a:p>
                      <a:pPr algn="l"/>
                      <a:r>
                        <a:rPr sz="950" b="0">
                          <a:solidFill>
                            <a:srgbClr val="1C1C1E"/>
                          </a:solidFill>
                          <a:latin typeface="Calibri"/>
                        </a:rPr>
                        <a:t>no state is reachable except along declared transitions, from two initial ones</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L-2</a:t>
                      </a:r>
                    </a:p>
                  </a:txBody>
                  <a:tcPr marL="82296" marR="64008" marT="32004" marB="32004" anchor="ctr">
                    <a:solidFill>
                      <a:srgbClr val="F6F3EF"/>
                    </a:solidFill>
                  </a:tcPr>
                </a:tc>
                <a:tc>
                  <a:txBody>
                    <a:bodyPr wrap="square"/>
                    <a:lstStyle/>
                    <a:p>
                      <a:pPr algn="l"/>
                      <a:r>
                        <a:rPr sz="950" b="0">
                          <a:solidFill>
                            <a:srgbClr val="1C1C1E"/>
                          </a:solidFill>
                          <a:latin typeface="Calibri"/>
                        </a:rPr>
                        <a:t>hash(manifest(v)) is constant over a version's lifetime</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L-3</a:t>
                      </a:r>
                    </a:p>
                  </a:txBody>
                  <a:tcPr marL="82296" marR="64008" marT="32004" marB="32004" anchor="ctr">
                    <a:solidFill>
                      <a:srgbClr val="FFFFFF"/>
                    </a:solidFill>
                  </a:tcPr>
                </a:tc>
                <a:tc>
                  <a:txBody>
                    <a:bodyPr wrap="square"/>
                    <a:lstStyle/>
                    <a:p>
                      <a:pPr algn="l"/>
                      <a:r>
                        <a:rPr sz="950" b="0">
                          <a:solidFill>
                            <a:srgbClr val="1C1C1E"/>
                          </a:solidFill>
                          <a:latin typeface="Calibri"/>
                        </a:rPr>
                        <a:t>a determinism claim is checked by executing twice</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L-4</a:t>
                      </a:r>
                    </a:p>
                  </a:txBody>
                  <a:tcPr marL="82296" marR="64008" marT="32004" marB="32004" anchor="ctr">
                    <a:solidFill>
                      <a:srgbClr val="F6F3EF"/>
                    </a:solidFill>
                  </a:tcPr>
                </a:tc>
                <a:tc>
                  <a:txBody>
                    <a:bodyPr wrap="square"/>
                    <a:lstStyle/>
                    <a:p>
                      <a:pPr algn="l"/>
                      <a:r>
                        <a:rPr sz="950" b="0">
                          <a:solidFill>
                            <a:srgbClr val="1C1C1E"/>
                          </a:solidFill>
                          <a:latin typeface="Calibri"/>
                        </a:rPr>
                        <a:t>tiering is monotone in materiality and complexity</a:t>
                      </a:r>
                    </a:p>
                  </a:txBody>
                  <a:tcPr marL="82296" marR="64008" marT="32004" marB="32004" anchor="ctr">
                    <a:solidFill>
                      <a:srgbClr val="F6F3EF"/>
                    </a:solidFill>
                  </a:tcPr>
                </a:tc>
                <a:tc>
                  <a:txBody>
                    <a:bodyPr wrap="square"/>
                    <a:lstStyle/>
                    <a:p>
                      <a:pPr algn="l"/>
                      <a:r>
                        <a:rPr sz="950" b="0">
                          <a:solidFill>
                            <a:srgbClr val="1C1C1E"/>
                          </a:solidFill>
                          <a:latin typeface="Calibri"/>
                        </a:rPr>
                        <a:t>test_risk</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L-5</a:t>
                      </a:r>
                    </a:p>
                  </a:txBody>
                  <a:tcPr marL="82296" marR="64008" marT="32004" marB="32004" anchor="ctr">
                    <a:solidFill>
                      <a:srgbClr val="FFFFFF"/>
                    </a:solidFill>
                  </a:tcPr>
                </a:tc>
                <a:tc>
                  <a:txBody>
                    <a:bodyPr wrap="square"/>
                    <a:lstStyle/>
                    <a:p>
                      <a:pPr algn="l"/>
                      <a:r>
                        <a:rPr sz="950" b="0">
                          <a:solidFill>
                            <a:srgbClr val="1C1C1E"/>
                          </a:solidFill>
                          <a:latin typeface="Calibri"/>
                        </a:rPr>
                        <a:t>the control set is a Galois adjoint of the tier</a:t>
                      </a:r>
                    </a:p>
                  </a:txBody>
                  <a:tcPr marL="82296" marR="64008" marT="32004" marB="32004" anchor="ctr">
                    <a:solidFill>
                      <a:srgbClr val="FFFFFF"/>
                    </a:solidFill>
                  </a:tcPr>
                </a:tc>
                <a:tc>
                  <a:txBody>
                    <a:bodyPr wrap="square"/>
                    <a:lstStyle/>
                    <a:p>
                      <a:pPr algn="l"/>
                      <a:r>
                        <a:rPr sz="950" b="0">
                          <a:solidFill>
                            <a:srgbClr val="1C1C1E"/>
                          </a:solidFill>
                          <a:latin typeface="Calibri"/>
                        </a:rPr>
                        <a:t>test_risk</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L-7</a:t>
                      </a:r>
                    </a:p>
                  </a:txBody>
                  <a:tcPr marL="82296" marR="64008" marT="32004" marB="32004" anchor="ctr">
                    <a:solidFill>
                      <a:srgbClr val="F6F3EF"/>
                    </a:solidFill>
                  </a:tcPr>
                </a:tc>
                <a:tc>
                  <a:txBody>
                    <a:bodyPr wrap="square"/>
                    <a:lstStyle/>
                    <a:p>
                      <a:pPr algn="l"/>
                      <a:r>
                        <a:rPr sz="950" b="0">
                          <a:solidFill>
                            <a:srgbClr val="1C1C1E"/>
                          </a:solidFill>
                          <a:latin typeface="Calibri"/>
                        </a:rPr>
                        <a:t>an alias move requires contract refinement</a:t>
                      </a:r>
                    </a:p>
                  </a:txBody>
                  <a:tcPr marL="82296" marR="64008" marT="32004" marB="32004" anchor="ctr">
                    <a:solidFill>
                      <a:srgbClr val="F6F3EF"/>
                    </a:solidFill>
                  </a:tcPr>
                </a:tc>
                <a:tc>
                  <a:txBody>
                    <a:bodyPr wrap="square"/>
                    <a:lstStyle/>
                    <a:p>
                      <a:pPr algn="l"/>
                      <a:r>
                        <a:rPr sz="950" b="0">
                          <a:solidFill>
                            <a:srgbClr val="1C1C1E"/>
                          </a:solidFill>
                          <a:latin typeface="Calibri"/>
                        </a:rPr>
                        <a:t>aliases.py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L-8</a:t>
                      </a:r>
                    </a:p>
                  </a:txBody>
                  <a:tcPr marL="82296" marR="64008" marT="32004" marB="32004" anchor="ctr">
                    <a:solidFill>
                      <a:srgbClr val="FFFFFF"/>
                    </a:solidFill>
                  </a:tcPr>
                </a:tc>
                <a:tc>
                  <a:txBody>
                    <a:bodyPr wrap="square"/>
                    <a:lstStyle/>
                    <a:p>
                      <a:pPr algn="l"/>
                      <a:r>
                        <a:rPr sz="950" b="0">
                          <a:solidFill>
                            <a:srgbClr val="1C1C1E"/>
                          </a:solidFill>
                          <a:latin typeface="Calibri"/>
                        </a:rPr>
                        <a:t>a regime's translation preserves truth</a:t>
                      </a:r>
                    </a:p>
                  </a:txBody>
                  <a:tcPr marL="82296" marR="64008" marT="32004" marB="32004" anchor="ctr">
                    <a:solidFill>
                      <a:srgbClr val="FFFFFF"/>
                    </a:solidFill>
                  </a:tcPr>
                </a:tc>
                <a:tc>
                  <a:txBody>
                    <a:bodyPr wrap="square"/>
                    <a:lstStyle/>
                    <a:p>
                      <a:pPr algn="l"/>
                      <a:r>
                        <a:rPr sz="950" b="0">
                          <a:solidFill>
                            <a:srgbClr val="1C1C1E"/>
                          </a:solidFill>
                          <a:latin typeface="Calibri"/>
                        </a:rPr>
                        <a:t>regimes/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L-9</a:t>
                      </a:r>
                    </a:p>
                  </a:txBody>
                  <a:tcPr marL="82296" marR="64008" marT="32004" marB="32004" anchor="ctr">
                    <a:solidFill>
                      <a:srgbClr val="F6F3EF"/>
                    </a:solidFill>
                  </a:tcPr>
                </a:tc>
                <a:tc>
                  <a:txBody>
                    <a:bodyPr wrap="square"/>
                    <a:lstStyle/>
                    <a:p>
                      <a:pPr algn="l"/>
                      <a:r>
                        <a:rPr sz="950" b="0">
                          <a:solidFill>
                            <a:srgbClr val="1C1C1E"/>
                          </a:solidFill>
                          <a:latin typeface="Calibri"/>
                        </a:rPr>
                        <a:t>the provenance polynomial is universal</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L-10</a:t>
                      </a:r>
                    </a:p>
                  </a:txBody>
                  <a:tcPr marL="82296" marR="64008" marT="32004" marB="32004" anchor="ctr">
                    <a:solidFill>
                      <a:srgbClr val="FFFFFF"/>
                    </a:solidFill>
                  </a:tcPr>
                </a:tc>
                <a:tc>
                  <a:txBody>
                    <a:bodyPr wrap="square"/>
                    <a:lstStyle/>
                    <a:p>
                      <a:pPr algn="l"/>
                      <a:r>
                        <a:rPr sz="950" b="0">
                          <a:solidFill>
                            <a:srgbClr val="1C1C1E"/>
                          </a:solidFill>
                          <a:latin typeface="Calibri"/>
                        </a:rPr>
                        <a:t>the as-of read saturates at the label</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L-12</a:t>
                      </a:r>
                    </a:p>
                  </a:txBody>
                  <a:tcPr marL="82296" marR="64008" marT="32004" marB="32004" anchor="ctr">
                    <a:solidFill>
                      <a:srgbClr val="F6F3EF"/>
                    </a:solidFill>
                  </a:tcPr>
                </a:tc>
                <a:tc>
                  <a:txBody>
                    <a:bodyPr wrap="square"/>
                    <a:lstStyle/>
                    <a:p>
                      <a:pPr algn="l"/>
                      <a:r>
                        <a:rPr sz="950" b="0">
                          <a:solidFill>
                            <a:srgbClr val="1C1C1E"/>
                          </a:solidFill>
                          <a:latin typeface="Calibri"/>
                        </a:rPr>
                        <a:t>schema variance: contravariant in, covariant out</a:t>
                      </a:r>
                    </a:p>
                  </a:txBody>
                  <a:tcPr marL="82296" marR="64008" marT="32004" marB="32004" anchor="ctr">
                    <a:solidFill>
                      <a:srgbClr val="F6F3EF"/>
                    </a:solidFill>
                  </a:tcPr>
                </a:tc>
                <a:tc>
                  <a:txBody>
                    <a:bodyPr wrap="square"/>
                    <a:lstStyle/>
                    <a:p>
                      <a:pPr algn="l"/>
                      <a:r>
                        <a:rPr sz="950" b="0">
                          <a:solidFill>
                            <a:srgbClr val="1C1C1E"/>
                          </a:solidFill>
                          <a:latin typeface="Calibri"/>
                        </a:rPr>
                        <a:t>schemas.py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L-16</a:t>
                      </a:r>
                    </a:p>
                  </a:txBody>
                  <a:tcPr marL="82296" marR="64008" marT="32004" marB="32004" anchor="ctr">
                    <a:solidFill>
                      <a:srgbClr val="FFFFFF"/>
                    </a:solidFill>
                  </a:tcPr>
                </a:tc>
                <a:tc>
                  <a:txBody>
                    <a:bodyPr wrap="square"/>
                    <a:lstStyle/>
                    <a:p>
                      <a:pPr algn="l"/>
                      <a:r>
                        <a:rPr sz="950" b="0">
                          <a:solidFill>
                            <a:srgbClr val="1C1C1E"/>
                          </a:solidFill>
                          <a:latin typeface="Calibri"/>
                        </a:rPr>
                        <a:t>no regime obliges and forbids the same term</a:t>
                      </a:r>
                    </a:p>
                  </a:txBody>
                  <a:tcPr marL="82296" marR="64008" marT="32004" marB="32004" anchor="ctr">
                    <a:solidFill>
                      <a:srgbClr val="FFFFFF"/>
                    </a:solidFill>
                  </a:tcPr>
                </a:tc>
                <a:tc>
                  <a:txBody>
                    <a:bodyPr wrap="square"/>
                    <a:lstStyle/>
                    <a:p>
                      <a:pPr algn="l"/>
                      <a:r>
                        <a:rPr sz="950" b="0">
                          <a:solidFill>
                            <a:srgbClr val="1C1C1E"/>
                          </a:solidFill>
                          <a:latin typeface="Calibri"/>
                        </a:rPr>
                        <a:t>regimes/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L-18</a:t>
                      </a:r>
                    </a:p>
                  </a:txBody>
                  <a:tcPr marL="82296" marR="64008" marT="32004" marB="32004" anchor="ctr">
                    <a:solidFill>
                      <a:srgbClr val="F6F3EF"/>
                    </a:solidFill>
                  </a:tcPr>
                </a:tc>
                <a:tc>
                  <a:txBody>
                    <a:bodyPr wrap="square"/>
                    <a:lstStyle/>
                    <a:p>
                      <a:pPr algn="l"/>
                      <a:r>
                        <a:rPr sz="950" b="0">
                          <a:solidFill>
                            <a:srgbClr val="1C1C1E"/>
                          </a:solidFill>
                          <a:latin typeface="Calibri"/>
                        </a:rPr>
                        <a:t>no personal data inline in an evidence node</a:t>
                      </a:r>
                    </a:p>
                  </a:txBody>
                  <a:tcPr marL="82296" marR="64008" marT="32004" marB="32004" anchor="ctr">
                    <a:solidFill>
                      <a:srgbClr val="F6F3EF"/>
                    </a:solidFill>
                  </a:tcPr>
                </a:tc>
                <a:tc>
                  <a:txBody>
                    <a:bodyPr wrap="square"/>
                    <a:lstStyle/>
                    <a:p>
                      <a:pPr algn="l"/>
                      <a:r>
                        <a:rPr sz="950" b="0">
                          <a:solidFill>
                            <a:srgbClr val="1C1C1E"/>
                          </a:solidFill>
                          <a:latin typeface="Calibri"/>
                        </a:rPr>
                        <a:t>evidence/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L-19</a:t>
                      </a:r>
                    </a:p>
                  </a:txBody>
                  <a:tcPr marL="82296" marR="64008" marT="32004" marB="32004" anchor="ctr">
                    <a:solidFill>
                      <a:srgbClr val="FFFFFF"/>
                    </a:solidFill>
                  </a:tcPr>
                </a:tc>
                <a:tc>
                  <a:txBody>
                    <a:bodyPr wrap="square"/>
                    <a:lstStyle/>
                    <a:p>
                      <a:pPr algn="l"/>
                      <a:r>
                        <a:rPr sz="950" b="0">
                          <a:solidFill>
                            <a:srgbClr val="1C1C1E"/>
                          </a:solidFill>
                          <a:latin typeface="Calibri"/>
                        </a:rPr>
                        <a:t>composition is a monoid</a:t>
                      </a:r>
                    </a:p>
                  </a:txBody>
                  <a:tcPr marL="82296" marR="64008" marT="32004" marB="32004" anchor="ctr">
                    <a:solidFill>
                      <a:srgbClr val="FFFFFF"/>
                    </a:solidFill>
                  </a:tcPr>
                </a:tc>
                <a:tc>
                  <a:txBody>
                    <a:bodyPr wrap="square"/>
                    <a:lstStyle/>
                    <a:p>
                      <a:pPr algn="l"/>
                      <a:r>
                        <a:rPr sz="950" b="0">
                          <a:solidFill>
                            <a:srgbClr val="1C1C1E"/>
                          </a:solidFill>
                          <a:latin typeface="Calibri"/>
                        </a:rPr>
                        <a:t>test_composition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L-20</a:t>
                      </a:r>
                    </a:p>
                  </a:txBody>
                  <a:tcPr marL="82296" marR="64008" marT="32004" marB="32004" anchor="ctr">
                    <a:solidFill>
                      <a:srgbClr val="F6F3EF"/>
                    </a:solidFill>
                  </a:tcPr>
                </a:tc>
                <a:tc>
                  <a:txBody>
                    <a:bodyPr wrap="square"/>
                    <a:lstStyle/>
                    <a:p>
                      <a:pPr algn="l"/>
                      <a:r>
                        <a:rPr sz="950" b="0">
                          <a:solidFill>
                            <a:srgbClr val="1C1C1E"/>
                          </a:solidFill>
                          <a:latin typeface="Calibri"/>
                        </a:rPr>
                        <a:t>schemas form a lattice; independent edits commute</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L-21</a:t>
                      </a:r>
                    </a:p>
                  </a:txBody>
                  <a:tcPr marL="82296" marR="64008" marT="32004" marB="32004" anchor="ctr">
                    <a:solidFill>
                      <a:srgbClr val="FFFFFF"/>
                    </a:solidFill>
                  </a:tcPr>
                </a:tc>
                <a:tc>
                  <a:txBody>
                    <a:bodyPr wrap="square"/>
                    <a:lstStyle/>
                    <a:p>
                      <a:pPr algn="l"/>
                      <a:r>
                        <a:rPr sz="950" b="0">
                          <a:solidFill>
                            <a:srgbClr val="1C1C1E"/>
                          </a:solidFill>
                          <a:latin typeface="Calibri"/>
                        </a:rPr>
                        <a:t>an input_to edge type-checks or does not exist</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THE RETURN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writing them found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L-W8 · a shipped example was wrong</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Hull–White calibration warrant declared its parameters came from an artifact while its verb produced them. Two more examples were wrong the same way. Found on the day the law was written.</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L-W11 and L-W13 · two more, the same day</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A VaR backtest that never said what it was calibrated as of, and both LLM examples naming a model family rather than a build. Three of thirteen shipped warrants were quietly under-specified.</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L-1 · baselined was reachable by no edge</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Which looked like a violation and was not: it is a second INITIAL object, because an imported record must not enter through draft or the register would imply evidence was asserted when it was not.</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L-9 · freshness is not a semiring</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(max, max) has no annihilating zero. So the universal property does not reach it, and a claim resting on a missing fact reports the freshness of the facts that are present.</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L-20 · the design note was backwards</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It said a refinement is “at a type no wider”. Standing in for something requires accepting AT LEAST what it accepted. The code had it right; the prose did not.</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L-10 · a per-model document quoted a global count</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provenance lens reported the PLATFORM-WIDE chain length inside each model's document, so every model's document changed whenever anything happened anywhere.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THE HONEST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six that do not run,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graphicFrame>
        <p:nvGraphicFramePr>
          <p:cNvPr id="10" name="Table 9"/>
          <p:cNvGraphicFramePr>
            <a:graphicFrameLocks noGrp="1"/>
          </p:cNvGraphicFramePr>
          <p:nvPr/>
        </p:nvGraphicFramePr>
        <p:xfrm>
          <a:off x="777240" y="1353312"/>
          <a:ext cx="10637214" cy="2693416"/>
        </p:xfrm>
        <a:graphic>
          <a:graphicData uri="http://schemas.openxmlformats.org/drawingml/2006/table">
            <a:tbl>
              <a:tblPr firstRow="1">
                <a:tableStyleId>{5C22544A-7EE6-4342-B048-85BDC9FD1C3A}</a:tableStyleId>
              </a:tblPr>
              <a:tblGrid>
                <a:gridCol w="2925828"/>
                <a:gridCol w="7711386"/>
              </a:tblGrid>
              <a:tr h="329184">
                <a:tc>
                  <a:txBody>
                    <a:bodyPr wrap="square"/>
                    <a:lstStyle/>
                    <a:p>
                      <a:pPr algn="l"/>
                      <a:r>
                        <a:rPr sz="1000" b="1">
                          <a:solidFill>
                            <a:srgbClr val="FFFFFF"/>
                          </a:solidFill>
                          <a:latin typeface="Calibri"/>
                        </a:rPr>
                        <a:t>Law</a:t>
                      </a:r>
                    </a:p>
                  </a:txBody>
                  <a:tcPr marL="82296" marR="64008" marT="32004" marB="32004" anchor="ctr">
                    <a:solidFill>
                      <a:srgbClr val="A51C30"/>
                    </a:solidFill>
                  </a:tcPr>
                </a:tc>
                <a:tc>
                  <a:txBody>
                    <a:bodyPr wrap="square"/>
                    <a:lstStyle/>
                    <a:p>
                      <a:pPr algn="l"/>
                      <a:r>
                        <a:rPr sz="1000" b="1">
                          <a:solidFill>
                            <a:srgbClr val="FFFFFF"/>
                          </a:solidFill>
                          <a:latin typeface="Calibri"/>
                        </a:rPr>
                        <a:t>Why not</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1000" b="0">
                          <a:solidFill>
                            <a:srgbClr val="1C1C1E"/>
                          </a:solidFill>
                          <a:latin typeface="Calibri"/>
                        </a:rPr>
                        <a:t>needs a replay that checks a document's quantitative claims against the register; the replay exists for validation episodes, not documents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L-11  lens laws</a:t>
                      </a:r>
                    </a:p>
                  </a:txBody>
                  <a:tcPr marL="82296" marR="64008" marT="32004" marB="32004" anchor="ctr">
                    <a:solidFill>
                      <a:srgbClr val="F6F3EF"/>
                    </a:solidFill>
                  </a:tcPr>
                </a:tc>
                <a:tc>
                  <a:txBody>
                    <a:bodyPr wrap="square"/>
                    <a:lstStyle/>
                    <a:p>
                      <a:pPr algn="l"/>
                      <a:r>
                        <a:rPr sz="1000" b="0">
                          <a:solidFill>
                            <a:srgbClr val="1C1C1E"/>
                          </a:solidFill>
                          <a:latin typeface="Calibri"/>
                        </a:rPr>
                        <a:t>needs a `put`. The compiler regenerates whole documents, so there is no round trip — and building one to satisfy a law would be building the wrong thing</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1000" b="0">
                          <a:solidFill>
                            <a:srgbClr val="1C1C1E"/>
                          </a:solidFill>
                          <a:latin typeface="Calibri"/>
                        </a:rPr>
                        <a:t>no consistency radius is computed anywhere</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1000" b="0">
                          <a:solidFill>
                            <a:srgbClr val="1C1C1E"/>
                          </a:solidFill>
                          <a:latin typeface="Calibri"/>
                        </a:rPr>
                        <a:t>typed composition gives it something to quantify over; the aggregate ρ and composite warrants are not built</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L-15  fibration completeness</a:t>
                      </a:r>
                    </a:p>
                  </a:txBody>
                  <a:tcPr marL="82296" marR="64008" marT="32004" marB="32004" anchor="ctr">
                    <a:solidFill>
                      <a:srgbClr val="FFFFFF"/>
                    </a:solidFill>
                  </a:tcPr>
                </a:tc>
                <a:tc>
                  <a:txBody>
                    <a:bodyPr wrap="square"/>
                    <a:lstStyle/>
                    <a:p>
                      <a:pPr algn="l"/>
                      <a:r>
                        <a:rPr sz="1000" b="0">
                          <a:solidFill>
                            <a:srgbClr val="1C1C1E"/>
                          </a:solidFill>
                          <a:latin typeface="Calibri"/>
                        </a:rPr>
                        <a:t>needs a plugin loader that refuses to boot on a partial fibre; model classes are strings on the register today</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L-17  contract–serving agreement</a:t>
                      </a:r>
                    </a:p>
                  </a:txBody>
                  <a:tcPr marL="82296" marR="64008" marT="32004" marB="32004" anchor="ctr">
                    <a:solidFill>
                      <a:srgbClr val="F6F3EF"/>
                    </a:solidFill>
                  </a:tcPr>
                </a:tc>
                <a:tc>
                  <a:txBody>
                    <a:bodyPr wrap="square"/>
                    <a:lstStyle/>
                    <a:p>
                      <a:pPr algn="l"/>
                      <a:r>
                        <a:rPr sz="1000" b="0">
                          <a:solidFill>
                            <a:srgbClr val="1C1C1E"/>
                          </a:solidFill>
                          <a:latin typeface="Calibri"/>
                        </a:rPr>
                        <a:t>needs an online store to compare against. Half exists: serving_namespaces computes what serving MUST read</a:t>
                      </a:r>
                    </a:p>
                  </a:txBody>
                  <a:tcPr marL="82296" marR="64008" marT="32004" marB="32004" anchor="ctr">
                    <a:solidFill>
                      <a:srgbClr val="F6F3EF"/>
                    </a:solidFill>
                  </a:tcPr>
                </a:tc>
              </a:tr>
            </a:tbl>
          </a:graphicData>
        </a:graphic>
      </p:graphicFrame>
      <p:sp>
        <p:nvSpPr>
          <p:cNvPr id="11" name="Rectangle 10"/>
          <p:cNvSpPr/>
          <p:nvPr/>
        </p:nvSpPr>
        <p:spPr>
          <a:xfrm>
            <a:off x="777240" y="43027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027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2163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law that is stated but not executed did not prevent anything. </a:t>
            </a:r>
            <a:r>
              <a:rPr sz="1050" b="0" i="0">
                <a:solidFill>
                  <a:srgbClr val="1C1C1E"/>
                </a:solidFill>
                <a:latin typeface="Calibri"/>
              </a:rPr>
              <a:t>Which is why they are listed here rather than only in a table nobody opens — and why the test file that runs the other fifteen carries this same list, so the gap is visible where somebody is already looking.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9</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objects have been defined. This is how they MEET — and where the pins are that stop any of them moving underneath the others.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10</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What a Feature Is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Five things it is not, and what each one costs when you assume otherwise.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11</a:t>
            </a:r>
          </a:p>
        </p:txBody>
      </p:sp>
      <p:sp>
        <p:nvSpPr>
          <p:cNvPr id="5" name="TextBox 4"/>
          <p:cNvSpPr txBox="1"/>
          <p:nvPr/>
        </p:nvSpPr>
        <p:spPr>
          <a:xfrm>
            <a:off x="1005840" y="2375611"/>
            <a:ext cx="6169584" cy="1188720"/>
          </a:xfrm>
          <a:prstGeom prst="rect">
            <a:avLst/>
          </a:prstGeom>
          <a:noFill/>
        </p:spPr>
        <p:txBody>
          <a:bodyPr wrap="square" lIns="0" rIns="0" tIns="0" bIns="0" anchor="t">
            <a:spAutoFit/>
          </a:bodyPr>
          <a:lstStyle/>
          <a:p>
            <a:pPr algn="l">
              <a:spcBef>
                <a:spcPts val="0"/>
              </a:spcBef>
              <a:spcAft>
                <a:spcPts val="0"/>
              </a:spcAft>
            </a:pPr>
            <a:r>
              <a:rPr sz="4000" b="0" i="0">
                <a:solidFill>
                  <a:srgbClr val="FFFFFF"/>
                </a:solidFill>
                <a:latin typeface="Georgia"/>
              </a:rPr>
              <a:t>What a Featureset Is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12</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The parameter kind, the source binding, the runtime — not a category anybody attached to the model. L-W12 is the clearest case: it bites hardest on a neural network and is deliberately not written in terms of the class, because a PMML scorecard is T3 and carries exactly the same exposure. Keying it on the trainability class would have missed that, and the miss would have looked like coverage.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304961"/>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warrant:resolve policy gate</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per principal and per use, never inherited</a:t>
                      </a:r>
                    </a:p>
                  </a:txBody>
                  <a:tcPr marL="82296" marR="64008" marT="32004" marB="32004" anchor="ctr">
                    <a:solidFill>
                      <a:srgbClr val="FFFFFF"/>
                    </a:solidFill>
                  </a:tcPr>
                </a:tc>
              </a:tr>
            </a:tbl>
          </a:graphicData>
        </a:graphic>
      </p:graphicFrame>
      <p:sp>
        <p:nvSpPr>
          <p:cNvPr id="23" name="Rectangle 22"/>
          <p:cNvSpPr/>
          <p:nvPr/>
        </p:nvSpPr>
        <p:spPr>
          <a:xfrm>
            <a:off x="777240" y="4706531"/>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706531"/>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4825403"/>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TTL and binding kind are refused AT CREATION. </a:t>
            </a:r>
            <a:r>
              <a:rPr sz="1050" b="0" i="0">
                <a:solidFill>
                  <a:srgbClr val="1C1C1E"/>
                </a:solidFill>
                <a:latin typeface="Calibri"/>
              </a:rPr>
              <a:t>Not defended at use — a check performed when the profile is written is one nobody can forget to perform later, and the refusal points at the policy gate that can hold an obligation. A template able to widen authority is an authority mechanism wearing a convenience mechanism's clothes.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13</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How Things Compose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compose. Featuresets compose. Models compose — and until recently only two of those were checked.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Five relations, two that propagate</a:t>
            </a:r>
          </a:p>
          <a:p>
            <a:pPr>
              <a:lnSpc>
                <a:spcPct val="115000"/>
              </a:lnSpc>
              <a:spcBef>
                <a:spcPts val="0"/>
              </a:spcBef>
              <a:spcAft>
                <a:spcPts val="700"/>
              </a:spcAft>
            </a:pPr>
            <a:r>
              <a:rPr sz="1150" b="0" i="0">
                <a:solidFill>
                  <a:srgbClr val="F6E6E9"/>
                </a:solidFill>
                <a:latin typeface="Calibri"/>
              </a:rPr>
              <a:t>input_to is a type claim</a:t>
            </a:r>
          </a:p>
          <a:p>
            <a:pPr>
              <a:lnSpc>
                <a:spcPct val="115000"/>
              </a:lnSpc>
              <a:spcBef>
                <a:spcPts val="0"/>
              </a:spcBef>
              <a:spcAft>
                <a:spcPts val="700"/>
              </a:spcAft>
            </a:pPr>
            <a:r>
              <a:rPr sz="1150" b="0" i="0">
                <a:solidFill>
                  <a:srgbClr val="F6E6E9"/>
                </a:solidFill>
                <a:latin typeface="Calibri"/>
              </a:rPr>
              <a:t>Blast radius and shared dependency</a:t>
            </a:r>
          </a:p>
          <a:p>
            <a:pPr>
              <a:lnSpc>
                <a:spcPct val="115000"/>
              </a:lnSpc>
              <a:spcBef>
                <a:spcPts val="0"/>
              </a:spcBef>
              <a:spcAft>
                <a:spcPts val="700"/>
              </a:spcAft>
            </a:pPr>
            <a:r>
              <a:rPr sz="1150" b="0" i="0">
                <a:solidFill>
                  <a:srgbClr val="F6E6E9"/>
                </a:solidFill>
                <a:latin typeface="Calibri"/>
              </a:rPr>
              <a:t>Why aggregate risk cannot add up</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graphicFrame>
        <p:nvGraphicFramePr>
          <p:cNvPr id="10" name="Table 9"/>
          <p:cNvGraphicFramePr>
            <a:graphicFrameLocks noGrp="1"/>
          </p:cNvGraphicFramePr>
          <p:nvPr/>
        </p:nvGraphicFramePr>
        <p:xfrm>
          <a:off x="777240" y="1353312"/>
          <a:ext cx="10637213" cy="1975104"/>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584448"/>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84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703320"/>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it appears in; a variant counted as one makes a change to the parent look like a change to a book it never touched.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It was called “feeds”, and that was wrong in a bank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TextBox 9"/>
          <p:cNvSpPr txBox="1"/>
          <p:nvPr/>
        </p:nvSpPr>
        <p:spPr>
          <a:xfrm>
            <a:off x="777240" y="1353312"/>
            <a:ext cx="5744096" cy="292608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A feed here means market data, a reference file, a nightly drop.</a:t>
            </a:r>
          </a:p>
          <a:p>
            <a:pPr>
              <a:lnSpc>
                <a:spcPct val="128000"/>
              </a:lnSpc>
              <a:spcBef>
                <a:spcPts val="0"/>
              </a:spcBef>
              <a:spcAft>
                <a:spcPts val="900"/>
              </a:spcAft>
            </a:pPr>
            <a:r>
              <a:rPr sz="1200" b="0" i="0">
                <a:solidFill>
                  <a:srgbClr val="1C1C1E"/>
                </a:solidFill>
                <a:latin typeface="Calibri"/>
              </a:rPr>
              <a:t>So “A feeds B” read as though MAYA consumed or produced one. It does neither: it moves no data and runs no model.</a:t>
            </a:r>
          </a:p>
          <a:p>
            <a:pPr>
              <a:lnSpc>
                <a:spcPct val="128000"/>
              </a:lnSpc>
              <a:spcBef>
                <a:spcPts val="0"/>
              </a:spcBef>
              <a:spcAft>
                <a:spcPts val="900"/>
              </a:spcAft>
            </a:pPr>
            <a:r>
              <a:rPr sz="1200" b="0" i="0">
                <a:solidFill>
                  <a:srgbClr val="1C1C1E"/>
                </a:solidFill>
                <a:latin typeface="Calibri"/>
              </a:rPr>
              <a:t>The edge is a statement about two entries in the REGISTER, and the wire it describes is carried by whatever engine runs the two ends. input_to says what the relation is.</a:t>
            </a:r>
          </a:p>
          <a:p>
            <a:pPr>
              <a:lnSpc>
                <a:spcPct val="128000"/>
              </a:lnSpc>
              <a:spcBef>
                <a:spcPts val="0"/>
              </a:spcBef>
              <a:spcAft>
                <a:spcPts val="0"/>
              </a:spcAft>
            </a:pPr>
            <a:r>
              <a:rPr sz="1100" b="0" i="0">
                <a:solidFill>
                  <a:srgbClr val="4A4F57"/>
                </a:solidFill>
                <a:latin typeface="Calibri"/>
              </a:rPr>
              <a:t>`feeds` is still accepted and stored under the new name — and deliberately not published, because a vocabulary offering two words for one relation invites somebody to think they mean different things.</a:t>
            </a:r>
          </a:p>
        </p:txBody>
      </p:sp>
      <p:sp>
        <p:nvSpPr>
          <p:cNvPr id="11" name="Rectangle 10"/>
          <p:cNvSpPr/>
          <p:nvPr/>
        </p:nvSpPr>
        <p:spPr>
          <a:xfrm>
            <a:off x="6946824" y="1353312"/>
            <a:ext cx="446763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4" name="TextBox 13"/>
          <p:cNvSpPr txBox="1"/>
          <p:nvPr/>
        </p:nvSpPr>
        <p:spPr>
          <a:xfrm>
            <a:off x="7147992" y="1746504"/>
            <a:ext cx="410187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refines( output_schema(source),</a:t>
            </a:r>
          </a:p>
          <a:p>
            <a:pPr>
              <a:lnSpc>
                <a:spcPct val="134000"/>
              </a:lnSpc>
              <a:spcBef>
                <a:spcPts val="0"/>
              </a:spcBef>
              <a:spcAft>
                <a:spcPts val="0"/>
              </a:spcAft>
            </a:pPr>
            <a:r>
              <a:rPr sz="950" b="0" i="0">
                <a:solidFill>
                  <a:srgbClr val="1C1C1E"/>
                </a:solidFill>
                <a:latin typeface="Consolas"/>
              </a:rPr>
              <a:t>         input_schema(target)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extra outputs      → fine, simply unread</a:t>
            </a:r>
          </a:p>
          <a:p>
            <a:pPr>
              <a:lnSpc>
                <a:spcPct val="134000"/>
              </a:lnSpc>
              <a:spcBef>
                <a:spcPts val="0"/>
              </a:spcBef>
              <a:spcAft>
                <a:spcPts val="0"/>
              </a:spcAft>
            </a:pPr>
            <a:r>
              <a:rPr sz="950" b="0" i="0">
                <a:solidFill>
                  <a:srgbClr val="7A7F87"/>
                </a:solidFill>
                <a:latin typeface="Consolas"/>
              </a:rPr>
              <a:t># a missing output   → a wire to nowhere: refused</a:t>
            </a:r>
          </a:p>
          <a:p>
            <a:pPr>
              <a:lnSpc>
                <a:spcPct val="134000"/>
              </a:lnSpc>
              <a:spcBef>
                <a:spcPts val="0"/>
              </a:spcBef>
              <a:spcAft>
                <a:spcPts val="0"/>
              </a:spcAft>
            </a:pPr>
            <a:r>
              <a:rPr sz="950" b="0" i="0">
                <a:solidFill>
                  <a:srgbClr val="7A7F87"/>
                </a:solidFill>
                <a:latin typeface="Consolas"/>
              </a:rPr>
              <a:t># a narrowed output  → the same regression L-12</a:t>
            </a:r>
          </a:p>
          <a:p>
            <a:pPr>
              <a:lnSpc>
                <a:spcPct val="134000"/>
              </a:lnSpc>
              <a:spcBef>
                <a:spcPts val="0"/>
              </a:spcBef>
              <a:spcAft>
                <a:spcPts val="0"/>
              </a:spcAft>
            </a:pPr>
            <a:r>
              <a:rPr sz="950" b="0" i="0">
                <a:solidFill>
                  <a:srgbClr val="7A7F87"/>
                </a:solidFill>
                <a:latin typeface="Consolas"/>
              </a:rPr>
              <a:t>#                      names at an alias move</a:t>
            </a:r>
          </a:p>
        </p:txBody>
      </p:sp>
      <p:sp>
        <p:nvSpPr>
          <p:cNvPr id="15" name="Rectangle 14"/>
          <p:cNvSpPr/>
          <p:nvPr/>
        </p:nvSpPr>
        <p:spPr>
          <a:xfrm>
            <a:off x="6946824" y="3602210"/>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02210"/>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721082"/>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Recorded and never checked, it was a drawing. </a:t>
            </a:r>
            <a:r>
              <a:rPr sz="1050" b="0" i="0">
                <a:solidFill>
                  <a:srgbClr val="1C1C1E"/>
                </a:solidFill>
                <a:latin typeface="Calibri"/>
              </a:rPr>
              <a:t>The blast radius followed edges nobody had validated, and a composite had no schema anybody could derive. Checked, it is composition — and the composite's type is DERIVED rather than declared.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WHAT IT IS FOR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questions this makes answerable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TextBox 9"/>
          <p:cNvSpPr txBox="1"/>
          <p:nvPr/>
        </p:nvSpPr>
        <p:spPr>
          <a:xfrm>
            <a:off x="777240" y="1353312"/>
            <a:ext cx="4893118" cy="292608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What breaks if I change this?</a:t>
            </a:r>
          </a:p>
          <a:p>
            <a:pPr>
              <a:lnSpc>
                <a:spcPct val="126000"/>
              </a:lnSpc>
              <a:spcBef>
                <a:spcPts val="0"/>
              </a:spcBef>
              <a:spcAft>
                <a:spcPts val="800"/>
              </a:spcAft>
            </a:pPr>
            <a:r>
              <a:rPr sz="1100" b="0" i="0">
                <a:solidFill>
                  <a:srgbClr val="1C1C1E"/>
                </a:solidFill>
                <a:latin typeface="Calibri"/>
              </a:rPr>
              <a:t>Only propagating edges are followed, and each model comes back with its DISTANCE — so the immediately affected are visible separately from those two hops away.</a:t>
            </a:r>
          </a:p>
          <a:p>
            <a:pPr>
              <a:lnSpc>
                <a:spcPct val="126000"/>
              </a:lnSpc>
              <a:spcBef>
                <a:spcPts val="0"/>
              </a:spcBef>
              <a:spcAft>
                <a:spcPts val="0"/>
              </a:spcAft>
            </a:pPr>
            <a:r>
              <a:rPr sz="1100" b="0" i="0">
                <a:solidFill>
                  <a:srgbClr val="4A4F57"/>
                </a:solidFill>
                <a:latin typeface="Calibri"/>
              </a:rPr>
              <a:t>The worst tier reached is reported too. A change touching one Tier 1 model is not the same as one touching five Tier 4s, and a count alone cannot tell you which happened.</a:t>
            </a:r>
          </a:p>
        </p:txBody>
      </p:sp>
      <p:sp>
        <p:nvSpPr>
          <p:cNvPr id="11" name="TextBox 10"/>
          <p:cNvSpPr txBox="1"/>
          <p:nvPr/>
        </p:nvSpPr>
        <p:spPr>
          <a:xfrm>
            <a:off x="6308591" y="1353312"/>
            <a:ext cx="4893118" cy="292608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What do these two rest on in common?</a:t>
            </a:r>
          </a:p>
          <a:p>
            <a:pPr>
              <a:lnSpc>
                <a:spcPct val="126000"/>
              </a:lnSpc>
              <a:spcBef>
                <a:spcPts val="0"/>
              </a:spcBef>
              <a:spcAft>
                <a:spcPts val="800"/>
              </a:spcAft>
            </a:pPr>
            <a:r>
              <a:rPr sz="1100" b="0" i="0">
                <a:solidFill>
                  <a:srgbClr val="1C1C1E"/>
                </a:solidFill>
                <a:latin typeface="Calibri"/>
              </a:rPr>
              <a:t>This is the interesting one. Two models fed by the same curve are NOT two independent risks — and a network that copies a dependency is not the same as one that duplicates it.</a:t>
            </a:r>
          </a:p>
          <a:p>
            <a:pPr>
              <a:lnSpc>
                <a:spcPct val="126000"/>
              </a:lnSpc>
              <a:spcBef>
                <a:spcPts val="0"/>
              </a:spcBef>
              <a:spcAft>
                <a:spcPts val="0"/>
              </a:spcAft>
            </a:pPr>
            <a:r>
              <a:rPr sz="1100" b="0" i="0">
                <a:solidFill>
                  <a:srgbClr val="4A4F57"/>
                </a:solidFill>
                <a:latin typeface="Calibri"/>
              </a:rPr>
              <a:t>That difference is precisely why an aggregate risk figure cannot simply add up, and why supervisors ask about “common dependencies and shared assumptions”. Here it has an answer instead of a paragraph.</a:t>
            </a:r>
          </a:p>
        </p:txBody>
      </p:sp>
      <p:sp>
        <p:nvSpPr>
          <p:cNvPr id="12" name="Rectangle 11"/>
          <p:cNvSpPr/>
          <p:nvPr/>
        </p:nvSpPr>
        <p:spPr>
          <a:xfrm>
            <a:off x="777240" y="4507992"/>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5079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2686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cycle is refused. </a:t>
            </a:r>
            <a:r>
              <a:rPr sz="1050" b="0" i="0">
                <a:solidFill>
                  <a:srgbClr val="1C1C1E"/>
                </a:solidFill>
                <a:latin typeface="Calibri"/>
              </a:rPr>
              <a:t>A model whose output is its own input has no defined value, and a blast radius over it does not terminate — so the edge that would close the cycle is the one that is refused, naming the path that already exists.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COPY MAP IS THE OBSTRUCTION</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 so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0"/>
              </a:spcAft>
            </a:pPr>
            <a:r>
              <a:rPr sz="1100" b="0" i="0">
                <a:solidFill>
                  <a:srgbClr val="1C1C1E"/>
                </a:solidFill>
                <a:latin typeface="Calibri"/>
              </a:rPr>
              <a:t>This is a theorem arriving as a product decision rather than a footnote — which is the strongest form the argument takes anywhere in the platform.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14</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Documentation, as a Graph</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Five moments, five objects, and the pins that connect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When documentation actually arrives</a:t>
            </a:r>
          </a:p>
          <a:p>
            <a:pPr>
              <a:lnSpc>
                <a:spcPct val="115000"/>
              </a:lnSpc>
              <a:spcBef>
                <a:spcPts val="0"/>
              </a:spcBef>
              <a:spcAft>
                <a:spcPts val="700"/>
              </a:spcAft>
            </a:pPr>
            <a:r>
              <a:rPr sz="1150" b="0" i="0">
                <a:solidFill>
                  <a:srgbClr val="F6E6E9"/>
                </a:solidFill>
                <a:latin typeface="Calibri"/>
              </a:rPr>
              <a:t>The moment that had no document</a:t>
            </a:r>
          </a:p>
          <a:p>
            <a:pPr>
              <a:lnSpc>
                <a:spcPct val="115000"/>
              </a:lnSpc>
              <a:spcBef>
                <a:spcPts val="0"/>
              </a:spcBef>
              <a:spcAft>
                <a:spcPts val="700"/>
              </a:spcAft>
            </a:pPr>
            <a:r>
              <a:rPr sz="1150" b="0" i="0">
                <a:solidFill>
                  <a:srgbClr val="F6E6E9"/>
                </a:solidFill>
                <a:latin typeface="Calibri"/>
              </a:rPr>
              <a:t>The dossier</a:t>
            </a:r>
          </a:p>
          <a:p>
            <a:pPr>
              <a:lnSpc>
                <a:spcPct val="115000"/>
              </a:lnSpc>
              <a:spcBef>
                <a:spcPts val="0"/>
              </a:spcBef>
              <a:spcAft>
                <a:spcPts val="700"/>
              </a:spcAft>
            </a:pPr>
            <a:r>
              <a:rPr sz="1150" b="0" i="0">
                <a:solidFill>
                  <a:srgbClr val="F6E6E9"/>
                </a:solidFill>
                <a:latin typeface="Calibri"/>
              </a:rPr>
              <a:t>What travels to somebody without a login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were unfilable,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 which is finding C-2 in documentation's clothing.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hundred and fifty governed acts a year, none of them readable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And none of them had a record anybody could read. The note explaining the one morning it went wrong lived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A fitted set with no warrant has no answer to “which data produced these numbers”, and that is worth saying out loud rather than leaving a heading with nothing under it.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5956840"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 Annex IV</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 the documents are rendered, not compiled, because cutting a pack monthly should not silently author four documents a month. And it does not re-materialise personal data: a flagged node carries its erasable pointer into the pack exactly as it does in the platform, because resolving it would put personal data where an erasure request cannot reach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Architecture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17</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120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a:p>
            <a:pPr>
              <a:lnSpc>
                <a:spcPct val="126000"/>
              </a:lnSpc>
              <a:spcBef>
                <a:spcPts val="0"/>
              </a:spcBef>
              <a:spcAft>
                <a:spcPts val="0"/>
              </a:spcAft>
            </a:pPr>
            <a:r>
              <a:rPr sz="1050" b="1" i="0">
                <a:solidFill>
                  <a:srgbClr val="A51C30"/>
                </a:solidFill>
                <a:latin typeface="Calibri"/>
              </a:rPr>
              <a:t>Not built. </a:t>
            </a:r>
            <a:r>
              <a:rPr sz="1050" b="0" i="0">
                <a:solidFill>
                  <a:srgbClr val="1C1C1E"/>
                </a:solidFill>
                <a:latin typeface="Calibri"/>
              </a:rPr>
              <a:t>A model class is a string on the register today; there is no plugin loader and no totality check, so L-15 is stated and not enforced. The extensibility that </a:t>
            </a:r>
            <a:r>
              <a:rPr sz="1050" b="1" i="0">
                <a:solidFill>
                  <a:srgbClr val="1C1C1E"/>
                </a:solidFill>
                <a:latin typeface="Calibri"/>
              </a:rPr>
              <a:t>is</a:t>
            </a:r>
            <a:r>
              <a:rPr sz="1050" b="0" i="0">
                <a:solidFill>
                  <a:srgbClr val="1C1C1E"/>
                </a:solidFill>
                <a:latin typeface="Calibri"/>
              </a:rPr>
              <a:t> built is the warrant grammar's: a new model technology is a new value in one vocabulary, not a new document type.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18</a:t>
            </a:r>
          </a:p>
        </p:txBody>
      </p:sp>
      <p:sp>
        <p:nvSpPr>
          <p:cNvPr id="5" name="TextBox 4"/>
          <p:cNvSpPr txBox="1"/>
          <p:nvPr/>
        </p:nvSpPr>
        <p:spPr>
          <a:xfrm>
            <a:off x="1005840" y="2375611"/>
            <a:ext cx="6169584" cy="1188720"/>
          </a:xfrm>
          <a:prstGeom prst="rect">
            <a:avLst/>
          </a:prstGeom>
          <a:noFill/>
        </p:spPr>
        <p:txBody>
          <a:bodyPr wrap="square" lIns="0" rIns="0" tIns="0" bIns="0" anchor="t">
            <a:spAutoFit/>
          </a:bodyPr>
          <a:lstStyle/>
          <a:p>
            <a:pPr algn="l">
              <a:spcBef>
                <a:spcPts val="0"/>
              </a:spcBef>
              <a:spcAft>
                <a:spcPts val="0"/>
              </a:spcAft>
            </a:pPr>
            <a:r>
              <a:rPr sz="4000" b="0" i="0">
                <a:solidFill>
                  <a:srgbClr val="FFFFFF"/>
                </a:solidFill>
                <a:latin typeface="Georgia"/>
              </a:rPr>
              <a:t>The Feature Platform</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monitoring's missing half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Monitors could always be evaluated. They had to be </a:t>
            </a:r>
            <a:r>
              <a:rPr sz="1250" b="1" i="0">
                <a:solidFill>
                  <a:srgbClr val="1C1C1E"/>
                </a:solidFill>
                <a:latin typeface="Calibri"/>
              </a:rPr>
              <a:t>handed</a:t>
            </a:r>
            <a:r>
              <a:rPr sz="1250" b="0" i="0">
                <a:solidFill>
                  <a:srgbClr val="1C1C1E"/>
                </a:solidFill>
                <a:latin typeface="Calibri"/>
              </a:rPr>
              <a:t> their rows — which made monitoring something somebody remembered to do, and left the scheduler able only to record that a monitor had stopped.</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sp>
        <p:nvSpPr>
          <p:cNvPr id="17" name="TextBox 16"/>
          <p:cNvSpPr txBox="1"/>
          <p:nvPr/>
        </p:nvSpPr>
        <p:spPr>
          <a:xfrm>
            <a:off x="777240" y="3090672"/>
            <a:ext cx="10637215" cy="38404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streams, never one. </a:t>
            </a:r>
            <a:r>
              <a:rPr sz="1150" b="0" i="0">
                <a:solidFill>
                  <a:srgbClr val="1C1C1E"/>
                </a:solidFill>
                <a:latin typeface="Calibri"/>
              </a:rPr>
              <a:t>The gap between them is precisely what the delayed-label discipline reasons about, so flattening them would take that reasoning away before it started.</a:t>
            </a:r>
          </a:p>
        </p:txBody>
      </p:sp>
      <p:graphicFrame>
        <p:nvGraphicFramePr>
          <p:cNvPr id="18" name="Table 17"/>
          <p:cNvGraphicFramePr>
            <a:graphicFrameLocks noGrp="1"/>
          </p:cNvGraphicFramePr>
          <p:nvPr/>
        </p:nvGraphicFramePr>
        <p:xfrm>
          <a:off x="777240" y="3547872"/>
          <a:ext cx="10637214" cy="2845562"/>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Real collectors deliver at least once. A monitor that double-counts a redelivered batch reports a population that never existed</a:t>
                      </a:r>
                    </a:p>
                  </a:txBody>
                  <a:tcPr marL="82296" marR="64008" marT="32004" marB="32004" anchor="ctr">
                    <a:solidFill>
                      <a:srgbClr val="FFFFFF"/>
                    </a:solidFill>
                  </a:tcPr>
                </a:tc>
              </a:tr>
              <a:tr h="457200">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The join happens at READ time against a stated moment,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A cohort that looks complete and is not — the monitor decides maturity per row, and a join that dropped the unlabelled would decide for it</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being part of whoever ran it rather than part of the record</a:t>
                      </a:r>
                    </a:p>
                  </a:txBody>
                  <a:tcPr marL="82296" marR="64008" marT="32004" marB="32004" anchor="ctr">
                    <a:solidFill>
                      <a:srgbClr val="FFFFFF"/>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The model </a:t>
            </a:r>
            <a:r>
              <a:rPr sz="1250" b="1" i="0">
                <a:solidFill>
                  <a:srgbClr val="1C1C1E"/>
                </a:solidFill>
                <a:latin typeface="Calibri"/>
              </a:rPr>
              <a:t>record</a:t>
            </a:r>
            <a:r>
              <a:rPr sz="1250" b="0" i="0">
                <a:solidFill>
                  <a:srgbClr val="1C1C1E"/>
                </a:solidFill>
                <a:latin typeface="Calibri"/>
              </a:rPr>
              <a:t> was attested by several people while the </a:t>
            </a:r>
            <a:r>
              <a:rPr sz="1250" b="1" i="0">
                <a:solidFill>
                  <a:srgbClr val="1C1C1E"/>
                </a:solidFill>
                <a:latin typeface="Calibri"/>
              </a:rPr>
              <a:t>version</a:t>
            </a:r>
            <a:r>
              <a:rPr sz="1250" b="0" i="0">
                <a:solidFill>
                  <a:srgbClr val="1C1C1E"/>
                </a:solidFill>
                <a:latin typeface="Calibri"/>
              </a:rPr>
              <a:t> — the thing that actually runs — was approved by one.</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adjunction (L-5) that decides every other control set. Depth of control follows materiality</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would be a way of choosing your own control depth, and it is the obvious way to game a rule like this one</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19</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546350"/>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 not built —</a:t>
                      </a:r>
                    </a:p>
                  </a:txBody>
                  <a:tcPr marL="82296" marR="64008" marT="32004" marB="32004" anchor="ctr">
                    <a:solidFill>
                      <a:srgbClr val="FFFFFF"/>
                    </a:solidFill>
                  </a:tcPr>
                </a:tc>
                <a:tc>
                  <a:txBody>
                    <a:bodyPr wrap="square"/>
                    <a:lstStyle/>
                    <a:p>
                      <a:pPr algn="l"/>
                      <a:r>
                        <a:rPr sz="1000" b="0">
                          <a:solidFill>
                            <a:srgbClr val="1C1C1E"/>
                          </a:solidFill>
                          <a:latin typeface="Calibri"/>
                        </a:rPr>
                        <a:t>ℕ[X], classification, regime admissibility</a:t>
                      </a:r>
                    </a:p>
                  </a:txBody>
                  <a:tcPr marL="82296" marR="64008" marT="32004" marB="32004" anchor="ctr">
                    <a:solidFill>
                      <a:srgbClr val="FFFFFF"/>
                    </a:solidFill>
                  </a:tcPr>
                </a:tc>
              </a:tr>
            </a:tbl>
          </a:graphicData>
        </a:graphic>
      </p:graphicFrame>
      <p:sp>
        <p:nvSpPr>
          <p:cNvPr id="15" name="TextBox 14"/>
          <p:cNvSpPr txBox="1"/>
          <p:nvPr/>
        </p:nvSpPr>
        <p:spPr>
          <a:xfrm>
            <a:off x="7053196" y="4100829"/>
            <a:ext cx="4361258" cy="86868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Without ℕ[X] there is no universal object, </a:t>
            </a:r>
            <a:r>
              <a:rPr sz="1000" b="0" i="0">
                <a:solidFill>
                  <a:srgbClr val="1C1C1E"/>
                </a:solidFill>
                <a:latin typeface="Calibri"/>
              </a:rPr>
              <a:t>so each semiring is its own traversal of the same memoised DAG rather than a homomorphic image of one. Six questions, one implementation — and the honest count.</a:t>
            </a:r>
          </a:p>
        </p:txBody>
      </p:sp>
      <p:sp>
        <p:nvSpPr>
          <p:cNvPr id="16" name="Rectangle 15"/>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4748753"/>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Complexity, stated honestly.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A rule may name the payload field carrying the identity it is about — a finding is raised against the model, while the act concerns one finding. Without that, raiser ≠ closer was </a:t>
            </a:r>
            <a:r>
              <a:rPr sz="1050" b="1" i="0">
                <a:solidFill>
                  <a:srgbClr val="1C1C1E"/>
                </a:solidFill>
                <a:latin typeface="Calibri"/>
              </a:rPr>
              <a:t>inert over HTTP</a:t>
            </a:r>
            <a:r>
              <a:rPr sz="1050" b="0" i="0">
                <a:solidFill>
                  <a:srgbClr val="4A4F57"/>
                </a:solidFill>
                <a:latin typeface="Calibri"/>
              </a:rPr>
              <a:t>: it searched under the finding's own id, found nothing, and permitted everything.</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TextBox 9"/>
          <p:cNvSpPr txBox="1"/>
          <p:nvPr/>
        </p:nvSpPr>
        <p:spPr>
          <a:xfrm>
            <a:off x="777240" y="1764792"/>
            <a:ext cx="10637215" cy="475488"/>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A gate that cannot change without a release is a gate people work around. A gate that </a:t>
            </a:r>
            <a:r>
              <a:rPr sz="1200" b="1" i="0">
                <a:solidFill>
                  <a:srgbClr val="1C1C1E"/>
                </a:solidFill>
                <a:latin typeface="Calibri"/>
              </a:rPr>
              <a:t>can</a:t>
            </a:r>
            <a:r>
              <a:rPr sz="1200" b="0" i="0">
                <a:solidFill>
                  <a:srgbClr val="1C1C1E"/>
                </a:solidFill>
                <a:latin typeface="Calibri"/>
              </a:rPr>
              <a:t> change without one is a gate that can be </a:t>
            </a:r>
            <a:r>
              <a:rPr sz="1200" b="1" i="0">
                <a:solidFill>
                  <a:srgbClr val="A51C30"/>
                </a:solidFill>
                <a:latin typeface="Calibri"/>
              </a:rPr>
              <a:t>weakened</a:t>
            </a:r>
            <a:r>
              <a:rPr sz="1200" b="0" i="0">
                <a:solidFill>
                  <a:srgbClr val="1C1C1E"/>
                </a:solidFill>
                <a:latin typeface="Calibri"/>
              </a:rPr>
              <a:t> without one, which is worse. Everything here makes the first possible without making the second silent.</a:t>
            </a:r>
          </a:p>
        </p:txBody>
      </p:sp>
      <p:sp>
        <p:nvSpPr>
          <p:cNvPr id="11" name="Rectangle 10"/>
          <p:cNvSpPr/>
          <p:nvPr/>
        </p:nvSpPr>
        <p:spPr>
          <a:xfrm>
            <a:off x="777240" y="2331720"/>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331720"/>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423160"/>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4" name="TextBox 13"/>
          <p:cNvSpPr txBox="1"/>
          <p:nvPr/>
        </p:nvSpPr>
        <p:spPr>
          <a:xfrm>
            <a:off x="978408" y="2724911"/>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5" name="TextBox 14"/>
          <p:cNvSpPr txBox="1"/>
          <p:nvPr/>
        </p:nvSpPr>
        <p:spPr>
          <a:xfrm>
            <a:off x="777240" y="4643688"/>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Rego was the obvious answer and was not taken. </a:t>
            </a:r>
            <a:r>
              <a:rPr sz="1050" b="0" i="0">
                <a:solidFill>
                  <a:srgbClr val="1C1C1E"/>
                </a:solidFill>
                <a:latin typeface="Calibri"/>
              </a:rPr>
              <a:t>A gate written in a general language is a program, and a reviewer signing off a governance control would have to run it to know what it does.</a:t>
            </a:r>
          </a:p>
        </p:txBody>
      </p:sp>
      <p:graphicFrame>
        <p:nvGraphicFramePr>
          <p:cNvPr id="16" name="Table 15"/>
          <p:cNvGraphicFramePr>
            <a:graphicFrameLocks noGrp="1"/>
          </p:cNvGraphicFramePr>
          <p:nvPr/>
        </p:nvGraphicFramePr>
        <p:xfrm>
          <a:off x="6840452" y="2331720"/>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7" name="Rectangle 16"/>
          <p:cNvSpPr/>
          <p:nvPr/>
        </p:nvSpPr>
        <p:spPr>
          <a:xfrm>
            <a:off x="777240" y="5440679"/>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69848" y="5541264"/>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20</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The Execution Plane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17</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python.callable · container · rest · sql · spreadsheet · rules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113</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4A4F57"/>
                </a:solidFill>
                <a:latin typeface="Calibri"/>
              </a:rPr>
              <a:t>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755648"/>
          <a:ext cx="10637214" cy="3966683"/>
        </p:xfrm>
        <a:graphic>
          <a:graphicData uri="http://schemas.openxmlformats.org/drawingml/2006/table">
            <a:tbl>
              <a:tblPr firstRow="1">
                <a:tableStyleId>{5C22544A-7EE6-4342-B048-85BDC9FD1C3A}</a:tableStyleId>
              </a:tblPr>
              <a:tblGrid>
                <a:gridCol w="779451"/>
                <a:gridCol w="2888554"/>
                <a:gridCol w="69692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not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temperature 0.7 is not reproducible, and would be believed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training does not change the kernel, so a run declining to say which inhabitant it runs at produces a number attributable to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featureset read for training,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does not provide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it needs the register, not the document</a:t>
                      </a:r>
                    </a:p>
                  </a:txBody>
                  <a:tcPr marL="82296" marR="64008" marT="32004" marB="32004" anchor="ctr">
                    <a:solidFill>
                      <a:srgbClr val="FFFFFF"/>
                    </a:solidFill>
                  </a:tcPr>
                </a:tc>
              </a:tr>
            </a:tbl>
          </a:graphicData>
        </a:graphic>
      </p:graphicFrame>
      <p:sp>
        <p:nvSpPr>
          <p:cNvPr id="12" name="TextBox 11"/>
          <p:cNvSpPr txBox="1"/>
          <p:nvPr/>
        </p:nvSpPr>
        <p:spPr>
          <a:xfrm>
            <a:off x="777240" y="5777204"/>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A51C30"/>
                </a:solidFill>
                <a:latin typeface="Calibri"/>
              </a:rPr>
              <a:t>Validated before signed, never after. </a:t>
            </a:r>
            <a:r>
              <a:rPr sz="950" b="0" i="0">
                <a:solidFill>
                  <a:srgbClr val="1C1C1E"/>
                </a:solidFill>
                <a:latin typeface="Calibri"/>
              </a:rPr>
              <a:t>A signature over a non-conforming document would assure it is authentic and not that it is usable, and an engine would read it as both. </a:t>
            </a:r>
            <a:r>
              <a:rPr sz="950" b="1" i="0">
                <a:solidFill>
                  <a:srgbClr val="1C1C1E"/>
                </a:solidFill>
                <a:latin typeface="Calibri"/>
              </a:rPr>
              <a:t>L-W8 caught a real error in a shipped example the day it was written.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722903"/>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722903"/>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722903"/>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850919"/>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21</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Interfaces and the SDK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interface,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828800"/>
          </a:xfrm>
          <a:prstGeom prst="rect">
            <a:avLst/>
          </a:prstGeom>
          <a:noFill/>
        </p:spPr>
        <p:txBody>
          <a:bodyPr wrap="square" lIns="0" rIns="0" tIns="0" bIns="0" anchor="t">
            <a:spAutoFit/>
          </a:bodyPr>
          <a:lstStyle/>
          <a:p>
            <a:pPr algn="l"/>
          </a:p>
          <a:p>
            <a:pPr>
              <a:spcBef>
                <a:spcPts val="700"/>
              </a:spcBef>
              <a:spcAft>
                <a:spcPts val="300"/>
              </a:spcAft>
            </a:pPr>
            <a:r>
              <a:rPr sz="1050" b="1">
                <a:solidFill>
                  <a:srgbClr val="A51C30"/>
                </a:solidFill>
                <a:latin typeface="Calibri"/>
              </a:rPr>
              <a:t>▪  </a:t>
            </a:r>
            <a:r>
              <a:rPr sz="1050" b="1">
                <a:solidFill>
                  <a:srgbClr val="1C1C1E"/>
                </a:solidFill>
                <a:latin typeface="Calibri"/>
              </a:rPr>
              <a:t>CONSTRUCT the padded block, never parse what you recover</a:t>
            </a:r>
          </a:p>
          <a:p>
            <a:pPr lvl="1">
              <a:spcBef>
                <a:spcPts val="0"/>
              </a:spcBef>
              <a:spcAft>
                <a:spcPts val="0"/>
              </a:spcAft>
            </a:pPr>
            <a:r>
              <a:rPr sz="950">
                <a:solidFill>
                  <a:srgbClr val="4A4F57"/>
                </a:solidFill>
                <a:latin typeface="Calibri"/>
              </a:rPr>
              <a:t>that is the difference between correct PKCS#1 v1.5 and the Bleichenbacher forgery, which works precisely against verifiers that parse</a:t>
            </a:r>
          </a:p>
          <a:p>
            <a:pPr>
              <a:spcBef>
                <a:spcPts val="700"/>
              </a:spcBef>
              <a:spcAft>
                <a:spcPts val="300"/>
              </a:spcAft>
            </a:pPr>
            <a:r>
              <a:rPr sz="1050" b="1">
                <a:solidFill>
                  <a:srgbClr val="A51C30"/>
                </a:solidFill>
                <a:latin typeface="Calibri"/>
              </a:rPr>
              <a:t>▪  </a:t>
            </a:r>
            <a:r>
              <a:rPr sz="1050" b="1">
                <a:solidFill>
                  <a:srgbClr val="1C1C1E"/>
                </a:solidFill>
                <a:latin typeface="Calibri"/>
              </a:rPr>
              <a:t>Decide the algorithm; do not read alg from the token</a:t>
            </a:r>
          </a:p>
          <a:p>
            <a:pPr lvl="1">
              <a:spcBef>
                <a:spcPts val="0"/>
              </a:spcBef>
              <a:spcAft>
                <a:spcPts val="0"/>
              </a:spcAft>
            </a:pPr>
            <a:r>
              <a:rPr sz="950">
                <a:solidFill>
                  <a:srgbClr val="4A4F57"/>
                </a:solidFill>
                <a:latin typeface="Calibri"/>
              </a:rPr>
              <a:t>the other famous way a JWT is accepted with no signature at all</a:t>
            </a:r>
          </a:p>
          <a:p>
            <a:pPr>
              <a:spcBef>
                <a:spcPts val="700"/>
              </a:spcBef>
              <a:spcAft>
                <a:spcPts val="300"/>
              </a:spcAft>
            </a:pPr>
            <a:r>
              <a:rPr sz="1050" b="1">
                <a:solidFill>
                  <a:srgbClr val="A51C30"/>
                </a:solidFill>
                <a:latin typeface="Calibri"/>
              </a:rPr>
              <a:t>▪  </a:t>
            </a:r>
            <a:r>
              <a:rPr sz="1050" b="1">
                <a:solidFill>
                  <a:srgbClr val="1C1C1E"/>
                </a:solidFill>
                <a:latin typeface="Calibri"/>
              </a:rPr>
              <a:t>No crypto dependency, by design</a:t>
            </a:r>
          </a:p>
          <a:p>
            <a:pPr lvl="1">
              <a:spcBef>
                <a:spcPts val="0"/>
              </a:spcBef>
              <a:spcAft>
                <a:spcPts val="0"/>
              </a:spcAft>
            </a:pPr>
            <a:r>
              <a:rPr sz="950">
                <a:solidFill>
                  <a:srgbClr val="4A4F57"/>
                </a:solidFill>
                <a:latin typeface="Calibri"/>
              </a:rPr>
              <a:t>a governance system that cannot be deployed air-gapped is one somebody works around — the same reason every front-end asset is vendored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23</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128</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129</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130</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131</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277870"/>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Laws — the executable ones</a:t>
                      </a:r>
                    </a:p>
                  </a:txBody>
                  <a:tcPr marL="82296" marR="64008" marT="32004" marB="32004" anchor="ctr">
                    <a:solidFill>
                      <a:srgbClr val="F6F3EF"/>
                    </a:solidFill>
                  </a:tcPr>
                </a:tc>
                <a:tc>
                  <a:txBody>
                    <a:bodyPr wrap="square"/>
                    <a:lstStyle/>
                    <a:p>
                      <a:pPr algn="l"/>
                      <a:r>
                        <a:rPr sz="1000" b="0">
                          <a:solidFill>
                            <a:srgbClr val="1C1C1E"/>
                          </a:solidFill>
                          <a:latin typeface="Calibri"/>
                        </a:rPr>
                        <a:t>L-4, L-5, L-7, L-12, L-18, L-19 and the eleven warrant laws. The rest are stated and not yet executable, and 00 §12 says which</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517982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Seven kinds of model, one at a time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24</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Every Kind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Seven shapes, one definition — and how each is saved, managed and served.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matrix, on one page</a:t>
            </a:r>
          </a:p>
          <a:p>
            <a:pPr>
              <a:lnSpc>
                <a:spcPct val="115000"/>
              </a:lnSpc>
              <a:spcBef>
                <a:spcPts val="0"/>
              </a:spcBef>
              <a:spcAft>
                <a:spcPts val="700"/>
              </a:spcAft>
            </a:pPr>
            <a:r>
              <a:rPr sz="1150" b="0" i="0">
                <a:solidFill>
                  <a:srgbClr val="F6E6E9"/>
                </a:solidFill>
                <a:latin typeface="Calibri"/>
              </a:rPr>
              <a:t>Regression, GARCH, closed-form</a:t>
            </a:r>
          </a:p>
          <a:p>
            <a:pPr>
              <a:lnSpc>
                <a:spcPct val="115000"/>
              </a:lnSpc>
              <a:spcBef>
                <a:spcPts val="0"/>
              </a:spcBef>
              <a:spcAft>
                <a:spcPts val="700"/>
              </a:spcAft>
            </a:pPr>
            <a:r>
              <a:rPr sz="1150" b="0" i="0">
                <a:solidFill>
                  <a:srgbClr val="F6E6E9"/>
                </a:solidFill>
                <a:latin typeface="Calibri"/>
              </a:rPr>
              <a:t>Calibration and simulation</a:t>
            </a:r>
          </a:p>
          <a:p>
            <a:pPr>
              <a:lnSpc>
                <a:spcPct val="115000"/>
              </a:lnSpc>
              <a:spcBef>
                <a:spcPts val="0"/>
              </a:spcBef>
              <a:spcAft>
                <a:spcPts val="700"/>
              </a:spcAft>
            </a:pPr>
            <a:r>
              <a:rPr sz="1150" b="0" i="0">
                <a:solidFill>
                  <a:srgbClr val="F6E6E9"/>
                </a:solidFill>
                <a:latin typeface="Calibri"/>
              </a:rPr>
              <a:t>Neural networks and LLMs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135</a:t>
            </a:r>
          </a:p>
        </p:txBody>
      </p:sp>
      <p:graphicFrame>
        <p:nvGraphicFramePr>
          <p:cNvPr id="10" name="Table 9"/>
          <p:cNvGraphicFramePr>
            <a:graphicFrameLocks noGrp="1"/>
          </p:cNvGraphicFramePr>
          <p:nvPr/>
        </p:nvGraphicFramePr>
        <p:xfrm>
          <a:off x="777240" y="1353312"/>
          <a:ext cx="10637212" cy="2794912"/>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6F3E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6F3EF"/>
                    </a:solidFill>
                  </a:tcPr>
                </a:tc>
                <a:tc>
                  <a:txBody>
                    <a:bodyPr wrap="square"/>
                    <a:lstStyle/>
                    <a:p>
                      <a:pPr algn="l"/>
                      <a:r>
                        <a:rPr sz="950" b="0">
                          <a:solidFill>
                            <a:srgbClr val="1C1C1E"/>
                          </a:solidFill>
                          <a:latin typeface="Calibri"/>
                        </a:rPr>
                        <a:t>opaque</a:t>
                      </a:r>
                    </a:p>
                  </a:txBody>
                  <a:tcPr marL="82296" marR="64008" marT="32004" marB="32004" anchor="ctr">
                    <a:solidFill>
                      <a:srgbClr val="F6F3EF"/>
                    </a:solidFill>
                  </a:tcPr>
                </a:tc>
                <a:tc>
                  <a:txBody>
                    <a:bodyPr wrap="square"/>
                    <a:lstStyle/>
                    <a:p>
                      <a:pPr algn="l"/>
                      <a:r>
                        <a:rPr sz="950" b="0">
                          <a:solidFill>
                            <a:srgbClr val="1C1C1E"/>
                          </a:solidFill>
                          <a:latin typeface="Calibri"/>
                        </a:rPr>
                        <a:t>none</a:t>
                      </a:r>
                    </a:p>
                  </a:txBody>
                  <a:tcPr marL="82296" marR="64008" marT="32004" marB="32004" anchor="ctr">
                    <a:solidFill>
                      <a:srgbClr val="F6F3EF"/>
                    </a:solidFill>
                  </a:tcPr>
                </a:tc>
                <a:tc>
                  <a:txBody>
                    <a:bodyPr wrap="square"/>
                    <a:lstStyle/>
                    <a:p>
                      <a:pPr algn="l"/>
                      <a:r>
                        <a:rPr sz="950" b="0">
                          <a:solidFill>
                            <a:srgbClr val="1C1C1E"/>
                          </a:solidFill>
                          <a:latin typeface="Calibri"/>
                        </a:rPr>
                        <a:t>T6</a:t>
                      </a:r>
                    </a:p>
                  </a:txBody>
                  <a:tcPr marL="82296" marR="64008" marT="32004" marB="32004" anchor="ctr">
                    <a:solidFill>
                      <a:srgbClr val="F6F3EF"/>
                    </a:solidFill>
                  </a:tcPr>
                </a:tc>
              </a:tr>
            </a:tbl>
          </a:graphicData>
        </a:graphic>
      </p:graphicFrame>
      <p:sp>
        <p:nvSpPr>
          <p:cNvPr id="11" name="Rectangle 10"/>
          <p:cNvSpPr/>
          <p:nvPr/>
        </p:nvSpPr>
        <p:spPr>
          <a:xfrm>
            <a:off x="777240" y="4404258"/>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04258"/>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23130"/>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136</a:t>
            </a:r>
          </a:p>
        </p:txBody>
      </p:sp>
      <p:graphicFrame>
        <p:nvGraphicFramePr>
          <p:cNvPr id="10" name="Table 9"/>
          <p:cNvGraphicFramePr>
            <a:graphicFrameLocks noGrp="1"/>
          </p:cNvGraphicFramePr>
          <p:nvPr/>
        </p:nvGraphicFramePr>
        <p:xfrm>
          <a:off x="777240" y="1353312"/>
          <a:ext cx="10637213" cy="2107438"/>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6F3EF"/>
                    </a:solidFill>
                  </a:tcPr>
                </a:tc>
                <a:tc>
                  <a:txBody>
                    <a:bodyPr wrap="square"/>
                    <a:lstStyle/>
                    <a:p>
                      <a:pPr algn="l"/>
                      <a:r>
                        <a:rPr sz="1000" b="0">
                          <a:solidFill>
                            <a:srgbClr val="1C1C1E"/>
                          </a:solidFill>
                          <a:latin typeface="Calibri"/>
                        </a:rPr>
                        <a:t>zero</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6F3E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6F3EF"/>
                    </a:solidFill>
                  </a:tcPr>
                </a:tc>
              </a:tr>
            </a:tbl>
          </a:graphicData>
        </a:graphic>
      </p:graphicFrame>
      <p:sp>
        <p:nvSpPr>
          <p:cNvPr id="11" name="Rectangle 10"/>
          <p:cNvSpPr/>
          <p:nvPr/>
        </p:nvSpPr>
        <p:spPr>
          <a:xfrm>
            <a:off x="777240" y="373507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3507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5394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Linear regression - the ordinary case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137</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ordinary least squares</a:t>
                      </a:r>
                    </a:p>
                  </a:txBody>
                  <a:tcPr marL="82296" marR="64008" marT="32004" marB="32004" anchor="ctr">
                    <a:solidFill>
                      <a:srgbClr val="F6F3EF"/>
                    </a:solidFill>
                  </a:tcPr>
                </a:tc>
                <a:tc>
                  <a:txBody>
                    <a:bodyPr wrap="square"/>
                    <a:lstStyle/>
                    <a:p>
                      <a:pPr algn="l"/>
                      <a:r>
                        <a:rPr sz="1000" b="0">
                          <a:solidFill>
                            <a:srgbClr val="1C1C1E"/>
                          </a:solidFill>
                          <a:latin typeface="Calibri"/>
                        </a:rPr>
                        <a:t>MAYA's own estimator runtime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T2,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ols</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target and regressors</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digested</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coefficients are rows. The digest is re-derived from the values at resolve time, never compared against a stored copy of itself.</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Reviewed one by one</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Each parameter set is approved by somebody who did not record it. The condition number is read before the R-squared.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Warrant names the set</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134863"/>
            <a:ext cx="10637215" cy="61981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61981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40035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condition number first. </a:t>
            </a:r>
            <a:r>
              <a:rPr sz="1050" b="0" i="0">
                <a:solidFill>
                  <a:srgbClr val="1C1C1E"/>
                </a:solidFill>
                <a:latin typeface="Calibri"/>
              </a:rPr>
              <a:t>In the thousands, the coefficients are a solution to this sample rather than a property of the world. MAYA does not decide whether a fit is any good -- it puts the number in front of somebody who can, and records that they looked.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GARCH and ARIMA - an iterative fit, and state at scoring time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138</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maximum likelihood, iteratively</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garch11</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T2,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The catch</a:t>
                      </a:r>
                    </a:p>
                  </a:txBody>
                  <a:tcPr marL="82296" marR="64008" marT="32004" marB="32004" anchor="ctr">
                    <a:solidFill>
                      <a:srgbClr val="F6F3EF"/>
                    </a:solidFill>
                  </a:tcPr>
                </a:tc>
                <a:tc>
                  <a:txBody>
                    <a:bodyPr wrap="square"/>
                    <a:lstStyle/>
                    <a:p>
                      <a:pPr algn="l"/>
                      <a:r>
                        <a:rPr sz="1000" b="0">
                          <a:solidFill>
                            <a:srgbClr val="1C1C1E"/>
                          </a:solidFill>
                          <a:latin typeface="Calibri"/>
                        </a:rPr>
                        <a:t>it can fail while looking like it succeeded</a:t>
                      </a:r>
                    </a:p>
                  </a:txBody>
                  <a:tcPr marL="82296" marR="64008" marT="32004" marB="32004" anchor="ctr">
                    <a:solidFill>
                      <a:srgbClr val="F6F3EF"/>
                    </a:solidFill>
                  </a:tcPr>
                </a:tc>
                <a:tc>
                  <a:txBody>
                    <a:bodyPr wrap="square"/>
                    <a:lstStyle/>
                    <a:p>
                      <a:pPr algn="l"/>
                      <a:r>
                        <a:rPr sz="1000" b="0">
                          <a:solidFill>
                            <a:srgbClr val="1C1C1E"/>
                          </a:solidFill>
                          <a:latin typeface="Calibri"/>
                        </a:rPr>
                        <a:t>an unconverged fit is refused, not flagged</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plus convergence</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Iterations, log-likelihood and persistence are part of the result. A result that does not carry them is not reviewable.</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Constrained during the fit</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alpha + beta &lt; 1 is enforced while solving. Without it there is no unconditional variance and the forecast explodes.</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State is supplied, not invented</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Scoring needs the last shock and last variance. The answer says which state it used and which it returns.</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ARMA, ARIMA and EGARCH sit in exactly this slot. </a:t>
            </a:r>
            <a:r>
              <a:rPr sz="850" b="0" i="0">
                <a:solidFill>
                  <a:srgbClr val="1C1C1E"/>
                </a:solidFill>
                <a:latin typeface="Calibri"/>
              </a:rPr>
              <a:t>Same kind, same procedure, order (p, d, q) in the kernel entry. MAYA's captive engine implements ols and garch11 only -- fit the rest in your own engine and deliver the parameters back under the warrant. None of the governance changes, which is the point of separating the estimator from the register.</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139</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calibrated term-structure model - daily, by exception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140</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one set per day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the swaption grid</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Cadence</a:t>
                      </a:r>
                    </a:p>
                  </a:txBody>
                  <a:tcPr marL="82296" marR="64008" marT="32004" marB="32004" anchor="ctr">
                    <a:solidFill>
                      <a:srgbClr val="F6F3EF"/>
                    </a:solidFill>
                  </a:tcPr>
                </a:tc>
                <a:tc>
                  <a:txBody>
                    <a:bodyPr wrap="square"/>
                    <a:lstStyle/>
                    <a:p>
                      <a:pPr algn="l"/>
                      <a:r>
                        <a:rPr sz="1000" b="0">
                          <a:solidFill>
                            <a:srgbClr val="1C1C1E"/>
                          </a:solidFill>
                          <a:latin typeface="Calibri"/>
                        </a:rPr>
                        <a:t>every morning</a:t>
                      </a:r>
                    </a:p>
                  </a:txBody>
                  <a:tcPr marL="82296" marR="64008" marT="32004" marB="32004" anchor="ctr">
                    <a:solidFill>
                      <a:srgbClr val="F6F3EF"/>
                    </a:solidFill>
                  </a:tcPr>
                </a:tc>
                <a:tc>
                  <a:txBody>
                    <a:bodyPr wrap="square"/>
                    <a:lstStyle/>
                    <a:p>
                      <a:pPr algn="l"/>
                      <a:r>
                        <a:rPr sz="1000" b="0">
                          <a:solidFill>
                            <a:srgbClr val="1C1C1E"/>
                          </a:solidFill>
                          <a:latin typeface="Calibri"/>
                        </a:rPr>
                        <a:t>250 parameter sets, one approved kernel</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set per business day</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provenance = calibrated: the numbers reproduce a market rather than summarise a history, and every downstream reader branches on that.</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by envelope</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published, versioned, case-tested policy accepts what fits and holds what does not. A gate with no refusing case is refused at publication.</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Residuals, not accuracy</a:t>
            </a:r>
          </a:p>
        </p:txBody>
      </p:sp>
      <p:sp>
        <p:nvSpPr>
          <p:cNvPr id="25" name="TextBox 24"/>
          <p:cNvSpPr txBox="1"/>
          <p:nvPr/>
        </p:nvSpPr>
        <p:spPr>
          <a:xfrm>
            <a:off x="8258860"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There is no label to wait for. A climbing RMSE means the one-factor form is running out of grid -- a model finding, not a bad day.</a:t>
            </a:r>
          </a:p>
        </p:txBody>
      </p:sp>
      <p:sp>
        <p:nvSpPr>
          <p:cNvPr id="26" name="Rectangle 25"/>
          <p:cNvSpPr/>
          <p:nvPr/>
        </p:nvSpPr>
        <p:spPr>
          <a:xfrm>
            <a:off x="777240" y="5546344"/>
            <a:ext cx="10637215" cy="61114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1114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391693"/>
          </a:xfrm>
          <a:prstGeom prst="rect">
            <a:avLst/>
          </a:prstGeom>
          <a:noFill/>
        </p:spPr>
        <p:txBody>
          <a:bodyPr wrap="square" lIns="0" rIns="0" tIns="0" bIns="0" anchor="t">
            <a:spAutoFit/>
          </a:bodyPr>
          <a:lstStyle/>
          <a:p>
            <a:pPr algn="l">
              <a:lnSpc>
                <a:spcPct val="124000"/>
              </a:lnSpc>
              <a:spcBef>
                <a:spcPts val="0"/>
              </a:spcBef>
              <a:spcAft>
                <a:spcPts val="0"/>
              </a:spcAft>
            </a:pPr>
            <a:r>
              <a:rPr sz="1025" b="1" i="0">
                <a:solidFill>
                  <a:srgbClr val="A51C30"/>
                </a:solidFill>
                <a:latin typeface="Calibri"/>
              </a:rPr>
              <a:t>Nobody approves 250 calibrations a year. </a:t>
            </a:r>
            <a:r>
              <a:rPr sz="1025" b="0" i="0">
                <a:solidFill>
                  <a:srgbClr val="1C1C1E"/>
                </a:solidFill>
                <a:latin typeface="Calibri"/>
              </a:rPr>
              <a:t>Somebody approves the envelope once and looks at the eleven days it was breached. That is what 'recording new parameters is not a new model version' buys operationally -- and why calibrated is its own class rather than a kind of training.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Monte Carlo engine - the seed is a parameter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parameters, seed, path count, scheme, antithetic flag</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Claim checked</a:t>
                      </a:r>
                    </a:p>
                  </a:txBody>
                  <a:tcPr marL="82296" marR="64008" marT="32004" marB="32004" anchor="ctr">
                    <a:solidFill>
                      <a:srgbClr val="F6F3EF"/>
                    </a:solidFill>
                  </a:tcPr>
                </a:tc>
                <a:tc>
                  <a:txBody>
                    <a:bodyPr wrap="square"/>
                    <a:lstStyle/>
                    <a:p>
                      <a:pPr algn="l"/>
                      <a:r>
                        <a:rPr sz="1000" b="0">
                          <a:solidFill>
                            <a:srgbClr val="1C1C1E"/>
                          </a:solidFill>
                          <a:latin typeface="Calibri"/>
                        </a:rPr>
                        <a:t>deterministic = true</a:t>
                      </a:r>
                    </a:p>
                  </a:txBody>
                  <a:tcPr marL="82296" marR="64008" marT="32004" marB="32004" anchor="ctr">
                    <a:solidFill>
                      <a:srgbClr val="F6F3EF"/>
                    </a:solidFill>
                  </a:tcPr>
                </a:tc>
                <a:tc>
                  <a:txBody>
                    <a:bodyPr wrap="square"/>
                    <a:lstStyle/>
                    <a:p>
                      <a:pPr algn="l"/>
                      <a:r>
                        <a:rPr sz="1000" b="0">
                          <a:solidFill>
                            <a:srgbClr val="1C1C1E"/>
                          </a:solidFill>
                          <a:latin typeface="Calibri"/>
                        </a:rPr>
                        <a:t>L-W6: refused if no seed is bound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Configuration is in P</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Paths, seed, scheme and antithetic each change the answer. If they are not in P they are not in the digest, the warrant or the replay.</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Standard error is reviewed</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Monte Carlo answer is an estimate with an interval. The convergence study attaches to the parameter set as evidence with an author.</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verb is simulate</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Drawing from the output distribution is a different operation from scoring. A warrant for score will not simulate.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Eleven thousand tests could not catch it. </a:t>
            </a:r>
            <a:r>
              <a:rPr sz="1050" b="0" i="0">
                <a:solidFill>
                  <a:srgbClr val="1C1C1E"/>
                </a:solidFill>
                <a:latin typeface="Calibri"/>
              </a:rPr>
              <a:t>An engine reseeded per request instead of once at start-up passed every single-trade valuation, because a single valuation averages over paths either way. What changed was the correlation BETWEEN valuations in a netting set. No number of tests of that shape would have found it: every element of the suite had length one.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142</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143</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did not have to change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definition, seven media</a:t>
            </a:r>
          </a:p>
        </p:txBody>
      </p:sp>
      <p:sp>
        <p:nvSpPr>
          <p:cNvPr id="14" name="TextBox 13"/>
          <p:cNvSpPr txBox="1"/>
          <p:nvPr/>
        </p:nvSpPr>
        <p:spPr>
          <a:xfrm>
            <a:off x="996695"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 : P (x) X -&gt; D(Y) took a closed-form pricer, a daily calibration, a 20-million-weight network and a prompt assembly without a special case in the register.</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class is derived, not declared</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Nobody self-reported 'is this trained?'. The class falls out of how P is inhabited, which is a fact about the artifact rather than an opinion about it.</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unit of change follows the medium</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Values refit into a new parameter set; an artifact refits into a new version. That is a consequence of the medium, not a policy choice.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Warrants did not fork</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One grammar, four vocabularies. simulate and generate are verbs it already had, and the laws that check them are the same laws.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Evidence is uniform</a:t>
            </a:r>
          </a:p>
        </p:txBody>
      </p:sp>
      <p:sp>
        <p:nvSpPr>
          <p:cNvPr id="34" name="TextBox 33"/>
          <p:cNvSpPr txBox="1"/>
          <p:nvPr/>
        </p:nvSpPr>
        <p:spPr>
          <a:xfrm>
            <a:off x="4633874"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same append-only chain records a calibration, a training run and a drafted paragraph, so one query answers 'what happened to this model' across all of them.</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seventh one fitted without a redesign</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is the only evidence for the definition that counts. A taxonomy that needs a new branch per model family is a list.</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25</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docs/examples/,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151</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Fifteen of twenty-one foundational laws run, and all fourteen warrant laws run before a signature. The six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152</a:t>
            </a:r>
          </a:p>
        </p:txBody>
      </p:sp>
      <p:graphicFrame>
        <p:nvGraphicFramePr>
          <p:cNvPr id="10" name="Table 9"/>
          <p:cNvGraphicFramePr>
            <a:graphicFrameLocks noGrp="1"/>
          </p:cNvGraphicFramePr>
          <p:nvPr/>
        </p:nvGraphicFramePr>
        <p:xfrm>
          <a:off x="777240" y="1353312"/>
          <a:ext cx="10637215" cy="283311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Evidence chain anchoring</a:t>
                      </a:r>
                    </a:p>
                  </a:txBody>
                  <a:tcPr marL="82296" marR="64008" marT="32004" marB="32004" anchor="ctr">
                    <a:solidFill>
                      <a:srgbClr val="FFFFFF"/>
                    </a:solidFill>
                  </a:tcPr>
                </a:tc>
                <a:tc>
                  <a:txBody>
                    <a:bodyPr wrap="square"/>
                    <a:lstStyle/>
                    <a:p>
                      <a:pPr algn="l"/>
                      <a:r>
                        <a:rPr sz="1000" b="0">
                          <a:solidFill>
                            <a:srgbClr val="1C1C1E"/>
                          </a:solidFill>
                          <a:latin typeface="Calibri"/>
                        </a:rPr>
                        <a:t>verification compares the chain against itself. Self-consistency of a chain an attacker could rewrite proves less than it appears to; WORM and RFC-3161 timestamping remain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Six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L-15, L-17 — each named in chapter 8 with the reason it does not yet run</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bl>
          </a:graphicData>
        </a:graphic>
      </p:graphicFrame>
      <p:sp>
        <p:nvSpPr>
          <p:cNvPr id="11" name="Rectangle 10"/>
          <p:cNvSpPr/>
          <p:nvPr/>
        </p:nvSpPr>
        <p:spPr>
          <a:xfrm>
            <a:off x="777240" y="44424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424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6133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This list is maintained in 12 §0 and in the law table, and both are checked by tests — because the gap is the part that goes stale first, and it is the part a reader most needs to be told without asking.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6382329" cy="82296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0"/>
              </a:spcAft>
            </a:pPr>
            <a:r>
              <a:rPr sz="1100" b="0" i="0">
                <a:solidFill>
                  <a:srgbClr val="E8B8C0"/>
                </a:solidFill>
                <a:latin typeface="Calibri"/>
              </a:rPr>
              <a:t>Ashutosh Sinha  ·  Independent Researcher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