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eight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The last chapter you need</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25 — the end of it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24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chapter 25, and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Parts I to III should leave a practitioner able to register a model and authorise a run without guessing; Part IV should leave an engineer able to open a component and start. Where that is not true it is a gap in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Thirteen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5469376"/>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50" b="1">
                          <a:solidFill>
                            <a:srgbClr val="FFFFFF"/>
                          </a:solidFill>
                          <a:latin typeface="Calibri"/>
                        </a:rPr>
                        <a:t>Term</a:t>
                      </a:r>
                    </a:p>
                  </a:txBody>
                  <a:tcPr marL="82296" marR="64008" marT="32004" marB="32004" anchor="ctr">
                    <a:solidFill>
                      <a:srgbClr val="A51C30"/>
                    </a:solidFill>
                  </a:tcPr>
                </a:tc>
                <a:tc>
                  <a:txBody>
                    <a:bodyPr wrap="square"/>
                    <a:lstStyle/>
                    <a:p>
                      <a:pPr algn="l"/>
                      <a:r>
                        <a:rPr sz="950" b="1">
                          <a:solidFill>
                            <a:srgbClr val="FFFFFF"/>
                          </a:solidFill>
                          <a:latin typeface="Calibri"/>
                        </a:rPr>
                        <a:t>What it means in this deck</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950" b="0">
                          <a:solidFill>
                            <a:srgbClr val="1C1C1E"/>
                          </a:solidFill>
                          <a:latin typeface="Calibri"/>
                        </a:rPr>
                        <a:t>f : P ⊗ X → D(Y). Parameters P, inputs X, a distribution over outputs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95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950" b="0">
                          <a:solidFill>
                            <a:srgbClr val="1C1C1E"/>
                          </a:solidFill>
                          <a:latin typeface="Calibri"/>
                        </a:rPr>
                        <a:t>Derived from how P is inhabited, never declared. T0 nothing to fit · T1 calibrated · T2 estimated · T3 trained · T4 still training · T5 configured · T6 opaque · T7 elicited · T8 authored.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Fibre</a:t>
                      </a:r>
                    </a:p>
                  </a:txBody>
                  <a:tcPr marL="82296" marR="64008" marT="32004" marB="32004" anchor="ctr">
                    <a:solidFill>
                      <a:srgbClr val="F6F3EF"/>
                    </a:solidFill>
                  </a:tcPr>
                </a:tc>
                <a:tc>
                  <a:txBody>
                    <a:bodyPr wrap="square"/>
                    <a:lstStyle/>
                    <a:p>
                      <a:pPr algn="l"/>
                      <a:r>
                        <a:rPr sz="950" b="0">
                          <a:solidFill>
                            <a:srgbClr val="1C1C1E"/>
                          </a:solidFill>
                          <a:latin typeface="Calibri"/>
                        </a:rPr>
                        <a:t>What one trainability class is given: an evidence schema, a lifecycle, a metric set and a template set. No fibre may be empty (L-15), so a new kind of model is a fibre and nothing else.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Alias</a:t>
                      </a:r>
                    </a:p>
                  </a:txBody>
                  <a:tcPr marL="82296" marR="64008" marT="32004" marB="32004" anchor="ctr">
                    <a:solidFill>
                      <a:srgbClr val="FFFFFF"/>
                    </a:solidFill>
                  </a:tcPr>
                </a:tc>
                <a:tc>
                  <a:txBody>
                    <a:bodyPr wrap="square"/>
                    <a:lstStyle/>
                    <a:p>
                      <a:pPr algn="l"/>
                      <a:r>
                        <a:rPr sz="950" b="0">
                          <a:solidFill>
                            <a:srgbClr val="1C1C1E"/>
                          </a:solidFill>
                          <a:latin typeface="Calibri"/>
                        </a:rPr>
                        <a:t>A governed name — #champion — that points at whichever version is approved today. A consumer holds the alias; it never holds a version.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Operating contract</a:t>
                      </a:r>
                    </a:p>
                  </a:txBody>
                  <a:tcPr marL="82296" marR="64008" marT="32004" marB="32004" anchor="ctr">
                    <a:solidFill>
                      <a:srgbClr val="F6F3EF"/>
                    </a:solidFill>
                  </a:tcPr>
                </a:tc>
                <a:tc>
                  <a:txBody>
                    <a:bodyPr wrap="square"/>
                    <a:lstStyle/>
                    <a:p>
                      <a:pPr algn="l"/>
                      <a:r>
                        <a:rPr sz="950" b="0">
                          <a:solidFill>
                            <a:srgbClr val="1C1C1E"/>
                          </a:solidFill>
                          <a:latin typeface="Calibri"/>
                        </a:rPr>
                        <a:t>The boundary a version was validated inside. A replacement must REFINE it, and a run outside it is refused rather than answered.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Grant, and entitlement</a:t>
                      </a:r>
                    </a:p>
                  </a:txBody>
                  <a:tcPr marL="82296" marR="64008" marT="32004" marB="32004" anchor="ctr">
                    <a:solidFill>
                      <a:srgbClr val="FFFFFF"/>
                    </a:solidFill>
                  </a:tcPr>
                </a:tc>
                <a:tc>
                  <a:txBody>
                    <a:bodyPr wrap="square"/>
                    <a:lstStyle/>
                    <a:p>
                      <a:pPr algn="l"/>
                      <a:r>
                        <a:rPr sz="950" b="0">
                          <a:solidFill>
                            <a:srgbClr val="1C1C1E"/>
                          </a:solidFill>
                          <a:latin typeface="Calibri"/>
                        </a:rPr>
                        <a:t>A grant is the standing entitlement: this principal, this environment, this declared use. A warrant is a short-lived credential minted against one, so revocation has something to bite.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Warrant</a:t>
                      </a:r>
                    </a:p>
                  </a:txBody>
                  <a:tcPr marL="82296" marR="64008" marT="32004" marB="32004" anchor="ctr">
                    <a:solidFill>
                      <a:srgbClr val="F6F3EF"/>
                    </a:solidFill>
                  </a:tcPr>
                </a:tc>
                <a:tc>
                  <a:txBody>
                    <a:bodyPr wrap="square"/>
                    <a:lstStyle/>
                    <a:p>
                      <a:pPr algn="l"/>
                      <a:r>
                        <a:rPr sz="950" b="0">
                          <a:solidFill>
                            <a:srgbClr val="1C1C1E"/>
                          </a:solidFill>
                          <a:latin typeface="Calibri"/>
                        </a:rPr>
                        <a:t>A signed, expiring instruction authorising one act, on one model version, by one principal, for a stated use.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Overlay</a:t>
                      </a:r>
                    </a:p>
                  </a:txBody>
                  <a:tcPr marL="82296" marR="64008" marT="32004" marB="32004" anchor="ctr">
                    <a:solidFill>
                      <a:srgbClr val="FFFFFF"/>
                    </a:solidFill>
                  </a:tcPr>
                </a:tc>
                <a:tc>
                  <a:txBody>
                    <a:bodyPr wrap="square"/>
                    <a:lstStyle/>
                    <a:p>
                      <a:pPr algn="l"/>
                      <a:r>
                        <a:rPr sz="950" b="0">
                          <a:solidFill>
                            <a:srgbClr val="1C1C1E"/>
                          </a:solidFill>
                          <a:latin typeface="Calibri"/>
                        </a:rPr>
                        <a:t>A post-model adjustment to an output. Legitimate briefly; an overlay renewed past its limit is an unversioned model change, and is raised as a finding.</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Lens</a:t>
                      </a:r>
                    </a:p>
                  </a:txBody>
                  <a:tcPr marL="82296" marR="64008" marT="32004" marB="32004" anchor="ctr">
                    <a:solidFill>
                      <a:srgbClr val="F6F3EF"/>
                    </a:solidFill>
                  </a:tcPr>
                </a:tc>
                <a:tc>
                  <a:txBody>
                    <a:bodyPr wrap="square"/>
                    <a:lstStyle/>
                    <a:p>
                      <a:pPr algn="l"/>
                      <a:r>
                        <a:rPr sz="950" b="0">
                          <a:solidFill>
                            <a:srgbClr val="1C1C1E"/>
                          </a:solidFill>
                          <a:latin typeface="Calibri"/>
                        </a:rPr>
                        <a:t>A function from platform state to prose PLUS the evidence it rested on. Documentation sections are lenses rather than templates, so a section cannot describe a state that no longer holds.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Refusal</a:t>
                      </a:r>
                    </a:p>
                  </a:txBody>
                  <a:tcPr marL="82296" marR="64008" marT="32004" marB="32004" anchor="ctr">
                    <a:solidFill>
                      <a:srgbClr val="FFFFFF"/>
                    </a:solidFill>
                  </a:tcPr>
                </a:tc>
                <a:tc>
                  <a:txBody>
                    <a:bodyPr wrap="square"/>
                    <a:lstStyle/>
                    <a:p>
                      <a:pPr algn="l"/>
                      <a:r>
                        <a:rPr sz="95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Law (L-1…L-21, L-W0…L-W13)</a:t>
                      </a:r>
                    </a:p>
                  </a:txBody>
                  <a:tcPr marL="82296" marR="64008" marT="32004" marB="32004" anchor="ctr">
                    <a:solidFill>
                      <a:srgbClr val="F6F3EF"/>
                    </a:solidFill>
                  </a:tcPr>
                </a:tc>
                <a:tc>
                  <a:txBody>
                    <a:bodyPr wrap="square"/>
                    <a:lstStyle/>
                    <a:p>
                      <a:pPr algn="l"/>
                      <a:r>
                        <a:rPr sz="950" b="0">
                          <a:solidFill>
                            <a:srgbClr val="1C1C1E"/>
                          </a:solidFill>
                          <a:latin typeface="Calibri"/>
                        </a:rPr>
                        <a:t>A stated property with a test that runs. The L-W family are warrant-admissibility 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Semiring</a:t>
                      </a:r>
                    </a:p>
                  </a:txBody>
                  <a:tcPr marL="82296" marR="64008" marT="32004" marB="32004" anchor="ctr">
                    <a:solidFill>
                      <a:srgbClr val="FFFFFF"/>
                    </a:solidFill>
                  </a:tcPr>
                </a:tc>
                <a:tc>
                  <a:txBody>
                    <a:bodyPr wrap="square"/>
                    <a:lstStyle/>
                    <a:p>
                      <a:pPr algn="l"/>
                      <a:r>
                        <a:rPr sz="95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 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
        <p:nvSpPr>
          <p:cNvPr id="15" name="Rectangle 14"/>
          <p:cNvSpPr/>
          <p:nvPr/>
        </p:nvSpPr>
        <p:spPr>
          <a:xfrm>
            <a:off x="6734080" y="4692650"/>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692650"/>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811522"/>
            <a:ext cx="4223174"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naming it that commits the platform to. </a:t>
            </a:r>
            <a:r>
              <a:rPr sz="1050" b="0" i="0">
                <a:solidFill>
                  <a:srgbClr val="1C1C1E"/>
                </a:solidFill>
                <a:latin typeface="Calibri"/>
              </a:rPr>
              <a:t>A rendering gets replaced, so versions are immutable and a governed alias — #champion, pointing at whichever version is approved today — carries the name instead. And it applies to MAYA itself: the platform is a representation of an estate, so its own documentation is compiled from the register rather than written, and the map of the maps cannot drift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graphicFrame>
        <p:nvGraphicFramePr>
          <p:cNvPr id="10" name="Table 9"/>
          <p:cNvGraphicFramePr>
            <a:graphicFrameLocks noGrp="1"/>
          </p:cNvGraphicFramePr>
          <p:nvPr/>
        </p:nvGraphicFramePr>
        <p:xfrm>
          <a:off x="777240" y="1353312"/>
          <a:ext cx="10637214" cy="3179826"/>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fraud model refitted nightly on its own outcomes</a:t>
                      </a:r>
                    </a:p>
                  </a:txBody>
                  <a:tcPr marL="82296" marR="64008" marT="32004" marB="32004" anchor="ctr">
                    <a:solidFill>
                      <a:srgbClr val="FFFFFF"/>
                    </a:solidFill>
                  </a:tcPr>
                </a:tc>
                <a:tc>
                  <a:txBody>
                    <a:bodyPr wrap="square"/>
                    <a:lstStyle/>
                    <a:p>
                      <a:pPr algn="l"/>
                      <a:r>
                        <a:rPr sz="1000" b="0">
                          <a:solidFill>
                            <a:srgbClr val="1C1C1E"/>
                          </a:solidFill>
                          <a:latin typeface="Calibri"/>
                        </a:rPr>
                        <a:t>a training run that never stops</a:t>
                      </a:r>
                    </a:p>
                  </a:txBody>
                  <a:tcPr marL="82296" marR="64008" marT="32004" marB="32004" anchor="ctr">
                    <a:solidFill>
                      <a:srgbClr val="FFFFFF"/>
                    </a:solidFill>
                  </a:tcPr>
                </a:tc>
                <a:tc>
                  <a:txBody>
                    <a:bodyPr wrap="square"/>
                    <a:lstStyle/>
                    <a:p>
                      <a:pPr algn="l"/>
                      <a:r>
                        <a:rPr sz="1000" b="0">
                          <a:solidFill>
                            <a:srgbClr val="1C1C1E"/>
                          </a:solidFill>
                          <a:latin typeface="Calibri"/>
                        </a:rPr>
                        <a:t>yes, continuously</a:t>
                      </a:r>
                    </a:p>
                  </a:txBody>
                  <a:tcPr marL="82296" marR="64008" marT="32004" marB="32004" anchor="ctr">
                    <a:solidFill>
                      <a:srgbClr val="FFFFFF"/>
                    </a:solidFill>
                  </a:tcPr>
                </a:tc>
                <a:tc>
                  <a:txBody>
                    <a:bodyPr wrap="square"/>
                    <a:lstStyle/>
                    <a:p>
                      <a:pPr algn="l"/>
                      <a:r>
                        <a:rPr sz="1000" b="0">
                          <a:solidFill>
                            <a:srgbClr val="1C1C1E"/>
                          </a:solidFill>
                          <a:latin typeface="Calibri"/>
                        </a:rPr>
                        <a:t>a handful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6F3EF"/>
                    </a:solidFill>
                  </a:tcPr>
                </a:tc>
                <a:tc>
                  <a:txBody>
                    <a:bodyPr wrap="square"/>
                    <a:lstStyle/>
                    <a:p>
                      <a:pPr algn="l"/>
                      <a:r>
                        <a:rPr sz="1000" b="0">
                          <a:solidFill>
                            <a:srgbClr val="1C1C1E"/>
                          </a:solidFill>
                          <a:latin typeface="Calibri"/>
                        </a:rPr>
                        <a:t>a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growing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FFFF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FFFFF"/>
                    </a:solidFill>
                  </a:tcPr>
                </a:tc>
                <a:tc>
                  <a:txBody>
                    <a:bodyPr wrap="square"/>
                    <a:lstStyle/>
                    <a:p>
                      <a:pPr algn="l"/>
                      <a:r>
                        <a:rPr sz="1000" b="0">
                          <a:solidFill>
                            <a:srgbClr val="1C1C1E"/>
                          </a:solidFill>
                          <a:latin typeface="Calibri"/>
                        </a:rPr>
                        <a:t>unknowable</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6F3E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FFFFF"/>
                    </a:solidFill>
                  </a:tcPr>
                </a:tc>
                <a:tc>
                  <a:txBody>
                    <a:bodyPr wrap="square"/>
                    <a:lstStyle/>
                    <a:p>
                      <a:pPr algn="l"/>
                      <a:r>
                        <a:rPr sz="1000" b="0">
                          <a:solidFill>
                            <a:srgbClr val="1C1C1E"/>
                          </a:solidFill>
                          <a:latin typeface="Calibri"/>
                        </a:rPr>
                        <a:t>cells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thousands</a:t>
                      </a:r>
                    </a:p>
                  </a:txBody>
                  <a:tcPr marL="82296" marR="64008" marT="32004" marB="32004" anchor="ctr">
                    <a:solidFill>
                      <a:srgbClr val="FFFFFF"/>
                    </a:solidFill>
                  </a:tcPr>
                </a:tc>
              </a:tr>
            </a:tbl>
          </a:graphicData>
        </a:graphic>
      </p:graphicFrame>
      <p:sp>
        <p:nvSpPr>
          <p:cNvPr id="11" name="Rectangle 10"/>
          <p:cNvSpPr/>
          <p:nvPr/>
        </p:nvSpPr>
        <p:spPr>
          <a:xfrm>
            <a:off x="777240" y="4789170"/>
            <a:ext cx="10637215"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89170"/>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08042"/>
            <a:ext cx="10180015"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“Is it AI?” cuts across this list rather than along it. </a:t>
            </a:r>
            <a:r>
              <a:rPr sz="1050" b="0" i="0">
                <a:solidFill>
                  <a:srgbClr val="1C1C1E"/>
                </a:solidFill>
                <a:latin typeface="Calibri"/>
              </a:rPr>
              <a:t>Black–Scholes and a linear regression land in different buckets, though both have a closed form and only one of them has parameters at all; a linear regression and a language model land in the same one, though one is fitted from eight thousand rows you own and the other is configured around weights somebody else replaces on a Tuesday. One process is then expected to cover all of it, and a checklist with fields that make no sense for half the estate is one people answer “N/A” to until they stop reading the fields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graphicFrame>
        <p:nvGraphicFramePr>
          <p:cNvPr id="10" name="Table 9"/>
          <p:cNvGraphicFramePr>
            <a:graphicFrameLocks noGrp="1"/>
          </p:cNvGraphicFramePr>
          <p:nvPr/>
        </p:nvGraphicFramePr>
        <p:xfrm>
          <a:off x="777240" y="1353312"/>
          <a:ext cx="10637213" cy="3179826"/>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training run that continues after release</a:t>
                      </a:r>
                    </a:p>
                  </a:txBody>
                  <a:tcPr marL="82296" marR="64008" marT="32004" marB="32004" anchor="ctr">
                    <a:solidFill>
                      <a:srgbClr val="FFFFFF"/>
                    </a:solidFill>
                  </a:tcPr>
                </a:tc>
                <a:tc>
                  <a:txBody>
                    <a:bodyPr wrap="square"/>
                    <a:lstStyle/>
                    <a:p>
                      <a:pPr algn="l"/>
                      <a:r>
                        <a:rPr sz="1000" b="0">
                          <a:solidFill>
                            <a:srgbClr val="1C1C1E"/>
                          </a:solidFill>
                          <a:latin typeface="Calibri"/>
                        </a:rPr>
                        <a:t>an adaptive fraud model</a:t>
                      </a:r>
                    </a:p>
                  </a:txBody>
                  <a:tcPr marL="82296" marR="64008" marT="32004" marB="32004" anchor="ctr">
                    <a:solidFill>
                      <a:srgbClr val="FFFFFF"/>
                    </a:solidFill>
                  </a:tcPr>
                </a:tc>
                <a:tc>
                  <a:txBody>
                    <a:bodyPr wrap="square"/>
                    <a:lstStyle/>
                    <a:p>
                      <a:pPr algn="l"/>
                      <a:r>
                        <a:rPr sz="1000" b="0">
                          <a:solidFill>
                            <a:srgbClr val="1C1C1E"/>
                          </a:solidFill>
                          <a:latin typeface="Calibri"/>
                        </a:rPr>
                        <a:t>T4</a:t>
                      </a:r>
                    </a:p>
                  </a:txBody>
                  <a:tcPr marL="82296" marR="64008" marT="32004" marB="32004" anchor="ctr">
                    <a:solidFill>
                      <a:srgbClr val="FFFFFF"/>
                    </a:solidFill>
                  </a:tcPr>
                </a:tc>
                <a:tc>
                  <a:txBody>
                    <a:bodyPr wrap="square"/>
                    <a:lstStyle/>
                    <a:p>
                      <a:pPr algn="l"/>
                      <a:r>
                        <a:rPr sz="1000" b="0">
                          <a:solidFill>
                            <a:srgbClr val="1C1C1E"/>
                          </a:solidFill>
                          <a:latin typeface="Calibri"/>
                        </a:rPr>
                        <a:t>yes — and it never stops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6F3E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6F3EF"/>
                    </a:solidFill>
                  </a:tcPr>
                </a:tc>
                <a:tc>
                  <a:txBody>
                    <a:bodyPr wrap="square"/>
                    <a:lstStyle/>
                    <a:p>
                      <a:pPr algn="l"/>
                      <a:r>
                        <a:rPr sz="1000" b="0">
                          <a:solidFill>
                            <a:srgbClr val="1C1C1E"/>
                          </a:solidFill>
                          <a:latin typeface="Calibri"/>
                        </a:rPr>
                        <a:t>T5</a:t>
                      </a:r>
                    </a:p>
                  </a:txBody>
                  <a:tcPr marL="82296" marR="64008" marT="32004" marB="32004" anchor="ctr">
                    <a:solidFill>
                      <a:srgbClr val="F6F3EF"/>
                    </a:solidFill>
                  </a:tcPr>
                </a:tc>
                <a:tc>
                  <a:txBody>
                    <a:bodyPr wrap="square"/>
                    <a:lstStyle/>
                    <a:p>
                      <a:pPr algn="l"/>
                      <a:r>
                        <a:rPr sz="1000" b="0">
                          <a:solidFill>
                            <a:srgbClr val="1C1C1E"/>
                          </a:solidFill>
                          <a:latin typeface="Calibri"/>
                        </a:rPr>
                        <a:t>configured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FFFF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FFFFF"/>
                    </a:solidFill>
                  </a:tcPr>
                </a:tc>
                <a:tc>
                  <a:txBody>
                    <a:bodyPr wrap="square"/>
                    <a:lstStyle/>
                    <a:p>
                      <a:pPr algn="l"/>
                      <a:r>
                        <a:rPr sz="1000" b="0">
                          <a:solidFill>
                            <a:srgbClr val="1C1C1E"/>
                          </a:solidFill>
                          <a:latin typeface="Calibri"/>
                        </a:rPr>
                        <a:t>T8</a:t>
                      </a:r>
                    </a:p>
                  </a:txBody>
                  <a:tcPr marL="82296" marR="64008" marT="32004" marB="32004" anchor="ctr">
                    <a:solidFill>
                      <a:srgbClr val="FFFFFF"/>
                    </a:solidFill>
                  </a:tcPr>
                </a:tc>
                <a:tc>
                  <a:txBody>
                    <a:bodyPr wrap="square"/>
                    <a:lstStyle/>
                    <a:p>
                      <a:pPr algn="l"/>
                      <a:r>
                        <a:rPr sz="1000" b="0">
                          <a:solidFill>
                            <a:srgbClr val="1C1C1E"/>
                          </a:solidFill>
                          <a:latin typeface="Calibri"/>
                        </a:rPr>
                        <a:t>authored</a:t>
                      </a:r>
                    </a:p>
                  </a:txBody>
                  <a:tcPr marL="82296" marR="64008" marT="32004" marB="32004" anchor="ctr">
                    <a:solidFill>
                      <a:srgbClr val="FFFFFF"/>
                    </a:solidFill>
                  </a:tcPr>
                </a:tc>
              </a:tr>
            </a:tbl>
          </a:graphicData>
        </a:graphic>
      </p:graphicFrame>
      <p:sp>
        <p:nvSpPr>
          <p:cNvPr id="11" name="Rectangle 10"/>
          <p:cNvSpPr/>
          <p:nvPr/>
        </p:nvSpPr>
        <p:spPr>
          <a:xfrm>
            <a:off x="777240" y="477088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7088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8975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Two facts about the kernel go in — the kind of P and the procedure that inhabits it — and the order of the derivation is the whole of it: opaque is T6 before anything else is asked, a terminal P is T0, and train with adaptive set is T4 rather than T3.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 and what each one costs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of which sixteen are executable and run in the ordinary test suite</a:t>
                      </a:r>
                    </a:p>
                  </a:txBody>
                  <a:tcPr marL="82296" marR="64008" marT="32004" marB="32004" anchor="ctr">
                    <a:solidFill>
                      <a:srgbClr val="F6F3EF"/>
                    </a:solidFill>
                  </a:tcPr>
                </a:tc>
                <a:tc>
                  <a:txBody>
                    <a:bodyPr wrap="square"/>
                    <a:lstStyle/>
                    <a:p>
                      <a:pPr algn="l"/>
                      <a:r>
                        <a:rPr sz="1000" b="0">
                          <a:solidFill>
                            <a:srgbClr val="1C1C1E"/>
                          </a:solidFill>
                          <a:latin typeface="Calibri"/>
                        </a:rPr>
                        <a:t>five do not run; the rest run on every push and a failing one fails the build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 Two of the five are worked out on their own slide next — the first, because it decides the whole architecture, and the third, because it is the one people find strange. The other three are argued where they bite, in chapters 7, 8 and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SERVING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resolving at all, so a validation finding stops the model rather than generating an email somebody files.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that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18211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30098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MAYA cannot read, it is refused rather than believed — L-W5.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 T0 is benchmarked against an independent implementation, a T3 is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governed like anything else rather than kept in a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is not answered with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 L-W10.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 AND WHAT IT UNIFIED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implementations of one relation, and what replaced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graphicFrame>
        <p:nvGraphicFramePr>
          <p:cNvPr id="10" name="Table 9"/>
          <p:cNvGraphicFramePr>
            <a:graphicFrameLocks noGrp="1"/>
          </p:cNvGraphicFramePr>
          <p:nvPr/>
        </p:nvGraphicFramePr>
        <p:xfrm>
          <a:off x="777240" y="1764792"/>
          <a:ext cx="10637215" cy="2605997"/>
        </p:xfrm>
        <a:graphic>
          <a:graphicData uri="http://schemas.openxmlformats.org/drawingml/2006/table">
            <a:tbl>
              <a:tblPr firstRow="1">
                <a:tableStyleId>{5C22544A-7EE6-4342-B048-85BDC9FD1C3A}</a:tableStyleId>
              </a:tblPr>
              <a:tblGrid>
                <a:gridCol w="4571607"/>
                <a:gridCol w="3291557"/>
                <a:gridCol w="2774051"/>
              </a:tblGrid>
              <a:tr h="329184">
                <a:tc>
                  <a:txBody>
                    <a:bodyPr wrap="square"/>
                    <a:lstStyle/>
                    <a:p>
                      <a:pPr algn="l"/>
                      <a:r>
                        <a:rPr sz="1050" b="1">
                          <a:solidFill>
                            <a:srgbClr val="FFFFFF"/>
                          </a:solidFill>
                          <a:latin typeface="Calibri"/>
                        </a:rPr>
                        <a:t>The question somebody was asking</a:t>
                      </a:r>
                    </a:p>
                  </a:txBody>
                  <a:tcPr marL="82296" marR="64008" marT="32004" marB="32004" anchor="ctr">
                    <a:solidFill>
                      <a:srgbClr val="A51C30"/>
                    </a:solidFill>
                  </a:tcPr>
                </a:tc>
                <a:tc>
                  <a:txBody>
                    <a:bodyPr wrap="square"/>
                    <a:lstStyle/>
                    <a:p>
                      <a:pPr algn="l"/>
                      <a:r>
                        <a:rPr sz="1050" b="1">
                          <a:solidFill>
                            <a:srgbClr val="FFFFFF"/>
                          </a:solidFill>
                          <a:latin typeface="Calibri"/>
                        </a:rPr>
                        <a:t>How it used to be answered</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c>
                  <a:txBody>
                    <a:bodyPr wrap="square"/>
                    <a:lstStyle/>
                    <a:p>
                      <a:pPr algn="l"/>
                      <a:r>
                        <a:rPr sz="1050" b="0">
                          <a:solidFill>
                            <a:srgbClr val="1C1C1E"/>
                          </a:solidFill>
                          <a:latin typeface="Calibri"/>
                        </a:rPr>
                        <a:t>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featureset provide what the kernel reads?  (L-W10)</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Does the new operating boundary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source's output arrive where the target reads?  (L-21)</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c>
                  <a:txBody>
                    <a:bodyPr wrap="square"/>
                    <a:lstStyle/>
                    <a:p>
                      <a:pPr algn="l"/>
                      <a:r>
                        <a:rPr sz="1050" b="0">
                          <a:solidFill>
                            <a:srgbClr val="1C1C1E"/>
                          </a:solidFill>
                          <a:latin typeface="Calibri"/>
                        </a:rPr>
                        <a:t>A ⊑ B</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A ⊑ B     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6F3EF"/>
                    </a:solidFill>
                  </a:tcPr>
                </a:tc>
                <a:tc>
                  <a:txBody>
                    <a:bodyPr wrap="square"/>
                    <a:lstStyle/>
                    <a:p>
                      <a:pPr algn="l"/>
                      <a:r>
                        <a:rPr sz="1050" b="0">
                          <a:solidFill>
                            <a:srgbClr val="1C1C1E"/>
                          </a:solidFill>
                          <a:latin typeface="Calibri"/>
                        </a:rPr>
                        <a:t>their meet     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their join     new</a:t>
                      </a:r>
                    </a:p>
                  </a:txBody>
                  <a:tcPr marL="82296" marR="64008" marT="32004" marB="32004" anchor="ctr">
                    <a:solidFill>
                      <a:srgbClr val="FFFFFF"/>
                    </a:solidFill>
                  </a:tcPr>
                </a:tc>
              </a:tr>
            </a:tbl>
          </a:graphicData>
        </a:graphic>
      </p:graphicFrame>
      <p:sp>
        <p:nvSpPr>
          <p:cNvPr id="11" name="Rectangle 10"/>
          <p:cNvSpPr/>
          <p:nvPr/>
        </p:nvSpPr>
        <p:spPr>
          <a:xfrm>
            <a:off x="777240" y="4645113"/>
            <a:ext cx="10637215"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45113"/>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763985"/>
            <a:ext cx="10180015"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and the direction is predictable: toward PERMITTING MORE, because that is the direction in which nobody files a bug. </a:t>
            </a:r>
            <a:r>
              <a:rPr sz="1050" b="0" i="0">
                <a:solidFill>
                  <a:srgbClr val="1C1C1E"/>
                </a:solidFill>
                <a:latin typeface="Calibri"/>
              </a:rPr>
              <a:t>The fourth row was the worst — a dependency graph whose edges were never checked. L-20 states the structure the one relation has, and the test asserts it over generated schemas: the order — a preorder, and a partial order on canonical form — meet below both, join above both, idempotence, commutativity, associativity, absorption, and the link A ⊑ B ⟺ A ⊓ B = A that makes it a lattice ORDER rather than an order and two unrelated operations. The three marked new are questions a practitioner asks out loud in a meeting and nothing could answer.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Rectangle 9"/>
          <p:cNvSpPr/>
          <p:nvPr/>
        </p:nvSpPr>
        <p:spPr>
          <a:xfrm>
            <a:off x="777240" y="1353312"/>
            <a:ext cx="5744096" cy="25932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5932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2117773"/>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reflexive and transitive. A ⊑ B and B ⊑ A gives the same fields</a:t>
            </a:r>
          </a:p>
          <a:p>
            <a:pPr>
              <a:lnSpc>
                <a:spcPct val="134000"/>
              </a:lnSpc>
              <a:spcBef>
                <a:spcPts val="0"/>
              </a:spcBef>
              <a:spcAft>
                <a:spcPts val="0"/>
              </a:spcAft>
            </a:pPr>
            <a:r>
              <a:rPr sz="1050" b="0" i="0">
                <a:solidFill>
                  <a:srgbClr val="7A7F87"/>
                </a:solidFill>
                <a:latin typeface="Consolas"/>
              </a:rPr>
              <a:t># as a SET, so it is a preorder — and a partial order on the</a:t>
            </a:r>
          </a:p>
          <a:p>
            <a:pPr>
              <a:lnSpc>
                <a:spcPct val="134000"/>
              </a:lnSpc>
              <a:spcBef>
                <a:spcPts val="0"/>
              </a:spcBef>
              <a:spcAft>
                <a:spcPts val="0"/>
              </a:spcAft>
            </a:pPr>
            <a:r>
              <a:rPr sz="1050" b="0" i="0">
                <a:solidFill>
                  <a:srgbClr val="7A7F87"/>
                </a:solidFill>
                <a:latin typeface="Consolas"/>
              </a:rPr>
              <a:t># name-sorted canonical form every constructor here produces</a:t>
            </a:r>
          </a:p>
        </p:txBody>
      </p:sp>
      <p:sp>
        <p:nvSpPr>
          <p:cNvPr id="14" name="Rectangle 13"/>
          <p:cNvSpPr/>
          <p:nvPr/>
        </p:nvSpPr>
        <p:spPr>
          <a:xfrm>
            <a:off x="777240" y="4202605"/>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202605"/>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321477"/>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Join always; meet when it can</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So it is a join-semilattice with PARTIAL meets, </a:t>
            </a:r>
            <a:r>
              <a:rPr sz="1050" b="0" i="0">
                <a:solidFill>
                  <a:srgbClr val="1C1C1E"/>
                </a:solidFill>
                <a:latin typeface="Calibri"/>
              </a:rPr>
              <a:t>rather than a lattice outright — and the partiality is informative. Two schemas whose shared field carries two different types have no meet at all. The honest answer to “can one featureset serve both these models” is then no, with the field named.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 AND THE ONE PROPERTY THAT CARRIES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sp>
        <p:nvSpPr>
          <p:cNvPr id="17" name="Rectangle 16"/>
          <p:cNvSpPr/>
          <p:nvPr/>
        </p:nvSpPr>
        <p:spPr>
          <a:xfrm>
            <a:off x="777240" y="488015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4880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499902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other three properties L-10 states are packaging. </a:t>
            </a:r>
            <a:r>
              <a:rPr sz="1050" b="0" i="0">
                <a:solidFill>
                  <a:srgbClr val="1C1C1E"/>
                </a:solidFill>
                <a:latin typeface="Calibri"/>
              </a:rPr>
              <a:t>Idempotence is type-incorrect as written: the operator returns a row, not a relation. Projection-commutation is trivial, the predicate naming only the clocks. Monotonicity is real, but its test recomputes the admissible set rather than calling the read.</a:t>
            </a:r>
          </a:p>
        </p:txBody>
      </p:sp>
      <p:sp>
        <p:nvSpPr>
          <p:cNvPr id="20" name="TextBox 19"/>
          <p:cNvSpPr txBox="1"/>
          <p:nvPr/>
        </p:nvSpPr>
        <p:spPr>
          <a:xfrm>
            <a:off x="7159569" y="1353312"/>
            <a:ext cx="4254886" cy="42062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Saturation is the whole of the guarantee</a:t>
            </a:r>
          </a:p>
          <a:p>
            <a:pPr>
              <a:lnSpc>
                <a:spcPct val="126000"/>
              </a:lnSpc>
              <a:spcBef>
                <a:spcPts val="0"/>
              </a:spcBef>
              <a:spcAft>
                <a:spcPts val="800"/>
              </a:spcAft>
            </a:pPr>
            <a:r>
              <a:rPr sz="1100" b="0" i="0">
                <a:solidFill>
                  <a:srgbClr val="1C1C1E"/>
                </a:solidFill>
                <a:latin typeface="Calibri"/>
              </a:rPr>
              <a:t>The ingest bound is min(ℓ, a), so every as-of at or after the decision gives the SAME ANSWER.</a:t>
            </a:r>
          </a:p>
          <a:p>
            <a:pPr>
              <a:lnSpc>
                <a:spcPct val="126000"/>
              </a:lnSpc>
              <a:spcBef>
                <a:spcPts val="0"/>
              </a:spcBef>
              <a:spcAft>
                <a:spcPts val="800"/>
              </a:spcAft>
            </a:pPr>
            <a:r>
              <a:rPr sz="1100" b="0" i="0">
                <a:solidFill>
                  <a:srgbClr val="1C1C1E"/>
                </a:solidFill>
                <a:latin typeface="Calibri"/>
              </a:rPr>
              <a:t>Assemble in May and the row reads dscr = 1.20. August's restatement to 0.40 arrives; both rows are true and both stay. Re-assemble a year later and the answer is still 1.20 — however many restatements landed in between.</a:t>
            </a:r>
          </a:p>
          <a:p>
            <a:pPr>
              <a:lnSpc>
                <a:spcPct val="126000"/>
              </a:lnSpc>
              <a:spcBef>
                <a:spcPts val="0"/>
              </a:spcBef>
              <a:spcAft>
                <a:spcPts val="800"/>
              </a:spcAft>
            </a:pPr>
            <a:r>
              <a:rPr sz="1100" b="0" i="0">
                <a:solidFill>
                  <a:srgbClr val="4A4F57"/>
                </a:solidFill>
                <a:latin typeface="Calibri"/>
              </a:rPr>
              <a:t>Without the min, a re-run quietly IMPROVES on the original. That is the least useful kind of reproducibility: a validator replaying a decision gets a better answer than the one that was made, cannot tell that is what happened, and reports agreement.</a:t>
            </a:r>
          </a:p>
          <a:p>
            <a:pPr>
              <a:lnSpc>
                <a:spcPct val="126000"/>
              </a:lnSpc>
              <a:spcBef>
                <a:spcPts val="0"/>
              </a:spcBef>
              <a:spcAft>
                <a:spcPts val="0"/>
              </a:spcAft>
            </a:pPr>
            <a:r>
              <a:rPr sz="1150" b="1" i="0">
                <a:solidFill>
                  <a:srgbClr val="A51C30"/>
                </a:solidFill>
                <a:latin typeface="Calibri"/>
              </a:rPr>
              <a:t>One function call, and it is the reproducibility guarantee.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suite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so it cannot tell a claim resting on one document from a claim resting on four — and “how corroborated is this” is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algebra rather than a rule somebody could forget.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count is computed from the table's own rows.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Sixteen of the twenty-one run; five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a complete fibre — and none is empty</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827654"/>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L-17  contract–serving agreement</a:t>
                      </a:r>
                    </a:p>
                  </a:txBody>
                  <a:tcPr marL="82296" marR="64008" marT="32004" marB="32004" anchor="ctr">
                    <a:solidFill>
                      <a:srgbClr val="FFFFFF"/>
                    </a:solidFill>
                  </a:tcPr>
                </a:tc>
                <a:tc>
                  <a:txBody>
                    <a:bodyPr wrap="square"/>
                    <a:lstStyle/>
                    <a:p>
                      <a:pPr algn="l"/>
                      <a:r>
                        <a:rPr sz="900" b="0">
                          <a:solidFill>
                            <a:srgbClr val="1C1C1E"/>
                          </a:solidFill>
                          <a:latin typeface="Calibri"/>
                        </a:rPr>
                        <a:t>there is no online feature store to compare against; half of it exists — what serving must read is computed</a:t>
                      </a:r>
                    </a:p>
                  </a:txBody>
                  <a:tcPr marL="82296" marR="64008" marT="32004" marB="32004" anchor="ctr">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law whose name oversells it  ·  L-15</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Every class gets a complete fibre — evidence schema, lifecycle, metrics, templates — and the gate runs at start-up, so a partial fibre is refused before anything is served. It is a dictionary over T0–T8 with a totality check rather than a fibration. What closed it was moving the base off the free-text model_class onto the DERIVED class: a totality gate over free text is defeated by typing a word nobody registered.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601696"/>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Certification is the meet, recomputed on every read — the weakest input wins, and deprecated is the weakest rank of all</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 — and a derivation still claiming certified after an input was deprecated</a:t>
                      </a:r>
                    </a:p>
                  </a:txBody>
                  <a:tcPr marL="82296" marR="64008" marT="32004" marB="32004" anchor="ctr">
                    <a:solidFill>
                      <a:srgbClr val="F6F3E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956840" cy="231137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1137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us_index   daily_index      all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slot          →  feature         @ view_version</a:t>
            </a:r>
          </a:p>
          <a:p>
            <a:pPr>
              <a:lnSpc>
                <a:spcPct val="134000"/>
              </a:lnSpc>
              <a:spcBef>
                <a:spcPts val="0"/>
              </a:spcBef>
              <a:spcAft>
                <a:spcPts val="0"/>
              </a:spcAft>
            </a:pPr>
            <a:r>
              <a:rPr sz="950" b="0" i="0">
                <a:solidFill>
                  <a:srgbClr val="1C1C1E"/>
                </a:solidFill>
                <a:latin typeface="Consolas"/>
              </a:rPr>
              <a:t>@v1    gb_index      →  UKRPI           @ 2025-02</a:t>
            </a:r>
          </a:p>
          <a:p>
            <a:pPr>
              <a:lnSpc>
                <a:spcPct val="134000"/>
              </a:lnSpc>
              <a:spcBef>
                <a:spcPts val="0"/>
              </a:spcBef>
              <a:spcAft>
                <a:spcPts val="0"/>
              </a:spcAft>
            </a:pPr>
            <a:r>
              <a:rPr sz="950" b="0" i="0">
                <a:solidFill>
                  <a:srgbClr val="1C1C1E"/>
                </a:solidFill>
                <a:latin typeface="Consolas"/>
              </a:rPr>
              <a:t>       us_index      →  USCPI           @ 2025-02</a:t>
            </a:r>
          </a:p>
          <a:p>
            <a:pPr>
              <a:lnSpc>
                <a:spcPct val="134000"/>
              </a:lnSpc>
              <a:spcBef>
                <a:spcPts val="0"/>
              </a:spcBef>
              <a:spcAft>
                <a:spcPts val="0"/>
              </a:spcAft>
            </a:pPr>
            <a:r>
              <a:rPr sz="950" b="0" i="0">
                <a:solidFill>
                  <a:srgbClr val="1C1C1E"/>
                </a:solidFill>
                <a:latin typeface="Consolas"/>
              </a:rPr>
              <a:t>       daily_index   →  RPI_DAILY_MKT   @ 2025-02</a:t>
            </a:r>
          </a:p>
          <a:p>
            <a:pPr>
              <a:lnSpc>
                <a:spcPct val="134000"/>
              </a:lnSpc>
              <a:spcBef>
                <a:spcPts val="0"/>
              </a:spcBef>
              <a:spcAft>
                <a:spcPts val="0"/>
              </a:spcAft>
            </a:pPr>
            <a:r>
              <a:rPr sz="950" b="0" i="0">
                <a:solidFill>
                  <a:srgbClr val="1C1C1E"/>
                </a:solidFill>
                <a:latin typeface="Consolas"/>
              </a:rPr>
              <a:t>@v2    gb_index      →  UKRPI           @ 2025-06</a:t>
            </a:r>
          </a:p>
          <a:p>
            <a:pPr>
              <a:lnSpc>
                <a:spcPct val="134000"/>
              </a:lnSpc>
              <a:spcBef>
                <a:spcPts val="0"/>
              </a:spcBef>
              <a:spcAft>
                <a:spcPts val="0"/>
              </a:spcAft>
            </a:pPr>
            <a:r>
              <a:rPr sz="950" b="0" i="0">
                <a:solidFill>
                  <a:srgbClr val="1C1C1E"/>
                </a:solidFill>
                <a:latin typeface="Consolas"/>
              </a:rPr>
              <a:t>       us_index      →  USCPI           @ 2025-06</a:t>
            </a:r>
          </a:p>
          <a:p>
            <a:pPr>
              <a:lnSpc>
                <a:spcPct val="134000"/>
              </a:lnSpc>
              <a:spcBef>
                <a:spcPts val="0"/>
              </a:spcBef>
              <a:spcAft>
                <a:spcPts val="0"/>
              </a:spcAft>
            </a:pPr>
            <a:r>
              <a:rPr sz="950" b="0" i="0">
                <a:solidFill>
                  <a:srgbClr val="1C1C1E"/>
                </a:solidFill>
                <a:latin typeface="Consolas"/>
              </a:rPr>
              <a:t>       daily_index   →  RPI_DAILY_DMO   @ 2025-06</a:t>
            </a:r>
          </a:p>
        </p:txBody>
      </p:sp>
      <p:sp>
        <p:nvSpPr>
          <p:cNvPr id="13" name="TextBox 12"/>
          <p:cNvSpPr txBox="1"/>
          <p:nvPr/>
        </p:nvSpPr>
        <p:spPr>
          <a:xfrm>
            <a:off x="777240" y="3902430"/>
            <a:ext cx="5956840" cy="2011680"/>
          </a:xfrm>
          <a:prstGeom prst="rect">
            <a:avLst/>
          </a:prstGeom>
          <a:noFill/>
        </p:spPr>
        <p:txBody>
          <a:bodyPr wrap="square" lIns="0" rIns="0" tIns="0" bIns="0" anchor="t">
            <a:spAutoFit/>
          </a:bodyPr>
          <a:lstStyle/>
          <a:p>
            <a:pPr algn="l">
              <a:lnSpc>
                <a:spcPct val="125000"/>
              </a:lnSpc>
              <a:spcBef>
                <a:spcPts val="0"/>
              </a:spcBef>
              <a:spcAft>
                <a:spcPts val="900"/>
              </a:spcAft>
            </a:pPr>
            <a:r>
              <a:rPr sz="1100" b="1" i="0">
                <a:solidFill>
                  <a:srgbClr val="A51C30"/>
                </a:solidFill>
                <a:latin typeface="Calibri"/>
              </a:rPr>
              <a:t>Like for like. </a:t>
            </a:r>
            <a:r>
              <a:rPr sz="1100" b="0" i="0">
                <a:solidFill>
                  <a:srgbClr val="1C1C1E"/>
                </a:solidFill>
                <a:latin typeface="Calibri"/>
              </a:rPr>
              <a:t>@v2 binds daily_index to a different daily RPI reference — the same signal at the same frequency for the same entity, published by somebody else.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a different featureset, or it is a model change, and the register decides which. Rolling forward mints a version re-resolved to the newest view versions, with a diff naming every slot that moved.</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800"/>
              </a:spcAft>
            </a:pPr>
            <a:r>
              <a:rPr sz="1000" b="0" i="0">
                <a:solidFill>
                  <a:srgbClr val="4A4F57"/>
                </a:solidFill>
                <a:latin typeface="Calibri"/>
              </a:rPr>
              <a:t>If a parent could beat a child, naming a parent would be an act of surrender; if order did not matter, ‘combine these two’ would be ambiguous whenever they disagreed.</a:t>
            </a:r>
          </a:p>
          <a:p>
            <a:pPr>
              <a:lnSpc>
                <a:spcPct val="124000"/>
              </a:lnSpc>
              <a:spcBef>
                <a:spcPts val="0"/>
              </a:spcBef>
              <a:spcAft>
                <a:spcPts val="80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a:p>
            <a:pPr>
              <a:lnSpc>
                <a:spcPct val="124000"/>
              </a:lnSpc>
              <a:spcBef>
                <a:spcPts val="0"/>
              </a:spcBef>
              <a:spcAft>
                <a:spcPts val="800"/>
              </a:spcAft>
            </a:pPr>
            <a:r>
              <a:rPr sz="1000" b="1" i="0">
                <a:solidFill>
                  <a:srgbClr val="A51C30"/>
                </a:solidFill>
                <a:latin typeface="Calibri"/>
              </a:rPr>
              <a:t>A composed set satisfies a kernel exactly as a declared one does</a:t>
            </a:r>
            <a:r>
              <a:rPr sz="1000" b="0" i="0">
                <a:solidFill>
                  <a:srgbClr val="4A4F57"/>
                </a:solidFill>
                <a:latin typeface="Calibri"/>
              </a:rPr>
              <a:t> — the schema L-W10 checks is the RESOLVED one, the same slots the data fills. Inheriting every slot is the ordinary case, not an exotic one.</a:t>
            </a:r>
          </a:p>
          <a:p>
            <a:pPr>
              <a:lnSpc>
                <a:spcPct val="124000"/>
              </a:lnSpc>
              <a:spcBef>
                <a:spcPts val="0"/>
              </a:spcBef>
              <a:spcAft>
                <a:spcPts val="0"/>
              </a:spcAft>
            </a:pPr>
            <a:r>
              <a:rPr sz="1000" b="1" i="0">
                <a:solidFill>
                  <a:srgbClr val="A51C30"/>
                </a:solidFill>
                <a:latin typeface="Calibri"/>
              </a:rPr>
              <a:t>Two compositions are refused outright:</a:t>
            </a:r>
            <a:r>
              <a:rPr sz="1000" b="0" i="0">
                <a:solidFill>
                  <a:srgbClr val="4A4F57"/>
                </a:solidFill>
                <a:latin typeface="Calibri"/>
              </a:rPr>
              <a:t> a cycle, which has no fixed point to resolve to; and an ephemeral parent, which resolves today and dangles tomorrow.</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graphicFrame>
        <p:nvGraphicFramePr>
          <p:cNvPr id="10" name="Table 9"/>
          <p:cNvGraphicFramePr>
            <a:graphicFrameLocks noGrp="1"/>
          </p:cNvGraphicFramePr>
          <p:nvPr/>
        </p:nvGraphicFramePr>
        <p:xfrm>
          <a:off x="777240" y="1353312"/>
          <a:ext cx="10637213" cy="2133092"/>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 — or flagged unchecked</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742436"/>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4243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61308"/>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3" name="TextBox 12"/>
          <p:cNvSpPr txBox="1"/>
          <p:nvPr/>
        </p:nvSpPr>
        <p:spPr>
          <a:xfrm>
            <a:off x="978408" y="174650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shared = the names output(A) and input(B) have in common</a:t>
            </a:r>
          </a:p>
          <a:p>
            <a:pPr>
              <a:lnSpc>
                <a:spcPct val="134000"/>
              </a:lnSpc>
              <a:spcBef>
                <a:spcPts val="0"/>
              </a:spcBef>
              <a:spcAft>
                <a:spcPts val="0"/>
              </a:spcAft>
            </a:pPr>
            <a:r>
              <a:rPr sz="950" b="0" i="0">
                <a:solidFill>
                  <a:srgbClr val="1C1C1E"/>
                </a:solidFill>
                <a:latin typeface="Consolas"/>
              </a:rPr>
              <a:t>refines( output(A),  input(B) restricted to shared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shared is empty        → a wire to nowhere: refused</a:t>
            </a:r>
          </a:p>
          <a:p>
            <a:pPr>
              <a:lnSpc>
                <a:spcPct val="134000"/>
              </a:lnSpc>
              <a:spcBef>
                <a:spcPts val="0"/>
              </a:spcBef>
              <a:spcAft>
                <a:spcPts val="0"/>
              </a:spcAft>
            </a:pPr>
            <a:r>
              <a:rPr sz="950" b="0" i="0">
                <a:solidFill>
                  <a:srgbClr val="7A7F87"/>
                </a:solidFill>
                <a:latin typeface="Consolas"/>
              </a:rPr>
              <a:t># a shared field clashes → refused, and it names the field</a:t>
            </a:r>
          </a:p>
          <a:p>
            <a:pPr>
              <a:lnSpc>
                <a:spcPct val="134000"/>
              </a:lnSpc>
              <a:spcBef>
                <a:spcPts val="0"/>
              </a:spcBef>
              <a:spcAft>
                <a:spcPts val="0"/>
              </a:spcAft>
            </a:pPr>
            <a:r>
              <a:rPr sz="950" b="0" i="0">
                <a:solidFill>
                  <a:srgbClr val="7A7F87"/>
                </a:solidFill>
                <a:latin typeface="Consolas"/>
              </a:rPr>
              <a:t># B reads more besides   → fine: another edge carries it,</a:t>
            </a:r>
          </a:p>
          <a:p>
            <a:pPr>
              <a:lnSpc>
                <a:spcPct val="134000"/>
              </a:lnSpc>
              <a:spcBef>
                <a:spcPts val="0"/>
              </a:spcBef>
              <a:spcAft>
                <a:spcPts val="0"/>
              </a:spcAft>
            </a:pPr>
            <a:r>
              <a:rPr sz="950" b="0" i="0">
                <a:solidFill>
                  <a:srgbClr val="7A7F87"/>
                </a:solidFill>
                <a:latin typeface="Consolas"/>
              </a:rPr>
              <a:t>#                          or the caller supplies it</a:t>
            </a:r>
          </a:p>
          <a:p>
            <a:pPr>
              <a:lnSpc>
                <a:spcPct val="134000"/>
              </a:lnSpc>
              <a:spcBef>
                <a:spcPts val="0"/>
              </a:spcBef>
              <a:spcAft>
                <a:spcPts val="0"/>
              </a:spcAft>
            </a:pPr>
            <a:r>
              <a:rPr sz="950" b="0" i="0">
                <a:solidFill>
                  <a:srgbClr val="7A7F87"/>
                </a:solidFill>
                <a:latin typeface="Consolas"/>
              </a:rPr>
              <a:t># either end unversioned → recorded, type_checked = 0</a:t>
            </a:r>
          </a:p>
        </p:txBody>
      </p:sp>
      <p:sp>
        <p:nvSpPr>
          <p:cNvPr id="14" name="Rectangle 13"/>
          <p:cNvSpPr/>
          <p:nvPr/>
        </p:nvSpPr>
        <p:spPr>
          <a:xfrm>
            <a:off x="777240" y="3805915"/>
            <a:ext cx="5744096" cy="12984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805915"/>
            <a:ext cx="41148" cy="12984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924787"/>
            <a:ext cx="5286896" cy="10789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least one shared field, and every shared field type-checks. </a:t>
            </a:r>
            <a:r>
              <a:rPr sz="1050" b="0" i="0">
                <a:solidFill>
                  <a:srgbClr val="1C1C1E"/>
                </a:solidFill>
                <a:latin typeface="Calibri"/>
              </a:rPr>
              <a:t>Asking the source to satisfy the whole of the target’s input refused the ordinary shape of a model network and admitted only the degenerate case where a model reads nothing but its predecessor. What B reads from elsewhere is not this edge’s business — </a:t>
            </a:r>
            <a:r>
              <a:rPr sz="1050" b="1" i="0">
                <a:solidFill>
                  <a:srgbClr val="1C1C1E"/>
                </a:solidFill>
                <a:latin typeface="Calibri"/>
              </a:rPr>
              <a:t>and the composite’s schema now says what the caller must still supply.</a:t>
            </a:r>
          </a:p>
        </p:txBody>
      </p:sp>
      <p:sp>
        <p:nvSpPr>
          <p:cNvPr id="17" name="TextBox 16"/>
          <p:cNvSpPr txBox="1"/>
          <p:nvPr/>
        </p:nvSpPr>
        <p:spPr>
          <a:xfrm>
            <a:off x="6946824" y="1353312"/>
            <a:ext cx="4467630" cy="365760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input_to is a claim about types.</a:t>
            </a:r>
          </a:p>
          <a:p>
            <a:pPr>
              <a:lnSpc>
                <a:spcPct val="126000"/>
              </a:lnSpc>
              <a:spcBef>
                <a:spcPts val="0"/>
              </a:spcBef>
              <a:spcAft>
                <a:spcPts val="900"/>
              </a:spcAft>
            </a:pPr>
            <a:r>
              <a:rPr sz="1100" b="0" i="0">
                <a:solidFill>
                  <a:srgbClr val="1C1C1E"/>
                </a:solidFill>
                <a:latin typeface="Calibri"/>
              </a:rPr>
              <a:t>A’s output is read as an input by B — a discount curve into a pricer, a PD model into an ECL stack. MAYA moves no data and runs no model: the edge is a statement about two entries in the REGISTER, which is exactly why it can be checked at all.</a:t>
            </a:r>
          </a:p>
          <a:p>
            <a:pPr>
              <a:spcBef>
                <a:spcPts val="0"/>
              </a:spcBef>
              <a:spcAft>
                <a:spcPts val="800"/>
              </a:spcAft>
            </a:pPr>
            <a:r>
              <a:rPr sz="1200" b="1" i="0">
                <a:solidFill>
                  <a:srgbClr val="A51C30"/>
                </a:solidFill>
                <a:latin typeface="Georgia"/>
              </a:rPr>
              <a:t>And where it could not be checked, it says so.</a:t>
            </a:r>
          </a:p>
          <a:p>
            <a:pPr>
              <a:lnSpc>
                <a:spcPct val="126000"/>
              </a:lnSpc>
              <a:spcBef>
                <a:spcPts val="0"/>
              </a:spcBef>
              <a:spcAft>
                <a:spcPts val="900"/>
              </a:spcAft>
            </a:pPr>
            <a:r>
              <a:rPr sz="1100" b="0" i="0">
                <a:solidFill>
                  <a:srgbClr val="1C1C1E"/>
                </a:solidFill>
                <a:latin typeface="Calibri"/>
              </a:rPr>
              <a:t>An edge either end of which has no version yet is recorded with the type check SKIPPED — you cannot always add models in dependency order — and carries type_checked = 0 to say which kind it is.</a:t>
            </a:r>
          </a:p>
          <a:p>
            <a:pPr>
              <a:lnSpc>
                <a:spcPct val="126000"/>
              </a:lnSpc>
              <a:spcBef>
                <a:spcPts val="0"/>
              </a:spcBef>
              <a:spcAft>
                <a:spcPts val="0"/>
              </a:spcAft>
            </a:pPr>
            <a:r>
              <a:rPr sz="1050" b="0" i="0">
                <a:solidFill>
                  <a:srgbClr val="4A4F57"/>
                </a:solidFill>
                <a:latin typeface="Calibri"/>
              </a:rPr>
              <a:t>Until that flag it was indistinguishable from a checked edge, and travelled through blast radius as though somebody had validated it: a control reporting success it had not performed. So “a dependency edge type-checks or does not exist” is overstated, and the flag is what makes the exception visible.</a:t>
            </a:r>
          </a:p>
        </p:txBody>
      </p:sp>
      <p:sp>
        <p:nvSpPr>
          <p:cNvPr id="18" name="Rectangle 17"/>
          <p:cNvSpPr/>
          <p:nvPr/>
        </p:nvSpPr>
        <p:spPr>
          <a:xfrm>
            <a:off x="777240" y="5342107"/>
            <a:ext cx="10637215" cy="80467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342107"/>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460979"/>
            <a:ext cx="10180015" cy="58521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the edge makes answerable. </a:t>
            </a:r>
            <a:r>
              <a:rPr sz="1050" b="0" i="0">
                <a:solidFill>
                  <a:srgbClr val="1C1C1E"/>
                </a:solidFill>
                <a:latin typeface="Calibri"/>
              </a:rPr>
              <a:t>A blast radius follows only the propagating edges and returns each model with its DISTANCE, so the immediately affected are separable from those two hops away, and with the worst TIER reached — one Tier 1 model is not five Tier 4s. A cycle is refused at the edge that would close it, naming the path that already exists.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800"/>
              </a:spcAft>
            </a:pPr>
            <a:r>
              <a:rPr sz="1100" b="1" i="0">
                <a:solidFill>
                  <a:srgbClr val="A51C30"/>
                </a:solidFill>
                <a:latin typeface="Calibri"/>
              </a:rPr>
              <a:t>What it does answer is the supervisor’s actual question</a:t>
            </a:r>
            <a:r>
              <a:rPr sz="1100" b="0" i="0">
                <a:solidFill>
                  <a:srgbClr val="4A4F57"/>
                </a:solidFill>
                <a:latin typeface="Calibri"/>
              </a:rPr>
              <a:t> — “common dependencies and shared assumptions” — model by model, as a list rather than a paragraph.</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routes/ (Flask UI)</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Python 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notify (outbound)</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lattice</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(schema + repos)</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core/log</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core/ports.py</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scheduler</a:t>
            </a:r>
          </a:p>
        </p:txBody>
      </p:sp>
      <p:sp>
        <p:nvSpPr>
          <p:cNvPr id="77" name="TextBox 76"/>
          <p:cNvSpPr txBox="1"/>
          <p:nvPr/>
        </p:nvSpPr>
        <p:spPr>
          <a:xfrm>
            <a:off x="777240" y="5020055"/>
            <a:ext cx="10637215" cy="5029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dependency rule, and what actually holds it. </a:t>
            </a:r>
            <a:r>
              <a:rPr sz="1100" b="0" i="0">
                <a:solidFill>
                  <a:srgbClr val="1C1C1E"/>
                </a:solidFill>
                <a:latin typeface="Calibri"/>
              </a:rPr>
              <a:t>Arrows point downward only: the core domain imports nothing from MAYA, interfaces import everything and are imported by nothing. </a:t>
            </a:r>
            <a:r>
              <a:rPr sz="1100" b="0" i="0">
                <a:solidFill>
                  <a:srgbClr val="1C1C1E"/>
                </a:solidFill>
                <a:latin typeface="Consolas"/>
              </a:rPr>
              <a:t>tests/test_import_discipline.py</a:t>
            </a:r>
            <a:r>
              <a:rPr sz="1100" b="0" i="0">
                <a:solidFill>
                  <a:srgbClr val="1C1C1E"/>
                </a:solidFill>
                <a:latin typeface="Calibri"/>
              </a:rPr>
              <a:t> walks every import and fails the suite on a crossing. It is a test, not a pipeline — this repository has no CI, no linter and no type checker, so the rule holds for as long as somebody runs pytest.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 and what enforces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60</a:t>
            </a:r>
          </a:p>
        </p:txBody>
      </p:sp>
      <p:sp>
        <p:nvSpPr>
          <p:cNvPr id="10" name="Rectangle 9"/>
          <p:cNvSpPr/>
          <p:nvPr/>
        </p:nvSpPr>
        <p:spPr>
          <a:xfrm>
            <a:off x="777240"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is consumed through a Protocol in core/ports.py, never through another component's internals.</a:t>
            </a:r>
          </a:p>
        </p:txBody>
      </p:sp>
      <p:sp>
        <p:nvSpPr>
          <p:cNvPr id="15" name="Rectangle 14"/>
          <p:cNvSpPr/>
          <p:nvPr/>
        </p:nvSpPr>
        <p:spPr>
          <a:xfrm>
            <a:off x="349597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edge. The one rule with a test.</a:t>
            </a:r>
          </a:p>
        </p:txBody>
      </p:sp>
      <p:sp>
        <p:nvSpPr>
          <p:cNvPr id="20" name="Rectangle 19"/>
          <p:cNvSpPr/>
          <p:nvPr/>
        </p:nvSpPr>
        <p:spPr>
          <a:xfrm>
            <a:off x="621471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where claimed</a:t>
            </a:r>
          </a:p>
        </p:txBody>
      </p:sp>
      <p:sp>
        <p:nvSpPr>
          <p:cNvPr id="24" name="TextBox 23"/>
          <p:cNvSpPr txBox="1"/>
          <p:nvPr/>
        </p:nvSpPr>
        <p:spPr>
          <a:xfrm>
            <a:off x="643417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There is no Idempotency-Key header. Idempotency is per path, from a natural key: a redelivered telemetry batch and a re-run anchor write nothing.</a:t>
            </a:r>
          </a:p>
        </p:txBody>
      </p:sp>
      <p:sp>
        <p:nvSpPr>
          <p:cNvPr id="25" name="Rectangle 24"/>
          <p:cNvSpPr/>
          <p:nvPr/>
        </p:nvSpPr>
        <p:spPr>
          <a:xfrm>
            <a:off x="893345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derived value is persisted with its derivation record — the tier rationale, the alias proof, the PIT report.</a:t>
            </a:r>
          </a:p>
        </p:txBody>
      </p:sp>
      <p:sp>
        <p:nvSpPr>
          <p:cNvPr id="30" name="Rectangle 29"/>
          <p:cNvSpPr/>
          <p:nvPr/>
        </p:nvSpPr>
        <p:spPr>
          <a:xfrm>
            <a:off x="777240"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db/database.py owns the only re-entrant transaction(). The evidence append is its one caller, because read-the-head-then-insert is why it exists.</a:t>
            </a:r>
          </a:p>
        </p:txBody>
      </p:sp>
      <p:sp>
        <p:nvSpPr>
          <p:cNvPr id="35" name="Rectangle 34"/>
          <p:cNvSpPr/>
          <p:nvPr/>
        </p:nvSpPr>
        <p:spPr>
          <a:xfrm>
            <a:off x="349597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50207"/>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261103"/>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Each subsystem's common.py defines its error with a code and as_problem(). Never an unmapped 500.</a:t>
            </a:r>
          </a:p>
        </p:txBody>
      </p:sp>
      <p:sp>
        <p:nvSpPr>
          <p:cNvPr id="40" name="Rectangle 39"/>
          <p:cNvSpPr/>
          <p:nvPr/>
        </p:nvSpPr>
        <p:spPr>
          <a:xfrm>
            <a:off x="621471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remediation string saying what would unblock it.</a:t>
            </a:r>
          </a:p>
        </p:txBody>
      </p:sp>
      <p:sp>
        <p:nvSpPr>
          <p:cNvPr id="45" name="Rectangle 44"/>
          <p:cNvSpPr/>
          <p:nvPr/>
        </p:nvSpPr>
        <p:spPr>
          <a:xfrm>
            <a:off x="8933459" y="3456432"/>
            <a:ext cx="2480995"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Rectangle 45"/>
          <p:cNvSpPr/>
          <p:nvPr/>
        </p:nvSpPr>
        <p:spPr>
          <a:xfrm>
            <a:off x="8933459" y="345643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TextBox 46"/>
          <p:cNvSpPr txBox="1"/>
          <p:nvPr/>
        </p:nvSpPr>
        <p:spPr>
          <a:xfrm>
            <a:off x="9171203" y="3575303"/>
            <a:ext cx="2023795"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 are conventions. </a:t>
            </a:r>
            <a:r>
              <a:rPr sz="1050" b="0" i="0">
                <a:solidFill>
                  <a:srgbClr val="1C1C1E"/>
                </a:solidFill>
                <a:latin typeface="Calibri"/>
              </a:rPr>
              <a:t>Only DR-2 is mechanised. The rest are held by review — indistinguishable from enforcement until somebody does not keep one.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DEPLOYMENT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 — one process today, five units by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graphicFrame>
        <p:nvGraphicFramePr>
          <p:cNvPr id="10" name="Table 9"/>
          <p:cNvGraphicFramePr>
            <a:graphicFrameLocks noGrp="1"/>
          </p:cNvGraphicFramePr>
          <p:nvPr/>
        </p:nvGraphicFramePr>
        <p:xfrm>
          <a:off x="777240" y="1764792"/>
          <a:ext cx="10637212" cy="2687674"/>
        </p:xfrm>
        <a:graphic>
          <a:graphicData uri="http://schemas.openxmlformats.org/drawingml/2006/table">
            <a:tbl>
              <a:tblPr firstRow="1">
                <a:tableStyleId>{5C22544A-7EE6-4342-B048-85BDC9FD1C3A}</a:tableStyleId>
              </a:tblPr>
              <a:tblGrid>
                <a:gridCol w="2092566"/>
                <a:gridCol w="2005376"/>
                <a:gridCol w="4446704"/>
                <a:gridCol w="2092566"/>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Status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Flask app (routes/)</a:t>
                      </a:r>
                    </a:p>
                  </a:txBody>
                  <a:tcPr marL="82296" marR="64008" marT="32004" marB="32004" anchor="ctr">
                    <a:solidFill>
                      <a:srgbClr val="FFFFFF"/>
                    </a:solidFill>
                  </a:tcPr>
                </a:tc>
                <a:tc>
                  <a:txBody>
                    <a:bodyPr wrap="square"/>
                    <a:lstStyle/>
                    <a:p>
                      <a:pPr algn="l"/>
                      <a:r>
                        <a:rPr sz="1050" b="0">
                          <a:solidFill>
                            <a:srgbClr val="1C1C1E"/>
                          </a:solidFill>
                          <a:latin typeface="Calibri"/>
                        </a:rPr>
                        <a:t>Built — one process</a:t>
                      </a:r>
                    </a:p>
                  </a:txBody>
                  <a:tcPr marL="82296" marR="64008" marT="32004" marB="32004" anchor="ctr">
                    <a:solidFill>
                      <a:srgbClr val="FFFFFF"/>
                    </a:solidFill>
                  </a:tcPr>
                </a:tc>
                <a:tc>
                  <a:txBody>
                    <a:bodyPr wrap="square"/>
                    <a:lstStyle/>
                    <a:p>
                      <a:pPr algn="l"/>
                      <a:r>
                        <a:rPr sz="1050" b="0">
                          <a:solidFill>
                            <a:srgbClr val="1C1C1E"/>
                          </a:solidFill>
                          <a:latin typeface="Calibri"/>
                        </a:rPr>
                        <a:t>UI and REST API v1 are served by the same app;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Scheduler loop</a:t>
                      </a:r>
                    </a:p>
                  </a:txBody>
                  <a:tcPr marL="82296" marR="64008" marT="32004" marB="32004" anchor="ctr">
                    <a:solidFill>
                      <a:srgbClr val="F6F3EF"/>
                    </a:solidFill>
                  </a:tcPr>
                </a:tc>
                <a:tc>
                  <a:txBody>
                    <a:bodyPr wrap="square"/>
                    <a:lstStyle/>
                    <a:p>
                      <a:pPr algn="l"/>
                      <a:r>
                        <a:rPr sz="1050" b="0">
                          <a:solidFill>
                            <a:srgbClr val="1C1C1E"/>
                          </a:solidFill>
                          <a:latin typeface="Calibri"/>
                        </a:rPr>
                        <a:t>Built — in-process thread</a:t>
                      </a:r>
                    </a:p>
                  </a:txBody>
                  <a:tcPr marL="82296" marR="64008" marT="32004" marB="32004" anchor="ctr">
                    <a:solidFill>
                      <a:srgbClr val="F6F3EF"/>
                    </a:solidFill>
                  </a:tcPr>
                </a:tc>
                <a:tc>
                  <a:txBody>
                    <a:bodyPr wrap="square"/>
                    <a:lstStyle/>
                    <a:p>
                      <a:pPr algn="l"/>
                      <a:r>
                        <a:rPr sz="1050" b="0">
                          <a:solidFill>
                            <a:srgbClr val="1C1C1E"/>
                          </a:solidFill>
                          <a:latin typeface="Calibri"/>
                        </a:rPr>
                        <a:t>Nine jobs on a timer, off by default and enabled in config</a:t>
                      </a:r>
                    </a:p>
                  </a:txBody>
                  <a:tcPr marL="82296" marR="64008" marT="32004" marB="32004" anchor="ctr">
                    <a:solidFill>
                      <a:srgbClr val="F6F3EF"/>
                    </a:solidFill>
                  </a:tcPr>
                </a:tc>
                <a:tc>
                  <a:txBody>
                    <a:bodyPr wrap="square"/>
                    <a:lstStyle/>
                    <a:p>
                      <a:pPr algn="l"/>
                      <a:r>
                        <a:rPr sz="1050" b="0">
                          <a:solidFill>
                            <a:srgbClr val="1C1C1E"/>
                          </a:solidFill>
                          <a:latin typeface="Calibri"/>
                        </a:rPr>
                        <a:t>No — shares the process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Sandbox child</a:t>
                      </a:r>
                    </a:p>
                  </a:txBody>
                  <a:tcPr marL="82296" marR="64008" marT="32004" marB="32004" anchor="ctr">
                    <a:solidFill>
                      <a:srgbClr val="FFFFFF"/>
                    </a:solidFill>
                  </a:tcPr>
                </a:tc>
                <a:tc>
                  <a:txBody>
                    <a:bodyPr wrap="square"/>
                    <a:lstStyle/>
                    <a:p>
                      <a:pPr algn="l"/>
                      <a:r>
                        <a:rPr sz="1050" b="0">
                          <a:solidFill>
                            <a:srgbClr val="1C1C1E"/>
                          </a:solidFill>
                          <a:latin typeface="Calibri"/>
                        </a:rPr>
                        <a:t>Built — fork + rlimits</a:t>
                      </a:r>
                    </a:p>
                  </a:txBody>
                  <a:tcPr marL="82296" marR="64008" marT="32004" marB="32004" anchor="ctr">
                    <a:solidFill>
                      <a:srgbClr val="FFFFFF"/>
                    </a:solidFill>
                  </a:tcPr>
                </a:tc>
                <a:tc>
                  <a:txBody>
                    <a:bodyPr wrap="square"/>
                    <a:lstStyle/>
                    <a:p>
                      <a:pPr algn="l"/>
                      <a:r>
                        <a:rPr sz="1050" b="0">
                          <a:solidFill>
                            <a:srgbClr val="1C1C1E"/>
                          </a:solidFill>
                          <a:latin typeface="Calibri"/>
                        </a:rPr>
                        <a:t>An artifact's bugs must not become the platform's; CPU and address space bounded</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maya-warrants</a:t>
                      </a:r>
                    </a:p>
                  </a:txBody>
                  <a:tcPr marL="82296" marR="64008" marT="32004" marB="32004" anchor="ctr">
                    <a:solidFill>
                      <a:srgbClr val="F6F3E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6F3EF"/>
                    </a:solidFill>
                  </a:tcPr>
                </a:tc>
                <a:tc>
                  <a:txBody>
                    <a:bodyPr wrap="square"/>
                    <a:lstStyle/>
                    <a:p>
                      <a:pPr algn="l"/>
                      <a:r>
                        <a:rPr sz="1050" b="0">
                          <a:solidFill>
                            <a:srgbClr val="1C1C1E"/>
                          </a:solidFill>
                          <a:latin typeface="Calibri"/>
                        </a:rPr>
                        <a:t>10× tighter SLA; would read only the warrant projection</a:t>
                      </a:r>
                    </a:p>
                  </a:txBody>
                  <a:tcPr marL="82296" marR="64008" marT="32004" marB="32004" anchor="ctr">
                    <a:solidFill>
                      <a:srgbClr val="F6F3EF"/>
                    </a:solidFill>
                  </a:tcPr>
                </a:tc>
                <a:tc>
                  <a:txBody>
                    <a:bodyPr wrap="square"/>
                    <a:lstStyle/>
                    <a:p>
                      <a:pPr algn="l"/>
                      <a:r>
                        <a:rPr sz="1050" b="0">
                          <a:solidFill>
                            <a:srgbClr val="1C1C1E"/>
                          </a:solidFill>
                          <a:latin typeface="Calibri"/>
                        </a:rPr>
                        <a:t>By design, once split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Cluster data plane</a:t>
                      </a:r>
                    </a:p>
                  </a:txBody>
                  <a:tcPr marL="82296" marR="64008" marT="32004" marB="32004" anchor="ctr">
                    <a:solidFill>
                      <a:srgbClr val="FFFFF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FFFFF"/>
                    </a:solidFill>
                  </a:tcPr>
                </a:tc>
                <a:tc>
                  <a:txBody>
                    <a:bodyPr wrap="square"/>
                    <a:lstStyle/>
                    <a:p>
                      <a:pPr algn="l"/>
                      <a:r>
                        <a:rPr sz="1050" b="0">
                          <a:solidFill>
                            <a:srgbClr val="1C1C1E"/>
                          </a:solidFill>
                          <a:latin typeface="Calibri"/>
                        </a:rPr>
                        <a:t>PIT joins and materialisation run in-process on pandas + deltalake today</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bl>
          </a:graphicData>
        </a:graphic>
      </p:graphicFrame>
      <p:sp>
        <p:nvSpPr>
          <p:cNvPr id="11" name="Rectangle 10"/>
          <p:cNvSpPr/>
          <p:nvPr/>
        </p:nvSpPr>
        <p:spPr>
          <a:xfrm>
            <a:off x="777240" y="4726787"/>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26787"/>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45659"/>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one asymmetry, and it is a design not a deployment. </a:t>
            </a:r>
            <a:r>
              <a:rPr sz="1050" b="0" i="0">
                <a:solidFill>
                  <a:srgbClr val="1C1C1E"/>
                </a:solidFill>
                <a:latin typeface="Calibri"/>
              </a:rPr>
              <a:t>Governance must not become the bank's single point of failure: if the control plane is down, already-authorised production scoring should continue and only new issuance and governance changes stop. Today one process holds both, so that separation is a property of the drawing rather than of the estate. It is written here as the target, in the tense it has earned.</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 and the class it derives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62</a:t>
            </a:r>
          </a:p>
        </p:txBody>
      </p:sp>
      <p:sp>
        <p:nvSpPr>
          <p:cNvPr id="10" name="Rectangle 9"/>
          <p:cNvSpPr/>
          <p:nvPr/>
        </p:nvSpPr>
        <p:spPr>
          <a:xfrm>
            <a:off x="777240" y="1353312"/>
            <a:ext cx="5637724" cy="36225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6225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271964" cy="314702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a:t>
            </a:r>
          </a:p>
          <a:p>
            <a:pPr>
              <a:lnSpc>
                <a:spcPct val="134000"/>
              </a:lnSpc>
              <a:spcBef>
                <a:spcPts val="0"/>
              </a:spcBef>
              <a:spcAft>
                <a:spcPts val="0"/>
              </a:spcAft>
            </a:pPr>
            <a:r>
              <a:rPr sz="950" b="0" i="0">
                <a:solidFill>
                  <a:srgbClr val="7A7F87"/>
                </a:solidFill>
                <a:latin typeface="Consolas"/>
              </a:rPr>
              <a:t>                             #   learned_weights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 ; output: ObjectSpec</a:t>
            </a:r>
          </a:p>
          <a:p>
            <a:pPr>
              <a:lnSpc>
                <a:spcPct val="134000"/>
              </a:lnSpc>
              <a:spcBef>
                <a:spcPts val="0"/>
              </a:spcBef>
              <a:spcAft>
                <a:spcPts val="0"/>
              </a:spcAft>
            </a:pPr>
            <a:r>
              <a:rPr sz="950" b="0" i="0">
                <a:solidFill>
                  <a:srgbClr val="1C1C1E"/>
                </a:solidFill>
                <a:latin typeface="Consolas"/>
              </a:rPr>
              <a:t>    deterministic: int           # 0/1 — law L-3; never BOOLEAN</a:t>
            </a:r>
          </a:p>
        </p:txBody>
      </p:sp>
      <p:sp>
        <p:nvSpPr>
          <p:cNvPr id="14" name="Rectangle 13"/>
          <p:cNvSpPr/>
          <p:nvPr/>
        </p:nvSpPr>
        <p:spPr>
          <a:xfrm>
            <a:off x="6734080" y="1353312"/>
            <a:ext cx="4680374"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73408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93524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CLASS IS A FUNCTION, NOT A FIELD</a:t>
            </a:r>
          </a:p>
        </p:txBody>
      </p:sp>
      <p:sp>
        <p:nvSpPr>
          <p:cNvPr id="17" name="TextBox 16"/>
          <p:cNvSpPr txBox="1"/>
          <p:nvPr/>
        </p:nvSpPr>
        <p:spPr>
          <a:xfrm>
            <a:off x="6935248" y="1746504"/>
            <a:ext cx="4314614"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trainability_class(self, fit, adaptive) -&gt; str:</a:t>
            </a:r>
          </a:p>
          <a:p>
            <a:pPr>
              <a:lnSpc>
                <a:spcPct val="134000"/>
              </a:lnSpc>
              <a:spcBef>
                <a:spcPts val="0"/>
              </a:spcBef>
              <a:spcAft>
                <a:spcPts val="0"/>
              </a:spcAft>
            </a:pPr>
            <a:r>
              <a:rPr sz="950" b="0" i="0">
                <a:solidFill>
                  <a:srgbClr val="1C1C1E"/>
                </a:solidFill>
                <a:latin typeface="Consolas"/>
              </a:rPr>
              <a:t>    if not self.parameters.is_accessible:</a:t>
            </a:r>
          </a:p>
          <a:p>
            <a:pPr>
              <a:lnSpc>
                <a:spcPct val="134000"/>
              </a:lnSpc>
              <a:spcBef>
                <a:spcPts val="0"/>
              </a:spcBef>
              <a:spcAft>
                <a:spcPts val="0"/>
              </a:spcAft>
            </a:pPr>
            <a:r>
              <a:rPr sz="950" b="0" i="0">
                <a:solidFill>
                  <a:srgbClr val="1C1C1E"/>
                </a:solidFill>
                <a:latin typeface="Consolas"/>
              </a:rPr>
              <a:t>        return "T6"                  # vendor black box</a:t>
            </a:r>
          </a:p>
          <a:p>
            <a:pPr>
              <a:lnSpc>
                <a:spcPct val="134000"/>
              </a:lnSpc>
              <a:spcBef>
                <a:spcPts val="0"/>
              </a:spcBef>
              <a:spcAft>
                <a:spcPts val="0"/>
              </a:spcAft>
            </a:pPr>
            <a:r>
              <a:rPr sz="950" b="0" i="0">
                <a:solidFill>
                  <a:srgbClr val="1C1C1E"/>
                </a:solidFill>
                <a:latin typeface="Consolas"/>
              </a:rPr>
              <a:t>    if self.parameters.is_terminal:</a:t>
            </a:r>
          </a:p>
          <a:p>
            <a:pPr>
              <a:lnSpc>
                <a:spcPct val="134000"/>
              </a:lnSpc>
              <a:spcBef>
                <a:spcPts val="0"/>
              </a:spcBef>
              <a:spcAft>
                <a:spcPts val="0"/>
              </a:spcAft>
            </a:pPr>
            <a:r>
              <a:rPr sz="950" b="0" i="0">
                <a:solidFill>
                  <a:srgbClr val="1C1C1E"/>
                </a:solidFill>
                <a:latin typeface="Consolas"/>
              </a:rPr>
              <a:t>        return "T0"                  # analytic — P ≅ I</a:t>
            </a:r>
          </a:p>
          <a:p>
            <a:pPr>
              <a:lnSpc>
                <a:spcPct val="134000"/>
              </a:lnSpc>
              <a:spcBef>
                <a:spcPts val="0"/>
              </a:spcBef>
              <a:spcAft>
                <a:spcPts val="0"/>
              </a:spcAft>
            </a:pPr>
            <a:r>
              <a:rPr sz="950" b="0" i="0">
                <a:solidFill>
                  <a:srgbClr val="1C1C1E"/>
                </a:solidFill>
                <a:latin typeface="Consolas"/>
              </a:rPr>
              <a:t>    return {"calibrate": "T1", "estimate": "T2",</a:t>
            </a:r>
          </a:p>
          <a:p>
            <a:pPr>
              <a:lnSpc>
                <a:spcPct val="134000"/>
              </a:lnSpc>
              <a:spcBef>
                <a:spcPts val="0"/>
              </a:spcBef>
              <a:spcAft>
                <a:spcPts val="0"/>
              </a:spcAft>
            </a:pPr>
            <a:r>
              <a:rPr sz="950" b="0" i="0">
                <a:solidFill>
                  <a:srgbClr val="1C1C1E"/>
                </a:solidFill>
                <a:latin typeface="Consolas"/>
              </a:rPr>
              <a:t>            "train": "T4" if adaptive else "T3",</a:t>
            </a:r>
          </a:p>
          <a:p>
            <a:pPr>
              <a:lnSpc>
                <a:spcPct val="134000"/>
              </a:lnSpc>
              <a:spcBef>
                <a:spcPts val="0"/>
              </a:spcBef>
              <a:spcAft>
                <a:spcPts val="0"/>
              </a:spcAft>
            </a:pPr>
            <a:r>
              <a:rPr sz="950" b="0" i="0">
                <a:solidFill>
                  <a:srgbClr val="1C1C1E"/>
                </a:solidFill>
                <a:latin typeface="Consolas"/>
              </a:rPr>
              <a:t>            "configure": "T5", "elicit": "T7",</a:t>
            </a:r>
          </a:p>
          <a:p>
            <a:pPr>
              <a:lnSpc>
                <a:spcPct val="134000"/>
              </a:lnSpc>
              <a:spcBef>
                <a:spcPts val="0"/>
              </a:spcBef>
              <a:spcAft>
                <a:spcPts val="0"/>
              </a:spcAft>
            </a:pPr>
            <a:r>
              <a:rPr sz="950" b="0" i="0">
                <a:solidFill>
                  <a:srgbClr val="1C1C1E"/>
                </a:solidFill>
                <a:latin typeface="Consolas"/>
              </a:rPr>
              <a:t>            "author": "T8"}[fit]</a:t>
            </a:r>
          </a:p>
        </p:txBody>
      </p:sp>
      <p:sp>
        <p:nvSpPr>
          <p:cNvPr id="18" name="TextBox 17"/>
          <p:cNvSpPr txBox="1"/>
          <p:nvPr/>
        </p:nvSpPr>
        <p:spPr>
          <a:xfrm>
            <a:off x="6734080" y="3991333"/>
            <a:ext cx="4680374" cy="1737360"/>
          </a:xfrm>
          <a:prstGeom prst="rect">
            <a:avLst/>
          </a:prstGeom>
          <a:noFill/>
        </p:spPr>
        <p:txBody>
          <a:bodyPr wrap="square" lIns="0" rIns="0" tIns="0" bIns="0" anchor="t">
            <a:spAutoFit/>
          </a:bodyPr>
          <a:lstStyle/>
          <a:p>
            <a:pPr algn="l"/>
          </a:p>
          <a:p>
            <a:pPr>
              <a:spcBef>
                <a:spcPts val="600"/>
              </a:spcBef>
              <a:spcAft>
                <a:spcPts val="300"/>
              </a:spcAft>
            </a:pPr>
            <a:r>
              <a:rPr sz="1050" b="1">
                <a:solidFill>
                  <a:srgbClr val="A51C30"/>
                </a:solidFill>
                <a:latin typeface="Calibri"/>
              </a:rPr>
              <a:t>▪  </a:t>
            </a:r>
            <a:r>
              <a:rPr sz="1050" b="1">
                <a:solidFill>
                  <a:srgbClr val="1C1C1E"/>
                </a:solidFill>
                <a:latin typeface="Calibri"/>
              </a:rPr>
              <a:t>Parameters are an object, not a blob</a:t>
            </a:r>
          </a:p>
          <a:p>
            <a:pPr lvl="1">
              <a:spcBef>
                <a:spcPts val="0"/>
              </a:spcBef>
              <a:spcAft>
                <a:spcPts val="0"/>
              </a:spcAft>
            </a:pPr>
            <a:r>
              <a:rPr sz="950">
                <a:solidFill>
                  <a:srgbClr val="4A4F57"/>
                </a:solidFill>
                <a:latin typeface="Calibri"/>
              </a:rPr>
              <a:t>“no parameters” and “inaccessible parameters” are states, not nulls</a:t>
            </a:r>
          </a:p>
          <a:p>
            <a:pPr>
              <a:spcBef>
                <a:spcPts val="600"/>
              </a:spcBef>
              <a:spcAft>
                <a:spcPts val="300"/>
              </a:spcAft>
            </a:pPr>
            <a:r>
              <a:rPr sz="1050" b="1">
                <a:solidFill>
                  <a:srgbClr val="A51C30"/>
                </a:solidFill>
                <a:latin typeface="Calibri"/>
              </a:rPr>
              <a:t>▪  </a:t>
            </a:r>
            <a:r>
              <a:rPr sz="1050" b="1">
                <a:solidFill>
                  <a:srgbClr val="1C1C1E"/>
                </a:solidFill>
                <a:latin typeface="Calibri"/>
              </a:rPr>
              <a:t>The class is derived</a:t>
            </a:r>
          </a:p>
          <a:p>
            <a:pPr lvl="1">
              <a:spcBef>
                <a:spcPts val="0"/>
              </a:spcBef>
              <a:spcAft>
                <a:spcPts val="0"/>
              </a:spcAft>
            </a:pPr>
            <a:r>
              <a:rPr sz="950">
                <a:solidFill>
                  <a:srgbClr val="4A4F57"/>
                </a:solidFill>
                <a:latin typeface="Calibri"/>
              </a:rPr>
              <a:t>never an enum a user picks, so a mislabelled record is unreachable</a:t>
            </a:r>
          </a:p>
          <a:p>
            <a:pPr>
              <a:spcBef>
                <a:spcPts val="600"/>
              </a:spcBef>
              <a:spcAft>
                <a:spcPts val="300"/>
              </a:spcAft>
            </a:pPr>
            <a:r>
              <a:rPr sz="1050" b="1">
                <a:solidFill>
                  <a:srgbClr val="A51C30"/>
                </a:solidFill>
                <a:latin typeface="Calibri"/>
              </a:rPr>
              <a:t>▪  </a:t>
            </a:r>
            <a:r>
              <a:rPr sz="1050" b="1">
                <a:solidFill>
                  <a:srgbClr val="1C1C1E"/>
                </a:solidFill>
                <a:latin typeface="Calibri"/>
              </a:rPr>
              <a:t>No framework, no I/O</a:t>
            </a:r>
          </a:p>
          <a:p>
            <a:pPr lvl="1">
              <a:spcBef>
                <a:spcPts val="0"/>
              </a:spcBef>
              <a:spcAft>
                <a:spcPts val="0"/>
              </a:spcAft>
            </a:pPr>
            <a:r>
              <a:rPr sz="950">
                <a:solidFill>
                  <a:srgbClr val="4A4F57"/>
                </a:solidFill>
                <a:latin typeface="Calibri"/>
              </a:rPr>
              <a:t>the laws run in milliseconds over generated inputs</a:t>
            </a:r>
          </a:p>
        </p:txBody>
      </p:sp>
      <p:sp>
        <p:nvSpPr>
          <p:cNvPr id="19" name="Rectangle 18"/>
          <p:cNvSpPr/>
          <p:nvPr/>
        </p:nvSpPr>
        <p:spPr>
          <a:xfrm>
            <a:off x="777240" y="5250141"/>
            <a:ext cx="563772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25014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5369013"/>
            <a:ext cx="518052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that matters. </a:t>
            </a:r>
            <a:r>
              <a:rPr sz="10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CORE/DOMAIN/CONTRACTS.PY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 — what the code really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CODE ACTUALLY DOES</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 Law L-7."""</a:t>
            </a:r>
          </a:p>
          <a:p>
            <a:pPr>
              <a:lnSpc>
                <a:spcPct val="134000"/>
              </a:lnSpc>
              <a:spcBef>
                <a:spcPts val="0"/>
              </a:spcBef>
              <a:spcAft>
                <a:spcPts val="0"/>
              </a:spcAft>
            </a:pPr>
            <a:r>
              <a:rPr sz="950" b="0" i="0">
                <a:solidFill>
                  <a:srgbClr val="1C1C1E"/>
                </a:solidFill>
                <a:latin typeface="Consolas"/>
              </a:rPr>
              <a:t>    weak   = [k for k, b in other._a().items()</a:t>
            </a:r>
          </a:p>
          <a:p>
            <a:pPr>
              <a:lnSpc>
                <a:spcPct val="134000"/>
              </a:lnSpc>
              <a:spcBef>
                <a:spcPts val="0"/>
              </a:spcBef>
              <a:spcAft>
                <a:spcPts val="0"/>
              </a:spcAft>
            </a:pPr>
            <a:r>
              <a:rPr sz="950" b="0" i="0">
                <a:solidFill>
                  <a:srgbClr val="1C1C1E"/>
                </a:solidFill>
                <a:latin typeface="Consolas"/>
              </a:rPr>
              <a:t>              if k in self._a() and not self._a()[k].weaker_than(b)]</a:t>
            </a:r>
          </a:p>
          <a:p>
            <a:pPr>
              <a:lnSpc>
                <a:spcPct val="134000"/>
              </a:lnSpc>
              <a:spcBef>
                <a:spcPts val="0"/>
              </a:spcBef>
              <a:spcAft>
                <a:spcPts val="0"/>
              </a:spcAft>
            </a:pPr>
            <a:r>
              <a:rPr sz="950" b="0" i="0">
                <a:solidFill>
                  <a:srgbClr val="1C1C1E"/>
                </a:solidFill>
                <a:latin typeface="Consolas"/>
              </a:rPr>
              <a:t>    strong = [k for k, b in other._g().items()</a:t>
            </a:r>
          </a:p>
          <a:p>
            <a:pPr>
              <a:lnSpc>
                <a:spcPct val="134000"/>
              </a:lnSpc>
              <a:spcBef>
                <a:spcPts val="0"/>
              </a:spcBef>
              <a:spcAft>
                <a:spcPts val="0"/>
              </a:spcAft>
            </a:pPr>
            <a:r>
              <a:rPr sz="950" b="0" i="0">
                <a:solidFill>
                  <a:srgbClr val="1C1C1E"/>
                </a:solidFill>
                <a:latin typeface="Consolas"/>
              </a:rPr>
              <a:t>              if k not in self._g() or not self._g()[k].stronger_than(b)]</a:t>
            </a:r>
          </a:p>
          <a:p>
            <a:pPr>
              <a:lnSpc>
                <a:spcPct val="134000"/>
              </a:lnSpc>
              <a:spcBef>
                <a:spcPts val="0"/>
              </a:spcBef>
              <a:spcAft>
                <a:spcPts val="0"/>
              </a:spcAft>
            </a:pPr>
            <a:r>
              <a:rPr sz="950" b="0" i="0">
                <a:solidFill>
                  <a:srgbClr val="1C1C1E"/>
                </a:solidFill>
                <a:latin typeface="Consolas"/>
              </a:rPr>
              <a:t>    return RefinementResult(holds = not weak and not strong,</a:t>
            </a:r>
          </a:p>
          <a:p>
            <a:pPr>
              <a:lnSpc>
                <a:spcPct val="134000"/>
              </a:lnSpc>
              <a:spcBef>
                <a:spcPts val="0"/>
              </a:spcBef>
              <a:spcAft>
                <a:spcPts val="0"/>
              </a:spcAft>
            </a:pPr>
            <a:r>
              <a:rPr sz="950" b="0" i="0">
                <a:solidFill>
                  <a:srgbClr val="1C1C1E"/>
                </a:solidFill>
                <a:latin typeface="Consolas"/>
              </a:rPr>
              <a:t>                            assumption_failures=tuple(weak),</a:t>
            </a:r>
          </a:p>
          <a:p>
            <a:pPr>
              <a:lnSpc>
                <a:spcPct val="134000"/>
              </a:lnSpc>
              <a:spcBef>
                <a:spcPts val="0"/>
              </a:spcBef>
              <a:spcAft>
                <a:spcPts val="0"/>
              </a:spcAft>
            </a:pPr>
            <a:r>
              <a:rPr sz="950" b="0" i="0">
                <a:solidFill>
                  <a:srgbClr val="1C1C1E"/>
                </a:solidFill>
                <a:latin typeface="Consolas"/>
              </a:rPr>
              <a:t>                            guarantee_failures=tuple(strong))</a:t>
            </a:r>
          </a:p>
        </p:txBody>
      </p:sp>
      <p:sp>
        <p:nvSpPr>
          <p:cNvPr id="14" name="TextBox 13"/>
          <p:cNvSpPr txBox="1"/>
          <p:nvPr/>
        </p:nvSpPr>
        <p:spPr>
          <a:xfrm>
            <a:off x="7053196" y="1353312"/>
            <a:ext cx="4361258" cy="201168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A clause is an interval or a set, not a predicate</a:t>
            </a:r>
          </a:p>
          <a:p>
            <a:pPr>
              <a:lnSpc>
                <a:spcPct val="124000"/>
              </a:lnSpc>
              <a:spcBef>
                <a:spcPts val="0"/>
              </a:spcBef>
              <a:spcAft>
                <a:spcPts val="700"/>
              </a:spcAft>
            </a:pPr>
            <a:r>
              <a:rPr sz="1050" b="0" i="0">
                <a:solidFill>
                  <a:srgbClr val="4A4F57"/>
                </a:solidFill>
                <a:latin typeface="Calibri"/>
              </a:rPr>
              <a:t>A Bound is a key with a minimum, a maximum or an allowed set. Refinement compares bounds key by key — it does not form A ∧ G' and does not evaluate a predicate language. There is no implication solver here, and the refusal names the failing keys rather than a clause.</a:t>
            </a:r>
          </a:p>
          <a:p>
            <a:pPr>
              <a:lnSpc>
                <a:spcPct val="124000"/>
              </a:lnSpc>
              <a:spcBef>
                <a:spcPts val="0"/>
              </a:spcBef>
              <a:spcAft>
                <a:spcPts val="600"/>
              </a:spcAft>
            </a:pPr>
            <a:r>
              <a:rPr sz="1050" b="0" i="0">
                <a:solidFill>
                  <a:srgbClr val="4A4F57"/>
                </a:solidFill>
                <a:latin typeface="Calibri"/>
              </a:rPr>
              <a:t>Richer assumptions are recorded as </a:t>
            </a:r>
            <a:r>
              <a:rPr sz="1050" b="1" i="1">
                <a:solidFill>
                  <a:srgbClr val="1C1C1E"/>
                </a:solidFill>
                <a:latin typeface="Calibri"/>
              </a:rPr>
              <a:t>narrative</a:t>
            </a:r>
            <a:r>
              <a:rPr sz="1050" b="0" i="0">
                <a:solidFill>
                  <a:srgbClr val="4A4F57"/>
                </a:solidFill>
                <a:latin typeface="Calibri"/>
              </a:rPr>
              <a:t> and excluded from the check — so nobody believes a proof happened that did not.</a:t>
            </a:r>
          </a:p>
        </p:txBody>
      </p:sp>
      <p:graphicFrame>
        <p:nvGraphicFramePr>
          <p:cNvPr id="15" name="Table 14"/>
          <p:cNvGraphicFramePr>
            <a:graphicFrameLocks noGrp="1"/>
          </p:cNvGraphicFramePr>
          <p:nvPr/>
        </p:nvGraphicFramePr>
        <p:xfrm>
          <a:off x="777240" y="4064485"/>
          <a:ext cx="10637213" cy="2023364"/>
        </p:xfrm>
        <a:graphic>
          <a:graphicData uri="http://schemas.openxmlformats.org/drawingml/2006/table">
            <a:tbl>
              <a:tblPr firstRow="1">
                <a:tableStyleId>{5C22544A-7EE6-4342-B048-85BDC9FD1C3A}</a:tableStyleId>
              </a:tblPr>
              <a:tblGrid>
                <a:gridCol w="1742302"/>
                <a:gridCol w="3392904"/>
                <a:gridCol w="5502007"/>
              </a:tblGrid>
              <a:tr h="329184">
                <a:tc>
                  <a:txBody>
                    <a:bodyPr wrap="square"/>
                    <a:lstStyle/>
                    <a:p>
                      <a:pPr algn="l"/>
                      <a:r>
                        <a:rPr sz="1050" b="1">
                          <a:solidFill>
                            <a:srgbClr val="FFFFFF"/>
                          </a:solidFill>
                          <a:latin typeface="Calibri"/>
                        </a:rPr>
                        <a:t>Operation</a:t>
                      </a:r>
                    </a:p>
                  </a:txBody>
                  <a:tcPr marL="82296" marR="64008" marT="32004" marB="32004" anchor="ctr">
                    <a:solidFill>
                      <a:srgbClr val="A51C30"/>
                    </a:solidFill>
                  </a:tcPr>
                </a:tc>
                <a:tc>
                  <a:txBody>
                    <a:bodyPr wrap="square"/>
                    <a:lstStyle/>
                    <a:p>
                      <a:pPr algn="l"/>
                      <a:r>
                        <a:rPr sz="1050" b="1">
                          <a:solidFill>
                            <a:srgbClr val="FFFFFF"/>
                          </a:solidFill>
                          <a:latin typeface="Calibri"/>
                        </a:rPr>
                        <a:t>What it is meant to answer</a:t>
                      </a:r>
                    </a:p>
                  </a:txBody>
                  <a:tcPr marL="82296" marR="64008" marT="32004" marB="32004" anchor="ctr">
                    <a:solidFill>
                      <a:srgbClr val="A51C30"/>
                    </a:solidFill>
                  </a:tcPr>
                </a:tc>
                <a:tc>
                  <a:txBody>
                    <a:bodyPr wrap="square"/>
                    <a:lstStyle/>
                    <a:p>
                      <a:pPr algn="l"/>
                      <a:r>
                        <a:rPr sz="1050" b="1">
                          <a:solidFill>
                            <a:srgbClr val="FFFFFF"/>
                          </a:solidFill>
                          <a:latin typeface="Calibri"/>
                        </a:rPr>
                        <a:t>What the code does today</a:t>
                      </a:r>
                    </a:p>
                  </a:txBody>
                  <a:tcPr marL="82296" marR="64008" marT="32004" marB="32004" anchor="ctr">
                    <a:solidFill>
                      <a:srgbClr val="A51C30"/>
                    </a:solidFill>
                  </a:tcPr>
                </a:tc>
              </a:tr>
              <a:tr h="402336">
                <a:tc>
                  <a:txBody>
                    <a:bodyPr wrap="square"/>
                    <a:lstStyle/>
                    <a:p>
                      <a:pPr algn="l"/>
                      <a:r>
                        <a:rPr sz="1000" b="1">
                          <a:solidFill>
                            <a:srgbClr val="A51C30"/>
                          </a:solidFill>
                          <a:latin typeface="Calibri"/>
                        </a:rPr>
                        <a:t>Refinement  ⪯</a:t>
                      </a:r>
                    </a:p>
                  </a:txBody>
                  <a:tcPr marL="82296" marR="64008" marT="32004" marB="32004" anchor="ctr">
                    <a:solidFill>
                      <a:srgbClr val="FFFFFF"/>
                    </a:solidFill>
                  </a:tcPr>
                </a:tc>
                <a:tc>
                  <a:txBody>
                    <a:bodyPr wrap="square"/>
                    <a:lstStyle/>
                    <a:p>
                      <a:pPr algn="l"/>
                      <a:r>
                        <a:rPr sz="100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00" b="0">
                          <a:solidFill>
                            <a:srgbClr val="1C1C1E"/>
                          </a:solidFill>
                          <a:latin typeface="Calibri"/>
                        </a:rPr>
                        <a:t>Built, and enforced at every alias move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Composition  ⊗</a:t>
                      </a:r>
                    </a:p>
                  </a:txBody>
                  <a:tcPr marL="82296" marR="64008" marT="32004" marB="32004" anchor="ctr">
                    <a:solidFill>
                      <a:srgbClr val="F6F3EF"/>
                    </a:solidFill>
                  </a:tcPr>
                </a:tc>
                <a:tc>
                  <a:txBody>
                    <a:bodyPr wrap="square"/>
                    <a:lstStyle/>
                    <a:p>
                      <a:pPr algn="l"/>
                      <a:r>
                        <a:rPr sz="1000" b="0">
                          <a:solidFill>
                            <a:srgbClr val="1C1C1E"/>
                          </a:solidFill>
                          <a:latin typeface="Calibri"/>
                        </a:rPr>
                        <a:t>What does this chain promise end to end?</a:t>
                      </a:r>
                    </a:p>
                  </a:txBody>
                  <a:tcPr marL="82296" marR="64008" marT="32004" marB="32004" anchor="ctr">
                    <a:solidFill>
                      <a:srgbClr val="F6F3EF"/>
                    </a:solidFill>
                  </a:tcPr>
                </a:tc>
                <a:tc>
                  <a:txBody>
                    <a:bodyPr wrap="square"/>
                    <a:lstStyle/>
                    <a:p>
                      <a:pPr algn="l"/>
                      <a:r>
                        <a:rPr sz="1000" b="0">
                          <a:solidFill>
                            <a:srgbClr val="1C1C1E"/>
                          </a:solidFill>
                          <a:latin typeface="Calibri"/>
                        </a:rPr>
                        <a:t>Unions assumptions and guarantees — it does not discharge the downstream's assumptions against the upstream's guarantees</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Conjunction  ∧</a:t>
                      </a:r>
                    </a:p>
                  </a:txBody>
                  <a:tcPr marL="82296" marR="64008" marT="32004" marB="32004" anchor="ctr">
                    <a:solidFill>
                      <a:srgbClr val="FFFFFF"/>
                    </a:solidFill>
                  </a:tcPr>
                </a:tc>
                <a:tc>
                  <a:txBody>
                    <a:bodyPr wrap="square"/>
                    <a:lstStyle/>
                    <a:p>
                      <a:pPr algn="l"/>
                      <a:r>
                        <a:rPr sz="1000" b="0">
                          <a:solidFill>
                            <a:srgbClr val="1C1C1E"/>
                          </a:solidFill>
                          <a:latin typeface="Calibri"/>
                        </a:rPr>
                        <a:t>Performance and fairness and latency together</a:t>
                      </a:r>
                    </a:p>
                  </a:txBody>
                  <a:tcPr marL="82296" marR="64008" marT="32004" marB="32004" anchor="ctr">
                    <a:solidFill>
                      <a:srgbClr val="FFFFFF"/>
                    </a:solidFill>
                  </a:tcPr>
                </a:tc>
                <a:tc>
                  <a:txBody>
                    <a:bodyPr wrap="square"/>
                    <a:lstStyle/>
                    <a:p>
                      <a:pPr algn="l"/>
                      <a:r>
                        <a:rPr sz="1000" b="0">
                          <a:solidFill>
                            <a:srgbClr val="1C1C1E"/>
                          </a:solidFill>
                          <a:latin typeface="Calibri"/>
                        </a:rPr>
                        <a:t>The same function as composition, under a second name. Right here, wrong there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Quotient  /</a:t>
                      </a:r>
                    </a:p>
                  </a:txBody>
                  <a:tcPr marL="82296" marR="64008" marT="32004" marB="32004" anchor="ctr">
                    <a:solidFill>
                      <a:srgbClr val="F6F3EF"/>
                    </a:solidFill>
                  </a:tcPr>
                </a:tc>
                <a:tc>
                  <a:txBody>
                    <a:bodyPr wrap="square"/>
                    <a:lstStyle/>
                    <a:p>
                      <a:pPr algn="l"/>
                      <a:r>
                        <a:rPr sz="1000" b="0">
                          <a:solidFill>
                            <a:srgbClr val="1C1C1E"/>
                          </a:solidFill>
                          <a:latin typeface="Calibri"/>
                        </a:rPr>
                        <a:t>What must the missing piece guarantee?</a:t>
                      </a:r>
                    </a:p>
                  </a:txBody>
                  <a:tcPr marL="82296" marR="64008" marT="32004" marB="32004" anchor="ctr">
                    <a:solidFill>
                      <a:srgbClr val="F6F3EF"/>
                    </a:solidFill>
                  </a:tcPr>
                </a:tc>
                <a:tc>
                  <a:txBody>
                    <a:bodyPr wrap="square"/>
                    <a:lstStyle/>
                    <a:p>
                      <a:pPr algn="l"/>
                      <a:r>
                        <a:rPr sz="1000" b="0">
                          <a:solidFill>
                            <a:srgbClr val="1C1C1E"/>
                          </a:solidFill>
                          <a:latin typeface="Calibri"/>
                        </a:rPr>
                        <a:t>Drops the guarantee keys already held — a keyed difference, not a residual</a:t>
                      </a:r>
                    </a:p>
                  </a:txBody>
                  <a:tcPr marL="82296" marR="64008" marT="32004" marB="32004" anchor="ctr">
                    <a:solidFill>
                      <a:srgbClr val="F6F3EF"/>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what runs, and what is still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471728"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471728"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618032"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Resolve</a:t>
            </a:r>
          </a:p>
          <a:p>
            <a:pPr>
              <a:lnSpc>
                <a:spcPct val="115000"/>
              </a:lnSpc>
              <a:spcBef>
                <a:spcPts val="0"/>
              </a:spcBef>
              <a:spcAft>
                <a:spcPts val="600"/>
              </a:spcAft>
            </a:pPr>
            <a:r>
              <a:rPr sz="850" b="0" i="0">
                <a:solidFill>
                  <a:srgbClr val="4A4F57"/>
                </a:solidFill>
                <a:latin typeface="Calibri"/>
              </a:rPr>
              <a:t>Digest looked up in the content-addressed store; the store is the authority on its own contents</a:t>
            </a:r>
          </a:p>
        </p:txBody>
      </p:sp>
      <p:sp>
        <p:nvSpPr>
          <p:cNvPr id="16" name="Rectangle 15"/>
          <p:cNvSpPr/>
          <p:nvPr/>
        </p:nvSpPr>
        <p:spPr>
          <a:xfrm>
            <a:off x="4166216"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166216"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312520"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inserted immutable, status draft, manifest digest computed</a:t>
            </a:r>
          </a:p>
        </p:txBody>
      </p:sp>
      <p:sp>
        <p:nvSpPr>
          <p:cNvPr id="19" name="Rectangle 18"/>
          <p:cNvSpPr/>
          <p:nvPr/>
        </p:nvSpPr>
        <p:spPr>
          <a:xfrm>
            <a:off x="5860705"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860705"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6007009"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version_created appended to the chain</a:t>
            </a:r>
          </a:p>
        </p:txBody>
      </p:sp>
      <p:sp>
        <p:nvSpPr>
          <p:cNvPr id="22" name="Rectangle 21"/>
          <p:cNvSpPr/>
          <p:nvPr/>
        </p:nvSpPr>
        <p:spPr>
          <a:xfrm>
            <a:off x="7691429" y="1764792"/>
            <a:ext cx="3723025" cy="1956816"/>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691429" y="1764792"/>
            <a:ext cx="3723025"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819445" y="1883664"/>
            <a:ext cx="3466993"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Designed, not built</a:t>
            </a:r>
          </a:p>
        </p:txBody>
      </p:sp>
      <p:sp>
        <p:nvSpPr>
          <p:cNvPr id="25" name="TextBox 24"/>
          <p:cNvSpPr txBox="1"/>
          <p:nvPr/>
        </p:nvSpPr>
        <p:spPr>
          <a:xfrm>
            <a:off x="7819445" y="2130552"/>
            <a:ext cx="3466993"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core/artifacts/store.py hashes and stores; it does not scan</a:t>
            </a:r>
          </a:p>
        </p:txBody>
      </p:sp>
      <p:sp>
        <p:nvSpPr>
          <p:cNvPr id="26" name="TextBox 25"/>
          <p:cNvSpPr txBox="1"/>
          <p:nvPr/>
        </p:nvSpPr>
        <p:spPr>
          <a:xfrm>
            <a:off x="7819445" y="231343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Quarantine to a no-execute store</a:t>
            </a:r>
          </a:p>
        </p:txBody>
      </p:sp>
      <p:sp>
        <p:nvSpPr>
          <p:cNvPr id="27" name="TextBox 26"/>
          <p:cNvSpPr txBox="1"/>
          <p:nvPr/>
        </p:nvSpPr>
        <p:spPr>
          <a:xfrm>
            <a:off x="7819445" y="258775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Malware, pickle-opcode, SCA, secret and licence scans</a:t>
            </a:r>
          </a:p>
        </p:txBody>
      </p:sp>
      <p:sp>
        <p:nvSpPr>
          <p:cNvPr id="28" name="TextBox 27"/>
          <p:cNvSpPr txBox="1"/>
          <p:nvPr/>
        </p:nvSpPr>
        <p:spPr>
          <a:xfrm>
            <a:off x="7819445" y="286207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Format policy per target environment</a:t>
            </a:r>
          </a:p>
        </p:txBody>
      </p:sp>
      <p:sp>
        <p:nvSpPr>
          <p:cNvPr id="29" name="TextBox 28"/>
          <p:cNvSpPr txBox="1"/>
          <p:nvPr/>
        </p:nvSpPr>
        <p:spPr>
          <a:xfrm>
            <a:off x="7819445" y="313639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Declared inputs reconciled against the feature registry</a:t>
            </a:r>
          </a:p>
        </p:txBody>
      </p:sp>
      <p:sp>
        <p:nvSpPr>
          <p:cNvPr id="30" name="TextBox 29"/>
          <p:cNvSpPr txBox="1"/>
          <p:nvPr/>
        </p:nvSpPr>
        <p:spPr>
          <a:xfrm>
            <a:off x="7819445" y="341071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Artifact promotion, signing and attestation</a:t>
            </a:r>
          </a:p>
        </p:txBody>
      </p:sp>
      <p:sp>
        <p:nvSpPr>
          <p:cNvPr id="31" name="Rectangle 30"/>
          <p:cNvSpPr/>
          <p:nvPr/>
        </p:nvSpPr>
        <p:spPr>
          <a:xfrm>
            <a:off x="777240" y="3685032"/>
            <a:ext cx="6595073"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6850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14983" y="3803904"/>
            <a:ext cx="6137873"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There is no outbox. </a:t>
            </a:r>
            <a:r>
              <a:rPr sz="1050" b="0" i="0">
                <a:solidFill>
                  <a:srgbClr val="1C1C1E"/>
                </a:solidFill>
                <a:latin typeface="Calibri"/>
              </a:rPr>
              <a:t>A two-phase commit with an outbox row for the object-store promotion, and an artifact_pending state that cannot be aliased, is the design. What runs is one insert followed by one evidence append — and the append opens its own transaction, so the two are not atomic. The transaction-boundary argument is a plan, not a property.</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CORE/REGISTRY/ALIASES.PY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GOVERNED SWITCH</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m   = catalogue.require(urn)</a:t>
            </a:r>
          </a:p>
          <a:p>
            <a:pPr>
              <a:lnSpc>
                <a:spcPct val="134000"/>
              </a:lnSpc>
              <a:spcBef>
                <a:spcPts val="0"/>
              </a:spcBef>
              <a:spcAft>
                <a:spcPts val="0"/>
              </a:spcAft>
            </a:pPr>
            <a:r>
              <a:rPr sz="950" b="0" i="0">
                <a:solidFill>
                  <a:srgbClr val="1C1C1E"/>
                </a:solidFill>
                <a:latin typeface="Consolas"/>
              </a:rPr>
              <a:t>new = versions.require(urn, to_semver)</a:t>
            </a:r>
          </a:p>
          <a:p>
            <a:pPr>
              <a:lnSpc>
                <a:spcPct val="134000"/>
              </a:lnSpc>
              <a:spcBef>
                <a:spcPts val="0"/>
              </a:spcBef>
              <a:spcAft>
                <a:spcPts val="0"/>
              </a:spcAft>
            </a:pPr>
            <a:r>
              <a:rPr sz="950" b="0" i="0">
                <a:solidFill>
                  <a:srgbClr val="1C1C1E"/>
                </a:solidFill>
                <a:latin typeface="Consolas"/>
              </a:rPr>
              <a:t>if new["status"] != "approved": raise RegistryError(...)   # only approved versions</a:t>
            </a:r>
          </a:p>
          <a:p>
            <a:pPr>
              <a:lnSpc>
                <a:spcPct val="134000"/>
              </a:lnSpc>
              <a:spcBef>
                <a:spcPts val="0"/>
              </a:spcBef>
              <a:spcAft>
                <a:spcPts val="0"/>
              </a:spcAft>
            </a:pPr>
            <a:r>
              <a:rPr sz="950" b="0" i="0">
                <a:solidFill>
                  <a:srgbClr val="1C1C1E"/>
                </a:solidFill>
                <a:latin typeface="Consolas"/>
              </a:rPr>
              <a:t>self._check_not_blocked(m)                        # an open blocking finding stops it first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proof = obligations(new, incumbent)               # L-7 refinement AND L-12 variance</a:t>
            </a:r>
          </a:p>
          <a:p>
            <a:pPr>
              <a:lnSpc>
                <a:spcPct val="134000"/>
              </a:lnSpc>
              <a:spcBef>
                <a:spcPts val="0"/>
              </a:spcBef>
              <a:spcAft>
                <a:spcPts val="0"/>
              </a:spcAft>
            </a:pPr>
            <a:r>
              <a:rPr sz="950" b="0" i="0">
                <a:solidFill>
                  <a:srgbClr val="1C1C1E"/>
                </a:solidFill>
                <a:latin typeface="Consolas"/>
              </a:rPr>
              <a:t>if not (proof["refinement"]["holds"] and proof["variance"]["ok"]):</a:t>
            </a:r>
          </a:p>
          <a:p>
            <a:pPr>
              <a:lnSpc>
                <a:spcPct val="134000"/>
              </a:lnSpc>
              <a:spcBef>
                <a:spcPts val="0"/>
              </a:spcBef>
              <a:spcAft>
                <a:spcPts val="0"/>
              </a:spcAft>
            </a:pPr>
            <a:r>
              <a:rPr sz="950" b="0" i="0">
                <a:solidFill>
                  <a:srgbClr val="1C1C1E"/>
                </a:solidFill>
                <a:latin typeface="Consolas"/>
              </a:rPr>
              <a:t>    raise RegistryError(f"alias move refused: {reason}")     # the refusal names the clause</a:t>
            </a:r>
          </a:p>
          <a:p>
            <a:pPr>
              <a:lnSpc>
                <a:spcPct val="134000"/>
              </a:lnSpc>
              <a:spcBef>
                <a:spcPts val="0"/>
              </a:spcBef>
              <a:spcAft>
                <a:spcPts val="0"/>
              </a:spcAft>
            </a:pPr>
            <a:r>
              <a:rPr sz="950" b="0" i="0">
                <a:solidFill>
                  <a:srgbClr val="1C1C1E"/>
                </a:solidFill>
                <a:latin typeface="Consolas"/>
              </a:rPr>
              <a:t>policy.check("alias:move", {...})                 # policy may refuse; it may never permit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aliases.point(...); history.add({..., **proof}); evidence.append("alias_moved", ...)</a:t>
            </a:r>
          </a:p>
        </p:txBody>
      </p:sp>
      <p:sp>
        <p:nvSpPr>
          <p:cNvPr id="14" name="TextBox 13"/>
          <p:cNvSpPr txBox="1"/>
          <p:nvPr/>
        </p:nvSpPr>
        <p:spPr>
          <a:xfrm>
            <a:off x="777240" y="4417032"/>
            <a:ext cx="5850468" cy="14630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Substitutability is a proof, not a meeting. </a:t>
            </a:r>
            <a:r>
              <a:rPr sz="1100" b="0" i="0">
                <a:solidFill>
                  <a:srgbClr val="1C1C1E"/>
                </a:solidFill>
                <a:latin typeface="Calibri"/>
              </a:rPr>
              <a:t>Consumers bind to the alias, so they cannot be broken and are not redeployed. The proof is stored on the history row, which is what makes “why was this allowed” answerable a year later.</a:t>
            </a:r>
          </a:p>
        </p:txBody>
      </p:sp>
      <p:sp>
        <p:nvSpPr>
          <p:cNvPr id="15" name="Rectangle 14"/>
          <p:cNvSpPr/>
          <p:nvPr/>
        </p:nvSpPr>
        <p:spPr>
          <a:xfrm>
            <a:off x="6946824" y="441703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4417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453590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is not here. </a:t>
            </a:r>
            <a:r>
              <a:rPr sz="1050" b="0" i="0">
                <a:solidFill>
                  <a:srgbClr val="1C1C1E"/>
                </a:solidFill>
                <a:latin typeface="Calibri"/>
              </a:rPr>
              <a:t>No advisory lock serialising per (model, environment), no transaction around the three writes, no cache pre-warm and no scheduled post-move comparison. Each was described as built and none is. The three writes in the last line are the ones to fix first.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CORE/FEATURES/ASSEMBLY.PY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ASSEMBLY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gate = static_check(req)                       # LAYER 1</a:t>
            </a:r>
          </a:p>
          <a:p>
            <a:pPr>
              <a:lnSpc>
                <a:spcPct val="134000"/>
              </a:lnSpc>
              <a:spcBef>
                <a:spcPts val="0"/>
              </a:spcBef>
              <a:spcAft>
                <a:spcPts val="0"/>
              </a:spcAft>
            </a:pPr>
            <a:r>
              <a:rPr sz="950" b="0" i="0">
                <a:solidFill>
                  <a:srgbClr val="1C1C1E"/>
                </a:solidFill>
                <a:latin typeface="Consolas"/>
              </a:rPr>
              <a:t>if not gate.passed:</a:t>
            </a:r>
          </a:p>
          <a:p>
            <a:pPr>
              <a:lnSpc>
                <a:spcPct val="134000"/>
              </a:lnSpc>
              <a:spcBef>
                <a:spcPts val="0"/>
              </a:spcBef>
              <a:spcAft>
                <a:spcPts val="0"/>
              </a:spcAft>
            </a:pPr>
            <a:r>
              <a:rPr sz="950" b="0" i="0">
                <a:solidFill>
                  <a:srgbClr val="1C1C1E"/>
                </a:solidFill>
                <a:latin typeface="Consolas"/>
              </a:rPr>
              <a:t>    raise AssemblyRejected(gate.detail)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rows   = self._join(spine, views, as_of)       # per view, per row</a:t>
            </a:r>
          </a:p>
          <a:p>
            <a:pPr>
              <a:lnSpc>
                <a:spcPct val="134000"/>
              </a:lnSpc>
              <a:spcBef>
                <a:spcPts val="0"/>
              </a:spcBef>
              <a:spcAft>
                <a:spcPts val="0"/>
              </a:spcAft>
            </a:pPr>
            <a:r>
              <a:rPr sz="950" b="0" i="0">
                <a:solidFill>
                  <a:srgbClr val="1C1C1E"/>
                </a:solidFill>
                <a:latin typeface="Consolas"/>
              </a:rPr>
              <a:t>report = verify_sampled(rows, self._recompute) # LAYER 2</a:t>
            </a:r>
          </a:p>
          <a:p>
            <a:pPr>
              <a:lnSpc>
                <a:spcPct val="134000"/>
              </a:lnSpc>
              <a:spcBef>
                <a:spcPts val="0"/>
              </a:spcBef>
              <a:spcAft>
                <a:spcPts val="0"/>
              </a:spcAft>
            </a:pPr>
            <a:r>
              <a:rPr sz="950" b="0" i="0">
                <a:solidFill>
                  <a:srgbClr val="1C1C1E"/>
                </a:solidFill>
                <a:latin typeface="Consolas"/>
              </a:rPr>
              <a:t>report.leakage = detect_leakage(rows)          # purity screen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self._persist(name, rows, as_of, report, ...)  # Delta + evidence</a:t>
            </a:r>
          </a:p>
        </p:txBody>
      </p:sp>
      <p:sp>
        <p:nvSpPr>
          <p:cNvPr id="14" name="Rectangle 13"/>
          <p:cNvSpPr/>
          <p:nvPr/>
        </p:nvSpPr>
        <p:spPr>
          <a:xfrm>
            <a:off x="6840452" y="1353312"/>
            <a:ext cx="4574002"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840452"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041620" y="1444752"/>
            <a:ext cx="420824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7" name="TextBox 16"/>
          <p:cNvSpPr txBox="1"/>
          <p:nvPr/>
        </p:nvSpPr>
        <p:spPr>
          <a:xfrm>
            <a:off x="7041620" y="1746504"/>
            <a:ext cx="4208242"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knowable_by = min(label_ts, as_of)</a:t>
            </a:r>
          </a:p>
          <a:p>
            <a:pPr>
              <a:lnSpc>
                <a:spcPct val="134000"/>
              </a:lnSpc>
              <a:spcBef>
                <a:spcPts val="0"/>
              </a:spcBef>
              <a:spcAft>
                <a:spcPts val="0"/>
              </a:spcAft>
            </a:pPr>
            <a:r>
              <a:rPr sz="950" b="0" i="0">
                <a:solidFill>
                  <a:srgbClr val="1C1C1E"/>
                </a:solidFill>
                <a:latin typeface="Consolas"/>
              </a:rPr>
              <a:t>eligible = [r for r in records</a:t>
            </a:r>
          </a:p>
          <a:p>
            <a:pPr>
              <a:lnSpc>
                <a:spcPct val="134000"/>
              </a:lnSpc>
              <a:spcBef>
                <a:spcPts val="0"/>
              </a:spcBef>
              <a:spcAft>
                <a:spcPts val="0"/>
              </a:spcAft>
            </a:pPr>
            <a:r>
              <a:rPr sz="950" b="0" i="0">
                <a:solidFill>
                  <a:srgbClr val="1C1C1E"/>
                </a:solidFill>
                <a:latin typeface="Consolas"/>
              </a:rPr>
              <a:t>            if r[VALID_TIME]  &lt;= label_ts</a:t>
            </a:r>
          </a:p>
          <a:p>
            <a:pPr>
              <a:lnSpc>
                <a:spcPct val="134000"/>
              </a:lnSpc>
              <a:spcBef>
                <a:spcPts val="0"/>
              </a:spcBef>
              <a:spcAft>
                <a:spcPts val="0"/>
              </a:spcAft>
            </a:pPr>
            <a:r>
              <a:rPr sz="950" b="0" i="0">
                <a:solidFill>
                  <a:srgbClr val="1C1C1E"/>
                </a:solidFill>
                <a:latin typeface="Consolas"/>
              </a:rPr>
              <a:t>            and r[INGEST_TIME] &lt;= knowable_by]</a:t>
            </a:r>
          </a:p>
          <a:p>
            <a:pPr>
              <a:lnSpc>
                <a:spcPct val="134000"/>
              </a:lnSpc>
              <a:spcBef>
                <a:spcPts val="0"/>
              </a:spcBef>
              <a:spcAft>
                <a:spcPts val="0"/>
              </a:spcAft>
            </a:pPr>
            <a:r>
              <a:rPr sz="950" b="0" i="0">
                <a:solidFill>
                  <a:srgbClr val="1C1C1E"/>
                </a:solidFill>
                <a:latin typeface="Consolas"/>
              </a:rPr>
              <a:t>return max(eligible,</a:t>
            </a:r>
          </a:p>
          <a:p>
            <a:pPr>
              <a:lnSpc>
                <a:spcPct val="134000"/>
              </a:lnSpc>
              <a:spcBef>
                <a:spcPts val="0"/>
              </a:spcBef>
              <a:spcAft>
                <a:spcPts val="0"/>
              </a:spcAft>
            </a:pPr>
            <a:r>
              <a:rPr sz="950" b="0" i="0">
                <a:solidFill>
                  <a:srgbClr val="1C1C1E"/>
                </a:solidFill>
                <a:latin typeface="Consolas"/>
              </a:rPr>
              <a:t>           key=lambda r: (r[VALID_TIME],</a:t>
            </a:r>
          </a:p>
          <a:p>
            <a:pPr>
              <a:lnSpc>
                <a:spcPct val="134000"/>
              </a:lnSpc>
              <a:spcBef>
                <a:spcPts val="0"/>
              </a:spcBef>
              <a:spcAft>
                <a:spcPts val="0"/>
              </a:spcAft>
            </a:pPr>
            <a:r>
              <a:rPr sz="950" b="0" i="0">
                <a:solidFill>
                  <a:srgbClr val="1C1C1E"/>
                </a:solidFill>
                <a:latin typeface="Consolas"/>
              </a:rPr>
              <a:t>                          r[INGEST_TIME]))</a:t>
            </a:r>
          </a:p>
        </p:txBody>
      </p:sp>
      <p:sp>
        <p:nvSpPr>
          <p:cNvPr id="18" name="TextBox 17"/>
          <p:cNvSpPr txBox="1"/>
          <p:nvPr/>
        </p:nvSpPr>
        <p:spPr>
          <a:xfrm>
            <a:off x="777240" y="4009621"/>
            <a:ext cx="10637215" cy="146304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Two clocks, and the min is the reproducibility guarantee. </a:t>
            </a:r>
            <a:r>
              <a:rPr sz="1150" b="0" i="0">
                <a:solidFill>
                  <a:srgbClr val="1C1C1E"/>
                </a:solidFill>
                <a:latin typeface="Calibri"/>
              </a:rPr>
              <a:t>Valid time is what was true by the label; transaction time is what was knowable by it. Bounding ingest by </a:t>
            </a:r>
            <a:r>
              <a:rPr sz="1150" b="0" i="0">
                <a:solidFill>
                  <a:srgbClr val="1C1C1E"/>
                </a:solidFill>
                <a:latin typeface="Consolas"/>
              </a:rPr>
              <a:t>min(ℓ, a)</a:t>
            </a:r>
            <a:r>
              <a:rPr sz="1150" b="0" i="0">
                <a:solidFill>
                  <a:srgbClr val="1C1C1E"/>
                </a:solidFill>
                <a:latin typeface="Calibri"/>
              </a:rPr>
              <a:t> makes every a ≥ ℓ give the same answer: the row assembled the day the label matured and the same row re-assembled a year later are identical, however many restatements arrived in between. Delta supplies the second clock — a version pinned per view, read through </a:t>
            </a:r>
            <a:r>
              <a:rPr sz="1150" b="0" i="0">
                <a:solidFill>
                  <a:srgbClr val="1C1C1E"/>
                </a:solidFill>
                <a:latin typeface="Consolas"/>
              </a:rPr>
              <a:t>deltalake</a:t>
            </a:r>
            <a:r>
              <a:rPr sz="1150" b="0" i="0">
                <a:solidFill>
                  <a:srgbClr val="1C1C1E"/>
                </a:solidFill>
                <a:latin typeface="Calibri"/>
              </a:rPr>
              <a:t>. There is no Spark here: the join is a Python loop over the rows of a pinned Delta version, which is the same operator at a smaller scale and is where a cluster engine would go.</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graphicFrame>
        <p:nvGraphicFramePr>
          <p:cNvPr id="10" name="Table 9"/>
          <p:cNvGraphicFramePr>
            <a:graphicFrameLocks noGrp="1"/>
          </p:cNvGraphicFramePr>
          <p:nvPr/>
        </p:nvGraphicFramePr>
        <p:xfrm>
          <a:off x="777240" y="1353312"/>
          <a:ext cx="10637214" cy="2308885"/>
        </p:xfrm>
        <a:graphic>
          <a:graphicData uri="http://schemas.openxmlformats.org/drawingml/2006/table">
            <a:tbl>
              <a:tblPr firstRow="1">
                <a:tableStyleId>{5C22544A-7EE6-4342-B048-85BDC9FD1C3A}</a:tableStyleId>
              </a:tblPr>
              <a:tblGrid>
                <a:gridCol w="1834002"/>
                <a:gridCol w="4951807"/>
                <a:gridCol w="38514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58368">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Requires BOTH a valid-time and a transaction-time bound on the assembly. Missing either and it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658368">
                <a:tc>
                  <a:txBody>
                    <a:bodyPr wrap="square"/>
                    <a:lstStyle/>
                    <a:p>
                      <a:pPr algn="l"/>
                      <a:r>
                        <a:rPr sz="1050" b="1">
                          <a:solidFill>
                            <a:srgbClr val="A51C30"/>
                          </a:solidFill>
                          <a:latin typeface="Calibri"/>
                        </a:rPr>
                        <a:t>2 · Sampling</a:t>
                      </a:r>
                    </a:p>
                  </a:txBody>
                  <a:tcPr marL="82296" marR="64008" marT="32004" marB="32004" anchor="ctr">
                    <a:solidFill>
                      <a:srgbClr val="F6F3EF"/>
                    </a:solidFill>
                  </a:tcPr>
                </a:tc>
                <a:tc>
                  <a:txBody>
                    <a:bodyPr wrap="square"/>
                    <a:lstStyle/>
                    <a:p>
                      <a:pPr algn="l"/>
                      <a:r>
                        <a:rPr sz="1050" b="0">
                          <a:solidFill>
                            <a:srgbClr val="1C1C1E"/>
                          </a:solidFill>
                          <a:latin typeface="Calibri"/>
                        </a:rPr>
                        <a:t>One recomputation of 200 sampled rows by a second code path, compared against the assembled values. Rows are bucketed by label value only</a:t>
                      </a:r>
                    </a:p>
                  </a:txBody>
                  <a:tcPr marL="82296" marR="64008" marT="32004" marB="32004" anchor="ctr">
                    <a:solidFill>
                      <a:srgbClr val="F6F3EF"/>
                    </a:solidFill>
                  </a:tcPr>
                </a:tc>
                <a:tc>
                  <a:txBody>
                    <a:bodyPr wrap="square"/>
                    <a:lstStyle/>
                    <a:p>
                      <a:pPr algn="l"/>
                      <a:r>
                        <a:rPr sz="1050" b="0">
                          <a:solidFill>
                            <a:srgbClr val="1C1C1E"/>
                          </a:solidFill>
                          <a:latin typeface="Calibri"/>
                        </a:rPr>
                        <a:t>Implementation drift between the two paths. NOT a wrong rule: both paths would be wrong together</a:t>
                      </a:r>
                    </a:p>
                  </a:txBody>
                  <a:tcPr marL="82296" marR="64008" marT="32004" marB="32004" anchor="ctr">
                    <a:solidFill>
                      <a:srgbClr val="F6F3EF"/>
                    </a:solidFill>
                  </a:tcPr>
                </a:tc>
              </a:tr>
              <a:tr h="658368">
                <a:tc>
                  <a:txBody>
                    <a:bodyPr wrap="square"/>
                    <a:lstStyle/>
                    <a:p>
                      <a:pPr algn="l"/>
                      <a:r>
                        <a:rPr sz="1050" b="1">
                          <a:solidFill>
                            <a:srgbClr val="A51C30"/>
                          </a:solidFill>
                          <a:latin typeface="Calibri"/>
                        </a:rPr>
                        <a:t>3 · Injection</a:t>
                      </a:r>
                    </a:p>
                  </a:txBody>
                  <a:tcPr marL="82296" marR="64008" marT="32004" marB="32004" anchor="ctr">
                    <a:solidFill>
                      <a:srgbClr val="FFFFFF"/>
                    </a:solidFill>
                  </a:tcPr>
                </a:tc>
                <a:tc>
                  <a:txBody>
                    <a:bodyPr wrap="square"/>
                    <a:lstStyle/>
                    <a:p>
                      <a:pPr algn="l"/>
                      <a:r>
                        <a:rPr sz="1050" b="0">
                          <a:solidFill>
                            <a:srgbClr val="1C1C1E"/>
                          </a:solidFill>
                          <a:latin typeface="Calibri"/>
                        </a:rPr>
                        <a:t>tests/test_features.py plants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That the verifier still works — the failure mode that would otherwise be silent</a:t>
                      </a:r>
                    </a:p>
                  </a:txBody>
                  <a:tcPr marL="82296" marR="64008" marT="32004" marB="32004" anchor="ctr">
                    <a:solidFill>
                      <a:srgbClr val="FFFFFF"/>
                    </a:solidFill>
                  </a:tcPr>
                </a:tc>
              </a:tr>
            </a:tbl>
          </a:graphicData>
        </a:graphic>
      </p:graphicFrame>
      <p:sp>
        <p:nvSpPr>
          <p:cNvPr id="11" name="Rectangle 10"/>
          <p:cNvSpPr/>
          <p:nvPr/>
        </p:nvSpPr>
        <p:spPr>
          <a:xfrm>
            <a:off x="777240" y="3918229"/>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4027957"/>
            <a:ext cx="9997135" cy="1207008"/>
          </a:xfrm>
          <a:prstGeom prst="rect">
            <a:avLst/>
          </a:prstGeom>
          <a:noFill/>
        </p:spPr>
        <p:txBody>
          <a:bodyPr wrap="square" lIns="0" rIns="0" tIns="0" bIns="0" anchor="t">
            <a:spAutoFit/>
          </a:bodyPr>
          <a:lstStyle/>
          <a:p>
            <a:pPr algn="l">
              <a:spcBef>
                <a:spcPts val="0"/>
              </a:spcBef>
              <a:spcAft>
                <a:spcPts val="500"/>
              </a:spcAft>
            </a:pPr>
            <a:r>
              <a:rPr sz="1350" b="1" i="0">
                <a:solidFill>
                  <a:srgbClr val="FFFFFF"/>
                </a:solidFill>
                <a:latin typeface="Georgia"/>
              </a:rPr>
              <a:t>What layer 2 does not claim</a:t>
            </a:r>
          </a:p>
          <a:p>
            <a:pPr>
              <a:lnSpc>
                <a:spcPct val="126000"/>
              </a:lnSpc>
              <a:spcBef>
                <a:spcPts val="0"/>
              </a:spcBef>
              <a:spcAft>
                <a:spcPts val="0"/>
              </a:spcAft>
            </a:pPr>
            <a:r>
              <a:rPr sz="1100" b="1" i="0">
                <a:solidFill>
                  <a:srgbClr val="FFFFFF"/>
                </a:solidFill>
                <a:latin typeface="Calibri"/>
              </a:rPr>
              <a:t>The sample is 200, hard-coded; the stratum is the label value and nothing else; and no power computation exists anywhere in the repository. </a:t>
            </a:r>
            <a:r>
              <a:rPr sz="1100" b="0" i="0">
                <a:solidFill>
                  <a:srgbClr val="F6E0E4"/>
                </a:solidFill>
                <a:latin typeface="Calibri"/>
              </a:rPr>
              <a:t>So “detects systematic violations at a stated statistical power” was a claim about a number nobody computes. It catches the two paths disagreeing. A leak confined to a rare, high-value segment is exactly where it fails, and layer 1 remains the only one that proves something about the data.</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WOULD BE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85031"/>
            <a:ext cx="4893118" cy="16459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Law L-17 is one of the five that do not run. </a:t>
            </a:r>
            <a:r>
              <a:rPr sz="1100" b="0" i="0">
                <a:solidFill>
                  <a:srgbClr val="1C1C1E"/>
                </a:solidFill>
                <a:latin typeface="Calibri"/>
              </a:rPr>
              <a:t>It is a runtime check by nature: the namespace served must equal the namespace pinned, compared continuously, because nothing inspectable before deployment can see it. </a:t>
            </a:r>
            <a:r>
              <a:rPr sz="1100" b="1" i="0">
                <a:solidFill>
                  <a:srgbClr val="A51C30"/>
                </a:solidFill>
                <a:latin typeface="Calibri"/>
              </a:rPr>
              <a:t>Half of it exists: </a:t>
            </a:r>
            <a:r>
              <a:rPr sz="1100" b="0" i="0">
                <a:solidFill>
                  <a:srgbClr val="1C1C1E"/>
                </a:solidFill>
                <a:latin typeface="Calibri"/>
              </a:rPr>
              <a:t>core/features/contracts.py computes what serving must read. There is no online store to compare it against, so the table on the right is the design and not the behaviour.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TELEMETRY AND EVALUATION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reads two streams, and the gap between them is the point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14983"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3" name="Rectangle 12"/>
          <p:cNvSpPr/>
          <p:nvPr/>
        </p:nvSpPr>
        <p:spPr>
          <a:xfrm>
            <a:off x="6324447"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324447" y="1764792"/>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562191"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6" name="Table 15"/>
          <p:cNvGraphicFramePr>
            <a:graphicFrameLocks noGrp="1"/>
          </p:cNvGraphicFramePr>
          <p:nvPr/>
        </p:nvGraphicFramePr>
        <p:xfrm>
          <a:off x="777240" y="2862072"/>
          <a:ext cx="6382328" cy="2666896"/>
        </p:xfrm>
        <a:graphic>
          <a:graphicData uri="http://schemas.openxmlformats.org/drawingml/2006/table">
            <a:tbl>
              <a:tblPr firstRow="1">
                <a:tableStyleId>{5C22544A-7EE6-4342-B048-85BDC9FD1C3A}</a:tableStyleId>
              </a:tblPr>
              <a:tblGrid>
                <a:gridCol w="2644107"/>
                <a:gridCol w="3738221"/>
              </a:tblGrid>
              <a:tr h="329184">
                <a:tc>
                  <a:txBody>
                    <a:bodyPr wrap="square"/>
                    <a:lstStyle/>
                    <a:p>
                      <a:pPr algn="l"/>
                      <a:r>
                        <a:rPr sz="1000" b="1">
                          <a:solidFill>
                            <a:srgbClr val="FFFFFF"/>
                          </a:solidFill>
                          <a:latin typeface="Calibri"/>
                        </a:rPr>
                        <a:t>Ingestion rule</a:t>
                      </a:r>
                    </a:p>
                  </a:txBody>
                  <a:tcPr marL="82296" marR="64008" marT="32004" marB="32004" anchor="ctr">
                    <a:solidFill>
                      <a:srgbClr val="A51C30"/>
                    </a:solidFill>
                  </a:tcPr>
                </a:tc>
                <a:tc>
                  <a:txBody>
                    <a:bodyPr wrap="square"/>
                    <a:lstStyle/>
                    <a:p>
                      <a:pPr algn="l"/>
                      <a:r>
                        <a:rPr sz="100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950" b="0">
                          <a:solidFill>
                            <a:srgbClr val="1C1C1E"/>
                          </a:solidFill>
                          <a:latin typeface="Calibri"/>
                        </a:rPr>
                        <a:t>Collectors deliver at least once; double-counting a redelivered batch reports a population that never existed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95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95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950" b="0">
                          <a:solidFill>
                            <a:srgbClr val="1C1C1E"/>
                          </a:solidFill>
                          <a:latin typeface="Calibri"/>
                        </a:rPr>
                        <a:t>A statistic that cannot say what population it speaks for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95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95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
        <p:nvSpPr>
          <p:cNvPr id="17" name="TextBox 16"/>
          <p:cNvSpPr txBox="1"/>
          <p:nvPr/>
        </p:nvSpPr>
        <p:spPr>
          <a:xfrm>
            <a:off x="7478685" y="2862072"/>
            <a:ext cx="3935769" cy="137160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Delayed labels are the hard part</a:t>
            </a:r>
          </a:p>
          <a:p>
            <a:pPr>
              <a:lnSpc>
                <a:spcPct val="124000"/>
              </a:lnSpc>
              <a:spcBef>
                <a:spcPts val="0"/>
              </a:spcBef>
              <a:spcAft>
                <a:spcPts val="600"/>
              </a:spcAft>
            </a:pPr>
            <a:r>
              <a:rPr sz="1050" b="0" i="0">
                <a:solidFill>
                  <a:srgbClr val="4A4F57"/>
                </a:solidFill>
                <a:latin typeface="Calibri"/>
              </a:rPr>
              <a:t>A monitor declares a label_delay; performance is computed only over the vintage cohort whose outcome window has closed, and an immature cohort is refused rather than reported.</a:t>
            </a:r>
          </a:p>
          <a:p>
            <a:pPr>
              <a:lnSpc>
                <a:spcPct val="124000"/>
              </a:lnSpc>
              <a:spcBef>
                <a:spcPts val="0"/>
              </a:spcBef>
              <a:spcAft>
                <a:spcPts val="600"/>
              </a:spcAft>
            </a:pPr>
            <a:r>
              <a:rPr sz="1050" b="1" i="0">
                <a:solidFill>
                  <a:srgbClr val="1C1C1E"/>
                </a:solidFill>
                <a:latin typeface="Calibri"/>
              </a:rPr>
              <a:t>An AUC on immature outcomes is worse than no AUC</a:t>
            </a:r>
            <a:r>
              <a:rPr sz="1050" b="0" i="0">
                <a:solidFill>
                  <a:srgbClr val="4A4F57"/>
                </a:solidFill>
                <a:latin typeface="Calibri"/>
              </a:rPr>
              <a:t> — it is confidently wrong in a direction nobody checks.</a:t>
            </a:r>
          </a:p>
        </p:txBody>
      </p:sp>
      <p:graphicFrame>
        <p:nvGraphicFramePr>
          <p:cNvPr id="18" name="Table 17"/>
          <p:cNvGraphicFramePr>
            <a:graphicFrameLocks noGrp="1"/>
          </p:cNvGraphicFramePr>
          <p:nvPr/>
        </p:nvGraphicFramePr>
        <p:xfrm>
          <a:off x="7478685" y="4553712"/>
          <a:ext cx="3935769" cy="2178480"/>
        </p:xfrm>
        <a:graphic>
          <a:graphicData uri="http://schemas.openxmlformats.org/drawingml/2006/table">
            <a:tbl>
              <a:tblPr firstRow="1">
                <a:tableStyleId>{5C22544A-7EE6-4342-B048-85BDC9FD1C3A}</a:tableStyleId>
              </a:tblPr>
              <a:tblGrid>
                <a:gridCol w="1311923"/>
                <a:gridCol w="2623846"/>
              </a:tblGrid>
              <a:tr h="329184">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Default metrics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T1 calibrated</a:t>
                      </a:r>
                    </a:p>
                  </a:txBody>
                  <a:tcPr marL="82296" marR="64008" marT="32004" marB="32004" anchor="ctr">
                    <a:solidFill>
                      <a:srgbClr val="FFFFFF"/>
                    </a:solidFill>
                  </a:tcPr>
                </a:tc>
                <a:tc>
                  <a:txBody>
                    <a:bodyPr wrap="square"/>
                    <a:lstStyle/>
                    <a:p>
                      <a:pPr algn="l"/>
                      <a:r>
                        <a:rPr sz="950" b="0">
                          <a:solidFill>
                            <a:srgbClr val="1C1C1E"/>
                          </a:solidFill>
                          <a:latin typeface="Calibri"/>
                        </a:rPr>
                        <a:t>Calibration error, arbitrage-free checks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T2 / T3</a:t>
                      </a:r>
                    </a:p>
                  </a:txBody>
                  <a:tcPr marL="82296" marR="64008" marT="32004" marB="32004" anchor="ctr">
                    <a:solidFill>
                      <a:srgbClr val="F6F3EF"/>
                    </a:solidFill>
                  </a:tcPr>
                </a:tc>
                <a:tc>
                  <a:txBody>
                    <a:bodyPr wrap="square"/>
                    <a:lstStyle/>
                    <a:p>
                      <a:pPr algn="l"/>
                      <a:r>
                        <a:rPr sz="950" b="0">
                          <a:solidFill>
                            <a:srgbClr val="1C1C1E"/>
                          </a:solidFill>
                          <a:latin typeface="Calibri"/>
                        </a:rPr>
                        <a:t>KS, AUC, PSI, Hosmer–Lemeshow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T4 adaptive</a:t>
                      </a:r>
                    </a:p>
                  </a:txBody>
                  <a:tcPr marL="82296" marR="64008" marT="32004" marB="32004" anchor="ctr">
                    <a:solidFill>
                      <a:srgbClr val="FFFFFF"/>
                    </a:solidFill>
                  </a:tcPr>
                </a:tc>
                <a:tc>
                  <a:txBody>
                    <a:bodyPr wrap="square"/>
                    <a:lstStyle/>
                    <a:p>
                      <a:pPr algn="l"/>
                      <a:r>
                        <a:rPr sz="950" b="0">
                          <a:solidFill>
                            <a:srgbClr val="1C1C1E"/>
                          </a:solidFill>
                          <a:latin typeface="Calibri"/>
                        </a:rPr>
                        <a:t>Parameter-change magnitude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T5 foundation</a:t>
                      </a:r>
                    </a:p>
                  </a:txBody>
                  <a:tcPr marL="82296" marR="64008" marT="32004" marB="32004" anchor="ctr">
                    <a:solidFill>
                      <a:srgbClr val="F6F3EF"/>
                    </a:solidFill>
                  </a:tcPr>
                </a:tc>
                <a:tc>
                  <a:txBody>
                    <a:bodyPr wrap="square"/>
                    <a:lstStyle/>
                    <a:p>
                      <a:pPr algn="l"/>
                      <a:r>
                        <a:rPr sz="950" b="0">
                          <a:solidFill>
                            <a:srgbClr val="1C1C1E"/>
                          </a:solidFill>
                          <a:latin typeface="Calibri"/>
                        </a:rPr>
                        <a:t>Groundedness, hallucination rate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T6 opaque</a:t>
                      </a:r>
                    </a:p>
                  </a:txBody>
                  <a:tcPr marL="82296" marR="64008" marT="32004" marB="32004" anchor="ctr">
                    <a:solidFill>
                      <a:srgbClr val="FFFFFF"/>
                    </a:solidFill>
                  </a:tcPr>
                </a:tc>
                <a:tc>
                  <a:txBody>
                    <a:bodyPr wrap="square"/>
                    <a:lstStyle/>
                    <a:p>
                      <a:pPr algn="l"/>
                      <a:r>
                        <a:rPr sz="950" b="0">
                          <a:solidFill>
                            <a:srgbClr val="1C1C1E"/>
                          </a:solidFill>
                          <a:latin typeface="Calibri"/>
                        </a:rPr>
                        <a:t>Own-outcomes divergence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T8 authored</a:t>
                      </a:r>
                    </a:p>
                  </a:txBody>
                  <a:tcPr marL="82296" marR="64008" marT="32004" marB="32004" anchor="ctr">
                    <a:solidFill>
                      <a:srgbClr val="F6F3EF"/>
                    </a:solidFill>
                  </a:tcPr>
                </a:tc>
                <a:tc>
                  <a:txBody>
                    <a:bodyPr wrap="square"/>
                    <a:lstStyle/>
                    <a:p>
                      <a:pPr algn="l"/>
                      <a:r>
                        <a:rPr sz="95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CORE/EVIDENCE/ENGINE.PY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self.repo.db.transaction():        # read the head, insert head+1</a:t>
            </a:r>
          </a:p>
          <a:p>
            <a:pPr>
              <a:lnSpc>
                <a:spcPct val="134000"/>
              </a:lnSpc>
              <a:spcBef>
                <a:spcPts val="0"/>
              </a:spcBef>
              <a:spcAft>
                <a:spcPts val="0"/>
              </a:spcAft>
            </a:pPr>
            <a:r>
              <a:rPr sz="950" b="0" i="0">
                <a:solidFill>
                  <a:srgbClr val="1C1C1E"/>
                </a:solidFill>
                <a:latin typeface="Consolas"/>
              </a:rPr>
              <a:t>    prev_seq, prev_hash = self.head()</a:t>
            </a:r>
          </a:p>
          <a:p>
            <a:pPr>
              <a:lnSpc>
                <a:spcPct val="134000"/>
              </a:lnSpc>
              <a:spcBef>
                <a:spcPts val="0"/>
              </a:spcBef>
              <a:spcAft>
                <a:spcPts val="0"/>
              </a:spcAft>
            </a:pPr>
            <a:r>
              <a:rPr sz="950" b="0" i="0">
                <a:solidFill>
                  <a:srgbClr val="1C1C1E"/>
                </a:solidFill>
                <a:latin typeface="Consolas"/>
              </a:rPr>
              <a:t>    stored = {} if personal_data else payload    # law L-18</a:t>
            </a:r>
          </a:p>
          <a:p>
            <a:pPr>
              <a:lnSpc>
                <a:spcPct val="134000"/>
              </a:lnSpc>
              <a:spcBef>
                <a:spcPts val="0"/>
              </a:spcBef>
              <a:spcAft>
                <a:spcPts val="0"/>
              </a:spcAft>
            </a:pPr>
            <a:r>
              <a:rPr sz="950" b="0" i="0">
                <a:solidFill>
                  <a:srgbClr val="1C1C1E"/>
                </a:solidFill>
                <a:latin typeface="Consolas"/>
              </a:rPr>
              <a:t>    content_hash = canonical_digest(</a:t>
            </a:r>
          </a:p>
          <a:p>
            <a:pPr>
              <a:lnSpc>
                <a:spcPct val="134000"/>
              </a:lnSpc>
              <a:spcBef>
                <a:spcPts val="0"/>
              </a:spcBef>
              <a:spcAft>
                <a:spcPts val="0"/>
              </a:spcAft>
            </a:pPr>
            <a:r>
              <a:rPr sz="950" b="0" i="0">
                <a:solidFill>
                  <a:srgbClr val="1C1C1E"/>
                </a:solidFill>
                <a:latin typeface="Consolas"/>
              </a:rPr>
              <a:t>        {..., "payload": stored,</a:t>
            </a:r>
          </a:p>
          <a:p>
            <a:pPr>
              <a:lnSpc>
                <a:spcPct val="134000"/>
              </a:lnSpc>
              <a:spcBef>
                <a:spcPts val="0"/>
              </a:spcBef>
              <a:spcAft>
                <a:spcPts val="0"/>
              </a:spcAft>
            </a:pPr>
            <a:r>
              <a:rPr sz="950" b="0" i="0">
                <a:solidFill>
                  <a:srgbClr val="1C1C1E"/>
                </a:solidFill>
                <a:latin typeface="Consolas"/>
              </a:rPr>
              <a:t>         "recorded_by": actor, "trust": trust})</a:t>
            </a:r>
          </a:p>
          <a:p>
            <a:pPr>
              <a:lnSpc>
                <a:spcPct val="134000"/>
              </a:lnSpc>
              <a:spcBef>
                <a:spcPts val="0"/>
              </a:spcBef>
              <a:spcAft>
                <a:spcPts val="0"/>
              </a:spcAft>
            </a:pPr>
            <a:r>
              <a:rPr sz="950" b="0" i="0">
                <a:solidFill>
                  <a:srgbClr val="1C1C1E"/>
                </a:solidFill>
                <a:latin typeface="Consolas"/>
              </a:rPr>
              <a:t>    self.repo.add({</a:t>
            </a:r>
          </a:p>
          <a:p>
            <a:pPr>
              <a:lnSpc>
                <a:spcPct val="134000"/>
              </a:lnSpc>
              <a:spcBef>
                <a:spcPts val="0"/>
              </a:spcBef>
              <a:spcAft>
                <a:spcPts val="0"/>
              </a:spcAft>
            </a:pPr>
            <a:r>
              <a:rPr sz="950" b="0" i="0">
                <a:solidFill>
                  <a:srgbClr val="1C1C1E"/>
                </a:solidFill>
                <a:latin typeface="Consolas"/>
              </a:rPr>
              <a:t>        "seq": prev_seq + 1, "payload": stored,</a:t>
            </a:r>
          </a:p>
          <a:p>
            <a:pPr>
              <a:lnSpc>
                <a:spcPct val="134000"/>
              </a:lnSpc>
              <a:spcBef>
                <a:spcPts val="0"/>
              </a:spcBef>
              <a:spcAft>
                <a:spcPts val="0"/>
              </a:spcAft>
            </a:pPr>
            <a:r>
              <a:rPr sz="950" b="0" i="0">
                <a:solidFill>
                  <a:srgbClr val="1C1C1E"/>
                </a:solidFill>
                <a:latin typeface="Consolas"/>
              </a:rPr>
              <a:t>        "content_hash": content_hash, "prev_hash": prev_hash,</a:t>
            </a:r>
          </a:p>
          <a:p>
            <a:pPr>
              <a:lnSpc>
                <a:spcPct val="134000"/>
              </a:lnSpc>
              <a:spcBef>
                <a:spcPts val="0"/>
              </a:spcBef>
              <a:spcAft>
                <a:spcPts val="0"/>
              </a:spcAft>
            </a:pPr>
            <a:r>
              <a:rPr sz="950" b="0" i="0">
                <a:solidFill>
                  <a:srgbClr val="1C1C1E"/>
                </a:solidFill>
                <a:latin typeface="Consolas"/>
              </a:rPr>
              <a:t>        "chain_hash": canonical_digest(</a:t>
            </a:r>
          </a:p>
          <a:p>
            <a:pPr>
              <a:lnSpc>
                <a:spcPct val="134000"/>
              </a:lnSpc>
              <a:spcBef>
                <a:spcPts val="0"/>
              </a:spcBef>
              <a:spcAft>
                <a:spcPts val="0"/>
              </a:spcAft>
            </a:pPr>
            <a:r>
              <a:rPr sz="950" b="0" i="0">
                <a:solidFill>
                  <a:srgbClr val="1C1C1E"/>
                </a:solidFill>
                <a:latin typeface="Consolas"/>
              </a:rPr>
              <a:t>            [seq, prev_hash, content_hash, parents])})</a:t>
            </a:r>
          </a:p>
          <a:p>
            <a:pPr>
              <a:lnSpc>
                <a:spcPct val="134000"/>
              </a:lnSpc>
              <a:spcBef>
                <a:spcPts val="0"/>
              </a:spcBef>
              <a:spcAft>
                <a:spcPts val="0"/>
              </a:spcAft>
            </a:pPr>
            <a:r>
              <a:rPr sz="950" b="0" i="0">
                <a:solidFill>
                  <a:srgbClr val="7A7F87"/>
                </a:solidFill>
                <a:latin typeface="Consolas"/>
              </a:rPr>
              <a:t># IntegrityError → jittered back-off, re-read the head, retry</a:t>
            </a:r>
          </a:p>
        </p:txBody>
      </p:sp>
      <p:sp>
        <p:nvSpPr>
          <p:cNvPr id="14" name="TextBox 13"/>
          <p:cNvSpPr txBox="1"/>
          <p:nvPr/>
        </p:nvSpPr>
        <p:spPr>
          <a:xfrm>
            <a:off x="7585057" y="1353312"/>
            <a:ext cx="3829397"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600"/>
              </a:spcBef>
              <a:spcAft>
                <a:spcPts val="300"/>
              </a:spcAft>
            </a:pPr>
            <a:r>
              <a:rPr sz="1050" b="1">
                <a:solidFill>
                  <a:srgbClr val="A51C30"/>
                </a:solidFill>
                <a:latin typeface="Calibri"/>
              </a:rPr>
              <a:t>▪  </a:t>
            </a:r>
            <a:r>
              <a:rPr sz="105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600"/>
              </a:spcBef>
              <a:spcAft>
                <a:spcPts val="300"/>
              </a:spcAft>
            </a:pPr>
            <a:r>
              <a:rPr sz="1050" b="1">
                <a:solidFill>
                  <a:srgbClr val="A51C30"/>
                </a:solidFill>
                <a:latin typeface="Calibri"/>
              </a:rPr>
              <a:t>▪  </a:t>
            </a:r>
            <a:r>
              <a:rPr sz="1050" b="1">
                <a:solidFill>
                  <a:srgbClr val="1C1C1E"/>
                </a:solidFill>
                <a:latin typeface="Calibri"/>
              </a:rPr>
              <a:t>The chain expresses order</a:t>
            </a:r>
          </a:p>
          <a:p>
            <a:pPr lvl="1">
              <a:spcBef>
                <a:spcPts val="0"/>
              </a:spcBef>
              <a:spcAft>
                <a:spcPts val="0"/>
              </a:spcAft>
            </a:pPr>
            <a:r>
              <a:rPr sz="950">
                <a:solidFill>
                  <a:srgbClr val="4A4F57"/>
                </a:solidFill>
                <a:latin typeface="Calibri"/>
              </a:rPr>
              <a:t>so deleting a leaf or inserting into the past becomes detectable</a:t>
            </a:r>
          </a:p>
          <a:p>
            <a:pPr>
              <a:spcBef>
                <a:spcPts val="600"/>
              </a:spcBef>
              <a:spcAft>
                <a:spcPts val="300"/>
              </a:spcAft>
            </a:pPr>
            <a:r>
              <a:rPr sz="1050" b="1">
                <a:solidFill>
                  <a:srgbClr val="A51C30"/>
                </a:solidFill>
                <a:latin typeface="Calibri"/>
              </a:rPr>
              <a:t>▪  </a:t>
            </a:r>
            <a:r>
              <a:rPr sz="1050" b="1">
                <a:solidFill>
                  <a:srgbClr val="1C1C1E"/>
                </a:solidFill>
                <a:latin typeface="Calibri"/>
              </a:rPr>
              <a:t>Who, and how much, are hashed</a:t>
            </a:r>
          </a:p>
          <a:p>
            <a:pPr lvl="1">
              <a:spcBef>
                <a:spcPts val="0"/>
              </a:spcBef>
              <a:spcAft>
                <a:spcPts val="0"/>
              </a:spcAft>
            </a:pPr>
            <a:r>
              <a:rPr sz="950">
                <a:solidFill>
                  <a:srgbClr val="4A4F57"/>
                </a:solidFill>
                <a:latin typeface="Calibri"/>
              </a:rPr>
              <a:t>segregation of duties is decided by reading recorded_by off these nodes; before it was hashed, one UPDATE turned that control off silently</a:t>
            </a:r>
          </a:p>
          <a:p>
            <a:pPr>
              <a:spcBef>
                <a:spcPts val="600"/>
              </a:spcBef>
              <a:spcAft>
                <a:spcPts val="300"/>
              </a:spcAft>
            </a:pPr>
            <a:r>
              <a:rPr sz="1050" b="1">
                <a:solidFill>
                  <a:srgbClr val="A51C30"/>
                </a:solidFill>
                <a:latin typeface="Calibri"/>
              </a:rPr>
              <a:t>▪  </a:t>
            </a:r>
            <a:r>
              <a:rPr sz="1050" b="1">
                <a:solidFill>
                  <a:srgbClr val="1C1C1E"/>
                </a:solidFill>
                <a:latin typeface="Calibri"/>
              </a:rPr>
              <a:t>No lock — a retry</a:t>
            </a:r>
          </a:p>
          <a:p>
            <a:pPr lvl="1">
              <a:spcBef>
                <a:spcPts val="0"/>
              </a:spcBef>
              <a:spcAft>
                <a:spcPts val="0"/>
              </a:spcAft>
            </a:pPr>
            <a:r>
              <a:rPr sz="950">
                <a:solidFill>
                  <a:srgbClr val="4A4F57"/>
                </a:solidFill>
                <a:latin typeface="Calibri"/>
              </a:rPr>
              <a:t>the sequence race is lost, backed off with jitter, and re-run</a:t>
            </a:r>
          </a:p>
        </p:txBody>
      </p:sp>
      <p:sp>
        <p:nvSpPr>
          <p:cNvPr id="15" name="Rectangle 14"/>
          <p:cNvSpPr/>
          <p:nvPr/>
        </p:nvSpPr>
        <p:spPr>
          <a:xfrm>
            <a:off x="777240" y="4620737"/>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39609"/>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L-18: the payload is discarded, not pointed at. </a:t>
            </a:r>
            <a:r>
              <a:rPr sz="1050" b="0" i="0">
                <a:solidFill>
                  <a:srgbClr val="1C1C1E"/>
                </a:solidFill>
                <a:latin typeface="Calibri"/>
              </a:rPr>
              <a:t>There is no payload_uri column, no per-subject key and no shred path here. “An erasable pointer” described a design nobody built, and reads as though the data is still retrievable under authority. Discarding is stronger for the law as stated — nothing to erase — and weaker for anybody who expected to resolve it later.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CORE/EVIDENCE/ANCHOR.PY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anchor — because a chain that certifies itself certifies nothing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sp>
        <p:nvSpPr>
          <p:cNvPr id="10" name="Rectangle 9"/>
          <p:cNvSpPr/>
          <p:nvPr/>
        </p:nvSpPr>
        <p:spPr>
          <a:xfrm>
            <a:off x="777240" y="1764792"/>
            <a:ext cx="6063212"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BUILT — WORMReader / WORMWriter, core/ports.py</a:t>
            </a:r>
          </a:p>
        </p:txBody>
      </p:sp>
      <p:sp>
        <p:nvSpPr>
          <p:cNvPr id="13" name="TextBox 12"/>
          <p:cNvSpPr txBox="1"/>
          <p:nvPr/>
        </p:nvSpPr>
        <p:spPr>
          <a:xfrm>
            <a:off x="978408" y="2157984"/>
            <a:ext cx="5697452"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scheduler job evidence.anchor</a:t>
            </a:r>
          </a:p>
          <a:p>
            <a:pPr>
              <a:lnSpc>
                <a:spcPct val="134000"/>
              </a:lnSpc>
              <a:spcBef>
                <a:spcPts val="0"/>
              </a:spcBef>
              <a:spcAft>
                <a:spcPts val="0"/>
              </a:spcAft>
            </a:pPr>
            <a:r>
              <a:rPr sz="950" b="0" i="0">
                <a:solidFill>
                  <a:srgbClr val="1C1C1E"/>
                </a:solidFill>
                <a:latin typeface="Consolas"/>
              </a:rPr>
              <a:t>agreement = evidence.verify_against_anchors()</a:t>
            </a:r>
          </a:p>
          <a:p>
            <a:pPr>
              <a:lnSpc>
                <a:spcPct val="134000"/>
              </a:lnSpc>
              <a:spcBef>
                <a:spcPts val="0"/>
              </a:spcBef>
              <a:spcAft>
                <a:spcPts val="0"/>
              </a:spcAft>
            </a:pPr>
            <a:r>
              <a:rPr sz="950" b="0" i="0">
                <a:solidFill>
                  <a:srgbClr val="1C1C1E"/>
                </a:solidFill>
                <a:latin typeface="Consolas"/>
              </a:rPr>
              <a:t>if not agreement["agrees"]:</a:t>
            </a:r>
          </a:p>
          <a:p>
            <a:pPr>
              <a:lnSpc>
                <a:spcPct val="134000"/>
              </a:lnSpc>
              <a:spcBef>
                <a:spcPts val="0"/>
              </a:spcBef>
              <a:spcAft>
                <a:spcPts val="0"/>
              </a:spcAft>
            </a:pPr>
            <a:r>
              <a:rPr sz="950" b="0" i="0">
                <a:solidFill>
                  <a:srgbClr val="1C1C1E"/>
                </a:solidFill>
                <a:latin typeface="Consolas"/>
              </a:rPr>
              <a:t>    return refuse(...)          # never anchor over a broken chain</a:t>
            </a:r>
          </a:p>
          <a:p>
            <a:pPr>
              <a:lnSpc>
                <a:spcPct val="134000"/>
              </a:lnSpc>
              <a:spcBef>
                <a:spcPts val="0"/>
              </a:spcBef>
              <a:spcAft>
                <a:spcPts val="0"/>
              </a:spcAft>
            </a:pPr>
            <a:r>
              <a:rPr sz="950" b="0" i="0">
                <a:solidFill>
                  <a:srgbClr val="1C1C1E"/>
                </a:solidFill>
                <a:latin typeface="Consolas"/>
              </a:rPr>
              <a:t>evidence.anchor_head(actor=ctx.actor)</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core/evidence/anchor.py — write-once, one file per head</a:t>
            </a:r>
          </a:p>
          <a:p>
            <a:pPr>
              <a:lnSpc>
                <a:spcPct val="134000"/>
              </a:lnSpc>
              <a:spcBef>
                <a:spcPts val="0"/>
              </a:spcBef>
              <a:spcAft>
                <a:spcPts val="0"/>
              </a:spcAft>
            </a:pPr>
            <a:r>
              <a:rPr sz="950" b="0" i="0">
                <a:solidFill>
                  <a:srgbClr val="1C1C1E"/>
                </a:solidFill>
                <a:latin typeface="Consolas"/>
              </a:rPr>
              <a:t>if self.store.exists(name):</a:t>
            </a:r>
          </a:p>
          <a:p>
            <a:pPr>
              <a:lnSpc>
                <a:spcPct val="134000"/>
              </a:lnSpc>
              <a:spcBef>
                <a:spcPts val="0"/>
              </a:spcBef>
              <a:spcAft>
                <a:spcPts val="0"/>
              </a:spcAft>
            </a:pPr>
            <a:r>
              <a:rPr sz="950" b="0" i="0">
                <a:solidFill>
                  <a:srgbClr val="1C1C1E"/>
                </a:solidFill>
                <a:latin typeface="Consolas"/>
              </a:rPr>
              <a:t>    if held["chain_hash"] != chain_hash:</a:t>
            </a:r>
          </a:p>
          <a:p>
            <a:pPr>
              <a:lnSpc>
                <a:spcPct val="134000"/>
              </a:lnSpc>
              <a:spcBef>
                <a:spcPts val="0"/>
              </a:spcBef>
              <a:spcAft>
                <a:spcPts val="0"/>
              </a:spcAft>
            </a:pPr>
            <a:r>
              <a:rPr sz="950" b="0" i="0">
                <a:solidFill>
                  <a:srgbClr val="1C1C1E"/>
                </a:solidFill>
                <a:latin typeface="Consolas"/>
              </a:rPr>
              <a:t>        raise AnchorError("anchor_disagreement", ...)</a:t>
            </a:r>
          </a:p>
          <a:p>
            <a:pPr>
              <a:lnSpc>
                <a:spcPct val="134000"/>
              </a:lnSpc>
              <a:spcBef>
                <a:spcPts val="0"/>
              </a:spcBef>
              <a:spcAft>
                <a:spcPts val="0"/>
              </a:spcAft>
            </a:pPr>
            <a:r>
              <a:rPr sz="950" b="0" i="0">
                <a:solidFill>
                  <a:srgbClr val="1C1C1E"/>
                </a:solidFill>
                <a:latin typeface="Consolas"/>
              </a:rPr>
              <a:t>    return {**held, "written": 0}     # idempotent re-run</a:t>
            </a:r>
          </a:p>
        </p:txBody>
      </p:sp>
      <p:sp>
        <p:nvSpPr>
          <p:cNvPr id="14" name="TextBox 13"/>
          <p:cNvSpPr txBox="1"/>
          <p:nvPr/>
        </p:nvSpPr>
        <p:spPr>
          <a:xfrm>
            <a:off x="7159569" y="1764792"/>
            <a:ext cx="4254886" cy="219456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The property worth the slide</a:t>
            </a:r>
          </a:p>
          <a:p>
            <a:pPr>
              <a:lnSpc>
                <a:spcPct val="126000"/>
              </a:lnSpc>
              <a:spcBef>
                <a:spcPts val="0"/>
              </a:spcBef>
              <a:spcAft>
                <a:spcPts val="0"/>
              </a:spcAft>
            </a:pPr>
            <a:r>
              <a:rPr sz="1050" b="0" i="0">
                <a:solidFill>
                  <a:srgbClr val="1C1C1E"/>
                </a:solidFill>
                <a:latin typeface="Calibri"/>
              </a:rPr>
              <a:t>Rewrite a node and re-link every hash after it, and </a:t>
            </a:r>
            <a:r>
              <a:rPr sz="1050" b="1" i="0">
                <a:solidFill>
                  <a:srgbClr val="1C1C1E"/>
                </a:solidFill>
                <a:latin typeface="Calibri"/>
              </a:rPr>
              <a:t>verify_chain reports the chain valid</a:t>
            </a:r>
            <a:r>
              <a:rPr sz="1050" b="0" i="0">
                <a:solidFill>
                  <a:srgbClr val="1C1C1E"/>
                </a:solidFill>
                <a:latin typeface="Calibri"/>
              </a:rPr>
              <a:t>. It is internally consistent, and that is all self-verification can ever ask. The anchor disagrees, because the head was written down before, on another medium. </a:t>
            </a:r>
            <a:r>
              <a:rPr sz="1050" b="0" i="0">
                <a:solidFill>
                  <a:srgbClr val="1C1C1E"/>
                </a:solidFill>
                <a:latin typeface="Consolas"/>
              </a:rPr>
              <a:t>tests/test_evidence_anchor.py</a:t>
            </a:r>
            <a:r>
              <a:rPr sz="1050" b="0" i="0">
                <a:solidFill>
                  <a:srgbClr val="1C1C1E"/>
                </a:solidFill>
                <a:latin typeface="Calibri"/>
              </a:rPr>
              <a:t> asserts exactly that.</a:t>
            </a:r>
          </a:p>
        </p:txBody>
      </p:sp>
      <p:sp>
        <p:nvSpPr>
          <p:cNvPr id="15" name="Rectangle 14"/>
          <p:cNvSpPr/>
          <p:nvPr/>
        </p:nvSpPr>
        <p:spPr>
          <a:xfrm>
            <a:off x="7159569" y="4142232"/>
            <a:ext cx="4254886" cy="1874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159569" y="4142232"/>
            <a:ext cx="41148"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397313" y="4261104"/>
            <a:ext cx="3797686" cy="165506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And its four limits, stated in the code. </a:t>
            </a:r>
            <a:r>
              <a:rPr sz="1050" b="0" i="0">
                <a:solidFill>
                  <a:srgbClr val="1C1C1E"/>
                </a:solidFill>
                <a:latin typeface="Calibri"/>
              </a:rPr>
              <a:t>A directory is separation of medium, not enforcement — the read-only bit stops an accident, not an adversary. The medium is a deployment choice behind two ports, so S3 Object Lock changes nothing above the seam. Nothing before the first anchor can be contradicted. And RFC-3161 timestamping by an authority holding a key nobody here holds is not built.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5050505"/>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cost of asking why, and its cap. </a:t>
            </a:r>
            <a:r>
              <a:rPr sz="105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It marks the answer partial — it does not fall back to a cheaper semiring. The marker is the control.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 derived, monotone, and only as good as its facts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sp>
        <p:nvSpPr>
          <p:cNvPr id="10" name="TextBox 9"/>
          <p:cNvSpPr txBox="1"/>
          <p:nvPr/>
        </p:nvSpPr>
        <p:spPr>
          <a:xfrm>
            <a:off x="777240" y="176479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and nobody picks it.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a:t>
            </a:r>
          </a:p>
        </p:txBody>
      </p:sp>
      <p:sp>
        <p:nvSpPr>
          <p:cNvPr id="11" name="Rectangle 10"/>
          <p:cNvSpPr/>
          <p:nvPr/>
        </p:nvSpPr>
        <p:spPr>
          <a:xfrm>
            <a:off x="777240" y="2423160"/>
            <a:ext cx="5956840"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14600"/>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816351"/>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a:t>
            </a:r>
          </a:p>
          <a:p>
            <a:pPr>
              <a:lnSpc>
                <a:spcPct val="134000"/>
              </a:lnSpc>
              <a:spcBef>
                <a:spcPts val="0"/>
              </a:spcBef>
              <a:spcAft>
                <a:spcPts val="0"/>
              </a:spcAft>
            </a:pPr>
            <a:r>
              <a:rPr sz="950" b="0" i="0">
                <a:solidFill>
                  <a:srgbClr val="1C1C1E"/>
                </a:solidFill>
                <a:latin typeface="Consolas"/>
              </a:rPr>
              <a:t>m = Materiality(quantitative=..., qualitative=...).join()</a:t>
            </a:r>
          </a:p>
          <a:p>
            <a:pPr>
              <a:lnSpc>
                <a:spcPct val="134000"/>
              </a:lnSpc>
              <a:spcBef>
                <a:spcPts val="0"/>
              </a:spcBef>
              <a:spcAft>
                <a:spcPts val="0"/>
              </a:spcAft>
            </a:pPr>
            <a:r>
              <a:rPr sz="950" b="0" i="0">
                <a:solidFill>
                  <a:srgbClr val="1C1C1E"/>
                </a:solidFill>
                <a:latin typeface="Consolas"/>
              </a:rPr>
              <a:t>c = Complexity.meet(data=..., methodology=...,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p:txBody>
      </p:sp>
      <p:sp>
        <p:nvSpPr>
          <p:cNvPr id="15" name="TextBox 14"/>
          <p:cNvSpPr txBox="1"/>
          <p:nvPr/>
        </p:nvSpPr>
        <p:spPr>
          <a:xfrm>
            <a:off x="7159569" y="2423160"/>
            <a:ext cx="4254886" cy="219456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Two axes, never one score</a:t>
            </a:r>
          </a:p>
          <a:p>
            <a:pPr>
              <a:lnSpc>
                <a:spcPct val="124000"/>
              </a:lnSpc>
              <a:spcBef>
                <a:spcPts val="0"/>
              </a:spcBef>
              <a:spcAft>
                <a:spcPts val="800"/>
              </a:spcAft>
            </a:pPr>
            <a:r>
              <a:rPr sz="1050" b="0" i="0">
                <a:solidFill>
                  <a:srgbClr val="4A4F57"/>
                </a:solidFill>
                <a:latin typeface="Calibri"/>
              </a:rPr>
              <a:t>Materiality and complexity are separate lattices. Collapsing them into a product lets a very complex model with modest exposure land beside a simple model with enormous exposure.</a:t>
            </a:r>
          </a:p>
          <a:p>
            <a:pPr>
              <a:lnSpc>
                <a:spcPct val="124000"/>
              </a:lnSpc>
              <a:spcBef>
                <a:spcPts val="0"/>
              </a:spcBef>
              <a:spcAft>
                <a:spcPts val="600"/>
              </a:spcAft>
            </a:pPr>
            <a:r>
              <a:rPr sz="1050" b="0" i="0">
                <a:solidFill>
                  <a:srgbClr val="4A4F57"/>
                </a:solidFill>
                <a:latin typeface="Calibri"/>
              </a:rPr>
              <a:t>The map to the tier is monotone, so </a:t>
            </a:r>
            <a:r>
              <a:rPr sz="1050" b="1" i="0">
                <a:solidFill>
                  <a:srgbClr val="1C1C1E"/>
                </a:solidFill>
                <a:latin typeface="Calibri"/>
              </a:rPr>
              <a:t>nothing we can learn that makes a model more consequential or more complicated will ever move it into a lighter control regime.</a:t>
            </a:r>
            <a:r>
              <a:rPr sz="1050" b="0" i="0">
                <a:solidFill>
                  <a:srgbClr val="4A4F57"/>
                </a:solidFill>
                <a:latin typeface="Calibri"/>
              </a:rPr>
              <a:t> An unconstrained scoring formula cannot promise that, and usually cannot even be checked.</a:t>
            </a:r>
          </a:p>
        </p:txBody>
      </p:sp>
      <p:sp>
        <p:nvSpPr>
          <p:cNvPr id="16" name="Rectangle 15"/>
          <p:cNvSpPr/>
          <p:nvPr/>
        </p:nvSpPr>
        <p:spPr>
          <a:xfrm>
            <a:off x="777240" y="4875763"/>
            <a:ext cx="595684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4994635"/>
            <a:ext cx="549964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attack the obvious control misses. </a:t>
            </a:r>
            <a:r>
              <a:rPr sz="1050" b="0" i="0">
                <a:solidFill>
                  <a:srgbClr val="1C1C1E"/>
                </a:solidFill>
                <a:latin typeface="Calibri"/>
              </a:rPr>
              <a:t>Overriding a derived tier is visible — but understating an exposure lowers it through a perfectly valid, fully audited derivation. So exposure binds to a system of record where one exists, an unsourced fact is marked and peer-cohort outlier detection applies, and a purpose_class change is approved at the tier being LEFT.</a:t>
            </a:r>
          </a:p>
        </p:txBody>
      </p:sp>
      <p:sp>
        <p:nvSpPr>
          <p:cNvPr id="19" name="Rectangle 18"/>
          <p:cNvSpPr/>
          <p:nvPr/>
        </p:nvSpPr>
        <p:spPr>
          <a:xfrm>
            <a:off x="7159569" y="4875763"/>
            <a:ext cx="4254886"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159569"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397313" y="4994635"/>
            <a:ext cx="3797686"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Retrospective calibration. </a:t>
            </a:r>
            <a:r>
              <a:rPr sz="1050" b="0" i="0">
                <a:solidFill>
                  <a:srgbClr val="1C1C1E"/>
                </a:solidFill>
                <a:latin typeface="Calibri"/>
              </a:rPr>
              <a:t>Annually, tier assignments are back-tested against realised incidents, findings and losses. A tier that never predicts anything is evidence of systematic understatement — not of a quiet portfolio.</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68037"/>
            <a:ext cx="4542291"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cannot be a constraint and lives in the service, because it is about people rather than rows.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62550"/>
            <a:ext cx="4223174"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L-8, and its weaker quantifier. </a:t>
            </a:r>
            <a:r>
              <a:rPr sz="1050" b="0" i="0">
                <a:solidFill>
                  <a:srgbClr val="1C1C1E"/>
                </a:solidFill>
                <a:latin typeface="Calibri"/>
              </a:rPr>
              <a:t>core/regimes/translation.py::satisfaction_condition requires evaluating natively and evaluating the translation to agree — over six probe states spanning the corners, not over generated states — and a regime that fails it cannot be activated. The quantifier is stated rather than hidden.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00984"/>
            <a:ext cx="4542291"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this exists. </a:t>
            </a:r>
            <a:r>
              <a:rPr sz="105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never rendered in the same colour as a breach.</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82312"/>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both. </a:t>
            </a:r>
            <a:r>
              <a:rPr sz="1050" b="0" i="0">
                <a:solidFill>
                  <a:srgbClr val="1C1C1E"/>
                </a:solidFill>
                <a:latin typeface="Calibri"/>
              </a:rPr>
              <a:t>A platform that only compiles cannot hold the paper the quant actually wrote; one that only stores files is a share drive with a database in front. Held apart, the register can say which is which — and a rejected document stays on file with its reason, because the papers that did not pass are the ones a supervisor asks about.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eighteen run inside MAYA; the rest name an engine the bank already operates, and the warrant is what MAYA hands it.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RESOLUTION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 — the order of the checks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Rectangle 9"/>
          <p:cNvSpPr/>
          <p:nvPr/>
        </p:nvSpPr>
        <p:spPr>
          <a:xfrm>
            <a:off x="777240" y="1353312"/>
            <a:ext cx="6063212" cy="293634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93634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5697452" cy="2460856"/>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 resolve(urn, environment, principal, declared_use, verb="score"):</a:t>
            </a:r>
          </a:p>
          <a:p>
            <a:pPr>
              <a:lnSpc>
                <a:spcPct val="134000"/>
              </a:lnSpc>
              <a:spcBef>
                <a:spcPts val="0"/>
              </a:spcBef>
              <a:spcAft>
                <a:spcPts val="0"/>
              </a:spcAft>
            </a:pPr>
            <a:r>
              <a:rPr sz="850" b="0" i="0">
                <a:solidFill>
                  <a:srgbClr val="1C1C1E"/>
                </a:solidFill>
                <a:latin typeface="Consolas"/>
              </a:rPr>
              <a:t>    name, semver, alias = parse_urn(urn)</a:t>
            </a:r>
          </a:p>
          <a:p>
            <a:pPr>
              <a:lnSpc>
                <a:spcPct val="134000"/>
              </a:lnSpc>
              <a:spcBef>
                <a:spcPts val="0"/>
              </a:spcBef>
              <a:spcAft>
                <a:spcPts val="0"/>
              </a:spcAft>
            </a:pPr>
            <a:r>
              <a:rPr sz="850" b="0" i="0">
                <a:solidFill>
                  <a:srgbClr val="1C1C1E"/>
                </a:solidFill>
                <a:latin typeface="Consolas"/>
              </a:rPr>
              <a:t>    m = self._model(urn, model_urn(name))       # the register, by URN</a:t>
            </a:r>
          </a:p>
          <a:p>
            <a:pPr>
              <a:lnSpc>
                <a:spcPct val="134000"/>
              </a:lnSpc>
              <a:spcBef>
                <a:spcPts val="0"/>
              </a:spcBef>
              <a:spcAft>
                <a:spcPts val="0"/>
              </a:spcAft>
            </a:pPr>
            <a:r>
              <a:rPr sz="850" b="0" i="0">
                <a:solidFill>
                  <a:srgbClr val="1C1C1E"/>
                </a:solidFill>
                <a:latin typeface="Consolas"/>
              </a:rPr>
              <a:t>    self._check_not_blocked(m)                  # a blocking finding restricts</a:t>
            </a:r>
          </a:p>
          <a:p>
            <a:pPr>
              <a:lnSpc>
                <a:spcPct val="134000"/>
              </a:lnSpc>
              <a:spcBef>
                <a:spcPts val="0"/>
              </a:spcBef>
              <a:spcAft>
                <a:spcPts val="0"/>
              </a:spcAft>
            </a:pPr>
            <a:r>
              <a:rPr sz="850" b="0" i="0">
                <a:solidFill>
                  <a:srgbClr val="1C1C1E"/>
                </a:solidFill>
                <a:latin typeface="Consolas"/>
              </a:rPr>
              <a:t>    grant = self._grant(m, environment, principal, declared_use)</a:t>
            </a:r>
          </a:p>
          <a:p>
            <a:pPr>
              <a:lnSpc>
                <a:spcPct val="134000"/>
              </a:lnSpc>
              <a:spcBef>
                <a:spcPts val="0"/>
              </a:spcBef>
              <a:spcAft>
                <a:spcPts val="0"/>
              </a:spcAft>
            </a:pPr>
            <a:r>
              <a:rPr sz="850" b="0" i="0">
                <a:solidFill>
                  <a:srgbClr val="1C1C1E"/>
                </a:solidFill>
                <a:latin typeface="Consolas"/>
              </a:rPr>
              <a:t>    version = self._version(m["urn"], environment, semver,</a:t>
            </a:r>
          </a:p>
          <a:p>
            <a:pPr>
              <a:lnSpc>
                <a:spcPct val="134000"/>
              </a:lnSpc>
              <a:spcBef>
                <a:spcPts val="0"/>
              </a:spcBef>
              <a:spcAft>
                <a:spcPts val="0"/>
              </a:spcAft>
            </a:pPr>
            <a:r>
              <a:rPr sz="850" b="0" i="0">
                <a:solidFill>
                  <a:srgbClr val="1C1C1E"/>
                </a:solidFill>
                <a:latin typeface="Consolas"/>
              </a:rPr>
              <a:t>                            alias or grant["alias_name"], urn)</a:t>
            </a:r>
          </a:p>
          <a:p>
            <a:pPr>
              <a:lnSpc>
                <a:spcPct val="134000"/>
              </a:lnSpc>
              <a:spcBef>
                <a:spcPts val="0"/>
              </a:spcBef>
              <a:spcAft>
                <a:spcPts val="0"/>
              </a:spcAft>
            </a:pPr>
            <a:r>
              <a:rPr sz="850" b="0" i="0">
                <a:solidFill>
                  <a:srgbClr val="1C1C1E"/>
                </a:solidFill>
                <a:latin typeface="Consolas"/>
              </a:rPr>
              <a:t>    if self.policy is not None:        # consulted last, and only to refuse</a:t>
            </a:r>
          </a:p>
          <a:p>
            <a:pPr>
              <a:lnSpc>
                <a:spcPct val="134000"/>
              </a:lnSpc>
              <a:spcBef>
                <a:spcPts val="0"/>
              </a:spcBef>
              <a:spcAft>
                <a:spcPts val="0"/>
              </a:spcAft>
            </a:pPr>
            <a:r>
              <a:rPr sz="850" b="0" i="0">
                <a:solidFill>
                  <a:srgbClr val="1C1C1E"/>
                </a:solidFill>
                <a:latin typeface="Consolas"/>
              </a:rPr>
              <a:t>        self.policy.check("warrant:resolve", {...}, urn)</a:t>
            </a:r>
          </a:p>
          <a:p>
            <a:pPr>
              <a:lnSpc>
                <a:spcPct val="134000"/>
              </a:lnSpc>
              <a:spcBef>
                <a:spcPts val="0"/>
              </a:spcBef>
              <a:spcAft>
                <a:spcPts val="0"/>
              </a:spcAft>
            </a:pPr>
            <a:r>
              <a:rPr sz="850" b="0" i="0">
                <a:solidFill>
                  <a:srgbClr val="1C1C1E"/>
                </a:solidFill>
                <a:latin typeface="Consolas"/>
              </a:rPr>
              <a:t>    return self.builder.build(urn, m, version, grant, principal,</a:t>
            </a:r>
          </a:p>
          <a:p>
            <a:pPr>
              <a:lnSpc>
                <a:spcPct val="134000"/>
              </a:lnSpc>
              <a:spcBef>
                <a:spcPts val="0"/>
              </a:spcBef>
              <a:spcAft>
                <a:spcPts val="0"/>
              </a:spcAft>
            </a:pPr>
            <a:r>
              <a:rPr sz="850" b="0" i="0">
                <a:solidFill>
                  <a:srgbClr val="1C1C1E"/>
                </a:solidFill>
                <a:latin typeface="Consolas"/>
              </a:rPr>
              <a:t>                              declared_use, environment, self.epoch,</a:t>
            </a:r>
          </a:p>
          <a:p>
            <a:pPr>
              <a:lnSpc>
                <a:spcPct val="134000"/>
              </a:lnSpc>
              <a:spcBef>
                <a:spcPts val="0"/>
              </a:spcBef>
              <a:spcAft>
                <a:spcPts val="0"/>
              </a:spcAft>
            </a:pPr>
            <a:r>
              <a:rPr sz="850" b="0" i="0">
                <a:solidFill>
                  <a:srgbClr val="1C1C1E"/>
                </a:solidFill>
                <a:latin typeface="Consolas"/>
              </a:rPr>
              <a:t>                              verb=verb,</a:t>
            </a:r>
          </a:p>
          <a:p>
            <a:pPr>
              <a:lnSpc>
                <a:spcPct val="134000"/>
              </a:lnSpc>
              <a:spcBef>
                <a:spcPts val="0"/>
              </a:spcBef>
              <a:spcAft>
                <a:spcPts val="0"/>
              </a:spcAft>
            </a:pPr>
            <a:r>
              <a:rPr sz="850" b="0" i="0">
                <a:solidFill>
                  <a:srgbClr val="1C1C1E"/>
                </a:solidFill>
                <a:latin typeface="Consolas"/>
              </a:rPr>
              <a:t>                              parameter_set=self._point_of_p(urn, version))</a:t>
            </a:r>
          </a:p>
        </p:txBody>
      </p:sp>
      <p:sp>
        <p:nvSpPr>
          <p:cNvPr id="14" name="TextBox 13"/>
          <p:cNvSpPr txBox="1"/>
          <p:nvPr/>
        </p:nvSpPr>
        <p:spPr>
          <a:xfrm>
            <a:off x="7265941" y="1353312"/>
            <a:ext cx="4148513" cy="3108960"/>
          </a:xfrm>
          <a:prstGeom prst="rect">
            <a:avLst/>
          </a:prstGeom>
          <a:noFill/>
        </p:spPr>
        <p:txBody>
          <a:bodyPr wrap="square" lIns="0" rIns="0" tIns="0" bIns="0" anchor="t">
            <a:spAutoFit/>
          </a:bodyPr>
          <a:lstStyle/>
          <a:p>
            <a:pPr algn="l">
              <a:spcBef>
                <a:spcPts val="0"/>
              </a:spcBef>
              <a:spcAft>
                <a:spcPts val="600"/>
              </a:spcAft>
            </a:pPr>
            <a:r>
              <a:rPr sz="1250" b="1" i="0">
                <a:solidFill>
                  <a:srgbClr val="1C1C1E"/>
                </a:solidFill>
                <a:latin typeface="Georgia"/>
              </a:rPr>
              <a:t>What the order is for</a:t>
            </a:r>
          </a:p>
          <a:p>
            <a:pPr>
              <a:spcBef>
                <a:spcPts val="600"/>
              </a:spcBef>
              <a:spcAft>
                <a:spcPts val="300"/>
              </a:spcAft>
            </a:pPr>
            <a:r>
              <a:rPr sz="1050" b="1">
                <a:solidFill>
                  <a:srgbClr val="A51C30"/>
                </a:solidFill>
                <a:latin typeface="Calibri"/>
              </a:rPr>
              <a:t>▪  </a:t>
            </a:r>
            <a:r>
              <a:rPr sz="1050" b="1">
                <a:solidFill>
                  <a:srgbClr val="1C1C1E"/>
                </a:solidFill>
                <a:latin typeface="Calibri"/>
              </a:rPr>
              <a:t>Refuse before anything is loaded</a:t>
            </a:r>
          </a:p>
          <a:p>
            <a:pPr lvl="1">
              <a:spcBef>
                <a:spcPts val="0"/>
              </a:spcBef>
              <a:spcAft>
                <a:spcPts val="0"/>
              </a:spcAft>
            </a:pPr>
            <a:r>
              <a:rPr sz="900">
                <a:solidFill>
                  <a:srgbClr val="4A4F57"/>
                </a:solidFill>
                <a:latin typeface="Calibri"/>
              </a:rPr>
              <a:t>Entitlement, blocking findings and version status are all decided out of the register. No artifact is opened on this path</a:t>
            </a:r>
          </a:p>
          <a:p>
            <a:pPr>
              <a:spcBef>
                <a:spcPts val="600"/>
              </a:spcBef>
              <a:spcAft>
                <a:spcPts val="300"/>
              </a:spcAft>
            </a:pPr>
            <a:r>
              <a:rPr sz="1050" b="1">
                <a:solidFill>
                  <a:srgbClr val="A51C30"/>
                </a:solidFill>
                <a:latin typeface="Calibri"/>
              </a:rPr>
              <a:t>▪  </a:t>
            </a:r>
            <a:r>
              <a:rPr sz="1050" b="1">
                <a:solidFill>
                  <a:srgbClr val="1C1C1E"/>
                </a:solidFill>
                <a:latin typeface="Calibri"/>
              </a:rPr>
              <a:t>Policy is consulted last, and only to refuse</a:t>
            </a:r>
          </a:p>
          <a:p>
            <a:pPr lvl="1">
              <a:spcBef>
                <a:spcPts val="0"/>
              </a:spcBef>
              <a:spcAft>
                <a:spcPts val="0"/>
              </a:spcAft>
            </a:pPr>
            <a:r>
              <a:rPr sz="900">
                <a:solidFill>
                  <a:srgbClr val="4A4F57"/>
                </a:solidFill>
                <a:latin typeface="Calibri"/>
              </a:rPr>
              <a:t>A gate that can only subtract cannot grant what the checks above it withheld</a:t>
            </a:r>
          </a:p>
          <a:p>
            <a:pPr>
              <a:spcBef>
                <a:spcPts val="600"/>
              </a:spcBef>
              <a:spcAft>
                <a:spcPts val="300"/>
              </a:spcAft>
            </a:pPr>
            <a:r>
              <a:rPr sz="1050" b="1">
                <a:solidFill>
                  <a:srgbClr val="A51C30"/>
                </a:solidFill>
                <a:latin typeface="Calibri"/>
              </a:rPr>
              <a:t>▪  </a:t>
            </a:r>
            <a:r>
              <a:rPr sz="1050" b="1">
                <a:solidFill>
                  <a:srgbClr val="1C1C1E"/>
                </a:solidFill>
                <a:latin typeface="Calibri"/>
              </a:rPr>
              <a:t>Signed HMAC-SHA256</a:t>
            </a:r>
          </a:p>
          <a:p>
            <a:pPr lvl="1">
              <a:spcBef>
                <a:spcPts val="0"/>
              </a:spcBef>
              <a:spcAft>
                <a:spcPts val="0"/>
              </a:spcAft>
            </a:pPr>
            <a:r>
              <a:rPr sz="900">
                <a:solidFill>
                  <a:srgbClr val="4A4F57"/>
                </a:solidFill>
                <a:latin typeface="Calibri"/>
              </a:rPr>
              <a:t>So verifying a warrant needs the key that could mint one. Asymmetric signing is designed and not built</a:t>
            </a:r>
          </a:p>
          <a:p>
            <a:pPr>
              <a:spcBef>
                <a:spcPts val="600"/>
              </a:spcBef>
              <a:spcAft>
                <a:spcPts val="300"/>
              </a:spcAft>
            </a:pPr>
            <a:r>
              <a:rPr sz="1050" b="1">
                <a:solidFill>
                  <a:srgbClr val="A51C30"/>
                </a:solidFill>
                <a:latin typeface="Calibri"/>
              </a:rPr>
              <a:t>▪  </a:t>
            </a:r>
            <a:r>
              <a:rPr sz="1050" b="1">
                <a:solidFill>
                  <a:srgbClr val="1C1C1E"/>
                </a:solidFill>
                <a:latin typeface="Calibri"/>
              </a:rPr>
              <a:t>TTL and grace follow the tier</a:t>
            </a:r>
          </a:p>
          <a:p>
            <a:pPr lvl="1">
              <a:spcBef>
                <a:spcPts val="0"/>
              </a:spcBef>
              <a:spcAft>
                <a:spcPts val="0"/>
              </a:spcAft>
            </a:pPr>
            <a:r>
              <a:rPr sz="900">
                <a:solidFill>
                  <a:srgbClr val="4A4F57"/>
                </a:solidFill>
                <a:latin typeface="Calibri"/>
              </a:rPr>
              <a:t>60 s and zero grace at Tier 1; the TTL is jittered ±20% so a fleet does not re-resolve in lockstep</a:t>
            </a:r>
          </a:p>
        </p:txBody>
      </p:sp>
      <p:sp>
        <p:nvSpPr>
          <p:cNvPr id="15" name="TextBox 14"/>
          <p:cNvSpPr txBox="1"/>
          <p:nvPr/>
        </p:nvSpPr>
        <p:spPr>
          <a:xfrm>
            <a:off x="777240" y="4545688"/>
            <a:ext cx="5318607"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Revocation — what actually propagates</a:t>
            </a:r>
          </a:p>
        </p:txBody>
      </p:sp>
      <p:graphicFrame>
        <p:nvGraphicFramePr>
          <p:cNvPr id="16" name="Table 15"/>
          <p:cNvGraphicFramePr>
            <a:graphicFrameLocks noGrp="1"/>
          </p:cNvGraphicFramePr>
          <p:nvPr/>
        </p:nvGraphicFramePr>
        <p:xfrm>
          <a:off x="777240" y="4856584"/>
          <a:ext cx="5318607" cy="1901480"/>
        </p:xfrm>
        <a:graphic>
          <a:graphicData uri="http://schemas.openxmlformats.org/drawingml/2006/table">
            <a:tbl>
              <a:tblPr firstRow="1">
                <a:tableStyleId>{5C22544A-7EE6-4342-B048-85BDC9FD1C3A}</a:tableStyleId>
              </a:tblPr>
              <a:tblGrid>
                <a:gridCol w="2109103"/>
                <a:gridCol w="3209504"/>
              </a:tblGrid>
              <a:tr h="329184">
                <a:tc>
                  <a:txBody>
                    <a:bodyPr wrap="square"/>
                    <a:lstStyle/>
                    <a:p>
                      <a:pPr algn="l"/>
                      <a:r>
                        <a:rPr sz="950" b="1">
                          <a:solidFill>
                            <a:srgbClr val="FFFFFF"/>
                          </a:solidFill>
                          <a:latin typeface="Calibri"/>
                        </a:rPr>
                        <a:t>Path</a:t>
                      </a:r>
                    </a:p>
                  </a:txBody>
                  <a:tcPr marL="82296" marR="64008" marT="32004" marB="32004" anchor="ctr">
                    <a:solidFill>
                      <a:srgbClr val="A51C30"/>
                    </a:solidFill>
                  </a:tcPr>
                </a:tc>
                <a:tc>
                  <a:txBody>
                    <a:bodyPr wrap="square"/>
                    <a:lstStyle/>
                    <a:p>
                      <a:pPr algn="l"/>
                      <a:r>
                        <a:rPr sz="950" b="1">
                          <a:solidFill>
                            <a:srgbClr val="FFFFFF"/>
                          </a:solidFill>
                          <a:latin typeface="Calibri"/>
                        </a:rPr>
                        <a:t>What it stops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Withdraw the grant</a:t>
                      </a:r>
                    </a:p>
                  </a:txBody>
                  <a:tcPr marL="82296" marR="64008" marT="32004" marB="32004" anchor="ctr">
                    <a:solidFill>
                      <a:srgbClr val="FFFFFF"/>
                    </a:solidFill>
                  </a:tcPr>
                </a:tc>
                <a:tc>
                  <a:txBody>
                    <a:bodyPr wrap="square"/>
                    <a:lstStyle/>
                    <a:p>
                      <a:pPr algn="l"/>
                      <a:r>
                        <a:rPr sz="950" b="0">
                          <a:solidFill>
                            <a:srgbClr val="1C1C1E"/>
                          </a:solidFill>
                          <a:latin typeface="Calibri"/>
                        </a:rPr>
                        <a:t>No further descriptor is minted for that principal</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Epoch bump on every revocation</a:t>
                      </a:r>
                    </a:p>
                  </a:txBody>
                  <a:tcPr marL="82296" marR="64008" marT="32004" marB="32004" anchor="ctr">
                    <a:solidFill>
                      <a:srgbClr val="F6F3EF"/>
                    </a:solidFill>
                  </a:tcPr>
                </a:tc>
                <a:tc>
                  <a:txBody>
                    <a:bodyPr wrap="square"/>
                    <a:lstStyle/>
                    <a:p>
                      <a:pPr algn="l"/>
                      <a:r>
                        <a:rPr sz="950" b="0">
                          <a:solidFill>
                            <a:srgbClr val="1C1C1E"/>
                          </a:solidFill>
                          <a:latin typeface="Calibri"/>
                        </a:rPr>
                        <a:t>A descriptor minted under an older epoch is stale on its face — the counter is in-process, so a restart resets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consumer's local revocation list</a:t>
                      </a:r>
                    </a:p>
                  </a:txBody>
                  <a:tcPr marL="82296" marR="64008" marT="32004" marB="32004" anchor="ctr">
                    <a:solidFill>
                      <a:srgbClr val="FFFFFF"/>
                    </a:solidFill>
                  </a:tcPr>
                </a:tc>
                <a:tc>
                  <a:txBody>
                    <a:bodyPr wrap="square"/>
                    <a:lstStyle/>
                    <a:p>
                      <a:pPr algn="l"/>
                      <a:r>
                        <a:rPr sz="950" b="0">
                          <a:solidFill>
                            <a:srgbClr val="1C1C1E"/>
                          </a:solidFill>
                          <a:latin typeface="Calibri"/>
                        </a:rPr>
                        <a:t>Refused regardless of grace — grace extends currency, never ignorance</a:t>
                      </a:r>
                    </a:p>
                  </a:txBody>
                  <a:tcPr marL="82296" marR="64008" marT="32004" marB="32004" anchor="ctr">
                    <a:solidFill>
                      <a:srgbClr val="FFFFFF"/>
                    </a:solidFill>
                  </a:tcPr>
                </a:tc>
              </a:tr>
            </a:tbl>
          </a:graphicData>
        </a:graphic>
      </p:graphicFrame>
      <p:sp>
        <p:nvSpPr>
          <p:cNvPr id="17" name="Rectangle 16"/>
          <p:cNvSpPr/>
          <p:nvPr/>
        </p:nvSpPr>
        <p:spPr>
          <a:xfrm>
            <a:off x="6521336" y="4545688"/>
            <a:ext cx="4893118" cy="17007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521336" y="4545688"/>
            <a:ext cx="41148" cy="17007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759080" y="4664560"/>
            <a:ext cx="4435918" cy="1481328"/>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There is no cache, so there is no stampede. </a:t>
            </a:r>
            <a:r>
              <a:rPr sz="1000" b="0" i="0">
                <a:solidFill>
                  <a:srgbClr val="1C1C1E"/>
                </a:solidFill>
                <a:latin typeface="Calibri"/>
              </a:rPr>
              <a:t>Resolution reads four to six tables on every call. The Redis descriptor cache, single-flight coalescing, pre-warm-before-invalidate, the warrant_projection read model and a Kafka revocation event are designed and not built — docs/14 §26 — and the 50 ms p99 in the requirements is a target that nothing here measures. TTL jitter is built, which is the one piece that matters only once a cache exists.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DESIGNED, NOT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and the use nobody has compared it with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SS1/23 asks the inventory to record intended use </a:t>
            </a:r>
            <a:r>
              <a:rPr sz="1200" b="1" i="1">
                <a:solidFill>
                  <a:srgbClr val="A51C30"/>
                </a:solidFill>
                <a:latin typeface="Calibri"/>
              </a:rPr>
              <a:t>compared to actual use</a:t>
            </a:r>
            <a:r>
              <a:rPr sz="1200" b="0" i="0">
                <a:solidFill>
                  <a:srgbClr val="1C1C1E"/>
                </a:solidFill>
                <a:latin typeface="Calibri"/>
              </a:rPr>
              <a:t>. Every input that comparison needs is recorded. The comparison itself is not written — so what follows on the right is a design, and is marked as one.</a:t>
            </a:r>
          </a:p>
        </p:txBody>
      </p:sp>
      <p:sp>
        <p:nvSpPr>
          <p:cNvPr id="11" name="TextBox 10"/>
          <p:cNvSpPr txBox="1"/>
          <p:nvPr/>
        </p:nvSpPr>
        <p:spPr>
          <a:xfrm>
            <a:off x="777240" y="1901952"/>
            <a:ext cx="4680374" cy="274320"/>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 — the inputs</a:t>
            </a:r>
          </a:p>
        </p:txBody>
      </p:sp>
      <p:graphicFrame>
        <p:nvGraphicFramePr>
          <p:cNvPr id="12" name="Table 11"/>
          <p:cNvGraphicFramePr>
            <a:graphicFrameLocks noGrp="1"/>
          </p:cNvGraphicFramePr>
          <p:nvPr/>
        </p:nvGraphicFramePr>
        <p:xfrm>
          <a:off x="777240" y="2212848"/>
          <a:ext cx="4680373" cy="2209696"/>
        </p:xfrm>
        <a:graphic>
          <a:graphicData uri="http://schemas.openxmlformats.org/drawingml/2006/table">
            <a:tbl>
              <a:tblPr firstRow="1">
                <a:tableStyleId>{5C22544A-7EE6-4342-B048-85BDC9FD1C3A}</a:tableStyleId>
              </a:tblPr>
              <a:tblGrid>
                <a:gridCol w="2674499"/>
                <a:gridCol w="2005874"/>
              </a:tblGrid>
              <a:tr h="329184">
                <a:tc>
                  <a:txBody>
                    <a:bodyPr wrap="square"/>
                    <a:lstStyle/>
                    <a:p>
                      <a:pPr algn="l"/>
                      <a:r>
                        <a:rPr sz="950" b="1">
                          <a:solidFill>
                            <a:srgbClr val="FFFFFF"/>
                          </a:solidFill>
                          <a:latin typeface="Calibri"/>
                        </a:rPr>
                        <a:t>What</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Principal, environment and declared use, per grant</a:t>
                      </a:r>
                    </a:p>
                  </a:txBody>
                  <a:tcPr marL="82296" marR="64008" marT="32004" marB="32004" anchor="ctr">
                    <a:solidFill>
                      <a:srgbClr val="FFFFFF"/>
                    </a:solidFill>
                  </a:tcPr>
                </a:tc>
                <a:tc>
                  <a:txBody>
                    <a:bodyPr wrap="square"/>
                    <a:lstStyle/>
                    <a:p>
                      <a:pPr algn="l"/>
                      <a:r>
                        <a:rPr sz="950" b="0">
                          <a:solidFill>
                            <a:srgbClr val="1C1C1E"/>
                          </a:solidFill>
                          <a:latin typeface="Calibri"/>
                        </a:rPr>
                        <a:t>warrant table, one row per entitlement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resolution whose declared use has no grant is refused</a:t>
                      </a:r>
                    </a:p>
                  </a:txBody>
                  <a:tcPr marL="82296" marR="64008" marT="32004" marB="32004" anchor="ctr">
                    <a:solidFill>
                      <a:srgbClr val="F6F3EF"/>
                    </a:solidFill>
                  </a:tcPr>
                </a:tc>
                <a:tc>
                  <a:txBody>
                    <a:bodyPr wrap="square"/>
                    <a:lstStyle/>
                    <a:p>
                      <a:pPr algn="l"/>
                      <a:r>
                        <a:rPr sz="950" b="0">
                          <a:solidFill>
                            <a:srgbClr val="1C1C1E"/>
                          </a:solidFill>
                          <a:latin typeface="Calibri"/>
                        </a:rPr>
                        <a:t>core/execution/warrants.py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Issue and revoke are evidence nodes with an actor</a:t>
                      </a:r>
                    </a:p>
                  </a:txBody>
                  <a:tcPr marL="82296" marR="64008" marT="32004" marB="32004" anchor="ctr">
                    <a:solidFill>
                      <a:srgbClr val="FFFFFF"/>
                    </a:solidFill>
                  </a:tcPr>
                </a:tc>
                <a:tc>
                  <a:txBody>
                    <a:bodyPr wrap="square"/>
                    <a:lstStyle/>
                    <a:p>
                      <a:pPr algn="l"/>
                      <a:r>
                        <a:rPr sz="950" b="0">
                          <a:solidFill>
                            <a:srgbClr val="1C1C1E"/>
                          </a:solidFill>
                          <a:latin typeface="Calibri"/>
                        </a:rPr>
                        <a:t>the chain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Scores and outcomes per version</a:t>
                      </a:r>
                    </a:p>
                  </a:txBody>
                  <a:tcPr marL="82296" marR="64008" marT="32004" marB="32004" anchor="ctr">
                    <a:solidFill>
                      <a:srgbClr val="F6F3EF"/>
                    </a:solidFill>
                  </a:tcPr>
                </a:tc>
                <a:tc>
                  <a:txBody>
                    <a:bodyPr wrap="square"/>
                    <a:lstStyle/>
                    <a:p>
                      <a:pPr algn="l"/>
                      <a:r>
                        <a:rPr sz="950" b="0">
                          <a:solidFill>
                            <a:srgbClr val="1C1C1E"/>
                          </a:solidFill>
                          <a:latin typeface="Calibri"/>
                        </a:rPr>
                        <a:t>core/telemetry/collector.py, into Delta</a:t>
                      </a:r>
                    </a:p>
                  </a:txBody>
                  <a:tcPr marL="82296" marR="64008" marT="32004" marB="32004" anchor="ctr">
                    <a:solidFill>
                      <a:srgbClr val="F6F3EF"/>
                    </a:solidFill>
                  </a:tcPr>
                </a:tc>
              </a:tr>
            </a:tbl>
          </a:graphicData>
        </a:graphic>
      </p:graphicFrame>
      <p:sp>
        <p:nvSpPr>
          <p:cNvPr id="13" name="TextBox 12"/>
          <p:cNvSpPr txBox="1"/>
          <p:nvPr/>
        </p:nvSpPr>
        <p:spPr>
          <a:xfrm>
            <a:off x="5883103" y="1901952"/>
            <a:ext cx="5531351"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Designed — the six exceptions it would raise</a:t>
            </a:r>
          </a:p>
        </p:txBody>
      </p:sp>
      <p:graphicFrame>
        <p:nvGraphicFramePr>
          <p:cNvPr id="14" name="Table 13"/>
          <p:cNvGraphicFramePr>
            <a:graphicFrameLocks noGrp="1"/>
          </p:cNvGraphicFramePr>
          <p:nvPr/>
        </p:nvGraphicFramePr>
        <p:xfrm>
          <a:off x="5883103" y="2212848"/>
          <a:ext cx="5531350" cy="2340392"/>
        </p:xfrm>
        <a:graphic>
          <a:graphicData uri="http://schemas.openxmlformats.org/drawingml/2006/table">
            <a:tbl>
              <a:tblPr firstRow="1">
                <a:tableStyleId>{5C22544A-7EE6-4342-B048-85BDC9FD1C3A}</a:tableStyleId>
              </a:tblPr>
              <a:tblGrid>
                <a:gridCol w="3457094"/>
                <a:gridCol w="2074256"/>
              </a:tblGrid>
              <a:tr h="329184">
                <a:tc>
                  <a:txBody>
                    <a:bodyPr wrap="square"/>
                    <a:lstStyle/>
                    <a:p>
                      <a:pPr algn="l"/>
                      <a:r>
                        <a:rPr sz="950" b="1">
                          <a:solidFill>
                            <a:srgbClr val="FFFFFF"/>
                          </a:solidFill>
                          <a:latin typeface="Calibri"/>
                        </a:rPr>
                        <a:t>Exception</a:t>
                      </a:r>
                    </a:p>
                  </a:txBody>
                  <a:tcPr marL="82296" marR="64008" marT="32004" marB="32004" anchor="ctr">
                    <a:solidFill>
                      <a:srgbClr val="A51C30"/>
                    </a:solidFill>
                  </a:tcPr>
                </a:tc>
                <a:tc>
                  <a:txBody>
                    <a:bodyPr wrap="square"/>
                    <a:lstStyle/>
                    <a:p>
                      <a:pPr algn="l"/>
                      <a:r>
                        <a:rPr sz="950" b="1">
                          <a:solidFill>
                            <a:srgbClr val="FFFFFF"/>
                          </a:solidFill>
                          <a:latin typeface="Calibri"/>
                        </a:rPr>
                        <a:t>Would become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 portfolio that is not an approved use</a:t>
                      </a:r>
                    </a:p>
                  </a:txBody>
                  <a:tcPr marL="82296" marR="64008" marT="32004" marB="32004" anchor="ctr">
                    <a:solidFill>
                      <a:srgbClr val="FFFFFF"/>
                    </a:solidFill>
                  </a:tcPr>
                </a:tc>
                <a:tc>
                  <a:txBody>
                    <a:bodyPr wrap="square"/>
                    <a:lstStyle/>
                    <a:p>
                      <a:pPr algn="l"/>
                      <a:r>
                        <a:rPr sz="950" b="0">
                          <a:solidFill>
                            <a:srgbClr val="1C1C1E"/>
                          </a:solidFill>
                          <a:latin typeface="Calibri"/>
                        </a:rPr>
                        <a:t>Finding, owner, due date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Calls originating outside the approval's scope</a:t>
                      </a:r>
                    </a:p>
                  </a:txBody>
                  <a:tcPr marL="82296" marR="64008" marT="32004" marB="32004" anchor="ctr">
                    <a:solidFill>
                      <a:srgbClr val="F6F3EF"/>
                    </a:solidFill>
                  </a:tcPr>
                </a:tc>
                <a:tc>
                  <a:txBody>
                    <a:bodyPr wrap="square"/>
                    <a:lstStyle/>
                    <a:p>
                      <a:pPr algn="l"/>
                      <a:r>
                        <a:rPr sz="950" b="0">
                          <a:solidFill>
                            <a:srgbClr val="1C1C1E"/>
                          </a:solidFill>
                          <a:latin typeface="Calibri"/>
                        </a:rPr>
                        <a:t>Finding + scope review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Volume far above the assessed use</a:t>
                      </a:r>
                    </a:p>
                  </a:txBody>
                  <a:tcPr marL="82296" marR="64008" marT="32004" marB="32004" anchor="ctr">
                    <a:solidFill>
                      <a:srgbClr val="FFFFFF"/>
                    </a:solidFill>
                  </a:tcPr>
                </a:tc>
                <a:tc>
                  <a:txBody>
                    <a:bodyPr wrap="square"/>
                    <a:lstStyle/>
                    <a:p>
                      <a:pPr algn="l"/>
                      <a:r>
                        <a:rPr sz="950" b="0">
                          <a:solidFill>
                            <a:srgbClr val="1C1C1E"/>
                          </a:solidFill>
                          <a:latin typeface="Calibri"/>
                        </a:rPr>
                        <a:t>Investigation task</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Inputs outside declared operating boundaries</a:t>
                      </a:r>
                    </a:p>
                  </a:txBody>
                  <a:tcPr marL="82296" marR="64008" marT="32004" marB="32004" anchor="ctr">
                    <a:solidFill>
                      <a:srgbClr val="F6F3EF"/>
                    </a:solidFill>
                  </a:tcPr>
                </a:tc>
                <a:tc>
                  <a:txBody>
                    <a:bodyPr wrap="square"/>
                    <a:lstStyle/>
                    <a:p>
                      <a:pPr algn="l"/>
                      <a:r>
                        <a:rPr sz="950" b="0">
                          <a:solidFill>
                            <a:srgbClr val="1C1C1E"/>
                          </a:solidFill>
                          <a:latin typeface="Calibri"/>
                        </a:rPr>
                        <a:t>Contract assumption A is failing</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An approved use with no calls for 180 days</a:t>
                      </a:r>
                    </a:p>
                  </a:txBody>
                  <a:tcPr marL="82296" marR="64008" marT="32004" marB="32004" anchor="ctr">
                    <a:solidFill>
                      <a:srgbClr val="FFFFFF"/>
                    </a:solidFill>
                  </a:tcPr>
                </a:tc>
                <a:tc>
                  <a:txBody>
                    <a:bodyPr wrap="square"/>
                    <a:lstStyle/>
                    <a:p>
                      <a:pPr algn="l"/>
                      <a:r>
                        <a:rPr sz="950" b="0">
                          <a:solidFill>
                            <a:srgbClr val="1C1C1E"/>
                          </a:solidFill>
                          <a:latin typeface="Calibri"/>
                        </a:rPr>
                        <a:t>Candidate for withdrawal</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 new principal resolving the warrant</a:t>
                      </a:r>
                    </a:p>
                  </a:txBody>
                  <a:tcPr marL="82296" marR="64008" marT="32004" marB="32004" anchor="ctr">
                    <a:solidFill>
                      <a:srgbClr val="F6F3EF"/>
                    </a:solidFill>
                  </a:tcPr>
                </a:tc>
                <a:tc>
                  <a:txBody>
                    <a:bodyPr wrap="square"/>
                    <a:lstStyle/>
                    <a:p>
                      <a:pPr algn="l"/>
                      <a:r>
                        <a:rPr sz="950" b="0">
                          <a:solidFill>
                            <a:srgbClr val="1C1C1E"/>
                          </a:solidFill>
                          <a:latin typeface="Calibri"/>
                        </a:rPr>
                        <a:t>Entitlement review</a:t>
                      </a:r>
                    </a:p>
                  </a:txBody>
                  <a:tcPr marL="82296" marR="64008" marT="32004" marB="32004" anchor="ctr">
                    <a:solidFill>
                      <a:srgbClr val="F6F3EF"/>
                    </a:solidFill>
                  </a:tcPr>
                </a:tc>
              </a:tr>
            </a:tbl>
          </a:graphicData>
        </a:graphic>
      </p:graphicFrame>
      <p:sp>
        <p:nvSpPr>
          <p:cNvPr id="15" name="TextBox 14"/>
          <p:cNvSpPr txBox="1"/>
          <p:nvPr/>
        </p:nvSpPr>
        <p:spPr>
          <a:xfrm>
            <a:off x="5883103" y="4717834"/>
            <a:ext cx="5531351"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None of this runs. </a:t>
            </a:r>
            <a:r>
              <a:rPr sz="1000" b="0" i="0">
                <a:solidFill>
                  <a:srgbClr val="1C1C1E"/>
                </a:solidFill>
                <a:latin typeface="Calibri"/>
              </a:rPr>
              <a:t>Use reconciliation is one of the eight screens in docs/14 §27 that are designed and not built; the boundary check on the left is the one part of it that is enforced today, at execution rather than in a report.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REGISTRATION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sp>
        <p:nvSpPr>
          <p:cNvPr id="10" name="Rectangle 9"/>
          <p:cNvSpPr/>
          <p:nvPr/>
        </p:nvSpPr>
        <p:spPr>
          <a:xfrm>
            <a:off x="777240" y="1353312"/>
            <a:ext cx="6169584"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 — register()</a:t>
            </a:r>
          </a:p>
        </p:txBody>
      </p:sp>
      <p:sp>
        <p:nvSpPr>
          <p:cNvPr id="13" name="TextBox 12"/>
          <p:cNvSpPr txBox="1"/>
          <p:nvPr/>
        </p:nvSpPr>
        <p:spPr>
          <a:xfrm>
            <a:off x="978408" y="1746504"/>
            <a:ext cx="5803824"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register(self, capability_key, description, tier, base_model,</a:t>
            </a:r>
          </a:p>
          <a:p>
            <a:pPr>
              <a:lnSpc>
                <a:spcPct val="134000"/>
              </a:lnSpc>
              <a:spcBef>
                <a:spcPts val="0"/>
              </a:spcBef>
              <a:spcAft>
                <a:spcPts val="0"/>
              </a:spcAft>
            </a:pPr>
            <a:r>
              <a:rPr sz="950" b="0" i="0">
                <a:solidFill>
                  <a:srgbClr val="1C1C1E"/>
                </a:solidFill>
                <a:latin typeface="Consolas"/>
              </a:rPr>
              <a:t>             prompt_digest, owner, oracle_key=None, ...):</a:t>
            </a:r>
          </a:p>
          <a:p>
            <a:pPr>
              <a:lnSpc>
                <a:spcPct val="134000"/>
              </a:lnSpc>
              <a:spcBef>
                <a:spcPts val="0"/>
              </a:spcBef>
              <a:spcAft>
                <a:spcPts val="0"/>
              </a:spcAft>
            </a:pPr>
            <a:r>
              <a:rPr sz="950" b="0" i="0">
                <a:solidFill>
                  <a:srgbClr val="1C1C1E"/>
                </a:solidFill>
                <a:latin typeface="Consolas"/>
              </a:rPr>
              <a:t>    if tier == "C":</a:t>
            </a:r>
          </a:p>
          <a:p>
            <a:pPr>
              <a:lnSpc>
                <a:spcPct val="134000"/>
              </a:lnSpc>
              <a:spcBef>
                <a:spcPts val="0"/>
              </a:spcBef>
              <a:spcAft>
                <a:spcPts val="0"/>
              </a:spcAft>
            </a:pPr>
            <a:r>
              <a:rPr sz="950" b="0" i="0">
                <a:solidFill>
                  <a:srgbClr val="1C1C1E"/>
                </a:solidFill>
                <a:latin typeface="Consolas"/>
              </a:rPr>
              <a:t>        raise AssistError("advisory_not_registrable", ...)</a:t>
            </a:r>
          </a:p>
          <a:p>
            <a:pPr>
              <a:lnSpc>
                <a:spcPct val="134000"/>
              </a:lnSpc>
              <a:spcBef>
                <a:spcPts val="0"/>
              </a:spcBef>
              <a:spcAft>
                <a:spcPts val="0"/>
              </a:spcAft>
            </a:pPr>
            <a:r>
              <a:rPr sz="950" b="0" i="0">
                <a:solidFill>
                  <a:srgbClr val="1C1C1E"/>
                </a:solidFill>
                <a:latin typeface="Consolas"/>
              </a:rPr>
              <a:t>    if tier not in TIERS:</a:t>
            </a:r>
          </a:p>
          <a:p>
            <a:pPr>
              <a:lnSpc>
                <a:spcPct val="134000"/>
              </a:lnSpc>
              <a:spcBef>
                <a:spcPts val="0"/>
              </a:spcBef>
              <a:spcAft>
                <a:spcPts val="0"/>
              </a:spcAft>
            </a:pPr>
            <a:r>
              <a:rPr sz="950" b="0" i="0">
                <a:solidFill>
                  <a:srgbClr val="1C1C1E"/>
                </a:solidFill>
                <a:latin typeface="Consolas"/>
              </a:rPr>
              <a:t>        raise AssistError("unknown_tier", ...)</a:t>
            </a:r>
          </a:p>
          <a:p>
            <a:pPr>
              <a:lnSpc>
                <a:spcPct val="134000"/>
              </a:lnSpc>
              <a:spcBef>
                <a:spcPts val="0"/>
              </a:spcBef>
              <a:spcAft>
                <a:spcPts val="0"/>
              </a:spcAft>
            </a:pPr>
            <a:r>
              <a:rPr sz="950" b="0" i="0">
                <a:solidFill>
                  <a:srgbClr val="1C1C1E"/>
                </a:solidFill>
                <a:latin typeface="Consolas"/>
              </a:rPr>
              <a:t>    if tier == TIER_A and not oracle_key:</a:t>
            </a:r>
          </a:p>
          <a:p>
            <a:pPr>
              <a:lnSpc>
                <a:spcPct val="134000"/>
              </a:lnSpc>
              <a:spcBef>
                <a:spcPts val="0"/>
              </a:spcBef>
              <a:spcAft>
                <a:spcPts val="0"/>
              </a:spcAft>
            </a:pPr>
            <a:r>
              <a:rPr sz="950" b="0" i="0">
                <a:solidFill>
                  <a:srgbClr val="1C1C1E"/>
                </a:solidFill>
                <a:latin typeface="Consolas"/>
              </a:rPr>
              <a:t>        raise AssistError("oracle_required", ...)</a:t>
            </a:r>
          </a:p>
          <a:p>
            <a:pPr>
              <a:lnSpc>
                <a:spcPct val="134000"/>
              </a:lnSpc>
              <a:spcBef>
                <a:spcPts val="0"/>
              </a:spcBef>
              <a:spcAft>
                <a:spcPts val="0"/>
              </a:spcAft>
            </a:pPr>
            <a:r>
              <a:rPr sz="950" b="0" i="0">
                <a:solidFill>
                  <a:srgbClr val="1C1C1E"/>
                </a:solidFill>
                <a:latin typeface="Consolas"/>
              </a:rPr>
              <a:t>    if oracle_key and not oracles.get(oracle_key):</a:t>
            </a:r>
          </a:p>
          <a:p>
            <a:pPr>
              <a:lnSpc>
                <a:spcPct val="134000"/>
              </a:lnSpc>
              <a:spcBef>
                <a:spcPts val="0"/>
              </a:spcBef>
              <a:spcAft>
                <a:spcPts val="0"/>
              </a:spcAft>
            </a:pPr>
            <a:r>
              <a:rPr sz="950" b="0" i="0">
                <a:solidFill>
                  <a:srgbClr val="1C1C1E"/>
                </a:solidFill>
                <a:latin typeface="Consolas"/>
              </a:rPr>
              <a:t>        raise AssistError("unknown_oracle",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self.capabilities.add(row)</a:t>
            </a:r>
          </a:p>
          <a:p>
            <a:pPr>
              <a:lnSpc>
                <a:spcPct val="134000"/>
              </a:lnSpc>
              <a:spcBef>
                <a:spcPts val="0"/>
              </a:spcBef>
              <a:spcAft>
                <a:spcPts val="0"/>
              </a:spcAft>
            </a:pPr>
            <a:r>
              <a:rPr sz="950" b="0" i="0">
                <a:solidFill>
                  <a:srgbClr val="1C1C1E"/>
                </a:solidFill>
                <a:latin typeface="Consolas"/>
              </a:rPr>
              <a:t>    self.evidence.append("ai_capability_registered", ...)</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800"/>
              </a:spcAft>
            </a:pPr>
            <a:r>
              <a:rPr sz="1100" b="0" i="0">
                <a:solidFill>
                  <a:srgbClr val="4A4F57"/>
                </a:solidFill>
                <a:latin typeface="Calibri"/>
              </a:rPr>
              <a:t>The criterion is not the model's capability, nor the task's sensitivity. It is whether the structure supplies a decision procedure.</a:t>
            </a:r>
          </a:p>
          <a:p>
            <a:pPr>
              <a:lnSpc>
                <a:spcPct val="126000"/>
              </a:lnSpc>
              <a:spcBef>
                <a:spcPts val="0"/>
              </a:spcBef>
              <a:spcAft>
                <a:spcPts val="600"/>
              </a:spcAft>
            </a:pPr>
            <a:r>
              <a:rPr sz="1100" b="1" i="0">
                <a:solidFill>
                  <a:srgbClr val="A51C30"/>
                </a:solidFill>
                <a:latin typeface="Calibri"/>
              </a:rPr>
              <a:t>Both rules are enforced at registration, not at use. </a:t>
            </a:r>
            <a:r>
              <a:rPr sz="1100" b="0" i="0">
                <a:solidFill>
                  <a:srgbClr val="1C1C1E"/>
                </a:solidFill>
                <a:latin typeface="Calibri"/>
              </a:rPr>
              <a:t>A capability that claims its output is mechanically checkable must name the check; “we validate the output” without naming what validates it is the sentence that precedes every AI incident.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 — claims are removed, not marked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sp>
        <p:nvSpPr>
          <p:cNvPr id="10" name="Rectangle 9"/>
          <p:cNvSpPr/>
          <p:nvPr/>
        </p:nvSpPr>
        <p:spPr>
          <a:xfrm>
            <a:off x="777240" y="1353312"/>
            <a:ext cx="5956840"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591080"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gate(claims, known_evidence):</a:t>
            </a:r>
          </a:p>
          <a:p>
            <a:pPr>
              <a:lnSpc>
                <a:spcPct val="134000"/>
              </a:lnSpc>
              <a:spcBef>
                <a:spcPts val="0"/>
              </a:spcBef>
              <a:spcAft>
                <a:spcPts val="0"/>
              </a:spcAft>
            </a:pPr>
            <a:r>
              <a:rPr sz="950" b="0" i="0">
                <a:solidFill>
                  <a:srgbClr val="1C1C1E"/>
                </a:solidFill>
                <a:latin typeface="Consolas"/>
              </a:rPr>
              <a:t>    """(kept, rejected). Rejected claims never reach the output."""</a:t>
            </a:r>
          </a:p>
          <a:p>
            <a:pPr>
              <a:lnSpc>
                <a:spcPct val="134000"/>
              </a:lnSpc>
              <a:spcBef>
                <a:spcPts val="0"/>
              </a:spcBef>
              <a:spcAft>
                <a:spcPts val="0"/>
              </a:spcAft>
            </a:pPr>
            <a:r>
              <a:rPr sz="950" b="0" i="0">
                <a:solidFill>
                  <a:srgbClr val="1C1C1E"/>
                </a:solidFill>
                <a:latin typeface="Consolas"/>
              </a:rPr>
              <a:t>    known = set(known_evidence)</a:t>
            </a:r>
          </a:p>
          <a:p>
            <a:pPr>
              <a:lnSpc>
                <a:spcPct val="134000"/>
              </a:lnSpc>
              <a:spcBef>
                <a:spcPts val="0"/>
              </a:spcBef>
              <a:spcAft>
                <a:spcPts val="0"/>
              </a:spcAft>
            </a:pPr>
            <a:r>
              <a:rPr sz="950" b="0" i="0">
                <a:solidFill>
                  <a:srgbClr val="1C1C1E"/>
                </a:solidFill>
                <a:latin typeface="Consolas"/>
              </a:rPr>
              <a:t>    checked  = [verify_claim(c, known) for c in claims]</a:t>
            </a:r>
          </a:p>
          <a:p>
            <a:pPr>
              <a:lnSpc>
                <a:spcPct val="134000"/>
              </a:lnSpc>
              <a:spcBef>
                <a:spcPts val="0"/>
              </a:spcBef>
              <a:spcAft>
                <a:spcPts val="0"/>
              </a:spcAft>
            </a:pPr>
            <a:r>
              <a:rPr sz="950" b="0" i="0">
                <a:solidFill>
                  <a:srgbClr val="1C1C1E"/>
                </a:solidFill>
                <a:latin typeface="Consolas"/>
              </a:rPr>
              <a:t>    kept     = [c for c in checked if c["verified"]]</a:t>
            </a:r>
          </a:p>
          <a:p>
            <a:pPr>
              <a:lnSpc>
                <a:spcPct val="134000"/>
              </a:lnSpc>
              <a:spcBef>
                <a:spcPts val="0"/>
              </a:spcBef>
              <a:spcAft>
                <a:spcPts val="0"/>
              </a:spcAft>
            </a:pPr>
            <a:r>
              <a:rPr sz="950" b="0" i="0">
                <a:solidFill>
                  <a:srgbClr val="1C1C1E"/>
                </a:solidFill>
                <a:latin typeface="Consolas"/>
              </a:rPr>
              <a:t>    rejected = [c for c in checked if not c["verified"]]</a:t>
            </a:r>
          </a:p>
          <a:p>
            <a:pPr>
              <a:lnSpc>
                <a:spcPct val="134000"/>
              </a:lnSpc>
              <a:spcBef>
                <a:spcPts val="0"/>
              </a:spcBef>
              <a:spcAft>
                <a:spcPts val="0"/>
              </a:spcAft>
            </a:pPr>
            <a:r>
              <a:rPr sz="950" b="0" i="0">
                <a:solidFill>
                  <a:srgbClr val="1C1C1E"/>
                </a:solidFill>
                <a:latin typeface="Consolas"/>
              </a:rPr>
              <a:t>    return kept, rejected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assemble(kept):</a:t>
            </a:r>
          </a:p>
          <a:p>
            <a:pPr>
              <a:lnSpc>
                <a:spcPct val="134000"/>
              </a:lnSpc>
              <a:spcBef>
                <a:spcPts val="0"/>
              </a:spcBef>
              <a:spcAft>
                <a:spcPts val="0"/>
              </a:spcAft>
            </a:pPr>
            <a:r>
              <a:rPr sz="950" b="0" i="0">
                <a:solidFill>
                  <a:srgbClr val="1C1C1E"/>
                </a:solidFill>
                <a:latin typeface="Consolas"/>
              </a:rPr>
              <a:t>    """The published text: the surviving claims, and nothing else."""</a:t>
            </a:r>
          </a:p>
          <a:p>
            <a:pPr>
              <a:lnSpc>
                <a:spcPct val="134000"/>
              </a:lnSpc>
              <a:spcBef>
                <a:spcPts val="0"/>
              </a:spcBef>
              <a:spcAft>
                <a:spcPts val="0"/>
              </a:spcAft>
            </a:pPr>
            <a:r>
              <a:rPr sz="950" b="0" i="0">
                <a:solidFill>
                  <a:srgbClr val="1C1C1E"/>
                </a:solidFill>
                <a:latin typeface="Consolas"/>
              </a:rPr>
              <a:t>    return "\n\n".join(c["text"] for c in kept if c.get("text"))</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Why removal and not a flag</a:t>
            </a:r>
          </a:p>
          <a:p>
            <a:pPr>
              <a:lnSpc>
                <a:spcPct val="126000"/>
              </a:lnSpc>
              <a:spcBef>
                <a:spcPts val="0"/>
              </a:spcBef>
              <a:spcAft>
                <a:spcPts val="900"/>
              </a:spcAft>
            </a:pPr>
            <a:r>
              <a:rPr sz="1100" b="0" i="0">
                <a:solidFill>
                  <a:srgbClr val="4A4F57"/>
                </a:solidFill>
                <a:latin typeface="Calibri"/>
              </a:rPr>
              <a:t>A document whose unsupported sentences are marked is a document where the marks are what gets skimmed past — and the sentence still reads as though the platform said it. A claim citing nothing is not grounded, however true it happens to be.</a:t>
            </a:r>
          </a:p>
          <a:p>
            <a:pPr>
              <a:lnSpc>
                <a:spcPct val="126000"/>
              </a:lnSpc>
              <a:spcBef>
                <a:spcPts val="0"/>
              </a:spcBef>
              <a:spcAft>
                <a:spcPts val="900"/>
              </a:spcAft>
            </a:pPr>
            <a:r>
              <a:rPr sz="1100" b="1" i="0">
                <a:solidFill>
                  <a:srgbClr val="A51C30"/>
                </a:solidFill>
                <a:latin typeface="Calibri"/>
              </a:rPr>
              <a:t>The rejected claims are kept, separately. </a:t>
            </a:r>
            <a:r>
              <a:rPr sz="1100" b="0" i="0">
                <a:solidFill>
                  <a:srgbClr val="1C1C1E"/>
                </a:solidFill>
                <a:latin typeface="Calibri"/>
              </a:rPr>
              <a:t>ai_generation.rejected_claims is a column. A reviewer sees what the model tried to assert and could not support, which is a more useful artifact than an annotated draft: it is the list of places it was making things up.</a:t>
            </a:r>
          </a:p>
          <a:p>
            <a:pPr>
              <a:lnSpc>
                <a:spcPct val="126000"/>
              </a:lnSpc>
              <a:spcBef>
                <a:spcPts val="0"/>
              </a:spcBef>
              <a:spcAft>
                <a:spcPts val="600"/>
              </a:spcAft>
            </a:pPr>
            <a:r>
              <a:rPr sz="1100" b="1" i="0">
                <a:solidFill>
                  <a:srgbClr val="A51C30"/>
                </a:solidFill>
                <a:latin typeface="Calibri"/>
              </a:rPr>
              <a:t>What it may cite is fixed before it is asked. </a:t>
            </a:r>
            <a:r>
              <a:rPr sz="1100" b="0" i="0">
                <a:solidFill>
                  <a:srgbClr val="1C1C1E"/>
                </a:solidFill>
                <a:latin typeface="Calibri"/>
              </a:rPr>
              <a:t>The evidence is gathered from the register first, capped at forty nodes, and the prompt is assembled from that — so a citation the model invents has nowhere to land.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Tier C is refused in code — and the schema does not help</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sp>
        <p:nvSpPr>
          <p:cNvPr id="10" name="Rectangle 9"/>
          <p:cNvSpPr/>
          <p:nvPr/>
        </p:nvSpPr>
        <p:spPr>
          <a:xfrm>
            <a:off x="777240" y="1764792"/>
            <a:ext cx="5531351"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WHERE TIER C IS ACTUALLY REFUSED</a:t>
            </a:r>
          </a:p>
        </p:txBody>
      </p:sp>
      <p:sp>
        <p:nvSpPr>
          <p:cNvPr id="13" name="TextBox 12"/>
          <p:cNvSpPr txBox="1"/>
          <p:nvPr/>
        </p:nvSpPr>
        <p:spPr>
          <a:xfrm>
            <a:off x="978408" y="2157984"/>
            <a:ext cx="5165591"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 db/schema/sqlite.sql</a:t>
            </a:r>
          </a:p>
          <a:p>
            <a:pPr>
              <a:lnSpc>
                <a:spcPct val="134000"/>
              </a:lnSpc>
              <a:spcBef>
                <a:spcPts val="0"/>
              </a:spcBef>
              <a:spcAft>
                <a:spcPts val="0"/>
              </a:spcAft>
            </a:pPr>
            <a:r>
              <a:rPr sz="1050" b="0" i="0">
                <a:solidFill>
                  <a:srgbClr val="1C1C1E"/>
                </a:solidFill>
                <a:latin typeface="Consolas"/>
              </a:rPr>
              <a:t>tier  TEXT NOT NULL      -- unconstrained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core/assist/capabilities.py</a:t>
            </a:r>
          </a:p>
          <a:p>
            <a:pPr>
              <a:lnSpc>
                <a:spcPct val="134000"/>
              </a:lnSpc>
              <a:spcBef>
                <a:spcPts val="0"/>
              </a:spcBef>
              <a:spcAft>
                <a:spcPts val="0"/>
              </a:spcAft>
            </a:pPr>
            <a:r>
              <a:rPr sz="1050" b="0" i="0">
                <a:solidFill>
                  <a:srgbClr val="1C1C1E"/>
                </a:solidFill>
                <a:latin typeface="Consolas"/>
              </a:rPr>
              <a:t>if tier == "C":</a:t>
            </a:r>
          </a:p>
          <a:p>
            <a:pPr>
              <a:lnSpc>
                <a:spcPct val="134000"/>
              </a:lnSpc>
              <a:spcBef>
                <a:spcPts val="0"/>
              </a:spcBef>
              <a:spcAft>
                <a:spcPts val="0"/>
              </a:spcAft>
            </a:pPr>
            <a:r>
              <a:rPr sz="1050" b="0" i="0">
                <a:solidFill>
                  <a:srgbClr val="1C1C1E"/>
                </a:solidFill>
                <a:latin typeface="Consolas"/>
              </a:rPr>
              <a:t>    raise AssistError("advisory_not_registrable", ...)</a:t>
            </a:r>
          </a:p>
        </p:txBody>
      </p:sp>
      <p:sp>
        <p:nvSpPr>
          <p:cNvPr id="14" name="TextBox 13"/>
          <p:cNvSpPr txBox="1"/>
          <p:nvPr/>
        </p:nvSpPr>
        <p:spPr>
          <a:xfrm>
            <a:off x="777240" y="3920352"/>
            <a:ext cx="5531351" cy="2286000"/>
          </a:xfrm>
          <a:prstGeom prst="rect">
            <a:avLst/>
          </a:prstGeom>
          <a:noFill/>
        </p:spPr>
        <p:txBody>
          <a:bodyPr wrap="square" lIns="0" rIns="0" tIns="0" bIns="0" anchor="t">
            <a:spAutoFit/>
          </a:bodyPr>
          <a:lstStyle/>
          <a:p>
            <a:pPr algn="l">
              <a:lnSpc>
                <a:spcPct val="126000"/>
              </a:lnSpc>
              <a:spcBef>
                <a:spcPts val="0"/>
              </a:spcBef>
              <a:spcAft>
                <a:spcPts val="1000"/>
              </a:spcAft>
            </a:pPr>
            <a:r>
              <a:rPr sz="1100" b="1" i="0">
                <a:solidFill>
                  <a:srgbClr val="A51C30"/>
                </a:solidFill>
                <a:latin typeface="Calibri"/>
              </a:rPr>
              <a:t>The schema does not prohibit it. </a:t>
            </a:r>
            <a:r>
              <a:rPr sz="1100" b="0" i="0">
                <a:solidFill>
                  <a:srgbClr val="1C1C1E"/>
                </a:solidFill>
                <a:latin typeface="Calibri"/>
              </a:rPr>
              <a:t>There are no CHECK constraints in either dialect and ai_capability.tier is unconstrained TEXT, so the prohibition is application code at one call site. That is a weaker claim than “unrepresentable”, and it is the true one: anything writing that table directly is stopped by nothing.</a:t>
            </a:r>
          </a:p>
          <a:p>
            <a:pPr>
              <a:lnSpc>
                <a:spcPct val="126000"/>
              </a:lnSpc>
              <a:spcBef>
                <a:spcPts val="0"/>
              </a:spcBef>
              <a:spcAft>
                <a:spcPts val="600"/>
              </a:spcAft>
            </a:pPr>
            <a:r>
              <a:rPr sz="1100" b="1" i="0">
                <a:solidFill>
                  <a:srgbClr val="A51C30"/>
                </a:solidFill>
                <a:latin typeface="Calibri"/>
              </a:rPr>
              <a:t>A capability holds no credential at all. </a:t>
            </a:r>
            <a:r>
              <a:rPr sz="1100" b="0" i="0">
                <a:solidFill>
                  <a:srgbClr val="1C1C1E"/>
                </a:solidFill>
                <a:latin typeface="Calibri"/>
              </a:rPr>
              <a:t>It is not a principal. Every generation is attributed to the person who asked for it, lands drafted, and carries no weight anywhere until somebody else attests it — self-attestation is refused by name.</a:t>
            </a:r>
          </a:p>
        </p:txBody>
      </p:sp>
      <p:sp>
        <p:nvSpPr>
          <p:cNvPr id="15" name="TextBox 14"/>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213055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 — and which of them exist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graphicFrame>
        <p:nvGraphicFramePr>
          <p:cNvPr id="10" name="Table 9"/>
          <p:cNvGraphicFramePr>
            <a:graphicFrameLocks noGrp="1"/>
          </p:cNvGraphicFramePr>
          <p:nvPr/>
        </p:nvGraphicFramePr>
        <p:xfrm>
          <a:off x="777240" y="1353312"/>
          <a:ext cx="10637214" cy="3766384"/>
        </p:xfrm>
        <a:graphic>
          <a:graphicData uri="http://schemas.openxmlformats.org/drawingml/2006/table">
            <a:tbl>
              <a:tblPr firstRow="1">
                <a:tableStyleId>{5C22544A-7EE6-4342-B048-85BDC9FD1C3A}</a:tableStyleId>
              </a:tblPr>
              <a:tblGrid>
                <a:gridCol w="1375501"/>
                <a:gridCol w="4951807"/>
                <a:gridCol w="4309906"/>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c>
                  <a:txBody>
                    <a:bodyPr wrap="square"/>
                    <a:lstStyle/>
                    <a:p>
                      <a:pPr algn="l"/>
                      <a:r>
                        <a:rPr sz="1000" b="1">
                          <a:solidFill>
                            <a:srgbClr val="FFFFFF"/>
                          </a:solidFill>
                          <a:latin typeface="Calibri"/>
                        </a:rPr>
                        <a:t>Why, or why not yet</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Base path</a:t>
                      </a:r>
                    </a:p>
                  </a:txBody>
                  <a:tcPr marL="82296" marR="64008" marT="32004" marB="32004" anchor="ctr">
                    <a:solidFill>
                      <a:srgbClr val="FFFFFF"/>
                    </a:solidFill>
                  </a:tcPr>
                </a:tc>
                <a:tc>
                  <a:txBody>
                    <a:bodyPr wrap="square"/>
                    <a:lstStyle/>
                    <a:p>
                      <a:pPr algn="l"/>
                      <a:r>
                        <a:rPr sz="950" b="0">
                          <a:solidFill>
                            <a:srgbClr val="1C1C1E"/>
                          </a:solidFill>
                          <a:latin typeface="Calibri"/>
                        </a:rPr>
                        <a:t>/api/v1, defined once in routes/base.py::API</a:t>
                      </a:r>
                    </a:p>
                  </a:txBody>
                  <a:tcPr marL="82296" marR="64008" marT="32004" marB="32004" anchor="ctr">
                    <a:solidFill>
                      <a:srgbClr val="FFFFFF"/>
                    </a:solidFill>
                  </a:tcPr>
                </a:tc>
                <a:tc>
                  <a:txBody>
                    <a:bodyPr wrap="square"/>
                    <a:lstStyle/>
                    <a:p>
                      <a:pPr algn="l"/>
                      <a:r>
                        <a:rPr sz="950" b="0">
                          <a:solidFill>
                            <a:srgbClr val="1C1C1E"/>
                          </a:solidFill>
                          <a:latin typeface="Calibri"/>
                        </a:rPr>
                        <a:t>One versioned contract; the interface has no privileged path</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Spec</a:t>
                      </a:r>
                    </a:p>
                  </a:txBody>
                  <a:tcPr marL="82296" marR="64008" marT="32004" marB="32004" anchor="ctr">
                    <a:solidFill>
                      <a:srgbClr val="F6F3EF"/>
                    </a:solidFill>
                  </a:tcPr>
                </a:tc>
                <a:tc>
                  <a:txBody>
                    <a:bodyPr wrap="square"/>
                    <a:lstStyle/>
                    <a:p>
                      <a:pPr algn="l"/>
                      <a:r>
                        <a:rPr sz="950" b="0">
                          <a:solidFill>
                            <a:srgbClr val="1C1C1E"/>
                          </a:solidFill>
                          <a:latin typeface="Calibri"/>
                        </a:rPr>
                        <a:t>OpenAPI, generated by FastAPI at /api/v1/openapi.json</a:t>
                      </a:r>
                    </a:p>
                  </a:txBody>
                  <a:tcPr marL="82296" marR="64008" marT="32004" marB="32004" anchor="ctr">
                    <a:solidFill>
                      <a:srgbClr val="F6F3EF"/>
                    </a:solidFill>
                  </a:tcPr>
                </a:tc>
                <a:tc>
                  <a:txBody>
                    <a:bodyPr wrap="square"/>
                    <a:lstStyle/>
                    <a:p>
                      <a:pPr algn="l"/>
                      <a:r>
                        <a:rPr sz="950" b="0">
                          <a:solidFill>
                            <a:srgbClr val="1C1C1E"/>
                          </a:solidFill>
                          <a:latin typeface="Calibri"/>
                        </a:rPr>
                        <a:t>Generated from the routes, so it cannot describe a surface that is not there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Authentication</a:t>
                      </a:r>
                    </a:p>
                  </a:txBody>
                  <a:tcPr marL="82296" marR="64008" marT="32004" marB="32004" anchor="ctr">
                    <a:solidFill>
                      <a:srgbClr val="FFFFFF"/>
                    </a:solidFill>
                  </a:tcPr>
                </a:tc>
                <a:tc>
                  <a:txBody>
                    <a:bodyPr wrap="square"/>
                    <a:lstStyle/>
                    <a:p>
                      <a:pPr algn="l"/>
                      <a:r>
                        <a:rPr sz="950" b="0">
                          <a:solidFill>
                            <a:srgbClr val="1C1C1E"/>
                          </a:solidFill>
                          <a:latin typeface="Calibri"/>
                        </a:rPr>
                        <a:t>Session cookie for the interface; HTTP Basic against the same principal register for services</a:t>
                      </a:r>
                    </a:p>
                  </a:txBody>
                  <a:tcPr marL="82296" marR="64008" marT="32004" marB="32004" anchor="ctr">
                    <a:solidFill>
                      <a:srgbClr val="FFFFFF"/>
                    </a:solidFill>
                  </a:tcPr>
                </a:tc>
                <a:tc>
                  <a:txBody>
                    <a:bodyPr wrap="square"/>
                    <a:lstStyle/>
                    <a:p>
                      <a:pPr algn="l"/>
                      <a:r>
                        <a:rPr sz="950" b="0">
                          <a:solidFill>
                            <a:srgbClr val="1C1C1E"/>
                          </a:solidFill>
                          <a:latin typeface="Calibri"/>
                        </a:rPr>
                        <a:t>One identity store, not two</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CSRF</a:t>
                      </a:r>
                    </a:p>
                  </a:txBody>
                  <a:tcPr marL="82296" marR="64008" marT="32004" marB="32004" anchor="ctr">
                    <a:solidFill>
                      <a:srgbClr val="F6F3EF"/>
                    </a:solidFill>
                  </a:tcPr>
                </a:tc>
                <a:tc>
                  <a:txBody>
                    <a:bodyPr wrap="square"/>
                    <a:lstStyle/>
                    <a:p>
                      <a:pPr algn="l"/>
                      <a:r>
                        <a:rPr sz="950" b="0">
                          <a:solidFill>
                            <a:srgbClr val="1C1C1E"/>
                          </a:solidFill>
                          <a:latin typeface="Calibri"/>
                        </a:rPr>
                        <a:t>A token on any state-changing method whose authority came from the cookie, enforced in middleware</a:t>
                      </a:r>
                    </a:p>
                  </a:txBody>
                  <a:tcPr marL="82296" marR="64008" marT="32004" marB="32004" anchor="ctr">
                    <a:solidFill>
                      <a:srgbClr val="F6F3EF"/>
                    </a:solidFill>
                  </a:tcPr>
                </a:tc>
                <a:tc>
                  <a:txBody>
                    <a:bodyPr wrap="square"/>
                    <a:lstStyle/>
                    <a:p>
                      <a:pPr algn="l"/>
                      <a:r>
                        <a:rPr sz="950" b="0">
                          <a:solidFill>
                            <a:srgbClr val="1C1C1E"/>
                          </a:solidFill>
                          <a:latin typeface="Calibri"/>
                        </a:rPr>
                        <a:t>114 mutating endpoints is 114 chances to forget one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Refusals</a:t>
                      </a:r>
                    </a:p>
                  </a:txBody>
                  <a:tcPr marL="82296" marR="64008" marT="32004" marB="32004" anchor="ctr">
                    <a:solidFill>
                      <a:srgbClr val="FFFFFF"/>
                    </a:solidFill>
                  </a:tcPr>
                </a:tc>
                <a:tc>
                  <a:txBody>
                    <a:bodyPr wrap="square"/>
                    <a:lstStyle/>
                    <a:p>
                      <a:pPr algn="l"/>
                      <a:r>
                        <a:rPr sz="950" b="0">
                          <a:solidFill>
                            <a:srgbClr val="1C1C1E"/>
                          </a:solidFill>
                          <a:latin typeface="Calibri"/>
                        </a:rPr>
                        <a:t>error / detail / remediation at the top level, 312 codes mapped onto 14 statuses in ONE table</a:t>
                      </a:r>
                    </a:p>
                  </a:txBody>
                  <a:tcPr marL="82296" marR="64008" marT="32004" marB="32004" anchor="ctr">
                    <a:solidFill>
                      <a:srgbClr val="FFFFFF"/>
                    </a:solidFill>
                  </a:tcPr>
                </a:tc>
                <a:tc>
                  <a:txBody>
                    <a:bodyPr wrap="square"/>
                    <a:lstStyle/>
                    <a:p>
                      <a:pPr algn="l"/>
                      <a:r>
                        <a:rPr sz="950" b="0">
                          <a:solidFill>
                            <a:srgbClr val="1C1C1E"/>
                          </a:solidFill>
                          <a:latin typeface="Calibri"/>
                        </a:rPr>
                        <a:t>DR-6 and DR-7 — blocking must always explain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Pagination</a:t>
                      </a:r>
                    </a:p>
                  </a:txBody>
                  <a:tcPr marL="82296" marR="64008" marT="32004" marB="32004" anchor="ctr">
                    <a:solidFill>
                      <a:srgbClr val="F6F3EF"/>
                    </a:solidFill>
                  </a:tcPr>
                </a:tc>
                <a:tc>
                  <a:txBody>
                    <a:bodyPr wrap="square"/>
                    <a:lstStyle/>
                    <a:p>
                      <a:pPr algn="l"/>
                      <a:r>
                        <a:rPr sz="950" b="0">
                          <a:solidFill>
                            <a:srgbClr val="1C1C1E"/>
                          </a:solidFill>
                          <a:latin typeface="Calibri"/>
                        </a:rPr>
                        <a:t>?limit= and ?offset=, applied AFTER scope filtering</a:t>
                      </a:r>
                    </a:p>
                  </a:txBody>
                  <a:tcPr marL="82296" marR="64008" marT="32004" marB="32004" anchor="ctr">
                    <a:solidFill>
                      <a:srgbClr val="F6F3EF"/>
                    </a:solidFill>
                  </a:tcPr>
                </a:tc>
                <a:tc>
                  <a:txBody>
                    <a:bodyPr wrap="square"/>
                    <a:lstStyle/>
                    <a:p>
                      <a:pPr algn="l"/>
                      <a:r>
                        <a:rPr sz="950" b="0">
                          <a:solidFill>
                            <a:srgbClr val="1C1C1E"/>
                          </a:solidFill>
                          <a:latin typeface="Calibri"/>
                        </a:rPr>
                        <a:t>Page two of a filtered list must not be page two of the unfiltered one with holes in it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Time travel</a:t>
                      </a:r>
                    </a:p>
                  </a:txBody>
                  <a:tcPr marL="82296" marR="64008" marT="32004" marB="32004" anchor="ctr">
                    <a:solidFill>
                      <a:srgbClr val="FFFFFF"/>
                    </a:solidFill>
                  </a:tcPr>
                </a:tc>
                <a:tc>
                  <a:txBody>
                    <a:bodyPr wrap="square"/>
                    <a:lstStyle/>
                    <a:p>
                      <a:pPr algn="l"/>
                      <a:r>
                        <a:rPr sz="950" b="0">
                          <a:solidFill>
                            <a:srgbClr val="1C1C1E"/>
                          </a:solidFill>
                          <a:latin typeface="Calibri"/>
                        </a:rPr>
                        <a:t>?as_of= on the feature and warrant surfaces</a:t>
                      </a:r>
                    </a:p>
                  </a:txBody>
                  <a:tcPr marL="82296" marR="64008" marT="32004" marB="32004" anchor="ctr">
                    <a:solidFill>
                      <a:srgbClr val="FFFFFF"/>
                    </a:solidFill>
                  </a:tcPr>
                </a:tc>
                <a:tc>
                  <a:txBody>
                    <a:bodyPr wrap="square"/>
                    <a:lstStyle/>
                    <a:p>
                      <a:pPr algn="l"/>
                      <a:r>
                        <a:rPr sz="950" b="0">
                          <a:solidFill>
                            <a:srgbClr val="1C1C1E"/>
                          </a:solidFill>
                          <a:latin typeface="Calibri"/>
                        </a:rPr>
                        <a:t>Examiner questions about a past date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NOT BUILT</a:t>
                      </a:r>
                    </a:p>
                  </a:txBody>
                  <a:tcPr marL="82296" marR="64008" marT="32004" marB="32004" anchor="ctr">
                    <a:solidFill>
                      <a:srgbClr val="F6F3EF"/>
                    </a:solidFill>
                  </a:tcPr>
                </a:tc>
                <a:tc>
                  <a:txBody>
                    <a:bodyPr wrap="square"/>
                    <a:lstStyle/>
                    <a:p>
                      <a:pPr algn="l"/>
                      <a:r>
                        <a:rPr sz="950" b="0">
                          <a:solidFill>
                            <a:srgbClr val="1C1C1E"/>
                          </a:solidFill>
                          <a:latin typeface="Calibri"/>
                        </a:rPr>
                        <a:t>ETag / If-Match · Idempotency-Key · ?expand= · ?fields= · keyset cursors · SSE on /events · Sunset headers · /derivations/{id}</a:t>
                      </a:r>
                    </a:p>
                  </a:txBody>
                  <a:tcPr marL="82296" marR="64008" marT="32004" marB="32004" anchor="ctr">
                    <a:solidFill>
                      <a:srgbClr val="F6F3EF"/>
                    </a:solidFill>
                  </a:tcPr>
                </a:tc>
                <a:tc>
                  <a:txBody>
                    <a:bodyPr wrap="square"/>
                    <a:lstStyle/>
                    <a:p>
                      <a:pPr algn="l"/>
                      <a:r>
                        <a:rPr sz="950" b="0">
                          <a:solidFill>
                            <a:srgbClr val="1C1C1E"/>
                          </a:solidFill>
                          <a:latin typeface="Calibri"/>
                        </a:rPr>
                        <a:t>Each is designed in docs/14 §27 and none of it runs. Listings return whole; a retry is not idempotent</a:t>
                      </a:r>
                    </a:p>
                  </a:txBody>
                  <a:tcPr marL="82296" marR="64008" marT="32004" marB="32004" anchor="ctr">
                    <a:solidFill>
                      <a:srgbClr val="F6F3EF"/>
                    </a:solidFill>
                  </a:tcPr>
                </a:tc>
              </a:tr>
            </a:tbl>
          </a:graphicData>
        </a:graphic>
      </p:graphicFrame>
      <p:sp>
        <p:nvSpPr>
          <p:cNvPr id="11" name="TextBox 10"/>
          <p:cNvSpPr txBox="1"/>
          <p:nvPr/>
        </p:nvSpPr>
        <p:spPr>
          <a:xfrm>
            <a:off x="777240" y="5302580"/>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surface, and the interface reaches it the way anybody else does. </a:t>
            </a:r>
            <a:r>
              <a:rPr sz="1050" b="0" i="0">
                <a:solidFill>
                  <a:srgbClr val="1C1C1E"/>
                </a:solidFill>
                <a:latin typeface="Calibri"/>
              </a:rPr>
              <a:t>Models · versions · aliases · risk · features · runs · validation · overlays · monitoring · warrants · documents · policy · assistance · admin — all behind /api/v1, in one FastAPI process that also renders the pages. The two-process, generated-client front end is an accepted design and is not built.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interface — one process, not two</a:t>
            </a:r>
          </a:p>
        </p:txBody>
      </p:sp>
      <p:graphicFrame>
        <p:nvGraphicFramePr>
          <p:cNvPr id="11" name="Table 10"/>
          <p:cNvGraphicFramePr>
            <a:graphicFrameLocks noGrp="1"/>
          </p:cNvGraphicFramePr>
          <p:nvPr/>
        </p:nvGraphicFramePr>
        <p:xfrm>
          <a:off x="777240" y="1719072"/>
          <a:ext cx="4999491" cy="2747998"/>
        </p:xfrm>
        <a:graphic>
          <a:graphicData uri="http://schemas.openxmlformats.org/drawingml/2006/table">
            <a:tbl>
              <a:tblPr firstRow="1">
                <a:tableStyleId>{5C22544A-7EE6-4342-B048-85BDC9FD1C3A}</a:tableStyleId>
              </a:tblPr>
              <a:tblGrid>
                <a:gridCol w="964814"/>
                <a:gridCol w="4034677"/>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Process</a:t>
                      </a:r>
                    </a:p>
                  </a:txBody>
                  <a:tcPr marL="82296" marR="64008" marT="32004" marB="32004" anchor="ctr">
                    <a:solidFill>
                      <a:srgbClr val="FFFFFF"/>
                    </a:solidFill>
                  </a:tcPr>
                </a:tc>
                <a:tc>
                  <a:txBody>
                    <a:bodyPr wrap="square"/>
                    <a:lstStyle/>
                    <a:p>
                      <a:pPr algn="l"/>
                      <a:r>
                        <a:rPr sz="900" b="0">
                          <a:solidFill>
                            <a:srgbClr val="1C1C1E"/>
                          </a:solidFill>
                          <a:latin typeface="Calibri"/>
                        </a:rPr>
                        <a:t>One FastAPI application serves /api/v1 and renders the pages. The decoupled two-origin front end is ADR-011, accepted and not built — there is no CORS middleware anywhere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Auth</a:t>
                      </a:r>
                    </a:p>
                  </a:txBody>
                  <a:tcPr marL="82296" marR="64008" marT="32004" marB="32004" anchor="ctr">
                    <a:solidFill>
                      <a:srgbClr val="F6F3EF"/>
                    </a:solidFill>
                  </a:tcPr>
                </a:tc>
                <a:tc>
                  <a:txBody>
                    <a:bodyPr wrap="square"/>
                    <a:lstStyle/>
                    <a:p>
                      <a:pPr algn="l"/>
                      <a:r>
                        <a:rPr sz="900" b="0">
                          <a:solidFill>
                            <a:srgbClr val="1C1C1E"/>
                          </a:solidFill>
                          <a:latin typeface="Calibri"/>
                        </a:rPr>
                        <a:t>Session cookie, SameSite=Strict, plus a CSRF token on cookie-authorised mutations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Logic</a:t>
                      </a:r>
                    </a:p>
                  </a:txBody>
                  <a:tcPr marL="82296" marR="64008" marT="32004" marB="32004" anchor="ctr">
                    <a:solidFill>
                      <a:srgbClr val="FFFFFF"/>
                    </a:solidFill>
                  </a:tcPr>
                </a:tc>
                <a:tc>
                  <a:txBody>
                    <a:bodyPr wrap="square"/>
                    <a:lstStyle/>
                    <a:p>
                      <a:pPr algn="l"/>
                      <a:r>
                        <a:rPr sz="900" b="0">
                          <a:solidFill>
                            <a:srgbClr val="1C1C1E"/>
                          </a:solidFill>
                          <a:latin typeface="Calibri"/>
                        </a:rPr>
                        <a:t>The server renders decisions; the page never derives them</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Client</a:t>
                      </a:r>
                    </a:p>
                  </a:txBody>
                  <a:tcPr marL="82296" marR="64008" marT="32004" marB="32004" anchor="ctr">
                    <a:solidFill>
                      <a:srgbClr val="F6F3EF"/>
                    </a:solidFill>
                  </a:tcPr>
                </a:tc>
                <a:tc>
                  <a:txBody>
                    <a:bodyPr wrap="square"/>
                    <a:lstStyle/>
                    <a:p>
                      <a:pPr algn="l"/>
                      <a:r>
                        <a:rPr sz="900" b="0">
                          <a:solidFill>
                            <a:srgbClr val="1C1C1E"/>
                          </a:solidFill>
                          <a:latin typeface="Calibri"/>
                        </a:rPr>
                        <a:t>The Python SDK is hand-written against the same /api/v1. There is no generated client and no openapi.lock.json, so nothing detects spec drift — CI runs the suite, not a contract check</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Documents</a:t>
                      </a:r>
                    </a:p>
                  </a:txBody>
                  <a:tcPr marL="82296" marR="64008" marT="32004" marB="32004" anchor="ctr">
                    <a:solidFill>
                      <a:srgbClr val="FFFFFF"/>
                    </a:solidFill>
                  </a:tcPr>
                </a:tc>
                <a:tc>
                  <a:txBody>
                    <a:bodyPr wrap="square"/>
                    <a:lstStyle/>
                    <a:p>
                      <a:pPr algn="l"/>
                      <a:r>
                        <a:rPr sz="900" b="0">
                          <a:solidFill>
                            <a:srgbClr val="1C1C1E"/>
                          </a:solidFill>
                          <a:latin typeface="Calibri"/>
                        </a:rPr>
                        <a:t>Compiled server-side to markdown and rendered through the help pipeline; PDF and DOCX are not built</a:t>
                      </a:r>
                    </a:p>
                  </a:txBody>
                  <a:tcPr marL="82296" marR="64008" marT="32004" marB="32004" anchor="ctr">
                    <a:solidFill>
                      <a:srgbClr val="FFFFF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600"/>
              </a:spcAft>
            </a:pPr>
            <a:r>
              <a:rPr sz="1000" b="1">
                <a:solidFill>
                  <a:srgbClr val="A51C30"/>
                </a:solidFill>
                <a:latin typeface="Calibri"/>
              </a:rPr>
              <a:t>▪  </a:t>
            </a:r>
            <a:r>
              <a:rPr sz="1000">
                <a:solidFill>
                  <a:srgbClr val="1C1C1E"/>
                </a:solidFill>
                <a:latin typeface="Calibri"/>
              </a:rPr>
              <a:t>resolve() returns the descriptor; execute() sends the inputs and never hands the caller one to keep</a:t>
            </a:r>
          </a:p>
          <a:p>
            <a:pPr>
              <a:spcBef>
                <a:spcPts val="0"/>
              </a:spcBef>
              <a:spcAft>
                <a:spcPts val="600"/>
              </a:spcAft>
            </a:pPr>
            <a:r>
              <a:rPr sz="1000" b="1">
                <a:solidFill>
                  <a:srgbClr val="A51C30"/>
                </a:solidFill>
                <a:latin typeface="Calibri"/>
              </a:rPr>
              <a:t>▪  </a:t>
            </a:r>
            <a:r>
              <a:rPr sz="1000">
                <a:solidFill>
                  <a:srgbClr val="1C1C1E"/>
                </a:solidFill>
                <a:latin typeface="Calibri"/>
              </a:rPr>
              <a:t>It deliberately does NOT re-validate a warrant — a second check could only disagree with the first, on a stale copy of the vocabulary</a:t>
            </a:r>
          </a:p>
          <a:p>
            <a:pPr>
              <a:spcBef>
                <a:spcPts val="0"/>
              </a:spcBef>
              <a:spcAft>
                <a:spcPts val="600"/>
              </a:spcAft>
            </a:pPr>
            <a:r>
              <a:rPr sz="1000" b="1">
                <a:solidFill>
                  <a:srgbClr val="A51C30"/>
                </a:solidFill>
                <a:latin typeface="Calibri"/>
              </a:rPr>
              <a:t>▪  </a:t>
            </a:r>
            <a:r>
              <a:rPr sz="1000">
                <a:solidFill>
                  <a:srgbClr val="1C1C1E"/>
                </a:solidFill>
                <a:latin typeface="Calibri"/>
              </a:rPr>
              <a:t>Expiry is on the document where a caller can read it, because a client that caches one has turned a revocable authorisation into a permanent one</a:t>
            </a:r>
          </a:p>
          <a:p>
            <a:pPr>
              <a:spcBef>
                <a:spcPts val="0"/>
              </a:spcBef>
              <a:spcAft>
                <a:spcPts val="600"/>
              </a:spcAft>
            </a:pPr>
            <a:r>
              <a:rPr sz="1000" b="1">
                <a:solidFill>
                  <a:srgbClr val="A51C30"/>
                </a:solidFill>
                <a:latin typeface="Calibri"/>
              </a:rPr>
              <a:t>▪  </a:t>
            </a:r>
            <a:r>
              <a:rPr sz="1000">
                <a:solidFill>
                  <a:srgbClr val="1C1C1E"/>
                </a:solidFill>
                <a:latin typeface="Calibri"/>
              </a:rPr>
              <a:t>The boundary check, the local revocation list and the signature check are in the captive engine (core/execution/engine.py), not in this client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design point. </a:t>
            </a:r>
            <a:r>
              <a:rPr sz="1100" b="0" i="0">
                <a:solidFill>
                  <a:srgbClr val="1C1C1E"/>
                </a:solidFill>
                <a:latin typeface="Calibri"/>
              </a:rPr>
              <a:t>A developer who uses the SDK gets governance for free and cannot forget a step. If the compliant path is slower than the non-compliant one, the inventory rots. Python ships; the Java SDK is a written contract in sdk/java/README.md and no implementation.</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 AND CONCURRENCY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transaction, one record, and the window between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76479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215798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db.transaction() as tx:      # re-entrant: a nested</a:t>
            </a:r>
          </a:p>
          <a:p>
            <a:pPr>
              <a:lnSpc>
                <a:spcPct val="134000"/>
              </a:lnSpc>
              <a:spcBef>
                <a:spcPts val="0"/>
              </a:spcBef>
              <a:spcAft>
                <a:spcPts val="0"/>
              </a:spcAft>
            </a:pPr>
            <a:r>
              <a:rPr sz="1000" b="0" i="0">
                <a:solidFill>
                  <a:srgbClr val="1C1C1E"/>
                </a:solidFill>
                <a:latin typeface="Consolas"/>
              </a:rPr>
              <a:t>    ...                           # call JOINS this one</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Called in exactly ONE place in core/ --</a:t>
            </a:r>
          </a:p>
          <a:p>
            <a:pPr>
              <a:lnSpc>
                <a:spcPct val="134000"/>
              </a:lnSpc>
              <a:spcBef>
                <a:spcPts val="0"/>
              </a:spcBef>
              <a:spcAft>
                <a:spcPts val="0"/>
              </a:spcAft>
            </a:pPr>
            <a:r>
              <a:rPr sz="1000" b="0" i="0">
                <a:solidFill>
                  <a:srgbClr val="7A7F87"/>
                </a:solidFill>
                <a:latin typeface="Consolas"/>
              </a:rPr>
              <a:t># EvidenceEngine.append -- and in no service</a:t>
            </a:r>
          </a:p>
          <a:p>
            <a:pPr>
              <a:lnSpc>
                <a:spcPct val="134000"/>
              </a:lnSpc>
              <a:spcBef>
                <a:spcPts val="0"/>
              </a:spcBef>
              <a:spcAft>
                <a:spcPts val="0"/>
              </a:spcAft>
            </a:pPr>
            <a:r>
              <a:rPr sz="1000" b="0" i="0">
                <a:solidFill>
                  <a:srgbClr val="7A7F87"/>
                </a:solidFill>
                <a:latin typeface="Consolas"/>
              </a:rPr>
              <a:t># and no route.</a:t>
            </a:r>
          </a:p>
        </p:txBody>
      </p:sp>
      <p:sp>
        <p:nvSpPr>
          <p:cNvPr id="14" name="TextBox 13"/>
          <p:cNvSpPr txBox="1"/>
          <p:nvPr/>
        </p:nvSpPr>
        <p:spPr>
          <a:xfrm>
            <a:off x="777240" y="3856024"/>
            <a:ext cx="5531351" cy="2377440"/>
          </a:xfrm>
          <a:prstGeom prst="rect">
            <a:avLst/>
          </a:prstGeom>
          <a:noFill/>
        </p:spPr>
        <p:txBody>
          <a:bodyPr wrap="square" lIns="0" rIns="0" tIns="0" bIns="0" anchor="t">
            <a:spAutoFit/>
          </a:bodyPr>
          <a:lstStyle/>
          <a:p>
            <a:pPr algn="l">
              <a:lnSpc>
                <a:spcPct val="124000"/>
              </a:lnSpc>
              <a:spcBef>
                <a:spcPts val="0"/>
              </a:spcBef>
              <a:spcAft>
                <a:spcPts val="900"/>
              </a:spcAft>
            </a:pPr>
            <a:r>
              <a:rPr sz="1050" b="1" i="0">
                <a:solidFill>
                  <a:srgbClr val="A51C30"/>
                </a:solidFill>
                <a:latin typeface="Calibri"/>
              </a:rPr>
              <a:t>That is the honest state of DR-4. </a:t>
            </a:r>
            <a:r>
              <a:rPr sz="1050" b="0" i="0">
                <a:solidFill>
                  <a:srgbClr val="1C1C1E"/>
                </a:solidFill>
                <a:latin typeface="Calibri"/>
              </a:rPr>
              <a:t>Every governance act is two commits: the state change, then the evidence node. The window between them is small and it is not zero, and what falls into it is a model that exists with no record of its registration — which matters more than a missing row, because segregation of duties is decided by reading the chain. The mechanism to close it exists and is re-entrant by construction; nothing uses it.</a:t>
            </a:r>
          </a:p>
          <a:p>
            <a:pPr>
              <a:lnSpc>
                <a:spcPct val="124000"/>
              </a:lnSpc>
              <a:spcBef>
                <a:spcPts val="0"/>
              </a:spcBef>
              <a:spcAft>
                <a:spcPts val="600"/>
              </a:spcAft>
            </a:pPr>
            <a:r>
              <a:rPr sz="1050" b="1" i="0">
                <a:solidFill>
                  <a:srgbClr val="A51C30"/>
                </a:solidFill>
                <a:latin typeface="Calibri"/>
              </a:rPr>
              <a:t>No outbox, no broker, no migrations. </a:t>
            </a:r>
            <a:r>
              <a:rPr sz="1050" b="0" i="0">
                <a:solidFill>
                  <a:srgbClr val="1C1C1E"/>
                </a:solidFill>
                <a:latin typeface="Calibri"/>
              </a:rPr>
              <a:t>No domain event leaves the process; consumers integrate by polling the API. Schema evolution is expand-and-contract by hand across two files, 46 tables, one database and one flat evidence chain — there is no separate audit database, for the reason chapter 7 gives.</a:t>
            </a:r>
          </a:p>
        </p:txBody>
      </p:sp>
      <p:sp>
        <p:nvSpPr>
          <p:cNvPr id="15" name="TextBox 14"/>
          <p:cNvSpPr txBox="1"/>
          <p:nvPr/>
        </p:nvSpPr>
        <p:spPr>
          <a:xfrm>
            <a:off x="6734080" y="1764792"/>
            <a:ext cx="4680374"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What actually holds when two things happen at once</a:t>
            </a:r>
          </a:p>
        </p:txBody>
      </p:sp>
      <p:graphicFrame>
        <p:nvGraphicFramePr>
          <p:cNvPr id="16" name="Table 15"/>
          <p:cNvGraphicFramePr>
            <a:graphicFrameLocks noGrp="1"/>
          </p:cNvGraphicFramePr>
          <p:nvPr/>
        </p:nvGraphicFramePr>
        <p:xfrm>
          <a:off x="6734080" y="2093976"/>
          <a:ext cx="4680374" cy="2945430"/>
        </p:xfrm>
        <a:graphic>
          <a:graphicData uri="http://schemas.openxmlformats.org/drawingml/2006/table">
            <a:tbl>
              <a:tblPr firstRow="1">
                <a:tableStyleId>{5C22544A-7EE6-4342-B048-85BDC9FD1C3A}</a:tableStyleId>
              </a:tblPr>
              <a:tblGrid>
                <a:gridCol w="1533226"/>
                <a:gridCol w="3147148"/>
              </a:tblGrid>
              <a:tr h="329184">
                <a:tc>
                  <a:txBody>
                    <a:bodyPr wrap="square"/>
                    <a:lstStyle/>
                    <a:p>
                      <a:pPr algn="l"/>
                      <a:r>
                        <a:rPr sz="900" b="1">
                          <a:solidFill>
                            <a:srgbClr val="FFFFFF"/>
                          </a:solidFill>
                          <a:latin typeface="Calibri"/>
                        </a:rPr>
                        <a:t>Hazard</a:t>
                      </a:r>
                    </a:p>
                  </a:txBody>
                  <a:tcPr marL="82296" marR="64008" marT="32004" marB="32004" anchor="ctr">
                    <a:solidFill>
                      <a:srgbClr val="A51C30"/>
                    </a:solidFill>
                  </a:tcPr>
                </a:tc>
                <a:tc>
                  <a:txBody>
                    <a:bodyPr wrap="square"/>
                    <a:lstStyle/>
                    <a:p>
                      <a:pPr algn="l"/>
                      <a:r>
                        <a:rPr sz="900" b="1">
                          <a:solidFill>
                            <a:srgbClr val="FFFFFF"/>
                          </a:solidFill>
                          <a:latin typeface="Calibri"/>
                        </a:rPr>
                        <a:t>What holds</a:t>
                      </a:r>
                    </a:p>
                  </a:txBody>
                  <a:tcPr marL="82296" marR="64008" marT="32004" marB="32004" anchor="ctr">
                    <a:solidFill>
                      <a:srgbClr val="A51C30"/>
                    </a:solidFill>
                  </a:tcPr>
                </a:tc>
              </a:tr>
              <a:tr h="580910">
                <a:tc>
                  <a:txBody>
                    <a:bodyPr wrap="square"/>
                    <a:lstStyle/>
                    <a:p>
                      <a:pPr algn="l"/>
                      <a:r>
                        <a:rPr sz="850" b="1">
                          <a:solidFill>
                            <a:srgbClr val="A51C30"/>
                          </a:solidFill>
                          <a:latin typeface="Calibri"/>
                        </a:rPr>
                        <a:t>Two governance acts appending evidence</a:t>
                      </a:r>
                    </a:p>
                  </a:txBody>
                  <a:tcPr marL="82296" marR="64008" marT="32004" marB="32004" anchor="ctr">
                    <a:solidFill>
                      <a:srgbClr val="FFFFFF"/>
                    </a:solidFill>
                  </a:tcPr>
                </a:tc>
                <a:tc>
                  <a:txBody>
                    <a:bodyPr wrap="square"/>
                    <a:lstStyle/>
                    <a:p>
                      <a:pPr algn="l"/>
                      <a:r>
                        <a:rPr sz="850" b="0">
                          <a:solidFill>
                            <a:srgbClr val="1C1C1E"/>
                          </a:solidFill>
                          <a:latin typeface="Calibri"/>
                        </a:rPr>
                        <a:t>Read-then-write, now inside a transaction and retried with JITTERED backoff. Measured before the fix at four threads: 7% of appends raised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Two versions with the same semver</a:t>
                      </a:r>
                    </a:p>
                  </a:txBody>
                  <a:tcPr marL="82296" marR="64008" marT="32004" marB="32004" anchor="ctr">
                    <a:solidFill>
                      <a:srgbClr val="F6F3EF"/>
                    </a:solidFill>
                  </a:tcPr>
                </a:tc>
                <a:tc>
                  <a:txBody>
                    <a:bodyPr wrap="square"/>
                    <a:lstStyle/>
                    <a:p>
                      <a:pPr algn="l"/>
                      <a:r>
                        <a:rPr sz="850" b="0">
                          <a:solidFill>
                            <a:srgbClr val="1C1C1E"/>
                          </a:solidFill>
                          <a:latin typeface="Calibri"/>
                        </a:rPr>
                        <a:t>UNIQUE (model_id, semver), refused above it so the message is a sentence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The same artifact twice</a:t>
                      </a:r>
                    </a:p>
                  </a:txBody>
                  <a:tcPr marL="82296" marR="64008" marT="32004" marB="32004" anchor="ctr">
                    <a:solidFill>
                      <a:srgbClr val="FFFFFF"/>
                    </a:solidFill>
                  </a:tcPr>
                </a:tc>
                <a:tc>
                  <a:txBody>
                    <a:bodyPr wrap="square"/>
                    <a:lstStyle/>
                    <a:p>
                      <a:pPr algn="l"/>
                      <a:r>
                        <a:rPr sz="850" b="0">
                          <a:solidFill>
                            <a:srgbClr val="1C1C1E"/>
                          </a:solidFill>
                          <a:latin typeface="Calibri"/>
                        </a:rPr>
                        <a:t>Content addressing — the same bytes are the same name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A telemetry batch twice</a:t>
                      </a:r>
                    </a:p>
                  </a:txBody>
                  <a:tcPr marL="82296" marR="64008" marT="32004" marB="32004" anchor="ctr">
                    <a:solidFill>
                      <a:srgbClr val="F6F3EF"/>
                    </a:solidFill>
                  </a:tcPr>
                </a:tc>
                <a:tc>
                  <a:txBody>
                    <a:bodyPr wrap="square"/>
                    <a:lstStyle/>
                    <a:p>
                      <a:pPr algn="l"/>
                      <a:r>
                        <a:rPr sz="850" b="0">
                          <a:solidFill>
                            <a:srgbClr val="1C1C1E"/>
                          </a:solidFill>
                          <a:latin typeface="Calibri"/>
                        </a:rPr>
                        <a:t>UNIQUE over the digest of the batch's own rows</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A scheduler job twice</a:t>
                      </a:r>
                    </a:p>
                  </a:txBody>
                  <a:tcPr marL="82296" marR="64008" marT="32004" marB="32004" anchor="ctr">
                    <a:solidFill>
                      <a:srgbClr val="FFFFFF"/>
                    </a:solidFill>
                  </a:tcPr>
                </a:tc>
                <a:tc>
                  <a:txBody>
                    <a:bodyPr wrap="square"/>
                    <a:lstStyle/>
                    <a:p>
                      <a:pPr algn="l"/>
                      <a:r>
                        <a:rPr sz="850" b="0">
                          <a:solidFill>
                            <a:srgbClr val="1C1C1E"/>
                          </a:solidFill>
                          <a:latin typeface="Calibri"/>
                        </a:rPr>
                        <a:t>Each job re-derives its condition; two replicas raise one finding</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A notification twice</a:t>
                      </a:r>
                    </a:p>
                  </a:txBody>
                  <a:tcPr marL="82296" marR="64008" marT="32004" marB="32004" anchor="ctr">
                    <a:solidFill>
                      <a:srgbClr val="F6F3EF"/>
                    </a:solidFill>
                  </a:tcPr>
                </a:tc>
                <a:tc>
                  <a:txBody>
                    <a:bodyPr wrap="square"/>
                    <a:lstStyle/>
                    <a:p>
                      <a:pPr algn="l"/>
                      <a:r>
                        <a:rPr sz="850" b="0">
                          <a:solidFill>
                            <a:srgbClr val="1C1C1E"/>
                          </a:solidFill>
                          <a:latin typeface="Calibri"/>
                        </a:rPr>
                        <a:t>Digest of the work described, suppressed if unchanged — and delivery is NOT transactional, which is the one genuine gap</a:t>
                      </a:r>
                    </a:p>
                  </a:txBody>
                  <a:tcPr marL="82296" marR="64008" marT="32004" marB="32004" anchor="ctr">
                    <a:solidFill>
                      <a:srgbClr val="F6F3EF"/>
                    </a:solidFill>
                  </a:tcPr>
                </a:tc>
              </a:tr>
            </a:tbl>
          </a:graphicData>
        </a:graphic>
      </p:graphicFrame>
      <p:sp>
        <p:nvSpPr>
          <p:cNvPr id="17" name="TextBox 16"/>
          <p:cNvSpPr txBox="1"/>
          <p:nvPr/>
        </p:nvSpPr>
        <p:spPr>
          <a:xfrm>
            <a:off x="6734080" y="5185714"/>
            <a:ext cx="4680374" cy="45720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Absent: </a:t>
            </a:r>
            <a:r>
              <a:rPr sz="950" b="0" i="0">
                <a:solidFill>
                  <a:srgbClr val="1C1C1E"/>
                </a:solidFill>
                <a:latin typeface="Calibri"/>
              </a:rPr>
              <a:t>Idempotency-Key, a replay window, an advisory lock, an optimistic-concurrency header, and any cache to invalidate. With one process each is cheap to add and none is there.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312 refusal codes, 14 statuses, one table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graphicFrame>
        <p:nvGraphicFramePr>
          <p:cNvPr id="10" name="Table 9"/>
          <p:cNvGraphicFramePr>
            <a:graphicFrameLocks noGrp="1"/>
          </p:cNvGraphicFramePr>
          <p:nvPr/>
        </p:nvGraphicFramePr>
        <p:xfrm>
          <a:off x="777240" y="1353312"/>
          <a:ext cx="10637214" cy="4027776"/>
        </p:xfrm>
        <a:graphic>
          <a:graphicData uri="http://schemas.openxmlformats.org/drawingml/2006/table">
            <a:tbl>
              <a:tblPr firstRow="1">
                <a:tableStyleId>{5C22544A-7EE6-4342-B048-85BDC9FD1C3A}</a:tableStyleId>
              </a:tblPr>
              <a:tblGrid>
                <a:gridCol w="2200803"/>
                <a:gridCol w="825301"/>
                <a:gridCol w="4493306"/>
                <a:gridCol w="3117804"/>
              </a:tblGrid>
              <a:tr h="329184">
                <a:tc>
                  <a:txBody>
                    <a:bodyPr wrap="square"/>
                    <a:lstStyle/>
                    <a:p>
                      <a:pPr algn="l"/>
                      <a:r>
                        <a:rPr sz="1000" b="1">
                          <a:solidFill>
                            <a:srgbClr val="FFFFFF"/>
                          </a:solidFill>
                          <a:latin typeface="Calibri"/>
                        </a:rPr>
                        <a:t>Code</a:t>
                      </a:r>
                    </a:p>
                  </a:txBody>
                  <a:tcPr marL="82296" marR="64008" marT="32004" marB="32004" anchor="ctr">
                    <a:solidFill>
                      <a:srgbClr val="A51C30"/>
                    </a:solidFill>
                  </a:tcPr>
                </a:tc>
                <a:tc>
                  <a:txBody>
                    <a:bodyPr wrap="square"/>
                    <a:lstStyle/>
                    <a:p>
                      <a:pPr algn="l"/>
                      <a:r>
                        <a:rPr sz="1000" b="1">
                          <a:solidFill>
                            <a:srgbClr val="FFFFFF"/>
                          </a:solidFill>
                          <a:latin typeface="Calibri"/>
                        </a:rPr>
                        <a:t>HTTP</a:t>
                      </a:r>
                    </a:p>
                  </a:txBody>
                  <a:tcPr marL="82296" marR="64008" marT="32004" marB="32004" anchor="ctr">
                    <a:solidFill>
                      <a:srgbClr val="A51C30"/>
                    </a:solidFill>
                  </a:tcPr>
                </a:tc>
                <a:tc>
                  <a:txBody>
                    <a:bodyPr wrap="square"/>
                    <a:lstStyle/>
                    <a:p>
                      <a:pPr algn="l"/>
                      <a:r>
                        <a:rPr sz="1000" b="1">
                          <a:solidFill>
                            <a:srgbClr val="FFFFFF"/>
                          </a:solidFill>
                          <a:latin typeface="Calibri"/>
                        </a:rPr>
                        <a:t>Meaning</a:t>
                      </a:r>
                    </a:p>
                  </a:txBody>
                  <a:tcPr marL="82296" marR="64008" marT="32004" marB="32004" anchor="ctr">
                    <a:solidFill>
                      <a:srgbClr val="A51C30"/>
                    </a:solidFill>
                  </a:tcPr>
                </a:tc>
                <a:tc>
                  <a:txBody>
                    <a:bodyPr wrap="square"/>
                    <a:lstStyle/>
                    <a:p>
                      <a:pPr algn="l"/>
                      <a:r>
                        <a:rPr sz="1000" b="1">
                          <a:solidFill>
                            <a:srgbClr val="FFFFFF"/>
                          </a:solidFill>
                          <a:latin typeface="Calibri"/>
                        </a:rPr>
                        <a:t>Client action</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950" b="0">
                          <a:solidFill>
                            <a:srgbClr val="1C1C1E"/>
                          </a:solidFill>
                          <a:latin typeface="Calibri"/>
                        </a:rPr>
                        <a:t>Fix and retry</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grammar_violation</a:t>
                      </a:r>
                    </a:p>
                  </a:txBody>
                  <a:tcPr marL="82296" marR="64008" marT="32004" marB="32004" anchor="ctr">
                    <a:solidFill>
                      <a:srgbClr val="F6F3EF"/>
                    </a:solidFill>
                  </a:tcPr>
                </a:tc>
                <a:tc>
                  <a:txBody>
                    <a:bodyPr wrap="square"/>
                    <a:lstStyle/>
                    <a:p>
                      <a:pPr algn="l"/>
                      <a:r>
                        <a:rPr sz="950" b="0">
                          <a:solidFill>
                            <a:srgbClr val="1C1C1E"/>
                          </a:solidFill>
                          <a:latin typeface="Calibri"/>
                        </a:rPr>
                        <a:t>422</a:t>
                      </a:r>
                    </a:p>
                  </a:txBody>
                  <a:tcPr marL="82296" marR="64008" marT="32004" marB="32004" anchor="ctr">
                    <a:solidFill>
                      <a:srgbClr val="F6F3EF"/>
                    </a:solidFill>
                  </a:tcPr>
                </a:tc>
                <a:tc>
                  <a:txBody>
                    <a:bodyPr wrap="square"/>
                    <a:lstStyle/>
                    <a:p>
                      <a:pPr algn="l"/>
                      <a:r>
                        <a:rPr sz="950" b="0">
                          <a:solidFill>
                            <a:srgbClr val="1C1C1E"/>
                          </a:solidFill>
                          <a:latin typeface="Calibri"/>
                        </a:rPr>
                        <a:t>The warrant document breaks one of L-W0…L-W13</a:t>
                      </a:r>
                    </a:p>
                  </a:txBody>
                  <a:tcPr marL="82296" marR="64008" marT="32004" marB="32004" anchor="ctr">
                    <a:solidFill>
                      <a:srgbClr val="F6F3EF"/>
                    </a:solidFill>
                  </a:tcPr>
                </a:tc>
                <a:tc>
                  <a:txBody>
                    <a:bodyPr wrap="square"/>
                    <a:lstStyle/>
                    <a:p>
                      <a:pPr algn="l"/>
                      <a:r>
                        <a:rPr sz="950" b="0">
                          <a:solidFill>
                            <a:srgbClr val="1C1C1E"/>
                          </a:solidFill>
                          <a:latin typeface="Calibri"/>
                        </a:rPr>
                        <a:t>Read the named law and the field</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boundary_violation</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Inputs outside the declared operating boundary</a:t>
                      </a:r>
                    </a:p>
                  </a:txBody>
                  <a:tcPr marL="82296" marR="64008" marT="32004" marB="32004" anchor="ctr">
                    <a:solidFill>
                      <a:srgbClr val="FFFFFF"/>
                    </a:solidFill>
                  </a:tcPr>
                </a:tc>
                <a:tc>
                  <a:txBody>
                    <a:bodyPr wrap="square"/>
                    <a:lstStyle/>
                    <a:p>
                      <a:pPr algn="l"/>
                      <a:r>
                        <a:rPr sz="950" b="0">
                          <a:solidFill>
                            <a:srgbClr val="1C1C1E"/>
                          </a:solidFill>
                          <a:latin typeface="Calibri"/>
                        </a:rPr>
                        <a:t>Refer, or widen the assumption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illegal_transition</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lifecycle does not admit this move</a:t>
                      </a:r>
                    </a:p>
                  </a:txBody>
                  <a:tcPr marL="82296" marR="64008" marT="32004" marB="32004" anchor="ctr">
                    <a:solidFill>
                      <a:srgbClr val="F6F3EF"/>
                    </a:solidFill>
                  </a:tcPr>
                </a:tc>
                <a:tc>
                  <a:txBody>
                    <a:bodyPr wrap="square"/>
                    <a:lstStyle/>
                    <a:p>
                      <a:pPr algn="l"/>
                      <a:r>
                        <a:rPr sz="950" b="0">
                          <a:solidFill>
                            <a:srgbClr val="1C1C1E"/>
                          </a:solidFill>
                          <a:latin typeface="Calibri"/>
                        </a:rPr>
                        <a:t>Follow the remediation</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rule_unreachable</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A rule an earlier rule already covers</a:t>
                      </a:r>
                    </a:p>
                  </a:txBody>
                  <a:tcPr marL="82296" marR="64008" marT="32004" marB="32004" anchor="ctr">
                    <a:solidFill>
                      <a:srgbClr val="FFFFFF"/>
                    </a:solidFill>
                  </a:tcPr>
                </a:tc>
                <a:tc>
                  <a:txBody>
                    <a:bodyPr wrap="square"/>
                    <a:lstStyle/>
                    <a:p>
                      <a:pPr algn="l"/>
                      <a:r>
                        <a:rPr sz="950" b="0">
                          <a:solidFill>
                            <a:srgbClr val="1C1C1E"/>
                          </a:solidFill>
                          <a:latin typeface="Calibri"/>
                        </a:rPr>
                        <a:t>Reorder or delete the shadowed rule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anchor_disagreement</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chain and the heads written outside it no longer agree</a:t>
                      </a:r>
                    </a:p>
                  </a:txBody>
                  <a:tcPr marL="82296" marR="64008" marT="32004" marB="32004" anchor="ctr">
                    <a:solidFill>
                      <a:srgbClr val="F6F3EF"/>
                    </a:solidFill>
                  </a:tcPr>
                </a:tc>
                <a:tc>
                  <a:txBody>
                    <a:bodyPr wrap="square"/>
                    <a:lstStyle/>
                    <a:p>
                      <a:pPr algn="l"/>
                      <a:r>
                        <a:rPr sz="950" b="0">
                          <a:solidFill>
                            <a:srgbClr val="1C1C1E"/>
                          </a:solidFill>
                          <a:latin typeface="Calibri"/>
                        </a:rPr>
                        <a:t>Stop — a security event, not a bad request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no_entitlement</a:t>
                      </a:r>
                    </a:p>
                  </a:txBody>
                  <a:tcPr marL="82296" marR="64008" marT="32004" marB="32004" anchor="ctr">
                    <a:solidFill>
                      <a:srgbClr val="FFFFFF"/>
                    </a:solidFill>
                  </a:tcPr>
                </a:tc>
                <a:tc>
                  <a:txBody>
                    <a:bodyPr wrap="square"/>
                    <a:lstStyle/>
                    <a:p>
                      <a:pPr algn="l"/>
                      <a:r>
                        <a:rPr sz="950" b="0">
                          <a:solidFill>
                            <a:srgbClr val="1C1C1E"/>
                          </a:solidFill>
                          <a:latin typeface="Calibri"/>
                        </a:rPr>
                        <a:t>403</a:t>
                      </a:r>
                    </a:p>
                  </a:txBody>
                  <a:tcPr marL="82296" marR="64008" marT="32004" marB="32004" anchor="ctr">
                    <a:solidFill>
                      <a:srgbClr val="FFFFFF"/>
                    </a:solidFill>
                  </a:tcPr>
                </a:tc>
                <a:tc>
                  <a:txBody>
                    <a:bodyPr wrap="square"/>
                    <a:lstStyle/>
                    <a:p>
                      <a:pPr algn="l"/>
                      <a:r>
                        <a:rPr sz="95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950" b="0">
                          <a:solidFill>
                            <a:srgbClr val="1C1C1E"/>
                          </a:solidFill>
                          <a:latin typeface="Calibri"/>
                        </a:rPr>
                        <a:t>Request a grant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segregation_of_duties</a:t>
                      </a:r>
                    </a:p>
                  </a:txBody>
                  <a:tcPr marL="82296" marR="64008" marT="32004" marB="32004" anchor="ctr">
                    <a:solidFill>
                      <a:srgbClr val="F6F3EF"/>
                    </a:solidFill>
                  </a:tcPr>
                </a:tc>
                <a:tc>
                  <a:txBody>
                    <a:bodyPr wrap="square"/>
                    <a:lstStyle/>
                    <a:p>
                      <a:pPr algn="l"/>
                      <a:r>
                        <a:rPr sz="950" b="0">
                          <a:solidFill>
                            <a:srgbClr val="1C1C1E"/>
                          </a:solidFill>
                          <a:latin typeface="Calibri"/>
                        </a:rPr>
                        <a:t>403</a:t>
                      </a:r>
                    </a:p>
                  </a:txBody>
                  <a:tcPr marL="82296" marR="64008" marT="32004" marB="32004" anchor="ctr">
                    <a:solidFill>
                      <a:srgbClr val="F6F3EF"/>
                    </a:solidFill>
                  </a:tcPr>
                </a:tc>
                <a:tc>
                  <a:txBody>
                    <a:bodyPr wrap="square"/>
                    <a:lstStyle/>
                    <a:p>
                      <a:pPr algn="l"/>
                      <a:r>
                        <a:rPr sz="950" b="0">
                          <a:solidFill>
                            <a:srgbClr val="1C1C1E"/>
                          </a:solidFill>
                          <a:latin typeface="Calibri"/>
                        </a:rPr>
                        <a:t>You may not act twice on the same object</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 acts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restricted</a:t>
                      </a:r>
                    </a:p>
                  </a:txBody>
                  <a:tcPr marL="82296" marR="64008" marT="32004" marB="32004" anchor="ctr">
                    <a:solidFill>
                      <a:srgbClr val="FFFFFF"/>
                    </a:solidFill>
                  </a:tcPr>
                </a:tc>
                <a:tc>
                  <a:txBody>
                    <a:bodyPr wrap="square"/>
                    <a:lstStyle/>
                    <a:p>
                      <a:pPr algn="l"/>
                      <a:r>
                        <a:rPr sz="950" b="0">
                          <a:solidFill>
                            <a:srgbClr val="1C1C1E"/>
                          </a:solidFill>
                          <a:latin typeface="Calibri"/>
                        </a:rPr>
                        <a:t>423</a:t>
                      </a:r>
                    </a:p>
                  </a:txBody>
                  <a:tcPr marL="82296" marR="64008" marT="32004" marB="32004" anchor="ctr">
                    <a:solidFill>
                      <a:srgbClr val="FFFFFF"/>
                    </a:solidFill>
                  </a:tcPr>
                </a:tc>
                <a:tc>
                  <a:txBody>
                    <a:bodyPr wrap="square"/>
                    <a:lstStyle/>
                    <a:p>
                      <a:pPr algn="l"/>
                      <a:r>
                        <a:rPr sz="950" b="0">
                          <a:solidFill>
                            <a:srgbClr val="1C1C1E"/>
                          </a:solidFill>
                          <a:latin typeface="Calibri"/>
                        </a:rPr>
                        <a:t>A blocking finding or a suspension</a:t>
                      </a:r>
                    </a:p>
                  </a:txBody>
                  <a:tcPr marL="82296" marR="64008" marT="32004" marB="32004" anchor="ctr">
                    <a:solidFill>
                      <a:srgbClr val="FFFFFF"/>
                    </a:solidFill>
                  </a:tcPr>
                </a:tc>
                <a:tc>
                  <a:txBody>
                    <a:bodyPr wrap="square"/>
                    <a:lstStyle/>
                    <a:p>
                      <a:pPr algn="l"/>
                      <a:r>
                        <a:rPr sz="950" b="0">
                          <a:solidFill>
                            <a:srgbClr val="1C1C1E"/>
                          </a:solidFill>
                          <a:latin typeface="Calibri"/>
                        </a:rPr>
                        <a:t>Remediate, or break-glass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revoked</a:t>
                      </a:r>
                    </a:p>
                  </a:txBody>
                  <a:tcPr marL="82296" marR="64008" marT="32004" marB="32004" anchor="ctr">
                    <a:solidFill>
                      <a:srgbClr val="F6F3EF"/>
                    </a:solidFill>
                  </a:tcPr>
                </a:tc>
                <a:tc>
                  <a:txBody>
                    <a:bodyPr wrap="square"/>
                    <a:lstStyle/>
                    <a:p>
                      <a:pPr algn="l"/>
                      <a:r>
                        <a:rPr sz="950" b="0">
                          <a:solidFill>
                            <a:srgbClr val="1C1C1E"/>
                          </a:solidFill>
                          <a:latin typeface="Calibri"/>
                        </a:rPr>
                        <a:t>410</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is revoked</a:t>
                      </a:r>
                    </a:p>
                  </a:txBody>
                  <a:tcPr marL="82296" marR="64008" marT="32004" marB="32004" anchor="ctr">
                    <a:solidFill>
                      <a:srgbClr val="F6F3EF"/>
                    </a:solidFill>
                  </a:tcPr>
                </a:tc>
                <a:tc>
                  <a:txBody>
                    <a:bodyPr wrap="square"/>
                    <a:lstStyle/>
                    <a:p>
                      <a:pPr algn="l"/>
                      <a:r>
                        <a:rPr sz="950" b="0">
                          <a:solidFill>
                            <a:srgbClr val="1C1C1E"/>
                          </a:solidFill>
                          <a:latin typeface="Calibri"/>
                        </a:rPr>
                        <a:t>Stop — do not retry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provider_unavailable</a:t>
                      </a:r>
                    </a:p>
                  </a:txBody>
                  <a:tcPr marL="82296" marR="64008" marT="32004" marB="32004" anchor="ctr">
                    <a:solidFill>
                      <a:srgbClr val="FFFFFF"/>
                    </a:solidFill>
                  </a:tcPr>
                </a:tc>
                <a:tc>
                  <a:txBody>
                    <a:bodyPr wrap="square"/>
                    <a:lstStyle/>
                    <a:p>
                      <a:pPr algn="l"/>
                      <a:r>
                        <a:rPr sz="950" b="0">
                          <a:solidFill>
                            <a:srgbClr val="1C1C1E"/>
                          </a:solidFill>
                          <a:latin typeface="Calibri"/>
                        </a:rPr>
                        <a:t>501</a:t>
                      </a:r>
                    </a:p>
                  </a:txBody>
                  <a:tcPr marL="82296" marR="64008" marT="32004" marB="32004" anchor="ctr">
                    <a:solidFill>
                      <a:srgbClr val="FFFFFF"/>
                    </a:solidFill>
                  </a:tcPr>
                </a:tc>
                <a:tc>
                  <a:txBody>
                    <a:bodyPr wrap="square"/>
                    <a:lstStyle/>
                    <a:p>
                      <a:pPr algn="l"/>
                      <a:r>
                        <a:rPr sz="950" b="0">
                          <a:solidFill>
                            <a:srgbClr val="1C1C1E"/>
                          </a:solidFill>
                          <a:latin typeface="Calibri"/>
                        </a:rPr>
                        <a:t>This instance was never wired to a provider</a:t>
                      </a:r>
                    </a:p>
                  </a:txBody>
                  <a:tcPr marL="82296" marR="64008" marT="32004" marB="32004" anchor="ctr">
                    <a:solidFill>
                      <a:srgbClr val="FFFFFF"/>
                    </a:solidFill>
                  </a:tcPr>
                </a:tc>
                <a:tc>
                  <a:txBody>
                    <a:bodyPr wrap="square"/>
                    <a:lstStyle/>
                    <a:p>
                      <a:pPr algn="l"/>
                      <a:r>
                        <a:rPr sz="950" b="0">
                          <a:solidFill>
                            <a:srgbClr val="1C1C1E"/>
                          </a:solidFill>
                          <a:latin typeface="Calibri"/>
                        </a:rPr>
                        <a:t>A deployment decision, not a transient fault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fibration_incomplete</a:t>
                      </a:r>
                    </a:p>
                  </a:txBody>
                  <a:tcPr marL="82296" marR="64008" marT="32004" marB="32004" anchor="ctr">
                    <a:solidFill>
                      <a:srgbClr val="F6F3EF"/>
                    </a:solidFill>
                  </a:tcPr>
                </a:tc>
                <a:tc>
                  <a:txBody>
                    <a:bodyPr wrap="square"/>
                    <a:lstStyle/>
                    <a:p>
                      <a:pPr algn="l"/>
                      <a:r>
                        <a:rPr sz="950" b="0">
                          <a:solidFill>
                            <a:srgbClr val="1C1C1E"/>
                          </a:solidFill>
                          <a:latin typeface="Calibri"/>
                        </a:rPr>
                        <a:t>503</a:t>
                      </a:r>
                    </a:p>
                  </a:txBody>
                  <a:tcPr marL="82296" marR="64008" marT="32004" marB="32004" anchor="ctr">
                    <a:solidFill>
                      <a:srgbClr val="F6F3EF"/>
                    </a:solidFill>
                  </a:tcPr>
                </a:tc>
                <a:tc>
                  <a:txBody>
                    <a:bodyPr wrap="square"/>
                    <a:lstStyle/>
                    <a:p>
                      <a:pPr algn="l"/>
                      <a:r>
                        <a:rPr sz="950" b="0">
                          <a:solidFill>
                            <a:srgbClr val="1C1C1E"/>
                          </a:solidFill>
                          <a:latin typeface="Calibri"/>
                        </a:rPr>
                        <a:t>A model class with no fibre reached HTTP</a:t>
                      </a:r>
                    </a:p>
                  </a:txBody>
                  <a:tcPr marL="82296" marR="64008" marT="32004" marB="32004" anchor="ctr">
                    <a:solidFill>
                      <a:srgbClr val="F6F3EF"/>
                    </a:solidFill>
                  </a:tcPr>
                </a:tc>
                <a:tc>
                  <a:txBody>
                    <a:bodyPr wrap="square"/>
                    <a:lstStyle/>
                    <a:p>
                      <a:pPr algn="l"/>
                      <a:r>
                        <a:rPr sz="950" b="0">
                          <a:solidFill>
                            <a:srgbClr val="1C1C1E"/>
                          </a:solidFill>
                          <a:latin typeface="Calibri"/>
                        </a:rPr>
                        <a:t>This instance is not fit to answer</a:t>
                      </a:r>
                    </a:p>
                  </a:txBody>
                  <a:tcPr marL="82296" marR="64008" marT="32004" marB="32004" anchor="ctr">
                    <a:solidFill>
                      <a:srgbClr val="F6F3EF"/>
                    </a:solidFill>
                  </a:tcPr>
                </a:tc>
              </a:tr>
            </a:tbl>
          </a:graphicData>
        </a:graphic>
      </p:graphicFrame>
      <p:sp>
        <p:nvSpPr>
          <p:cNvPr id="11" name="TextBox 10"/>
          <p:cNvSpPr txBox="1"/>
          <p:nvPr/>
        </p:nvSpPr>
        <p:spPr>
          <a:xfrm>
            <a:off x="777240" y="5563971"/>
            <a:ext cx="10637215" cy="73152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fields, always: error, detail, remediation. </a:t>
            </a:r>
            <a:r>
              <a:rPr sz="1050" b="0" i="0">
                <a:solidFill>
                  <a:srgbClr val="1C1C1E"/>
                </a:solidFill>
                <a:latin typeface="Calibri"/>
              </a:rPr>
              <a:t>The code says what was refused, the detail says what was violated, and the remediation says what to do — not what went wrong. The status is a decision about who must act rather than about who is at fault, which is why provider_unavailable is 501 and not 503. 133 of the 312 are 422, 70 are 409, 35 are 403, 28 are 404. test_refusal_discipline.py asserts that every code maps to a status and that none is mapped twice.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THE HONEST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Operations — what is measured, and what is a target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TextBox 9"/>
          <p:cNvSpPr txBox="1"/>
          <p:nvPr/>
        </p:nvSpPr>
        <p:spPr>
          <a:xfrm>
            <a:off x="777240"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a:t>
            </a:r>
          </a:p>
        </p:txBody>
      </p:sp>
      <p:graphicFrame>
        <p:nvGraphicFramePr>
          <p:cNvPr id="11" name="Table 10"/>
          <p:cNvGraphicFramePr>
            <a:graphicFrameLocks noGrp="1"/>
          </p:cNvGraphicFramePr>
          <p:nvPr/>
        </p:nvGraphicFramePr>
        <p:xfrm>
          <a:off x="777240" y="1682495"/>
          <a:ext cx="5105862" cy="3507864"/>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Surface</a:t>
                      </a:r>
                    </a:p>
                  </a:txBody>
                  <a:tcPr marL="82296" marR="64008" marT="32004" marB="32004" anchor="ctr">
                    <a:solidFill>
                      <a:srgbClr val="A51C30"/>
                    </a:solidFill>
                  </a:tcPr>
                </a:tc>
                <a:tc>
                  <a:txBody>
                    <a:bodyPr wrap="square"/>
                    <a:lstStyle/>
                    <a:p>
                      <a:pPr algn="l"/>
                      <a:r>
                        <a:rPr sz="950" b="1">
                          <a:solidFill>
                            <a:srgbClr val="FFFFFF"/>
                          </a:solidFill>
                          <a:latin typeface="Calibri"/>
                        </a:rPr>
                        <a:t>What it does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/health, /health/live</a:t>
                      </a:r>
                    </a:p>
                  </a:txBody>
                  <a:tcPr marL="82296" marR="64008" marT="32004" marB="32004" anchor="ctr">
                    <a:solidFill>
                      <a:srgbClr val="FFFFFF"/>
                    </a:solidFill>
                  </a:tcPr>
                </a:tc>
                <a:tc>
                  <a:txBody>
                    <a:bodyPr wrap="square"/>
                    <a:lstStyle/>
                    <a:p>
                      <a:pPr algn="l"/>
                      <a:r>
                        <a:rPr sz="900" b="0">
                          <a:solidFill>
                            <a:srgbClr val="1C1C1E"/>
                          </a:solidFill>
                          <a:latin typeface="Calibri"/>
                        </a:rPr>
                        <a:t>Trivial liveness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/health/ready</a:t>
                      </a:r>
                    </a:p>
                  </a:txBody>
                  <a:tcPr marL="82296" marR="64008" marT="32004" marB="32004" anchor="ctr">
                    <a:solidFill>
                      <a:srgbClr val="F6F3EF"/>
                    </a:solidFill>
                  </a:tcPr>
                </a:tc>
                <a:tc>
                  <a:txBody>
                    <a:bodyPr wrap="square"/>
                    <a:lstStyle/>
                    <a:p>
                      <a:pPr algn="l"/>
                      <a:r>
                        <a:rPr sz="900" b="0">
                          <a:solidFill>
                            <a:srgbClr val="1C1C1E"/>
                          </a:solidFill>
                          <a:latin typeface="Calibri"/>
                        </a:rPr>
                        <a:t>Includes the evidence chain and its anchors — a chain that does not verify returns 503, because the assurance claims cannot be trusted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Nine scheduler jobs</a:t>
                      </a:r>
                    </a:p>
                  </a:txBody>
                  <a:tcPr marL="82296" marR="64008" marT="32004" marB="32004" anchor="ctr">
                    <a:solidFill>
                      <a:srgbClr val="FFFFFF"/>
                    </a:solidFill>
                  </a:tcPr>
                </a:tc>
                <a:tc>
                  <a:txBody>
                    <a:bodyPr wrap="square"/>
                    <a:lstStyle/>
                    <a:p>
                      <a:pPr algn="l"/>
                      <a:r>
                        <a:rPr sz="900" b="0">
                          <a:solidFill>
                            <a:srgbClr val="1C1C1E"/>
                          </a:solidFill>
                          <a:latin typeface="Calibri"/>
                        </a:rPr>
                        <a:t>Each idempotent, each re-deriving its own condition; anchoring and full chain verification are two of them</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One logger, one format</a:t>
                      </a:r>
                    </a:p>
                  </a:txBody>
                  <a:tcPr marL="82296" marR="64008" marT="32004" marB="32004" anchor="ctr">
                    <a:solidFill>
                      <a:srgbClr val="F6F3EF"/>
                    </a:solidFill>
                  </a:tcPr>
                </a:tc>
                <a:tc>
                  <a:txBody>
                    <a:bodyPr wrap="square"/>
                    <a:lstStyle/>
                    <a:p>
                      <a:pPr algn="l"/>
                      <a:r>
                        <a:rPr sz="900" b="0">
                          <a:solidFill>
                            <a:srgbClr val="1C1C1E"/>
                          </a:solidFill>
                          <a:latin typeface="Calibri"/>
                        </a:rPr>
                        <a:t>Request id and acting principal on every line; a refusal is logged at WARNING because it is a governance decision</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The scale suite</a:t>
                      </a:r>
                    </a:p>
                  </a:txBody>
                  <a:tcPr marL="82296" marR="64008" marT="32004" marB="32004" anchor="ctr">
                    <a:solidFill>
                      <a:srgbClr val="FFFFFF"/>
                    </a:solidFill>
                  </a:tcPr>
                </a:tc>
                <a:tc>
                  <a:txBody>
                    <a:bodyPr wrap="square"/>
                    <a:lstStyle/>
                    <a:p>
                      <a:pPr algn="l"/>
                      <a:r>
                        <a:rPr sz="900" b="0">
                          <a:solidFill>
                            <a:srgbClr val="1C1C1E"/>
                          </a:solidFill>
                          <a:latin typeface="Calibri"/>
                        </a:rPr>
                        <a:t>19 tests, marked scale and excluded by default. It asserts COMPLEXITY, not milliseconds — doubling the estate must not more than double the work</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test_laws.py</a:t>
                      </a:r>
                    </a:p>
                  </a:txBody>
                  <a:tcPr marL="82296" marR="64008" marT="32004" marB="32004" anchor="ctr">
                    <a:solidFill>
                      <a:srgbClr val="F6F3EF"/>
                    </a:solidFill>
                  </a:tcPr>
                </a:tc>
                <a:tc>
                  <a:txBody>
                    <a:bodyPr wrap="square"/>
                    <a:lstStyle/>
                    <a:p>
                      <a:pPr algn="l"/>
                      <a:r>
                        <a:rPr sz="900" b="0">
                          <a:solidFill>
                            <a:srgbClr val="1C1C1E"/>
                          </a:solidFill>
                          <a:latin typeface="Calibri"/>
                        </a:rPr>
                        <a:t>Sixteen of the twenty-one foundational laws are executable and run as tests; the five that do not are named with the reason. All fourteen warrant laws run before a signature</a:t>
                      </a:r>
                    </a:p>
                  </a:txBody>
                  <a:tcPr marL="82296" marR="64008" marT="32004" marB="32004" anchor="ctr">
                    <a:solidFill>
                      <a:srgbClr val="F6F3EF"/>
                    </a:solidFill>
                  </a:tcPr>
                </a:tc>
              </a:tr>
            </a:tbl>
          </a:graphicData>
        </a:graphic>
      </p:graphicFrame>
      <p:sp>
        <p:nvSpPr>
          <p:cNvPr id="12" name="TextBox 11"/>
          <p:cNvSpPr txBox="1"/>
          <p:nvPr/>
        </p:nvSpPr>
        <p:spPr>
          <a:xfrm>
            <a:off x="6308591"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Not built — and named rather than implied</a:t>
            </a:r>
          </a:p>
        </p:txBody>
      </p:sp>
      <p:graphicFrame>
        <p:nvGraphicFramePr>
          <p:cNvPr id="13" name="Table 12"/>
          <p:cNvGraphicFramePr>
            <a:graphicFrameLocks noGrp="1"/>
          </p:cNvGraphicFramePr>
          <p:nvPr/>
        </p:nvGraphicFramePr>
        <p:xfrm>
          <a:off x="6308591" y="1682495"/>
          <a:ext cx="5105862" cy="2755085"/>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Claimed elsewhere</a:t>
                      </a:r>
                    </a:p>
                  </a:txBody>
                  <a:tcPr marL="82296" marR="64008" marT="32004" marB="32004" anchor="ctr">
                    <a:solidFill>
                      <a:srgbClr val="A51C30"/>
                    </a:solidFill>
                  </a:tcPr>
                </a:tc>
                <a:tc>
                  <a:txBody>
                    <a:bodyPr wrap="square"/>
                    <a:lstStyle/>
                    <a:p>
                      <a:pPr algn="l"/>
                      <a:r>
                        <a:rPr sz="950" b="1">
                          <a:solidFill>
                            <a:srgbClr val="FFFFFF"/>
                          </a:solidFill>
                          <a:latin typeface="Calibri"/>
                        </a:rPr>
                        <a:t>Here</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SLOs and error budgets</a:t>
                      </a:r>
                    </a:p>
                  </a:txBody>
                  <a:tcPr marL="82296" marR="64008" marT="32004" marB="32004" anchor="ctr">
                    <a:solidFill>
                      <a:srgbClr val="FFFFFF"/>
                    </a:solidFill>
                  </a:tcPr>
                </a:tc>
                <a:tc>
                  <a:txBody>
                    <a:bodyPr wrap="square"/>
                    <a:lstStyle/>
                    <a:p>
                      <a:pPr algn="l"/>
                      <a:r>
                        <a:rPr sz="900" b="0">
                          <a:solidFill>
                            <a:srgbClr val="1C1C1E"/>
                          </a:solidFill>
                          <a:latin typeface="Calibri"/>
                        </a:rPr>
                        <a:t>Every performance figure in the requirements is a TARGET. No load test has been run and no p99 has been measured under concurrency</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Golden signals, dashboards</a:t>
                      </a:r>
                    </a:p>
                  </a:txBody>
                  <a:tcPr marL="82296" marR="64008" marT="32004" marB="32004" anchor="ctr">
                    <a:solidFill>
                      <a:srgbClr val="F6F3EF"/>
                    </a:solidFill>
                  </a:tcPr>
                </a:tc>
                <a:tc>
                  <a:txBody>
                    <a:bodyPr wrap="square"/>
                    <a:lstStyle/>
                    <a:p>
                      <a:pPr algn="l"/>
                      <a:r>
                        <a:rPr sz="900" b="0">
                          <a:solidFill>
                            <a:srgbClr val="1C1C1E"/>
                          </a:solidFill>
                          <a:latin typeface="Calibri"/>
                        </a:rPr>
                        <a:t>No Prometheus, no OpenTelemetry, no metrics endpoint. The three health probes are the whole observability surface</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Runbooks</a:t>
                      </a:r>
                    </a:p>
                  </a:txBody>
                  <a:tcPr marL="82296" marR="64008" marT="32004" marB="32004" anchor="ctr">
                    <a:solidFill>
                      <a:srgbClr val="FFFFFF"/>
                    </a:solidFill>
                  </a:tcPr>
                </a:tc>
                <a:tc>
                  <a:txBody>
                    <a:bodyPr wrap="square"/>
                    <a:lstStyle/>
                    <a:p>
                      <a:pPr algn="l"/>
                      <a:r>
                        <a:rPr sz="900" b="0">
                          <a:solidFill>
                            <a:srgbClr val="1C1C1E"/>
                          </a:solidFill>
                          <a:latin typeface="Calibri"/>
                        </a:rPr>
                        <a:t>There are none. Of the ten the design lists, three name a subsystem or a topology that does not exist — outbox lag, cache stampede, regional failover</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A build that fails</a:t>
                      </a:r>
                    </a:p>
                  </a:txBody>
                  <a:tcPr marL="82296" marR="64008" marT="32004" marB="32004" anchor="ctr">
                    <a:solidFill>
                      <a:srgbClr val="F6F3EF"/>
                    </a:solidFill>
                  </a:tcPr>
                </a:tc>
                <a:tc>
                  <a:txBody>
                    <a:bodyPr wrap="square"/>
                    <a:lstStyle/>
                    <a:p>
                      <a:pPr algn="l"/>
                      <a:r>
                        <a:rPr sz="900" b="0">
                          <a:solidFill>
                            <a:srgbClr val="1C1C1E"/>
                          </a:solidFill>
                          <a:latin typeface="Calibri"/>
                        </a:rPr>
                        <a:t>CI runs the suite in four shards, the seven discipline walkers, the laws and both SQL dialects, on every push and pull request. Still absent: a type checker, a linter, a coverage gate and any security scanning</a:t>
                      </a:r>
                    </a:p>
                  </a:txBody>
                  <a:tcPr marL="82296" marR="64008" marT="32004" marB="32004" anchor="ctr">
                    <a:solidFill>
                      <a:srgbClr val="F6F3EF"/>
                    </a:solidFill>
                  </a:tcPr>
                </a:tc>
              </a:tr>
            </a:tbl>
          </a:graphicData>
        </a:graphic>
      </p:graphicFrame>
      <p:sp>
        <p:nvSpPr>
          <p:cNvPr id="14" name="Rectangle 13"/>
          <p:cNvSpPr/>
          <p:nvPr/>
        </p:nvSpPr>
        <p:spPr>
          <a:xfrm>
            <a:off x="777240" y="5409819"/>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5409819"/>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51560" y="5528691"/>
            <a:ext cx="1008857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control asserted and not there is the failure this platform exists to prevent. </a:t>
            </a:r>
            <a:r>
              <a:rPr sz="1050" b="0" i="0">
                <a:solidFill>
                  <a:srgbClr val="1C1C1E"/>
                </a:solidFill>
                <a:latin typeface="Calibri"/>
              </a:rPr>
              <a:t>Which is why this page is a list of absences rather than a page of green targets. The capacity model — 1,500 models rising to 5,000, 25 M evidence nodes, 80 TB of Delta features — is a sizing projection and not a measurement, and full chain verification at forty thousand nodes was 2.9 seconds and 83 MB, which is measured.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against one definition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P is a record — an estimate, a calibration, and a seed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98</a:t>
            </a:r>
          </a:p>
        </p:txBody>
      </p:sp>
      <p:graphicFrame>
        <p:nvGraphicFramePr>
          <p:cNvPr id="10" name="Table 9"/>
          <p:cNvGraphicFramePr>
            <a:graphicFrameLocks noGrp="1"/>
          </p:cNvGraphicFramePr>
          <p:nvPr/>
        </p:nvGraphicFramePr>
        <p:xfrm>
          <a:off x="777240" y="1764792"/>
          <a:ext cx="10637212" cy="2073348"/>
        </p:xfrm>
        <a:graphic>
          <a:graphicData uri="http://schemas.openxmlformats.org/drawingml/2006/table">
            <a:tbl>
              <a:tblPr firstRow="1">
                <a:tableStyleId>{5C22544A-7EE6-4342-B048-85BDC9FD1C3A}</a:tableStyleId>
              </a:tblPr>
              <a:tblGrid>
                <a:gridCol w="1506938"/>
                <a:gridCol w="2127443"/>
                <a:gridCol w="2836590"/>
                <a:gridCol w="1861512"/>
                <a:gridCol w="2304729"/>
              </a:tblGrid>
              <a:tr h="329184">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P is</a:t>
                      </a:r>
                    </a:p>
                  </a:txBody>
                  <a:tcPr marL="82296" marR="64008" marT="32004" marB="32004" anchor="ctr">
                    <a:solidFill>
                      <a:srgbClr val="A51C30"/>
                    </a:solidFill>
                  </a:tcPr>
                </a:tc>
                <a:tc>
                  <a:txBody>
                    <a:bodyPr wrap="square"/>
                    <a:lstStyle/>
                    <a:p>
                      <a:pPr algn="l"/>
                      <a:r>
                        <a:rPr sz="900" b="1">
                          <a:solidFill>
                            <a:srgbClr val="FFFFFF"/>
                          </a:solidFill>
                          <a:latin typeface="Calibri"/>
                        </a:rPr>
                        <a:t>Filled by</a:t>
                      </a:r>
                    </a:p>
                  </a:txBody>
                  <a:tcPr marL="82296" marR="64008" marT="32004" marB="32004" anchor="ctr">
                    <a:solidFill>
                      <a:srgbClr val="A51C30"/>
                    </a:solidFill>
                  </a:tcPr>
                </a:tc>
                <a:tc>
                  <a:txBody>
                    <a:bodyPr wrap="square"/>
                    <a:lstStyle/>
                    <a:p>
                      <a:pPr algn="l"/>
                      <a:r>
                        <a:rPr sz="900" b="1">
                          <a:solidFill>
                            <a:srgbClr val="FFFFFF"/>
                          </a:solidFill>
                          <a:latin typeface="Calibri"/>
                        </a:rPr>
                        <a:t>Kind · class</a:t>
                      </a:r>
                    </a:p>
                  </a:txBody>
                  <a:tcPr marL="82296" marR="64008" marT="32004" marB="32004" anchor="ctr">
                    <a:solidFill>
                      <a:srgbClr val="A51C30"/>
                    </a:solidFill>
                  </a:tcPr>
                </a:tc>
                <a:tc>
                  <a:txBody>
                    <a:bodyPr wrap="square"/>
                    <a:lstStyle/>
                    <a:p>
                      <a:pPr algn="l"/>
                      <a:r>
                        <a:rPr sz="900" b="1">
                          <a:solidFill>
                            <a:srgbClr val="FFFFFF"/>
                          </a:solidFill>
                          <a:latin typeface="Calibri"/>
                        </a:rPr>
                        <a:t>What review reads first</a:t>
                      </a:r>
                    </a:p>
                  </a:txBody>
                  <a:tcPr marL="82296" marR="64008" marT="32004" marB="32004" anchor="ctr">
                    <a:solidFill>
                      <a:srgbClr val="A51C30"/>
                    </a:solidFill>
                  </a:tcPr>
                </a:tc>
              </a:tr>
              <a:tr h="436041">
                <a:tc>
                  <a:txBody>
                    <a:bodyPr wrap="square"/>
                    <a:lstStyle/>
                    <a:p>
                      <a:pPr algn="l"/>
                      <a:r>
                        <a:rPr sz="850" b="1">
                          <a:solidFill>
                            <a:srgbClr val="A51C30"/>
                          </a:solidFill>
                          <a:latin typeface="Calibri"/>
                        </a:rPr>
                        <a:t>Linear regression</a:t>
                      </a:r>
                    </a:p>
                  </a:txBody>
                  <a:tcPr marL="82296" marR="64008" marT="32004" marB="32004" anchor="ctr">
                    <a:solidFill>
                      <a:srgbClr val="FFFFFF"/>
                    </a:solidFill>
                  </a:tcPr>
                </a:tc>
                <a:tc>
                  <a:txBody>
                    <a:bodyPr wrap="square"/>
                    <a:lstStyle/>
                    <a:p>
                      <a:pPr algn="l"/>
                      <a:r>
                        <a:rPr sz="85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850" b="0">
                          <a:solidFill>
                            <a:srgbClr val="1C1C1E"/>
                          </a:solidFill>
                          <a:latin typeface="Calibri"/>
                        </a:rPr>
                        <a:t>ordinary least squares, in MAYA's estimator</a:t>
                      </a:r>
                    </a:p>
                  </a:txBody>
                  <a:tcPr marL="82296" marR="64008" marT="32004" marB="32004" anchor="ctr">
                    <a:solidFill>
                      <a:srgbClr val="FFFFF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FFFFF"/>
                    </a:solidFill>
                  </a:tcPr>
                </a:tc>
                <a:tc>
                  <a:txBody>
                    <a:bodyPr wrap="square"/>
                    <a:lstStyle/>
                    <a:p>
                      <a:pPr algn="l"/>
                      <a:r>
                        <a:rPr sz="850" b="0">
                          <a:solidFill>
                            <a:srgbClr val="1C1C1E"/>
                          </a:solidFill>
                          <a:latin typeface="Calibri"/>
                        </a:rPr>
                        <a:t>the condition number, before the R-squared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GARCH / ARIMA</a:t>
                      </a:r>
                    </a:p>
                  </a:txBody>
                  <a:tcPr marL="82296" marR="64008" marT="32004" marB="32004" anchor="ctr">
                    <a:solidFill>
                      <a:srgbClr val="F6F3EF"/>
                    </a:solidFill>
                  </a:tcPr>
                </a:tc>
                <a:tc>
                  <a:txBody>
                    <a:bodyPr wrap="square"/>
                    <a:lstStyle/>
                    <a:p>
                      <a:pPr algn="l"/>
                      <a:r>
                        <a:rPr sz="850" b="0">
                          <a:solidFill>
                            <a:srgbClr val="1C1C1E"/>
                          </a:solidFill>
                          <a:latin typeface="Calibri"/>
                        </a:rPr>
                        <a:t>omega, alpha, beta</a:t>
                      </a:r>
                    </a:p>
                  </a:txBody>
                  <a:tcPr marL="82296" marR="64008" marT="32004" marB="32004" anchor="ctr">
                    <a:solidFill>
                      <a:srgbClr val="F6F3EF"/>
                    </a:solidFill>
                  </a:tcPr>
                </a:tc>
                <a:tc>
                  <a:txBody>
                    <a:bodyPr wrap="square"/>
                    <a:lstStyle/>
                    <a:p>
                      <a:pPr algn="l"/>
                      <a:r>
                        <a:rPr sz="850" b="0">
                          <a:solidFill>
                            <a:srgbClr val="1C1C1E"/>
                          </a:solidFill>
                          <a:latin typeface="Calibri"/>
                        </a:rPr>
                        <a:t>maximum likelihood; an unconverged fit is refused</a:t>
                      </a:r>
                    </a:p>
                  </a:txBody>
                  <a:tcPr marL="82296" marR="64008" marT="32004" marB="32004" anchor="ctr">
                    <a:solidFill>
                      <a:srgbClr val="F6F3E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6F3EF"/>
                    </a:solidFill>
                  </a:tcPr>
                </a:tc>
                <a:tc>
                  <a:txBody>
                    <a:bodyPr wrap="square"/>
                    <a:lstStyle/>
                    <a:p>
                      <a:pPr algn="l"/>
                      <a:r>
                        <a:rPr sz="850" b="0">
                          <a:solidFill>
                            <a:srgbClr val="1C1C1E"/>
                          </a:solidFill>
                          <a:latin typeface="Calibri"/>
                        </a:rPr>
                        <a:t>convergence, and alpha + beta &lt; 1, enforced while solving</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Hull-White</a:t>
                      </a:r>
                    </a:p>
                  </a:txBody>
                  <a:tcPr marL="82296" marR="64008" marT="32004" marB="32004" anchor="ctr">
                    <a:solidFill>
                      <a:srgbClr val="FFFFFF"/>
                    </a:solidFill>
                  </a:tcPr>
                </a:tc>
                <a:tc>
                  <a:txBody>
                    <a:bodyPr wrap="square"/>
                    <a:lstStyle/>
                    <a:p>
                      <a:pPr algn="l"/>
                      <a:r>
                        <a:rPr sz="85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850" b="0">
                          <a:solidFill>
                            <a:srgbClr val="1C1C1E"/>
                          </a:solidFill>
                          <a:latin typeface="Calibri"/>
                        </a:rPr>
                        <a:t>a solver against the swaption grid, one set a morning</a:t>
                      </a:r>
                    </a:p>
                  </a:txBody>
                  <a:tcPr marL="82296" marR="64008" marT="32004" marB="32004" anchor="ctr">
                    <a:solidFill>
                      <a:srgbClr val="FFFFF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FFFFF"/>
                    </a:solidFill>
                  </a:tcPr>
                </a:tc>
                <a:tc>
                  <a:txBody>
                    <a:bodyPr wrap="square"/>
                    <a:lstStyle/>
                    <a:p>
                      <a:pPr algn="l"/>
                      <a:r>
                        <a:rPr sz="850" b="0">
                          <a:solidFill>
                            <a:srgbClr val="1C1C1E"/>
                          </a:solidFill>
                          <a:latin typeface="Calibri"/>
                        </a:rPr>
                        <a:t>the residuals - there is no label to wait for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Monte Carlo XVA</a:t>
                      </a:r>
                    </a:p>
                  </a:txBody>
                  <a:tcPr marL="82296" marR="64008" marT="32004" marB="32004" anchor="ctr">
                    <a:solidFill>
                      <a:srgbClr val="F6F3EF"/>
                    </a:solidFill>
                  </a:tcPr>
                </a:tc>
                <a:tc>
                  <a:txBody>
                    <a:bodyPr wrap="square"/>
                    <a:lstStyle/>
                    <a:p>
                      <a:pPr algn="l"/>
                      <a:r>
                        <a:rPr sz="850" b="0">
                          <a:solidFill>
                            <a:srgbClr val="1C1C1E"/>
                          </a:solidFill>
                          <a:latin typeface="Calibri"/>
                        </a:rPr>
                        <a:t>parameters, seed, paths, scheme, antithetic</a:t>
                      </a:r>
                    </a:p>
                  </a:txBody>
                  <a:tcPr marL="82296" marR="64008" marT="32004" marB="32004" anchor="ctr">
                    <a:solidFill>
                      <a:srgbClr val="F6F3EF"/>
                    </a:solidFill>
                  </a:tcPr>
                </a:tc>
                <a:tc>
                  <a:txBody>
                    <a:bodyPr wrap="square"/>
                    <a:lstStyle/>
                    <a:p>
                      <a:pPr algn="l"/>
                      <a:r>
                        <a:rPr sz="85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6F3EF"/>
                    </a:solidFill>
                  </a:tcPr>
                </a:tc>
                <a:tc>
                  <a:txBody>
                    <a:bodyPr wrap="square"/>
                    <a:lstStyle/>
                    <a:p>
                      <a:pPr algn="l"/>
                      <a:r>
                        <a:rPr sz="850" b="0">
                          <a:solidFill>
                            <a:srgbClr val="1C1C1E"/>
                          </a:solidFill>
                          <a:latin typeface="Calibri"/>
                        </a:rPr>
                        <a:t>the standard error, and any determinism claim</a:t>
                      </a:r>
                    </a:p>
                  </a:txBody>
                  <a:tcPr marL="82296" marR="64008" marT="32004" marB="32004" anchor="ctr">
                    <a:solidFill>
                      <a:srgbClr val="F6F3EF"/>
                    </a:solidFill>
                  </a:tcPr>
                </a:tc>
              </a:tr>
            </a:tbl>
          </a:graphicData>
        </a:graphic>
      </p:graphicFrame>
      <p:sp>
        <p:nvSpPr>
          <p:cNvPr id="11" name="Rectangle 10"/>
          <p:cNvSpPr/>
          <p:nvPr/>
        </p:nvSpPr>
        <p:spPr>
          <a:xfrm>
            <a:off x="777240"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Values, digested</a:t>
            </a:r>
          </a:p>
        </p:txBody>
      </p:sp>
      <p:sp>
        <p:nvSpPr>
          <p:cNvPr id="15" name="TextBox 14"/>
          <p:cNvSpPr txBox="1"/>
          <p:nvPr/>
        </p:nvSpPr>
        <p:spPr>
          <a:xfrm>
            <a:off x="996695"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Rows in the parameter register. The digest is re-derived from the values at resolve time, never compared against a stored copy of itself.</a:t>
            </a:r>
          </a:p>
        </p:txBody>
      </p:sp>
      <p:sp>
        <p:nvSpPr>
          <p:cNvPr id="16" name="Rectangle 15"/>
          <p:cNvSpPr/>
          <p:nvPr/>
        </p:nvSpPr>
        <p:spPr>
          <a:xfrm>
            <a:off x="4408322"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One review, or one envelope</a:t>
            </a:r>
          </a:p>
        </p:txBody>
      </p:sp>
      <p:sp>
        <p:nvSpPr>
          <p:cNvPr id="20" name="TextBox 19"/>
          <p:cNvSpPr txBox="1"/>
          <p:nvPr/>
        </p:nvSpPr>
        <p:spPr>
          <a:xfrm>
            <a:off x="4627778"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Where sets are rare, each is approved by somebody who did not record it. Where there are 250 a year, a versioned, case-tested envelope accepts what fits and holds what does not - and a gate with no refusing case is refused at publication.</a:t>
            </a:r>
          </a:p>
        </p:txBody>
      </p:sp>
      <p:sp>
        <p:nvSpPr>
          <p:cNvPr id="21" name="Rectangle 20"/>
          <p:cNvSpPr/>
          <p:nvPr/>
        </p:nvSpPr>
        <p:spPr>
          <a:xfrm>
            <a:off x="8039404"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The warrant names the set</a:t>
            </a:r>
          </a:p>
        </p:txBody>
      </p:sp>
      <p:sp>
        <p:nvSpPr>
          <p:cNvPr id="25" name="TextBox 24"/>
          <p:cNvSpPr txBox="1"/>
          <p:nvPr/>
        </p:nvSpPr>
        <p:spPr>
          <a:xfrm>
            <a:off x="8258860"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648655"/>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648655"/>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767527"/>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An estimate and a calibration differ in what the numbers are for, not in the mathematics. </a:t>
            </a:r>
            <a:r>
              <a:rPr sz="850" b="0" i="0">
                <a:solidFill>
                  <a:srgbClr val="1C1C1E"/>
                </a:solidFill>
                <a:latin typeface="Calibri"/>
              </a:rPr>
              <a:t>An estimate summarises a history; a calibration reproduces a market, and provenance says which - so calibrated is its own class rather than a kind of training, and nobody approves 250 calibrations a year. The captive engine implements ols and garch11 only: fit the rest in your own engine, deliver the parameters back under the warrant, and none of the governance changes.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100</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Sixteen of twenty-one foundational laws run, and all fourteen warrant laws run before a signature. The five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it does not do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graphicFrame>
        <p:nvGraphicFramePr>
          <p:cNvPr id="10" name="Table 9"/>
          <p:cNvGraphicFramePr>
            <a:graphicFrameLocks noGrp="1"/>
          </p:cNvGraphicFramePr>
          <p:nvPr/>
        </p:nvGraphicFramePr>
        <p:xfrm>
          <a:off x="777240" y="1353312"/>
          <a:ext cx="10637215" cy="3800856"/>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1000" b="1">
                          <a:solidFill>
                            <a:srgbClr val="FFFFFF"/>
                          </a:solidFill>
                          <a:latin typeface="Calibri"/>
                        </a:rPr>
                        <a:t>Not built</a:t>
                      </a:r>
                    </a:p>
                  </a:txBody>
                  <a:tcPr marL="82296" marR="64008" marT="32004" marB="32004" anchor="ctr">
                    <a:solidFill>
                      <a:srgbClr val="A51C30"/>
                    </a:solidFill>
                  </a:tcPr>
                </a:tc>
                <a:tc>
                  <a:txBody>
                    <a:bodyPr wrap="square"/>
                    <a:lstStyle/>
                    <a:p>
                      <a:pPr algn="l"/>
                      <a:r>
                        <a:rPr sz="1000" b="1">
                          <a:solidFill>
                            <a:srgbClr val="FFFFFF"/>
                          </a:solidFill>
                          <a:latin typeface="Calibri"/>
                        </a:rPr>
                        <a:t>What that means today</a:t>
                      </a:r>
                    </a:p>
                  </a:txBody>
                  <a:tcPr marL="82296" marR="64008" marT="32004" marB="32004" anchor="ctr">
                    <a:solidFill>
                      <a:srgbClr val="A51C30"/>
                    </a:solidFill>
                  </a:tcPr>
                </a:tc>
              </a:tr>
              <a:tr h="828040">
                <a:tc>
                  <a:txBody>
                    <a:bodyPr wrap="square"/>
                    <a:lstStyle/>
                    <a:p>
                      <a:pPr algn="l"/>
                      <a:r>
                        <a:rPr sz="1000" b="1">
                          <a:solidFill>
                            <a:srgbClr val="A51C30"/>
                          </a:solidFill>
                          <a:latin typeface="Calibri"/>
                        </a:rPr>
                        <a:t>An external timestamp on the chain head</a:t>
                      </a:r>
                    </a:p>
                  </a:txBody>
                  <a:tcPr marL="82296" marR="64008" marT="32004" marB="32004" anchor="ctr">
                    <a:solidFill>
                      <a:srgbClr val="FFFFFF"/>
                    </a:solidFill>
                  </a:tcPr>
                </a:tc>
                <a:tc>
                  <a:txBody>
                    <a:bodyPr wrap="square"/>
                    <a:lstStyle/>
                    <a:p>
                      <a:pPr algn="l"/>
                      <a:r>
                        <a:rPr sz="1000" b="0">
                          <a:solidFill>
                            <a:srgbClr val="1C1C1E"/>
                          </a:solidFill>
                          <a:latin typeface="Calibri"/>
                        </a:rPr>
                        <a:t>the WORM half is now built — the chain head is written once, to a second medium, and verification asks whether the chain still agrees with what was written before. The shipped store is a directory, which gives separation of medium rather than enforcement; the control sees nothing before the first anchor; and RFC-3161 signing by an authority nobody here holds a key for is still a design</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Asymmetric warrant signatures</a:t>
                      </a:r>
                    </a:p>
                  </a:txBody>
                  <a:tcPr marL="82296" marR="64008" marT="32004" marB="32004" anchor="ctr">
                    <a:solidFill>
                      <a:srgbClr val="F6F3EF"/>
                    </a:solidFill>
                  </a:tcPr>
                </a:tc>
                <a:tc>
                  <a:txBody>
                    <a:bodyPr wrap="square"/>
                    <a:lstStyle/>
                    <a:p>
                      <a:pPr algn="l"/>
                      <a:r>
                        <a:rPr sz="1000" b="0">
                          <a:solidFill>
                            <a:srgbClr val="1C1C1E"/>
                          </a:solidFill>
                          <a:latin typeface="Calibri"/>
                        </a:rPr>
                        <a:t>HMAC today, so verifying a warrant requires holding the key that could mint one — the wrong shape for a contract handed to engines you do not control</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1000" b="0">
                          <a:solidFill>
                            <a:srgbClr val="1C1C1E"/>
                          </a:solidFill>
                          <a:latin typeface="Calibri"/>
                        </a:rPr>
                        <a:t>the Delta namespace IS the serving contract. Until a store exists, L-17 has nothing to compare against and training–serving skew is not detectable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Five foundational laws</a:t>
                      </a:r>
                    </a:p>
                  </a:txBody>
                  <a:tcPr marL="82296" marR="64008" marT="32004" marB="32004" anchor="ctr">
                    <a:solidFill>
                      <a:srgbClr val="F6F3EF"/>
                    </a:solidFill>
                  </a:tcPr>
                </a:tc>
                <a:tc>
                  <a:txBody>
                    <a:bodyPr wrap="square"/>
                    <a:lstStyle/>
                    <a:p>
                      <a:pPr algn="l"/>
                      <a:r>
                        <a:rPr sz="1000" b="0">
                          <a:solidFill>
                            <a:srgbClr val="1C1C1E"/>
                          </a:solidFill>
                          <a:latin typeface="Calibri"/>
                        </a:rPr>
                        <a:t>L-6, L-11, L-13, L-14, L-17 — each named in chapter 8 with the reason it does not yet run — and each of the five is a claim the deck makes and does not enforce</a:t>
                      </a:r>
                    </a:p>
                  </a:txBody>
                  <a:tcPr marL="82296" marR="64008" marT="32004" marB="32004" anchor="ctr">
                    <a:solidFill>
                      <a:srgbClr val="F6F3EF"/>
                    </a:solidFill>
                  </a:tcPr>
                </a:tc>
              </a:tr>
              <a:tr h="347472">
                <a:tc>
                  <a:txBody>
                    <a:bodyPr wrap="square"/>
                    <a:lstStyle/>
                    <a:p>
                      <a:pPr algn="l"/>
                      <a:r>
                        <a:rPr sz="1000" b="1">
                          <a:solidFill>
                            <a:srgbClr val="A51C30"/>
                          </a:solidFill>
                          <a:latin typeface="Calibri"/>
                        </a:rPr>
                        <a:t>Composite warrants and the interaction premium</a:t>
                      </a:r>
                    </a:p>
                  </a:txBody>
                  <a:tcPr marL="82296" marR="64008" marT="32004" marB="32004" anchor="ctr">
                    <a:solidFill>
                      <a:srgbClr val="FFFFFF"/>
                    </a:solidFill>
                  </a:tcPr>
                </a:tc>
                <a:tc>
                  <a:txBody>
                    <a:bodyPr wrap="square"/>
                    <a:lstStyle/>
                    <a:p>
                      <a:pPr algn="l"/>
                      <a:r>
                        <a:rPr sz="1000" b="0">
                          <a:solidFill>
                            <a:srgbClr val="1C1C1E"/>
                          </a:solidFill>
                          <a:latin typeface="Calibri"/>
                        </a:rPr>
                        <a:t>typed composition gives L-14 something to quantify over; the aggregate ρ is not built</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Discovery</a:t>
                      </a:r>
                    </a:p>
                  </a:txBody>
                  <a:tcPr marL="82296" marR="64008" marT="32004" marB="32004" anchor="ctr">
                    <a:solidFill>
                      <a:srgbClr val="F6F3EF"/>
                    </a:solidFill>
                  </a:tcPr>
                </a:tc>
                <a:tc>
                  <a:txBody>
                    <a:bodyPr wrap="square"/>
                    <a:lstStyle/>
                    <a:p>
                      <a:pPr algn="l"/>
                      <a:r>
                        <a:rPr sz="1000" b="0">
                          <a:solidFill>
                            <a:srgbClr val="1C1C1E"/>
                          </a:solidFill>
                          <a:latin typeface="Calibri"/>
                        </a:rPr>
                        <a:t>nothing sweeps for unregistered models or scans an EUC estate. The inventory is what somebody registered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infrastructure Part IV assumes</a:t>
                      </a:r>
                    </a:p>
                  </a:txBody>
                  <a:tcPr marL="82296" marR="64008" marT="32004" marB="32004" anchor="ctr">
                    <a:solidFill>
                      <a:srgbClr val="FFFFFF"/>
                    </a:solidFill>
                  </a:tcPr>
                </a:tc>
                <a:tc>
                  <a:txBody>
                    <a:bodyPr wrap="square"/>
                    <a:lstStyle/>
                    <a:p>
                      <a:pPr algn="l"/>
                      <a:r>
                        <a:rPr sz="1000" b="0">
                          <a:solidFill>
                            <a:srgbClr val="1C1C1E"/>
                          </a:solidFill>
                          <a:latin typeface="Calibri"/>
                        </a:rPr>
                        <a:t>no cache, no broker, no outbox, no read replica, no row-level security, no metrics endpoint, no CI — docs/14 §26 and §27 hold the list, and every performance figure here is a target, not a measurement</a:t>
                      </a:r>
                    </a:p>
                  </a:txBody>
                  <a:tcPr marL="82296" marR="64008" marT="32004" marB="32004" anchor="ctr">
                    <a:solidFill>
                      <a:srgbClr val="FFFFFF"/>
                    </a:solidFill>
                  </a:tcPr>
                </a:tc>
              </a:tr>
            </a:tbl>
          </a:graphicData>
        </a:graphic>
      </p:graphicFrame>
      <p:sp>
        <p:nvSpPr>
          <p:cNvPr id="11" name="Rectangle 10"/>
          <p:cNvSpPr/>
          <p:nvPr/>
        </p:nvSpPr>
        <p:spPr>
          <a:xfrm>
            <a:off x="777240" y="5355336"/>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55336"/>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74208"/>
            <a:ext cx="10180015" cy="43891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The gap is the part a reader most needs </a:t>
            </a:r>
            <a:r>
              <a:rPr sz="1050" b="1" i="0">
                <a:solidFill>
                  <a:srgbClr val="1C1C1E"/>
                </a:solidFill>
                <a:latin typeface="Calibri"/>
              </a:rPr>
              <a:t>to be told without asking.</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7871539" cy="137160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1000"/>
              </a:spcAft>
            </a:pPr>
            <a:r>
              <a:rPr sz="1100" b="0" i="0">
                <a:solidFill>
                  <a:srgbClr val="E8B8C0"/>
                </a:solidFill>
                <a:latin typeface="Calibri"/>
              </a:rPr>
              <a:t>Ashutosh Sinha  ·  Independent Researcher  ·  ajsinha@gmail.com</a:t>
            </a:r>
          </a:p>
          <a:p>
            <a:pPr>
              <a:lnSpc>
                <a:spcPct val="128000"/>
              </a:lnSpc>
              <a:spcBef>
                <a:spcPts val="0"/>
              </a:spcBef>
              <a:spcAft>
                <a:spcPts val="800"/>
              </a:spcAft>
            </a:pPr>
            <a:r>
              <a:rPr sz="9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0"/>
              </a:spcBef>
              <a:spcAft>
                <a:spcPts val="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