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827654"/>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L-17  contract–serving agreement</a:t>
                      </a:r>
                    </a:p>
                  </a:txBody>
                  <a:tcPr marL="82296" marR="64008" marT="32004" marB="32004" anchor="ctr">
                    <a:solidFill>
                      <a:srgbClr val="FFFFFF"/>
                    </a:solidFill>
                  </a:tcPr>
                </a:tc>
                <a:tc>
                  <a:txBody>
                    <a:bodyPr wrap="square"/>
                    <a:lstStyle/>
                    <a:p>
                      <a:pPr algn="l"/>
                      <a:r>
                        <a:rPr sz="900" b="0">
                          <a:solidFill>
                            <a:srgbClr val="1C1C1E"/>
                          </a:solidFill>
                          <a:latin typeface="Calibri"/>
                        </a:rPr>
                        <a:t>there is no online feature store to compare against; half of it exists — what serving must read is computed</a:t>
                      </a:r>
                    </a:p>
                  </a:txBody>
                  <a:tcPr marL="82296" marR="64008" marT="32004" marB="32004"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62</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Ten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195681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Designed, not built</a:t>
            </a:r>
          </a:p>
        </p:txBody>
      </p:sp>
      <p:sp>
        <p:nvSpPr>
          <p:cNvPr id="25" name="TextBox 24"/>
          <p:cNvSpPr txBox="1"/>
          <p:nvPr/>
        </p:nvSpPr>
        <p:spPr>
          <a:xfrm>
            <a:off x="7819445" y="2130552"/>
            <a:ext cx="3466993"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core/artifacts/store.py hashes and stores; it does not scan</a:t>
            </a:r>
          </a:p>
        </p:txBody>
      </p:sp>
      <p:sp>
        <p:nvSpPr>
          <p:cNvPr id="26" name="TextBox 25"/>
          <p:cNvSpPr txBox="1"/>
          <p:nvPr/>
        </p:nvSpPr>
        <p:spPr>
          <a:xfrm>
            <a:off x="7819445" y="23134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58775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secret and licence scans</a:t>
            </a:r>
          </a:p>
        </p:txBody>
      </p:sp>
      <p:sp>
        <p:nvSpPr>
          <p:cNvPr id="28" name="TextBox 27"/>
          <p:cNvSpPr txBox="1"/>
          <p:nvPr/>
        </p:nvSpPr>
        <p:spPr>
          <a:xfrm>
            <a:off x="7819445" y="286207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13639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Declared inputs reconciled against the feature registry</a:t>
            </a:r>
          </a:p>
        </p:txBody>
      </p:sp>
      <p:sp>
        <p:nvSpPr>
          <p:cNvPr id="30" name="TextBox 29"/>
          <p:cNvSpPr txBox="1"/>
          <p:nvPr/>
        </p:nvSpPr>
        <p:spPr>
          <a:xfrm>
            <a:off x="7819445" y="341071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Artifact promotion, signing and attestation</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Delta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Delta supplies the second clock — a version pinned per view, read through </a:t>
            </a:r>
            <a:r>
              <a:rPr sz="1150" b="0" i="0">
                <a:solidFill>
                  <a:srgbClr val="1C1C1E"/>
                </a:solidFill>
                <a:latin typeface="Consolas"/>
              </a:rPr>
              <a:t>deltalake</a:t>
            </a:r>
            <a:r>
              <a:rPr sz="1150" b="0" i="0">
                <a:solidFill>
                  <a:srgbClr val="1C1C1E"/>
                </a:solidFill>
                <a:latin typeface="Calibri"/>
              </a:rPr>
              <a:t>. There is no Spark here: the join is a Python loop over the rows of a pinned Delta version, which is the same operator at a smaller scale and is where a cluster engine would go.</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Delta as an ordinary, immutable, pinnable version. It costs a copy. It is the only way the operator survives contact with somebody else’s warehouse.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is one of the five that do not run. </a:t>
            </a:r>
            <a:r>
              <a:rPr sz="1100" b="0" i="0">
                <a:solidFill>
                  <a:srgbClr val="1C1C1E"/>
                </a:solidFill>
                <a:latin typeface="Calibri"/>
              </a:rPr>
              <a:t>It is a runtime check by nature: the namespace served must equal the namespace pinned, compared continuously, because nothing inspectable before deployment can see it. </a:t>
            </a:r>
            <a:r>
              <a:rPr sz="1100" b="1" i="0">
                <a:solidFill>
                  <a:srgbClr val="A51C30"/>
                </a:solidFill>
                <a:latin typeface="Calibri"/>
              </a:rPr>
              <a:t>Half of it exists: </a:t>
            </a:r>
            <a:r>
              <a:rPr sz="1100" b="0" i="0">
                <a:solidFill>
                  <a:srgbClr val="1C1C1E"/>
                </a:solidFill>
                <a:latin typeface="Calibri"/>
              </a:rPr>
              <a:t>core/features/contracts.py computes what serving must read. There is no online store to compare it against, so the table on the right is the design and not the behaviour.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a:t>
            </a:r>
          </a:p>
          <a:p>
            <a:pPr lvl="1">
              <a:spcBef>
                <a:spcPts val="0"/>
              </a:spcBef>
              <a:spcAft>
                <a:spcPts val="0"/>
              </a:spcAft>
            </a:pPr>
            <a:r>
              <a:rPr sz="900">
                <a:solidFill>
                  <a:srgbClr val="4A4F57"/>
                </a:solidFill>
                <a:latin typeface="Calibri"/>
              </a:rPr>
              <a:t>So verifying a warrant needs the key that could mint one. Asymmetric signing is designed and not built</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§26 — and the 50 ms p99 in the requirements is a target that nothing here measures. TTL jitter is built, which is the one piece that matters only once a cache exists.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§27 that are designed and not built; the boundary check on the left is the one part of it that is enforced today, at execution rather than in a report.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130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§27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2747998"/>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51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Ten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061866"/>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both SQL dialects, ruff and a type checker gating 203 modules, on every push and pull request. Still absent: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100</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111</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it does not do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graphicFrame>
        <p:nvGraphicFramePr>
          <p:cNvPr id="10" name="Table 9"/>
          <p:cNvGraphicFramePr>
            <a:graphicFrameLocks noGrp="1"/>
          </p:cNvGraphicFramePr>
          <p:nvPr/>
        </p:nvGraphicFramePr>
        <p:xfrm>
          <a:off x="777240" y="1353312"/>
          <a:ext cx="10637215" cy="3800856"/>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1000" b="1">
                          <a:solidFill>
                            <a:srgbClr val="FFFFFF"/>
                          </a:solidFill>
                          <a:latin typeface="Calibri"/>
                        </a:rPr>
                        <a:t>Not built</a:t>
                      </a:r>
                    </a:p>
                  </a:txBody>
                  <a:tcPr marL="82296" marR="64008" marT="32004" marB="32004" anchor="ctr">
                    <a:solidFill>
                      <a:srgbClr val="A51C30"/>
                    </a:solidFill>
                  </a:tcPr>
                </a:tc>
                <a:tc>
                  <a:txBody>
                    <a:bodyPr wrap="square"/>
                    <a:lstStyle/>
                    <a:p>
                      <a:pPr algn="l"/>
                      <a:r>
                        <a:rPr sz="1000" b="1">
                          <a:solidFill>
                            <a:srgbClr val="FFFFFF"/>
                          </a:solidFill>
                          <a:latin typeface="Calibri"/>
                        </a:rPr>
                        <a:t>What that means today</a:t>
                      </a:r>
                    </a:p>
                  </a:txBody>
                  <a:tcPr marL="82296" marR="64008" marT="32004" marB="32004" anchor="ctr">
                    <a:solidFill>
                      <a:srgbClr val="A51C30"/>
                    </a:solidFill>
                  </a:tcPr>
                </a:tc>
              </a:tr>
              <a:tr h="828040">
                <a:tc>
                  <a:txBody>
                    <a:bodyPr wrap="square"/>
                    <a:lstStyle/>
                    <a:p>
                      <a:pPr algn="l"/>
                      <a:r>
                        <a:rPr sz="1000" b="1">
                          <a:solidFill>
                            <a:srgbClr val="A51C30"/>
                          </a:solidFill>
                          <a:latin typeface="Calibri"/>
                        </a:rPr>
                        <a:t>An external timestamp on the chain head</a:t>
                      </a:r>
                    </a:p>
                  </a:txBody>
                  <a:tcPr marL="82296" marR="64008" marT="32004" marB="32004" anchor="ctr">
                    <a:solidFill>
                      <a:srgbClr val="FFFFFF"/>
                    </a:solidFill>
                  </a:tcPr>
                </a:tc>
                <a:tc>
                  <a:txBody>
                    <a:bodyPr wrap="square"/>
                    <a:lstStyle/>
                    <a:p>
                      <a:pPr algn="l"/>
                      <a:r>
                        <a:rPr sz="1000" b="0">
                          <a:solidFill>
                            <a:srgbClr val="1C1C1E"/>
                          </a:solidFill>
                          <a:latin typeface="Calibri"/>
                        </a:rPr>
                        <a:t>the WORM half is now built — the chain head is written once, to a second medium, and verification asks whether the chain still agrees with what was written before. The shipped store is a directory, which gives separation of medium rather than enforcement; the control sees nothing before the first anchor; and RFC-3161 signing by an authority nobody here holds a key for is still a design</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Asymmetric warrant signatures</a:t>
                      </a:r>
                    </a:p>
                  </a:txBody>
                  <a:tcPr marL="82296" marR="64008" marT="32004" marB="32004" anchor="ctr">
                    <a:solidFill>
                      <a:srgbClr val="F6F3EF"/>
                    </a:solidFill>
                  </a:tcPr>
                </a:tc>
                <a:tc>
                  <a:txBody>
                    <a:bodyPr wrap="square"/>
                    <a:lstStyle/>
                    <a:p>
                      <a:pPr algn="l"/>
                      <a:r>
                        <a:rPr sz="1000" b="0">
                          <a:solidFill>
                            <a:srgbClr val="1C1C1E"/>
                          </a:solidFill>
                          <a:latin typeface="Calibri"/>
                        </a:rPr>
                        <a:t>HMAC today, so verifying a warrant requires holding the key that could mint one — the wrong shape for a contract handed to engines you do not control</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1000" b="0">
                          <a:solidFill>
                            <a:srgbClr val="1C1C1E"/>
                          </a:solidFill>
                          <a:latin typeface="Calibri"/>
                        </a:rPr>
                        <a:t>the Delta namespace IS the serving contract. Until a store exists, L-17 has nothing to compare against and training–serving skew is not detectable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Five foundational laws</a:t>
                      </a:r>
                    </a:p>
                  </a:txBody>
                  <a:tcPr marL="82296" marR="64008" marT="32004" marB="32004" anchor="ctr">
                    <a:solidFill>
                      <a:srgbClr val="F6F3EF"/>
                    </a:solidFill>
                  </a:tcPr>
                </a:tc>
                <a:tc>
                  <a:txBody>
                    <a:bodyPr wrap="square"/>
                    <a:lstStyle/>
                    <a:p>
                      <a:pPr algn="l"/>
                      <a:r>
                        <a:rPr sz="1000" b="0">
                          <a:solidFill>
                            <a:srgbClr val="1C1C1E"/>
                          </a:solidFill>
                          <a:latin typeface="Calibri"/>
                        </a:rPr>
                        <a:t>L-6, L-11, L-13, L-14, L-17 — each named in chapter 8 with the reason it does not yet run — and each of the five is a claim the deck makes and does not enforce</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Composite warrants and the interaction premium</a:t>
                      </a:r>
                    </a:p>
                  </a:txBody>
                  <a:tcPr marL="82296" marR="64008" marT="32004" marB="32004" anchor="ctr">
                    <a:solidFill>
                      <a:srgbClr val="FFFFFF"/>
                    </a:solidFill>
                  </a:tcPr>
                </a:tc>
                <a:tc>
                  <a:txBody>
                    <a:bodyPr wrap="square"/>
                    <a:lstStyle/>
                    <a:p>
                      <a:pPr algn="l"/>
                      <a:r>
                        <a:rPr sz="1000" b="0">
                          <a:solidFill>
                            <a:srgbClr val="1C1C1E"/>
                          </a:solidFill>
                          <a:latin typeface="Calibri"/>
                        </a:rPr>
                        <a:t>typed composition gives L-14 something to quantify over; the aggregate ρ is not built</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Discovery</a:t>
                      </a:r>
                    </a:p>
                  </a:txBody>
                  <a:tcPr marL="82296" marR="64008" marT="32004" marB="32004" anchor="ctr">
                    <a:solidFill>
                      <a:srgbClr val="F6F3EF"/>
                    </a:solidFill>
                  </a:tcPr>
                </a:tc>
                <a:tc>
                  <a:txBody>
                    <a:bodyPr wrap="square"/>
                    <a:lstStyle/>
                    <a:p>
                      <a:pPr algn="l"/>
                      <a:r>
                        <a:rPr sz="1000" b="0">
                          <a:solidFill>
                            <a:srgbClr val="1C1C1E"/>
                          </a:solidFill>
                          <a:latin typeface="Calibri"/>
                        </a:rPr>
                        <a:t>nothing sweeps for unregistered models or scans an EUC estate. The inventory is what somebody registered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1000" b="0">
                          <a:solidFill>
                            <a:srgbClr val="1C1C1E"/>
                          </a:solidFill>
                          <a:latin typeface="Calibri"/>
                        </a:rPr>
                        <a:t>no cache, no broker, no outbox, no read replica, no row-level security, no metrics endpoint, no CI — docs/14 §26 and §27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5355336"/>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55336"/>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74208"/>
            <a:ext cx="10180015" cy="43891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 gap is the part a reader most needs </a:t>
            </a:r>
            <a:r>
              <a:rPr sz="1050" b="1" i="0">
                <a:solidFill>
                  <a:srgbClr val="1C1C1E"/>
                </a:solidFill>
                <a:latin typeface="Calibri"/>
              </a:rPr>
              <a:t>to be told without asking.</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