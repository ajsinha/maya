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REFUSALS ARE LOAD-BEARING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Nine things it will not build, and what each one protects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764792"/>
          <a:ext cx="10637214" cy="3415741"/>
        </p:xfrm>
        <a:graphic>
          <a:graphicData uri="http://schemas.openxmlformats.org/drawingml/2006/table">
            <a:tbl>
              <a:tblPr firstRow="1">
                <a:tableStyleId>{5C22544A-7EE6-4342-B048-85BDC9FD1C3A}</a:tableStyleId>
              </a:tblPr>
              <a:tblGrid>
                <a:gridCol w="2102939"/>
                <a:gridCol w="4205878"/>
                <a:gridCol w="4328397"/>
              </a:tblGrid>
              <a:tr h="329184">
                <a:tc>
                  <a:txBody>
                    <a:bodyPr wrap="square"/>
                    <a:lstStyle/>
                    <a:p>
                      <a:pPr algn="l"/>
                      <a:r>
                        <a:rPr sz="950" b="1">
                          <a:solidFill>
                            <a:srgbClr val="FFFFFF"/>
                          </a:solidFill>
                          <a:latin typeface="Calibri"/>
                        </a:rPr>
                        <a:t>Asked for</a:t>
                      </a:r>
                    </a:p>
                  </a:txBody>
                  <a:tcPr marL="82296" marR="64008" marT="32004" marB="32004" anchor="ctr">
                    <a:solidFill>
                      <a:srgbClr val="A51C30"/>
                    </a:solidFill>
                  </a:tcPr>
                </a:tc>
                <a:tc>
                  <a:txBody>
                    <a:bodyPr wrap="square"/>
                    <a:lstStyle/>
                    <a:p>
                      <a:pPr algn="l"/>
                      <a:r>
                        <a:rPr sz="950" b="1">
                          <a:solidFill>
                            <a:srgbClr val="FFFFFF"/>
                          </a:solidFill>
                          <a:latin typeface="Calibri"/>
                        </a:rPr>
                        <a:t>Refused because</a:t>
                      </a:r>
                    </a:p>
                  </a:txBody>
                  <a:tcPr marL="82296" marR="64008" marT="32004" marB="32004" anchor="ctr">
                    <a:solidFill>
                      <a:srgbClr val="A51C30"/>
                    </a:solidFill>
                  </a:tcPr>
                </a:tc>
                <a:tc>
                  <a:txBody>
                    <a:bodyPr wrap="square"/>
                    <a:lstStyle/>
                    <a:p>
                      <a:pPr algn="l"/>
                      <a:r>
                        <a:rPr sz="950" b="1">
                          <a:solidFill>
                            <a:srgbClr val="FFFFFF"/>
                          </a:solidFill>
                          <a:latin typeface="Calibri"/>
                        </a:rPr>
                        <a:t>What would stop meaning anything</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Managed serving</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and the runtime would be one process — and one that argues a warrant survives its own unavailability</a:t>
                      </a:r>
                    </a:p>
                  </a:txBody>
                  <a:tcPr marL="82296" marR="64008" marT="32004" marB="32004" anchor="ctr">
                    <a:solidFill>
                      <a:srgbClr val="FFFFFF"/>
                    </a:solidFill>
                  </a:tcPr>
                </a:tc>
                <a:tc>
                  <a:txBody>
                    <a:bodyPr wrap="square"/>
                    <a:lstStyle/>
                    <a:p>
                      <a:pPr algn="l"/>
                      <a:r>
                        <a:rPr sz="900" b="0">
                          <a:solidFill>
                            <a:srgbClr val="1C1C1E"/>
                          </a:solidFill>
                          <a:latin typeface="Calibri"/>
                        </a:rPr>
                        <a:t>every claim to be an independent record of execution</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Convert an artifact</a:t>
                      </a:r>
                    </a:p>
                  </a:txBody>
                  <a:tcPr marL="82296" marR="64008" marT="32004" marB="32004" anchor="ctr">
                    <a:solidFill>
                      <a:srgbClr val="F6F3EF"/>
                    </a:solidFill>
                  </a:tcPr>
                </a:tc>
                <a:tc>
                  <a:txBody>
                    <a:bodyPr wrap="square"/>
                    <a:lstStyle/>
                    <a:p>
                      <a:pPr algn="l"/>
                      <a:r>
                        <a:rPr sz="900" b="0">
                          <a:solidFill>
                            <a:srgbClr val="1C1C1E"/>
                          </a:solidFill>
                          <a:latin typeface="Calibri"/>
                        </a:rPr>
                        <a:t>converting means loading and running a model</a:t>
                      </a:r>
                    </a:p>
                  </a:txBody>
                  <a:tcPr marL="82296" marR="64008" marT="32004" marB="32004" anchor="ctr">
                    <a:solidFill>
                      <a:srgbClr val="F6F3EF"/>
                    </a:solidFill>
                  </a:tcPr>
                </a:tc>
                <a:tc>
                  <a:txBody>
                    <a:bodyPr wrap="square"/>
                    <a:lstStyle/>
                    <a:p>
                      <a:pPr algn="l"/>
                      <a:r>
                        <a:rPr sz="900" b="0">
                          <a:solidFill>
                            <a:srgbClr val="1C1C1E"/>
                          </a:solidFill>
                          <a:latin typeface="Calibri"/>
                        </a:rPr>
                        <a:t>the equivalence claim it holds to a standard</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Submit training jobs</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would be on the failure path of what it observes</a:t>
                      </a:r>
                    </a:p>
                  </a:txBody>
                  <a:tcPr marL="82296" marR="64008" marT="32004" marB="32004" anchor="ctr">
                    <a:solidFill>
                      <a:srgbClr val="FFFFFF"/>
                    </a:solidFill>
                  </a:tcPr>
                </a:tc>
                <a:tc>
                  <a:txBody>
                    <a:bodyPr wrap="square"/>
                    <a:lstStyle/>
                    <a:p>
                      <a:pPr algn="l"/>
                      <a:r>
                        <a:rPr sz="900" b="0">
                          <a:solidFill>
                            <a:srgbClr val="1C1C1E"/>
                          </a:solidFill>
                          <a:latin typeface="Calibri"/>
                        </a:rPr>
                        <a:t>the run register as an account of somebody else's work</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Accept a `passed` flag</a:t>
                      </a:r>
                    </a:p>
                  </a:txBody>
                  <a:tcPr marL="82296" marR="64008" marT="32004" marB="32004" anchor="ctr">
                    <a:solidFill>
                      <a:srgbClr val="F6F3EF"/>
                    </a:solidFill>
                  </a:tcPr>
                </a:tc>
                <a:tc>
                  <a:txBody>
                    <a:bodyPr wrap="square"/>
                    <a:lstStyle/>
                    <a:p>
                      <a:pPr algn="l"/>
                      <a:r>
                        <a:rPr sz="900" b="0">
                          <a:solidFill>
                            <a:srgbClr val="1C1C1E"/>
                          </a:solidFill>
                          <a:latin typeface="Calibri"/>
                        </a:rPr>
                        <a:t>whoever computed the number would set the pass mark</a:t>
                      </a:r>
                    </a:p>
                  </a:txBody>
                  <a:tcPr marL="82296" marR="64008" marT="32004" marB="32004" anchor="ctr">
                    <a:solidFill>
                      <a:srgbClr val="F6F3EF"/>
                    </a:solidFill>
                  </a:tcPr>
                </a:tc>
                <a:tc>
                  <a:txBody>
                    <a:bodyPr wrap="square"/>
                    <a:lstStyle/>
                    <a:p>
                      <a:pPr algn="l"/>
                      <a:r>
                        <a:rPr sz="900" b="0">
                          <a:solidFill>
                            <a:srgbClr val="1C1C1E"/>
                          </a:solidFill>
                          <a:latin typeface="Calibri"/>
                        </a:rPr>
                        <a:t>the threshold this firm's second line set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Recommend promotion</a:t>
                      </a:r>
                    </a:p>
                  </a:txBody>
                  <a:tcPr marL="82296" marR="64008" marT="32004" marB="32004" anchor="ctr">
                    <a:solidFill>
                      <a:srgbClr val="FFFFFF"/>
                    </a:solidFill>
                  </a:tcPr>
                </a:tc>
                <a:tc>
                  <a:txBody>
                    <a:bodyPr wrap="square"/>
                    <a:lstStyle/>
                    <a:p>
                      <a:pPr algn="l"/>
                      <a:r>
                        <a:rPr sz="900" b="0">
                          <a:solidFill>
                            <a:srgbClr val="1C1C1E"/>
                          </a:solidFill>
                          <a:latin typeface="Calibri"/>
                        </a:rPr>
                        <a:t>it would pre-empt the approval it is evidence for</a:t>
                      </a:r>
                    </a:p>
                  </a:txBody>
                  <a:tcPr marL="82296" marR="64008" marT="32004" marB="32004" anchor="ctr">
                    <a:solidFill>
                      <a:srgbClr val="FFFFFF"/>
                    </a:solidFill>
                  </a:tcPr>
                </a:tc>
                <a:tc>
                  <a:txBody>
                    <a:bodyPr wrap="square"/>
                    <a:lstStyle/>
                    <a:p>
                      <a:pPr algn="l"/>
                      <a:r>
                        <a:rPr sz="900" b="0">
                          <a:solidFill>
                            <a:srgbClr val="1C1C1E"/>
                          </a:solidFill>
                          <a:latin typeface="Calibri"/>
                        </a:rPr>
                        <a:t>the second-line approval itself</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Edit a compiled document</a:t>
                      </a:r>
                    </a:p>
                  </a:txBody>
                  <a:tcPr marL="82296" marR="64008" marT="32004" marB="32004" anchor="ctr">
                    <a:solidFill>
                      <a:srgbClr val="F6F3EF"/>
                    </a:solidFill>
                  </a:tcPr>
                </a:tc>
                <a:tc>
                  <a:txBody>
                    <a:bodyPr wrap="square"/>
                    <a:lstStyle/>
                    <a:p>
                      <a:pPr algn="l"/>
                      <a:r>
                        <a:rPr sz="900" b="0">
                          <a:solidFill>
                            <a:srgbClr val="1C1C1E"/>
                          </a:solidFill>
                          <a:latin typeface="Calibri"/>
                        </a:rPr>
                        <a:t>every sentence cites a node; the prose would outlive the citation</a:t>
                      </a:r>
                    </a:p>
                  </a:txBody>
                  <a:tcPr marL="82296" marR="64008" marT="32004" marB="32004" anchor="ctr">
                    <a:solidFill>
                      <a:srgbClr val="F6F3EF"/>
                    </a:solidFill>
                  </a:tcPr>
                </a:tc>
                <a:tc>
                  <a:txBody>
                    <a:bodyPr wrap="square"/>
                    <a:lstStyle/>
                    <a:p>
                      <a:pPr algn="l"/>
                      <a:r>
                        <a:rPr sz="900" b="0">
                          <a:solidFill>
                            <a:srgbClr val="1C1C1E"/>
                          </a:solidFill>
                          <a:latin typeface="Calibri"/>
                        </a:rPr>
                        <a:t>traceability of every sentence in it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Configure the state graph</a:t>
                      </a:r>
                    </a:p>
                  </a:txBody>
                  <a:tcPr marL="82296" marR="64008" marT="32004" marB="32004" anchor="ctr">
                    <a:solidFill>
                      <a:srgbClr val="FFFFFF"/>
                    </a:solidFill>
                  </a:tcPr>
                </a:tc>
                <a:tc>
                  <a:txBody>
                    <a:bodyPr wrap="square"/>
                    <a:lstStyle/>
                    <a:p>
                      <a:pPr algn="l"/>
                      <a:r>
                        <a:rPr sz="900" b="0">
                          <a:solidFill>
                            <a:srgbClr val="1C1C1E"/>
                          </a:solidFill>
                          <a:latin typeface="Calibri"/>
                        </a:rPr>
                        <a:t>a firm could add a transition that skips approval</a:t>
                      </a:r>
                    </a:p>
                  </a:txBody>
                  <a:tcPr marL="82296" marR="64008" marT="32004" marB="32004" anchor="ctr">
                    <a:solidFill>
                      <a:srgbClr val="FFFFFF"/>
                    </a:solidFill>
                  </a:tcPr>
                </a:tc>
                <a:tc>
                  <a:txBody>
                    <a:bodyPr wrap="square"/>
                    <a:lstStyle/>
                    <a:p>
                      <a:pPr algn="l"/>
                      <a:r>
                        <a:rPr sz="900" b="0">
                          <a:solidFill>
                            <a:srgbClr val="1C1C1E"/>
                          </a:solidFill>
                          <a:latin typeface="Calibri"/>
                        </a:rPr>
                        <a:t>'approved' meaning the same in two institutions</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Sign artifacts</a:t>
                      </a:r>
                    </a:p>
                  </a:txBody>
                  <a:tcPr marL="82296" marR="64008" marT="32004" marB="32004" anchor="ctr">
                    <a:solidFill>
                      <a:srgbClr val="F6F3EF"/>
                    </a:solidFill>
                  </a:tcPr>
                </a:tc>
                <a:tc>
                  <a:txBody>
                    <a:bodyPr wrap="square"/>
                    <a:lstStyle/>
                    <a:p>
                      <a:pPr algn="l"/>
                      <a:r>
                        <a:rPr sz="900" b="0">
                          <a:solidFill>
                            <a:srgbClr val="1C1C1E"/>
                          </a:solidFill>
                          <a:latin typeface="Calibri"/>
                        </a:rPr>
                        <a:t>the platform would hold the key that could forge one</a:t>
                      </a:r>
                    </a:p>
                  </a:txBody>
                  <a:tcPr marL="82296" marR="64008" marT="32004" marB="32004" anchor="ctr">
                    <a:solidFill>
                      <a:srgbClr val="F6F3EF"/>
                    </a:solidFill>
                  </a:tcPr>
                </a:tc>
                <a:tc>
                  <a:txBody>
                    <a:bodyPr wrap="square"/>
                    <a:lstStyle/>
                    <a:p>
                      <a:pPr algn="l"/>
                      <a:r>
                        <a:rPr sz="900" b="0">
                          <a:solidFill>
                            <a:srgbClr val="1C1C1E"/>
                          </a:solidFill>
                          <a:latin typeface="Calibri"/>
                        </a:rPr>
                        <a:t>the provenance check, verifying its own signature</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Hide the cheap remediation</a:t>
                      </a:r>
                    </a:p>
                  </a:txBody>
                  <a:tcPr marL="82296" marR="64008" marT="32004" marB="32004" anchor="ctr">
                    <a:solidFill>
                      <a:srgbClr val="FFFFFF"/>
                    </a:solidFill>
                  </a:tcPr>
                </a:tc>
                <a:tc>
                  <a:txBody>
                    <a:bodyPr wrap="square"/>
                    <a:lstStyle/>
                    <a:p>
                      <a:pPr algn="l"/>
                      <a:r>
                        <a:rPr sz="900" b="0">
                          <a:solidFill>
                            <a:srgbClr val="1C1C1E"/>
                          </a:solidFill>
                          <a:latin typeface="Calibri"/>
                        </a:rPr>
                        <a:t>a solver with no view on KIND recommends the waiver every time</a:t>
                      </a:r>
                    </a:p>
                  </a:txBody>
                  <a:tcPr marL="82296" marR="64008" marT="32004" marB="32004" anchor="ctr">
                    <a:solidFill>
                      <a:srgbClr val="FFFFFF"/>
                    </a:solidFill>
                  </a:tcPr>
                </a:tc>
                <a:tc>
                  <a:txBody>
                    <a:bodyPr wrap="square"/>
                    <a:lstStyle/>
                    <a:p>
                      <a:pPr algn="l"/>
                      <a:r>
                        <a:rPr sz="900" b="0">
                          <a:solidFill>
                            <a:srgbClr val="1C1C1E"/>
                          </a:solidFill>
                          <a:latin typeface="Calibri"/>
                        </a:rPr>
                        <a:t>the difference between safe and looking compliant</a:t>
                      </a:r>
                    </a:p>
                  </a:txBody>
                  <a:tcPr marL="82296" marR="64008" marT="32004" marB="32004" anchor="ctr">
                    <a:solidFill>
                      <a:srgbClr val="FFFFFF"/>
                    </a:solidFill>
                  </a:tcPr>
                </a:tc>
              </a:tr>
            </a:tbl>
          </a:graphicData>
        </a:graphic>
      </p:graphicFrame>
      <p:sp>
        <p:nvSpPr>
          <p:cNvPr id="11" name="Rectangle 10"/>
          <p:cNvSpPr/>
          <p:nvPr/>
        </p:nvSpPr>
        <p:spPr>
          <a:xfrm>
            <a:off x="777240" y="536341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6341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8228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sentence underneath all nine. </a:t>
            </a:r>
            <a:r>
              <a:rPr sz="1050" b="0" i="0">
                <a:solidFill>
                  <a:srgbClr val="1C1C1E"/>
                </a:solidFill>
                <a:latin typeface="Calibri"/>
              </a:rPr>
              <a:t>A platform that both authorises an act and performs it is the only witness to its own execution. Every row above is that sentence applied to a different request — and the useful question when evaluating a governance platform is not what it can do, but what it declines to do and whether the answer is about architecture or about a roadmap.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527960"/>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Refusing at the edge of what it can see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353312"/>
          <a:ext cx="10637213" cy="2517912"/>
        </p:xfrm>
        <a:graphic>
          <a:graphicData uri="http://schemas.openxmlformats.org/drawingml/2006/table">
            <a:tbl>
              <a:tblPr firstRow="1">
                <a:tableStyleId>{5C22544A-7EE6-4342-B048-85BDC9FD1C3A}</a:tableStyleId>
              </a:tblPr>
              <a:tblGrid>
                <a:gridCol w="3117804"/>
                <a:gridCol w="2751003"/>
                <a:gridCol w="4768406"/>
              </a:tblGrid>
              <a:tr h="329184">
                <a:tc>
                  <a:txBody>
                    <a:bodyPr wrap="square"/>
                    <a:lstStyle/>
                    <a:p>
                      <a:pPr algn="l"/>
                      <a:r>
                        <a:rPr sz="950" b="1">
                          <a:solidFill>
                            <a:srgbClr val="FFFFFF"/>
                          </a:solidFill>
                          <a:latin typeface="Calibri"/>
                        </a:rPr>
                        <a:t>At this boundary</a:t>
                      </a:r>
                    </a:p>
                  </a:txBody>
                  <a:tcPr marL="82296" marR="64008" marT="32004" marB="32004" anchor="ctr">
                    <a:solidFill>
                      <a:srgbClr val="A51C30"/>
                    </a:solidFill>
                  </a:tcPr>
                </a:tc>
                <a:tc>
                  <a:txBody>
                    <a:bodyPr wrap="square"/>
                    <a:lstStyle/>
                    <a:p>
                      <a:pPr algn="l"/>
                      <a:r>
                        <a:rPr sz="950" b="1">
                          <a:solidFill>
                            <a:srgbClr val="FFFFFF"/>
                          </a:solidFill>
                          <a:latin typeface="Calibri"/>
                        </a:rPr>
                        <a:t>The convenient answer</a:t>
                      </a:r>
                    </a:p>
                  </a:txBody>
                  <a:tcPr marL="82296" marR="64008" marT="32004" marB="32004" anchor="ctr">
                    <a:solidFill>
                      <a:srgbClr val="A51C30"/>
                    </a:solidFill>
                  </a:tcPr>
                </a:tc>
                <a:tc>
                  <a:txBody>
                    <a:bodyPr wrap="square"/>
                    <a:lstStyle/>
                    <a:p>
                      <a:pPr algn="l"/>
                      <a:r>
                        <a:rPr sz="950" b="1">
                          <a:solidFill>
                            <a:srgbClr val="FFFFFF"/>
                          </a:solidFill>
                          <a:latin typeface="Calibri"/>
                        </a:rPr>
                        <a:t>What it reports instead</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a timestamp token nobody has verified</a:t>
                      </a:r>
                    </a:p>
                  </a:txBody>
                  <a:tcPr marL="82296" marR="64008" marT="32004" marB="32004" anchor="ctr">
                    <a:solidFill>
                      <a:srgbClr val="FFFFFF"/>
                    </a:solidFill>
                  </a:tcPr>
                </a:tc>
                <a:tc>
                  <a:txBody>
                    <a:bodyPr wrap="square"/>
                    <a:lstStyle/>
                    <a:p>
                      <a:pPr algn="l"/>
                      <a:r>
                        <a:rPr sz="950" b="0">
                          <a:solidFill>
                            <a:srgbClr val="1C1C1E"/>
                          </a:solidFill>
                          <a:latin typeface="Calibri"/>
                        </a:rPr>
                        <a:t>“verified” — or “no token”</a:t>
                      </a:r>
                    </a:p>
                  </a:txBody>
                  <a:tcPr marL="82296" marR="64008" marT="32004" marB="32004" anchor="ctr">
                    <a:solidFill>
                      <a:srgbClr val="FFFFFF"/>
                    </a:solidFill>
                  </a:tcPr>
                </a:tc>
                <a:tc>
                  <a:txBody>
                    <a:bodyPr wrap="square"/>
                    <a:lstStyle/>
                    <a:p>
                      <a:pPr algn="l"/>
                      <a:r>
                        <a:rPr sz="950" b="0">
                          <a:solidFill>
                            <a:srgbClr val="1C1C1E"/>
                          </a:solidFill>
                          <a:latin typeface="Calibri"/>
                        </a:rPr>
                        <a:t>a third state. Checking one means holding a certificate chain and choosing which roots to trust, which the firm's security function decided once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export from another model registry</a:t>
                      </a:r>
                    </a:p>
                  </a:txBody>
                  <a:tcPr marL="82296" marR="64008" marT="32004" marB="32004" anchor="ctr">
                    <a:solidFill>
                      <a:srgbClr val="F6F3EF"/>
                    </a:solidFill>
                  </a:tcPr>
                </a:tc>
                <a:tc>
                  <a:txBody>
                    <a:bodyPr wrap="square"/>
                    <a:lstStyle/>
                    <a:p>
                      <a:pPr algn="l"/>
                      <a:r>
                        <a:rPr sz="950" b="0">
                          <a:solidFill>
                            <a:srgbClr val="1C1C1E"/>
                          </a:solidFill>
                          <a:latin typeface="Calibri"/>
                        </a:rPr>
                        <a:t>registrations, at import scale</a:t>
                      </a:r>
                    </a:p>
                  </a:txBody>
                  <a:tcPr marL="82296" marR="64008" marT="32004" marB="32004" anchor="ctr">
                    <a:solidFill>
                      <a:srgbClr val="F6F3EF"/>
                    </a:solidFill>
                  </a:tcPr>
                </a:tc>
                <a:tc>
                  <a:txBody>
                    <a:bodyPr wrap="square"/>
                    <a:lstStyle/>
                    <a:p>
                      <a:pPr algn="l"/>
                      <a:r>
                        <a:rPr sz="950" b="0">
                          <a:solidFill>
                            <a:srgbClr val="1C1C1E"/>
                          </a:solidFill>
                          <a:latin typeface="Calibri"/>
                        </a:rPr>
                        <a:t>candidates for triage. Owner, purpose, entity, materiality and ‘is it a model at all’ are in no ML platform anywhere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 discovery sweep with malformed rows</a:t>
                      </a:r>
                    </a:p>
                  </a:txBody>
                  <a:tcPr marL="82296" marR="64008" marT="32004" marB="32004" anchor="ctr">
                    <a:solidFill>
                      <a:srgbClr val="FFFFFF"/>
                    </a:solidFill>
                  </a:tcPr>
                </a:tc>
                <a:tc>
                  <a:txBody>
                    <a:bodyPr wrap="square"/>
                    <a:lstStyle/>
                    <a:p>
                      <a:pPr algn="l"/>
                      <a:r>
                        <a:rPr sz="950" b="0">
                          <a:solidFill>
                            <a:srgbClr val="1C1C1E"/>
                          </a:solidFill>
                          <a:latin typeface="Calibri"/>
                        </a:rPr>
                        <a:t>keep the good ones</a:t>
                      </a:r>
                    </a:p>
                  </a:txBody>
                  <a:tcPr marL="82296" marR="64008" marT="32004" marB="32004" anchor="ctr">
                    <a:solidFill>
                      <a:srgbClr val="FFFFFF"/>
                    </a:solidFill>
                  </a:tcPr>
                </a:tc>
                <a:tc>
                  <a:txBody>
                    <a:bodyPr wrap="square"/>
                    <a:lstStyle/>
                    <a:p>
                      <a:pPr algn="l"/>
                      <a:r>
                        <a:rPr sz="950" b="0">
                          <a:solidFill>
                            <a:srgbClr val="1C1C1E"/>
                          </a:solidFill>
                          <a:latin typeface="Calibri"/>
                        </a:rPr>
                        <a:t>refused whole. A partial ingest grades the rows MAYA kept, not the scanner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extension that is installed</a:t>
                      </a:r>
                    </a:p>
                  </a:txBody>
                  <a:tcPr marL="82296" marR="64008" marT="32004" marB="32004" anchor="ctr">
                    <a:solidFill>
                      <a:srgbClr val="F6F3EF"/>
                    </a:solidFill>
                  </a:tcPr>
                </a:tc>
                <a:tc>
                  <a:txBody>
                    <a:bodyPr wrap="square"/>
                    <a:lstStyle/>
                    <a:p>
                      <a:pPr algn="l"/>
                      <a:r>
                        <a:rPr sz="950" b="0">
                          <a:solidFill>
                            <a:srgbClr val="1C1C1E"/>
                          </a:solidFill>
                          <a:latin typeface="Calibri"/>
                        </a:rPr>
                        <a:t>load it</a:t>
                      </a:r>
                    </a:p>
                  </a:txBody>
                  <a:tcPr marL="82296" marR="64008" marT="32004" marB="32004" anchor="ctr">
                    <a:solidFill>
                      <a:srgbClr val="F6F3EF"/>
                    </a:solidFill>
                  </a:tcPr>
                </a:tc>
                <a:tc>
                  <a:txBody>
                    <a:bodyPr wrap="square"/>
                    <a:lstStyle/>
                    <a:p>
                      <a:pPr algn="l"/>
                      <a:r>
                        <a:rPr sz="950" b="0">
                          <a:solidFill>
                            <a:srgbClr val="1C1C1E"/>
                          </a:solidFill>
                          <a:latin typeface="Calibri"/>
                        </a:rPr>
                        <a:t>seen, not enabled. A control switched on by a dependency bump is a control nobody turned on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pack sent to a supervisor</a:t>
                      </a:r>
                    </a:p>
                  </a:txBody>
                  <a:tcPr marL="82296" marR="64008" marT="32004" marB="32004" anchor="ctr">
                    <a:solidFill>
                      <a:srgbClr val="FFFFFF"/>
                    </a:solidFill>
                  </a:tcPr>
                </a:tc>
                <a:tc>
                  <a:txBody>
                    <a:bodyPr wrap="square"/>
                    <a:lstStyle/>
                    <a:p>
                      <a:pPr algn="l"/>
                      <a:r>
                        <a:rPr sz="950" b="0">
                          <a:solidFill>
                            <a:srgbClr val="1C1C1E"/>
                          </a:solidFill>
                          <a:latin typeface="Calibri"/>
                        </a:rPr>
                        <a:t>an examiner portal</a:t>
                      </a:r>
                    </a:p>
                  </a:txBody>
                  <a:tcPr marL="82296" marR="64008" marT="32004" marB="32004" anchor="ctr">
                    <a:solidFill>
                      <a:srgbClr val="FFFFFF"/>
                    </a:solidFill>
                  </a:tcPr>
                </a:tc>
                <a:tc>
                  <a:txBody>
                    <a:bodyPr wrap="square"/>
                    <a:lstStyle/>
                    <a:p>
                      <a:pPr algn="l"/>
                      <a:r>
                        <a:rPr sz="950" b="0">
                          <a:solidFill>
                            <a:srgbClr val="1C1C1E"/>
                          </a:solidFill>
                          <a:latin typeface="Calibri"/>
                        </a:rPr>
                        <a:t>a time-boxed link to a content digest. It establishes no identity, and says so</a:t>
                      </a:r>
                    </a:p>
                  </a:txBody>
                  <a:tcPr marL="82296" marR="64008" marT="32004" marB="32004" anchor="ctr">
                    <a:solidFill>
                      <a:srgbClr val="FFFFFF"/>
                    </a:solidFill>
                  </a:tcPr>
                </a:tc>
              </a:tr>
            </a:tbl>
          </a:graphicData>
        </a:graphic>
      </p:graphicFrame>
      <p:sp>
        <p:nvSpPr>
          <p:cNvPr id="11" name="Rectangle 10"/>
          <p:cNvSpPr/>
          <p:nvPr/>
        </p:nvSpPr>
        <p:spPr>
          <a:xfrm>
            <a:off x="777240" y="4072394"/>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72394"/>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91266"/>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a boundary the natural report is the answer you wish you had — </a:t>
            </a:r>
            <a:r>
              <a:rPr sz="1050" b="0" i="0">
                <a:solidFill>
                  <a:srgbClr val="1C1C1E"/>
                </a:solidFill>
                <a:latin typeface="Calibri"/>
              </a:rPr>
              <a:t>and the overstatement is invisible precisely because nobody can see past the boundary to check it. </a:t>
            </a:r>
            <a:r>
              <a:rPr sz="1050" b="1" i="0">
                <a:solidFill>
                  <a:srgbClr val="1C1C1E"/>
                </a:solidFill>
                <a:latin typeface="Calibri"/>
              </a:rPr>
              <a:t>Each of these widens a type rather than adding a warning.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Fourteen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213969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Not built, and why each one is not</a:t>
            </a:r>
          </a:p>
        </p:txBody>
      </p:sp>
      <p:sp>
        <p:nvSpPr>
          <p:cNvPr id="25" name="TextBox 24"/>
          <p:cNvSpPr txBox="1"/>
          <p:nvPr/>
        </p:nvSpPr>
        <p:spPr>
          <a:xfrm>
            <a:off x="7819445" y="2130552"/>
            <a:ext cx="3466993" cy="36576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store.py hashes and stores. provenance.py verifies in three states — verified, unverified, absent — and mints none</a:t>
            </a:r>
          </a:p>
        </p:txBody>
      </p:sp>
      <p:sp>
        <p:nvSpPr>
          <p:cNvPr id="26" name="TextBox 25"/>
          <p:cNvSpPr txBox="1"/>
          <p:nvPr/>
        </p:nvSpPr>
        <p:spPr>
          <a:xfrm>
            <a:off x="7819445" y="249631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7706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and licence scans</a:t>
            </a:r>
          </a:p>
        </p:txBody>
      </p:sp>
      <p:sp>
        <p:nvSpPr>
          <p:cNvPr id="28" name="TextBox 27"/>
          <p:cNvSpPr txBox="1"/>
          <p:nvPr/>
        </p:nvSpPr>
        <p:spPr>
          <a:xfrm>
            <a:off x="7819445" y="304495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31927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SIGNING — verification is built; minting is refused</a:t>
            </a:r>
            <a:r>
              <a:rPr sz="880" b="0" i="0">
                <a:solidFill>
                  <a:srgbClr val="A51C30"/>
                </a:solidFill>
                <a:latin typeface="Calibri"/>
              </a:rPr>
              <a:t>   a platform that signed would hold the key that could forge</a:t>
            </a:r>
          </a:p>
        </p:txBody>
      </p:sp>
      <p:sp>
        <p:nvSpPr>
          <p:cNvPr id="30" name="TextBox 29"/>
          <p:cNvSpPr txBox="1"/>
          <p:nvPr/>
        </p:nvSpPr>
        <p:spPr>
          <a:xfrm>
            <a:off x="7819445" y="359359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CONVERSION — the equivalence claim is held to a standard</a:t>
            </a:r>
            <a:r>
              <a:rPr sz="880" b="0" i="0">
                <a:solidFill>
                  <a:srgbClr val="A51C30"/>
                </a:solidFill>
                <a:latin typeface="Calibri"/>
              </a:rPr>
              <a:t>   converting means loading and running a model</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was recorded as blocked on an online store, and was blocked on the wrong thing. </a:t>
            </a:r>
            <a:r>
              <a:rPr sz="1100" b="0" i="0">
                <a:solidFill>
                  <a:srgbClr val="1C1C1E"/>
                </a:solidFill>
                <a:latin typeface="Calibri"/>
              </a:rPr>
              <a:t>A store sits on the serving path at request latency, and this platform does not go there. The engine already knows which namespaces it read, so it attests them and MAYA compares against what the contract pins — the same shape as every other claim here: the platform does not perform the act, it holds whoever did to what they said they did. </a:t>
            </a:r>
            <a:r>
              <a:rPr sz="1100" b="1" i="0">
                <a:solidFill>
                  <a:srgbClr val="A51C30"/>
                </a:solidFill>
                <a:latin typeface="Calibri"/>
              </a:rPr>
              <a:t>The same move made value-level skew detection possible, </a:t>
            </a:r>
            <a:r>
              <a:rPr sz="1100" b="0" i="0">
                <a:solidFill>
                  <a:srgbClr val="1C1C1E"/>
                </a:solidFill>
                <a:latin typeface="Calibri"/>
              </a:rPr>
              <a:t>and having two clocks is what separates a stale value from one that is correct today and was not knowable at the decision — the kind every backtest passes.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 keyed per audience</a:t>
            </a:r>
          </a:p>
          <a:p>
            <a:pPr lvl="1">
              <a:spcBef>
                <a:spcPts val="0"/>
              </a:spcBef>
              <a:spcAft>
                <a:spcPts val="0"/>
              </a:spcAft>
            </a:pPr>
            <a:r>
              <a:rPr sz="900">
                <a:solidFill>
                  <a:srgbClr val="4A4F57"/>
                </a:solidFill>
                <a:latin typeface="Calibri"/>
              </a:rPr>
              <a:t>The key is derived from the principal the warrant is FOR, so a compromised engine forges warrants for itself and nobody else</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§27 — and the 50 ms p99 in the requirements is a target that nothing here measures. TTL jitter is built, which is the one piece that matters only once a cache exists.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§28 that are designed and not built; the boundary check on the left is the one part of it that is enforced today, at execution rather than in a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220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§28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25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5" cy="4114339"/>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00" b="1">
                          <a:solidFill>
                            <a:srgbClr val="FFFFFF"/>
                          </a:solidFill>
                          <a:latin typeface="Calibri"/>
                        </a:rPr>
                        <a:t>Not built, or not ours</a:t>
                      </a:r>
                    </a:p>
                  </a:txBody>
                  <a:tcPr marL="82296" marR="64008" marT="32004" marB="32004" anchor="ctr">
                    <a:solidFill>
                      <a:srgbClr val="A51C30"/>
                    </a:solidFill>
                  </a:tcPr>
                </a:tc>
                <a:tc>
                  <a:txBody>
                    <a:bodyPr wrap="square"/>
                    <a:lstStyle/>
                    <a:p>
                      <a:pPr algn="l"/>
                      <a:r>
                        <a:rPr sz="900" b="1">
                          <a:solidFill>
                            <a:srgbClr val="FFFFFF"/>
                          </a:solidFill>
                          <a:latin typeface="Calibri"/>
                        </a:rPr>
                        <a:t>What that means 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An EUC scanner</a:t>
                      </a:r>
                    </a:p>
                  </a:txBody>
                  <a:tcPr marL="82296" marR="64008" marT="32004" marB="32004" anchor="ctr">
                    <a:solidFill>
                      <a:srgbClr val="FFFFFF"/>
                    </a:solidFill>
                  </a:tcPr>
                </a:tc>
                <a:tc>
                  <a:txBody>
                    <a:bodyPr wrap="square"/>
                    <a:lstStyle/>
                    <a:p>
                      <a:pPr algn="l"/>
                      <a:r>
                        <a:rPr sz="900" b="0">
                          <a:solidFill>
                            <a:srgbClr val="1C1C1E"/>
                          </a:solidFill>
                          <a:latin typeface="Calibri"/>
                        </a:rPr>
                        <a:t>MAYA does not crawl the bank’s drives and should not — a sweep needs credentials to every repository, notebook server and shared drive in the institution. The receiving half is built and the CONTRACT a scanner must meet is published; running one is somebody else’s job, and nobody has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An online feature store</a:t>
                      </a:r>
                    </a:p>
                  </a:txBody>
                  <a:tcPr marL="82296" marR="64008" marT="32004" marB="32004" anchor="ctr">
                    <a:solidFill>
                      <a:srgbClr val="F6F3EF"/>
                    </a:solidFill>
                  </a:tcPr>
                </a:tc>
                <a:tc>
                  <a:txBody>
                    <a:bodyPr wrap="square"/>
                    <a:lstStyle/>
                    <a:p>
                      <a:pPr algn="l"/>
                      <a:r>
                        <a:rPr sz="900" b="0">
                          <a:solidFill>
                            <a:srgbClr val="1C1C1E"/>
                          </a:solidFill>
                          <a:latin typeface="Calibri"/>
                        </a:rPr>
                        <a:t>the Delta namespace IS the serving contract, and §7 says MAYA will not sit on the serving path. L-17 is no longer blocked on it: the engine attests which namespaces it read and MAYA compares. A store would buy OBSERVATION rather than attestation — a smaller claim than this row used to make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Three foundational laws</a:t>
                      </a:r>
                    </a:p>
                  </a:txBody>
                  <a:tcPr marL="82296" marR="64008" marT="32004" marB="32004" anchor="ctr">
                    <a:solidFill>
                      <a:srgbClr val="FFFFFF"/>
                    </a:solidFill>
                  </a:tcPr>
                </a:tc>
                <a:tc>
                  <a:txBody>
                    <a:bodyPr wrap="square"/>
                    <a:lstStyle/>
                    <a:p>
                      <a:pPr algn="l"/>
                      <a:r>
                        <a:rPr sz="900" b="0">
                          <a:solidFill>
                            <a:srgbClr val="1C1C1E"/>
                          </a:solidFill>
                          <a:latin typeface="Calibri"/>
                        </a:rPr>
                        <a:t>L-6, L-11, L-13 — each named in chapter 8 with the reason. L-14 and L-17 were on this list and now run. The three that remain are honest refusals: building a document `put` to satisfy the lens laws would be building the wrong thing</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The interaction premium</a:t>
                      </a:r>
                    </a:p>
                  </a:txBody>
                  <a:tcPr marL="82296" marR="64008" marT="32004" marB="32004" anchor="ctr">
                    <a:solidFill>
                      <a:srgbClr val="F6F3EF"/>
                    </a:solidFill>
                  </a:tcPr>
                </a:tc>
                <a:tc>
                  <a:txBody>
                    <a:bodyPr wrap="square"/>
                    <a:lstStyle/>
                    <a:p>
                      <a:pPr algn="l"/>
                      <a:r>
                        <a:rPr sz="900" b="0">
                          <a:solidFill>
                            <a:srgbClr val="1C1C1E"/>
                          </a:solidFill>
                          <a:latin typeface="Calibri"/>
                        </a:rPr>
                        <a:t>REFUSED rather than pending. L-14 says the copy map is the obstruction, so any single figure over the component ratings is blind to exactly what it would exist to find. What composes is the ORDER — the worst tier at stake — and not a magnitude</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An examiner portal</a:t>
                      </a:r>
                    </a:p>
                  </a:txBody>
                  <a:tcPr marL="82296" marR="64008" marT="32004" marB="32004" anchor="ctr">
                    <a:solidFill>
                      <a:srgbClr val="FFFFFF"/>
                    </a:solidFill>
                  </a:tcPr>
                </a:tc>
                <a:tc>
                  <a:txBody>
                    <a:bodyPr wrap="square"/>
                    <a:lstStyle/>
                    <a:p>
                      <a:pPr algn="l"/>
                      <a:r>
                        <a:rPr sz="900" b="0">
                          <a:solidFill>
                            <a:srgbClr val="1C1C1E"/>
                          </a:solidFill>
                          <a:latin typeface="Calibri"/>
                        </a:rPr>
                        <a:t>and it stays unbuilt on purpose. Handing a pack over IS built: a time-boxed link to a content digest, revocable, recording every read including the refused ones. A portal authenticates a third party INTO the register, and whatever that session reaches, they reach</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Non-repudiation to a third party</a:t>
                      </a:r>
                    </a:p>
                  </a:txBody>
                  <a:tcPr marL="82296" marR="64008" marT="32004" marB="32004" anchor="ctr">
                    <a:solidFill>
                      <a:srgbClr val="F6F3EF"/>
                    </a:solidFill>
                  </a:tcPr>
                </a:tc>
                <a:tc>
                  <a:txBody>
                    <a:bodyPr wrap="square"/>
                    <a:lstStyle/>
                    <a:p>
                      <a:pPr algn="l"/>
                      <a:r>
                        <a:rPr sz="900" b="0">
                          <a:solidFill>
                            <a:srgbClr val="1C1C1E"/>
                          </a:solidFill>
                          <a:latin typeface="Calibri"/>
                        </a:rPr>
                        <a:t>a warrant is signed with a key DERIVED from the audience, so a compromised engine forges warrants for itself and nobody else. What that does not do is prove authorship to somebody outside the bank — a verifier holds the key it verifies with. Published at GET /warrant-signing rather than left to be assumed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900" b="0">
                          <a:solidFill>
                            <a:srgbClr val="1C1C1E"/>
                          </a:solidFill>
                          <a:latin typeface="Calibri"/>
                        </a:rPr>
                        <a:t>no cache, no broker, no outbox, no read replica, no row-level security, no metrics endpoint — docs/14 §27 and §28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668822"/>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668822"/>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787694"/>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Four of these are refusals rather than gaps, and the difference matters: a gap closes with effort, and a refusal closes only by making something else untrue. </a:t>
            </a:r>
            <a:r>
              <a:rPr sz="1050" b="1" i="0">
                <a:solidFill>
                  <a:srgbClr val="1C1C1E"/>
                </a:solidFill>
                <a:latin typeface="Calibri"/>
              </a:rPr>
              <a:t>The distinction is the part a reader most needs without asking.</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