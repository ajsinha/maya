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package" Target="../embeddings/Microsoft_Excel_Sheet1.xlsx"/><Relationship Id="rId3" Type="http://schemas.openxmlformats.org/officeDocument/2006/relationships/image" Target="../media/image2.wmf"/><Relationship Id="rId4" Type="http://schemas.openxmlformats.org/officeDocument/2006/relationships/package" Target="../embeddings/Microsoft_Excel_Sheet2.xlsx"/></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6" name="Picture 5" descr="maya-mark-white.png"/>
          <p:cNvPicPr>
            <a:picLocks noChangeAspect="1"/>
          </p:cNvPicPr>
          <p:nvPr/>
        </p:nvPicPr>
        <p:blipFill>
          <a:blip r:embed="rId2"/>
          <a:stretch>
            <a:fillRect/>
          </a:stretch>
        </p:blipFill>
        <p:spPr>
          <a:xfrm>
            <a:off x="1051560" y="640080"/>
            <a:ext cx="731520" cy="731520"/>
          </a:xfrm>
          <a:prstGeom prst="rect">
            <a:avLst/>
          </a:prstGeom>
        </p:spPr>
      </p:pic>
      <p:sp>
        <p:nvSpPr>
          <p:cNvPr id="7" name="TextBox 6"/>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MAYA  ·  MODEL &amp; AI LIFECYCLE ASSURANCE PLATFORM</a:t>
            </a:r>
          </a:p>
        </p:txBody>
      </p:sp>
      <p:sp>
        <p:nvSpPr>
          <p:cNvPr id="8" name="TextBox 7"/>
          <p:cNvSpPr txBox="1"/>
          <p:nvPr/>
        </p:nvSpPr>
        <p:spPr>
          <a:xfrm>
            <a:off x="1051560" y="1389888"/>
            <a:ext cx="9148005" cy="2011680"/>
          </a:xfrm>
          <a:prstGeom prst="rect">
            <a:avLst/>
          </a:prstGeom>
          <a:noFill/>
        </p:spPr>
        <p:txBody>
          <a:bodyPr wrap="square" lIns="0" rIns="0" tIns="0" bIns="0" anchor="t">
            <a:spAutoFit/>
          </a:bodyPr>
          <a:lstStyle/>
          <a:p>
            <a:pPr algn="l">
              <a:spcBef>
                <a:spcPts val="0"/>
              </a:spcBef>
              <a:spcAft>
                <a:spcPts val="200"/>
              </a:spcAft>
            </a:pPr>
            <a:r>
              <a:rPr sz="3800" b="0" i="0">
                <a:solidFill>
                  <a:srgbClr val="FFFFFF"/>
                </a:solidFill>
                <a:latin typeface="Georgia"/>
              </a:rPr>
              <a:t>Model and Feature Management</a:t>
            </a:r>
          </a:p>
          <a:p>
            <a:pPr>
              <a:spcBef>
                <a:spcPts val="0"/>
              </a:spcBef>
              <a:spcAft>
                <a:spcPts val="400"/>
              </a:spcAft>
            </a:pPr>
            <a:r>
              <a:rPr sz="3800" b="0" i="0">
                <a:solidFill>
                  <a:srgbClr val="FFFFFF"/>
                </a:solidFill>
                <a:latin typeface="Georgia"/>
              </a:rPr>
              <a:t>Concepts and System Design</a:t>
            </a:r>
          </a:p>
        </p:txBody>
      </p:sp>
      <p:sp>
        <p:nvSpPr>
          <p:cNvPr id="9" name="Rectangle 8"/>
          <p:cNvSpPr/>
          <p:nvPr/>
        </p:nvSpPr>
        <p:spPr>
          <a:xfrm>
            <a:off x="1051560" y="3035808"/>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 name="TextBox 9"/>
          <p:cNvSpPr txBox="1"/>
          <p:nvPr/>
        </p:nvSpPr>
        <p:spPr>
          <a:xfrm>
            <a:off x="1051560" y="3255264"/>
            <a:ext cx="8935260" cy="731520"/>
          </a:xfrm>
          <a:prstGeom prst="rect">
            <a:avLst/>
          </a:prstGeom>
          <a:noFill/>
        </p:spPr>
        <p:txBody>
          <a:bodyPr wrap="square" lIns="0" rIns="0" tIns="0" bIns="0" anchor="t">
            <a:spAutoFit/>
          </a:bodyPr>
          <a:lstStyle/>
          <a:p>
            <a:pPr algn="l">
              <a:lnSpc>
                <a:spcPct val="125000"/>
              </a:lnSpc>
              <a:spcBef>
                <a:spcPts val="0"/>
              </a:spcBef>
              <a:spcAft>
                <a:spcPts val="0"/>
              </a:spcAft>
            </a:pPr>
            <a:r>
              <a:rPr sz="1350" b="0" i="1">
                <a:solidFill>
                  <a:srgbClr val="F4DFE3"/>
                </a:solidFill>
                <a:latin typeface="Calibri"/>
              </a:rPr>
              <a:t>The philosophy, the foundations, the concepts a practitioner works with, the design of the system that holds them — and worked examples throughout</a:t>
            </a:r>
          </a:p>
        </p:txBody>
      </p:sp>
      <p:sp>
        <p:nvSpPr>
          <p:cNvPr id="11" name="TextBox 10"/>
          <p:cNvSpPr txBox="1"/>
          <p:nvPr/>
        </p:nvSpPr>
        <p:spPr>
          <a:xfrm>
            <a:off x="1051560" y="4443984"/>
            <a:ext cx="5318607" cy="109728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Independent Researcher</a:t>
            </a:r>
          </a:p>
          <a:p>
            <a:pPr>
              <a:spcBef>
                <a:spcPts val="0"/>
              </a:spcBef>
              <a:spcAft>
                <a:spcPts val="600"/>
              </a:spcAft>
            </a:pPr>
            <a:r>
              <a:rPr sz="1050" b="0" i="0">
                <a:solidFill>
                  <a:srgbClr val="7A7F87"/>
                </a:solidFill>
                <a:latin typeface="Calibri"/>
              </a:rPr>
              <a:t>September 2026</a:t>
            </a:r>
          </a:p>
        </p:txBody>
      </p:sp>
      <p:sp>
        <p:nvSpPr>
          <p:cNvPr id="12" name="TextBox 11"/>
          <p:cNvSpPr txBox="1"/>
          <p:nvPr/>
        </p:nvSpPr>
        <p:spPr>
          <a:xfrm>
            <a:off x="6095847" y="4315968"/>
            <a:ext cx="5318607" cy="2194560"/>
          </a:xfrm>
          <a:prstGeom prst="rect">
            <a:avLst/>
          </a:prstGeom>
          <a:noFill/>
        </p:spPr>
        <p:txBody>
          <a:bodyPr wrap="square" lIns="0" rIns="0" tIns="0" bIns="0" anchor="t">
            <a:spAutoFit/>
          </a:bodyPr>
          <a:lstStyle/>
          <a:p>
            <a:pPr algn="l">
              <a:spcBef>
                <a:spcPts val="0"/>
              </a:spcBef>
              <a:spcAft>
                <a:spcPts val="600"/>
              </a:spcAft>
            </a:pPr>
            <a:r>
              <a:rPr sz="950" b="1" i="0">
                <a:solidFill>
                  <a:srgbClr val="A51C30"/>
                </a:solidFill>
                <a:latin typeface="Calibri"/>
              </a:rPr>
              <a:t>IN FIVE PARTS</a:t>
            </a:r>
          </a:p>
          <a:p>
            <a:pPr>
              <a:spcBef>
                <a:spcPts val="0"/>
              </a:spcBef>
              <a:spcAft>
                <a:spcPts val="400"/>
              </a:spcAft>
            </a:pPr>
            <a:r>
              <a:rPr sz="1000" b="1" i="0">
                <a:solidFill>
                  <a:srgbClr val="A51C30"/>
                </a:solidFill>
                <a:latin typeface="Calibri"/>
              </a:rPr>
              <a:t>I   </a:t>
            </a:r>
            <a:r>
              <a:rPr sz="1000" b="1" i="0">
                <a:solidFill>
                  <a:srgbClr val="1C1C1E"/>
                </a:solidFill>
                <a:latin typeface="Calibri"/>
              </a:rPr>
              <a:t>Philosophy  </a:t>
            </a:r>
            <a:r>
              <a:rPr sz="1000" b="0" i="0">
                <a:solidFill>
                  <a:srgbClr val="4A4F57"/>
                </a:solidFill>
                <a:latin typeface="Calibri"/>
              </a:rPr>
              <a:t>what a model is, and what goes wrong when you forget</a:t>
            </a:r>
          </a:p>
          <a:p>
            <a:pPr>
              <a:spcBef>
                <a:spcPts val="0"/>
              </a:spcBef>
              <a:spcAft>
                <a:spcPts val="400"/>
              </a:spcAft>
            </a:pPr>
            <a:r>
              <a:rPr sz="1000" b="1" i="0">
                <a:solidFill>
                  <a:srgbClr val="A51C30"/>
                </a:solidFill>
                <a:latin typeface="Calibri"/>
              </a:rPr>
              <a:t>II  </a:t>
            </a:r>
            <a:r>
              <a:rPr sz="1000" b="1" i="0">
                <a:solidFill>
                  <a:srgbClr val="1C1C1E"/>
                </a:solidFill>
                <a:latin typeface="Calibri"/>
              </a:rPr>
              <a:t>Foundations  </a:t>
            </a:r>
            <a:r>
              <a:rPr sz="1000" b="0" i="0">
                <a:solidFill>
                  <a:srgbClr val="4A4F57"/>
                </a:solidFill>
                <a:latin typeface="Calibri"/>
              </a:rPr>
              <a:t>the mathematics, run as tests rather than claimed</a:t>
            </a:r>
          </a:p>
          <a:p>
            <a:pPr>
              <a:spcBef>
                <a:spcPts val="0"/>
              </a:spcBef>
              <a:spcAft>
                <a:spcPts val="400"/>
              </a:spcAft>
            </a:pPr>
            <a:r>
              <a:rPr sz="1000" b="1" i="0">
                <a:solidFill>
                  <a:srgbClr val="A51C30"/>
                </a:solidFill>
                <a:latin typeface="Calibri"/>
              </a:rPr>
              <a:t>III </a:t>
            </a:r>
            <a:r>
              <a:rPr sz="1000" b="1" i="0">
                <a:solidFill>
                  <a:srgbClr val="1C1C1E"/>
                </a:solidFill>
                <a:latin typeface="Calibri"/>
              </a:rPr>
              <a:t>Concepts  </a:t>
            </a:r>
            <a:r>
              <a:rPr sz="1000" b="0" i="0">
                <a:solidFill>
                  <a:srgbClr val="4A4F57"/>
                </a:solidFill>
                <a:latin typeface="Calibri"/>
              </a:rPr>
              <a:t>the objects a practitioner works with</a:t>
            </a:r>
          </a:p>
          <a:p>
            <a:pPr>
              <a:spcBef>
                <a:spcPts val="0"/>
              </a:spcBef>
              <a:spcAft>
                <a:spcPts val="400"/>
              </a:spcAft>
            </a:pPr>
            <a:r>
              <a:rPr sz="1000" b="1" i="0">
                <a:solidFill>
                  <a:srgbClr val="A51C30"/>
                </a:solidFill>
                <a:latin typeface="Calibri"/>
              </a:rPr>
              <a:t>IV  </a:t>
            </a:r>
            <a:r>
              <a:rPr sz="1000" b="1" i="0">
                <a:solidFill>
                  <a:srgbClr val="1C1C1E"/>
                </a:solidFill>
                <a:latin typeface="Calibri"/>
              </a:rPr>
              <a:t>System design  </a:t>
            </a:r>
            <a:r>
              <a:rPr sz="1000" b="0" i="0">
                <a:solidFill>
                  <a:srgbClr val="4A4F57"/>
                </a:solidFill>
                <a:latin typeface="Calibri"/>
              </a:rPr>
              <a:t>components, algorithms, boundaries</a:t>
            </a:r>
          </a:p>
          <a:p>
            <a:pPr>
              <a:spcBef>
                <a:spcPts val="0"/>
              </a:spcBef>
              <a:spcAft>
                <a:spcPts val="400"/>
              </a:spcAft>
            </a:pPr>
            <a:r>
              <a:rPr sz="1000" b="1" i="0">
                <a:solidFill>
                  <a:srgbClr val="A51C30"/>
                </a:solidFill>
                <a:latin typeface="Calibri"/>
              </a:rPr>
              <a:t>V   </a:t>
            </a:r>
            <a:r>
              <a:rPr sz="1000" b="1" i="0">
                <a:solidFill>
                  <a:srgbClr val="1C1C1E"/>
                </a:solidFill>
                <a:latin typeface="Calibri"/>
              </a:rPr>
              <a:t>Worked examples  </a:t>
            </a:r>
            <a:r>
              <a:rPr sz="1000" b="0" i="0">
                <a:solidFill>
                  <a:srgbClr val="4A4F57"/>
                </a:solidFill>
                <a:latin typeface="Calibri"/>
              </a:rPr>
              <a:t>eight kinds of model, then real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Who this is for, and where to stop reading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graphicFrame>
        <p:nvGraphicFramePr>
          <p:cNvPr id="10" name="Table 9"/>
          <p:cNvGraphicFramePr>
            <a:graphicFrameLocks noGrp="1"/>
          </p:cNvGraphicFramePr>
          <p:nvPr/>
        </p:nvGraphicFramePr>
        <p:xfrm>
          <a:off x="777240" y="1353312"/>
          <a:ext cx="10637213" cy="2609925"/>
        </p:xfrm>
        <a:graphic>
          <a:graphicData uri="http://schemas.openxmlformats.org/drawingml/2006/table">
            <a:tbl>
              <a:tblPr firstRow="1">
                <a:tableStyleId>{5C22544A-7EE6-4342-B048-85BDC9FD1C3A}</a:tableStyleId>
              </a:tblPr>
              <a:tblGrid>
                <a:gridCol w="2925828"/>
                <a:gridCol w="5120199"/>
                <a:gridCol w="2591186"/>
              </a:tblGrid>
              <a:tr h="329184">
                <a:tc>
                  <a:txBody>
                    <a:bodyPr wrap="square"/>
                    <a:lstStyle/>
                    <a:p>
                      <a:pPr algn="l"/>
                      <a:r>
                        <a:rPr sz="1050" b="1">
                          <a:solidFill>
                            <a:srgbClr val="FFFFFF"/>
                          </a:solidFill>
                          <a:latin typeface="Calibri"/>
                        </a:rPr>
                        <a:t>If you are</a:t>
                      </a:r>
                    </a:p>
                  </a:txBody>
                  <a:tcPr marL="82296" marR="64008" marT="32004" marB="32004" anchor="ctr">
                    <a:solidFill>
                      <a:srgbClr val="A51C30"/>
                    </a:solidFill>
                  </a:tcPr>
                </a:tc>
                <a:tc>
                  <a:txBody>
                    <a:bodyPr wrap="square"/>
                    <a:lstStyle/>
                    <a:p>
                      <a:pPr algn="l"/>
                      <a:r>
                        <a:rPr sz="1050" b="1">
                          <a:solidFill>
                            <a:srgbClr val="FFFFFF"/>
                          </a:solidFill>
                          <a:latin typeface="Calibri"/>
                        </a:rPr>
                        <a:t>Read</a:t>
                      </a:r>
                    </a:p>
                  </a:txBody>
                  <a:tcPr marL="82296" marR="64008" marT="32004" marB="32004" anchor="ctr">
                    <a:solidFill>
                      <a:srgbClr val="A51C30"/>
                    </a:solidFill>
                  </a:tcPr>
                </a:tc>
                <a:tc>
                  <a:txBody>
                    <a:bodyPr wrap="square"/>
                    <a:lstStyle/>
                    <a:p>
                      <a:pPr algn="l"/>
                      <a:r>
                        <a:rPr sz="1050" b="1">
                          <a:solidFill>
                            <a:srgbClr val="FFFFFF"/>
                          </a:solidFill>
                          <a:latin typeface="Calibri"/>
                        </a:rPr>
                        <a:t>The last chapter you need</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a model developer or a quant</a:t>
                      </a:r>
                    </a:p>
                  </a:txBody>
                  <a:tcPr marL="82296" marR="64008" marT="32004" marB="32004" anchor="ctr">
                    <a:solidFill>
                      <a:srgbClr val="FFFFFF"/>
                    </a:solidFill>
                  </a:tcPr>
                </a:tc>
                <a:tc>
                  <a:txBody>
                    <a:bodyPr wrap="square"/>
                    <a:lstStyle/>
                    <a:p>
                      <a:pPr algn="l"/>
                      <a:r>
                        <a:rPr sz="1050" b="0">
                          <a:solidFill>
                            <a:srgbClr val="1C1C1E"/>
                          </a:solidFill>
                          <a:latin typeface="Calibri"/>
                        </a:rPr>
                        <a:t>Parts I, III and V — the philosophy, the objects, the examples</a:t>
                      </a:r>
                    </a:p>
                  </a:txBody>
                  <a:tcPr marL="82296" marR="64008" marT="32004" marB="32004" anchor="ctr">
                    <a:solidFill>
                      <a:srgbClr val="FFFFFF"/>
                    </a:solidFill>
                  </a:tcPr>
                </a:tc>
                <a:tc>
                  <a:txBody>
                    <a:bodyPr wrap="square"/>
                    <a:lstStyle/>
                    <a:p>
                      <a:pPr algn="l"/>
                      <a:r>
                        <a:rPr sz="1050" b="0">
                          <a:solidFill>
                            <a:srgbClr val="1C1C1E"/>
                          </a:solidFill>
                          <a:latin typeface="Calibri"/>
                        </a:rPr>
                        <a:t>chapter 25 — the end of it</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 validator or model risk manager</a:t>
                      </a:r>
                    </a:p>
                  </a:txBody>
                  <a:tcPr marL="82296" marR="64008" marT="32004" marB="32004" anchor="ctr">
                    <a:solidFill>
                      <a:srgbClr val="F6F3EF"/>
                    </a:solidFill>
                  </a:tcPr>
                </a:tc>
                <a:tc>
                  <a:txBody>
                    <a:bodyPr wrap="square"/>
                    <a:lstStyle/>
                    <a:p>
                      <a:pPr algn="l"/>
                      <a:r>
                        <a:rPr sz="1050" b="0">
                          <a:solidFill>
                            <a:srgbClr val="1C1C1E"/>
                          </a:solidFill>
                          <a:latin typeface="Calibri"/>
                        </a:rPr>
                        <a:t>Parts I, II and III, then chapter 24 for the evidence each kind of model can produce</a:t>
                      </a:r>
                    </a:p>
                  </a:txBody>
                  <a:tcPr marL="82296" marR="64008" marT="32004" marB="32004" anchor="ctr">
                    <a:solidFill>
                      <a:srgbClr val="F6F3EF"/>
                    </a:solidFill>
                  </a:tcPr>
                </a:tc>
                <a:tc>
                  <a:txBody>
                    <a:bodyPr wrap="square"/>
                    <a:lstStyle/>
                    <a:p>
                      <a:pPr algn="l"/>
                      <a:r>
                        <a:rPr sz="1050" b="0">
                          <a:solidFill>
                            <a:srgbClr val="1C1C1E"/>
                          </a:solidFill>
                          <a:latin typeface="Calibri"/>
                        </a:rPr>
                        <a:t>chapter 24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a supervisor or an auditor</a:t>
                      </a:r>
                    </a:p>
                  </a:txBody>
                  <a:tcPr marL="82296" marR="64008" marT="32004" marB="32004" anchor="ctr">
                    <a:solidFill>
                      <a:srgbClr val="FFFFFF"/>
                    </a:solidFill>
                  </a:tcPr>
                </a:tc>
                <a:tc>
                  <a:txBody>
                    <a:bodyPr wrap="square"/>
                    <a:lstStyle/>
                    <a:p>
                      <a:pPr algn="l"/>
                      <a:r>
                        <a:rPr sz="1050" b="0">
                          <a:solidFill>
                            <a:srgbClr val="1C1C1E"/>
                          </a:solidFill>
                          <a:latin typeface="Calibri"/>
                        </a:rPr>
                        <a:t>Part I, then chapters 7, 8 and 14 — evidence, the laws, what a pack contains</a:t>
                      </a:r>
                    </a:p>
                  </a:txBody>
                  <a:tcPr marL="82296" marR="64008" marT="32004" marB="32004" anchor="ctr">
                    <a:solidFill>
                      <a:srgbClr val="FFFFFF"/>
                    </a:solidFill>
                  </a:tcPr>
                </a:tc>
                <a:tc>
                  <a:txBody>
                    <a:bodyPr wrap="square"/>
                    <a:lstStyle/>
                    <a:p>
                      <a:pPr algn="l"/>
                      <a:r>
                        <a:rPr sz="1050" b="0">
                          <a:solidFill>
                            <a:srgbClr val="1C1C1E"/>
                          </a:solidFill>
                          <a:latin typeface="Calibri"/>
                        </a:rPr>
                        <a:t>chapter 14</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an engineer building on it</a:t>
                      </a:r>
                    </a:p>
                  </a:txBody>
                  <a:tcPr marL="82296" marR="64008" marT="32004" marB="32004" anchor="ctr">
                    <a:solidFill>
                      <a:srgbClr val="F6F3EF"/>
                    </a:solidFill>
                  </a:tcPr>
                </a:tc>
                <a:tc>
                  <a:txBody>
                    <a:bodyPr wrap="square"/>
                    <a:lstStyle/>
                    <a:p>
                      <a:pPr algn="l"/>
                      <a:r>
                        <a:rPr sz="1050" b="0">
                          <a:solidFill>
                            <a:srgbClr val="1C1C1E"/>
                          </a:solidFill>
                          <a:latin typeface="Calibri"/>
                        </a:rPr>
                        <a:t>all of it; chapter 16 onward is the level below the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chapter 25, and chapter 23 is the operations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deciding whether to buy or build</a:t>
                      </a:r>
                    </a:p>
                  </a:txBody>
                  <a:tcPr marL="82296" marR="64008" marT="32004" marB="32004" anchor="ctr">
                    <a:solidFill>
                      <a:srgbClr val="FFFFFF"/>
                    </a:solidFill>
                  </a:tcPr>
                </a:tc>
                <a:tc>
                  <a:txBody>
                    <a:bodyPr wrap="square"/>
                    <a:lstStyle/>
                    <a:p>
                      <a:pPr algn="l"/>
                      <a:r>
                        <a:rPr sz="1050" b="0">
                          <a:solidFill>
                            <a:srgbClr val="1C1C1E"/>
                          </a:solidFill>
                          <a:latin typeface="Calibri"/>
                        </a:rPr>
                        <a:t>Part I and chapter 24</a:t>
                      </a:r>
                    </a:p>
                  </a:txBody>
                  <a:tcPr marL="82296" marR="64008" marT="32004" marB="32004" anchor="ctr">
                    <a:solidFill>
                      <a:srgbClr val="FFFFFF"/>
                    </a:solidFill>
                  </a:tcPr>
                </a:tc>
                <a:tc>
                  <a:txBody>
                    <a:bodyPr wrap="square"/>
                    <a:lstStyle/>
                    <a:p>
                      <a:pPr algn="l"/>
                      <a:r>
                        <a:rPr sz="1050" b="0">
                          <a:solidFill>
                            <a:srgbClr val="1C1C1E"/>
                          </a:solidFill>
                          <a:latin typeface="Calibri"/>
                        </a:rPr>
                        <a:t>chapter 24</a:t>
                      </a:r>
                    </a:p>
                  </a:txBody>
                  <a:tcPr marL="82296" marR="64008" marT="32004" marB="32004" anchor="ctr">
                    <a:solidFill>
                      <a:srgbClr val="FFFFFF"/>
                    </a:solidFill>
                  </a:tcPr>
                </a:tc>
              </a:tr>
            </a:tbl>
          </a:graphicData>
        </a:graphic>
      </p:graphicFrame>
      <p:sp>
        <p:nvSpPr>
          <p:cNvPr id="11" name="Rectangle 10"/>
          <p:cNvSpPr/>
          <p:nvPr/>
        </p:nvSpPr>
        <p:spPr>
          <a:xfrm>
            <a:off x="777240" y="4237558"/>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37558"/>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56430"/>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Part I answers a question the rest of the deck assumes. </a:t>
            </a:r>
            <a:r>
              <a:rPr sz="1050" b="0" i="0">
                <a:solidFill>
                  <a:srgbClr val="1C1C1E"/>
                </a:solidFill>
                <a:latin typeface="Calibri"/>
              </a:rPr>
              <a:t>If you read nothing else, read that: the whole design is downstream of one sentence about what a model 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document is, and what it is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a:t>
            </a:r>
          </a:p>
        </p:txBody>
      </p:sp>
      <p:graphicFrame>
        <p:nvGraphicFramePr>
          <p:cNvPr id="10" name="Table 9"/>
          <p:cNvGraphicFramePr>
            <a:graphicFrameLocks noGrp="1"/>
          </p:cNvGraphicFramePr>
          <p:nvPr/>
        </p:nvGraphicFramePr>
        <p:xfrm>
          <a:off x="777240" y="1353312"/>
          <a:ext cx="10637214" cy="2296439"/>
        </p:xfrm>
        <a:graphic>
          <a:graphicData uri="http://schemas.openxmlformats.org/drawingml/2006/table">
            <a:tbl>
              <a:tblPr firstRow="1">
                <a:tableStyleId>{5C22544A-7EE6-4342-B048-85BDC9FD1C3A}</a:tableStyleId>
              </a:tblPr>
              <a:tblGrid>
                <a:gridCol w="2834396"/>
                <a:gridCol w="3017260"/>
                <a:gridCol w="4785558"/>
              </a:tblGrid>
              <a:tr h="329184">
                <a:tc>
                  <a:txBody>
                    <a:bodyPr wrap="square"/>
                    <a:lstStyle/>
                    <a:p>
                      <a:pPr algn="l"/>
                      <a:r>
                        <a:rPr sz="1050" b="1">
                          <a:solidFill>
                            <a:srgbClr val="FFFFFF"/>
                          </a:solidFill>
                          <a:latin typeface="Calibri"/>
                        </a:rPr>
                        <a:t>Document</a:t>
                      </a:r>
                    </a:p>
                  </a:txBody>
                  <a:tcPr marL="82296" marR="64008" marT="32004" marB="32004" anchor="ctr">
                    <a:solidFill>
                      <a:srgbClr val="A51C30"/>
                    </a:solidFill>
                  </a:tcPr>
                </a:tc>
                <a:tc>
                  <a:txBody>
                    <a:bodyPr wrap="square"/>
                    <a:lstStyle/>
                    <a:p>
                      <a:pPr algn="l"/>
                      <a:r>
                        <a:rPr sz="1050" b="1">
                          <a:solidFill>
                            <a:srgbClr val="FFFFFF"/>
                          </a:solidFill>
                          <a:latin typeface="Calibri"/>
                        </a:rPr>
                        <a:t>Level</a:t>
                      </a:r>
                    </a:p>
                  </a:txBody>
                  <a:tcPr marL="82296" marR="64008" marT="32004" marB="32004" anchor="ctr">
                    <a:solidFill>
                      <a:srgbClr val="A51C30"/>
                    </a:solidFill>
                  </a:tcPr>
                </a:tc>
                <a:tc>
                  <a:txBody>
                    <a:bodyPr wrap="square"/>
                    <a:lstStyle/>
                    <a:p>
                      <a:pPr algn="l"/>
                      <a:r>
                        <a:rPr sz="1050" b="1">
                          <a:solidFill>
                            <a:srgbClr val="FFFFFF"/>
                          </a:solidFill>
                          <a:latin typeface="Calibri"/>
                        </a:rPr>
                        <a:t>Answers</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03 — Requirements</a:t>
                      </a:r>
                    </a:p>
                  </a:txBody>
                  <a:tcPr marL="82296" marR="64008" marT="32004" marB="32004" anchor="ctr">
                    <a:solidFill>
                      <a:srgbClr val="FFFFFF"/>
                    </a:solidFill>
                  </a:tcPr>
                </a:tc>
                <a:tc>
                  <a:txBody>
                    <a:bodyPr wrap="square"/>
                    <a:lstStyle/>
                    <a:p>
                      <a:pPr algn="l"/>
                      <a:r>
                        <a:rPr sz="1050" b="0">
                          <a:solidFill>
                            <a:srgbClr val="1C1C1E"/>
                          </a:solidFill>
                          <a:latin typeface="Calibri"/>
                        </a:rPr>
                        <a:t>what must be true</a:t>
                      </a:r>
                    </a:p>
                  </a:txBody>
                  <a:tcPr marL="82296" marR="64008" marT="32004" marB="32004" anchor="ctr">
                    <a:solidFill>
                      <a:srgbClr val="FFFFFF"/>
                    </a:solidFill>
                  </a:tcPr>
                </a:tc>
                <a:tc>
                  <a:txBody>
                    <a:bodyPr wrap="square"/>
                    <a:lstStyle/>
                    <a:p>
                      <a:pPr algn="l"/>
                      <a:r>
                        <a:rPr sz="1050" b="0">
                          <a:solidFill>
                            <a:srgbClr val="1C1C1E"/>
                          </a:solidFill>
                          <a:latin typeface="Calibri"/>
                        </a:rPr>
                        <a:t>numbered requirements, personas, regulatory traceability</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04 —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what the containers are, and why</a:t>
                      </a:r>
                    </a:p>
                  </a:txBody>
                  <a:tcPr marL="82296" marR="64008" marT="32004" marB="32004" anchor="ctr">
                    <a:solidFill>
                      <a:srgbClr val="F6F3EF"/>
                    </a:solidFill>
                  </a:tcPr>
                </a:tc>
                <a:tc>
                  <a:txBody>
                    <a:bodyPr wrap="square"/>
                    <a:lstStyle/>
                    <a:p>
                      <a:pPr algn="l"/>
                      <a:r>
                        <a:rPr sz="1050" b="0">
                          <a:solidFill>
                            <a:srgbClr val="1C1C1E"/>
                          </a:solidFill>
                          <a:latin typeface="Calibri"/>
                        </a:rPr>
                        <a:t>deployable units, bounded contexts, failure modes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This deck</a:t>
                      </a:r>
                    </a:p>
                  </a:txBody>
                  <a:tcPr marL="82296" marR="64008" marT="32004" marB="32004" anchor="ctr">
                    <a:solidFill>
                      <a:srgbClr val="FFFFFF"/>
                    </a:solidFill>
                  </a:tcPr>
                </a:tc>
                <a:tc>
                  <a:txBody>
                    <a:bodyPr wrap="square"/>
                    <a:lstStyle/>
                    <a:p>
                      <a:pPr algn="l"/>
                      <a:r>
                        <a:rPr sz="1050" b="0">
                          <a:solidFill>
                            <a:srgbClr val="1C1C1E"/>
                          </a:solidFill>
                          <a:latin typeface="Calibri"/>
                        </a:rPr>
                        <a:t>the whole thing, at the level a person reads</a:t>
                      </a:r>
                    </a:p>
                  </a:txBody>
                  <a:tcPr marL="82296" marR="64008" marT="32004" marB="32004" anchor="ctr">
                    <a:solidFill>
                      <a:srgbClr val="FFFFFF"/>
                    </a:solidFill>
                  </a:tcPr>
                </a:tc>
                <a:tc>
                  <a:txBody>
                    <a:bodyPr wrap="square"/>
                    <a:lstStyle/>
                    <a:p>
                      <a:pPr algn="l"/>
                      <a:r>
                        <a:rPr sz="1050" b="0">
                          <a:solidFill>
                            <a:srgbClr val="1C1C1E"/>
                          </a:solidFill>
                          <a:latin typeface="Calibri"/>
                        </a:rPr>
                        <a:t>the philosophy, the mathematics, the objects, the design, and a worked example of each</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14 — Detailed design</a:t>
                      </a:r>
                    </a:p>
                  </a:txBody>
                  <a:tcPr marL="82296" marR="64008" marT="32004" marB="32004" anchor="ctr">
                    <a:solidFill>
                      <a:srgbClr val="F6F3EF"/>
                    </a:solidFill>
                  </a:tcPr>
                </a:tc>
                <a:tc>
                  <a:txBody>
                    <a:bodyPr wrap="square"/>
                    <a:lstStyle/>
                    <a:p>
                      <a:pPr algn="l"/>
                      <a:r>
                        <a:rPr sz="1050" b="0">
                          <a:solidFill>
                            <a:srgbClr val="1C1C1E"/>
                          </a:solidFill>
                          <a:latin typeface="Calibri"/>
                        </a:rPr>
                        <a:t>what each component does internally</a:t>
                      </a:r>
                    </a:p>
                  </a:txBody>
                  <a:tcPr marL="82296" marR="64008" marT="32004" marB="32004" anchor="ctr">
                    <a:solidFill>
                      <a:srgbClr val="F6F3EF"/>
                    </a:solidFill>
                  </a:tcPr>
                </a:tc>
                <a:tc>
                  <a:txBody>
                    <a:bodyPr wrap="square"/>
                    <a:lstStyle/>
                    <a:p>
                      <a:pPr algn="l"/>
                      <a:r>
                        <a:rPr sz="1050" b="0">
                          <a:solidFill>
                            <a:srgbClr val="1C1C1E"/>
                          </a:solidFill>
                          <a:latin typeface="Calibri"/>
                        </a:rPr>
                        <a:t>interfaces, algorithms, transaction boundaries, concurrency, SLOs</a:t>
                      </a:r>
                    </a:p>
                  </a:txBody>
                  <a:tcPr marL="82296" marR="64008" marT="32004" marB="32004" anchor="ctr">
                    <a:solidFill>
                      <a:srgbClr val="F6F3EF"/>
                    </a:solidFill>
                  </a:tcPr>
                </a:tc>
              </a:tr>
              <a:tr h="365760">
                <a:tc>
                  <a:txBody>
                    <a:bodyPr wrap="square"/>
                    <a:lstStyle/>
                    <a:p>
                      <a:pPr algn="l"/>
                      <a:r>
                        <a:rPr sz="1050" b="1">
                          <a:solidFill>
                            <a:srgbClr val="A51C30"/>
                          </a:solidFill>
                          <a:latin typeface="Calibri"/>
                        </a:rPr>
                        <a:t>00 — Foundations</a:t>
                      </a:r>
                    </a:p>
                  </a:txBody>
                  <a:tcPr marL="82296" marR="64008" marT="32004" marB="32004" anchor="ctr">
                    <a:solidFill>
                      <a:srgbClr val="FFFFFF"/>
                    </a:solidFill>
                  </a:tcPr>
                </a:tc>
                <a:tc>
                  <a:txBody>
                    <a:bodyPr wrap="square"/>
                    <a:lstStyle/>
                    <a:p>
                      <a:pPr algn="l"/>
                      <a:r>
                        <a:rPr sz="1050" b="0">
                          <a:solidFill>
                            <a:srgbClr val="1C1C1E"/>
                          </a:solidFill>
                          <a:latin typeface="Calibri"/>
                        </a:rPr>
                        <a:t>why any of it is true</a:t>
                      </a:r>
                    </a:p>
                  </a:txBody>
                  <a:tcPr marL="82296" marR="64008" marT="32004" marB="32004" anchor="ctr">
                    <a:solidFill>
                      <a:srgbClr val="FFFFFF"/>
                    </a:solidFill>
                  </a:tcPr>
                </a:tc>
                <a:tc>
                  <a:txBody>
                    <a:bodyPr wrap="square"/>
                    <a:lstStyle/>
                    <a:p>
                      <a:pPr algn="l"/>
                      <a:r>
                        <a:rPr sz="1050" b="0">
                          <a:solidFill>
                            <a:srgbClr val="1C1C1E"/>
                          </a:solidFill>
                          <a:latin typeface="Calibri"/>
                        </a:rPr>
                        <a:t>the definitions, the theorems, and the law table with what runs</a:t>
                      </a:r>
                    </a:p>
                  </a:txBody>
                  <a:tcPr marL="82296" marR="64008" marT="32004" marB="32004" anchor="ctr">
                    <a:solidFill>
                      <a:srgbClr val="FFFFFF"/>
                    </a:solidFill>
                  </a:tcPr>
                </a:tc>
              </a:tr>
            </a:tbl>
          </a:graphicData>
        </a:graphic>
      </p:graphicFrame>
      <p:sp>
        <p:nvSpPr>
          <p:cNvPr id="11" name="Rectangle 10"/>
          <p:cNvSpPr/>
          <p:nvPr/>
        </p:nvSpPr>
        <p:spPr>
          <a:xfrm>
            <a:off x="777240" y="3924071"/>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924071"/>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042943"/>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Test of adequacy. </a:t>
            </a:r>
            <a:r>
              <a:rPr sz="1050" b="0" i="0">
                <a:solidFill>
                  <a:srgbClr val="1C1C1E"/>
                </a:solidFill>
                <a:latin typeface="Calibri"/>
              </a:rPr>
              <a:t>Parts I to III should leave a practitioner able to register a model and authorise a run without guessing; Part IV should leave an engineer able to open a component and start. Where that is not true it is a gap in this deck.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Thirteen terms, defined before they are 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graphicFrame>
        <p:nvGraphicFramePr>
          <p:cNvPr id="10" name="Table 9"/>
          <p:cNvGraphicFramePr>
            <a:graphicFrameLocks noGrp="1"/>
          </p:cNvGraphicFramePr>
          <p:nvPr/>
        </p:nvGraphicFramePr>
        <p:xfrm>
          <a:off x="777240" y="1353312"/>
          <a:ext cx="10637214" cy="5469376"/>
        </p:xfrm>
        <a:graphic>
          <a:graphicData uri="http://schemas.openxmlformats.org/drawingml/2006/table">
            <a:tbl>
              <a:tblPr firstRow="1">
                <a:tableStyleId>{5C22544A-7EE6-4342-B048-85BDC9FD1C3A}</a:tableStyleId>
              </a:tblPr>
              <a:tblGrid>
                <a:gridCol w="2377235"/>
                <a:gridCol w="8259979"/>
              </a:tblGrid>
              <a:tr h="329184">
                <a:tc>
                  <a:txBody>
                    <a:bodyPr wrap="square"/>
                    <a:lstStyle/>
                    <a:p>
                      <a:pPr algn="l"/>
                      <a:r>
                        <a:rPr sz="950" b="1">
                          <a:solidFill>
                            <a:srgbClr val="FFFFFF"/>
                          </a:solidFill>
                          <a:latin typeface="Calibri"/>
                        </a:rPr>
                        <a:t>Term</a:t>
                      </a:r>
                    </a:p>
                  </a:txBody>
                  <a:tcPr marL="82296" marR="64008" marT="32004" marB="32004" anchor="ctr">
                    <a:solidFill>
                      <a:srgbClr val="A51C30"/>
                    </a:solidFill>
                  </a:tcPr>
                </a:tc>
                <a:tc>
                  <a:txBody>
                    <a:bodyPr wrap="square"/>
                    <a:lstStyle/>
                    <a:p>
                      <a:pPr algn="l"/>
                      <a:r>
                        <a:rPr sz="950" b="1">
                          <a:solidFill>
                            <a:srgbClr val="FFFFFF"/>
                          </a:solidFill>
                          <a:latin typeface="Calibri"/>
                        </a:rPr>
                        <a:t>What it means in this deck</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Model (parametric kernel)</a:t>
                      </a:r>
                    </a:p>
                  </a:txBody>
                  <a:tcPr marL="82296" marR="64008" marT="32004" marB="32004" anchor="ctr">
                    <a:solidFill>
                      <a:srgbClr val="FFFFFF"/>
                    </a:solidFill>
                  </a:tcPr>
                </a:tc>
                <a:tc>
                  <a:txBody>
                    <a:bodyPr wrap="square"/>
                    <a:lstStyle/>
                    <a:p>
                      <a:pPr algn="l"/>
                      <a:r>
                        <a:rPr sz="950" b="0">
                          <a:solidFill>
                            <a:srgbClr val="1C1C1E"/>
                          </a:solidFill>
                          <a:latin typeface="Calibri"/>
                        </a:rPr>
                        <a:t>f : P ⊗ X → D(Y). Parameters P, inputs X, a distribution over outputs 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P, the parameter object</a:t>
                      </a:r>
                    </a:p>
                  </a:txBody>
                  <a:tcPr marL="82296" marR="64008" marT="32004" marB="32004" anchor="ctr">
                    <a:solidFill>
                      <a:srgbClr val="F6F3EF"/>
                    </a:solidFill>
                  </a:tcPr>
                </a:tc>
                <a:tc>
                  <a:txBody>
                    <a:bodyPr wrap="square"/>
                    <a:lstStyle/>
                    <a:p>
                      <a:pPr algn="l"/>
                      <a:r>
                        <a:rPr sz="950" b="0">
                          <a:solidFill>
                            <a:srgbClr val="1C1C1E"/>
                          </a:solidFill>
                          <a:latin typeface="Calibri"/>
                        </a:rPr>
                        <a:t>The numbers or rules that decide what the model does. Empty for an analytical pricer; weights for a network; a rule set for a policy.</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Trainability class, T0–T8</a:t>
                      </a:r>
                    </a:p>
                  </a:txBody>
                  <a:tcPr marL="82296" marR="64008" marT="32004" marB="32004" anchor="ctr">
                    <a:solidFill>
                      <a:srgbClr val="FFFFFF"/>
                    </a:solidFill>
                  </a:tcPr>
                </a:tc>
                <a:tc>
                  <a:txBody>
                    <a:bodyPr wrap="square"/>
                    <a:lstStyle/>
                    <a:p>
                      <a:pPr algn="l"/>
                      <a:r>
                        <a:rPr sz="950" b="0">
                          <a:solidFill>
                            <a:srgbClr val="1C1C1E"/>
                          </a:solidFill>
                          <a:latin typeface="Calibri"/>
                        </a:rPr>
                        <a:t>Derived from how P is inhabited, never declared. T0 nothing to fit · T1 calibrated · T2 estimated · T3 trained · T4 still training · T5 configured · T6 opaque · T7 elicited · T8 authored.</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Fibre</a:t>
                      </a:r>
                    </a:p>
                  </a:txBody>
                  <a:tcPr marL="82296" marR="64008" marT="32004" marB="32004" anchor="ctr">
                    <a:solidFill>
                      <a:srgbClr val="F6F3EF"/>
                    </a:solidFill>
                  </a:tcPr>
                </a:tc>
                <a:tc>
                  <a:txBody>
                    <a:bodyPr wrap="square"/>
                    <a:lstStyle/>
                    <a:p>
                      <a:pPr algn="l"/>
                      <a:r>
                        <a:rPr sz="950" b="0">
                          <a:solidFill>
                            <a:srgbClr val="1C1C1E"/>
                          </a:solidFill>
                          <a:latin typeface="Calibri"/>
                        </a:rPr>
                        <a:t>What one trainability class is given: an evidence schema, a lifecycle, a metric set and a template set. No fibre may be empty (L-15), so a new kind of model is a fibre and nothing else.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Alias</a:t>
                      </a:r>
                    </a:p>
                  </a:txBody>
                  <a:tcPr marL="82296" marR="64008" marT="32004" marB="32004" anchor="ctr">
                    <a:solidFill>
                      <a:srgbClr val="FFFFFF"/>
                    </a:solidFill>
                  </a:tcPr>
                </a:tc>
                <a:tc>
                  <a:txBody>
                    <a:bodyPr wrap="square"/>
                    <a:lstStyle/>
                    <a:p>
                      <a:pPr algn="l"/>
                      <a:r>
                        <a:rPr sz="950" b="0">
                          <a:solidFill>
                            <a:srgbClr val="1C1C1E"/>
                          </a:solidFill>
                          <a:latin typeface="Calibri"/>
                        </a:rPr>
                        <a:t>A governed name — #champion — that points at whichever version is approved today. A consumer holds the alias; it never holds a version.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Operating contract</a:t>
                      </a:r>
                    </a:p>
                  </a:txBody>
                  <a:tcPr marL="82296" marR="64008" marT="32004" marB="32004" anchor="ctr">
                    <a:solidFill>
                      <a:srgbClr val="F6F3EF"/>
                    </a:solidFill>
                  </a:tcPr>
                </a:tc>
                <a:tc>
                  <a:txBody>
                    <a:bodyPr wrap="square"/>
                    <a:lstStyle/>
                    <a:p>
                      <a:pPr algn="l"/>
                      <a:r>
                        <a:rPr sz="950" b="0">
                          <a:solidFill>
                            <a:srgbClr val="1C1C1E"/>
                          </a:solidFill>
                          <a:latin typeface="Calibri"/>
                        </a:rPr>
                        <a:t>The boundary a version was validated inside. A replacement must REFINE it, and a run outside it is refused rather than answered.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Grant, and entitlement</a:t>
                      </a:r>
                    </a:p>
                  </a:txBody>
                  <a:tcPr marL="82296" marR="64008" marT="32004" marB="32004" anchor="ctr">
                    <a:solidFill>
                      <a:srgbClr val="FFFFFF"/>
                    </a:solidFill>
                  </a:tcPr>
                </a:tc>
                <a:tc>
                  <a:txBody>
                    <a:bodyPr wrap="square"/>
                    <a:lstStyle/>
                    <a:p>
                      <a:pPr algn="l"/>
                      <a:r>
                        <a:rPr sz="950" b="0">
                          <a:solidFill>
                            <a:srgbClr val="1C1C1E"/>
                          </a:solidFill>
                          <a:latin typeface="Calibri"/>
                        </a:rPr>
                        <a:t>A grant is the standing entitlement: this principal, this environment, this declared use. A warrant is a short-lived credential minted against one, so revocation has something to bite.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Warrant</a:t>
                      </a:r>
                    </a:p>
                  </a:txBody>
                  <a:tcPr marL="82296" marR="64008" marT="32004" marB="32004" anchor="ctr">
                    <a:solidFill>
                      <a:srgbClr val="F6F3EF"/>
                    </a:solidFill>
                  </a:tcPr>
                </a:tc>
                <a:tc>
                  <a:txBody>
                    <a:bodyPr wrap="square"/>
                    <a:lstStyle/>
                    <a:p>
                      <a:pPr algn="l"/>
                      <a:r>
                        <a:rPr sz="950" b="0">
                          <a:solidFill>
                            <a:srgbClr val="1C1C1E"/>
                          </a:solidFill>
                          <a:latin typeface="Calibri"/>
                        </a:rPr>
                        <a:t>A signed, expiring instruction authorising one act, on one model version, by one principal, for a stated use.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Overlay</a:t>
                      </a:r>
                    </a:p>
                  </a:txBody>
                  <a:tcPr marL="82296" marR="64008" marT="32004" marB="32004" anchor="ctr">
                    <a:solidFill>
                      <a:srgbClr val="FFFFFF"/>
                    </a:solidFill>
                  </a:tcPr>
                </a:tc>
                <a:tc>
                  <a:txBody>
                    <a:bodyPr wrap="square"/>
                    <a:lstStyle/>
                    <a:p>
                      <a:pPr algn="l"/>
                      <a:r>
                        <a:rPr sz="950" b="0">
                          <a:solidFill>
                            <a:srgbClr val="1C1C1E"/>
                          </a:solidFill>
                          <a:latin typeface="Calibri"/>
                        </a:rPr>
                        <a:t>A post-model adjustment to an output. Legitimate briefly; an overlay renewed past its limit is an unversioned model change, and is raised as a finding.</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Lens</a:t>
                      </a:r>
                    </a:p>
                  </a:txBody>
                  <a:tcPr marL="82296" marR="64008" marT="32004" marB="32004" anchor="ctr">
                    <a:solidFill>
                      <a:srgbClr val="F6F3EF"/>
                    </a:solidFill>
                  </a:tcPr>
                </a:tc>
                <a:tc>
                  <a:txBody>
                    <a:bodyPr wrap="square"/>
                    <a:lstStyle/>
                    <a:p>
                      <a:pPr algn="l"/>
                      <a:r>
                        <a:rPr sz="950" b="0">
                          <a:solidFill>
                            <a:srgbClr val="1C1C1E"/>
                          </a:solidFill>
                          <a:latin typeface="Calibri"/>
                        </a:rPr>
                        <a:t>A function from platform state to prose PLUS the evidence it rested on. Documentation sections are lenses rather than templates, so a section cannot describe a state that no longer holds.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Refusal</a:t>
                      </a:r>
                    </a:p>
                  </a:txBody>
                  <a:tcPr marL="82296" marR="64008" marT="32004" marB="32004" anchor="ctr">
                    <a:solidFill>
                      <a:srgbClr val="FFFFFF"/>
                    </a:solidFill>
                  </a:tcPr>
                </a:tc>
                <a:tc>
                  <a:txBody>
                    <a:bodyPr wrap="square"/>
                    <a:lstStyle/>
                    <a:p>
                      <a:pPr algn="l"/>
                      <a:r>
                        <a:rPr sz="950" b="0">
                          <a:solidFill>
                            <a:srgbClr val="1C1C1E"/>
                          </a:solidFill>
                          <a:latin typeface="Calibri"/>
                        </a:rPr>
                        <a:t>A machine-readable “no”: a code, what failed, and what to do about it. Never a bare error.</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Law (L-1…L-21, L-W0…L-W13)</a:t>
                      </a:r>
                    </a:p>
                  </a:txBody>
                  <a:tcPr marL="82296" marR="64008" marT="32004" marB="32004" anchor="ctr">
                    <a:solidFill>
                      <a:srgbClr val="F6F3EF"/>
                    </a:solidFill>
                  </a:tcPr>
                </a:tc>
                <a:tc>
                  <a:txBody>
                    <a:bodyPr wrap="square"/>
                    <a:lstStyle/>
                    <a:p>
                      <a:pPr algn="l"/>
                      <a:r>
                        <a:rPr sz="950" b="0">
                          <a:solidFill>
                            <a:srgbClr val="1C1C1E"/>
                          </a:solidFill>
                          <a:latin typeface="Calibri"/>
                        </a:rPr>
                        <a:t>A stated property with a test that runs. The L-W family are warrant-admissibility laws.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Semiring</a:t>
                      </a:r>
                    </a:p>
                  </a:txBody>
                  <a:tcPr marL="82296" marR="64008" marT="32004" marB="32004" anchor="ctr">
                    <a:solidFill>
                      <a:srgbClr val="FFFFFF"/>
                    </a:solidFill>
                  </a:tcPr>
                </a:tc>
                <a:tc>
                  <a:txBody>
                    <a:bodyPr wrap="square"/>
                    <a:lstStyle/>
                    <a:p>
                      <a:pPr algn="l"/>
                      <a:r>
                        <a:rPr sz="950" b="0">
                          <a:solidFill>
                            <a:srgbClr val="1C1C1E"/>
                          </a:solidFill>
                          <a:latin typeface="Calibri"/>
                        </a:rPr>
                        <a:t>An algebra with an “add” and a “multiply”. Swapping the pair lets ONE graph traversal answer different questions.</a:t>
                      </a:r>
                    </a:p>
                  </a:txBody>
                  <a:tcPr marL="82296" marR="64008" marT="32004" marB="32004"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Philosophy</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What a model is, what goes wrong when an organisation forgets, and the five positions this platform takes as a result.</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 · The name, and what it is for</a:t>
            </a:r>
          </a:p>
          <a:p>
            <a:pPr>
              <a:lnSpc>
                <a:spcPct val="115000"/>
              </a:lnSpc>
              <a:spcBef>
                <a:spcPts val="0"/>
              </a:spcBef>
              <a:spcAft>
                <a:spcPts val="800"/>
              </a:spcAft>
            </a:pPr>
            <a:r>
              <a:rPr sz="1150" b="0" i="0">
                <a:solidFill>
                  <a:srgbClr val="E4DED6"/>
                </a:solidFill>
                <a:latin typeface="Calibri"/>
              </a:rPr>
              <a:t>2 · One estate, many kinds of model</a:t>
            </a:r>
          </a:p>
          <a:p>
            <a:pPr>
              <a:lnSpc>
                <a:spcPct val="115000"/>
              </a:lnSpc>
              <a:spcBef>
                <a:spcPts val="0"/>
              </a:spcBef>
              <a:spcAft>
                <a:spcPts val="800"/>
              </a:spcAft>
            </a:pPr>
            <a:r>
              <a:rPr sz="1150" b="0" i="0">
                <a:solidFill>
                  <a:srgbClr val="E4DED6"/>
                </a:solidFill>
                <a:latin typeface="Calibri"/>
              </a:rPr>
              <a:t>3 · Five positions, and their cost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NAME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māyā — appearance, not illusion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200"/>
              </a:spcAft>
            </a:pPr>
            <a:r>
              <a:rPr sz="4400" b="0" i="0">
                <a:solidFill>
                  <a:srgbClr val="A51C30"/>
                </a:solidFill>
                <a:latin typeface="Georgia"/>
              </a:rPr>
              <a:t>माया</a:t>
            </a:r>
          </a:p>
          <a:p>
            <a:pPr>
              <a:lnSpc>
                <a:spcPct val="130000"/>
              </a:lnSpc>
              <a:spcBef>
                <a:spcPts val="0"/>
              </a:spcBef>
              <a:spcAft>
                <a:spcPts val="1000"/>
              </a:spcAft>
            </a:pPr>
            <a:r>
              <a:rPr sz="1300" b="0" i="0">
                <a:solidFill>
                  <a:srgbClr val="1C1C1E"/>
                </a:solidFill>
                <a:latin typeface="Calibri"/>
              </a:rPr>
              <a:t>In Indian philosophy, māyā is the representation that stands in for reality. The usual translation — “illusion” — is too strong. Māyā is not falsehood: it is a RENDERING of the world, useful, often necessary, and dangerous only when you forget that it is a rendering.</a:t>
            </a:r>
          </a:p>
          <a:p>
            <a:pPr>
              <a:lnSpc>
                <a:spcPct val="130000"/>
              </a:lnSpc>
              <a:spcBef>
                <a:spcPts val="0"/>
              </a:spcBef>
              <a:spcAft>
                <a:spcPts val="0"/>
              </a:spcAft>
            </a:pPr>
            <a:r>
              <a:rPr sz="1300" b="0" i="0">
                <a:solidFill>
                  <a:srgbClr val="1C1C1E"/>
                </a:solidFill>
                <a:latin typeface="Calibri"/>
              </a:rPr>
              <a:t>Which is what a model is — and the supervisory guidance says so in almost the same words.</a:t>
            </a:r>
          </a:p>
        </p:txBody>
      </p:sp>
      <p:sp>
        <p:nvSpPr>
          <p:cNvPr id="11" name="Rectangle 10"/>
          <p:cNvSpPr/>
          <p:nvPr/>
        </p:nvSpPr>
        <p:spPr>
          <a:xfrm>
            <a:off x="6946824" y="1490472"/>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7202856" y="1472184"/>
            <a:ext cx="4193310" cy="658368"/>
          </a:xfrm>
          <a:prstGeom prst="rect">
            <a:avLst/>
          </a:prstGeom>
          <a:noFill/>
        </p:spPr>
        <p:txBody>
          <a:bodyPr wrap="square" lIns="0" rIns="0" tIns="0" bIns="0" anchor="t">
            <a:spAutoFit/>
          </a:bodyPr>
          <a:lstStyle/>
          <a:p>
            <a:pPr algn="l">
              <a:lnSpc>
                <a:spcPct val="125000"/>
              </a:lnSpc>
              <a:spcBef>
                <a:spcPts val="0"/>
              </a:spcBef>
              <a:spcAft>
                <a:spcPts val="500"/>
              </a:spcAft>
            </a:pPr>
            <a:r>
              <a:rPr sz="1300" b="0" i="1">
                <a:solidFill>
                  <a:srgbClr val="1C1C1E"/>
                </a:solidFill>
                <a:latin typeface="Georgia"/>
              </a:rPr>
              <a:t>“Models are simplified representations of real-world relationships… based on assumptions that make them useful in estimating values and predicting events, but which also can have limitations and create model risk.”</a:t>
            </a:r>
          </a:p>
          <a:p>
            <a:pPr>
              <a:spcBef>
                <a:spcPts val="0"/>
              </a:spcBef>
              <a:spcAft>
                <a:spcPts val="600"/>
              </a:spcAft>
            </a:pPr>
            <a:r>
              <a:rPr sz="950" b="1" i="0">
                <a:solidFill>
                  <a:srgbClr val="7A7F87"/>
                </a:solidFill>
                <a:latin typeface="Calibri"/>
              </a:rPr>
              <a:t>SR 26-2, §III</a:t>
            </a:r>
          </a:p>
        </p:txBody>
      </p:sp>
      <p:sp>
        <p:nvSpPr>
          <p:cNvPr id="13" name="Rectangle 12"/>
          <p:cNvSpPr/>
          <p:nvPr/>
        </p:nvSpPr>
        <p:spPr>
          <a:xfrm>
            <a:off x="6946824" y="2953512"/>
            <a:ext cx="446763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946824" y="29535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7184568" y="3072384"/>
            <a:ext cx="401043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Model risk is what happens when an organisation forgets the difference between the map and the territory. </a:t>
            </a:r>
            <a:r>
              <a:rPr sz="1050" b="0" i="0">
                <a:solidFill>
                  <a:srgbClr val="1C1C1E"/>
                </a:solidFill>
                <a:latin typeface="Calibri"/>
              </a:rPr>
              <a:t>The platform is named for the thing it governs.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MARK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square inscribed in a circle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sp>
        <p:nvSpPr>
          <p:cNvPr id="10" name="TextBox 9"/>
          <p:cNvSpPr txBox="1"/>
          <p:nvPr/>
        </p:nvSpPr>
        <p:spPr>
          <a:xfrm>
            <a:off x="777240" y="1353312"/>
            <a:ext cx="5531351" cy="3291840"/>
          </a:xfrm>
          <a:prstGeom prst="rect">
            <a:avLst/>
          </a:prstGeom>
          <a:noFill/>
        </p:spPr>
        <p:txBody>
          <a:bodyPr wrap="square" lIns="0" rIns="0" tIns="0" bIns="0" anchor="t">
            <a:spAutoFit/>
          </a:bodyPr>
          <a:lstStyle/>
          <a:p>
            <a:pPr algn="l">
              <a:spcBef>
                <a:spcPts val="0"/>
              </a:spcBef>
              <a:spcAft>
                <a:spcPts val="1000"/>
              </a:spcAft>
            </a:pPr>
            <a:r>
              <a:rPr sz="1400" b="1" i="0">
                <a:solidFill>
                  <a:srgbClr val="A51C30"/>
                </a:solidFill>
                <a:latin typeface="Georgia"/>
              </a:rPr>
              <a:t>The oldest model there is.</a:t>
            </a:r>
          </a:p>
          <a:p>
            <a:pPr>
              <a:lnSpc>
                <a:spcPct val="130000"/>
              </a:lnSpc>
              <a:spcBef>
                <a:spcPts val="0"/>
              </a:spcBef>
              <a:spcAft>
                <a:spcPts val="1000"/>
              </a:spcAft>
            </a:pPr>
            <a:r>
              <a:rPr sz="1200" b="0" i="0">
                <a:solidFill>
                  <a:srgbClr val="1C1C1E"/>
                </a:solidFill>
                <a:latin typeface="Calibri"/>
              </a:rPr>
              <a:t>Archimedes estimated π by inscribing and circumscribing polygons and tightening the bound as the sides multiplied: a tractable figure standing in for one that cannot be computed directly.</a:t>
            </a:r>
          </a:p>
          <a:p>
            <a:pPr>
              <a:lnSpc>
                <a:spcPct val="130000"/>
              </a:lnSpc>
              <a:spcBef>
                <a:spcPts val="0"/>
              </a:spcBef>
              <a:spcAft>
                <a:spcPts val="800"/>
              </a:spcAft>
            </a:pPr>
            <a:r>
              <a:rPr sz="1200" b="0" i="0">
                <a:solidFill>
                  <a:srgbClr val="1C1C1E"/>
                </a:solidFill>
                <a:latin typeface="Calibri"/>
              </a:rPr>
              <a:t>Which gives the mark its reading:</a:t>
            </a:r>
          </a:p>
          <a:p>
            <a:pPr>
              <a:spcBef>
                <a:spcPts val="0"/>
              </a:spcBef>
              <a:spcAft>
                <a:spcPts val="700"/>
              </a:spcAft>
            </a:pPr>
            <a:r>
              <a:rPr sz="1100" b="1" i="0">
                <a:solidFill>
                  <a:srgbClr val="A51C30"/>
                </a:solidFill>
                <a:latin typeface="Calibri"/>
              </a:rPr>
              <a:t>→  </a:t>
            </a:r>
            <a:r>
              <a:rPr sz="1100" b="1" i="0">
                <a:solidFill>
                  <a:srgbClr val="1C1C1E"/>
                </a:solidFill>
                <a:latin typeface="Calibri"/>
              </a:rPr>
              <a:t>The gap </a:t>
            </a:r>
            <a:r>
              <a:rPr sz="1100" b="0" i="0">
                <a:solidFill>
                  <a:srgbClr val="4A4F57"/>
                </a:solidFill>
                <a:latin typeface="Calibri"/>
              </a:rPr>
              <a:t>between the square and the circle is the model error.</a:t>
            </a:r>
          </a:p>
          <a:p>
            <a:pPr>
              <a:spcBef>
                <a:spcPts val="0"/>
              </a:spcBef>
              <a:spcAft>
                <a:spcPts val="700"/>
              </a:spcAft>
            </a:pPr>
            <a:r>
              <a:rPr sz="1100" b="1" i="0">
                <a:solidFill>
                  <a:srgbClr val="A51C30"/>
                </a:solidFill>
                <a:latin typeface="Calibri"/>
              </a:rPr>
              <a:t>→  </a:t>
            </a:r>
            <a:r>
              <a:rPr sz="1100" b="1" i="0">
                <a:solidFill>
                  <a:srgbClr val="1C1C1E"/>
                </a:solidFill>
                <a:latin typeface="Calibri"/>
              </a:rPr>
              <a:t>The four points </a:t>
            </a:r>
            <a:r>
              <a:rPr sz="1100" b="0" i="0">
                <a:solidFill>
                  <a:srgbClr val="4A4F57"/>
                </a:solidFill>
                <a:latin typeface="Calibri"/>
              </a:rPr>
              <a:t>are where the model and the world agree.</a:t>
            </a:r>
          </a:p>
          <a:p>
            <a:pPr>
              <a:spcBef>
                <a:spcPts val="0"/>
              </a:spcBef>
              <a:spcAft>
                <a:spcPts val="700"/>
              </a:spcAft>
            </a:pPr>
            <a:r>
              <a:rPr sz="1100" b="1" i="0">
                <a:solidFill>
                  <a:srgbClr val="A51C30"/>
                </a:solidFill>
                <a:latin typeface="Calibri"/>
              </a:rPr>
              <a:t>→  </a:t>
            </a:r>
            <a:r>
              <a:rPr sz="1100" b="1" i="0">
                <a:solidFill>
                  <a:srgbClr val="1C1C1E"/>
                </a:solidFill>
                <a:latin typeface="Calibri"/>
              </a:rPr>
              <a:t>Add sides </a:t>
            </a:r>
            <a:r>
              <a:rPr sz="1100" b="0" i="0">
                <a:solidFill>
                  <a:srgbClr val="4A4F57"/>
                </a:solidFill>
                <a:latin typeface="Calibri"/>
              </a:rPr>
              <a:t>and the gap closes but never vanishes — no model becomes the thing it represents.</a:t>
            </a:r>
          </a:p>
        </p:txBody>
      </p:sp>
      <p:sp>
        <p:nvSpPr>
          <p:cNvPr id="11" name="Rectangle 10"/>
          <p:cNvSpPr/>
          <p:nvPr/>
        </p:nvSpPr>
        <p:spPr>
          <a:xfrm>
            <a:off x="6734080" y="1353312"/>
            <a:ext cx="4680374"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3533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6971824" y="1472184"/>
            <a:ext cx="4223174"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That is māyā, and it is model risk, in one figure. </a:t>
            </a:r>
            <a:r>
              <a:rPr sz="1050" b="0" i="0">
                <a:solidFill>
                  <a:srgbClr val="1C1C1E"/>
                </a:solidFill>
                <a:latin typeface="Calibri"/>
              </a:rPr>
              <a:t>The argument it makes is that error is not a defect to be eliminated but a quantity to be known.</a:t>
            </a:r>
          </a:p>
        </p:txBody>
      </p:sp>
      <p:graphicFrame>
        <p:nvGraphicFramePr>
          <p:cNvPr id="14" name="Table 13"/>
          <p:cNvGraphicFramePr>
            <a:graphicFrameLocks noGrp="1"/>
          </p:cNvGraphicFramePr>
          <p:nvPr/>
        </p:nvGraphicFramePr>
        <p:xfrm>
          <a:off x="6734080" y="2816352"/>
          <a:ext cx="4680374" cy="1620266"/>
        </p:xfrm>
        <a:graphic>
          <a:graphicData uri="http://schemas.openxmlformats.org/drawingml/2006/table">
            <a:tbl>
              <a:tblPr firstRow="1">
                <a:tableStyleId>{5C22544A-7EE6-4342-B048-85BDC9FD1C3A}</a:tableStyleId>
              </a:tblPr>
              <a:tblGrid>
                <a:gridCol w="2278834"/>
                <a:gridCol w="2401540"/>
              </a:tblGrid>
              <a:tr h="329184">
                <a:tc>
                  <a:txBody>
                    <a:bodyPr wrap="square"/>
                    <a:lstStyle/>
                    <a:p>
                      <a:pPr algn="l"/>
                      <a:r>
                        <a:rPr sz="1000" b="1">
                          <a:solidFill>
                            <a:srgbClr val="FFFFFF"/>
                          </a:solidFill>
                          <a:latin typeface="Calibri"/>
                        </a:rPr>
                        <a:t>What the estate assumes</a:t>
                      </a:r>
                    </a:p>
                  </a:txBody>
                  <a:tcPr marL="82296" marR="64008" marT="32004" marB="32004" anchor="ctr">
                    <a:solidFill>
                      <a:srgbClr val="A51C30"/>
                    </a:solidFill>
                  </a:tcPr>
                </a:tc>
                <a:tc>
                  <a:txBody>
                    <a:bodyPr wrap="square"/>
                    <a:lstStyle/>
                    <a:p>
                      <a:pPr algn="l"/>
                      <a:r>
                        <a:rPr sz="1000" b="1">
                          <a:solidFill>
                            <a:srgbClr val="FFFFFF"/>
                          </a:solidFill>
                          <a:latin typeface="Calibri"/>
                        </a:rPr>
                        <a:t>What the figure says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validated model is correct</a:t>
                      </a:r>
                    </a:p>
                  </a:txBody>
                  <a:tcPr marL="82296" marR="64008" marT="32004" marB="32004" anchor="ctr">
                    <a:solidFill>
                      <a:srgbClr val="FFFFFF"/>
                    </a:solidFill>
                  </a:tcPr>
                </a:tc>
                <a:tc>
                  <a:txBody>
                    <a:bodyPr wrap="square"/>
                    <a:lstStyle/>
                    <a:p>
                      <a:pPr algn="l"/>
                      <a:r>
                        <a:rPr sz="1000" b="0">
                          <a:solidFill>
                            <a:srgbClr val="1C1C1E"/>
                          </a:solidFill>
                          <a:latin typeface="Calibri"/>
                        </a:rPr>
                        <a:t>it is wrong by a knowable amount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more data closes the gap</a:t>
                      </a:r>
                    </a:p>
                  </a:txBody>
                  <a:tcPr marL="82296" marR="64008" marT="32004" marB="32004" anchor="ctr">
                    <a:solidFill>
                      <a:srgbClr val="F6F3EF"/>
                    </a:solidFill>
                  </a:tcPr>
                </a:tc>
                <a:tc>
                  <a:txBody>
                    <a:bodyPr wrap="square"/>
                    <a:lstStyle/>
                    <a:p>
                      <a:pPr algn="l"/>
                      <a:r>
                        <a:rPr sz="1000" b="0">
                          <a:solidFill>
                            <a:srgbClr val="1C1C1E"/>
                          </a:solidFill>
                          <a:latin typeface="Calibri"/>
                        </a:rPr>
                        <a:t>more sides close it and never to zero</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the model IS the risk</a:t>
                      </a:r>
                    </a:p>
                  </a:txBody>
                  <a:tcPr marL="82296" marR="64008" marT="32004" marB="32004" anchor="ctr">
                    <a:solidFill>
                      <a:srgbClr val="FFFFFF"/>
                    </a:solidFill>
                  </a:tcPr>
                </a:tc>
                <a:tc>
                  <a:txBody>
                    <a:bodyPr wrap="square"/>
                    <a:lstStyle/>
                    <a:p>
                      <a:pPr algn="l"/>
                      <a:r>
                        <a:rPr sz="1000" b="0">
                          <a:solidFill>
                            <a:srgbClr val="1C1C1E"/>
                          </a:solidFill>
                          <a:latin typeface="Calibri"/>
                        </a:rPr>
                        <a:t>the risk is forgetting it is a model</a:t>
                      </a:r>
                    </a:p>
                  </a:txBody>
                  <a:tcPr marL="82296" marR="64008" marT="32004" marB="32004" anchor="ctr">
                    <a:solidFill>
                      <a:srgbClr val="FFFFFF"/>
                    </a:solidFill>
                  </a:tcPr>
                </a:tc>
              </a:tr>
            </a:tbl>
          </a:graphicData>
        </a:graphic>
      </p:graphicFrame>
      <p:sp>
        <p:nvSpPr>
          <p:cNvPr id="15" name="Rectangle 14"/>
          <p:cNvSpPr/>
          <p:nvPr/>
        </p:nvSpPr>
        <p:spPr>
          <a:xfrm>
            <a:off x="6734080" y="4692650"/>
            <a:ext cx="4680374"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4692650"/>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971824" y="4811522"/>
            <a:ext cx="4223174"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naming it that commits the platform to. </a:t>
            </a:r>
            <a:r>
              <a:rPr sz="1050" b="0" i="0">
                <a:solidFill>
                  <a:srgbClr val="1C1C1E"/>
                </a:solidFill>
                <a:latin typeface="Calibri"/>
              </a:rPr>
              <a:t>A rendering gets replaced, so versions are immutable and a governed alias — #champion, pointing at whichever version is approved today — carries the name instead. And it applies to MAYA itself: the platform is a representation of an estate, so its own documentation is compiled from the register rather than written, and the map of the maps cannot drift either.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IS ACTUALLY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bank's estate is not one kind of 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a:t>
            </a:r>
          </a:p>
        </p:txBody>
      </p:sp>
      <p:graphicFrame>
        <p:nvGraphicFramePr>
          <p:cNvPr id="10" name="Table 9"/>
          <p:cNvGraphicFramePr>
            <a:graphicFrameLocks noGrp="1"/>
          </p:cNvGraphicFramePr>
          <p:nvPr/>
        </p:nvGraphicFramePr>
        <p:xfrm>
          <a:off x="777240" y="1353312"/>
          <a:ext cx="10637214" cy="3179826"/>
        </p:xfrm>
        <a:graphic>
          <a:graphicData uri="http://schemas.openxmlformats.org/drawingml/2006/table">
            <a:tbl>
              <a:tblPr firstRow="1">
                <a:tableStyleId>{5C22544A-7EE6-4342-B048-85BDC9FD1C3A}</a:tableStyleId>
              </a:tblPr>
              <a:tblGrid>
                <a:gridCol w="4114446"/>
                <a:gridCol w="2925828"/>
                <a:gridCol w="1371482"/>
                <a:gridCol w="2225458"/>
              </a:tblGrid>
              <a:tr h="329184">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Trained?</a:t>
                      </a:r>
                    </a:p>
                  </a:txBody>
                  <a:tcPr marL="82296" marR="64008" marT="32004" marB="32004" anchor="ctr">
                    <a:solidFill>
                      <a:srgbClr val="A51C30"/>
                    </a:solidFill>
                  </a:tcPr>
                </a:tc>
                <a:tc>
                  <a:txBody>
                    <a:bodyPr wrap="square"/>
                    <a:lstStyle/>
                    <a:p>
                      <a:pPr algn="l"/>
                      <a:r>
                        <a:rPr sz="1000" b="1">
                          <a:solidFill>
                            <a:srgbClr val="FFFFFF"/>
                          </a:solidFill>
                          <a:latin typeface="Calibri"/>
                        </a:rPr>
                        <a:t>Roughly how many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pricing library — discount, bond, swaption</a:t>
                      </a:r>
                    </a:p>
                  </a:txBody>
                  <a:tcPr marL="82296" marR="64008" marT="32004" marB="32004" anchor="ctr">
                    <a:solidFill>
                      <a:srgbClr val="FFFFFF"/>
                    </a:solidFill>
                  </a:tcPr>
                </a:tc>
                <a:tc>
                  <a:txBody>
                    <a:bodyPr wrap="square"/>
                    <a:lstStyle/>
                    <a:p>
                      <a:pPr algn="l"/>
                      <a:r>
                        <a:rPr sz="1000" b="0">
                          <a:solidFill>
                            <a:srgbClr val="1C1C1E"/>
                          </a:solidFill>
                          <a:latin typeface="Calibri"/>
                        </a:rPr>
                        <a:t>from theory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term-structure model, solved each morning</a:t>
                      </a:r>
                    </a:p>
                  </a:txBody>
                  <a:tcPr marL="82296" marR="64008" marT="32004" marB="32004" anchor="ctr">
                    <a:solidFill>
                      <a:srgbClr val="F6F3EF"/>
                    </a:solidFill>
                  </a:tcPr>
                </a:tc>
                <a:tc>
                  <a:txBody>
                    <a:bodyPr wrap="square"/>
                    <a:lstStyle/>
                    <a:p>
                      <a:pPr algn="l"/>
                      <a:r>
                        <a:rPr sz="1000" b="0">
                          <a:solidFill>
                            <a:srgbClr val="1C1C1E"/>
                          </a:solidFill>
                          <a:latin typeface="Calibri"/>
                        </a:rPr>
                        <a:t>a solver, against quotes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scorecard on eight thousand rows</a:t>
                      </a:r>
                    </a:p>
                  </a:txBody>
                  <a:tcPr marL="82296" marR="64008" marT="32004" marB="32004" anchor="ctr">
                    <a:solidFill>
                      <a:srgbClr val="FFFFFF"/>
                    </a:solidFill>
                  </a:tcPr>
                </a:tc>
                <a:tc>
                  <a:txBody>
                    <a:bodyPr wrap="square"/>
                    <a:lstStyle/>
                    <a:p>
                      <a:pPr algn="l"/>
                      <a:r>
                        <a:rPr sz="1000" b="0">
                          <a:solidFill>
                            <a:srgbClr val="1C1C1E"/>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network with twenty million weights</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fraud model refitted nightly on its own outcomes</a:t>
                      </a:r>
                    </a:p>
                  </a:txBody>
                  <a:tcPr marL="82296" marR="64008" marT="32004" marB="32004" anchor="ctr">
                    <a:solidFill>
                      <a:srgbClr val="FFFFFF"/>
                    </a:solidFill>
                  </a:tcPr>
                </a:tc>
                <a:tc>
                  <a:txBody>
                    <a:bodyPr wrap="square"/>
                    <a:lstStyle/>
                    <a:p>
                      <a:pPr algn="l"/>
                      <a:r>
                        <a:rPr sz="1000" b="0">
                          <a:solidFill>
                            <a:srgbClr val="1C1C1E"/>
                          </a:solidFill>
                          <a:latin typeface="Calibri"/>
                        </a:rPr>
                        <a:t>a training run that never stops</a:t>
                      </a:r>
                    </a:p>
                  </a:txBody>
                  <a:tcPr marL="82296" marR="64008" marT="32004" marB="32004" anchor="ctr">
                    <a:solidFill>
                      <a:srgbClr val="FFFFFF"/>
                    </a:solidFill>
                  </a:tcPr>
                </a:tc>
                <a:tc>
                  <a:txBody>
                    <a:bodyPr wrap="square"/>
                    <a:lstStyle/>
                    <a:p>
                      <a:pPr algn="l"/>
                      <a:r>
                        <a:rPr sz="1000" b="0">
                          <a:solidFill>
                            <a:srgbClr val="1C1C1E"/>
                          </a:solidFill>
                          <a:latin typeface="Calibri"/>
                        </a:rPr>
                        <a:t>yes, continuously</a:t>
                      </a:r>
                    </a:p>
                  </a:txBody>
                  <a:tcPr marL="82296" marR="64008" marT="32004" marB="32004" anchor="ctr">
                    <a:solidFill>
                      <a:srgbClr val="FFFFFF"/>
                    </a:solidFill>
                  </a:tcPr>
                </a:tc>
                <a:tc>
                  <a:txBody>
                    <a:bodyPr wrap="square"/>
                    <a:lstStyle/>
                    <a:p>
                      <a:pPr algn="l"/>
                      <a:r>
                        <a:rPr sz="1000" b="0">
                          <a:solidFill>
                            <a:srgbClr val="1C1C1E"/>
                          </a:solidFill>
                          <a:latin typeface="Calibri"/>
                        </a:rPr>
                        <a:t>a handful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language model somebody else hosts</a:t>
                      </a:r>
                    </a:p>
                  </a:txBody>
                  <a:tcPr marL="82296" marR="64008" marT="32004" marB="32004" anchor="ctr">
                    <a:solidFill>
                      <a:srgbClr val="F6F3EF"/>
                    </a:solidFill>
                  </a:tcPr>
                </a:tc>
                <a:tc>
                  <a:txBody>
                    <a:bodyPr wrap="square"/>
                    <a:lstStyle/>
                    <a:p>
                      <a:pPr algn="l"/>
                      <a:r>
                        <a:rPr sz="1000" b="0">
                          <a:solidFill>
                            <a:srgbClr val="1C1C1E"/>
                          </a:solidFill>
                          <a:latin typeface="Calibri"/>
                        </a:rPr>
                        <a:t>a configuration</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growing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vendor black box under licence</a:t>
                      </a:r>
                    </a:p>
                  </a:txBody>
                  <a:tcPr marL="82296" marR="64008" marT="32004" marB="32004" anchor="ctr">
                    <a:solidFill>
                      <a:srgbClr val="FFFFFF"/>
                    </a:solidFill>
                  </a:tcPr>
                </a:tc>
                <a:tc>
                  <a:txBody>
                    <a:bodyPr wrap="square"/>
                    <a:lstStyle/>
                    <a:p>
                      <a:pPr algn="l"/>
                      <a:r>
                        <a:rPr sz="1000" b="0">
                          <a:solidFill>
                            <a:srgbClr val="1C1C1E"/>
                          </a:solidFill>
                          <a:latin typeface="Calibri"/>
                        </a:rPr>
                        <a:t>inside their binary</a:t>
                      </a:r>
                    </a:p>
                  </a:txBody>
                  <a:tcPr marL="82296" marR="64008" marT="32004" marB="32004" anchor="ctr">
                    <a:solidFill>
                      <a:srgbClr val="FFFFFF"/>
                    </a:solidFill>
                  </a:tcPr>
                </a:tc>
                <a:tc>
                  <a:txBody>
                    <a:bodyPr wrap="square"/>
                    <a:lstStyle/>
                    <a:p>
                      <a:pPr algn="l"/>
                      <a:r>
                        <a:rPr sz="1000" b="0">
                          <a:solidFill>
                            <a:srgbClr val="1C1C1E"/>
                          </a:solidFill>
                          <a:latin typeface="Calibri"/>
                        </a:rPr>
                        <a:t>unknowable</a:t>
                      </a:r>
                    </a:p>
                  </a:txBody>
                  <a:tcPr marL="82296" marR="64008" marT="32004" marB="32004" anchor="ctr">
                    <a:solidFill>
                      <a:srgbClr val="FFFFFF"/>
                    </a:solidFill>
                  </a:tcPr>
                </a:tc>
                <a:tc>
                  <a:txBody>
                    <a:bodyPr wrap="square"/>
                    <a:lstStyle/>
                    <a:p>
                      <a:pPr algn="l"/>
                      <a:r>
                        <a:rPr sz="1000" b="0">
                          <a:solidFill>
                            <a:srgbClr val="1C1C1E"/>
                          </a:solidFill>
                          <a:latin typeface="Calibri"/>
                        </a:rPr>
                        <a:t>dozens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expert-weighted scoring sheet</a:t>
                      </a:r>
                    </a:p>
                  </a:txBody>
                  <a:tcPr marL="82296" marR="64008" marT="32004" marB="32004" anchor="ctr">
                    <a:solidFill>
                      <a:srgbClr val="F6F3EF"/>
                    </a:solidFill>
                  </a:tcPr>
                </a:tc>
                <a:tc>
                  <a:txBody>
                    <a:bodyPr wrap="square"/>
                    <a:lstStyle/>
                    <a:p>
                      <a:pPr algn="l"/>
                      <a:r>
                        <a:rPr sz="1000" b="0">
                          <a:solidFill>
                            <a:srgbClr val="1C1C1E"/>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dozens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Four thousand spreadsheets</a:t>
                      </a:r>
                    </a:p>
                  </a:txBody>
                  <a:tcPr marL="82296" marR="64008" marT="32004" marB="32004" anchor="ctr">
                    <a:solidFill>
                      <a:srgbClr val="FFFFFF"/>
                    </a:solidFill>
                  </a:tcPr>
                </a:tc>
                <a:tc>
                  <a:txBody>
                    <a:bodyPr wrap="square"/>
                    <a:lstStyle/>
                    <a:p>
                      <a:pPr algn="l"/>
                      <a:r>
                        <a:rPr sz="1000" b="0">
                          <a:solidFill>
                            <a:srgbClr val="1C1C1E"/>
                          </a:solidFill>
                          <a:latin typeface="Calibri"/>
                        </a:rPr>
                        <a:t>cells</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thousands</a:t>
                      </a:r>
                    </a:p>
                  </a:txBody>
                  <a:tcPr marL="82296" marR="64008" marT="32004" marB="32004" anchor="ctr">
                    <a:solidFill>
                      <a:srgbClr val="FFFFFF"/>
                    </a:solidFill>
                  </a:tcPr>
                </a:tc>
              </a:tr>
            </a:tbl>
          </a:graphicData>
        </a:graphic>
      </p:graphicFrame>
      <p:sp>
        <p:nvSpPr>
          <p:cNvPr id="11" name="Rectangle 10"/>
          <p:cNvSpPr/>
          <p:nvPr/>
        </p:nvSpPr>
        <p:spPr>
          <a:xfrm>
            <a:off x="777240" y="4789170"/>
            <a:ext cx="10637215"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89170"/>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908042"/>
            <a:ext cx="10180015" cy="11064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“Is it AI?” cuts across this list rather than along it. </a:t>
            </a:r>
            <a:r>
              <a:rPr sz="1050" b="0" i="0">
                <a:solidFill>
                  <a:srgbClr val="1C1C1E"/>
                </a:solidFill>
                <a:latin typeface="Calibri"/>
              </a:rPr>
              <a:t>Black–Scholes and a linear regression land in different buckets, though both have a closed form and only one of them has parameters at all; a linear regression and a language model land in the same one, though one is fitted from eight thousand rows you own and the other is configured around weights somebody else replaces on a Tuesday. One process is then expected to cover all of it, and a checklist with fields that make no sense for half the estate is one people answer “N/A” to until they stop reading the fields at all.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THE QUESTION THAT WORKS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“How is P inhabited?” sorts it correctly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graphicFrame>
        <p:nvGraphicFramePr>
          <p:cNvPr id="10" name="Table 9"/>
          <p:cNvGraphicFramePr>
            <a:graphicFrameLocks noGrp="1"/>
          </p:cNvGraphicFramePr>
          <p:nvPr/>
        </p:nvGraphicFramePr>
        <p:xfrm>
          <a:off x="777240" y="1353312"/>
          <a:ext cx="10637213" cy="3179826"/>
        </p:xfrm>
        <a:graphic>
          <a:graphicData uri="http://schemas.openxmlformats.org/drawingml/2006/table">
            <a:tbl>
              <a:tblPr firstRow="1">
                <a:tableStyleId>{5C22544A-7EE6-4342-B048-85BDC9FD1C3A}</a:tableStyleId>
              </a:tblPr>
              <a:tblGrid>
                <a:gridCol w="3931582"/>
                <a:gridCol w="2468667"/>
                <a:gridCol w="1005753"/>
                <a:gridCol w="3231211"/>
              </a:tblGrid>
              <a:tr h="329184">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Can it be fitted?</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it isn't — nothing to fill</a:t>
                      </a:r>
                    </a:p>
                  </a:txBody>
                  <a:tcPr marL="82296" marR="64008" marT="32004" marB="32004" anchor="ctr">
                    <a:solidFill>
                      <a:srgbClr val="FFFFFF"/>
                    </a:solidFill>
                  </a:tcPr>
                </a:tc>
                <a:tc>
                  <a:txBody>
                    <a:bodyPr wrap="square"/>
                    <a:lstStyle/>
                    <a:p>
                      <a:pPr algn="l"/>
                      <a:r>
                        <a:rPr sz="1000" b="0">
                          <a:solidFill>
                            <a:srgbClr val="1C1C1E"/>
                          </a:solidFill>
                          <a:latin typeface="Calibri"/>
                        </a:rPr>
                        <a:t>Black–Scholes</a:t>
                      </a:r>
                    </a:p>
                  </a:txBody>
                  <a:tcPr marL="82296" marR="64008" marT="32004" marB="32004" anchor="ctr">
                    <a:solidFill>
                      <a:srgbClr val="FFFFFF"/>
                    </a:solidFill>
                  </a:tcPr>
                </a:tc>
                <a:tc>
                  <a:txBody>
                    <a:bodyPr wrap="square"/>
                    <a:lstStyle/>
                    <a:p>
                      <a:pPr algn="l"/>
                      <a:r>
                        <a:rPr sz="1000" b="0">
                          <a:solidFill>
                            <a:srgbClr val="1C1C1E"/>
                          </a:solidFill>
                          <a:latin typeface="Calibri"/>
                        </a:rPr>
                        <a:t>T0</a:t>
                      </a:r>
                    </a:p>
                  </a:txBody>
                  <a:tcPr marL="82296" marR="64008" marT="32004" marB="32004" anchor="ctr">
                    <a:solidFill>
                      <a:srgbClr val="FFFFFF"/>
                    </a:solidFill>
                  </a:tcPr>
                </a:tc>
                <a:tc>
                  <a:txBody>
                    <a:bodyPr wrap="square"/>
                    <a:lstStyle/>
                    <a:p>
                      <a:pPr algn="l"/>
                      <a:r>
                        <a:rPr sz="1000" b="0">
                          <a:solidFill>
                            <a:srgbClr val="1C1C1E"/>
                          </a:solidFill>
                          <a:latin typeface="Calibri"/>
                        </a:rPr>
                        <a:t>asking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solver, against market quotes</a:t>
                      </a:r>
                    </a:p>
                  </a:txBody>
                  <a:tcPr marL="82296" marR="64008" marT="32004" marB="32004" anchor="ctr">
                    <a:solidFill>
                      <a:srgbClr val="F6F3EF"/>
                    </a:solidFill>
                  </a:tcPr>
                </a:tc>
                <a:tc>
                  <a:txBody>
                    <a:bodyPr wrap="square"/>
                    <a:lstStyle/>
                    <a:p>
                      <a:pPr algn="l"/>
                      <a:r>
                        <a:rPr sz="1000" b="0">
                          <a:solidFill>
                            <a:srgbClr val="1C1C1E"/>
                          </a:solidFill>
                          <a:latin typeface="Calibri"/>
                        </a:rPr>
                        <a:t>Hull–White</a:t>
                      </a:r>
                    </a:p>
                  </a:txBody>
                  <a:tcPr marL="82296" marR="64008" marT="32004" marB="32004" anchor="ctr">
                    <a:solidFill>
                      <a:srgbClr val="F6F3EF"/>
                    </a:solidFill>
                  </a:tcPr>
                </a:tc>
                <a:tc>
                  <a:txBody>
                    <a:bodyPr wrap="square"/>
                    <a:lstStyle/>
                    <a:p>
                      <a:pPr algn="l"/>
                      <a:r>
                        <a:rPr sz="1000" b="0">
                          <a:solidFill>
                            <a:srgbClr val="1C1C1E"/>
                          </a:solidFill>
                          <a:latin typeface="Calibri"/>
                        </a:rPr>
                        <a:t>T1</a:t>
                      </a:r>
                    </a:p>
                  </a:txBody>
                  <a:tcPr marL="82296" marR="64008" marT="32004" marB="32004" anchor="ctr">
                    <a:solidFill>
                      <a:srgbClr val="F6F3EF"/>
                    </a:solidFill>
                  </a:tcPr>
                </a:tc>
                <a:tc>
                  <a:txBody>
                    <a:bodyPr wrap="square"/>
                    <a:lstStyle/>
                    <a:p>
                      <a:pPr algn="l"/>
                      <a:r>
                        <a:rPr sz="1000" b="0">
                          <a:solidFill>
                            <a:srgbClr val="1C1C1E"/>
                          </a:solidFill>
                          <a:latin typeface="Calibri"/>
                        </a:rPr>
                        <a:t>yes — daily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a PD scorecard</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a fraud network</a:t>
                      </a:r>
                    </a:p>
                  </a:txBody>
                  <a:tcPr marL="82296" marR="64008" marT="32004" marB="32004" anchor="ctr">
                    <a:solidFill>
                      <a:srgbClr val="F6F3EF"/>
                    </a:solidFill>
                  </a:tcPr>
                </a:tc>
                <a:tc>
                  <a:txBody>
                    <a:bodyPr wrap="square"/>
                    <a:lstStyle/>
                    <a:p>
                      <a:pPr algn="l"/>
                      <a:r>
                        <a:rPr sz="1000" b="0">
                          <a:solidFill>
                            <a:srgbClr val="1C1C1E"/>
                          </a:solidFill>
                          <a:latin typeface="Calibri"/>
                        </a:rPr>
                        <a:t>T3</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training run that continues after release</a:t>
                      </a:r>
                    </a:p>
                  </a:txBody>
                  <a:tcPr marL="82296" marR="64008" marT="32004" marB="32004" anchor="ctr">
                    <a:solidFill>
                      <a:srgbClr val="FFFFFF"/>
                    </a:solidFill>
                  </a:tcPr>
                </a:tc>
                <a:tc>
                  <a:txBody>
                    <a:bodyPr wrap="square"/>
                    <a:lstStyle/>
                    <a:p>
                      <a:pPr algn="l"/>
                      <a:r>
                        <a:rPr sz="1000" b="0">
                          <a:solidFill>
                            <a:srgbClr val="1C1C1E"/>
                          </a:solidFill>
                          <a:latin typeface="Calibri"/>
                        </a:rPr>
                        <a:t>an adaptive fraud model</a:t>
                      </a:r>
                    </a:p>
                  </a:txBody>
                  <a:tcPr marL="82296" marR="64008" marT="32004" marB="32004" anchor="ctr">
                    <a:solidFill>
                      <a:srgbClr val="FFFFFF"/>
                    </a:solidFill>
                  </a:tcPr>
                </a:tc>
                <a:tc>
                  <a:txBody>
                    <a:bodyPr wrap="square"/>
                    <a:lstStyle/>
                    <a:p>
                      <a:pPr algn="l"/>
                      <a:r>
                        <a:rPr sz="1000" b="0">
                          <a:solidFill>
                            <a:srgbClr val="1C1C1E"/>
                          </a:solidFill>
                          <a:latin typeface="Calibri"/>
                        </a:rPr>
                        <a:t>T4</a:t>
                      </a:r>
                    </a:p>
                  </a:txBody>
                  <a:tcPr marL="82296" marR="64008" marT="32004" marB="32004" anchor="ctr">
                    <a:solidFill>
                      <a:srgbClr val="FFFFFF"/>
                    </a:solidFill>
                  </a:tcPr>
                </a:tc>
                <a:tc>
                  <a:txBody>
                    <a:bodyPr wrap="square"/>
                    <a:lstStyle/>
                    <a:p>
                      <a:pPr algn="l"/>
                      <a:r>
                        <a:rPr sz="1000" b="0">
                          <a:solidFill>
                            <a:srgbClr val="1C1C1E"/>
                          </a:solidFill>
                          <a:latin typeface="Calibri"/>
                        </a:rPr>
                        <a:t>yes — and it never stops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configuration around someone else's model</a:t>
                      </a:r>
                    </a:p>
                  </a:txBody>
                  <a:tcPr marL="82296" marR="64008" marT="32004" marB="32004" anchor="ctr">
                    <a:solidFill>
                      <a:srgbClr val="F6F3EF"/>
                    </a:solidFill>
                  </a:tcPr>
                </a:tc>
                <a:tc>
                  <a:txBody>
                    <a:bodyPr wrap="square"/>
                    <a:lstStyle/>
                    <a:p>
                      <a:pPr algn="l"/>
                      <a:r>
                        <a:rPr sz="1000" b="0">
                          <a:solidFill>
                            <a:srgbClr val="1C1C1E"/>
                          </a:solidFill>
                          <a:latin typeface="Calibri"/>
                        </a:rPr>
                        <a:t>a triage assistant</a:t>
                      </a:r>
                    </a:p>
                  </a:txBody>
                  <a:tcPr marL="82296" marR="64008" marT="32004" marB="32004" anchor="ctr">
                    <a:solidFill>
                      <a:srgbClr val="F6F3EF"/>
                    </a:solidFill>
                  </a:tcPr>
                </a:tc>
                <a:tc>
                  <a:txBody>
                    <a:bodyPr wrap="square"/>
                    <a:lstStyle/>
                    <a:p>
                      <a:pPr algn="l"/>
                      <a:r>
                        <a:rPr sz="1000" b="0">
                          <a:solidFill>
                            <a:srgbClr val="1C1C1E"/>
                          </a:solidFill>
                          <a:latin typeface="Calibri"/>
                        </a:rPr>
                        <a:t>T5</a:t>
                      </a:r>
                    </a:p>
                  </a:txBody>
                  <a:tcPr marL="82296" marR="64008" marT="32004" marB="32004" anchor="ctr">
                    <a:solidFill>
                      <a:srgbClr val="F6F3EF"/>
                    </a:solidFill>
                  </a:tcPr>
                </a:tc>
                <a:tc>
                  <a:txBody>
                    <a:bodyPr wrap="square"/>
                    <a:lstStyle/>
                    <a:p>
                      <a:pPr algn="l"/>
                      <a:r>
                        <a:rPr sz="1000" b="0">
                          <a:solidFill>
                            <a:srgbClr val="1C1C1E"/>
                          </a:solidFill>
                          <a:latin typeface="Calibri"/>
                        </a:rPr>
                        <a:t>configured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inside a vendor's binary</a:t>
                      </a:r>
                    </a:p>
                  </a:txBody>
                  <a:tcPr marL="82296" marR="64008" marT="32004" marB="32004" anchor="ctr">
                    <a:solidFill>
                      <a:srgbClr val="FFFFFF"/>
                    </a:solidFill>
                  </a:tcPr>
                </a:tc>
                <a:tc>
                  <a:txBody>
                    <a:bodyPr wrap="square"/>
                    <a:lstStyle/>
                    <a:p>
                      <a:pPr algn="l"/>
                      <a:r>
                        <a:rPr sz="1000" b="0">
                          <a:solidFill>
                            <a:srgbClr val="1C1C1E"/>
                          </a:solidFill>
                          <a:latin typeface="Calibri"/>
                        </a:rPr>
                        <a:t>an AML score</a:t>
                      </a:r>
                    </a:p>
                  </a:txBody>
                  <a:tcPr marL="82296" marR="64008" marT="32004" marB="32004" anchor="ctr">
                    <a:solidFill>
                      <a:srgbClr val="FFFFFF"/>
                    </a:solidFill>
                  </a:tcPr>
                </a:tc>
                <a:tc>
                  <a:txBody>
                    <a:bodyPr wrap="square"/>
                    <a:lstStyle/>
                    <a:p>
                      <a:pPr algn="l"/>
                      <a:r>
                        <a:rPr sz="1000" b="0">
                          <a:solidFill>
                            <a:srgbClr val="1C1C1E"/>
                          </a:solidFill>
                          <a:latin typeface="Calibri"/>
                        </a:rPr>
                        <a:t>T6</a:t>
                      </a:r>
                    </a:p>
                  </a:txBody>
                  <a:tcPr marL="82296" marR="64008" marT="32004" marB="32004" anchor="ctr">
                    <a:solidFill>
                      <a:srgbClr val="FFFFFF"/>
                    </a:solidFill>
                  </a:tcPr>
                </a:tc>
                <a:tc>
                  <a:txBody>
                    <a:bodyPr wrap="square"/>
                    <a:lstStyle/>
                    <a:p>
                      <a:pPr algn="l"/>
                      <a:r>
                        <a:rPr sz="1000" b="0">
                          <a:solidFill>
                            <a:srgbClr val="1C1C1E"/>
                          </a:solidFill>
                          <a:latin typeface="Calibri"/>
                        </a:rPr>
                        <a:t>not reachable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an expert scorecard</a:t>
                      </a:r>
                    </a:p>
                  </a:txBody>
                  <a:tcPr marL="82296" marR="64008" marT="32004" marB="32004" anchor="ctr">
                    <a:solidFill>
                      <a:srgbClr val="F6F3EF"/>
                    </a:solidFill>
                  </a:tcPr>
                </a:tc>
                <a:tc>
                  <a:txBody>
                    <a:bodyPr wrap="square"/>
                    <a:lstStyle/>
                    <a:p>
                      <a:pPr algn="l"/>
                      <a:r>
                        <a:rPr sz="1000" b="0">
                          <a:solidFill>
                            <a:srgbClr val="1C1C1E"/>
                          </a:solidFill>
                          <a:latin typeface="Calibri"/>
                        </a:rPr>
                        <a:t>T7</a:t>
                      </a:r>
                    </a:p>
                  </a:txBody>
                  <a:tcPr marL="82296" marR="64008" marT="32004" marB="32004" anchor="ctr">
                    <a:solidFill>
                      <a:srgbClr val="F6F3EF"/>
                    </a:solidFill>
                  </a:tcPr>
                </a:tc>
                <a:tc>
                  <a:txBody>
                    <a:bodyPr wrap="square"/>
                    <a:lstStyle/>
                    <a:p>
                      <a:pPr algn="l"/>
                      <a:r>
                        <a:rPr sz="1000" b="0">
                          <a:solidFill>
                            <a:srgbClr val="1C1C1E"/>
                          </a:solidFill>
                          <a:latin typeface="Calibri"/>
                        </a:rPr>
                        <a:t>elicited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rules somebody wrote down</a:t>
                      </a:r>
                    </a:p>
                  </a:txBody>
                  <a:tcPr marL="82296" marR="64008" marT="32004" marB="32004" anchor="ctr">
                    <a:solidFill>
                      <a:srgbClr val="FFFFFF"/>
                    </a:solidFill>
                  </a:tcPr>
                </a:tc>
                <a:tc>
                  <a:txBody>
                    <a:bodyPr wrap="square"/>
                    <a:lstStyle/>
                    <a:p>
                      <a:pPr algn="l"/>
                      <a:r>
                        <a:rPr sz="1000" b="0">
                          <a:solidFill>
                            <a:srgbClr val="1C1C1E"/>
                          </a:solidFill>
                          <a:latin typeface="Calibri"/>
                        </a:rPr>
                        <a:t>an underwriting policy</a:t>
                      </a:r>
                    </a:p>
                  </a:txBody>
                  <a:tcPr marL="82296" marR="64008" marT="32004" marB="32004" anchor="ctr">
                    <a:solidFill>
                      <a:srgbClr val="FFFFFF"/>
                    </a:solidFill>
                  </a:tcPr>
                </a:tc>
                <a:tc>
                  <a:txBody>
                    <a:bodyPr wrap="square"/>
                    <a:lstStyle/>
                    <a:p>
                      <a:pPr algn="l"/>
                      <a:r>
                        <a:rPr sz="1000" b="0">
                          <a:solidFill>
                            <a:srgbClr val="1C1C1E"/>
                          </a:solidFill>
                          <a:latin typeface="Calibri"/>
                        </a:rPr>
                        <a:t>T8</a:t>
                      </a:r>
                    </a:p>
                  </a:txBody>
                  <a:tcPr marL="82296" marR="64008" marT="32004" marB="32004" anchor="ctr">
                    <a:solidFill>
                      <a:srgbClr val="FFFFFF"/>
                    </a:solidFill>
                  </a:tcPr>
                </a:tc>
                <a:tc>
                  <a:txBody>
                    <a:bodyPr wrap="square"/>
                    <a:lstStyle/>
                    <a:p>
                      <a:pPr algn="l"/>
                      <a:r>
                        <a:rPr sz="1000" b="0">
                          <a:solidFill>
                            <a:srgbClr val="1C1C1E"/>
                          </a:solidFill>
                          <a:latin typeface="Calibri"/>
                        </a:rPr>
                        <a:t>authored</a:t>
                      </a:r>
                    </a:p>
                  </a:txBody>
                  <a:tcPr marL="82296" marR="64008" marT="32004" marB="32004" anchor="ctr">
                    <a:solidFill>
                      <a:srgbClr val="FFFFFF"/>
                    </a:solidFill>
                  </a:tcPr>
                </a:tc>
              </a:tr>
            </a:tbl>
          </a:graphicData>
        </a:graphic>
      </p:graphicFrame>
      <p:sp>
        <p:nvSpPr>
          <p:cNvPr id="11" name="Rectangle 10"/>
          <p:cNvSpPr/>
          <p:nvPr/>
        </p:nvSpPr>
        <p:spPr>
          <a:xfrm>
            <a:off x="777240" y="4770881"/>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7088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889753"/>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DERIVED from that answer and never declared. </a:t>
            </a:r>
            <a:r>
              <a:rPr sz="1050" b="0" i="0">
                <a:solidFill>
                  <a:srgbClr val="1C1C1E"/>
                </a:solidFill>
                <a:latin typeface="Calibri"/>
              </a:rPr>
              <a:t>Two facts about the kernel go in — the kind of P and the procedure that inhabits it — and the order of the derivation is the whole of it: opaque is T6 before anything else is asked, a terminal P is T0, and train with adaptive set is T4 rather than T3. So asking a closed-form pricer for its training set is a type error rather than an empty field, and a rule set is not a second-class citizen squeezed into a schema designed for gradient descent.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NOBODY CAN CHECK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deeper failure: governance is asserted, not evidenced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graphicFrame>
        <p:nvGraphicFramePr>
          <p:cNvPr id="10" name="Table 9"/>
          <p:cNvGraphicFramePr>
            <a:graphicFrameLocks noGrp="1"/>
          </p:cNvGraphicFramePr>
          <p:nvPr/>
        </p:nvGraphicFramePr>
        <p:xfrm>
          <a:off x="777240" y="1764792"/>
          <a:ext cx="10637214" cy="1955479"/>
        </p:xfrm>
        <a:graphic>
          <a:graphicData uri="http://schemas.openxmlformats.org/drawingml/2006/table">
            <a:tbl>
              <a:tblPr firstRow="1">
                <a:tableStyleId>{5C22544A-7EE6-4342-B048-85BDC9FD1C3A}</a:tableStyleId>
              </a:tblPr>
              <a:tblGrid>
                <a:gridCol w="4023014"/>
                <a:gridCol w="3108692"/>
                <a:gridCol w="3505508"/>
              </a:tblGrid>
              <a:tr h="329184">
                <a:tc>
                  <a:txBody>
                    <a:bodyPr wrap="square"/>
                    <a:lstStyle/>
                    <a:p>
                      <a:pPr algn="l"/>
                      <a:r>
                        <a:rPr sz="1050" b="1">
                          <a:solidFill>
                            <a:srgbClr val="FFFFFF"/>
                          </a:solidFill>
                          <a:latin typeface="Calibri"/>
                        </a:rPr>
                        <a:t>The claim</a:t>
                      </a:r>
                    </a:p>
                  </a:txBody>
                  <a:tcPr marL="82296" marR="64008" marT="32004" marB="32004" anchor="ctr">
                    <a:solidFill>
                      <a:srgbClr val="A51C30"/>
                    </a:solidFill>
                  </a:tcPr>
                </a:tc>
                <a:tc>
                  <a:txBody>
                    <a:bodyPr wrap="square"/>
                    <a:lstStyle/>
                    <a:p>
                      <a:pPr algn="l"/>
                      <a:r>
                        <a:rPr sz="1050" b="1">
                          <a:solidFill>
                            <a:srgbClr val="FFFFFF"/>
                          </a:solidFill>
                          <a:latin typeface="Calibri"/>
                        </a:rPr>
                        <a:t>Where it lives</a:t>
                      </a:r>
                    </a:p>
                  </a:txBody>
                  <a:tcPr marL="82296" marR="64008" marT="32004" marB="32004" anchor="ctr">
                    <a:solidFill>
                      <a:srgbClr val="A51C30"/>
                    </a:solidFill>
                  </a:tcPr>
                </a:tc>
                <a:tc>
                  <a:txBody>
                    <a:bodyPr wrap="square"/>
                    <a:lstStyle/>
                    <a:p>
                      <a:pPr algn="l"/>
                      <a:r>
                        <a:rPr sz="1050" b="1">
                          <a:solidFill>
                            <a:srgbClr val="FFFFFF"/>
                          </a:solidFill>
                          <a:latin typeface="Calibri"/>
                        </a:rPr>
                        <a:t>What connects it to reality</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“This model was validated in March”</a:t>
                      </a:r>
                    </a:p>
                  </a:txBody>
                  <a:tcPr marL="82296" marR="64008" marT="32004" marB="32004" anchor="ctr">
                    <a:solidFill>
                      <a:srgbClr val="FFFFFF"/>
                    </a:solidFill>
                  </a:tcPr>
                </a:tc>
                <a:tc>
                  <a:txBody>
                    <a:bodyPr wrap="square"/>
                    <a:lstStyle/>
                    <a:p>
                      <a:pPr algn="l"/>
                      <a:r>
                        <a:rPr sz="1050" b="0">
                          <a:solidFill>
                            <a:srgbClr val="1C1C1E"/>
                          </a:solidFill>
                          <a:latin typeface="Calibri"/>
                        </a:rPr>
                        <a:t>a spreadsheet cell</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“That finding was closed”</a:t>
                      </a:r>
                    </a:p>
                  </a:txBody>
                  <a:tcPr marL="82296" marR="64008" marT="32004" marB="32004" anchor="ctr">
                    <a:solidFill>
                      <a:srgbClr val="F6F3EF"/>
                    </a:solidFill>
                  </a:tcPr>
                </a:tc>
                <a:tc>
                  <a:txBody>
                    <a:bodyPr wrap="square"/>
                    <a:lstStyle/>
                    <a:p>
                      <a:pPr algn="l"/>
                      <a:r>
                        <a:rPr sz="1050" b="0">
                          <a:solidFill>
                            <a:srgbClr val="1C1C1E"/>
                          </a:solidFill>
                          <a:latin typeface="Calibri"/>
                        </a:rPr>
                        <a:t>a ticket</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“The champion is version 3.2.1”</a:t>
                      </a:r>
                    </a:p>
                  </a:txBody>
                  <a:tcPr marL="82296" marR="64008" marT="32004" marB="32004" anchor="ctr">
                    <a:solidFill>
                      <a:srgbClr val="FFFFFF"/>
                    </a:solidFill>
                  </a:tcPr>
                </a:tc>
                <a:tc>
                  <a:txBody>
                    <a:bodyPr wrap="square"/>
                    <a:lstStyle/>
                    <a:p>
                      <a:pPr algn="l"/>
                      <a:r>
                        <a:rPr sz="1050" b="0">
                          <a:solidFill>
                            <a:srgbClr val="1C1C1E"/>
                          </a:solidFill>
                          <a:latin typeface="Calibri"/>
                        </a:rPr>
                        <a:t>a deployment note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“These coefficients were approved”</a:t>
                      </a:r>
                    </a:p>
                  </a:txBody>
                  <a:tcPr marL="82296" marR="64008" marT="32004" marB="32004" anchor="ctr">
                    <a:solidFill>
                      <a:srgbClr val="F6F3EF"/>
                    </a:solidFill>
                  </a:tcPr>
                </a:tc>
                <a:tc>
                  <a:txBody>
                    <a:bodyPr wrap="square"/>
                    <a:lstStyle/>
                    <a:p>
                      <a:pPr algn="l"/>
                      <a:r>
                        <a:rPr sz="1050" b="0">
                          <a:solidFill>
                            <a:srgbClr val="1C1C1E"/>
                          </a:solidFill>
                          <a:latin typeface="Calibri"/>
                        </a:rPr>
                        <a:t>an email thread</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“It was trained on Q1 data”</a:t>
                      </a:r>
                    </a:p>
                  </a:txBody>
                  <a:tcPr marL="82296" marR="64008" marT="32004" marB="32004" anchor="ctr">
                    <a:solidFill>
                      <a:srgbClr val="FFFFFF"/>
                    </a:solidFill>
                  </a:tcPr>
                </a:tc>
                <a:tc>
                  <a:txBody>
                    <a:bodyPr wrap="square"/>
                    <a:lstStyle/>
                    <a:p>
                      <a:pPr algn="l"/>
                      <a:r>
                        <a:rPr sz="1050" b="0">
                          <a:solidFill>
                            <a:srgbClr val="1C1C1E"/>
                          </a:solidFill>
                          <a:latin typeface="Calibri"/>
                        </a:rPr>
                        <a:t>a slide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bl>
          </a:graphicData>
        </a:graphic>
      </p:graphicFrame>
      <p:sp>
        <p:nvSpPr>
          <p:cNvPr id="11" name="Rectangle 10"/>
          <p:cNvSpPr/>
          <p:nvPr/>
        </p:nvSpPr>
        <p:spPr>
          <a:xfrm>
            <a:off x="777240" y="4012882"/>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288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1754"/>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 examiner is shown a claim and asked to believe it. </a:t>
            </a:r>
            <a:r>
              <a:rPr sz="1050" b="0" i="0">
                <a:solidFill>
                  <a:srgbClr val="1C1C1E"/>
                </a:solidFill>
                <a:latin typeface="Calibri"/>
              </a:rPr>
              <a:t>So is the organisation's own risk committee: the second line is in the same position as the regulator, reading assertions it cannot check against artefacts it cannot reach. Every design decision in the rest of this deck is downstream of refusing that arrangement.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STANCE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positions, and what each one costs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graphicFrame>
        <p:nvGraphicFramePr>
          <p:cNvPr id="10" name="Table 9"/>
          <p:cNvGraphicFramePr>
            <a:graphicFrameLocks noGrp="1"/>
          </p:cNvGraphicFramePr>
          <p:nvPr/>
        </p:nvGraphicFramePr>
        <p:xfrm>
          <a:off x="777240" y="1353312"/>
          <a:ext cx="10637214" cy="2765044"/>
        </p:xfrm>
        <a:graphic>
          <a:graphicData uri="http://schemas.openxmlformats.org/drawingml/2006/table">
            <a:tbl>
              <a:tblPr firstRow="1">
                <a:tableStyleId>{5C22544A-7EE6-4342-B048-85BDC9FD1C3A}</a:tableStyleId>
              </a:tblPr>
              <a:tblGrid>
                <a:gridCol w="2468667"/>
                <a:gridCol w="4114446"/>
                <a:gridCol w="4054101"/>
              </a:tblGrid>
              <a:tr h="329184">
                <a:tc>
                  <a:txBody>
                    <a:bodyPr wrap="square"/>
                    <a:lstStyle/>
                    <a:p>
                      <a:pPr algn="l"/>
                      <a:r>
                        <a:rPr sz="1000" b="1">
                          <a:solidFill>
                            <a:srgbClr val="FFFFFF"/>
                          </a:solidFill>
                          <a:latin typeface="Calibri"/>
                        </a:rPr>
                        <a:t>Position</a:t>
                      </a:r>
                    </a:p>
                  </a:txBody>
                  <a:tcPr marL="82296" marR="64008" marT="32004" marB="32004" anchor="ctr">
                    <a:solidFill>
                      <a:srgbClr val="A51C30"/>
                    </a:solidFill>
                  </a:tcPr>
                </a:tc>
                <a:tc>
                  <a:txBody>
                    <a:bodyPr wrap="square"/>
                    <a:lstStyle/>
                    <a:p>
                      <a:pPr algn="l"/>
                      <a:r>
                        <a:rPr sz="1000" b="1">
                          <a:solidFill>
                            <a:srgbClr val="FFFFFF"/>
                          </a:solidFill>
                          <a:latin typeface="Calibri"/>
                        </a:rPr>
                        <a:t>What it means</a:t>
                      </a:r>
                    </a:p>
                  </a:txBody>
                  <a:tcPr marL="82296" marR="64008" marT="32004" marB="32004" anchor="ctr">
                    <a:solidFill>
                      <a:srgbClr val="A51C30"/>
                    </a:solidFill>
                  </a:tcPr>
                </a:tc>
                <a:tc>
                  <a:txBody>
                    <a:bodyPr wrap="square"/>
                    <a:lstStyle/>
                    <a:p>
                      <a:pPr algn="l"/>
                      <a:r>
                        <a:rPr sz="1000" b="1">
                          <a:solidFill>
                            <a:srgbClr val="FFFFFF"/>
                          </a:solidFill>
                          <a:latin typeface="Calibri"/>
                        </a:rPr>
                        <a:t>What it costs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It does not run models</a:t>
                      </a:r>
                    </a:p>
                  </a:txBody>
                  <a:tcPr marL="82296" marR="64008" marT="32004" marB="32004" anchor="ctr">
                    <a:solidFill>
                      <a:srgbClr val="FFFFFF"/>
                    </a:solidFill>
                  </a:tcPr>
                </a:tc>
                <a:tc>
                  <a:txBody>
                    <a:bodyPr wrap="square"/>
                    <a:lstStyle/>
                    <a:p>
                      <a:pPr algn="l"/>
                      <a:r>
                        <a:rPr sz="1000" b="0">
                          <a:solidFill>
                            <a:srgbClr val="1C1C1E"/>
                          </a:solidFill>
                          <a:latin typeface="Calibri"/>
                        </a:rPr>
                        <a:t>MAYA issues a signed, expiring, entitlement-bound warrant and an engine acts on it</a:t>
                      </a:r>
                    </a:p>
                  </a:txBody>
                  <a:tcPr marL="82296" marR="64008" marT="32004" marB="32004" anchor="ctr">
                    <a:solidFill>
                      <a:srgbClr val="FFFFFF"/>
                    </a:solidFill>
                  </a:tcPr>
                </a:tc>
                <a:tc>
                  <a:txBody>
                    <a:bodyPr wrap="square"/>
                    <a:lstStyle/>
                    <a:p>
                      <a:pPr algn="l"/>
                      <a:r>
                        <a:rPr sz="1000" b="0">
                          <a:solidFill>
                            <a:srgbClr val="1C1C1E"/>
                          </a:solidFill>
                          <a:latin typeface="Calibri"/>
                        </a:rPr>
                        <a:t>MAYA cannot guarantee anything about a run it never saw — only about the authority behind it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Evidence, not assertion</a:t>
                      </a:r>
                    </a:p>
                  </a:txBody>
                  <a:tcPr marL="82296" marR="64008" marT="32004" marB="32004" anchor="ctr">
                    <a:solidFill>
                      <a:srgbClr val="F6F3EF"/>
                    </a:solidFill>
                  </a:tcPr>
                </a:tc>
                <a:tc>
                  <a:txBody>
                    <a:bodyPr wrap="square"/>
                    <a:lstStyle/>
                    <a:p>
                      <a:pPr algn="l"/>
                      <a:r>
                        <a:rPr sz="1000" b="0">
                          <a:solidFill>
                            <a:srgbClr val="1C1C1E"/>
                          </a:solidFill>
                          <a:latin typeface="Calibri"/>
                        </a:rPr>
                        <a:t>every claim is bound to the artefact it rests on, in an append-only hash-linked record</a:t>
                      </a:r>
                    </a:p>
                  </a:txBody>
                  <a:tcPr marL="82296" marR="64008" marT="32004" marB="32004" anchor="ctr">
                    <a:solidFill>
                      <a:srgbClr val="F6F3EF"/>
                    </a:solidFill>
                  </a:tcPr>
                </a:tc>
                <a:tc>
                  <a:txBody>
                    <a:bodyPr wrap="square"/>
                    <a:lstStyle/>
                    <a:p>
                      <a:pPr algn="l"/>
                      <a:r>
                        <a:rPr sz="1000" b="0">
                          <a:solidFill>
                            <a:srgbClr val="1C1C1E"/>
                          </a:solidFill>
                          <a:latin typeface="Calibri"/>
                        </a:rPr>
                        <a:t>the record can only be as good as what was written to it; anchoring it outside the system is not built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Refusals are the product</a:t>
                      </a:r>
                    </a:p>
                  </a:txBody>
                  <a:tcPr marL="82296" marR="64008" marT="32004" marB="32004" anchor="ctr">
                    <a:solidFill>
                      <a:srgbClr val="FFFFFF"/>
                    </a:solidFill>
                  </a:tcPr>
                </a:tc>
                <a:tc>
                  <a:txBody>
                    <a:bodyPr wrap="square"/>
                    <a:lstStyle/>
                    <a:p>
                      <a:pPr algn="l"/>
                      <a:r>
                        <a:rPr sz="1000" b="0">
                          <a:solidFill>
                            <a:srgbClr val="1C1C1E"/>
                          </a:solidFill>
                          <a:latin typeface="Calibri"/>
                        </a:rPr>
                        <a:t>every refusal names what was violated and what to do about it</a:t>
                      </a:r>
                    </a:p>
                  </a:txBody>
                  <a:tcPr marL="82296" marR="64008" marT="32004" marB="32004" anchor="ctr">
                    <a:solidFill>
                      <a:srgbClr val="FFFFFF"/>
                    </a:solidFill>
                  </a:tcPr>
                </a:tc>
                <a:tc>
                  <a:txBody>
                    <a:bodyPr wrap="square"/>
                    <a:lstStyle/>
                    <a:p>
                      <a:pPr algn="l"/>
                      <a:r>
                        <a:rPr sz="1000" b="0">
                          <a:solidFill>
                            <a:srgbClr val="1C1C1E"/>
                          </a:solidFill>
                          <a:latin typeface="Calibri"/>
                        </a:rPr>
                        <a:t>a platform that refuses is a platform people route around unless the compliant path is also the fast one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Laws, not conventions</a:t>
                      </a:r>
                    </a:p>
                  </a:txBody>
                  <a:tcPr marL="82296" marR="64008" marT="32004" marB="32004" anchor="ctr">
                    <a:solidFill>
                      <a:srgbClr val="F6F3EF"/>
                    </a:solidFill>
                  </a:tcPr>
                </a:tc>
                <a:tc>
                  <a:txBody>
                    <a:bodyPr wrap="square"/>
                    <a:lstStyle/>
                    <a:p>
                      <a:pPr algn="l"/>
                      <a:r>
                        <a:rPr sz="1000" b="0">
                          <a:solidFill>
                            <a:srgbClr val="1C1C1E"/>
                          </a:solidFill>
                          <a:latin typeface="Calibri"/>
                        </a:rPr>
                        <a:t>twenty-one foundational laws stated, of which eighteen are executable and run in the ordinary test suite</a:t>
                      </a:r>
                    </a:p>
                  </a:txBody>
                  <a:tcPr marL="82296" marR="64008" marT="32004" marB="32004" anchor="ctr">
                    <a:solidFill>
                      <a:srgbClr val="F6F3EF"/>
                    </a:solidFill>
                  </a:tcPr>
                </a:tc>
                <a:tc>
                  <a:txBody>
                    <a:bodyPr wrap="square"/>
                    <a:lstStyle/>
                    <a:p>
                      <a:pPr algn="l"/>
                      <a:r>
                        <a:rPr sz="1000" b="0">
                          <a:solidFill>
                            <a:srgbClr val="1C1C1E"/>
                          </a:solidFill>
                          <a:latin typeface="Calibri"/>
                        </a:rPr>
                        <a:t>three do not run; the rest run on every push and a failing one fails the build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Derived, not entered</a:t>
                      </a:r>
                    </a:p>
                  </a:txBody>
                  <a:tcPr marL="82296" marR="64008" marT="32004" marB="32004" anchor="ctr">
                    <a:solidFill>
                      <a:srgbClr val="FFFFFF"/>
                    </a:solidFill>
                  </a:tcPr>
                </a:tc>
                <a:tc>
                  <a:txBody>
                    <a:bodyPr wrap="square"/>
                    <a:lstStyle/>
                    <a:p>
                      <a:pPr algn="l"/>
                      <a:r>
                        <a:rPr sz="1000" b="0">
                          <a:solidFill>
                            <a:srgbClr val="1C1C1E"/>
                          </a:solidFill>
                          <a:latin typeface="Calibri"/>
                        </a:rPr>
                        <a:t>risk tier, worklist, estate summary, documentation, board pack: computed from the register</a:t>
                      </a:r>
                    </a:p>
                  </a:txBody>
                  <a:tcPr marL="82296" marR="64008" marT="32004" marB="32004" anchor="ctr">
                    <a:solidFill>
                      <a:srgbClr val="FFFFFF"/>
                    </a:solidFill>
                  </a:tcPr>
                </a:tc>
                <a:tc>
                  <a:txBody>
                    <a:bodyPr wrap="square"/>
                    <a:lstStyle/>
                    <a:p>
                      <a:pPr algn="l"/>
                      <a:r>
                        <a:rPr sz="1000" b="0">
                          <a:solidFill>
                            <a:srgbClr val="1C1C1E"/>
                          </a:solidFill>
                          <a:latin typeface="Calibri"/>
                        </a:rPr>
                        <a:t>computation costs latency, and a derivation nobody can read is a black box of its own</a:t>
                      </a:r>
                    </a:p>
                  </a:txBody>
                  <a:tcPr marL="82296" marR="64008" marT="32004" marB="32004" anchor="ctr">
                    <a:solidFill>
                      <a:srgbClr val="FFFFFF"/>
                    </a:solidFill>
                  </a:tcPr>
                </a:tc>
              </a:tr>
            </a:tbl>
          </a:graphicData>
        </a:graphic>
      </p:graphicFrame>
      <p:sp>
        <p:nvSpPr>
          <p:cNvPr id="11" name="Rectangle 10"/>
          <p:cNvSpPr/>
          <p:nvPr/>
        </p:nvSpPr>
        <p:spPr>
          <a:xfrm>
            <a:off x="777240" y="4356100"/>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356100"/>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74972"/>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position with no stated cost is marketing. </a:t>
            </a:r>
            <a:r>
              <a:rPr sz="1050" b="0" i="0">
                <a:solidFill>
                  <a:srgbClr val="1C1C1E"/>
                </a:solidFill>
                <a:latin typeface="Calibri"/>
              </a:rPr>
              <a:t>Each of these is a trade, and the right-hand column is the half that usually goes unwritten. Two of the five are worked out on their own slide next — the first, because it decides the whole architecture, and the third, because it is the one people find strange. The other three are argued where they bite, in chapters 7, 8 and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REFUSALS ARE LOAD-BEARING</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Nine things it will not build, and what each one protects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graphicFrame>
        <p:nvGraphicFramePr>
          <p:cNvPr id="10" name="Table 9"/>
          <p:cNvGraphicFramePr>
            <a:graphicFrameLocks noGrp="1"/>
          </p:cNvGraphicFramePr>
          <p:nvPr/>
        </p:nvGraphicFramePr>
        <p:xfrm>
          <a:off x="777240" y="1764792"/>
          <a:ext cx="10637214" cy="3415741"/>
        </p:xfrm>
        <a:graphic>
          <a:graphicData uri="http://schemas.openxmlformats.org/drawingml/2006/table">
            <a:tbl>
              <a:tblPr firstRow="1">
                <a:tableStyleId>{5C22544A-7EE6-4342-B048-85BDC9FD1C3A}</a:tableStyleId>
              </a:tblPr>
              <a:tblGrid>
                <a:gridCol w="2102939"/>
                <a:gridCol w="4205878"/>
                <a:gridCol w="4328397"/>
              </a:tblGrid>
              <a:tr h="329184">
                <a:tc>
                  <a:txBody>
                    <a:bodyPr wrap="square"/>
                    <a:lstStyle/>
                    <a:p>
                      <a:pPr algn="l"/>
                      <a:r>
                        <a:rPr sz="950" b="1">
                          <a:solidFill>
                            <a:srgbClr val="FFFFFF"/>
                          </a:solidFill>
                          <a:latin typeface="Calibri"/>
                        </a:rPr>
                        <a:t>Asked for</a:t>
                      </a:r>
                    </a:p>
                  </a:txBody>
                  <a:tcPr marL="82296" marR="64008" marT="32004" marB="32004" anchor="ctr">
                    <a:solidFill>
                      <a:srgbClr val="A51C30"/>
                    </a:solidFill>
                  </a:tcPr>
                </a:tc>
                <a:tc>
                  <a:txBody>
                    <a:bodyPr wrap="square"/>
                    <a:lstStyle/>
                    <a:p>
                      <a:pPr algn="l"/>
                      <a:r>
                        <a:rPr sz="950" b="1">
                          <a:solidFill>
                            <a:srgbClr val="FFFFFF"/>
                          </a:solidFill>
                          <a:latin typeface="Calibri"/>
                        </a:rPr>
                        <a:t>Refused because</a:t>
                      </a:r>
                    </a:p>
                  </a:txBody>
                  <a:tcPr marL="82296" marR="64008" marT="32004" marB="32004" anchor="ctr">
                    <a:solidFill>
                      <a:srgbClr val="A51C30"/>
                    </a:solidFill>
                  </a:tcPr>
                </a:tc>
                <a:tc>
                  <a:txBody>
                    <a:bodyPr wrap="square"/>
                    <a:lstStyle/>
                    <a:p>
                      <a:pPr algn="l"/>
                      <a:r>
                        <a:rPr sz="950" b="1">
                          <a:solidFill>
                            <a:srgbClr val="FFFFFF"/>
                          </a:solidFill>
                          <a:latin typeface="Calibri"/>
                        </a:rPr>
                        <a:t>What would stop meaning anything</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Managed serving</a:t>
                      </a:r>
                    </a:p>
                  </a:txBody>
                  <a:tcPr marL="82296" marR="64008" marT="32004" marB="32004" anchor="ctr">
                    <a:solidFill>
                      <a:srgbClr val="FFFFFF"/>
                    </a:solidFill>
                  </a:tcPr>
                </a:tc>
                <a:tc>
                  <a:txBody>
                    <a:bodyPr wrap="square"/>
                    <a:lstStyle/>
                    <a:p>
                      <a:pPr algn="l"/>
                      <a:r>
                        <a:rPr sz="900" b="0">
                          <a:solidFill>
                            <a:srgbClr val="1C1C1E"/>
                          </a:solidFill>
                          <a:latin typeface="Calibri"/>
                        </a:rPr>
                        <a:t>the register and the runtime would be one process — and one that argues a warrant survives its own unavailability</a:t>
                      </a:r>
                    </a:p>
                  </a:txBody>
                  <a:tcPr marL="82296" marR="64008" marT="32004" marB="32004" anchor="ctr">
                    <a:solidFill>
                      <a:srgbClr val="FFFFFF"/>
                    </a:solidFill>
                  </a:tcPr>
                </a:tc>
                <a:tc>
                  <a:txBody>
                    <a:bodyPr wrap="square"/>
                    <a:lstStyle/>
                    <a:p>
                      <a:pPr algn="l"/>
                      <a:r>
                        <a:rPr sz="900" b="0">
                          <a:solidFill>
                            <a:srgbClr val="1C1C1E"/>
                          </a:solidFill>
                          <a:latin typeface="Calibri"/>
                        </a:rPr>
                        <a:t>every claim to be an independent record of execution</a:t>
                      </a:r>
                    </a:p>
                  </a:txBody>
                  <a:tcPr marL="82296" marR="64008" marT="32004" marB="32004" anchor="ctr">
                    <a:solidFill>
                      <a:srgbClr val="FFFFFF"/>
                    </a:solidFill>
                  </a:tcPr>
                </a:tc>
              </a:tr>
              <a:tr h="329184">
                <a:tc>
                  <a:txBody>
                    <a:bodyPr wrap="square"/>
                    <a:lstStyle/>
                    <a:p>
                      <a:pPr algn="l"/>
                      <a:r>
                        <a:rPr sz="900" b="1">
                          <a:solidFill>
                            <a:srgbClr val="A51C30"/>
                          </a:solidFill>
                          <a:latin typeface="Calibri"/>
                        </a:rPr>
                        <a:t>Convert an artifact</a:t>
                      </a:r>
                    </a:p>
                  </a:txBody>
                  <a:tcPr marL="82296" marR="64008" marT="32004" marB="32004" anchor="ctr">
                    <a:solidFill>
                      <a:srgbClr val="F6F3EF"/>
                    </a:solidFill>
                  </a:tcPr>
                </a:tc>
                <a:tc>
                  <a:txBody>
                    <a:bodyPr wrap="square"/>
                    <a:lstStyle/>
                    <a:p>
                      <a:pPr algn="l"/>
                      <a:r>
                        <a:rPr sz="900" b="0">
                          <a:solidFill>
                            <a:srgbClr val="1C1C1E"/>
                          </a:solidFill>
                          <a:latin typeface="Calibri"/>
                        </a:rPr>
                        <a:t>converting means loading and running a model</a:t>
                      </a:r>
                    </a:p>
                  </a:txBody>
                  <a:tcPr marL="82296" marR="64008" marT="32004" marB="32004" anchor="ctr">
                    <a:solidFill>
                      <a:srgbClr val="F6F3EF"/>
                    </a:solidFill>
                  </a:tcPr>
                </a:tc>
                <a:tc>
                  <a:txBody>
                    <a:bodyPr wrap="square"/>
                    <a:lstStyle/>
                    <a:p>
                      <a:pPr algn="l"/>
                      <a:r>
                        <a:rPr sz="900" b="0">
                          <a:solidFill>
                            <a:srgbClr val="1C1C1E"/>
                          </a:solidFill>
                          <a:latin typeface="Calibri"/>
                        </a:rPr>
                        <a:t>the equivalence claim it holds to a standard</a:t>
                      </a:r>
                    </a:p>
                  </a:txBody>
                  <a:tcPr marL="82296" marR="64008" marT="32004" marB="32004" anchor="ctr">
                    <a:solidFill>
                      <a:srgbClr val="F6F3EF"/>
                    </a:solidFill>
                  </a:tcPr>
                </a:tc>
              </a:tr>
              <a:tr h="329184">
                <a:tc>
                  <a:txBody>
                    <a:bodyPr wrap="square"/>
                    <a:lstStyle/>
                    <a:p>
                      <a:pPr algn="l"/>
                      <a:r>
                        <a:rPr sz="900" b="1">
                          <a:solidFill>
                            <a:srgbClr val="A51C30"/>
                          </a:solidFill>
                          <a:latin typeface="Calibri"/>
                        </a:rPr>
                        <a:t>Submit training jobs</a:t>
                      </a:r>
                    </a:p>
                  </a:txBody>
                  <a:tcPr marL="82296" marR="64008" marT="32004" marB="32004" anchor="ctr">
                    <a:solidFill>
                      <a:srgbClr val="FFFFFF"/>
                    </a:solidFill>
                  </a:tcPr>
                </a:tc>
                <a:tc>
                  <a:txBody>
                    <a:bodyPr wrap="square"/>
                    <a:lstStyle/>
                    <a:p>
                      <a:pPr algn="l"/>
                      <a:r>
                        <a:rPr sz="900" b="0">
                          <a:solidFill>
                            <a:srgbClr val="1C1C1E"/>
                          </a:solidFill>
                          <a:latin typeface="Calibri"/>
                        </a:rPr>
                        <a:t>the register would be on the failure path of what it observes</a:t>
                      </a:r>
                    </a:p>
                  </a:txBody>
                  <a:tcPr marL="82296" marR="64008" marT="32004" marB="32004" anchor="ctr">
                    <a:solidFill>
                      <a:srgbClr val="FFFFFF"/>
                    </a:solidFill>
                  </a:tcPr>
                </a:tc>
                <a:tc>
                  <a:txBody>
                    <a:bodyPr wrap="square"/>
                    <a:lstStyle/>
                    <a:p>
                      <a:pPr algn="l"/>
                      <a:r>
                        <a:rPr sz="900" b="0">
                          <a:solidFill>
                            <a:srgbClr val="1C1C1E"/>
                          </a:solidFill>
                          <a:latin typeface="Calibri"/>
                        </a:rPr>
                        <a:t>the run register as an account of somebody else's work</a:t>
                      </a:r>
                    </a:p>
                  </a:txBody>
                  <a:tcPr marL="82296" marR="64008" marT="32004" marB="32004" anchor="ctr">
                    <a:solidFill>
                      <a:srgbClr val="FFFFFF"/>
                    </a:solidFill>
                  </a:tcPr>
                </a:tc>
              </a:tr>
              <a:tr h="329184">
                <a:tc>
                  <a:txBody>
                    <a:bodyPr wrap="square"/>
                    <a:lstStyle/>
                    <a:p>
                      <a:pPr algn="l"/>
                      <a:r>
                        <a:rPr sz="900" b="1">
                          <a:solidFill>
                            <a:srgbClr val="A51C30"/>
                          </a:solidFill>
                          <a:latin typeface="Calibri"/>
                        </a:rPr>
                        <a:t>Accept a `passed` flag</a:t>
                      </a:r>
                    </a:p>
                  </a:txBody>
                  <a:tcPr marL="82296" marR="64008" marT="32004" marB="32004" anchor="ctr">
                    <a:solidFill>
                      <a:srgbClr val="F6F3EF"/>
                    </a:solidFill>
                  </a:tcPr>
                </a:tc>
                <a:tc>
                  <a:txBody>
                    <a:bodyPr wrap="square"/>
                    <a:lstStyle/>
                    <a:p>
                      <a:pPr algn="l"/>
                      <a:r>
                        <a:rPr sz="900" b="0">
                          <a:solidFill>
                            <a:srgbClr val="1C1C1E"/>
                          </a:solidFill>
                          <a:latin typeface="Calibri"/>
                        </a:rPr>
                        <a:t>whoever computed the number would set the pass mark</a:t>
                      </a:r>
                    </a:p>
                  </a:txBody>
                  <a:tcPr marL="82296" marR="64008" marT="32004" marB="32004" anchor="ctr">
                    <a:solidFill>
                      <a:srgbClr val="F6F3EF"/>
                    </a:solidFill>
                  </a:tcPr>
                </a:tc>
                <a:tc>
                  <a:txBody>
                    <a:bodyPr wrap="square"/>
                    <a:lstStyle/>
                    <a:p>
                      <a:pPr algn="l"/>
                      <a:r>
                        <a:rPr sz="900" b="0">
                          <a:solidFill>
                            <a:srgbClr val="1C1C1E"/>
                          </a:solidFill>
                          <a:latin typeface="Calibri"/>
                        </a:rPr>
                        <a:t>the threshold this firm's second line set</a:t>
                      </a:r>
                    </a:p>
                  </a:txBody>
                  <a:tcPr marL="82296" marR="64008" marT="32004" marB="32004" anchor="ctr">
                    <a:solidFill>
                      <a:srgbClr val="F6F3EF"/>
                    </a:solidFill>
                  </a:tcPr>
                </a:tc>
              </a:tr>
              <a:tr h="329184">
                <a:tc>
                  <a:txBody>
                    <a:bodyPr wrap="square"/>
                    <a:lstStyle/>
                    <a:p>
                      <a:pPr algn="l"/>
                      <a:r>
                        <a:rPr sz="900" b="1">
                          <a:solidFill>
                            <a:srgbClr val="A51C30"/>
                          </a:solidFill>
                          <a:latin typeface="Calibri"/>
                        </a:rPr>
                        <a:t>Recommend promotion</a:t>
                      </a:r>
                    </a:p>
                  </a:txBody>
                  <a:tcPr marL="82296" marR="64008" marT="32004" marB="32004" anchor="ctr">
                    <a:solidFill>
                      <a:srgbClr val="FFFFFF"/>
                    </a:solidFill>
                  </a:tcPr>
                </a:tc>
                <a:tc>
                  <a:txBody>
                    <a:bodyPr wrap="square"/>
                    <a:lstStyle/>
                    <a:p>
                      <a:pPr algn="l"/>
                      <a:r>
                        <a:rPr sz="900" b="0">
                          <a:solidFill>
                            <a:srgbClr val="1C1C1E"/>
                          </a:solidFill>
                          <a:latin typeface="Calibri"/>
                        </a:rPr>
                        <a:t>it would pre-empt the approval it is evidence for</a:t>
                      </a:r>
                    </a:p>
                  </a:txBody>
                  <a:tcPr marL="82296" marR="64008" marT="32004" marB="32004" anchor="ctr">
                    <a:solidFill>
                      <a:srgbClr val="FFFFFF"/>
                    </a:solidFill>
                  </a:tcPr>
                </a:tc>
                <a:tc>
                  <a:txBody>
                    <a:bodyPr wrap="square"/>
                    <a:lstStyle/>
                    <a:p>
                      <a:pPr algn="l"/>
                      <a:r>
                        <a:rPr sz="900" b="0">
                          <a:solidFill>
                            <a:srgbClr val="1C1C1E"/>
                          </a:solidFill>
                          <a:latin typeface="Calibri"/>
                        </a:rPr>
                        <a:t>the second-line approval itself</a:t>
                      </a:r>
                    </a:p>
                  </a:txBody>
                  <a:tcPr marL="82296" marR="64008" marT="32004" marB="32004" anchor="ctr">
                    <a:solidFill>
                      <a:srgbClr val="FFFFFF"/>
                    </a:solidFill>
                  </a:tcPr>
                </a:tc>
              </a:tr>
              <a:tr h="329184">
                <a:tc>
                  <a:txBody>
                    <a:bodyPr wrap="square"/>
                    <a:lstStyle/>
                    <a:p>
                      <a:pPr algn="l"/>
                      <a:r>
                        <a:rPr sz="900" b="1">
                          <a:solidFill>
                            <a:srgbClr val="A51C30"/>
                          </a:solidFill>
                          <a:latin typeface="Calibri"/>
                        </a:rPr>
                        <a:t>Edit a compiled document</a:t>
                      </a:r>
                    </a:p>
                  </a:txBody>
                  <a:tcPr marL="82296" marR="64008" marT="32004" marB="32004" anchor="ctr">
                    <a:solidFill>
                      <a:srgbClr val="F6F3EF"/>
                    </a:solidFill>
                  </a:tcPr>
                </a:tc>
                <a:tc>
                  <a:txBody>
                    <a:bodyPr wrap="square"/>
                    <a:lstStyle/>
                    <a:p>
                      <a:pPr algn="l"/>
                      <a:r>
                        <a:rPr sz="900" b="0">
                          <a:solidFill>
                            <a:srgbClr val="1C1C1E"/>
                          </a:solidFill>
                          <a:latin typeface="Calibri"/>
                        </a:rPr>
                        <a:t>every sentence cites a node; the prose would outlive the citation</a:t>
                      </a:r>
                    </a:p>
                  </a:txBody>
                  <a:tcPr marL="82296" marR="64008" marT="32004" marB="32004" anchor="ctr">
                    <a:solidFill>
                      <a:srgbClr val="F6F3EF"/>
                    </a:solidFill>
                  </a:tcPr>
                </a:tc>
                <a:tc>
                  <a:txBody>
                    <a:bodyPr wrap="square"/>
                    <a:lstStyle/>
                    <a:p>
                      <a:pPr algn="l"/>
                      <a:r>
                        <a:rPr sz="900" b="0">
                          <a:solidFill>
                            <a:srgbClr val="1C1C1E"/>
                          </a:solidFill>
                          <a:latin typeface="Calibri"/>
                        </a:rPr>
                        <a:t>traceability of every sentence in it</a:t>
                      </a:r>
                    </a:p>
                  </a:txBody>
                  <a:tcPr marL="82296" marR="64008" marT="32004" marB="32004" anchor="ctr">
                    <a:solidFill>
                      <a:srgbClr val="F6F3EF"/>
                    </a:solidFill>
                  </a:tcPr>
                </a:tc>
              </a:tr>
              <a:tr h="329184">
                <a:tc>
                  <a:txBody>
                    <a:bodyPr wrap="square"/>
                    <a:lstStyle/>
                    <a:p>
                      <a:pPr algn="l"/>
                      <a:r>
                        <a:rPr sz="900" b="1">
                          <a:solidFill>
                            <a:srgbClr val="A51C30"/>
                          </a:solidFill>
                          <a:latin typeface="Calibri"/>
                        </a:rPr>
                        <a:t>Configure the state graph</a:t>
                      </a:r>
                    </a:p>
                  </a:txBody>
                  <a:tcPr marL="82296" marR="64008" marT="32004" marB="32004" anchor="ctr">
                    <a:solidFill>
                      <a:srgbClr val="FFFFFF"/>
                    </a:solidFill>
                  </a:tcPr>
                </a:tc>
                <a:tc>
                  <a:txBody>
                    <a:bodyPr wrap="square"/>
                    <a:lstStyle/>
                    <a:p>
                      <a:pPr algn="l"/>
                      <a:r>
                        <a:rPr sz="900" b="0">
                          <a:solidFill>
                            <a:srgbClr val="1C1C1E"/>
                          </a:solidFill>
                          <a:latin typeface="Calibri"/>
                        </a:rPr>
                        <a:t>a firm could add a transition that skips approval</a:t>
                      </a:r>
                    </a:p>
                  </a:txBody>
                  <a:tcPr marL="82296" marR="64008" marT="32004" marB="32004" anchor="ctr">
                    <a:solidFill>
                      <a:srgbClr val="FFFFFF"/>
                    </a:solidFill>
                  </a:tcPr>
                </a:tc>
                <a:tc>
                  <a:txBody>
                    <a:bodyPr wrap="square"/>
                    <a:lstStyle/>
                    <a:p>
                      <a:pPr algn="l"/>
                      <a:r>
                        <a:rPr sz="900" b="0">
                          <a:solidFill>
                            <a:srgbClr val="1C1C1E"/>
                          </a:solidFill>
                          <a:latin typeface="Calibri"/>
                        </a:rPr>
                        <a:t>'approved' meaning the same in two institutions</a:t>
                      </a:r>
                    </a:p>
                  </a:txBody>
                  <a:tcPr marL="82296" marR="64008" marT="32004" marB="32004" anchor="ctr">
                    <a:solidFill>
                      <a:srgbClr val="FFFFFF"/>
                    </a:solidFill>
                  </a:tcPr>
                </a:tc>
              </a:tr>
              <a:tr h="329184">
                <a:tc>
                  <a:txBody>
                    <a:bodyPr wrap="square"/>
                    <a:lstStyle/>
                    <a:p>
                      <a:pPr algn="l"/>
                      <a:r>
                        <a:rPr sz="900" b="1">
                          <a:solidFill>
                            <a:srgbClr val="A51C30"/>
                          </a:solidFill>
                          <a:latin typeface="Calibri"/>
                        </a:rPr>
                        <a:t>Sign artifacts</a:t>
                      </a:r>
                    </a:p>
                  </a:txBody>
                  <a:tcPr marL="82296" marR="64008" marT="32004" marB="32004" anchor="ctr">
                    <a:solidFill>
                      <a:srgbClr val="F6F3EF"/>
                    </a:solidFill>
                  </a:tcPr>
                </a:tc>
                <a:tc>
                  <a:txBody>
                    <a:bodyPr wrap="square"/>
                    <a:lstStyle/>
                    <a:p>
                      <a:pPr algn="l"/>
                      <a:r>
                        <a:rPr sz="900" b="0">
                          <a:solidFill>
                            <a:srgbClr val="1C1C1E"/>
                          </a:solidFill>
                          <a:latin typeface="Calibri"/>
                        </a:rPr>
                        <a:t>the platform would hold the key that could forge one</a:t>
                      </a:r>
                    </a:p>
                  </a:txBody>
                  <a:tcPr marL="82296" marR="64008" marT="32004" marB="32004" anchor="ctr">
                    <a:solidFill>
                      <a:srgbClr val="F6F3EF"/>
                    </a:solidFill>
                  </a:tcPr>
                </a:tc>
                <a:tc>
                  <a:txBody>
                    <a:bodyPr wrap="square"/>
                    <a:lstStyle/>
                    <a:p>
                      <a:pPr algn="l"/>
                      <a:r>
                        <a:rPr sz="900" b="0">
                          <a:solidFill>
                            <a:srgbClr val="1C1C1E"/>
                          </a:solidFill>
                          <a:latin typeface="Calibri"/>
                        </a:rPr>
                        <a:t>the provenance check, verifying its own signature</a:t>
                      </a:r>
                    </a:p>
                  </a:txBody>
                  <a:tcPr marL="82296" marR="64008" marT="32004" marB="32004" anchor="ctr">
                    <a:solidFill>
                      <a:srgbClr val="F6F3EF"/>
                    </a:solidFill>
                  </a:tcPr>
                </a:tc>
              </a:tr>
              <a:tr h="329184">
                <a:tc>
                  <a:txBody>
                    <a:bodyPr wrap="square"/>
                    <a:lstStyle/>
                    <a:p>
                      <a:pPr algn="l"/>
                      <a:r>
                        <a:rPr sz="900" b="1">
                          <a:solidFill>
                            <a:srgbClr val="A51C30"/>
                          </a:solidFill>
                          <a:latin typeface="Calibri"/>
                        </a:rPr>
                        <a:t>Hide the cheap remediation</a:t>
                      </a:r>
                    </a:p>
                  </a:txBody>
                  <a:tcPr marL="82296" marR="64008" marT="32004" marB="32004" anchor="ctr">
                    <a:solidFill>
                      <a:srgbClr val="FFFFFF"/>
                    </a:solidFill>
                  </a:tcPr>
                </a:tc>
                <a:tc>
                  <a:txBody>
                    <a:bodyPr wrap="square"/>
                    <a:lstStyle/>
                    <a:p>
                      <a:pPr algn="l"/>
                      <a:r>
                        <a:rPr sz="900" b="0">
                          <a:solidFill>
                            <a:srgbClr val="1C1C1E"/>
                          </a:solidFill>
                          <a:latin typeface="Calibri"/>
                        </a:rPr>
                        <a:t>a solver with no view on KIND recommends the waiver every time</a:t>
                      </a:r>
                    </a:p>
                  </a:txBody>
                  <a:tcPr marL="82296" marR="64008" marT="32004" marB="32004" anchor="ctr">
                    <a:solidFill>
                      <a:srgbClr val="FFFFFF"/>
                    </a:solidFill>
                  </a:tcPr>
                </a:tc>
                <a:tc>
                  <a:txBody>
                    <a:bodyPr wrap="square"/>
                    <a:lstStyle/>
                    <a:p>
                      <a:pPr algn="l"/>
                      <a:r>
                        <a:rPr sz="900" b="0">
                          <a:solidFill>
                            <a:srgbClr val="1C1C1E"/>
                          </a:solidFill>
                          <a:latin typeface="Calibri"/>
                        </a:rPr>
                        <a:t>the difference between safe and looking compliant</a:t>
                      </a:r>
                    </a:p>
                  </a:txBody>
                  <a:tcPr marL="82296" marR="64008" marT="32004" marB="32004" anchor="ctr">
                    <a:solidFill>
                      <a:srgbClr val="FFFFFF"/>
                    </a:solidFill>
                  </a:tcPr>
                </a:tc>
              </a:tr>
            </a:tbl>
          </a:graphicData>
        </a:graphic>
      </p:graphicFrame>
      <p:sp>
        <p:nvSpPr>
          <p:cNvPr id="11" name="Rectangle 10"/>
          <p:cNvSpPr/>
          <p:nvPr/>
        </p:nvSpPr>
        <p:spPr>
          <a:xfrm>
            <a:off x="777240" y="5363413"/>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363413"/>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482285"/>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One sentence underneath all nine. </a:t>
            </a:r>
            <a:r>
              <a:rPr sz="1050" b="0" i="0">
                <a:solidFill>
                  <a:srgbClr val="1C1C1E"/>
                </a:solidFill>
                <a:latin typeface="Calibri"/>
              </a:rPr>
              <a:t>A platform that both authorises an act and performs it is the only witness to its own execution. Every row above is that sentence applied to a different request — and the useful question when evaluating a governance platform is not what it can do, but what it declines to do and whether the answer is about architecture or about a roadmap.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SERVING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governance must not be in the serving path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Rectangle 9"/>
          <p:cNvSpPr/>
          <p:nvPr/>
        </p:nvSpPr>
        <p:spPr>
          <a:xfrm>
            <a:off x="777240"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A consumer holds a name</a:t>
            </a:r>
          </a:p>
          <a:p>
            <a:pPr>
              <a:lnSpc>
                <a:spcPct val="115000"/>
              </a:lnSpc>
              <a:spcBef>
                <a:spcPts val="0"/>
              </a:spcBef>
              <a:spcAft>
                <a:spcPts val="600"/>
              </a:spcAft>
            </a:pPr>
            <a:r>
              <a:rPr sz="850" b="0" i="0">
                <a:solidFill>
                  <a:srgbClr val="4A4F57"/>
                </a:solidFill>
                <a:latin typeface="Calibri"/>
              </a:rPr>
              <a:t>maya://model/credit.pd.smallbiz#champion — an alias, never a version, never a path</a:t>
            </a:r>
          </a:p>
        </p:txBody>
      </p:sp>
      <p:sp>
        <p:nvSpPr>
          <p:cNvPr id="13" name="Rectangle 12"/>
          <p:cNvSpPr/>
          <p:nvPr/>
        </p:nvSpPr>
        <p:spPr>
          <a:xfrm>
            <a:off x="3482263"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The name resolves at the moment of use</a:t>
            </a:r>
          </a:p>
          <a:p>
            <a:pPr>
              <a:lnSpc>
                <a:spcPct val="115000"/>
              </a:lnSpc>
              <a:spcBef>
                <a:spcPts val="0"/>
              </a:spcBef>
              <a:spcAft>
                <a:spcPts val="600"/>
              </a:spcAft>
            </a:pPr>
            <a:r>
              <a:rPr sz="850" b="0" i="0">
                <a:solidFill>
                  <a:srgbClr val="4A4F57"/>
                </a:solidFill>
                <a:latin typeface="Calibri"/>
              </a:rPr>
              <a:t>against the policy in force then, not the policy in force when the caller was written</a:t>
            </a:r>
          </a:p>
        </p:txBody>
      </p:sp>
      <p:sp>
        <p:nvSpPr>
          <p:cNvPr id="16" name="Rectangle 15"/>
          <p:cNvSpPr/>
          <p:nvPr/>
        </p:nvSpPr>
        <p:spPr>
          <a:xfrm>
            <a:off x="6187287"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An engine acts on the warrant</a:t>
            </a:r>
          </a:p>
          <a:p>
            <a:pPr>
              <a:lnSpc>
                <a:spcPct val="115000"/>
              </a:lnSpc>
              <a:spcBef>
                <a:spcPts val="0"/>
              </a:spcBef>
              <a:spcAft>
                <a:spcPts val="600"/>
              </a:spcAft>
            </a:pPr>
            <a:r>
              <a:rPr sz="850" b="0" i="0">
                <a:solidFill>
                  <a:srgbClr val="4A4F57"/>
                </a:solidFill>
                <a:latin typeface="Calibri"/>
              </a:rPr>
              <a:t>MAYA is not on the path; if it is down, already-authorised scoring continues</a:t>
            </a:r>
          </a:p>
        </p:txBody>
      </p:sp>
      <p:sp>
        <p:nvSpPr>
          <p:cNvPr id="19" name="Rectangle 18"/>
          <p:cNvSpPr/>
          <p:nvPr/>
        </p:nvSpPr>
        <p:spPr>
          <a:xfrm>
            <a:off x="8892311"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Only new issuance stops</a:t>
            </a:r>
          </a:p>
          <a:p>
            <a:pPr>
              <a:lnSpc>
                <a:spcPct val="115000"/>
              </a:lnSpc>
              <a:spcBef>
                <a:spcPts val="0"/>
              </a:spcBef>
              <a:spcAft>
                <a:spcPts val="600"/>
              </a:spcAft>
            </a:pPr>
            <a:r>
              <a:rPr sz="850" b="0" i="0">
                <a:solidFill>
                  <a:srgbClr val="4A4F57"/>
                </a:solidFill>
                <a:latin typeface="Calibri"/>
              </a:rPr>
              <a:t>which is the correct failure mode: governance must not be the bank's single point of failure</a:t>
            </a:r>
          </a:p>
        </p:txBody>
      </p:sp>
      <p:sp>
        <p:nvSpPr>
          <p:cNvPr id="22" name="Rectangle 21"/>
          <p:cNvSpPr/>
          <p:nvPr/>
        </p:nvSpPr>
        <p:spPr>
          <a:xfrm>
            <a:off x="777240" y="3227832"/>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227832"/>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46703"/>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Nobody redeploys to promote a version, because no consumer ever held one. </a:t>
            </a:r>
            <a:r>
              <a:rPr sz="1050" b="0" i="0">
                <a:solidFill>
                  <a:srgbClr val="1C1C1E"/>
                </a:solidFill>
                <a:latin typeface="Calibri"/>
              </a:rPr>
              <a:t>Revocation bites when the current warrant expires — sixty seconds for a Tier 1 model. And an open blocking finding stops the name resolving at all, so a validation finding stops the model rather than generating an email somebody files.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refusal has to contain to be worth having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sp>
        <p:nvSpPr>
          <p:cNvPr id="10" name="Rectangle 9"/>
          <p:cNvSpPr/>
          <p:nvPr/>
        </p:nvSpPr>
        <p:spPr>
          <a:xfrm>
            <a:off x="777240" y="1353312"/>
            <a:ext cx="595684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 REFUSAL, IN FULL</a:t>
            </a:r>
          </a:p>
        </p:txBody>
      </p:sp>
      <p:sp>
        <p:nvSpPr>
          <p:cNvPr id="13" name="TextBox 12"/>
          <p:cNvSpPr txBox="1"/>
          <p:nvPr/>
        </p:nvSpPr>
        <p:spPr>
          <a:xfrm>
            <a:off x="978408" y="1746504"/>
            <a:ext cx="559108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{"error":       "nothing_to_fit",</a:t>
            </a:r>
          </a:p>
          <a:p>
            <a:pPr>
              <a:lnSpc>
                <a:spcPct val="134000"/>
              </a:lnSpc>
              <a:spcBef>
                <a:spcPts val="0"/>
              </a:spcBef>
              <a:spcAft>
                <a:spcPts val="0"/>
              </a:spcAft>
            </a:pPr>
            <a:r>
              <a:rPr sz="950" b="0" i="0">
                <a:solidFill>
                  <a:srgbClr val="1C1C1E"/>
                </a:solidFill>
                <a:latin typeface="Consolas"/>
              </a:rPr>
              <a:t> "detail":      "markets.pricing.vanilla 1.0.0 is T0: it has no</a:t>
            </a:r>
          </a:p>
          <a:p>
            <a:pPr>
              <a:lnSpc>
                <a:spcPct val="134000"/>
              </a:lnSpc>
              <a:spcBef>
                <a:spcPts val="0"/>
              </a:spcBef>
              <a:spcAft>
                <a:spcPts val="0"/>
              </a:spcAft>
            </a:pPr>
            <a:r>
              <a:rPr sz="950" b="0" i="0">
                <a:solidFill>
                  <a:srgbClr val="1C1C1E"/>
                </a:solidFill>
                <a:latin typeface="Consolas"/>
              </a:rPr>
              <a:t>                 parameters, so there is no point of P to move to",</a:t>
            </a:r>
          </a:p>
          <a:p>
            <a:pPr>
              <a:lnSpc>
                <a:spcPct val="134000"/>
              </a:lnSpc>
              <a:spcBef>
                <a:spcPts val="0"/>
              </a:spcBef>
              <a:spcAft>
                <a:spcPts val="0"/>
              </a:spcAft>
            </a:pPr>
            <a:r>
              <a:rPr sz="950" b="0" i="0">
                <a:solidFill>
                  <a:srgbClr val="1C1C1E"/>
                </a:solidFill>
                <a:latin typeface="Consolas"/>
              </a:rPr>
              <a:t> "remediation": "if this model does have parameters, the version</a:t>
            </a:r>
          </a:p>
          <a:p>
            <a:pPr>
              <a:lnSpc>
                <a:spcPct val="134000"/>
              </a:lnSpc>
              <a:spcBef>
                <a:spcPts val="0"/>
              </a:spcBef>
              <a:spcAft>
                <a:spcPts val="0"/>
              </a:spcAft>
            </a:pPr>
            <a:r>
              <a:rPr sz="950" b="0" i="0">
                <a:solidFill>
                  <a:srgbClr val="1C1C1E"/>
                </a:solidFill>
                <a:latin typeface="Consolas"/>
              </a:rPr>
              <a:t>                 declares the wrong parameter kind; fix the version</a:t>
            </a:r>
          </a:p>
          <a:p>
            <a:pPr>
              <a:lnSpc>
                <a:spcPct val="134000"/>
              </a:lnSpc>
              <a:spcBef>
                <a:spcPts val="0"/>
              </a:spcBef>
              <a:spcAft>
                <a:spcPts val="0"/>
              </a:spcAft>
            </a:pPr>
            <a:r>
              <a:rPr sz="950" b="0" i="0">
                <a:solidFill>
                  <a:srgbClr val="1C1C1E"/>
                </a:solidFill>
                <a:latin typeface="Consolas"/>
              </a:rPr>
              <a:t>                 rather than the warrant"}</a:t>
            </a:r>
          </a:p>
        </p:txBody>
      </p:sp>
      <p:sp>
        <p:nvSpPr>
          <p:cNvPr id="14" name="TextBox 13"/>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parts, and the third is the one clients throw away</a:t>
            </a:r>
          </a:p>
          <a:p>
            <a:pPr>
              <a:spcBef>
                <a:spcPts val="0"/>
              </a:spcBef>
              <a:spcAft>
                <a:spcPts val="800"/>
              </a:spcAft>
            </a:pPr>
            <a:r>
              <a:rPr sz="1050" b="1" i="0">
                <a:solidFill>
                  <a:srgbClr val="A51C30"/>
                </a:solidFill>
                <a:latin typeface="Calibri"/>
              </a:rPr>
              <a:t>error </a:t>
            </a:r>
            <a:r>
              <a:rPr sz="1050" b="0" i="0">
                <a:solidFill>
                  <a:srgbClr val="4A4F57"/>
                </a:solidFill>
                <a:latin typeface="Calibri"/>
              </a:rPr>
              <a:t>— a code a caller can branch on, and it says WHO must act</a:t>
            </a:r>
          </a:p>
          <a:p>
            <a:pPr>
              <a:spcBef>
                <a:spcPts val="0"/>
              </a:spcBef>
              <a:spcAft>
                <a:spcPts val="800"/>
              </a:spcAft>
            </a:pPr>
            <a:r>
              <a:rPr sz="1050" b="1" i="0">
                <a:solidFill>
                  <a:srgbClr val="A51C30"/>
                </a:solidFill>
                <a:latin typeface="Calibri"/>
              </a:rPr>
              <a:t>detail </a:t>
            </a:r>
            <a:r>
              <a:rPr sz="1050" b="0" i="0">
                <a:solidFill>
                  <a:srgbClr val="4A4F57"/>
                </a:solidFill>
                <a:latin typeface="Calibri"/>
              </a:rPr>
              <a:t>— which fact about the request made it incoherent, named</a:t>
            </a:r>
          </a:p>
          <a:p>
            <a:pPr>
              <a:spcBef>
                <a:spcPts val="0"/>
              </a:spcBef>
              <a:spcAft>
                <a:spcPts val="800"/>
              </a:spcAft>
            </a:pPr>
            <a:r>
              <a:rPr sz="1050" b="1" i="0">
                <a:solidFill>
                  <a:srgbClr val="A51C30"/>
                </a:solidFill>
                <a:latin typeface="Calibri"/>
              </a:rPr>
              <a:t>remediation </a:t>
            </a:r>
            <a:r>
              <a:rPr sz="1050" b="0" i="0">
                <a:solidFill>
                  <a:srgbClr val="4A4F57"/>
                </a:solidFill>
                <a:latin typeface="Calibri"/>
              </a:rPr>
              <a:t>— what to do instead. Without it a refusal is a wall, and a wall is what people build a workaround around</a:t>
            </a:r>
          </a:p>
          <a:p>
            <a:pPr>
              <a:lnSpc>
                <a:spcPct val="126000"/>
              </a:lnSpc>
              <a:spcBef>
                <a:spcPts val="0"/>
              </a:spcBef>
              <a:spcAft>
                <a:spcPts val="0"/>
              </a:spcAft>
            </a:pPr>
            <a:r>
              <a:rPr sz="1050" b="0" i="0">
                <a:solidFill>
                  <a:srgbClr val="1C1C1E"/>
                </a:solidFill>
                <a:latin typeface="Calibri"/>
              </a:rPr>
              <a:t>Notice what it does not say: “no”. It names the fact that made the request meaningless, and points at the version rather than the request — because that is where the error is.</a:t>
            </a:r>
          </a:p>
        </p:txBody>
      </p:sp>
      <p:sp>
        <p:nvSpPr>
          <p:cNvPr id="15" name="Rectangle 14"/>
          <p:cNvSpPr/>
          <p:nvPr/>
        </p:nvSpPr>
        <p:spPr>
          <a:xfrm>
            <a:off x="777240" y="3416792"/>
            <a:ext cx="5956840"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3416792"/>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3535664"/>
            <a:ext cx="5499640"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interesting behaviour of this platform is what it will not do. </a:t>
            </a:r>
            <a:r>
              <a:rPr sz="1050" b="0" i="0">
                <a:solidFill>
                  <a:srgbClr val="1C1C1E"/>
                </a:solidFill>
                <a:latin typeface="Calibri"/>
              </a:rPr>
              <a:t>Chapter 15 collects every refusal it can issue; they are the clearest statement of what the design believes.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THE BASELINE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model risk costs before anybody buys anything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a:t>
            </a:r>
          </a:p>
        </p:txBody>
      </p:sp>
      <p:sp>
        <p:nvSpPr>
          <p:cNvPr id="10" name="Rectangle 9"/>
          <p:cNvSpPr/>
          <p:nvPr/>
        </p:nvSpPr>
        <p:spPr>
          <a:xfrm>
            <a:off x="777240"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6–15%</a:t>
            </a:r>
          </a:p>
        </p:txBody>
      </p:sp>
      <p:sp>
        <p:nvSpPr>
          <p:cNvPr id="13" name="TextBox 12"/>
          <p:cNvSpPr txBox="1"/>
          <p:nvPr/>
        </p:nvSpPr>
        <p:spPr>
          <a:xfrm>
            <a:off x="978408"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of a large bank's operational risk capital is model risk, and it is the fastest-growing component</a:t>
            </a:r>
          </a:p>
        </p:txBody>
      </p:sp>
      <p:sp>
        <p:nvSpPr>
          <p:cNvPr id="14" name="Rectangle 13"/>
          <p:cNvSpPr/>
          <p:nvPr/>
        </p:nvSpPr>
        <p:spPr>
          <a:xfrm>
            <a:off x="4390034"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4390034"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4591202"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30–60</a:t>
            </a:r>
          </a:p>
        </p:txBody>
      </p:sp>
      <p:sp>
        <p:nvSpPr>
          <p:cNvPr id="17" name="TextBox 16"/>
          <p:cNvSpPr txBox="1"/>
          <p:nvPr/>
        </p:nvSpPr>
        <p:spPr>
          <a:xfrm>
            <a:off x="4591202"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FTE in a mid-size bank's model risk function, most of it clerical: chasing evidence, reformatting it, chasing it again</a:t>
            </a:r>
          </a:p>
        </p:txBody>
      </p:sp>
      <p:sp>
        <p:nvSpPr>
          <p:cNvPr id="18" name="Rectangle 17"/>
          <p:cNvSpPr/>
          <p:nvPr/>
        </p:nvSpPr>
        <p:spPr>
          <a:xfrm>
            <a:off x="8002828"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8002828"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8203996"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2–5</a:t>
            </a:r>
          </a:p>
        </p:txBody>
      </p:sp>
      <p:sp>
        <p:nvSpPr>
          <p:cNvPr id="21" name="TextBox 20"/>
          <p:cNvSpPr txBox="1"/>
          <p:nvPr/>
        </p:nvSpPr>
        <p:spPr>
          <a:xfrm>
            <a:off x="8203996"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separate inventories at most banks — GRC, MLOps, and a spreadsheet — which disagree, and the disagreement is the finding</a:t>
            </a:r>
          </a:p>
        </p:txBody>
      </p:sp>
      <p:sp>
        <p:nvSpPr>
          <p:cNvPr id="22" name="Rectangle 21"/>
          <p:cNvSpPr/>
          <p:nvPr/>
        </p:nvSpPr>
        <p:spPr>
          <a:xfrm>
            <a:off x="777240" y="2679191"/>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2679191"/>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2798063"/>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None of these is MAYA's number. </a:t>
            </a:r>
            <a:r>
              <a:rPr sz="1050" b="0" i="0">
                <a:solidFill>
                  <a:srgbClr val="1C1C1E"/>
                </a:solidFill>
                <a:latin typeface="Calibri"/>
              </a:rPr>
              <a:t>They are the industry's, sourced in chapter 2, and they are the baseline any option is measured against — including doing nothing. The honest form of this slide is that the expensive thing is already happening: a validator spending sixty per cent of their week assembling evidence is a cost the bank pays whether or not it buys a platform, and it does not appear in anybody's software budget.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BUILD OR BUY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each option costs, and what it leaves you holding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graphicFrame>
        <p:nvGraphicFramePr>
          <p:cNvPr id="10" name="Table 9"/>
          <p:cNvGraphicFramePr>
            <a:graphicFrameLocks noGrp="1"/>
          </p:cNvGraphicFramePr>
          <p:nvPr/>
        </p:nvGraphicFramePr>
        <p:xfrm>
          <a:off x="777240" y="1764792"/>
          <a:ext cx="10637214" cy="3474720"/>
        </p:xfrm>
        <a:graphic>
          <a:graphicData uri="http://schemas.openxmlformats.org/drawingml/2006/table">
            <a:tbl>
              <a:tblPr firstRow="1">
                <a:tableStyleId>{5C22544A-7EE6-4342-B048-85BDC9FD1C3A}</a:tableStyleId>
              </a:tblPr>
              <a:tblGrid>
                <a:gridCol w="2742964"/>
                <a:gridCol w="2742964"/>
                <a:gridCol w="5151286"/>
              </a:tblGrid>
              <a:tr h="329184">
                <a:tc>
                  <a:txBody>
                    <a:bodyPr wrap="square"/>
                    <a:lstStyle/>
                    <a:p>
                      <a:pPr algn="l"/>
                      <a:r>
                        <a:rPr sz="1000" b="1">
                          <a:solidFill>
                            <a:srgbClr val="FFFFFF"/>
                          </a:solidFill>
                          <a:latin typeface="Calibri"/>
                        </a:rPr>
                        <a:t>Option</a:t>
                      </a:r>
                    </a:p>
                  </a:txBody>
                  <a:tcPr marL="82296" marR="64008" marT="32004" marB="32004" anchor="ctr">
                    <a:solidFill>
                      <a:srgbClr val="A51C30"/>
                    </a:solidFill>
                  </a:tcPr>
                </a:tc>
                <a:tc>
                  <a:txBody>
                    <a:bodyPr wrap="square"/>
                    <a:lstStyle/>
                    <a:p>
                      <a:pPr algn="l"/>
                      <a:r>
                        <a:rPr sz="1000" b="1">
                          <a:solidFill>
                            <a:srgbClr val="FFFFFF"/>
                          </a:solidFill>
                          <a:latin typeface="Calibri"/>
                        </a:rPr>
                        <a:t>Order of cost</a:t>
                      </a:r>
                    </a:p>
                  </a:txBody>
                  <a:tcPr marL="82296" marR="64008" marT="32004" marB="32004" anchor="ctr">
                    <a:solidFill>
                      <a:srgbClr val="A51C30"/>
                    </a:solidFill>
                  </a:tcPr>
                </a:tc>
                <a:tc>
                  <a:txBody>
                    <a:bodyPr wrap="square"/>
                    <a:lstStyle/>
                    <a:p>
                      <a:pPr algn="l"/>
                      <a:r>
                        <a:rPr sz="1000" b="1">
                          <a:solidFill>
                            <a:srgbClr val="FFFFFF"/>
                          </a:solidFill>
                          <a:latin typeface="Calibri"/>
                        </a:rPr>
                        <a:t>What you still do not have</a:t>
                      </a:r>
                    </a:p>
                  </a:txBody>
                  <a:tcPr marL="82296" marR="64008" marT="32004" marB="32004" anchor="ctr">
                    <a:solidFill>
                      <a:srgbClr val="A51C30"/>
                    </a:solidFill>
                  </a:tcPr>
                </a:tc>
              </a:tr>
              <a:tr h="786384">
                <a:tc>
                  <a:txBody>
                    <a:bodyPr wrap="square"/>
                    <a:lstStyle/>
                    <a:p>
                      <a:pPr algn="l"/>
                      <a:r>
                        <a:rPr sz="950" b="1">
                          <a:solidFill>
                            <a:srgbClr val="A51C30"/>
                          </a:solidFill>
                          <a:latin typeface="Calibri"/>
                        </a:rPr>
                        <a:t>Buy a GRC/MRM platform
OpenPages, SAS MRM,
ValidMind, ModelOp</a:t>
                      </a:r>
                    </a:p>
                  </a:txBody>
                  <a:tcPr marL="82296" marR="64008" marT="32004" marB="32004" anchor="ctr">
                    <a:solidFill>
                      <a:srgbClr val="FFFFFF"/>
                    </a:solidFill>
                  </a:tcPr>
                </a:tc>
                <a:tc>
                  <a:txBody>
                    <a:bodyPr wrap="square"/>
                    <a:lstStyle/>
                    <a:p>
                      <a:pPr algn="l"/>
                      <a:r>
                        <a:rPr sz="950" b="0">
                          <a:solidFill>
                            <a:srgbClr val="1C1C1E"/>
                          </a:solidFill>
                          <a:latin typeface="Calibri"/>
                        </a:rPr>
                        <a:t>£0.4–1.2m licence a year,
plus 6–18 months of
implementation</a:t>
                      </a:r>
                    </a:p>
                  </a:txBody>
                  <a:tcPr marL="82296" marR="64008" marT="32004" marB="32004" anchor="ctr">
                    <a:solidFill>
                      <a:srgbClr val="FFFFFF"/>
                    </a:solidFill>
                  </a:tcPr>
                </a:tc>
                <a:tc>
                  <a:txBody>
                    <a:bodyPr wrap="square"/>
                    <a:lstStyle/>
                    <a:p>
                      <a:pPr algn="l"/>
                      <a:r>
                        <a:rPr sz="950" b="0">
                          <a:solidFill>
                            <a:srgbClr val="1C1C1E"/>
                          </a:solidFill>
                          <a:latin typeface="Calibri"/>
                        </a:rPr>
                        <a:t>No artifact binding, no feature management, no warrants, no coverage of the quant or EUC estate. A second and third system alongside it</a:t>
                      </a:r>
                    </a:p>
                  </a:txBody>
                  <a:tcPr marL="82296" marR="64008" marT="32004" marB="32004" anchor="ctr">
                    <a:solidFill>
                      <a:srgbClr val="FFFFFF"/>
                    </a:solidFill>
                  </a:tcPr>
                </a:tc>
              </a:tr>
              <a:tr h="786384">
                <a:tc>
                  <a:txBody>
                    <a:bodyPr wrap="square"/>
                    <a:lstStyle/>
                    <a:p>
                      <a:pPr algn="l"/>
                      <a:r>
                        <a:rPr sz="950" b="1">
                          <a:solidFill>
                            <a:srgbClr val="A51C30"/>
                          </a:solidFill>
                          <a:latin typeface="Calibri"/>
                        </a:rPr>
                        <a:t>Buy an MLOps platform
Databricks, Domino,
DataRobot</a:t>
                      </a:r>
                    </a:p>
                  </a:txBody>
                  <a:tcPr marL="82296" marR="64008" marT="32004" marB="32004" anchor="ctr">
                    <a:solidFill>
                      <a:srgbClr val="F6F3EF"/>
                    </a:solidFill>
                  </a:tcPr>
                </a:tc>
                <a:tc>
                  <a:txBody>
                    <a:bodyPr wrap="square"/>
                    <a:lstStyle/>
                    <a:p>
                      <a:pPr algn="l"/>
                      <a:r>
                        <a:rPr sz="950" b="0">
                          <a:solidFill>
                            <a:srgbClr val="1C1C1E"/>
                          </a:solidFill>
                          <a:latin typeface="Calibri"/>
                        </a:rPr>
                        <a:t>£0.5–2m a year, usually
already being paid for
other reasons</a:t>
                      </a:r>
                    </a:p>
                  </a:txBody>
                  <a:tcPr marL="82296" marR="64008" marT="32004" marB="32004" anchor="ctr">
                    <a:solidFill>
                      <a:srgbClr val="F6F3EF"/>
                    </a:solidFill>
                  </a:tcPr>
                </a:tc>
                <a:tc>
                  <a:txBody>
                    <a:bodyPr wrap="square"/>
                    <a:lstStyle/>
                    <a:p>
                      <a:pPr algn="l"/>
                      <a:r>
                        <a:rPr sz="950" b="0">
                          <a:solidFill>
                            <a:srgbClr val="1C1C1E"/>
                          </a:solidFill>
                          <a:latin typeface="Calibri"/>
                        </a:rPr>
                        <a:t>No MRM domain objects, no multi-regime scoping, no overlays, no findings. The ML subset is a minority of the estate</a:t>
                      </a:r>
                    </a:p>
                  </a:txBody>
                  <a:tcPr marL="82296" marR="64008" marT="32004" marB="32004" anchor="ctr">
                    <a:solidFill>
                      <a:srgbClr val="F6F3EF"/>
                    </a:solidFill>
                  </a:tcPr>
                </a:tc>
              </a:tr>
              <a:tr h="786384">
                <a:tc>
                  <a:txBody>
                    <a:bodyPr wrap="square"/>
                    <a:lstStyle/>
                    <a:p>
                      <a:pPr algn="l"/>
                      <a:r>
                        <a:rPr sz="950" b="1">
                          <a:solidFill>
                            <a:srgbClr val="A51C30"/>
                          </a:solidFill>
                          <a:latin typeface="Calibri"/>
                        </a:rPr>
                        <a:t>Buy both and integrate</a:t>
                      </a:r>
                    </a:p>
                  </a:txBody>
                  <a:tcPr marL="82296" marR="64008" marT="32004" marB="32004" anchor="ctr">
                    <a:solidFill>
                      <a:srgbClr val="FFFFFF"/>
                    </a:solidFill>
                  </a:tcPr>
                </a:tc>
                <a:tc>
                  <a:txBody>
                    <a:bodyPr wrap="square"/>
                    <a:lstStyle/>
                    <a:p>
                      <a:pPr algn="l"/>
                      <a:r>
                        <a:rPr sz="950" b="0">
                          <a:solidFill>
                            <a:srgbClr val="1C1C1E"/>
                          </a:solidFill>
                          <a:latin typeface="Calibri"/>
                        </a:rPr>
                        <a:t>The sum of the two, plus
an integration nobody owns</a:t>
                      </a:r>
                    </a:p>
                  </a:txBody>
                  <a:tcPr marL="82296" marR="64008" marT="32004" marB="32004" anchor="ctr">
                    <a:solidFill>
                      <a:srgbClr val="FFFFFF"/>
                    </a:solidFill>
                  </a:tcPr>
                </a:tc>
                <a:tc>
                  <a:txBody>
                    <a:bodyPr wrap="square"/>
                    <a:lstStyle/>
                    <a:p>
                      <a:pPr algn="l"/>
                      <a:r>
                        <a:rPr sz="950" b="0">
                          <a:solidFill>
                            <a:srgbClr val="1C1C1E"/>
                          </a:solidFill>
                          <a:latin typeface="Calibri"/>
                        </a:rPr>
                        <a:t>Two inventories that disagree. The status quo at most large banks, and the disagreement is itself an audit finding</a:t>
                      </a:r>
                    </a:p>
                  </a:txBody>
                  <a:tcPr marL="82296" marR="64008" marT="32004" marB="32004" anchor="ctr">
                    <a:solidFill>
                      <a:srgbClr val="FFFFFF"/>
                    </a:solidFill>
                  </a:tcPr>
                </a:tc>
              </a:tr>
              <a:tr h="786384">
                <a:tc>
                  <a:txBody>
                    <a:bodyPr wrap="square"/>
                    <a:lstStyle/>
                    <a:p>
                      <a:pPr algn="l"/>
                      <a:r>
                        <a:rPr sz="950" b="1">
                          <a:solidFill>
                            <a:srgbClr val="A51C30"/>
                          </a:solidFill>
                          <a:latin typeface="Calibri"/>
                        </a:rPr>
                        <a:t>Build</a:t>
                      </a:r>
                    </a:p>
                  </a:txBody>
                  <a:tcPr marL="82296" marR="64008" marT="32004" marB="32004" anchor="ctr">
                    <a:solidFill>
                      <a:srgbClr val="F6F3EF"/>
                    </a:solidFill>
                  </a:tcPr>
                </a:tc>
                <a:tc>
                  <a:txBody>
                    <a:bodyPr wrap="square"/>
                    <a:lstStyle/>
                    <a:p>
                      <a:pPr algn="l"/>
                      <a:r>
                        <a:rPr sz="950" b="0">
                          <a:solidFill>
                            <a:srgbClr val="1C1C1E"/>
                          </a:solidFill>
                          <a:latin typeface="Calibri"/>
                        </a:rPr>
                        <a:t>Higher up front; no
licence, no per-seat, no
vendor roadmap risk</a:t>
                      </a:r>
                    </a:p>
                  </a:txBody>
                  <a:tcPr marL="82296" marR="64008" marT="32004" marB="32004" anchor="ctr">
                    <a:solidFill>
                      <a:srgbClr val="F6F3EF"/>
                    </a:solidFill>
                  </a:tcPr>
                </a:tc>
                <a:tc>
                  <a:txBody>
                    <a:bodyPr wrap="square"/>
                    <a:lstStyle/>
                    <a:p>
                      <a:pPr algn="l"/>
                      <a:r>
                        <a:rPr sz="950" b="0">
                          <a:solidFill>
                            <a:srgbClr val="1C1C1E"/>
                          </a:solidFill>
                          <a:latin typeface="Calibri"/>
                        </a:rPr>
                        <a:t>The build itself, and the operational work in chapter 23 — which is a real cost and is named rather than folded into a total</a:t>
                      </a:r>
                    </a:p>
                  </a:txBody>
                  <a:tcPr marL="82296" marR="64008" marT="32004" marB="32004" anchor="ctr">
                    <a:solidFill>
                      <a:srgbClr val="F6F3EF"/>
                    </a:solidFill>
                  </a:tcPr>
                </a:tc>
              </a:tr>
            </a:tbl>
          </a:graphicData>
        </a:graphic>
      </p:graphicFrame>
      <p:sp>
        <p:nvSpPr>
          <p:cNvPr id="11" name="Rectangle 10"/>
          <p:cNvSpPr/>
          <p:nvPr/>
        </p:nvSpPr>
        <p:spPr>
          <a:xfrm>
            <a:off x="777240" y="5440679"/>
            <a:ext cx="10637215"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440679"/>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559551"/>
            <a:ext cx="10180015"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ranges are indicative and public. </a:t>
            </a:r>
            <a:r>
              <a:rPr sz="1050" b="0" i="0">
                <a:solidFill>
                  <a:srgbClr val="1C1C1E"/>
                </a:solidFill>
                <a:latin typeface="Calibri"/>
              </a:rPr>
              <a:t>A bank's own numbers will differ and should replace these before this slide is shown to a committee — the point of the column is that the comparison is between totals rather than between licence fees, and the third row is what most banks are paying today without having decided to.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THE QUESTION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CIO is actually deciding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16</a:t>
            </a:r>
          </a:p>
        </p:txBody>
      </p:sp>
      <p:graphicFrame>
        <p:nvGraphicFramePr>
          <p:cNvPr id="10" name="Table 9"/>
          <p:cNvGraphicFramePr>
            <a:graphicFrameLocks noGrp="1"/>
          </p:cNvGraphicFramePr>
          <p:nvPr/>
        </p:nvGraphicFramePr>
        <p:xfrm>
          <a:off x="777240" y="1353312"/>
          <a:ext cx="10637214" cy="2980944"/>
        </p:xfrm>
        <a:graphic>
          <a:graphicData uri="http://schemas.openxmlformats.org/drawingml/2006/table">
            <a:tbl>
              <a:tblPr firstRow="1">
                <a:tableStyleId>{5C22544A-7EE6-4342-B048-85BDC9FD1C3A}</a:tableStyleId>
              </a:tblPr>
              <a:tblGrid>
                <a:gridCol w="4205878"/>
                <a:gridCol w="6431336"/>
              </a:tblGrid>
              <a:tr h="329184">
                <a:tc>
                  <a:txBody>
                    <a:bodyPr wrap="square"/>
                    <a:lstStyle/>
                    <a:p>
                      <a:pPr algn="l"/>
                      <a:r>
                        <a:rPr sz="1050" b="1">
                          <a:solidFill>
                            <a:srgbClr val="FFFFFF"/>
                          </a:solidFill>
                          <a:latin typeface="Calibri"/>
                        </a:rPr>
                        <a:t>The question</a:t>
                      </a:r>
                    </a:p>
                  </a:txBody>
                  <a:tcPr marL="82296" marR="64008" marT="32004" marB="32004" anchor="ctr">
                    <a:solidFill>
                      <a:srgbClr val="A51C30"/>
                    </a:solidFill>
                  </a:tcPr>
                </a:tc>
                <a:tc>
                  <a:txBody>
                    <a:bodyPr wrap="square"/>
                    <a:lstStyle/>
                    <a:p>
                      <a:pPr algn="l"/>
                      <a:r>
                        <a:rPr sz="1050" b="1">
                          <a:solidFill>
                            <a:srgbClr val="FFFFFF"/>
                          </a:solidFill>
                          <a:latin typeface="Calibri"/>
                        </a:rPr>
                        <a:t>The answer this platform gives</a:t>
                      </a:r>
                    </a:p>
                  </a:txBody>
                  <a:tcPr marL="82296" marR="64008" marT="32004" marB="32004" anchor="ctr">
                    <a:solidFill>
                      <a:srgbClr val="A51C30"/>
                    </a:solidFill>
                  </a:tcPr>
                </a:tc>
              </a:tr>
              <a:tr h="530352">
                <a:tc>
                  <a:txBody>
                    <a:bodyPr wrap="square"/>
                    <a:lstStyle/>
                    <a:p>
                      <a:pPr algn="l"/>
                      <a:r>
                        <a:rPr sz="1000" b="1">
                          <a:solidFill>
                            <a:srgbClr val="A51C30"/>
                          </a:solidFill>
                          <a:latin typeface="Calibri"/>
                        </a:rPr>
                        <a:t>Can I evidence the estate to a supervisor without a project?</a:t>
                      </a:r>
                    </a:p>
                  </a:txBody>
                  <a:tcPr marL="82296" marR="64008" marT="32004" marB="32004" anchor="ctr">
                    <a:solidFill>
                      <a:srgbClr val="FFFFFF"/>
                    </a:solidFill>
                  </a:tcPr>
                </a:tc>
                <a:tc>
                  <a:txBody>
                    <a:bodyPr wrap="square"/>
                    <a:lstStyle/>
                    <a:p>
                      <a:pPr algn="l"/>
                      <a:r>
                        <a:rPr sz="1000" b="0">
                          <a:solidFill>
                            <a:srgbClr val="1C1C1E"/>
                          </a:solidFill>
                          <a:latin typeface="Calibri"/>
                        </a:rPr>
                        <a:t>An export pack is cut from the register on demand, self-contained and digested, with its gaps named rather than omitted</a:t>
                      </a:r>
                    </a:p>
                  </a:txBody>
                  <a:tcPr marL="82296" marR="64008" marT="32004" marB="32004" anchor="ctr">
                    <a:solidFill>
                      <a:srgbClr val="FFFFFF"/>
                    </a:solidFill>
                  </a:tcPr>
                </a:tc>
              </a:tr>
              <a:tr h="530352">
                <a:tc>
                  <a:txBody>
                    <a:bodyPr wrap="square"/>
                    <a:lstStyle/>
                    <a:p>
                      <a:pPr algn="l"/>
                      <a:r>
                        <a:rPr sz="1000" b="1">
                          <a:solidFill>
                            <a:srgbClr val="A51C30"/>
                          </a:solidFill>
                          <a:latin typeface="Calibri"/>
                        </a:rPr>
                        <a:t>Will it tell me what I do not want to hear?</a:t>
                      </a:r>
                    </a:p>
                  </a:txBody>
                  <a:tcPr marL="82296" marR="64008" marT="32004" marB="32004" anchor="ctr">
                    <a:solidFill>
                      <a:srgbClr val="F6F3EF"/>
                    </a:solidFill>
                  </a:tcPr>
                </a:tc>
                <a:tc>
                  <a:txBody>
                    <a:bodyPr wrap="square"/>
                    <a:lstStyle/>
                    <a:p>
                      <a:pPr algn="l"/>
                      <a:r>
                        <a:rPr sz="1000" b="0">
                          <a:solidFill>
                            <a:srgbClr val="1C1C1E"/>
                          </a:solidFill>
                          <a:latin typeface="Calibri"/>
                        </a:rPr>
                        <a:t>Refusals are the product. An unattested estate reports as unattested, and 'not measured' is never rendered as zero</a:t>
                      </a:r>
                    </a:p>
                  </a:txBody>
                  <a:tcPr marL="82296" marR="64008" marT="32004" marB="32004" anchor="ctr">
                    <a:solidFill>
                      <a:srgbClr val="F6F3EF"/>
                    </a:solidFill>
                  </a:tcPr>
                </a:tc>
              </a:tr>
              <a:tr h="530352">
                <a:tc>
                  <a:txBody>
                    <a:bodyPr wrap="square"/>
                    <a:lstStyle/>
                    <a:p>
                      <a:pPr algn="l"/>
                      <a:r>
                        <a:rPr sz="1000" b="1">
                          <a:solidFill>
                            <a:srgbClr val="A51C30"/>
                          </a:solidFill>
                          <a:latin typeface="Calibri"/>
                        </a:rPr>
                        <a:t>What happens when the next regulation arrives?</a:t>
                      </a:r>
                    </a:p>
                  </a:txBody>
                  <a:tcPr marL="82296" marR="64008" marT="32004" marB="32004" anchor="ctr">
                    <a:solidFill>
                      <a:srgbClr val="FFFFFF"/>
                    </a:solidFill>
                  </a:tcPr>
                </a:tc>
                <a:tc>
                  <a:txBody>
                    <a:bodyPr wrap="square"/>
                    <a:lstStyle/>
                    <a:p>
                      <a:pPr algn="l"/>
                      <a:r>
                        <a:rPr sz="1000" b="0">
                          <a:solidFill>
                            <a:srgbClr val="1C1C1E"/>
                          </a:solidFill>
                          <a:latin typeface="Calibri"/>
                        </a:rPr>
                        <a:t>A regime is encoded as sentences over its own vocabulary and activated if — and only if — its encoding survives translation. Three ship</a:t>
                      </a:r>
                    </a:p>
                  </a:txBody>
                  <a:tcPr marL="82296" marR="64008" marT="32004" marB="32004" anchor="ctr">
                    <a:solidFill>
                      <a:srgbClr val="FFFFFF"/>
                    </a:solidFill>
                  </a:tcPr>
                </a:tc>
              </a:tr>
              <a:tr h="530352">
                <a:tc>
                  <a:txBody>
                    <a:bodyPr wrap="square"/>
                    <a:lstStyle/>
                    <a:p>
                      <a:pPr algn="l"/>
                      <a:r>
                        <a:rPr sz="1000" b="1">
                          <a:solidFill>
                            <a:srgbClr val="A51C30"/>
                          </a:solidFill>
                          <a:latin typeface="Calibri"/>
                        </a:rPr>
                        <a:t>What happens when the next model paradigm arrives?</a:t>
                      </a:r>
                    </a:p>
                  </a:txBody>
                  <a:tcPr marL="82296" marR="64008" marT="32004" marB="32004" anchor="ctr">
                    <a:solidFill>
                      <a:srgbClr val="F6F3EF"/>
                    </a:solidFill>
                  </a:tcPr>
                </a:tc>
                <a:tc>
                  <a:txBody>
                    <a:bodyPr wrap="square"/>
                    <a:lstStyle/>
                    <a:p>
                      <a:pPr algn="l"/>
                      <a:r>
                        <a:rPr sz="1000" b="0">
                          <a:solidFill>
                            <a:srgbClr val="1C1C1E"/>
                          </a:solidFill>
                          <a:latin typeface="Calibri"/>
                        </a:rPr>
                        <a:t>A trainability class is DERIVED from how the parameters were obtained, so an LLM and a scorecard are the same object with different fibres</a:t>
                      </a:r>
                    </a:p>
                  </a:txBody>
                  <a:tcPr marL="82296" marR="64008" marT="32004" marB="32004" anchor="ctr">
                    <a:solidFill>
                      <a:srgbClr val="F6F3EF"/>
                    </a:solidFill>
                  </a:tcPr>
                </a:tc>
              </a:tr>
              <a:tr h="530352">
                <a:tc>
                  <a:txBody>
                    <a:bodyPr wrap="square"/>
                    <a:lstStyle/>
                    <a:p>
                      <a:pPr algn="l"/>
                      <a:r>
                        <a:rPr sz="1000" b="1">
                          <a:solidFill>
                            <a:srgbClr val="A51C30"/>
                          </a:solidFill>
                          <a:latin typeface="Calibri"/>
                        </a:rPr>
                        <a:t>What am I exposed to if this is wrong?</a:t>
                      </a:r>
                    </a:p>
                  </a:txBody>
                  <a:tcPr marL="82296" marR="64008" marT="32004" marB="32004" anchor="ctr">
                    <a:solidFill>
                      <a:srgbClr val="FFFFFF"/>
                    </a:solidFill>
                  </a:tcPr>
                </a:tc>
                <a:tc>
                  <a:txBody>
                    <a:bodyPr wrap="square"/>
                    <a:lstStyle/>
                    <a:p>
                      <a:pPr algn="l"/>
                      <a:r>
                        <a:rPr sz="1000" b="0">
                          <a:solidFill>
                            <a:srgbClr val="1C1C1E"/>
                          </a:solidFill>
                          <a:latin typeface="Calibri"/>
                        </a:rPr>
                        <a:t>Eighteen of twenty-one foundational laws execute on every push. The three that do not are named, with the reason, in the same table</a:t>
                      </a:r>
                    </a:p>
                  </a:txBody>
                  <a:tcPr marL="82296" marR="64008" marT="32004" marB="32004" anchor="ctr">
                    <a:solidFill>
                      <a:srgbClr val="FFFFFF"/>
                    </a:solidFill>
                  </a:tcPr>
                </a:tc>
              </a:tr>
            </a:tbl>
          </a:graphicData>
        </a:graphic>
      </p:graphicFrame>
      <p:sp>
        <p:nvSpPr>
          <p:cNvPr id="11" name="Rectangle 10"/>
          <p:cNvSpPr/>
          <p:nvPr/>
        </p:nvSpPr>
        <p:spPr>
          <a:xfrm>
            <a:off x="777240" y="455371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553712"/>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67258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the one that decides it. </a:t>
            </a:r>
            <a:r>
              <a:rPr sz="1050" b="0" i="0">
                <a:solidFill>
                  <a:srgbClr val="1C1C1E"/>
                </a:solidFill>
                <a:latin typeface="Calibri"/>
              </a:rPr>
              <a:t>Every platform in this market will tell a committee that it works. What a CIO can ask for is the list of things it does NOT do, written by the people who built it, in the same document — and then check that the list is honest by running the tests. Chapter 23 is that list.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Foundations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mathematics the rest of it is derived from — stated, and then run as tests rather than left as a claim.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4 · The definition</a:t>
            </a:r>
          </a:p>
          <a:p>
            <a:pPr>
              <a:lnSpc>
                <a:spcPct val="115000"/>
              </a:lnSpc>
              <a:spcBef>
                <a:spcPts val="0"/>
              </a:spcBef>
              <a:spcAft>
                <a:spcPts val="800"/>
              </a:spcAft>
            </a:pPr>
            <a:r>
              <a:rPr sz="1150" b="0" i="0">
                <a:solidFill>
                  <a:srgbClr val="E4DED6"/>
                </a:solidFill>
                <a:latin typeface="Calibri"/>
              </a:rPr>
              <a:t>5 · The algebra</a:t>
            </a:r>
          </a:p>
          <a:p>
            <a:pPr>
              <a:lnSpc>
                <a:spcPct val="115000"/>
              </a:lnSpc>
              <a:spcBef>
                <a:spcPts val="0"/>
              </a:spcBef>
              <a:spcAft>
                <a:spcPts val="800"/>
              </a:spcAft>
            </a:pPr>
            <a:r>
              <a:rPr sz="1150" b="0" i="0">
                <a:solidFill>
                  <a:srgbClr val="E4DED6"/>
                </a:solidFill>
                <a:latin typeface="Calibri"/>
              </a:rPr>
              <a:t>6 · Two clocks</a:t>
            </a:r>
          </a:p>
          <a:p>
            <a:pPr>
              <a:lnSpc>
                <a:spcPct val="115000"/>
              </a:lnSpc>
              <a:spcBef>
                <a:spcPts val="0"/>
              </a:spcBef>
              <a:spcAft>
                <a:spcPts val="800"/>
              </a:spcAft>
            </a:pPr>
            <a:r>
              <a:rPr sz="1150" b="0" i="0">
                <a:solidFill>
                  <a:srgbClr val="E4DED6"/>
                </a:solidFill>
                <a:latin typeface="Calibri"/>
              </a:rPr>
              <a:t>7 · Evidence, and six questions from one traversal</a:t>
            </a:r>
          </a:p>
          <a:p>
            <a:pPr>
              <a:lnSpc>
                <a:spcPct val="115000"/>
              </a:lnSpc>
              <a:spcBef>
                <a:spcPts val="0"/>
              </a:spcBef>
              <a:spcAft>
                <a:spcPts val="800"/>
              </a:spcAft>
            </a:pPr>
            <a:r>
              <a:rPr sz="1150" b="0" i="0">
                <a:solidFill>
                  <a:srgbClr val="E4DED6"/>
                </a:solidFill>
                <a:latin typeface="Calibri"/>
              </a:rPr>
              <a:t>8 · The laws, and which of them run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THE DEFINITION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model is a parametric kernel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sp>
        <p:nvSpPr>
          <p:cNvPr id="10" name="TextBox 9"/>
          <p:cNvSpPr txBox="1"/>
          <p:nvPr/>
        </p:nvSpPr>
        <p:spPr>
          <a:xfrm>
            <a:off x="777240" y="1353312"/>
            <a:ext cx="10637215" cy="822960"/>
          </a:xfrm>
          <a:prstGeom prst="rect">
            <a:avLst/>
          </a:prstGeom>
          <a:noFill/>
        </p:spPr>
        <p:txBody>
          <a:bodyPr wrap="square" lIns="0" rIns="0" tIns="0" bIns="0" anchor="t">
            <a:spAutoFit/>
          </a:bodyPr>
          <a:lstStyle/>
          <a:p>
            <a:pPr algn="ctr">
              <a:spcBef>
                <a:spcPts val="0"/>
              </a:spcBef>
              <a:spcAft>
                <a:spcPts val="0"/>
              </a:spcAft>
            </a:pPr>
            <a:r>
              <a:rPr sz="3400" b="0" i="0">
                <a:solidFill>
                  <a:srgbClr val="1C1C1E"/>
                </a:solidFill>
                <a:latin typeface="Consolas"/>
              </a:rPr>
              <a:t>f  :  P  ⊗  X  →  D(Y)</a:t>
            </a:r>
          </a:p>
        </p:txBody>
      </p:sp>
      <p:graphicFrame>
        <p:nvGraphicFramePr>
          <p:cNvPr id="11" name="Table 10"/>
          <p:cNvGraphicFramePr>
            <a:graphicFrameLocks noGrp="1"/>
          </p:cNvGraphicFramePr>
          <p:nvPr/>
        </p:nvGraphicFramePr>
        <p:xfrm>
          <a:off x="777240" y="2313432"/>
          <a:ext cx="10637214" cy="2150135"/>
        </p:xfrm>
        <a:graphic>
          <a:graphicData uri="http://schemas.openxmlformats.org/drawingml/2006/table">
            <a:tbl>
              <a:tblPr firstRow="1">
                <a:tableStyleId>{5C22544A-7EE6-4342-B048-85BDC9FD1C3A}</a:tableStyleId>
              </a:tblPr>
              <a:tblGrid>
                <a:gridCol w="914321"/>
                <a:gridCol w="4937335"/>
                <a:gridCol w="4785558"/>
              </a:tblGrid>
              <a:tr h="329184">
                <a:tc>
                  <a:txBody>
                    <a:bodyPr wrap="square"/>
                    <a:lstStyle/>
                    <a:p>
                      <a:pPr algn="l"/>
                      <a:r>
                        <a:rPr sz="1050" b="1">
                          <a:solidFill>
                            <a:srgbClr val="FFFFFF"/>
                          </a:solidFill>
                          <a:latin typeface="Calibri"/>
                        </a:rPr>
                        <a:t>Term</a:t>
                      </a:r>
                    </a:p>
                  </a:txBody>
                  <a:tcPr marL="82296" marR="64008" marT="32004" marB="32004" anchor="ctr">
                    <a:solidFill>
                      <a:srgbClr val="A51C30"/>
                    </a:solidFill>
                  </a:tcPr>
                </a:tc>
                <a:tc>
                  <a:txBody>
                    <a:bodyPr wrap="square"/>
                    <a:lstStyle/>
                    <a:p>
                      <a:pPr algn="l"/>
                      <a:r>
                        <a:rPr sz="1050" b="1">
                          <a:solidFill>
                            <a:srgbClr val="FFFFFF"/>
                          </a:solidFill>
                          <a:latin typeface="Calibri"/>
                        </a:rPr>
                        <a:t>Is</a:t>
                      </a:r>
                    </a:p>
                  </a:txBody>
                  <a:tcPr marL="82296" marR="64008" marT="32004" marB="32004" anchor="ctr">
                    <a:solidFill>
                      <a:srgbClr val="A51C30"/>
                    </a:solidFill>
                  </a:tcPr>
                </a:tc>
                <a:tc>
                  <a:txBody>
                    <a:bodyPr wrap="square"/>
                    <a:lstStyle/>
                    <a:p>
                      <a:pPr algn="l"/>
                      <a:r>
                        <a:rPr sz="1050" b="1">
                          <a:solidFill>
                            <a:srgbClr val="FFFFFF"/>
                          </a:solidFill>
                          <a:latin typeface="Calibri"/>
                        </a:rPr>
                        <a:t>Commonly mistaken for</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f</a:t>
                      </a:r>
                    </a:p>
                  </a:txBody>
                  <a:tcPr marL="82296" marR="64008" marT="32004" marB="32004" anchor="ctr">
                    <a:solidFill>
                      <a:srgbClr val="FFFFFF"/>
                    </a:solidFill>
                  </a:tcPr>
                </a:tc>
                <a:tc>
                  <a:txBody>
                    <a:bodyPr wrap="square"/>
                    <a:lstStyle/>
                    <a:p>
                      <a:pPr algn="l"/>
                      <a:r>
                        <a:rPr sz="1050" b="0">
                          <a:solidFill>
                            <a:srgbClr val="1C1C1E"/>
                          </a:solidFill>
                          <a:latin typeface="Calibri"/>
                        </a:rPr>
                        <a:t>the kernel — the computation itself</a:t>
                      </a:r>
                    </a:p>
                  </a:txBody>
                  <a:tcPr marL="82296" marR="64008" marT="32004" marB="32004" anchor="ctr">
                    <a:solidFill>
                      <a:srgbClr val="FFFFFF"/>
                    </a:solidFill>
                  </a:tcPr>
                </a:tc>
                <a:tc>
                  <a:txBody>
                    <a:bodyPr wrap="square"/>
                    <a:lstStyle/>
                    <a:p>
                      <a:pPr algn="l"/>
                      <a:r>
                        <a:rPr sz="1050" b="0">
                          <a:solidFill>
                            <a:srgbClr val="1C1C1E"/>
                          </a:solidFill>
                          <a:latin typeface="Calibri"/>
                        </a:rPr>
                        <a:t>“the model”, which is the kernel AND a point of P</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P</a:t>
                      </a:r>
                    </a:p>
                  </a:txBody>
                  <a:tcPr marL="82296" marR="64008" marT="32004" marB="32004" anchor="ctr">
                    <a:solidFill>
                      <a:srgbClr val="F6F3EF"/>
                    </a:solidFill>
                  </a:tcPr>
                </a:tc>
                <a:tc>
                  <a:txBody>
                    <a:bodyPr wrap="square"/>
                    <a:lstStyle/>
                    <a:p>
                      <a:pPr algn="l"/>
                      <a:r>
                        <a:rPr sz="1050" b="0">
                          <a:solidFill>
                            <a:srgbClr val="1C1C1E"/>
                          </a:solidFill>
                          <a:latin typeface="Calibri"/>
                        </a:rPr>
                        <a:t>the parameter object: everything fitted, calibrated, configured or elicited</a:t>
                      </a:r>
                    </a:p>
                  </a:txBody>
                  <a:tcPr marL="82296" marR="64008" marT="32004" marB="32004" anchor="ctr">
                    <a:solidFill>
                      <a:srgbClr val="F6F3EF"/>
                    </a:solidFill>
                  </a:tcPr>
                </a:tc>
                <a:tc>
                  <a:txBody>
                    <a:bodyPr wrap="square"/>
                    <a:lstStyle/>
                    <a:p>
                      <a:pPr algn="l"/>
                      <a:r>
                        <a:rPr sz="1050" b="0">
                          <a:solidFill>
                            <a:srgbClr val="1C1C1E"/>
                          </a:solidFill>
                          <a:latin typeface="Calibri"/>
                        </a:rPr>
                        <a:t>“the weights”, which is one way of inhabiting it</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X</a:t>
                      </a:r>
                    </a:p>
                  </a:txBody>
                  <a:tcPr marL="82296" marR="64008" marT="32004" marB="32004" anchor="ctr">
                    <a:solidFill>
                      <a:srgbClr val="FFFFFF"/>
                    </a:solidFill>
                  </a:tcPr>
                </a:tc>
                <a:tc>
                  <a:txBody>
                    <a:bodyPr wrap="square"/>
                    <a:lstStyle/>
                    <a:p>
                      <a:pPr algn="l"/>
                      <a:r>
                        <a:rPr sz="1050" b="0">
                          <a:solidFill>
                            <a:srgbClr val="1C1C1E"/>
                          </a:solidFill>
                          <a:latin typeface="Calibri"/>
                        </a:rPr>
                        <a:t>the input object — a NAMED, versioned presentation of the data</a:t>
                      </a:r>
                    </a:p>
                  </a:txBody>
                  <a:tcPr marL="82296" marR="64008" marT="32004" marB="32004" anchor="ctr">
                    <a:solidFill>
                      <a:srgbClr val="FFFFFF"/>
                    </a:solidFill>
                  </a:tcPr>
                </a:tc>
                <a:tc>
                  <a:txBody>
                    <a:bodyPr wrap="square"/>
                    <a:lstStyle/>
                    <a:p>
                      <a:pPr algn="l"/>
                      <a:r>
                        <a:rPr sz="1050" b="0">
                          <a:solidFill>
                            <a:srgbClr val="1C1C1E"/>
                          </a:solidFill>
                          <a:latin typeface="Calibri"/>
                        </a:rPr>
                        <a:t>“the features”, which are its constituents rather than its identity</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a:t>
                      </a:r>
                    </a:p>
                  </a:txBody>
                  <a:tcPr marL="82296" marR="64008" marT="32004" marB="32004" anchor="ctr">
                    <a:solidFill>
                      <a:srgbClr val="F6F3EF"/>
                    </a:solidFill>
                  </a:tcPr>
                </a:tc>
                <a:tc>
                  <a:txBody>
                    <a:bodyPr wrap="square"/>
                    <a:lstStyle/>
                    <a:p>
                      <a:pPr algn="l"/>
                      <a:r>
                        <a:rPr sz="1050" b="0">
                          <a:solidFill>
                            <a:srgbClr val="1C1C1E"/>
                          </a:solidFill>
                          <a:latin typeface="Calibri"/>
                        </a:rPr>
                        <a:t>P and X arrive together and neither is privileged</a:t>
                      </a:r>
                    </a:p>
                  </a:txBody>
                  <a:tcPr marL="82296" marR="64008" marT="32004" marB="32004" anchor="ctr">
                    <a:solidFill>
                      <a:srgbClr val="F6F3EF"/>
                    </a:solidFill>
                  </a:tcPr>
                </a:tc>
                <a:tc>
                  <a:txBody>
                    <a:bodyPr wrap="square"/>
                    <a:lstStyle/>
                    <a:p>
                      <a:pPr algn="l"/>
                      <a:r>
                        <a:rPr sz="1050" b="0">
                          <a:solidFill>
                            <a:srgbClr val="1C1C1E"/>
                          </a:solidFill>
                          <a:latin typeface="Calibri"/>
                        </a:rPr>
                        <a:t>a function of X that happens to have settings</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D(Y)</a:t>
                      </a:r>
                    </a:p>
                  </a:txBody>
                  <a:tcPr marL="82296" marR="64008" marT="32004" marB="32004" anchor="ctr">
                    <a:solidFill>
                      <a:srgbClr val="FFFFFF"/>
                    </a:solidFill>
                  </a:tcPr>
                </a:tc>
                <a:tc>
                  <a:txBody>
                    <a:bodyPr wrap="square"/>
                    <a:lstStyle/>
                    <a:p>
                      <a:pPr algn="l"/>
                      <a:r>
                        <a:rPr sz="1050" b="0">
                          <a:solidFill>
                            <a:srgbClr val="1C1C1E"/>
                          </a:solidFill>
                          <a:latin typeface="Calibri"/>
                        </a:rPr>
                        <a:t>a DISTRIBUTION over outputs, not a value</a:t>
                      </a:r>
                    </a:p>
                  </a:txBody>
                  <a:tcPr marL="82296" marR="64008" marT="32004" marB="32004" anchor="ctr">
                    <a:solidFill>
                      <a:srgbClr val="FFFFFF"/>
                    </a:solidFill>
                  </a:tcPr>
                </a:tc>
                <a:tc>
                  <a:txBody>
                    <a:bodyPr wrap="square"/>
                    <a:lstStyle/>
                    <a:p>
                      <a:pPr algn="l"/>
                      <a:r>
                        <a:rPr sz="1050" b="0">
                          <a:solidFill>
                            <a:srgbClr val="1C1C1E"/>
                          </a:solidFill>
                          <a:latin typeface="Calibri"/>
                        </a:rPr>
                        <a:t>the answer, which is one draw or one summary of it</a:t>
                      </a:r>
                    </a:p>
                  </a:txBody>
                  <a:tcPr marL="82296" marR="64008" marT="32004" marB="32004" anchor="ctr">
                    <a:solidFill>
                      <a:srgbClr val="FFFFFF"/>
                    </a:solidFill>
                  </a:tcPr>
                </a:tc>
              </a:tr>
            </a:tbl>
          </a:graphicData>
        </a:graphic>
      </p:graphicFrame>
      <p:sp>
        <p:nvSpPr>
          <p:cNvPr id="12" name="Rectangle 11"/>
          <p:cNvSpPr/>
          <p:nvPr/>
        </p:nvSpPr>
        <p:spPr>
          <a:xfrm>
            <a:off x="777240" y="4701311"/>
            <a:ext cx="10637215" cy="777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4701311"/>
            <a:ext cx="41148"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820183"/>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Five words, and four of them are usually collapsed into two. </a:t>
            </a:r>
            <a:r>
              <a:rPr sz="1050" b="0" i="0">
                <a:solidFill>
                  <a:srgbClr val="1C1C1E"/>
                </a:solidFill>
                <a:latin typeface="Calibri"/>
              </a:rPr>
              <a:t>Most of the confusion in model governance is a consequence of that collapse rather than of anything difficult.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D(Y)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 target is a distribution and not a value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Because most models do not return a number.</a:t>
            </a:r>
          </a:p>
          <a:p>
            <a:pPr>
              <a:spcBef>
                <a:spcPts val="0"/>
              </a:spcBef>
              <a:spcAft>
                <a:spcPts val="800"/>
              </a:spcAft>
            </a:pPr>
            <a:r>
              <a:rPr sz="1050" b="1" i="0">
                <a:solidFill>
                  <a:srgbClr val="A51C30"/>
                </a:solidFill>
                <a:latin typeface="Calibri"/>
              </a:rPr>
              <a:t>→  </a:t>
            </a:r>
            <a:r>
              <a:rPr sz="1050" b="1" i="0">
                <a:solidFill>
                  <a:srgbClr val="1C1C1E"/>
                </a:solidFill>
                <a:latin typeface="Calibri"/>
              </a:rPr>
              <a:t>A PD scorecard </a:t>
            </a:r>
            <a:r>
              <a:rPr sz="1050" b="0" i="0">
                <a:solidFill>
                  <a:srgbClr val="4A4F57"/>
                </a:solidFill>
                <a:latin typeface="Calibri"/>
              </a:rPr>
              <a:t>returns a probability — a distribution over {default, not}. Treat it as a number and a calibration error becomes invisible.</a:t>
            </a:r>
          </a:p>
          <a:p>
            <a:pPr>
              <a:spcBef>
                <a:spcPts val="0"/>
              </a:spcBef>
              <a:spcAft>
                <a:spcPts val="800"/>
              </a:spcAft>
            </a:pPr>
            <a:r>
              <a:rPr sz="1050" b="1" i="0">
                <a:solidFill>
                  <a:srgbClr val="A51C30"/>
                </a:solidFill>
                <a:latin typeface="Calibri"/>
              </a:rPr>
              <a:t>→  </a:t>
            </a:r>
            <a:r>
              <a:rPr sz="1050" b="1" i="0">
                <a:solidFill>
                  <a:srgbClr val="1C1C1E"/>
                </a:solidFill>
                <a:latin typeface="Calibri"/>
              </a:rPr>
              <a:t>A Monte Carlo engine </a:t>
            </a:r>
            <a:r>
              <a:rPr sz="1050" b="0" i="0">
                <a:solidFill>
                  <a:srgbClr val="4A4F57"/>
                </a:solidFill>
                <a:latin typeface="Calibri"/>
              </a:rPr>
              <a:t>returns an estimate with a standard error. The point estimate alone is a claim without its uncertainty.</a:t>
            </a:r>
          </a:p>
          <a:p>
            <a:pPr>
              <a:spcBef>
                <a:spcPts val="0"/>
              </a:spcBef>
              <a:spcAft>
                <a:spcPts val="800"/>
              </a:spcAft>
            </a:pPr>
            <a:r>
              <a:rPr sz="1050" b="1" i="0">
                <a:solidFill>
                  <a:srgbClr val="A51C30"/>
                </a:solidFill>
                <a:latin typeface="Calibri"/>
              </a:rPr>
              <a:t>→  </a:t>
            </a:r>
            <a:r>
              <a:rPr sz="1050" b="1" i="0">
                <a:solidFill>
                  <a:srgbClr val="1C1C1E"/>
                </a:solidFill>
                <a:latin typeface="Calibri"/>
              </a:rPr>
              <a:t>A GARCH </a:t>
            </a:r>
            <a:r>
              <a:rPr sz="1050" b="0" i="0">
                <a:solidFill>
                  <a:srgbClr val="4A4F57"/>
                </a:solidFill>
                <a:latin typeface="Calibri"/>
              </a:rPr>
              <a:t>returns a variance — a statement about a distribution rather than a draw from one.</a:t>
            </a:r>
          </a:p>
          <a:p>
            <a:pPr>
              <a:spcBef>
                <a:spcPts val="0"/>
              </a:spcBef>
              <a:spcAft>
                <a:spcPts val="800"/>
              </a:spcAft>
            </a:pPr>
            <a:r>
              <a:rPr sz="1050" b="1" i="0">
                <a:solidFill>
                  <a:srgbClr val="A51C30"/>
                </a:solidFill>
                <a:latin typeface="Calibri"/>
              </a:rPr>
              <a:t>→  </a:t>
            </a:r>
            <a:r>
              <a:rPr sz="1050" b="1" i="0">
                <a:solidFill>
                  <a:srgbClr val="1C1C1E"/>
                </a:solidFill>
                <a:latin typeface="Calibri"/>
              </a:rPr>
              <a:t>An LLM </a:t>
            </a:r>
            <a:r>
              <a:rPr sz="1050" b="0" i="0">
                <a:solidFill>
                  <a:srgbClr val="4A4F57"/>
                </a:solidFill>
                <a:latin typeface="Calibri"/>
              </a:rPr>
              <a:t>returns a sample. Two calls differ, and a design that assumes otherwise will be believed by whatever reads the result.</a:t>
            </a:r>
          </a:p>
        </p:txBody>
      </p:sp>
      <p:sp>
        <p:nvSpPr>
          <p:cNvPr id="11" name="Rectangle 10"/>
          <p:cNvSpPr/>
          <p:nvPr/>
        </p:nvSpPr>
        <p:spPr>
          <a:xfrm>
            <a:off x="6946824" y="1353312"/>
            <a:ext cx="4467630" cy="16459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353312"/>
            <a:ext cx="41148" cy="1645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84568" y="1472184"/>
            <a:ext cx="4010430" cy="14264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Making D(Y) part of the definition forces the question early. </a:t>
            </a:r>
            <a:r>
              <a:rPr sz="1050" b="0" i="0">
                <a:solidFill>
                  <a:srgbClr val="1C1C1E"/>
                </a:solidFill>
                <a:latin typeface="Calibri"/>
              </a:rPr>
              <a:t>A version declares its output kind — point estimate, probability, distribution, interval, ranking, text — and the warrant carries it, so an engine reporting the mean of a distribution has done something the record can name.</a:t>
            </a:r>
          </a:p>
        </p:txBody>
      </p:sp>
      <p:sp>
        <p:nvSpPr>
          <p:cNvPr id="14" name="Rectangle 13"/>
          <p:cNvSpPr/>
          <p:nvPr/>
        </p:nvSpPr>
        <p:spPr>
          <a:xfrm>
            <a:off x="6946824" y="3182112"/>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946824" y="318211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184568" y="3300984"/>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It is also where determinism lives. </a:t>
            </a:r>
            <a:r>
              <a:rPr sz="1050" b="0" i="0">
                <a:solidFill>
                  <a:srgbClr val="1C1C1E"/>
                </a:solidFill>
                <a:latin typeface="Calibri"/>
              </a:rPr>
              <a:t>“Deterministic” is a CLAIM, checked before a warrant is signed. Asserted with no pinned seed, from a runtime MAYA cannot read, it is refused rather than believed — L-W5.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TRAINABILITY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class falls out; nobody declares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20</a:t>
            </a:r>
          </a:p>
        </p:txBody>
      </p:sp>
      <p:sp>
        <p:nvSpPr>
          <p:cNvPr id="10" name="Rectangle 9"/>
          <p:cNvSpPr/>
          <p:nvPr/>
        </p:nvSpPr>
        <p:spPr>
          <a:xfrm>
            <a:off x="777240" y="1353312"/>
            <a:ext cx="5531351"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core/domain/algebra.py</a:t>
            </a:r>
          </a:p>
        </p:txBody>
      </p:sp>
      <p:sp>
        <p:nvSpPr>
          <p:cNvPr id="13" name="TextBox 12"/>
          <p:cNvSpPr txBox="1"/>
          <p:nvPr/>
        </p:nvSpPr>
        <p:spPr>
          <a:xfrm>
            <a:off x="978408" y="1746504"/>
            <a:ext cx="5165591"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parameter_kind     ×  fit_procedure   ⟹  class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none               ×  none            ⟹  T0  theory; nothing to fit</a:t>
            </a:r>
          </a:p>
          <a:p>
            <a:pPr>
              <a:lnSpc>
                <a:spcPct val="134000"/>
              </a:lnSpc>
              <a:spcBef>
                <a:spcPts val="0"/>
              </a:spcBef>
              <a:spcAft>
                <a:spcPts val="0"/>
              </a:spcAft>
            </a:pPr>
            <a:r>
              <a:rPr sz="950" b="0" i="0">
                <a:solidFill>
                  <a:srgbClr val="1C1C1E"/>
                </a:solidFill>
                <a:latin typeface="Consolas"/>
              </a:rPr>
              <a:t>calibration_set    ×  calibrate       ⟹  T1  solved against quotes</a:t>
            </a:r>
          </a:p>
          <a:p>
            <a:pPr>
              <a:lnSpc>
                <a:spcPct val="134000"/>
              </a:lnSpc>
              <a:spcBef>
                <a:spcPts val="0"/>
              </a:spcBef>
              <a:spcAft>
                <a:spcPts val="0"/>
              </a:spcAft>
            </a:pPr>
            <a:r>
              <a:rPr sz="950" b="0" i="0">
                <a:solidFill>
                  <a:srgbClr val="1C1C1E"/>
                </a:solidFill>
                <a:latin typeface="Consolas"/>
              </a:rPr>
              <a:t>estimated_coeffs   ×  estimate        ⟹  T2  a statistical estimator</a:t>
            </a:r>
          </a:p>
          <a:p>
            <a:pPr>
              <a:lnSpc>
                <a:spcPct val="134000"/>
              </a:lnSpc>
              <a:spcBef>
                <a:spcPts val="0"/>
              </a:spcBef>
              <a:spcAft>
                <a:spcPts val="0"/>
              </a:spcAft>
            </a:pPr>
            <a:r>
              <a:rPr sz="950" b="0" i="0">
                <a:solidFill>
                  <a:srgbClr val="1C1C1E"/>
                </a:solidFill>
                <a:latin typeface="Consolas"/>
              </a:rPr>
              <a:t>learned_weights    ×  train           ⟹  T3  a training run</a:t>
            </a:r>
          </a:p>
          <a:p>
            <a:pPr>
              <a:lnSpc>
                <a:spcPct val="134000"/>
              </a:lnSpc>
              <a:spcBef>
                <a:spcPts val="0"/>
              </a:spcBef>
              <a:spcAft>
                <a:spcPts val="0"/>
              </a:spcAft>
            </a:pPr>
            <a:r>
              <a:rPr sz="950" b="0" i="0">
                <a:solidFill>
                  <a:srgbClr val="1C1C1E"/>
                </a:solidFill>
                <a:latin typeface="Consolas"/>
              </a:rPr>
              <a:t>learned_weights    ×  train+adaptive  ⟹  T4  training that continues</a:t>
            </a:r>
          </a:p>
          <a:p>
            <a:pPr>
              <a:lnSpc>
                <a:spcPct val="134000"/>
              </a:lnSpc>
              <a:spcBef>
                <a:spcPts val="0"/>
              </a:spcBef>
              <a:spcAft>
                <a:spcPts val="0"/>
              </a:spcAft>
            </a:pPr>
            <a:r>
              <a:rPr sz="950" b="0" i="0">
                <a:solidFill>
                  <a:srgbClr val="1C1C1E"/>
                </a:solidFill>
                <a:latin typeface="Consolas"/>
              </a:rPr>
              <a:t>llm_configuration  ×  configure       ⟹  T5  somebody else's model</a:t>
            </a:r>
          </a:p>
          <a:p>
            <a:pPr>
              <a:lnSpc>
                <a:spcPct val="134000"/>
              </a:lnSpc>
              <a:spcBef>
                <a:spcPts val="0"/>
              </a:spcBef>
              <a:spcAft>
                <a:spcPts val="0"/>
              </a:spcAft>
            </a:pPr>
            <a:r>
              <a:rPr sz="950" b="0" i="0">
                <a:solidFill>
                  <a:srgbClr val="1C1C1E"/>
                </a:solidFill>
                <a:latin typeface="Consolas"/>
              </a:rPr>
              <a:t>opaque             ×  anything        ⟹  T6  inside a vendor binary</a:t>
            </a:r>
          </a:p>
          <a:p>
            <a:pPr>
              <a:lnSpc>
                <a:spcPct val="134000"/>
              </a:lnSpc>
              <a:spcBef>
                <a:spcPts val="0"/>
              </a:spcBef>
              <a:spcAft>
                <a:spcPts val="0"/>
              </a:spcAft>
            </a:pPr>
            <a:r>
              <a:rPr sz="950" b="0" i="0">
                <a:solidFill>
                  <a:srgbClr val="1C1C1E"/>
                </a:solidFill>
                <a:latin typeface="Consolas"/>
              </a:rPr>
              <a:t>elicited_weights   ×  elicit          ⟹  T7  a room full of people</a:t>
            </a:r>
          </a:p>
          <a:p>
            <a:pPr>
              <a:lnSpc>
                <a:spcPct val="134000"/>
              </a:lnSpc>
              <a:spcBef>
                <a:spcPts val="0"/>
              </a:spcBef>
              <a:spcAft>
                <a:spcPts val="0"/>
              </a:spcAft>
            </a:pPr>
            <a:r>
              <a:rPr sz="950" b="0" i="0">
                <a:solidFill>
                  <a:srgbClr val="1C1C1E"/>
                </a:solidFill>
                <a:latin typeface="Consolas"/>
              </a:rPr>
              <a:t>rule_set           ×  author          ⟹  T8  rules, written down</a:t>
            </a:r>
          </a:p>
        </p:txBody>
      </p:sp>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Why derivation rather than declaration</a:t>
            </a:r>
          </a:p>
          <a:p>
            <a:pPr>
              <a:lnSpc>
                <a:spcPct val="126000"/>
              </a:lnSpc>
              <a:spcBef>
                <a:spcPts val="0"/>
              </a:spcBef>
              <a:spcAft>
                <a:spcPts val="800"/>
              </a:spcAft>
            </a:pPr>
            <a:r>
              <a:rPr sz="1100" b="0" i="0">
                <a:solidFill>
                  <a:srgbClr val="1C1C1E"/>
                </a:solidFill>
                <a:latin typeface="Calibri"/>
              </a:rPr>
              <a:t>“Is this model trained?” invites the answer requiring least work — and the answer is then a field somebody typed, which every control keys on.</a:t>
            </a:r>
          </a:p>
          <a:p>
            <a:pPr>
              <a:lnSpc>
                <a:spcPct val="126000"/>
              </a:lnSpc>
              <a:spcBef>
                <a:spcPts val="0"/>
              </a:spcBef>
              <a:spcAft>
                <a:spcPts val="800"/>
              </a:spcAft>
            </a:pPr>
            <a:r>
              <a:rPr sz="1100" b="0" i="0">
                <a:solidFill>
                  <a:srgbClr val="1C1C1E"/>
                </a:solidFill>
                <a:latin typeface="Calibri"/>
              </a:rPr>
              <a:t>The class is a fact about the artefact rather than an opinion about it: two facts go in, and both are facts a reviewer can check.</a:t>
            </a:r>
          </a:p>
          <a:p>
            <a:pPr>
              <a:lnSpc>
                <a:spcPct val="126000"/>
              </a:lnSpc>
              <a:spcBef>
                <a:spcPts val="0"/>
              </a:spcBef>
              <a:spcAft>
                <a:spcPts val="0"/>
              </a:spcAft>
            </a:pPr>
            <a:r>
              <a:rPr sz="1100" b="0" i="0">
                <a:solidFill>
                  <a:srgbClr val="4A4F57"/>
                </a:solidFill>
                <a:latin typeface="Calibri"/>
              </a:rPr>
              <a:t>It is also what makes a refusal a type error rather than a policy: asking a T0 for its training set is incoherent, not disallowed.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CONSEQUENCES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problems that stop existing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21</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“Which models need validating?”</a:t>
            </a:r>
          </a:p>
        </p:txBody>
      </p:sp>
      <p:sp>
        <p:nvSpPr>
          <p:cNvPr id="14" name="TextBox 13"/>
          <p:cNvSpPr txBox="1"/>
          <p:nvPr/>
        </p:nvSpPr>
        <p:spPr>
          <a:xfrm>
            <a:off x="996695"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model. What DIFFERS is the evidence each can produce: a T0 is benchmarked against an independent implementation, a T3 is replayed.</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“Is a spreadsheet a model?”</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it maps inputs to outputs under parameters, yes. rule_set × author ⟹ T8, governed like anything else rather than kept in a register nobody reads.</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“How do we validate an LLM?”</a:t>
            </a:r>
          </a:p>
        </p:txBody>
      </p:sp>
      <p:sp>
        <p:nvSpPr>
          <p:cNvPr id="24" name="TextBox 23"/>
          <p:cNvSpPr txBox="1"/>
          <p:nvPr/>
        </p:nvSpPr>
        <p:spPr>
          <a:xfrm>
            <a:off x="996695"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P is a configuration: base model, prompt, corpus version, tools, guardrails. Each is versioned and pinned, so “what changed” is not answered with “the vendor did something”.</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“What is a model change?”</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change to f is a new version. A change to P is a new parameter set. A change to X is a model change too — L-W10.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WHY, AND WHAT IT UNIFIED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implementations of one relation, and what replaced them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22</a:t>
            </a:r>
          </a:p>
        </p:txBody>
      </p:sp>
      <p:graphicFrame>
        <p:nvGraphicFramePr>
          <p:cNvPr id="10" name="Table 9"/>
          <p:cNvGraphicFramePr>
            <a:graphicFrameLocks noGrp="1"/>
          </p:cNvGraphicFramePr>
          <p:nvPr/>
        </p:nvGraphicFramePr>
        <p:xfrm>
          <a:off x="777240" y="1764792"/>
          <a:ext cx="10637215" cy="2605997"/>
        </p:xfrm>
        <a:graphic>
          <a:graphicData uri="http://schemas.openxmlformats.org/drawingml/2006/table">
            <a:tbl>
              <a:tblPr firstRow="1">
                <a:tableStyleId>{5C22544A-7EE6-4342-B048-85BDC9FD1C3A}</a:tableStyleId>
              </a:tblPr>
              <a:tblGrid>
                <a:gridCol w="4571607"/>
                <a:gridCol w="3291557"/>
                <a:gridCol w="2774051"/>
              </a:tblGrid>
              <a:tr h="329184">
                <a:tc>
                  <a:txBody>
                    <a:bodyPr wrap="square"/>
                    <a:lstStyle/>
                    <a:p>
                      <a:pPr algn="l"/>
                      <a:r>
                        <a:rPr sz="1050" b="1">
                          <a:solidFill>
                            <a:srgbClr val="FFFFFF"/>
                          </a:solidFill>
                          <a:latin typeface="Calibri"/>
                        </a:rPr>
                        <a:t>The question somebody was asking</a:t>
                      </a:r>
                    </a:p>
                  </a:txBody>
                  <a:tcPr marL="82296" marR="64008" marT="32004" marB="32004" anchor="ctr">
                    <a:solidFill>
                      <a:srgbClr val="A51C30"/>
                    </a:solidFill>
                  </a:tcPr>
                </a:tc>
                <a:tc>
                  <a:txBody>
                    <a:bodyPr wrap="square"/>
                    <a:lstStyle/>
                    <a:p>
                      <a:pPr algn="l"/>
                      <a:r>
                        <a:rPr sz="1050" b="1">
                          <a:solidFill>
                            <a:srgbClr val="FFFFFF"/>
                          </a:solidFill>
                          <a:latin typeface="Calibri"/>
                        </a:rPr>
                        <a:t>How it used to be answered</a:t>
                      </a:r>
                    </a:p>
                  </a:txBody>
                  <a:tcPr marL="82296" marR="64008" marT="32004" marB="32004" anchor="ctr">
                    <a:solidFill>
                      <a:srgbClr val="A51C30"/>
                    </a:solidFill>
                  </a:tcPr>
                </a:tc>
                <a:tc>
                  <a:txBody>
                    <a:bodyPr wrap="square"/>
                    <a:lstStyle/>
                    <a:p>
                      <a:pPr algn="l"/>
                      <a:r>
                        <a:rPr sz="1050" b="1">
                          <a:solidFill>
                            <a:srgbClr val="FFFFFF"/>
                          </a:solidFill>
                          <a:latin typeface="Calibri"/>
                        </a:rPr>
                        <a:t>Now</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Is the replacement version substitutable?  (L-12)</a:t>
                      </a:r>
                    </a:p>
                  </a:txBody>
                  <a:tcPr marL="82296" marR="64008" marT="32004" marB="32004" anchor="ctr">
                    <a:solidFill>
                      <a:srgbClr val="FFFFFF"/>
                    </a:solidFill>
                  </a:tcPr>
                </a:tc>
                <a:tc>
                  <a:txBody>
                    <a:bodyPr wrap="square"/>
                    <a:lstStyle/>
                    <a:p>
                      <a:pPr algn="l"/>
                      <a:r>
                        <a:rPr sz="1050" b="0">
                          <a:solidFill>
                            <a:srgbClr val="1C1C1E"/>
                          </a:solidFill>
                          <a:latin typeface="Calibri"/>
                        </a:rPr>
                        <a:t>substitutable(), in core/domain/schemas.py</a:t>
                      </a:r>
                    </a:p>
                  </a:txBody>
                  <a:tcPr marL="82296" marR="64008" marT="32004" marB="32004" anchor="ctr">
                    <a:solidFill>
                      <a:srgbClr val="FFFFFF"/>
                    </a:solidFill>
                  </a:tcPr>
                </a:tc>
                <a:tc>
                  <a:txBody>
                    <a:bodyPr wrap="square"/>
                    <a:lstStyle/>
                    <a:p>
                      <a:pPr algn="l"/>
                      <a:r>
                        <a:rPr sz="1050" b="0">
                          <a:solidFill>
                            <a:srgbClr val="1C1C1E"/>
                          </a:solidFill>
                          <a:latin typeface="Calibri"/>
                        </a:rPr>
                        <a:t>refines()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Does the featureset provide what the kernel reads?  (L-W10)</a:t>
                      </a:r>
                    </a:p>
                  </a:txBody>
                  <a:tcPr marL="82296" marR="64008" marT="32004" marB="32004" anchor="ctr">
                    <a:solidFill>
                      <a:srgbClr val="F6F3EF"/>
                    </a:solidFill>
                  </a:tcPr>
                </a:tc>
                <a:tc>
                  <a:txBody>
                    <a:bodyPr wrap="square"/>
                    <a:lstStyle/>
                    <a:p>
                      <a:pPr algn="l"/>
                      <a:r>
                        <a:rPr sz="1050" b="0">
                          <a:solidFill>
                            <a:srgbClr val="1C1C1E"/>
                          </a:solidFill>
                          <a:latin typeface="Calibri"/>
                        </a:rPr>
                        <a:t>a hand-written loop over the fields</a:t>
                      </a:r>
                    </a:p>
                  </a:txBody>
                  <a:tcPr marL="82296" marR="64008" marT="32004" marB="32004" anchor="ctr">
                    <a:solidFill>
                      <a:srgbClr val="F6F3E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Does the new operating boundary refine the old one?</a:t>
                      </a:r>
                    </a:p>
                  </a:txBody>
                  <a:tcPr marL="82296" marR="64008" marT="32004" marB="32004" anchor="ctr">
                    <a:solidFill>
                      <a:srgbClr val="FFFFFF"/>
                    </a:solidFill>
                  </a:tcPr>
                </a:tc>
                <a:tc>
                  <a:txBody>
                    <a:bodyPr wrap="square"/>
                    <a:lstStyle/>
                    <a:p>
                      <a:pPr algn="l"/>
                      <a:r>
                        <a:rPr sz="1050" b="0">
                          <a:solidFill>
                            <a:srgbClr val="1C1C1E"/>
                          </a:solidFill>
                          <a:latin typeface="Calibri"/>
                        </a:rPr>
                        <a:t>refines(), in core/domain/contracts.py</a:t>
                      </a:r>
                    </a:p>
                  </a:txBody>
                  <a:tcPr marL="82296" marR="64008" marT="32004" marB="32004" anchor="ctr">
                    <a:solidFill>
                      <a:srgbClr val="FFFFF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Does the source's output arrive where the target reads?  (L-21)</a:t>
                      </a:r>
                    </a:p>
                  </a:txBody>
                  <a:tcPr marL="82296" marR="64008" marT="32004" marB="32004" anchor="ctr">
                    <a:solidFill>
                      <a:srgbClr val="F6F3EF"/>
                    </a:solidFill>
                  </a:tcPr>
                </a:tc>
                <a:tc>
                  <a:txBody>
                    <a:bodyPr wrap="square"/>
                    <a:lstStyle/>
                    <a:p>
                      <a:pPr algn="l"/>
                      <a:r>
                        <a:rPr sz="1050" b="0">
                          <a:solidFill>
                            <a:srgbClr val="1C1C1E"/>
                          </a:solidFill>
                          <a:latin typeface="Calibri"/>
                        </a:rPr>
                        <a:t>IT DID NOT ASK</a:t>
                      </a:r>
                    </a:p>
                  </a:txBody>
                  <a:tcPr marL="82296" marR="64008" marT="32004" marB="32004" anchor="ctr">
                    <a:solidFill>
                      <a:srgbClr val="F6F3EF"/>
                    </a:solidFill>
                  </a:tcPr>
                </a:tc>
                <a:tc>
                  <a:txBody>
                    <a:bodyPr wrap="square"/>
                    <a:lstStyle/>
                    <a:p>
                      <a:pPr algn="l"/>
                      <a:r>
                        <a:rPr sz="1050" b="0">
                          <a:solidFill>
                            <a:srgbClr val="1C1C1E"/>
                          </a:solidFill>
                          <a:latin typeface="Calibri"/>
                        </a:rPr>
                        <a:t>A ⊑ B</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Is this child a refinement of its parent?</a:t>
                      </a:r>
                    </a:p>
                  </a:txBody>
                  <a:tcPr marL="82296" marR="64008" marT="32004" marB="32004" anchor="ctr">
                    <a:solidFill>
                      <a:srgbClr val="FFFFF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FFFFF"/>
                    </a:solidFill>
                  </a:tcPr>
                </a:tc>
                <a:tc>
                  <a:txBody>
                    <a:bodyPr wrap="square"/>
                    <a:lstStyle/>
                    <a:p>
                      <a:pPr algn="l"/>
                      <a:r>
                        <a:rPr sz="1050" b="0">
                          <a:solidFill>
                            <a:srgbClr val="1C1C1E"/>
                          </a:solidFill>
                          <a:latin typeface="Calibri"/>
                        </a:rPr>
                        <a:t>A ⊑ B     new</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What must a featureset provide to serve both models?</a:t>
                      </a:r>
                    </a:p>
                  </a:txBody>
                  <a:tcPr marL="82296" marR="64008" marT="32004" marB="32004" anchor="ctr">
                    <a:solidFill>
                      <a:srgbClr val="F6F3E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6F3EF"/>
                    </a:solidFill>
                  </a:tcPr>
                </a:tc>
                <a:tc>
                  <a:txBody>
                    <a:bodyPr wrap="square"/>
                    <a:lstStyle/>
                    <a:p>
                      <a:pPr algn="l"/>
                      <a:r>
                        <a:rPr sz="1050" b="0">
                          <a:solidFill>
                            <a:srgbClr val="1C1C1E"/>
                          </a:solidFill>
                          <a:latin typeface="Calibri"/>
                        </a:rPr>
                        <a:t>their meet     new</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What do two versions agree on?</a:t>
                      </a:r>
                    </a:p>
                  </a:txBody>
                  <a:tcPr marL="82296" marR="64008" marT="32004" marB="32004" anchor="ctr">
                    <a:solidFill>
                      <a:srgbClr val="FFFFF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FFFFF"/>
                    </a:solidFill>
                  </a:tcPr>
                </a:tc>
                <a:tc>
                  <a:txBody>
                    <a:bodyPr wrap="square"/>
                    <a:lstStyle/>
                    <a:p>
                      <a:pPr algn="l"/>
                      <a:r>
                        <a:rPr sz="1050" b="0">
                          <a:solidFill>
                            <a:srgbClr val="1C1C1E"/>
                          </a:solidFill>
                          <a:latin typeface="Calibri"/>
                        </a:rPr>
                        <a:t>their join     new</a:t>
                      </a:r>
                    </a:p>
                  </a:txBody>
                  <a:tcPr marL="82296" marR="64008" marT="32004" marB="32004" anchor="ctr">
                    <a:solidFill>
                      <a:srgbClr val="FFFFFF"/>
                    </a:solidFill>
                  </a:tcPr>
                </a:tc>
              </a:tr>
            </a:tbl>
          </a:graphicData>
        </a:graphic>
      </p:graphicFrame>
      <p:sp>
        <p:nvSpPr>
          <p:cNvPr id="11" name="Rectangle 10"/>
          <p:cNvSpPr/>
          <p:nvPr/>
        </p:nvSpPr>
        <p:spPr>
          <a:xfrm>
            <a:off x="777240" y="4645113"/>
            <a:ext cx="10637215" cy="16459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45113"/>
            <a:ext cx="41148" cy="1645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763985"/>
            <a:ext cx="10180015" cy="14264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Four implementations of one relation disagree eventually, and the direction is predictable: toward PERMITTING MORE, because that is the direction in which nobody files a bug. </a:t>
            </a:r>
            <a:r>
              <a:rPr sz="1050" b="0" i="0">
                <a:solidFill>
                  <a:srgbClr val="1C1C1E"/>
                </a:solidFill>
                <a:latin typeface="Calibri"/>
              </a:rPr>
              <a:t>The fourth row was the worst — a dependency graph whose edges were never checked. L-20 states the structure the one relation has, and the test asserts it over generated schemas: the order — a preorder, and a partial order on canonical form — meet below both, join above both, idempotence, commutativity, associativity, absorption, and the link A ⊑ B ⟺ A ⊓ B = A that makes it a lattice ORDER rather than an order and two unrelated operations. The three marked new are questions a practitioner asks out loud in a meeting and nothing could answer.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THE ORDER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 B — “A can stand in for B”</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23</a:t>
            </a:r>
          </a:p>
        </p:txBody>
      </p:sp>
      <p:sp>
        <p:nvSpPr>
          <p:cNvPr id="10" name="Rectangle 9"/>
          <p:cNvSpPr/>
          <p:nvPr/>
        </p:nvSpPr>
        <p:spPr>
          <a:xfrm>
            <a:off x="777240" y="1353312"/>
            <a:ext cx="5744096" cy="259326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59326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core/domain/lattice.py</a:t>
            </a:r>
          </a:p>
        </p:txBody>
      </p:sp>
      <p:sp>
        <p:nvSpPr>
          <p:cNvPr id="13" name="TextBox 12"/>
          <p:cNvSpPr txBox="1"/>
          <p:nvPr/>
        </p:nvSpPr>
        <p:spPr>
          <a:xfrm>
            <a:off x="978408" y="1746504"/>
            <a:ext cx="5378336" cy="2117773"/>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A ⊑ B   iff   A has every field B has,</a:t>
            </a:r>
          </a:p>
          <a:p>
            <a:pPr>
              <a:lnSpc>
                <a:spcPct val="134000"/>
              </a:lnSpc>
              <a:spcBef>
                <a:spcPts val="0"/>
              </a:spcBef>
              <a:spcAft>
                <a:spcPts val="0"/>
              </a:spcAft>
            </a:pPr>
            <a:r>
              <a:rPr sz="1050" b="0" i="0">
                <a:solidFill>
                  <a:srgbClr val="1C1C1E"/>
                </a:solidFill>
                <a:latin typeface="Consolas"/>
              </a:rPr>
              <a:t>              each accepting AT LEAST what B's accepted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a slot is one named field of a schema</a:t>
            </a:r>
          </a:p>
          <a:p>
            <a:pPr>
              <a:lnSpc>
                <a:spcPct val="134000"/>
              </a:lnSpc>
              <a:spcBef>
                <a:spcPts val="0"/>
              </a:spcBef>
              <a:spcAft>
                <a:spcPts val="0"/>
              </a:spcAft>
            </a:pPr>
            <a:r>
              <a:rPr sz="1050" b="0" i="0">
                <a:solidFill>
                  <a:srgbClr val="7A7F87"/>
                </a:solidFill>
                <a:latin typeface="Consolas"/>
              </a:rPr>
              <a:t># extra fields in A are fine — they are simply not read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reflexive and transitive. A ⊑ B and B ⊑ A gives the same fields</a:t>
            </a:r>
          </a:p>
          <a:p>
            <a:pPr>
              <a:lnSpc>
                <a:spcPct val="134000"/>
              </a:lnSpc>
              <a:spcBef>
                <a:spcPts val="0"/>
              </a:spcBef>
              <a:spcAft>
                <a:spcPts val="0"/>
              </a:spcAft>
            </a:pPr>
            <a:r>
              <a:rPr sz="1050" b="0" i="0">
                <a:solidFill>
                  <a:srgbClr val="7A7F87"/>
                </a:solidFill>
                <a:latin typeface="Consolas"/>
              </a:rPr>
              <a:t># as a SET, so it is a preorder — and a partial order on the</a:t>
            </a:r>
          </a:p>
          <a:p>
            <a:pPr>
              <a:lnSpc>
                <a:spcPct val="134000"/>
              </a:lnSpc>
              <a:spcBef>
                <a:spcPts val="0"/>
              </a:spcBef>
              <a:spcAft>
                <a:spcPts val="0"/>
              </a:spcAft>
            </a:pPr>
            <a:r>
              <a:rPr sz="1050" b="0" i="0">
                <a:solidFill>
                  <a:srgbClr val="7A7F87"/>
                </a:solidFill>
                <a:latin typeface="Consolas"/>
              </a:rPr>
              <a:t># name-sorted canonical form every constructor here produces</a:t>
            </a:r>
          </a:p>
        </p:txBody>
      </p:sp>
      <p:sp>
        <p:nvSpPr>
          <p:cNvPr id="14" name="Rectangle 13"/>
          <p:cNvSpPr/>
          <p:nvPr/>
        </p:nvSpPr>
        <p:spPr>
          <a:xfrm>
            <a:off x="777240" y="4202605"/>
            <a:ext cx="5744096"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202605"/>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321477"/>
            <a:ext cx="5286896"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direction surprises people. </a:t>
            </a:r>
            <a:r>
              <a:rPr sz="1050" b="0" i="0">
                <a:solidFill>
                  <a:srgbClr val="1C1C1E"/>
                </a:solidFill>
                <a:latin typeface="Calibri"/>
              </a:rPr>
              <a:t>A subtype is usually the NARROWER thing, so “A refines B” sounds as though A should accept less. It is the other way round: to stand in for B, A must accept everything B accepted.</a:t>
            </a:r>
          </a:p>
        </p:txBody>
      </p:sp>
      <p:sp>
        <p:nvSpPr>
          <p:cNvPr id="17" name="TextBox 16"/>
          <p:cNvSpPr txBox="1"/>
          <p:nvPr/>
        </p:nvSpPr>
        <p:spPr>
          <a:xfrm>
            <a:off x="6946824" y="1353312"/>
            <a:ext cx="4467630" cy="365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Join always; meet when it can</a:t>
            </a:r>
          </a:p>
        </p:txBody>
      </p:sp>
      <p:sp>
        <p:nvSpPr>
          <p:cNvPr id="18" name="TextBox 17"/>
          <p:cNvSpPr txBox="1"/>
          <p:nvPr/>
        </p:nvSpPr>
        <p:spPr>
          <a:xfrm>
            <a:off x="6946824" y="18105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meet  A ⊓ B</a:t>
            </a:r>
          </a:p>
          <a:p>
            <a:pPr>
              <a:lnSpc>
                <a:spcPct val="120000"/>
              </a:lnSpc>
              <a:spcBef>
                <a:spcPts val="0"/>
              </a:spcBef>
              <a:spcAft>
                <a:spcPts val="0"/>
              </a:spcAft>
            </a:pPr>
            <a:r>
              <a:rPr sz="950" b="0" i="0">
                <a:solidFill>
                  <a:srgbClr val="4A4F57"/>
                </a:solidFill>
                <a:latin typeface="Calibri"/>
              </a:rPr>
              <a:t>the UNION of the fields, widened to accept both — what a featureset must provide to serve two models at once</a:t>
            </a:r>
          </a:p>
        </p:txBody>
      </p:sp>
      <p:sp>
        <p:nvSpPr>
          <p:cNvPr id="19" name="TextBox 18"/>
          <p:cNvSpPr txBox="1"/>
          <p:nvPr/>
        </p:nvSpPr>
        <p:spPr>
          <a:xfrm>
            <a:off x="6946824" y="27249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join  A ⊔ B</a:t>
            </a:r>
          </a:p>
          <a:p>
            <a:pPr>
              <a:lnSpc>
                <a:spcPct val="120000"/>
              </a:lnSpc>
              <a:spcBef>
                <a:spcPts val="0"/>
              </a:spcBef>
              <a:spcAft>
                <a:spcPts val="0"/>
              </a:spcAft>
            </a:pPr>
            <a:r>
              <a:rPr sz="950" b="0" i="0">
                <a:solidFill>
                  <a:srgbClr val="4A4F57"/>
                </a:solidFill>
                <a:latin typeface="Calibri"/>
              </a:rPr>
              <a:t>the INTERSECTION, narrowed to what both accepted — what a consumer of either may rely on</a:t>
            </a:r>
          </a:p>
        </p:txBody>
      </p:sp>
      <p:sp>
        <p:nvSpPr>
          <p:cNvPr id="20" name="TextBox 19"/>
          <p:cNvSpPr txBox="1"/>
          <p:nvPr/>
        </p:nvSpPr>
        <p:spPr>
          <a:xfrm>
            <a:off x="6946824" y="36393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top</a:t>
            </a:r>
          </a:p>
          <a:p>
            <a:pPr>
              <a:lnSpc>
                <a:spcPct val="120000"/>
              </a:lnSpc>
              <a:spcBef>
                <a:spcPts val="0"/>
              </a:spcBef>
              <a:spcAft>
                <a:spcPts val="0"/>
              </a:spcAft>
            </a:pPr>
            <a:r>
              <a:rPr sz="950" b="0" i="0">
                <a:solidFill>
                  <a:srgbClr val="4A4F57"/>
                </a:solidFill>
                <a:latin typeface="Calibri"/>
              </a:rPr>
              <a:t>the empty schema: it demands nothing, so everything can stand in for it</a:t>
            </a:r>
          </a:p>
        </p:txBody>
      </p:sp>
      <p:sp>
        <p:nvSpPr>
          <p:cNvPr id="21" name="Rectangle 20"/>
          <p:cNvSpPr/>
          <p:nvPr/>
        </p:nvSpPr>
        <p:spPr>
          <a:xfrm>
            <a:off x="6946824" y="4599432"/>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6946824" y="45994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7184568" y="4718304"/>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So it is a join-semilattice with PARTIAL meets, </a:t>
            </a:r>
            <a:r>
              <a:rPr sz="1050" b="0" i="0">
                <a:solidFill>
                  <a:srgbClr val="1C1C1E"/>
                </a:solidFill>
                <a:latin typeface="Calibri"/>
              </a:rPr>
              <a:t>rather than a lattice outright — and the partiality is informative. Two schemas whose shared field carries two different types have no meet at all. The honest answer to “can one featureset serve both these models” is then no, with the field named.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COMPOSITION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fold, at two levels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24</a:t>
            </a:r>
          </a:p>
        </p:txBody>
      </p:sp>
      <p:sp>
        <p:nvSpPr>
          <p:cNvPr id="10" name="Rectangle 9"/>
          <p:cNvSpPr/>
          <p:nvPr/>
        </p:nvSpPr>
        <p:spPr>
          <a:xfrm>
            <a:off x="777240" y="1353312"/>
            <a:ext cx="5956840" cy="169266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9266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core/features/composition.py</a:t>
            </a:r>
          </a:p>
        </p:txBody>
      </p:sp>
      <p:sp>
        <p:nvSpPr>
          <p:cNvPr id="13" name="TextBox 12"/>
          <p:cNvSpPr txBox="1"/>
          <p:nvPr/>
        </p:nvSpPr>
        <p:spPr>
          <a:xfrm>
            <a:off x="978408" y="1746504"/>
            <a:ext cx="5591080" cy="1217180"/>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compose([a, b, c])  =  merge(merge(a, b), c)</a:t>
            </a:r>
          </a:p>
          <a:p>
            <a:pPr>
              <a:lnSpc>
                <a:spcPct val="134000"/>
              </a:lnSpc>
              <a:spcBef>
                <a:spcPts val="0"/>
              </a:spcBef>
              <a:spcAft>
                <a:spcPts val="0"/>
              </a:spcAft>
            </a:pPr>
            <a:r>
              <a:rPr sz="1050" b="0" i="0">
                <a:solidFill>
                  <a:srgbClr val="1C1C1E"/>
                </a:solidFill>
                <a:latin typeface="Consolas"/>
              </a:rPr>
              <a:t>                       then the child's own add / drop / override</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left to right, RIGHTMOST WINS, {} the identity</a:t>
            </a:r>
          </a:p>
          <a:p>
            <a:pPr>
              <a:lnSpc>
                <a:spcPct val="134000"/>
              </a:lnSpc>
              <a:spcBef>
                <a:spcPts val="0"/>
              </a:spcBef>
              <a:spcAft>
                <a:spcPts val="0"/>
              </a:spcAft>
            </a:pPr>
            <a:r>
              <a:rPr sz="1050" b="0" i="0">
                <a:solidFill>
                  <a:srgbClr val="7A7F87"/>
                </a:solidFill>
                <a:latin typeface="Consolas"/>
              </a:rPr>
              <a:t># a monoid: an identity, and grouping that does not matter  (L-19)</a:t>
            </a:r>
          </a:p>
        </p:txBody>
      </p:sp>
      <p:sp>
        <p:nvSpPr>
          <p:cNvPr id="14" name="TextBox 13"/>
          <p:cNvSpPr txBox="1"/>
          <p:nvPr/>
        </p:nvSpPr>
        <p:spPr>
          <a:xfrm>
            <a:off x="777240" y="3320300"/>
            <a:ext cx="5956840" cy="21945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Three things a monoid buys</a:t>
            </a:r>
          </a:p>
          <a:p>
            <a:pPr>
              <a:spcBef>
                <a:spcPts val="0"/>
              </a:spcBef>
              <a:spcAft>
                <a:spcPts val="700"/>
              </a:spcAft>
            </a:pPr>
            <a:r>
              <a:rPr sz="1000" b="1" i="0">
                <a:solidFill>
                  <a:srgbClr val="A51C30"/>
                </a:solidFill>
                <a:latin typeface="Calibri"/>
              </a:rPr>
              <a:t>→  </a:t>
            </a:r>
            <a:r>
              <a:rPr sz="1000" b="0" i="0">
                <a:solidFill>
                  <a:srgbClr val="4A4F57"/>
                </a:solidFill>
                <a:latin typeface="Calibri"/>
              </a:rPr>
              <a:t>Order of GROUPING does not matter, so “which order did we build this in” stops being a question with a consequence.</a:t>
            </a:r>
          </a:p>
          <a:p>
            <a:pPr>
              <a:spcBef>
                <a:spcPts val="0"/>
              </a:spcBef>
              <a:spcAft>
                <a:spcPts val="700"/>
              </a:spcAft>
            </a:pPr>
            <a:r>
              <a:rPr sz="1000" b="1" i="0">
                <a:solidFill>
                  <a:srgbClr val="A51C30"/>
                </a:solidFill>
                <a:latin typeface="Calibri"/>
              </a:rPr>
              <a:t>→  </a:t>
            </a:r>
            <a:r>
              <a:rPr sz="1000" b="0" i="0">
                <a:solidFill>
                  <a:srgbClr val="4A4F57"/>
                </a:solidFill>
                <a:latin typeface="Calibri"/>
              </a:rPr>
              <a:t>Precedence is a PROPERTY rather than a preference: leftmost is least prominent, so a child of three parents has one answer rather than three.</a:t>
            </a:r>
          </a:p>
          <a:p>
            <a:pPr>
              <a:spcBef>
                <a:spcPts val="0"/>
              </a:spcBef>
              <a:spcAft>
                <a:spcPts val="700"/>
              </a:spcAft>
            </a:pPr>
            <a:r>
              <a:rPr sz="1000" b="1" i="0">
                <a:solidFill>
                  <a:srgbClr val="A51C30"/>
                </a:solidFill>
                <a:latin typeface="Calibri"/>
              </a:rPr>
              <a:t>→  </a:t>
            </a:r>
            <a:r>
              <a:rPr sz="1000" b="0" i="0">
                <a:solidFill>
                  <a:srgbClr val="4A4F57"/>
                </a:solidFill>
                <a:latin typeface="Calibri"/>
              </a:rPr>
              <a:t>“A combination of features is a feature” becomes a statement about the fold, which is why features and featuresets share one mechanism.</a:t>
            </a:r>
          </a:p>
        </p:txBody>
      </p:sp>
      <p:graphicFrame>
        <p:nvGraphicFramePr>
          <p:cNvPr id="15" name="Table 14"/>
          <p:cNvGraphicFramePr>
            <a:graphicFrameLocks noGrp="1"/>
          </p:cNvGraphicFramePr>
          <p:nvPr/>
        </p:nvGraphicFramePr>
        <p:xfrm>
          <a:off x="7159569" y="1353312"/>
          <a:ext cx="4254885" cy="1437386"/>
        </p:xfrm>
        <a:graphic>
          <a:graphicData uri="http://schemas.openxmlformats.org/drawingml/2006/table">
            <a:tbl>
              <a:tblPr firstRow="1">
                <a:tableStyleId>{5C22544A-7EE6-4342-B048-85BDC9FD1C3A}</a:tableStyleId>
              </a:tblPr>
              <a:tblGrid>
                <a:gridCol w="1513910"/>
                <a:gridCol w="2740975"/>
              </a:tblGrid>
              <a:tr h="487172">
                <a:tc>
                  <a:txBody>
                    <a:bodyPr wrap="square"/>
                    <a:lstStyle/>
                    <a:p>
                      <a:pPr algn="l"/>
                      <a:r>
                        <a:rPr sz="1000" b="1">
                          <a:solidFill>
                            <a:srgbClr val="FFFFFF"/>
                          </a:solidFill>
                          <a:latin typeface="Calibri"/>
                        </a:rPr>
                        <a:t>Edit a child may make</a:t>
                      </a:r>
                    </a:p>
                  </a:txBody>
                  <a:tcPr marL="82296" marR="64008" marT="32004" marB="32004" anchor="ctr">
                    <a:solidFill>
                      <a:srgbClr val="A51C30"/>
                    </a:solidFill>
                  </a:tcPr>
                </a:tc>
                <a:tc>
                  <a:txBody>
                    <a:bodyPr wrap="square"/>
                    <a:lstStyle/>
                    <a:p>
                      <a:pPr algn="l"/>
                      <a:r>
                        <a:rPr sz="1000" b="1">
                          <a:solidFill>
                            <a:srgbClr val="FFFFFF"/>
                          </a:solidFill>
                          <a:latin typeface="Calibri"/>
                        </a:rPr>
                        <a:t>Refused when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add</a:t>
                      </a:r>
                    </a:p>
                  </a:txBody>
                  <a:tcPr marL="82296" marR="64008" marT="32004" marB="32004" anchor="ctr">
                    <a:solidFill>
                      <a:srgbClr val="FFFFFF"/>
                    </a:solidFill>
                  </a:tcPr>
                </a:tc>
                <a:tc>
                  <a:txBody>
                    <a:bodyPr wrap="square"/>
                    <a:lstStyle/>
                    <a:p>
                      <a:pPr algn="l"/>
                      <a:r>
                        <a:rPr sz="1000" b="0">
                          <a:solidFill>
                            <a:srgbClr val="1C1C1E"/>
                          </a:solidFill>
                          <a:latin typeface="Calibri"/>
                        </a:rPr>
                        <a:t>the member already exists — say override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drop</a:t>
                      </a:r>
                    </a:p>
                  </a:txBody>
                  <a:tcPr marL="82296" marR="64008" marT="32004" marB="32004" anchor="ctr">
                    <a:solidFill>
                      <a:srgbClr val="F6F3EF"/>
                    </a:solidFill>
                  </a:tcPr>
                </a:tc>
                <a:tc>
                  <a:txBody>
                    <a:bodyPr wrap="square"/>
                    <a:lstStyle/>
                    <a:p>
                      <a:pPr algn="l"/>
                      <a:r>
                        <a:rPr sz="1000" b="0">
                          <a:solidFill>
                            <a:srgbClr val="1C1C1E"/>
                          </a:solidFill>
                          <a:latin typeface="Calibri"/>
                        </a:rPr>
                        <a:t>no parent has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override</a:t>
                      </a:r>
                    </a:p>
                  </a:txBody>
                  <a:tcPr marL="82296" marR="64008" marT="32004" marB="32004" anchor="ctr">
                    <a:solidFill>
                      <a:srgbClr val="FFFFFF"/>
                    </a:solidFill>
                  </a:tcPr>
                </a:tc>
                <a:tc>
                  <a:txBody>
                    <a:bodyPr wrap="square"/>
                    <a:lstStyle/>
                    <a:p>
                      <a:pPr algn="l"/>
                      <a:r>
                        <a:rPr sz="1000" b="0">
                          <a:solidFill>
                            <a:srgbClr val="1C1C1E"/>
                          </a:solidFill>
                          <a:latin typeface="Calibri"/>
                        </a:rPr>
                        <a:t>no parent has it — say add</a:t>
                      </a:r>
                    </a:p>
                  </a:txBody>
                  <a:tcPr marL="82296" marR="64008" marT="32004" marB="32004" anchor="ctr">
                    <a:solidFill>
                      <a:srgbClr val="FFFFFF"/>
                    </a:solidFill>
                  </a:tcPr>
                </a:tc>
              </a:tr>
            </a:tbl>
          </a:graphicData>
        </a:graphic>
      </p:graphicFrame>
      <p:sp>
        <p:nvSpPr>
          <p:cNvPr id="16" name="Rectangle 15"/>
          <p:cNvSpPr/>
          <p:nvPr/>
        </p:nvSpPr>
        <p:spPr>
          <a:xfrm>
            <a:off x="7159569" y="3046730"/>
            <a:ext cx="4254886"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046730"/>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165602"/>
            <a:ext cx="3797686"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None of the three is idempotent, deliberately. </a:t>
            </a:r>
            <a:r>
              <a:rPr sz="1050" b="0" i="0">
                <a:solidFill>
                  <a:srgbClr val="1C1C1E"/>
                </a:solidFill>
                <a:latin typeface="Calibri"/>
              </a:rPr>
              <a:t>An operation that silently did nothing is one somebody believes happened, and the child then differs from what its author wrote with nothing to show for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WHAT TWO EDITORS RELY 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Independent edits commute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25</a:t>
            </a:r>
          </a:p>
        </p:txBody>
      </p:sp>
      <p:sp>
        <p:nvSpPr>
          <p:cNvPr id="10" name="Rectangle 9"/>
          <p:cNvSpPr/>
          <p:nvPr/>
        </p:nvSpPr>
        <p:spPr>
          <a:xfrm>
            <a:off x="777240" y="1353312"/>
            <a:ext cx="5956840" cy="146752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675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L-20</a:t>
            </a:r>
          </a:p>
        </p:txBody>
      </p:sp>
      <p:sp>
        <p:nvSpPr>
          <p:cNvPr id="13" name="TextBox 12"/>
          <p:cNvSpPr txBox="1"/>
          <p:nvPr/>
        </p:nvSpPr>
        <p:spPr>
          <a:xfrm>
            <a:off x="978408" y="1746504"/>
            <a:ext cx="5591080" cy="992032"/>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op₁ · op₂  =  op₂ · op₁      whenever they name DIFFERENT members</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drop(x) · add(x, τ)             =  id</a:t>
            </a:r>
          </a:p>
          <a:p>
            <a:pPr>
              <a:lnSpc>
                <a:spcPct val="134000"/>
              </a:lnSpc>
              <a:spcBef>
                <a:spcPts val="0"/>
              </a:spcBef>
              <a:spcAft>
                <a:spcPts val="0"/>
              </a:spcAft>
            </a:pPr>
            <a:r>
              <a:rPr sz="1050" b="0" i="0">
                <a:solidFill>
                  <a:srgbClr val="1C1C1E"/>
                </a:solidFill>
                <a:latin typeface="Consolas"/>
              </a:rPr>
              <a:t>override(x, σ) · override(x, τ) =  override(x, σ)</a:t>
            </a:r>
          </a:p>
        </p:txBody>
      </p:sp>
      <p:sp>
        <p:nvSpPr>
          <p:cNvPr id="14" name="Rectangle 13"/>
          <p:cNvSpPr/>
          <p:nvPr/>
        </p:nvSpPr>
        <p:spPr>
          <a:xfrm>
            <a:off x="777240" y="3095152"/>
            <a:ext cx="5956840"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095152"/>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214024"/>
            <a:ext cx="5499640"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This is what two people editing a shared featureset rely on. </a:t>
            </a:r>
            <a:r>
              <a:rPr sz="1050" b="0" i="0">
                <a:solidFill>
                  <a:srgbClr val="1C1C1E"/>
                </a:solidFill>
                <a:latin typeface="Calibri"/>
              </a:rPr>
              <a:t>If independent edits commute, the order their edits happened to arrive in carries no meaning. That is the difference between a merge and a conflict whose resolution is itself a decision nobody recorded — and it is not a property one edit at a time can demonstrate.</a:t>
            </a:r>
          </a:p>
        </p:txBody>
      </p:sp>
      <p:sp>
        <p:nvSpPr>
          <p:cNvPr id="17" name="TextBox 16"/>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is NOT claimed</a:t>
            </a:r>
          </a:p>
          <a:p>
            <a:pPr>
              <a:lnSpc>
                <a:spcPct val="125000"/>
              </a:lnSpc>
              <a:spcBef>
                <a:spcPts val="0"/>
              </a:spcBef>
              <a:spcAft>
                <a:spcPts val="800"/>
              </a:spcAft>
            </a:pPr>
            <a:r>
              <a:rPr sz="1100" b="0" i="0">
                <a:solidFill>
                  <a:srgbClr val="1C1C1E"/>
                </a:solidFill>
                <a:latin typeface="Calibri"/>
              </a:rPr>
              <a:t>Dependent edits are deliberately not claimed to commute.</a:t>
            </a:r>
          </a:p>
          <a:p>
            <a:pPr>
              <a:lnSpc>
                <a:spcPct val="128000"/>
              </a:lnSpc>
              <a:spcBef>
                <a:spcPts val="0"/>
              </a:spcBef>
              <a:spcAft>
                <a:spcPts val="0"/>
              </a:spcAft>
            </a:pPr>
            <a:r>
              <a:rPr sz="1050" b="0" i="0">
                <a:solidFill>
                  <a:srgbClr val="4A4F57"/>
                </a:solidFill>
                <a:latin typeface="Calibri"/>
              </a:rPr>
              <a:t>override then drop of the same field is not drop then override — the second order is refused outright. A law stated more widely than it holds is a law somebody will rely on where it does not.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THE PROBLEM</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fact has two timestamps, and one of them is skipped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26</a:t>
            </a:r>
          </a:p>
        </p:txBody>
      </p:sp>
      <p:graphicFrame>
        <p:nvGraphicFramePr>
          <p:cNvPr id="10" name="Table 9"/>
          <p:cNvGraphicFramePr>
            <a:graphicFrameLocks noGrp="1"/>
          </p:cNvGraphicFramePr>
          <p:nvPr/>
        </p:nvGraphicFramePr>
        <p:xfrm>
          <a:off x="777240" y="1764792"/>
          <a:ext cx="10637215" cy="1630220"/>
        </p:xfrm>
        <a:graphic>
          <a:graphicData uri="http://schemas.openxmlformats.org/drawingml/2006/table">
            <a:tbl>
              <a:tblPr firstRow="1">
                <a:tableStyleId>{5C22544A-7EE6-4342-B048-85BDC9FD1C3A}</a:tableStyleId>
              </a:tblPr>
              <a:tblGrid>
                <a:gridCol w="2651532"/>
                <a:gridCol w="3931582"/>
                <a:gridCol w="4054101"/>
              </a:tblGrid>
              <a:tr h="329184">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event_ts — event time</a:t>
                      </a:r>
                    </a:p>
                  </a:txBody>
                  <a:tcPr marL="82296" marR="64008" marT="32004" marB="32004" anchor="ctr">
                    <a:solidFill>
                      <a:srgbClr val="A51C30"/>
                    </a:solidFill>
                  </a:tcPr>
                </a:tc>
                <a:tc>
                  <a:txBody>
                    <a:bodyPr wrap="square"/>
                    <a:lstStyle/>
                    <a:p>
                      <a:pPr algn="l"/>
                      <a:r>
                        <a:rPr sz="1050" b="1">
                          <a:solidFill>
                            <a:srgbClr val="FFFFFF"/>
                          </a:solidFill>
                          <a:latin typeface="Calibri"/>
                        </a:rPr>
                        <a:t>ingest_ts — ingest time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Answers</a:t>
                      </a:r>
                    </a:p>
                  </a:txBody>
                  <a:tcPr marL="82296" marR="64008" marT="32004" marB="32004" anchor="ctr">
                    <a:solidFill>
                      <a:srgbClr val="FFFFFF"/>
                    </a:solidFill>
                  </a:tcPr>
                </a:tc>
                <a:tc>
                  <a:txBody>
                    <a:bodyPr wrap="square"/>
                    <a:lstStyle/>
                    <a:p>
                      <a:pPr algn="l"/>
                      <a:r>
                        <a:rPr sz="1050" b="0">
                          <a:solidFill>
                            <a:srgbClr val="1C1C1E"/>
                          </a:solidFill>
                          <a:latin typeface="Calibri"/>
                        </a:rPr>
                        <a:t>when the fact was TRUE</a:t>
                      </a:r>
                    </a:p>
                  </a:txBody>
                  <a:tcPr marL="82296" marR="64008" marT="32004" marB="32004" anchor="ctr">
                    <a:solidFill>
                      <a:srgbClr val="FFFFFF"/>
                    </a:solidFill>
                  </a:tcPr>
                </a:tc>
                <a:tc>
                  <a:txBody>
                    <a:bodyPr wrap="square"/>
                    <a:lstStyle/>
                    <a:p>
                      <a:pPr algn="l"/>
                      <a:r>
                        <a:rPr sz="1050" b="0">
                          <a:solidFill>
                            <a:srgbClr val="1C1C1E"/>
                          </a:solidFill>
                          <a:latin typeface="Calibri"/>
                        </a:rPr>
                        <a:t>when it became KNOWN to us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A borrower's Q1 accounts</a:t>
                      </a:r>
                    </a:p>
                  </a:txBody>
                  <a:tcPr marL="82296" marR="64008" marT="32004" marB="32004" anchor="ctr">
                    <a:solidFill>
                      <a:srgbClr val="F6F3EF"/>
                    </a:solidFill>
                  </a:tcPr>
                </a:tc>
                <a:tc>
                  <a:txBody>
                    <a:bodyPr wrap="square"/>
                    <a:lstStyle/>
                    <a:p>
                      <a:pPr algn="l"/>
                      <a:r>
                        <a:rPr sz="1050" b="0">
                          <a:solidFill>
                            <a:srgbClr val="1C1C1E"/>
                          </a:solidFill>
                          <a:latin typeface="Calibri"/>
                        </a:rPr>
                        <a:t>31 March — the quarter they describe</a:t>
                      </a:r>
                    </a:p>
                  </a:txBody>
                  <a:tcPr marL="82296" marR="64008" marT="32004" marB="32004" anchor="ctr">
                    <a:solidFill>
                      <a:srgbClr val="F6F3EF"/>
                    </a:solidFill>
                  </a:tcPr>
                </a:tc>
                <a:tc>
                  <a:txBody>
                    <a:bodyPr wrap="square"/>
                    <a:lstStyle/>
                    <a:p>
                      <a:pPr algn="l"/>
                      <a:r>
                        <a:rPr sz="1050" b="0">
                          <a:solidFill>
                            <a:srgbClr val="1C1C1E"/>
                          </a:solidFill>
                          <a:latin typeface="Calibri"/>
                        </a:rPr>
                        <a:t>20 May — the day the borrower filed them</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A restatement of those accounts</a:t>
                      </a:r>
                    </a:p>
                  </a:txBody>
                  <a:tcPr marL="82296" marR="64008" marT="32004" marB="32004" anchor="ctr">
                    <a:solidFill>
                      <a:srgbClr val="FFFFFF"/>
                    </a:solidFill>
                  </a:tcPr>
                </a:tc>
                <a:tc>
                  <a:txBody>
                    <a:bodyPr wrap="square"/>
                    <a:lstStyle/>
                    <a:p>
                      <a:pPr algn="l"/>
                      <a:r>
                        <a:rPr sz="1050" b="0">
                          <a:solidFill>
                            <a:srgbClr val="1C1C1E"/>
                          </a:solidFill>
                          <a:latin typeface="Calibri"/>
                        </a:rPr>
                        <a:t>unchanged: still 31 March</a:t>
                      </a:r>
                    </a:p>
                  </a:txBody>
                  <a:tcPr marL="82296" marR="64008" marT="32004" marB="32004" anchor="ctr">
                    <a:solidFill>
                      <a:srgbClr val="FFFFFF"/>
                    </a:solidFill>
                  </a:tcPr>
                </a:tc>
                <a:tc>
                  <a:txBody>
                    <a:bodyPr wrap="square"/>
                    <a:lstStyle/>
                    <a:p>
                      <a:pPr algn="l"/>
                      <a:r>
                        <a:rPr sz="1050" b="0">
                          <a:solidFill>
                            <a:srgbClr val="1C1C1E"/>
                          </a:solidFill>
                          <a:latin typeface="Calibri"/>
                        </a:rPr>
                        <a:t>August — when the revision arrived</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Dropped by</a:t>
                      </a:r>
                    </a:p>
                  </a:txBody>
                  <a:tcPr marL="82296" marR="64008" marT="32004" marB="32004" anchor="ctr">
                    <a:solidFill>
                      <a:srgbClr val="F6F3EF"/>
                    </a:solidFill>
                  </a:tcPr>
                </a:tc>
                <a:tc>
                  <a:txBody>
                    <a:bodyPr wrap="square"/>
                    <a:lstStyle/>
                    <a:p>
                      <a:pPr algn="l"/>
                      <a:r>
                        <a:rPr sz="1050" b="0">
                          <a:solidFill>
                            <a:srgbClr val="1C1C1E"/>
                          </a:solidFill>
                          <a:latin typeface="Calibri"/>
                        </a:rPr>
                        <a:t>nobody</a:t>
                      </a:r>
                    </a:p>
                  </a:txBody>
                  <a:tcPr marL="82296" marR="64008" marT="32004" marB="32004" anchor="ctr">
                    <a:solidFill>
                      <a:srgbClr val="F6F3EF"/>
                    </a:solidFill>
                  </a:tcPr>
                </a:tc>
                <a:tc>
                  <a:txBody>
                    <a:bodyPr wrap="square"/>
                    <a:lstStyle/>
                    <a:p>
                      <a:pPr algn="l"/>
                      <a:r>
                        <a:rPr sz="1050" b="0">
                          <a:solidFill>
                            <a:srgbClr val="1C1C1E"/>
                          </a:solidFill>
                          <a:latin typeface="Calibri"/>
                        </a:rPr>
                        <a:t>almost every feature store</a:t>
                      </a:r>
                    </a:p>
                  </a:txBody>
                  <a:tcPr marL="82296" marR="64008" marT="32004" marB="32004" anchor="ctr">
                    <a:solidFill>
                      <a:srgbClr val="F6F3EF"/>
                    </a:solidFill>
                  </a:tcPr>
                </a:tc>
              </a:tr>
            </a:tbl>
          </a:graphicData>
        </a:graphic>
      </p:graphicFrame>
      <p:sp>
        <p:nvSpPr>
          <p:cNvPr id="11" name="Rectangle 10"/>
          <p:cNvSpPr/>
          <p:nvPr/>
        </p:nvSpPr>
        <p:spPr>
          <a:xfrm>
            <a:off x="777240" y="368762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687622"/>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377906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CASE THIS EXISTS FOR</a:t>
            </a:r>
          </a:p>
        </p:txBody>
      </p:sp>
      <p:sp>
        <p:nvSpPr>
          <p:cNvPr id="14" name="TextBox 13"/>
          <p:cNvSpPr txBox="1"/>
          <p:nvPr/>
        </p:nvSpPr>
        <p:spPr>
          <a:xfrm>
            <a:off x="978408" y="4080814"/>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dscr — debt service coverage, from the borrower's Q1 accounts</a:t>
            </a:r>
          </a:p>
          <a:p>
            <a:pPr>
              <a:lnSpc>
                <a:spcPct val="134000"/>
              </a:lnSpc>
              <a:spcBef>
                <a:spcPts val="0"/>
              </a:spcBef>
              <a:spcAft>
                <a:spcPts val="0"/>
              </a:spcAft>
            </a:pPr>
            <a:r>
              <a:rPr sz="950" b="0" i="0">
                <a:solidFill>
                  <a:srgbClr val="7A7F87"/>
                </a:solidFill>
                <a:latin typeface="Consolas"/>
              </a:rPr>
              <a:t># the borrower revises Q1 downward, in August</a:t>
            </a:r>
          </a:p>
          <a:p>
            <a:pPr>
              <a:lnSpc>
                <a:spcPct val="134000"/>
              </a:lnSpc>
              <a:spcBef>
                <a:spcPts val="0"/>
              </a:spcBef>
              <a:spcAft>
                <a:spcPts val="0"/>
              </a:spcAft>
            </a:pPr>
            <a:r>
              <a:rPr sz="950" b="0" i="0">
                <a:solidFill>
                  <a:srgbClr val="1C1C1E"/>
                </a:solidFill>
                <a:latin typeface="Consolas"/>
              </a:rPr>
              <a:t>  event 31-Mar   ingest 20-May    dscr 1.20    ← what we knew in May</a:t>
            </a:r>
          </a:p>
          <a:p>
            <a:pPr>
              <a:lnSpc>
                <a:spcPct val="134000"/>
              </a:lnSpc>
              <a:spcBef>
                <a:spcPts val="0"/>
              </a:spcBef>
              <a:spcAft>
                <a:spcPts val="0"/>
              </a:spcAft>
            </a:pPr>
            <a:r>
              <a:rPr sz="950" b="0" i="0">
                <a:solidFill>
                  <a:srgbClr val="1C1C1E"/>
                </a:solidFill>
                <a:latin typeface="Consolas"/>
              </a:rPr>
              <a:t>  event 31-Mar   ingest 20-Aug    dscr 0.40    ← the restatement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building a training row for a decision made in MAY</a:t>
            </a:r>
          </a:p>
          <a:p>
            <a:pPr>
              <a:lnSpc>
                <a:spcPct val="134000"/>
              </a:lnSpc>
              <a:spcBef>
                <a:spcPts val="0"/>
              </a:spcBef>
              <a:spcAft>
                <a:spcPts val="0"/>
              </a:spcAft>
            </a:pPr>
            <a:r>
              <a:rPr sz="950" b="0" i="0">
                <a:solidFill>
                  <a:srgbClr val="1C1C1E"/>
                </a:solidFill>
                <a:latin typeface="Consolas"/>
              </a:rPr>
              <a:t>  one clock  →  0.40    (it is the current value for Q1)</a:t>
            </a:r>
          </a:p>
          <a:p>
            <a:pPr>
              <a:lnSpc>
                <a:spcPct val="134000"/>
              </a:lnSpc>
              <a:spcBef>
                <a:spcPts val="0"/>
              </a:spcBef>
              <a:spcAft>
                <a:spcPts val="0"/>
              </a:spcAft>
            </a:pPr>
            <a:r>
              <a:rPr sz="950" b="0" i="0">
                <a:solidFill>
                  <a:srgbClr val="1C1C1E"/>
                </a:solidFill>
                <a:latin typeface="Consolas"/>
              </a:rPr>
              <a:t>  two clocks →  1.20    (0.40 was not knowable in May)</a:t>
            </a:r>
          </a:p>
        </p:txBody>
      </p:sp>
      <p:sp>
        <p:nvSpPr>
          <p:cNvPr id="15" name="Rectangle 14"/>
          <p:cNvSpPr/>
          <p:nvPr/>
        </p:nvSpPr>
        <p:spPr>
          <a:xfrm>
            <a:off x="6946824" y="3687622"/>
            <a:ext cx="4467630" cy="2196571"/>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687622"/>
            <a:ext cx="41148" cy="21965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806494"/>
            <a:ext cx="4010430" cy="1977115"/>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Train on 0.40 and the model learns to predict defaults from a number that exists BECAUSE the default already happened. </a:t>
            </a:r>
            <a:r>
              <a:rPr sz="1050" b="0" i="0">
                <a:solidFill>
                  <a:srgbClr val="1C1C1E"/>
                </a:solidFill>
                <a:latin typeface="Calibri"/>
              </a:rPr>
              <a:t>It scores beautifully in backtest and fails in production, and the failure looks like drift rather than what it is.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ASOF, AND THE ONE PROPERTY THAT CARRIES IT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read, named as an operator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27</a:t>
            </a:r>
          </a:p>
        </p:txBody>
      </p:sp>
      <p:sp>
        <p:nvSpPr>
          <p:cNvPr id="10" name="Rectangle 9"/>
          <p:cNvSpPr/>
          <p:nvPr/>
        </p:nvSpPr>
        <p:spPr>
          <a:xfrm>
            <a:off x="777240" y="1353312"/>
            <a:ext cx="5956840"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core/features/assembly.py</a:t>
            </a:r>
          </a:p>
        </p:txBody>
      </p:sp>
      <p:sp>
        <p:nvSpPr>
          <p:cNvPr id="13" name="TextBox 12"/>
          <p:cNvSpPr txBox="1"/>
          <p:nvPr/>
        </p:nvSpPr>
        <p:spPr>
          <a:xfrm>
            <a:off x="978408" y="1746504"/>
            <a:ext cx="5591080"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AsOf(R, ℓ, a) =</a:t>
            </a:r>
          </a:p>
          <a:p>
            <a:pPr>
              <a:lnSpc>
                <a:spcPct val="134000"/>
              </a:lnSpc>
              <a:spcBef>
                <a:spcPts val="0"/>
              </a:spcBef>
              <a:spcAft>
                <a:spcPts val="0"/>
              </a:spcAft>
            </a:pPr>
            <a:r>
              <a:rPr sz="1000" b="0" i="0">
                <a:solidFill>
                  <a:srgbClr val="1C1C1E"/>
                </a:solidFill>
                <a:latin typeface="Consolas"/>
              </a:rPr>
              <a:t>    argmax over (event_ts, ingest_ts) of</a:t>
            </a:r>
          </a:p>
          <a:p>
            <a:pPr>
              <a:lnSpc>
                <a:spcPct val="134000"/>
              </a:lnSpc>
              <a:spcBef>
                <a:spcPts val="0"/>
              </a:spcBef>
              <a:spcAft>
                <a:spcPts val="0"/>
              </a:spcAft>
            </a:pPr>
            <a:r>
              <a:rPr sz="1000" b="0" i="0">
                <a:solidFill>
                  <a:srgbClr val="1C1C1E"/>
                </a:solidFill>
                <a:latin typeface="Consolas"/>
              </a:rPr>
              <a:t>    { r ∈ R : r.event ≤ ℓ  ∧  r.ingest ≤ min(ℓ, a) }</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ℓ  the moment the decision was made — what the model could have known</a:t>
            </a:r>
          </a:p>
          <a:p>
            <a:pPr>
              <a:lnSpc>
                <a:spcPct val="134000"/>
              </a:lnSpc>
              <a:spcBef>
                <a:spcPts val="0"/>
              </a:spcBef>
              <a:spcAft>
                <a:spcPts val="0"/>
              </a:spcAft>
            </a:pPr>
            <a:r>
              <a:rPr sz="1000" b="0" i="0">
                <a:solidFill>
                  <a:srgbClr val="7A7F87"/>
                </a:solidFill>
                <a:latin typeface="Consolas"/>
              </a:rPr>
              <a:t>#  a  the assembly's as-of — what the PLATFORM could have known</a:t>
            </a:r>
          </a:p>
        </p:txBody>
      </p:sp>
      <p:sp>
        <p:nvSpPr>
          <p:cNvPr id="14" name="Rectangle 13"/>
          <p:cNvSpPr/>
          <p:nvPr/>
        </p:nvSpPr>
        <p:spPr>
          <a:xfrm>
            <a:off x="777240" y="3462832"/>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46283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581704"/>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Both bounds, because they refuse different things. </a:t>
            </a:r>
            <a:r>
              <a:rPr sz="1050" b="0" i="0">
                <a:solidFill>
                  <a:srgbClr val="1C1C1E"/>
                </a:solidFill>
                <a:latin typeface="Calibri"/>
              </a:rPr>
              <a:t>Without a, a restatement arriving after assembly creeps into a re-run. Dropping either admits a different leak, and a is the one people drop.</a:t>
            </a:r>
          </a:p>
        </p:txBody>
      </p:sp>
      <p:sp>
        <p:nvSpPr>
          <p:cNvPr id="17" name="Rectangle 16"/>
          <p:cNvSpPr/>
          <p:nvPr/>
        </p:nvSpPr>
        <p:spPr>
          <a:xfrm>
            <a:off x="777240" y="4880152"/>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4880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1014983" y="4999024"/>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other three properties L-10 states are packaging. </a:t>
            </a:r>
            <a:r>
              <a:rPr sz="1050" b="0" i="0">
                <a:solidFill>
                  <a:srgbClr val="1C1C1E"/>
                </a:solidFill>
                <a:latin typeface="Calibri"/>
              </a:rPr>
              <a:t>Idempotence is type-incorrect as written: the operator returns a row, not a relation. Projection-commutation is trivial, the predicate naming only the clocks. Monotonicity is real, but its test recomputes the admissible set rather than calling the read.</a:t>
            </a:r>
          </a:p>
        </p:txBody>
      </p:sp>
      <p:sp>
        <p:nvSpPr>
          <p:cNvPr id="20" name="TextBox 19"/>
          <p:cNvSpPr txBox="1"/>
          <p:nvPr/>
        </p:nvSpPr>
        <p:spPr>
          <a:xfrm>
            <a:off x="7159569" y="1353312"/>
            <a:ext cx="4254886" cy="42062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Saturation is the whole of the guarantee</a:t>
            </a:r>
          </a:p>
          <a:p>
            <a:pPr>
              <a:lnSpc>
                <a:spcPct val="126000"/>
              </a:lnSpc>
              <a:spcBef>
                <a:spcPts val="0"/>
              </a:spcBef>
              <a:spcAft>
                <a:spcPts val="800"/>
              </a:spcAft>
            </a:pPr>
            <a:r>
              <a:rPr sz="1100" b="0" i="0">
                <a:solidFill>
                  <a:srgbClr val="1C1C1E"/>
                </a:solidFill>
                <a:latin typeface="Calibri"/>
              </a:rPr>
              <a:t>The ingest bound is min(ℓ, a), so every as-of at or after the decision gives the SAME ANSWER.</a:t>
            </a:r>
          </a:p>
          <a:p>
            <a:pPr>
              <a:lnSpc>
                <a:spcPct val="126000"/>
              </a:lnSpc>
              <a:spcBef>
                <a:spcPts val="0"/>
              </a:spcBef>
              <a:spcAft>
                <a:spcPts val="800"/>
              </a:spcAft>
            </a:pPr>
            <a:r>
              <a:rPr sz="1100" b="0" i="0">
                <a:solidFill>
                  <a:srgbClr val="1C1C1E"/>
                </a:solidFill>
                <a:latin typeface="Calibri"/>
              </a:rPr>
              <a:t>Assemble in May and the row reads dscr = 1.20. August's restatement to 0.40 arrives; both rows are true and both stay. Re-assemble a year later and the answer is still 1.20 — however many restatements landed in between.</a:t>
            </a:r>
          </a:p>
          <a:p>
            <a:pPr>
              <a:lnSpc>
                <a:spcPct val="126000"/>
              </a:lnSpc>
              <a:spcBef>
                <a:spcPts val="0"/>
              </a:spcBef>
              <a:spcAft>
                <a:spcPts val="800"/>
              </a:spcAft>
            </a:pPr>
            <a:r>
              <a:rPr sz="1100" b="0" i="0">
                <a:solidFill>
                  <a:srgbClr val="4A4F57"/>
                </a:solidFill>
                <a:latin typeface="Calibri"/>
              </a:rPr>
              <a:t>Without the min, a re-run quietly IMPROVES on the original. That is the least useful kind of reproducibility: a validator replaying a decision gets a better answer than the one that was made, cannot tell that is what happened, and reports agreement.</a:t>
            </a:r>
          </a:p>
          <a:p>
            <a:pPr>
              <a:lnSpc>
                <a:spcPct val="126000"/>
              </a:lnSpc>
              <a:spcBef>
                <a:spcPts val="0"/>
              </a:spcBef>
              <a:spcAft>
                <a:spcPts val="0"/>
              </a:spcAft>
            </a:pPr>
            <a:r>
              <a:rPr sz="1150" b="1" i="0">
                <a:solidFill>
                  <a:srgbClr val="A51C30"/>
                </a:solidFill>
                <a:latin typeface="Calibri"/>
              </a:rPr>
              <a:t>One function call, and it is the reproducibility guarantee.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AND HIDING NOTHING</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Alignment: three of the five rules reach into the future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28</a:t>
            </a:r>
          </a:p>
        </p:txBody>
      </p:sp>
      <p:graphicFrame>
        <p:nvGraphicFramePr>
          <p:cNvPr id="10" name="Table 9"/>
          <p:cNvGraphicFramePr>
            <a:graphicFrameLocks noGrp="1"/>
          </p:cNvGraphicFramePr>
          <p:nvPr/>
        </p:nvGraphicFramePr>
        <p:xfrm>
          <a:off x="777240" y="1764792"/>
          <a:ext cx="5531350" cy="1912874"/>
        </p:xfrm>
        <a:graphic>
          <a:graphicData uri="http://schemas.openxmlformats.org/drawingml/2006/table">
            <a:tbl>
              <a:tblPr firstRow="1">
                <a:tableStyleId>{5C22544A-7EE6-4342-B048-85BDC9FD1C3A}</a:tableStyleId>
              </a:tblPr>
              <a:tblGrid>
                <a:gridCol w="1275239"/>
                <a:gridCol w="2311371"/>
                <a:gridCol w="1944740"/>
              </a:tblGrid>
              <a:tr h="329184">
                <a:tc>
                  <a:txBody>
                    <a:bodyPr wrap="square"/>
                    <a:lstStyle/>
                    <a:p>
                      <a:pPr algn="l"/>
                      <a:r>
                        <a:rPr sz="1000" b="1">
                          <a:solidFill>
                            <a:srgbClr val="FFFFFF"/>
                          </a:solidFill>
                          <a:latin typeface="Calibri"/>
                        </a:rPr>
                        <a:t>Alignment rule</a:t>
                      </a:r>
                    </a:p>
                  </a:txBody>
                  <a:tcPr marL="82296" marR="64008" marT="32004" marB="32004" anchor="ctr">
                    <a:solidFill>
                      <a:srgbClr val="A51C30"/>
                    </a:solidFill>
                  </a:tcPr>
                </a:tc>
                <a:tc>
                  <a:txBody>
                    <a:bodyPr wrap="square"/>
                    <a:lstStyle/>
                    <a:p>
                      <a:pPr algn="l"/>
                      <a:r>
                        <a:rPr sz="1000" b="1">
                          <a:solidFill>
                            <a:srgbClr val="FFFFFF"/>
                          </a:solidFill>
                          <a:latin typeface="Calibri"/>
                        </a:rPr>
                        <a:t>Fills a gap from</a:t>
                      </a:r>
                    </a:p>
                  </a:txBody>
                  <a:tcPr marL="82296" marR="64008" marT="32004" marB="32004" anchor="ctr">
                    <a:solidFill>
                      <a:srgbClr val="A51C30"/>
                    </a:solidFill>
                  </a:tcPr>
                </a:tc>
                <a:tc>
                  <a:txBody>
                    <a:bodyPr wrap="square"/>
                    <a:lstStyle/>
                    <a:p>
                      <a:pPr algn="l"/>
                      <a:r>
                        <a:rPr sz="1000" b="1">
                          <a:solidFill>
                            <a:srgbClr val="FFFFFF"/>
                          </a:solidFill>
                          <a:latin typeface="Calibri"/>
                        </a:rPr>
                        <a:t>Point-in-time safe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none</a:t>
                      </a:r>
                    </a:p>
                  </a:txBody>
                  <a:tcPr marL="82296" marR="64008" marT="32004" marB="32004" anchor="ctr">
                    <a:solidFill>
                      <a:srgbClr val="FFFFFF"/>
                    </a:solidFill>
                  </a:tcPr>
                </a:tc>
                <a:tc>
                  <a:txBody>
                    <a:bodyPr wrap="square"/>
                    <a:lstStyle/>
                    <a:p>
                      <a:pPr algn="l"/>
                      <a:r>
                        <a:rPr sz="1000" b="0">
                          <a:solidFill>
                            <a:srgbClr val="1C1C1E"/>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flat_forward</a:t>
                      </a:r>
                    </a:p>
                  </a:txBody>
                  <a:tcPr marL="82296" marR="64008" marT="32004" marB="32004" anchor="ctr">
                    <a:solidFill>
                      <a:srgbClr val="F6F3EF"/>
                    </a:solidFill>
                  </a:tcPr>
                </a:tc>
                <a:tc>
                  <a:txBody>
                    <a:bodyPr wrap="square"/>
                    <a:lstStyle/>
                    <a:p>
                      <a:pPr algn="l"/>
                      <a:r>
                        <a:rPr sz="1000" b="0">
                          <a:solidFill>
                            <a:srgbClr val="1C1C1E"/>
                          </a:solidFill>
                          <a:latin typeface="Calibri"/>
                        </a:rPr>
                        <a:t>the last observation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flat_backward</a:t>
                      </a:r>
                    </a:p>
                  </a:txBody>
                  <a:tcPr marL="82296" marR="64008" marT="32004" marB="32004" anchor="ctr">
                    <a:solidFill>
                      <a:srgbClr val="FFFFFF"/>
                    </a:solidFill>
                  </a:tcPr>
                </a:tc>
                <a:tc>
                  <a:txBody>
                    <a:bodyPr wrap="square"/>
                    <a:lstStyle/>
                    <a:p>
                      <a:pPr algn="l"/>
                      <a:r>
                        <a:rPr sz="1000" b="0">
                          <a:solidFill>
                            <a:srgbClr val="1C1C1E"/>
                          </a:solidFill>
                          <a:latin typeface="Calibri"/>
                        </a:rPr>
                        <a:t>the NEXT observation</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linear</a:t>
                      </a:r>
                    </a:p>
                  </a:txBody>
                  <a:tcPr marL="82296" marR="64008" marT="32004" marB="32004" anchor="ctr">
                    <a:solidFill>
                      <a:srgbClr val="F6F3EF"/>
                    </a:solidFill>
                  </a:tcPr>
                </a:tc>
                <a:tc>
                  <a:txBody>
                    <a:bodyPr wrap="square"/>
                    <a:lstStyle/>
                    <a:p>
                      <a:pPr algn="l"/>
                      <a:r>
                        <a:rPr sz="1000" b="0">
                          <a:solidFill>
                            <a:srgbClr val="1C1C1E"/>
                          </a:solidFill>
                          <a:latin typeface="Calibri"/>
                        </a:rPr>
                        <a:t>both neighbours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nearest</a:t>
                      </a:r>
                    </a:p>
                  </a:txBody>
                  <a:tcPr marL="82296" marR="64008" marT="32004" marB="32004" anchor="ctr">
                    <a:solidFill>
                      <a:srgbClr val="FFFFFF"/>
                    </a:solidFill>
                  </a:tcPr>
                </a:tc>
                <a:tc>
                  <a:txBody>
                    <a:bodyPr wrap="square"/>
                    <a:lstStyle/>
                    <a:p>
                      <a:pPr algn="l"/>
                      <a:r>
                        <a:rPr sz="1000" b="0">
                          <a:solidFill>
                            <a:srgbClr val="1C1C1E"/>
                          </a:solidFill>
                          <a:latin typeface="Calibri"/>
                        </a:rPr>
                        <a:t>whichever is closer</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TextBox 10"/>
          <p:cNvSpPr txBox="1"/>
          <p:nvPr/>
        </p:nvSpPr>
        <p:spPr>
          <a:xfrm>
            <a:off x="6734080" y="1764792"/>
            <a:ext cx="4680374" cy="32918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Alignment fills a moment the source never observed.</a:t>
            </a:r>
          </a:p>
          <a:p>
            <a:pPr>
              <a:lnSpc>
                <a:spcPct val="126000"/>
              </a:lnSpc>
              <a:spcBef>
                <a:spcPts val="0"/>
              </a:spcBef>
              <a:spcAft>
                <a:spcPts val="900"/>
              </a:spcAft>
            </a:pPr>
            <a:r>
              <a:rPr sz="1100" b="0" i="0">
                <a:solidFill>
                  <a:srgbClr val="1C1C1E"/>
                </a:solidFill>
                <a:latin typeface="Calibri"/>
              </a:rPr>
              <a:t>Three of the five rules do it by reaching forward in time. They are not refused. They are stamped.</a:t>
            </a:r>
          </a:p>
          <a:p>
            <a:pPr>
              <a:lnSpc>
                <a:spcPct val="126000"/>
              </a:lnSpc>
              <a:spcBef>
                <a:spcPts val="0"/>
              </a:spcBef>
              <a:spcAft>
                <a:spcPts val="900"/>
              </a:spcAft>
            </a:pPr>
            <a:r>
              <a:rPr sz="1100" b="0" i="0">
                <a:solidFill>
                  <a:srgbClr val="1C1C1E"/>
                </a:solidFill>
                <a:latin typeface="Calibri"/>
              </a:rPr>
              <a:t>Back-filling is right for drawing a curve or a retrospective backtest and wrong for training. Refusing it would push it into a spreadsheet where nothing can see it.</a:t>
            </a:r>
          </a:p>
          <a:p>
            <a:pPr>
              <a:lnSpc>
                <a:spcPct val="126000"/>
              </a:lnSpc>
              <a:spcBef>
                <a:spcPts val="0"/>
              </a:spcBef>
              <a:spcAft>
                <a:spcPts val="900"/>
              </a:spcAft>
            </a:pPr>
            <a:r>
              <a:rPr sz="1100" b="0" i="0">
                <a:solidFill>
                  <a:srgbClr val="1C1C1E"/>
                </a:solidFill>
                <a:latin typeface="Calibri"/>
              </a:rPr>
              <a:t>So a value carried backwards inherits the LATER observation's ingest_ts, because that is when it became knowable. An ordinary point-in-time read then excludes it, with nobody having to remember a flag.</a:t>
            </a:r>
          </a:p>
          <a:p>
            <a:pPr>
              <a:lnSpc>
                <a:spcPct val="126000"/>
              </a:lnSpc>
              <a:spcBef>
                <a:spcPts val="0"/>
              </a:spcBef>
              <a:spcAft>
                <a:spcPts val="0"/>
              </a:spcAft>
            </a:pPr>
            <a:r>
              <a:rPr sz="1150" b="1" i="0">
                <a:solidFill>
                  <a:srgbClr val="A51C30"/>
                </a:solidFill>
                <a:latin typeface="Calibri"/>
              </a:rPr>
              <a:t>The leakage is not caught by a check. It is made arithmetically impossible to hide.</a:t>
            </a:r>
          </a:p>
        </p:txBody>
      </p:sp>
      <p:sp>
        <p:nvSpPr>
          <p:cNvPr id="12" name="Rectangle 11"/>
          <p:cNvSpPr/>
          <p:nvPr/>
        </p:nvSpPr>
        <p:spPr>
          <a:xfrm>
            <a:off x="777240" y="3951985"/>
            <a:ext cx="5531351"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395198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070857"/>
            <a:ext cx="5074151"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bounds finish it. </a:t>
            </a:r>
            <a:r>
              <a:rPr sz="1050" b="0" i="0">
                <a:solidFill>
                  <a:srgbClr val="1C1C1E"/>
                </a:solidFill>
                <a:latin typeface="Calibri"/>
              </a:rPr>
              <a:t>A CARRY LIMIT bounds how far an observation may travel — a balance from eighteen months ago is not this month's balance. And interpolation will not EXTRAPOLATE from one side under the name of interpolating.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ONE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There is no separate audit log, and that is deliberate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29</a:t>
            </a:r>
          </a:p>
        </p:txBody>
      </p:sp>
      <p:sp>
        <p:nvSpPr>
          <p:cNvPr id="10" name="TextBox 9"/>
          <p:cNvSpPr txBox="1"/>
          <p:nvPr/>
        </p:nvSpPr>
        <p:spPr>
          <a:xfrm>
            <a:off x="777240" y="1764792"/>
            <a:ext cx="5744096" cy="2651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Two records of who did what are two records that can disagree.</a:t>
            </a:r>
          </a:p>
          <a:p>
            <a:pPr>
              <a:lnSpc>
                <a:spcPct val="128000"/>
              </a:lnSpc>
              <a:spcBef>
                <a:spcPts val="0"/>
              </a:spcBef>
              <a:spcAft>
                <a:spcPts val="900"/>
              </a:spcAft>
            </a:pPr>
            <a:r>
              <a:rPr sz="1150" b="0" i="0">
                <a:solidFill>
                  <a:srgbClr val="1C1C1E"/>
                </a:solidFill>
                <a:latin typeface="Calibri"/>
              </a:rPr>
              <a:t>So the evidence chain — the append-only, hash-linked record of every act — IS the audit log. The consolidation is load-bearing: segregation of duties is decided by READING THE CHAIN, which only works if the chain is the record.</a:t>
            </a:r>
          </a:p>
          <a:p>
            <a:pPr>
              <a:lnSpc>
                <a:spcPct val="128000"/>
              </a:lnSpc>
              <a:spcBef>
                <a:spcPts val="0"/>
              </a:spcBef>
              <a:spcAft>
                <a:spcPts val="0"/>
              </a:spcAft>
            </a:pPr>
            <a:r>
              <a:rPr sz="1100" b="0" i="0">
                <a:solidFill>
                  <a:srgbClr val="4A4F57"/>
                </a:solidFill>
                <a:latin typeface="Calibri"/>
              </a:rPr>
              <a:t>“Has this person already acted incompatibly on this model?” is a query over the same rows that prove what happened. A second who-did-what table would answer it from a copy, and the copy goes stale.</a:t>
            </a:r>
          </a:p>
        </p:txBody>
      </p:sp>
      <p:sp>
        <p:nvSpPr>
          <p:cNvPr id="11" name="Rectangle 10"/>
          <p:cNvSpPr/>
          <p:nvPr/>
        </p:nvSpPr>
        <p:spPr>
          <a:xfrm>
            <a:off x="6946824" y="1764792"/>
            <a:ext cx="446763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76479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47992" y="1856231"/>
            <a:ext cx="410187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ONE TABLE, TWO STRUCTURES</a:t>
            </a:r>
          </a:p>
        </p:txBody>
      </p:sp>
      <p:sp>
        <p:nvSpPr>
          <p:cNvPr id="14" name="TextBox 13"/>
          <p:cNvSpPr txBox="1"/>
          <p:nvPr/>
        </p:nvSpPr>
        <p:spPr>
          <a:xfrm>
            <a:off x="7147992" y="2157984"/>
            <a:ext cx="410187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evidence_node:</a:t>
            </a:r>
          </a:p>
          <a:p>
            <a:pPr>
              <a:lnSpc>
                <a:spcPct val="134000"/>
              </a:lnSpc>
              <a:spcBef>
                <a:spcPts val="0"/>
              </a:spcBef>
              <a:spcAft>
                <a:spcPts val="0"/>
              </a:spcAft>
            </a:pPr>
            <a:r>
              <a:rPr sz="950" b="0" i="0">
                <a:solidFill>
                  <a:srgbClr val="1C1C1E"/>
                </a:solidFill>
                <a:latin typeface="Consolas"/>
              </a:rPr>
              <a:t>  seq · kind · subject_type · subject_id</a:t>
            </a:r>
          </a:p>
          <a:p>
            <a:pPr>
              <a:lnSpc>
                <a:spcPct val="134000"/>
              </a:lnSpc>
              <a:spcBef>
                <a:spcPts val="0"/>
              </a:spcBef>
              <a:spcAft>
                <a:spcPts val="0"/>
              </a:spcAft>
            </a:pPr>
            <a:r>
              <a:rPr sz="950" b="0" i="0">
                <a:solidFill>
                  <a:srgbClr val="1C1C1E"/>
                </a:solidFill>
                <a:latin typeface="Consolas"/>
              </a:rPr>
              <a:t>  payload · parents</a:t>
            </a:r>
          </a:p>
          <a:p>
            <a:pPr>
              <a:lnSpc>
                <a:spcPct val="134000"/>
              </a:lnSpc>
              <a:spcBef>
                <a:spcPts val="0"/>
              </a:spcBef>
              <a:spcAft>
                <a:spcPts val="0"/>
              </a:spcAft>
            </a:pPr>
            <a:r>
              <a:rPr sz="950" b="0" i="0">
                <a:solidFill>
                  <a:srgbClr val="1C1C1E"/>
                </a:solidFill>
                <a:latin typeface="Consolas"/>
              </a:rPr>
              <a:t>  contains_personal_data · trust</a:t>
            </a:r>
          </a:p>
          <a:p>
            <a:pPr>
              <a:lnSpc>
                <a:spcPct val="134000"/>
              </a:lnSpc>
              <a:spcBef>
                <a:spcPts val="0"/>
              </a:spcBef>
              <a:spcAft>
                <a:spcPts val="0"/>
              </a:spcAft>
            </a:pPr>
            <a:r>
              <a:rPr sz="950" b="0" i="0">
                <a:solidFill>
                  <a:srgbClr val="1C1C1E"/>
                </a:solidFill>
                <a:latin typeface="Consolas"/>
              </a:rPr>
              <a:t>  recorded_at · recorded_by</a:t>
            </a:r>
          </a:p>
          <a:p>
            <a:pPr>
              <a:lnSpc>
                <a:spcPct val="134000"/>
              </a:lnSpc>
              <a:spcBef>
                <a:spcPts val="0"/>
              </a:spcBef>
              <a:spcAft>
                <a:spcPts val="0"/>
              </a:spcAft>
            </a:pPr>
            <a:r>
              <a:rPr sz="950" b="0" i="0">
                <a:solidFill>
                  <a:srgbClr val="1C1C1E"/>
                </a:solidFill>
                <a:latin typeface="Consolas"/>
              </a:rPr>
              <a:t>  content_hash · prev_hash · chain_hash</a:t>
            </a:r>
          </a:p>
        </p:txBody>
      </p:sp>
      <p:sp>
        <p:nvSpPr>
          <p:cNvPr id="15" name="Rectangle 14"/>
          <p:cNvSpPr/>
          <p:nvPr/>
        </p:nvSpPr>
        <p:spPr>
          <a:xfrm>
            <a:off x="6946824" y="3791696"/>
            <a:ext cx="4467630"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791696"/>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910568"/>
            <a:ext cx="4010430"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node names its parents, and the parents say what supports what. </a:t>
            </a:r>
            <a:r>
              <a:rPr sz="1050" b="0" i="0">
                <a:solidFill>
                  <a:srgbClr val="1C1C1E"/>
                </a:solidFill>
                <a:latin typeface="Calibri"/>
              </a:rPr>
              <a:t>The seq / prev_hash chain is separate and linear: it says what order things happened in, which is what makes deleting a node or inserting into the past detectable.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WHAT VERIFICATION MEANS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Verification re-derives; it does not re-link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30</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Sequence gaps</a:t>
            </a:r>
          </a:p>
          <a:p>
            <a:pPr>
              <a:lnSpc>
                <a:spcPct val="115000"/>
              </a:lnSpc>
              <a:spcBef>
                <a:spcPts val="0"/>
              </a:spcBef>
              <a:spcAft>
                <a:spcPts val="600"/>
              </a:spcAft>
            </a:pPr>
            <a:r>
              <a:rPr sz="850" b="0" i="0">
                <a:solidFill>
                  <a:srgbClr val="4A4F57"/>
                </a:solidFill>
                <a:latin typeface="Calibri"/>
              </a:rPr>
              <a:t>a missing seq is a deletion, and the chain says so</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prev_hash</a:t>
            </a:r>
          </a:p>
          <a:p>
            <a:pPr>
              <a:lnSpc>
                <a:spcPct val="115000"/>
              </a:lnSpc>
              <a:spcBef>
                <a:spcPts val="0"/>
              </a:spcBef>
              <a:spcAft>
                <a:spcPts val="600"/>
              </a:spcAft>
            </a:pPr>
            <a:r>
              <a:rPr sz="850" b="0" i="0">
                <a:solidFill>
                  <a:srgbClr val="4A4F57"/>
                </a:solidFill>
                <a:latin typeface="Calibri"/>
              </a:rPr>
              <a:t>each node links the one before it</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RE-DERIVED content_hash</a:t>
            </a:r>
          </a:p>
          <a:p>
            <a:pPr>
              <a:lnSpc>
                <a:spcPct val="115000"/>
              </a:lnSpc>
              <a:spcBef>
                <a:spcPts val="0"/>
              </a:spcBef>
              <a:spcAft>
                <a:spcPts val="600"/>
              </a:spcAft>
            </a:pPr>
            <a:r>
              <a:rPr sz="850" b="0" i="0">
                <a:solidFill>
                  <a:srgbClr val="4A4F57"/>
                </a:solidFill>
                <a:latin typeface="Calibri"/>
              </a:rPr>
              <a:t>recomputed from the node's own kind, subject, payload and parents</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chain_hash</a:t>
            </a:r>
          </a:p>
          <a:p>
            <a:pPr>
              <a:lnSpc>
                <a:spcPct val="115000"/>
              </a:lnSpc>
              <a:spcBef>
                <a:spcPts val="0"/>
              </a:spcBef>
              <a:spcAft>
                <a:spcPts val="600"/>
              </a:spcAft>
            </a:pPr>
            <a:r>
              <a:rPr sz="850" b="0" i="0">
                <a:solidFill>
                  <a:srgbClr val="4A4F57"/>
                </a:solidFill>
                <a:latin typeface="Calibri"/>
              </a:rPr>
              <a:t>the link over all three</a:t>
            </a:r>
          </a:p>
        </p:txBody>
      </p:sp>
      <p:sp>
        <p:nvSpPr>
          <p:cNvPr id="22" name="Rectangle 21"/>
          <p:cNvSpPr/>
          <p:nvPr/>
        </p:nvSpPr>
        <p:spPr>
          <a:xfrm>
            <a:off x="777240" y="3182112"/>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182112"/>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00984"/>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third step is the one that is easy to get wrong. </a:t>
            </a:r>
            <a:r>
              <a:rPr sz="1050" b="0" i="0">
                <a:solidFill>
                  <a:srgbClr val="1C1C1E"/>
                </a:solidFill>
                <a:latin typeface="Calibri"/>
              </a:rPr>
              <a:t>Re-linking the STORED content hash proves the links are intact and says nothing about whether what was linked is still what was recorded: an edited payload leaves a chain that verifies and a record that lies.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SEMIRINGS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traversal,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31</a:t>
            </a:r>
          </a:p>
        </p:txBody>
      </p:sp>
      <p:graphicFrame>
        <p:nvGraphicFramePr>
          <p:cNvPr id="10" name="Table 9"/>
          <p:cNvGraphicFramePr>
            <a:graphicFrameLocks noGrp="1"/>
          </p:cNvGraphicFramePr>
          <p:nvPr/>
        </p:nvGraphicFramePr>
        <p:xfrm>
          <a:off x="777240" y="1353312"/>
          <a:ext cx="10637213" cy="2229612"/>
        </p:xfrm>
        <a:graphic>
          <a:graphicData uri="http://schemas.openxmlformats.org/drawingml/2006/table">
            <a:tbl>
              <a:tblPr firstRow="1">
                <a:tableStyleId>{5C22544A-7EE6-4342-B048-85BDC9FD1C3A}</a:tableStyleId>
              </a:tblPr>
              <a:tblGrid>
                <a:gridCol w="1554346"/>
                <a:gridCol w="2194371"/>
                <a:gridCol w="1828642"/>
                <a:gridCol w="5059854"/>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its “add”</a:t>
                      </a:r>
                    </a:p>
                  </a:txBody>
                  <a:tcPr marL="82296" marR="64008" marT="32004" marB="32004" anchor="ctr">
                    <a:solidFill>
                      <a:srgbClr val="A51C30"/>
                    </a:solidFill>
                  </a:tcPr>
                </a:tc>
                <a:tc>
                  <a:txBody>
                    <a:bodyPr wrap="square"/>
                    <a:lstStyle/>
                    <a:p>
                      <a:pPr algn="l"/>
                      <a:r>
                        <a:rPr sz="1000" b="1">
                          <a:solidFill>
                            <a:srgbClr val="FFFFFF"/>
                          </a:solidFill>
                          <a:latin typeface="Calibri"/>
                        </a:rPr>
                        <a:t>its “multiply”</a:t>
                      </a:r>
                    </a:p>
                  </a:txBody>
                  <a:tcPr marL="82296" marR="64008" marT="32004" marB="32004" anchor="ctr">
                    <a:solidFill>
                      <a:srgbClr val="A51C30"/>
                    </a:solidFill>
                  </a:tcPr>
                </a:tc>
                <a:tc>
                  <a:txBody>
                    <a:bodyPr wrap="square"/>
                    <a:lstStyle/>
                    <a:p>
                      <a:pPr algn="l"/>
                      <a:r>
                        <a:rPr sz="1000" b="1">
                          <a:solidFill>
                            <a:srgbClr val="FFFFFF"/>
                          </a:solidFill>
                          <a:latin typeface="Calibri"/>
                        </a:rPr>
                        <a:t>The question it answers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or</a:t>
                      </a:r>
                    </a:p>
                  </a:txBody>
                  <a:tcPr marL="82296" marR="64008" marT="32004" marB="32004" anchor="ctr">
                    <a:solidFill>
                      <a:srgbClr val="FFFFFF"/>
                    </a:solidFill>
                  </a:tcPr>
                </a:tc>
                <a:tc>
                  <a:txBody>
                    <a:bodyPr wrap="square"/>
                    <a:lstStyle/>
                    <a:p>
                      <a:pPr algn="l"/>
                      <a:r>
                        <a:rPr sz="1000" b="0">
                          <a:solidFill>
                            <a:srgbClr val="1C1C1E"/>
                          </a:solidFill>
                          <a:latin typeface="Calibri"/>
                        </a:rPr>
                        <a:t>and</a:t>
                      </a:r>
                    </a:p>
                  </a:txBody>
                  <a:tcPr marL="82296" marR="64008" marT="32004" marB="32004" anchor="ctr">
                    <a:solidFill>
                      <a:srgbClr val="FFFFFF"/>
                    </a:solidFill>
                  </a:tcPr>
                </a:tc>
                <a:tc>
                  <a:txBody>
                    <a:bodyPr wrap="square"/>
                    <a:lstStyle/>
                    <a:p>
                      <a:pPr algn="l"/>
                      <a:r>
                        <a:rPr sz="1000" b="0">
                          <a:solidFill>
                            <a:srgbClr val="1C1C1E"/>
                          </a:solidFill>
                          <a:latin typeface="Calibri"/>
                        </a:rPr>
                        <a:t>is this claim supported at all?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union, then absorption</a:t>
                      </a:r>
                    </a:p>
                  </a:txBody>
                  <a:tcPr marL="82296" marR="64008" marT="32004" marB="32004" anchor="ctr">
                    <a:solidFill>
                      <a:srgbClr val="F6F3EF"/>
                    </a:solidFill>
                  </a:tcPr>
                </a:tc>
                <a:tc>
                  <a:txBody>
                    <a:bodyPr wrap="square"/>
                    <a:lstStyle/>
                    <a:p>
                      <a:pPr algn="l"/>
                      <a:r>
                        <a:rPr sz="1000" b="0">
                          <a:solidFill>
                            <a:srgbClr val="1C1C1E"/>
                          </a:solidFill>
                          <a:latin typeface="Calibri"/>
                        </a:rPr>
                        <a:t>pairwise union</a:t>
                      </a:r>
                    </a:p>
                  </a:txBody>
                  <a:tcPr marL="82296" marR="64008" marT="32004" marB="32004" anchor="ctr">
                    <a:solidFill>
                      <a:srgbClr val="F6F3EF"/>
                    </a:solidFill>
                  </a:tcPr>
                </a:tc>
                <a:tc>
                  <a:txBody>
                    <a:bodyPr wrap="square"/>
                    <a:lstStyle/>
                    <a:p>
                      <a:pPr algn="l"/>
                      <a:r>
                        <a:rPr sz="1000" b="0">
                          <a:solidFill>
                            <a:srgbClr val="1C1C1E"/>
                          </a:solidFill>
                          <a:latin typeface="Calibri"/>
                        </a:rPr>
                        <a:t>what is the MINIMAL set of facts that supports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how many independent derivations support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a:t>
                      </a:r>
                    </a:p>
                  </a:txBody>
                  <a:tcPr marL="82296" marR="64008" marT="32004" marB="32004" anchor="ctr">
                    <a:solidFill>
                      <a:srgbClr val="F6F3EF"/>
                    </a:solidFill>
                  </a:tcPr>
                </a:tc>
                <a:tc>
                  <a:txBody>
                    <a:bodyPr wrap="square"/>
                    <a:lstStyle/>
                    <a:p>
                      <a:pPr algn="l"/>
                      <a:r>
                        <a:rPr sz="1000" b="0">
                          <a:solidFill>
                            <a:srgbClr val="1C1C1E"/>
                          </a:solidFill>
                          <a:latin typeface="Calibri"/>
                        </a:rPr>
                        <a:t>how far do we trust the best route to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min</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what is the cheapest way to establish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how recent is the evidence behind it?</a:t>
                      </a:r>
                    </a:p>
                  </a:txBody>
                  <a:tcPr marL="82296" marR="64008" marT="32004" marB="32004" anchor="ctr">
                    <a:solidFill>
                      <a:srgbClr val="F6F3EF"/>
                    </a:solidFill>
                  </a:tcPr>
                </a:tc>
              </a:tr>
            </a:tbl>
          </a:graphicData>
        </a:graphic>
      </p:graphicFrame>
      <p:sp>
        <p:nvSpPr>
          <p:cNvPr id="11" name="Rectangle 10"/>
          <p:cNvSpPr/>
          <p:nvPr/>
        </p:nvSpPr>
        <p:spPr>
          <a:xfrm>
            <a:off x="777240" y="3838956"/>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838956"/>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957828"/>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not a semiring, and the platform says so. </a:t>
            </a:r>
            <a:r>
              <a:rPr sz="1050" b="0" i="0">
                <a:solidFill>
                  <a:srgbClr val="1C1C1E"/>
                </a:solidFill>
                <a:latin typeface="Calibri"/>
              </a:rPr>
              <a:t>(max, max) has no annihilating zero — max(0, 5) is 5, not 0 — so it is a “take the newest” used twice rather than an algebra. The consequence: a claim resting on a MISSING fact reports the freshness of the facts that are present rather than reporting that it has none.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THE UNIVERSAL OBJECT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Evaluate once, then substitute — ℕ[X]</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32</a:t>
            </a:r>
          </a:p>
        </p:txBody>
      </p:sp>
      <p:sp>
        <p:nvSpPr>
          <p:cNvPr id="10" name="Rectangle 9"/>
          <p:cNvSpPr/>
          <p:nvPr/>
        </p:nvSpPr>
        <p:spPr>
          <a:xfrm>
            <a:off x="777240" y="135331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core/evidence/semirings.py</a:t>
            </a:r>
          </a:p>
        </p:txBody>
      </p:sp>
      <p:sp>
        <p:nvSpPr>
          <p:cNvPr id="13" name="TextBox 12"/>
          <p:cNvSpPr txBox="1"/>
          <p:nvPr/>
        </p:nvSpPr>
        <p:spPr>
          <a:xfrm>
            <a:off x="978408" y="174650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evaluate the derivation ONCE, keeping the facts as symbols</a:t>
            </a:r>
          </a:p>
          <a:p>
            <a:pPr>
              <a:lnSpc>
                <a:spcPct val="134000"/>
              </a:lnSpc>
              <a:spcBef>
                <a:spcPts val="0"/>
              </a:spcBef>
              <a:spcAft>
                <a:spcPts val="0"/>
              </a:spcAft>
            </a:pPr>
            <a:r>
              <a:rPr sz="950" b="0" i="0">
                <a:solidFill>
                  <a:srgbClr val="1C1C1E"/>
                </a:solidFill>
                <a:latin typeface="Consolas"/>
              </a:rPr>
              <a:t>poly = evaluate(claim, derivations, POLYNOMIAL, variable)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every other answer is a substitution into that result</a:t>
            </a:r>
          </a:p>
          <a:p>
            <a:pPr>
              <a:lnSpc>
                <a:spcPct val="134000"/>
              </a:lnSpc>
              <a:spcBef>
                <a:spcPts val="0"/>
              </a:spcBef>
              <a:spcAft>
                <a:spcPts val="0"/>
              </a:spcAft>
            </a:pPr>
            <a:r>
              <a:rPr sz="950" b="0" i="0">
                <a:solidFill>
                  <a:srgbClr val="1C1C1E"/>
                </a:solidFill>
                <a:latin typeface="Consolas"/>
              </a:rPr>
              <a:t>boolean  = pushforward(poly, is_present,  BOOLEAN)</a:t>
            </a:r>
          </a:p>
          <a:p>
            <a:pPr>
              <a:lnSpc>
                <a:spcPct val="134000"/>
              </a:lnSpc>
              <a:spcBef>
                <a:spcPts val="0"/>
              </a:spcBef>
              <a:spcAft>
                <a:spcPts val="0"/>
              </a:spcAft>
            </a:pPr>
            <a:r>
              <a:rPr sz="950" b="0" i="0">
                <a:solidFill>
                  <a:srgbClr val="1C1C1E"/>
                </a:solidFill>
                <a:latin typeface="Consolas"/>
              </a:rPr>
              <a:t>trust    = pushforward(poly, trust_of,    TRUST)</a:t>
            </a:r>
          </a:p>
          <a:p>
            <a:pPr>
              <a:lnSpc>
                <a:spcPct val="134000"/>
              </a:lnSpc>
              <a:spcBef>
                <a:spcPts val="0"/>
              </a:spcBef>
              <a:spcAft>
                <a:spcPts val="0"/>
              </a:spcAft>
            </a:pPr>
            <a:r>
              <a:rPr sz="950" b="0" i="0">
                <a:solidFill>
                  <a:srgbClr val="1C1C1E"/>
                </a:solidFill>
                <a:latin typeface="Consolas"/>
              </a:rPr>
              <a:t>cost     = pushforward(poly, cost_of,     COST)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L-9 :  eval_K(claim)  ==  h( eval_ℕ[X](claim) )</a:t>
            </a:r>
          </a:p>
        </p:txBody>
      </p:sp>
      <p:sp>
        <p:nvSpPr>
          <p:cNvPr id="14" name="Rectangle 13"/>
          <p:cNvSpPr/>
          <p:nvPr/>
        </p:nvSpPr>
        <p:spPr>
          <a:xfrm>
            <a:off x="777240" y="4009621"/>
            <a:ext cx="5744096"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009621"/>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128493"/>
            <a:ext cx="5286896"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Checked over 200 random derivation graphs against five semirings. </a:t>
            </a:r>
            <a:r>
              <a:rPr sz="1050" b="0" i="0">
                <a:solidFill>
                  <a:srgbClr val="1C1C1E"/>
                </a:solidFill>
                <a:latin typeface="Calibri"/>
              </a:rPr>
              <a:t>That turns “the same traversal answers a different question for each” from a design intention into a theorem the suite runs.</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polynomial keeps that Boolean throws away</a:t>
            </a:r>
          </a:p>
          <a:p>
            <a:pPr>
              <a:lnSpc>
                <a:spcPct val="126000"/>
              </a:lnSpc>
              <a:spcBef>
                <a:spcPts val="0"/>
              </a:spcBef>
              <a:spcAft>
                <a:spcPts val="800"/>
              </a:spcAft>
            </a:pPr>
            <a:r>
              <a:rPr sz="1100" b="0" i="0">
                <a:solidFill>
                  <a:srgbClr val="1C1C1E"/>
                </a:solidFill>
                <a:latin typeface="Calibri"/>
              </a:rPr>
              <a:t>COEFFICIENTS count how many distinct derivations produce the same combination of facts. EXPONENTS count how many times one fact is used within a single derivation.</a:t>
            </a:r>
          </a:p>
          <a:p>
            <a:pPr>
              <a:lnSpc>
                <a:spcPct val="126000"/>
              </a:lnSpc>
              <a:spcBef>
                <a:spcPts val="0"/>
              </a:spcBef>
              <a:spcAft>
                <a:spcPts val="800"/>
              </a:spcAft>
            </a:pPr>
            <a:r>
              <a:rPr sz="1100" b="0" i="0">
                <a:solidFill>
                  <a:srgbClr val="4A4F57"/>
                </a:solidFill>
                <a:latin typeface="Calibri"/>
              </a:rPr>
              <a:t>Boolean provenance loses both, so it cannot tell a claim resting on one document from a claim resting on four — and “how corroborated is this” is what a reviewer is asking.</a:t>
            </a:r>
          </a:p>
          <a:p>
            <a:pPr>
              <a:lnSpc>
                <a:spcPct val="126000"/>
              </a:lnSpc>
              <a:spcBef>
                <a:spcPts val="0"/>
              </a:spcBef>
              <a:spcAft>
                <a:spcPts val="0"/>
              </a:spcAft>
            </a:pPr>
            <a:r>
              <a:rPr sz="1100" b="0" i="0">
                <a:solidFill>
                  <a:srgbClr val="1C1C1E"/>
                </a:solidFill>
                <a:latin typeface="Calibri"/>
              </a:rPr>
              <a:t>The same construction annotates DERIVED FEATURES, where the ingest clock obeys the algebra rather than a rule somebody could forget.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law is a claim about the system, not about a function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33</a:t>
            </a:r>
          </a:p>
        </p:txBody>
      </p:sp>
      <p:sp>
        <p:nvSpPr>
          <p:cNvPr id="10" name="TextBox 9"/>
          <p:cNvSpPr txBox="1"/>
          <p:nvPr/>
        </p:nvSpPr>
        <p:spPr>
          <a:xfrm>
            <a:off x="777240" y="1764792"/>
            <a:ext cx="5744096" cy="274320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The difference matters when something changes.</a:t>
            </a:r>
          </a:p>
          <a:p>
            <a:pPr>
              <a:lnSpc>
                <a:spcPct val="128000"/>
              </a:lnSpc>
              <a:spcBef>
                <a:spcPts val="0"/>
              </a:spcBef>
              <a:spcAft>
                <a:spcPts val="800"/>
              </a:spcAft>
            </a:pPr>
            <a:r>
              <a:rPr sz="1150" b="0" i="0">
                <a:solidFill>
                  <a:srgbClr val="1C1C1E"/>
                </a:solidFill>
                <a:latin typeface="Calibri"/>
              </a:rPr>
              <a:t>A unit test says “this function returns 4”. Somebody who changes the function updates the test, and both are consistent and both may be wrong.</a:t>
            </a:r>
          </a:p>
          <a:p>
            <a:pPr>
              <a:lnSpc>
                <a:spcPct val="128000"/>
              </a:lnSpc>
              <a:spcBef>
                <a:spcPts val="0"/>
              </a:spcBef>
              <a:spcAft>
                <a:spcPts val="800"/>
              </a:spcAft>
            </a:pPr>
            <a:r>
              <a:rPr sz="1150" b="0" i="0">
                <a:solidFill>
                  <a:srgbClr val="1C1C1E"/>
                </a:solidFill>
                <a:latin typeface="Calibri"/>
              </a:rPr>
              <a:t>A law says “no state is reachable except along declared transitions”. Somebody who adds an edge does not get to update that sentence — the sentence is the requirement.</a:t>
            </a:r>
          </a:p>
          <a:p>
            <a:pPr>
              <a:lnSpc>
                <a:spcPct val="128000"/>
              </a:lnSpc>
              <a:spcBef>
                <a:spcPts val="0"/>
              </a:spcBef>
              <a:spcAft>
                <a:spcPts val="0"/>
              </a:spcAft>
            </a:pPr>
            <a:r>
              <a:rPr sz="1150" b="1" i="0">
                <a:solidFill>
                  <a:srgbClr val="A51C30"/>
                </a:solidFill>
                <a:latin typeface="Calibri"/>
              </a:rPr>
              <a:t>So a law is tested as it is STATED, not as the implementation happens to behave. A test written from the code proves only that the code agrees with itself.</a:t>
            </a:r>
          </a:p>
        </p:txBody>
      </p:sp>
      <p:graphicFrame>
        <p:nvGraphicFramePr>
          <p:cNvPr id="11" name="Table 10"/>
          <p:cNvGraphicFramePr>
            <a:graphicFrameLocks noGrp="1"/>
          </p:cNvGraphicFramePr>
          <p:nvPr/>
        </p:nvGraphicFramePr>
        <p:xfrm>
          <a:off x="6946824" y="1764792"/>
          <a:ext cx="4467629" cy="1666798"/>
        </p:xfrm>
        <a:graphic>
          <a:graphicData uri="http://schemas.openxmlformats.org/drawingml/2006/table">
            <a:tbl>
              <a:tblPr firstRow="1">
                <a:tableStyleId>{5C22544A-7EE6-4342-B048-85BDC9FD1C3A}</a:tableStyleId>
              </a:tblPr>
              <a:tblGrid>
                <a:gridCol w="1254952"/>
                <a:gridCol w="1589606"/>
                <a:gridCol w="1623071"/>
              </a:tblGrid>
              <a:tr h="504215">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Foundational</a:t>
                      </a:r>
                    </a:p>
                  </a:txBody>
                  <a:tcPr marL="82296" marR="64008" marT="32004" marB="32004" anchor="ctr">
                    <a:solidFill>
                      <a:srgbClr val="A51C30"/>
                    </a:solidFill>
                  </a:tcPr>
                </a:tc>
                <a:tc>
                  <a:txBody>
                    <a:bodyPr wrap="square"/>
                    <a:lstStyle/>
                    <a:p>
                      <a:pPr algn="l"/>
                      <a:r>
                        <a:rPr sz="1050" b="1">
                          <a:solidFill>
                            <a:srgbClr val="FFFFFF"/>
                          </a:solidFill>
                          <a:latin typeface="Calibri"/>
                        </a:rPr>
                        <a:t>Warrant admissibility</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Stated</a:t>
                      </a:r>
                    </a:p>
                  </a:txBody>
                  <a:tcPr marL="82296" marR="64008" marT="32004" marB="32004" anchor="ctr">
                    <a:solidFill>
                      <a:srgbClr val="FFFFFF"/>
                    </a:solidFill>
                  </a:tcPr>
                </a:tc>
                <a:tc>
                  <a:txBody>
                    <a:bodyPr wrap="square"/>
                    <a:lstStyle/>
                    <a:p>
                      <a:pPr algn="l"/>
                      <a:r>
                        <a:rPr sz="1050" b="0">
                          <a:solidFill>
                            <a:srgbClr val="1C1C1E"/>
                          </a:solidFill>
                          <a:latin typeface="Calibri"/>
                        </a:rPr>
                        <a:t>21</a:t>
                      </a:r>
                    </a:p>
                  </a:txBody>
                  <a:tcPr marL="82296" marR="64008" marT="32004" marB="32004" anchor="ctr">
                    <a:solidFill>
                      <a:srgbClr val="FFFFFF"/>
                    </a:solidFill>
                  </a:tcPr>
                </a:tc>
                <a:tc>
                  <a:txBody>
                    <a:bodyPr wrap="square"/>
                    <a:lstStyle/>
                    <a:p>
                      <a:pPr algn="l"/>
                      <a:r>
                        <a:rPr sz="1050" b="0">
                          <a:solidFill>
                            <a:srgbClr val="1C1C1E"/>
                          </a:solidFill>
                          <a:latin typeface="Calibri"/>
                        </a:rPr>
                        <a:t>14</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Executable</a:t>
                      </a:r>
                    </a:p>
                  </a:txBody>
                  <a:tcPr marL="82296" marR="64008" marT="32004" marB="32004" anchor="ctr">
                    <a:solidFill>
                      <a:srgbClr val="F6F3EF"/>
                    </a:solidFill>
                  </a:tcPr>
                </a:tc>
                <a:tc>
                  <a:txBody>
                    <a:bodyPr wrap="square"/>
                    <a:lstStyle/>
                    <a:p>
                      <a:pPr algn="l"/>
                      <a:r>
                        <a:rPr sz="1050" b="0">
                          <a:solidFill>
                            <a:srgbClr val="1C1C1E"/>
                          </a:solidFill>
                          <a:latin typeface="Calibri"/>
                        </a:rPr>
                        <a:t>16</a:t>
                      </a:r>
                    </a:p>
                  </a:txBody>
                  <a:tcPr marL="82296" marR="64008" marT="32004" marB="32004" anchor="ctr">
                    <a:solidFill>
                      <a:srgbClr val="F6F3EF"/>
                    </a:solidFill>
                  </a:tcPr>
                </a:tc>
                <a:tc>
                  <a:txBody>
                    <a:bodyPr wrap="square"/>
                    <a:lstStyle/>
                    <a:p>
                      <a:pPr algn="l"/>
                      <a:r>
                        <a:rPr sz="1050" b="0">
                          <a:solidFill>
                            <a:srgbClr val="1C1C1E"/>
                          </a:solidFill>
                          <a:latin typeface="Calibri"/>
                        </a:rPr>
                        <a:t>14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Enforcing</a:t>
                      </a:r>
                    </a:p>
                  </a:txBody>
                  <a:tcPr marL="82296" marR="64008" marT="32004" marB="32004" anchor="ctr">
                    <a:solidFill>
                      <a:srgbClr val="FFFFFF"/>
                    </a:solidFill>
                  </a:tcPr>
                </a:tc>
                <a:tc>
                  <a:txBody>
                    <a:bodyPr wrap="square"/>
                    <a:lstStyle/>
                    <a:p>
                      <a:pPr algn="l"/>
                      <a:r>
                        <a:rPr sz="1050" b="0">
                          <a:solidFill>
                            <a:srgbClr val="1C1C1E"/>
                          </a:solidFill>
                          <a:latin typeface="Calibri"/>
                        </a:rPr>
                        <a:t>yes, where applicable</a:t>
                      </a:r>
                    </a:p>
                  </a:txBody>
                  <a:tcPr marL="82296" marR="64008" marT="32004" marB="32004" anchor="ctr">
                    <a:solidFill>
                      <a:srgbClr val="FFFFFF"/>
                    </a:solidFill>
                  </a:tcPr>
                </a:tc>
                <a:tc>
                  <a:txBody>
                    <a:bodyPr wrap="square"/>
                    <a:lstStyle/>
                    <a:p>
                      <a:pPr algn="l"/>
                      <a:r>
                        <a:rPr sz="1050" b="0">
                          <a:solidFill>
                            <a:srgbClr val="1C1C1E"/>
                          </a:solidFill>
                          <a:latin typeface="Calibri"/>
                        </a:rPr>
                        <a:t>all, before the signature</a:t>
                      </a:r>
                    </a:p>
                  </a:txBody>
                  <a:tcPr marL="82296" marR="64008" marT="32004" marB="32004" anchor="ctr">
                    <a:solidFill>
                      <a:srgbClr val="FFFFFF"/>
                    </a:solidFill>
                  </a:tcPr>
                </a:tc>
              </a:tr>
            </a:tbl>
          </a:graphicData>
        </a:graphic>
      </p:graphicFrame>
      <p:sp>
        <p:nvSpPr>
          <p:cNvPr id="12" name="Rectangle 11"/>
          <p:cNvSpPr/>
          <p:nvPr/>
        </p:nvSpPr>
        <p:spPr>
          <a:xfrm>
            <a:off x="6946824" y="3687622"/>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946824" y="368762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184568" y="3806494"/>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Eighteen of twenty-one is the honest number. </a:t>
            </a:r>
            <a:r>
              <a:rPr sz="1050" b="0" i="0">
                <a:solidFill>
                  <a:srgbClr val="1C1C1E"/>
                </a:solidFill>
                <a:latin typeface="Calibri"/>
              </a:rPr>
              <a:t>The strongest claim this design makes is that the laws are the acceptance criteria, and a claim only partly true reads as wholly true to everybody who does not check. The count is computed from the table's own rows.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IS ENFORCED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Eighteen of the twenty-one run; three do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34</a:t>
            </a:r>
          </a:p>
        </p:txBody>
      </p:sp>
      <p:graphicFrame>
        <p:nvGraphicFramePr>
          <p:cNvPr id="10" name="Table 9"/>
          <p:cNvGraphicFramePr>
            <a:graphicFrameLocks noGrp="1"/>
          </p:cNvGraphicFramePr>
          <p:nvPr/>
        </p:nvGraphicFramePr>
        <p:xfrm>
          <a:off x="777240" y="1353312"/>
          <a:ext cx="5212235" cy="2726736"/>
        </p:xfrm>
        <a:graphic>
          <a:graphicData uri="http://schemas.openxmlformats.org/drawingml/2006/table">
            <a:tbl>
              <a:tblPr firstRow="1">
                <a:tableStyleId>{5C22544A-7EE6-4342-B048-85BDC9FD1C3A}</a:tableStyleId>
              </a:tblPr>
              <a:tblGrid>
                <a:gridCol w="640099"/>
                <a:gridCol w="4572136"/>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What it says</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L-1</a:t>
                      </a:r>
                    </a:p>
                  </a:txBody>
                  <a:tcPr marL="82296" marR="64008" marT="32004" marB="32004" anchor="ctr">
                    <a:solidFill>
                      <a:srgbClr val="FFFFFF"/>
                    </a:solidFill>
                  </a:tcPr>
                </a:tc>
                <a:tc>
                  <a:txBody>
                    <a:bodyPr wrap="square"/>
                    <a:lstStyle/>
                    <a:p>
                      <a:pPr algn="l"/>
                      <a:r>
                        <a:rPr sz="900" b="0">
                          <a:solidFill>
                            <a:srgbClr val="1C1C1E"/>
                          </a:solidFill>
                          <a:latin typeface="Calibri"/>
                        </a:rPr>
                        <a:t>no state is reachable except along declared transitions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L-2</a:t>
                      </a:r>
                    </a:p>
                  </a:txBody>
                  <a:tcPr marL="82296" marR="64008" marT="32004" marB="32004" anchor="ctr">
                    <a:solidFill>
                      <a:srgbClr val="F6F3EF"/>
                    </a:solidFill>
                  </a:tcPr>
                </a:tc>
                <a:tc>
                  <a:txBody>
                    <a:bodyPr wrap="square"/>
                    <a:lstStyle/>
                    <a:p>
                      <a:pPr algn="l"/>
                      <a:r>
                        <a:rPr sz="900" b="0">
                          <a:solidFill>
                            <a:srgbClr val="1C1C1E"/>
                          </a:solidFill>
                          <a:latin typeface="Calibri"/>
                        </a:rPr>
                        <a:t>a version's content hash never moves over its lifetime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L-3</a:t>
                      </a:r>
                    </a:p>
                  </a:txBody>
                  <a:tcPr marL="82296" marR="64008" marT="32004" marB="32004" anchor="ctr">
                    <a:solidFill>
                      <a:srgbClr val="FFFFFF"/>
                    </a:solidFill>
                  </a:tcPr>
                </a:tc>
                <a:tc>
                  <a:txBody>
                    <a:bodyPr wrap="square"/>
                    <a:lstStyle/>
                    <a:p>
                      <a:pPr algn="l"/>
                      <a:r>
                        <a:rPr sz="900" b="0">
                          <a:solidFill>
                            <a:srgbClr val="1C1C1E"/>
                          </a:solidFill>
                          <a:latin typeface="Calibri"/>
                        </a:rPr>
                        <a:t>a determinism claim is checked by executing twice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L-4</a:t>
                      </a:r>
                    </a:p>
                  </a:txBody>
                  <a:tcPr marL="82296" marR="64008" marT="32004" marB="32004" anchor="ctr">
                    <a:solidFill>
                      <a:srgbClr val="F6F3EF"/>
                    </a:solidFill>
                  </a:tcPr>
                </a:tc>
                <a:tc>
                  <a:txBody>
                    <a:bodyPr wrap="square"/>
                    <a:lstStyle/>
                    <a:p>
                      <a:pPr algn="l"/>
                      <a:r>
                        <a:rPr sz="900" b="0">
                          <a:solidFill>
                            <a:srgbClr val="1C1C1E"/>
                          </a:solidFill>
                          <a:latin typeface="Calibri"/>
                        </a:rPr>
                        <a:t>tiering is monotone in materiality and complexity</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L-5</a:t>
                      </a:r>
                    </a:p>
                  </a:txBody>
                  <a:tcPr marL="82296" marR="64008" marT="32004" marB="32004" anchor="ctr">
                    <a:solidFill>
                      <a:srgbClr val="FFFFFF"/>
                    </a:solidFill>
                  </a:tcPr>
                </a:tc>
                <a:tc>
                  <a:txBody>
                    <a:bodyPr wrap="square"/>
                    <a:lstStyle/>
                    <a:p>
                      <a:pPr algn="l"/>
                      <a:r>
                        <a:rPr sz="900" b="0">
                          <a:solidFill>
                            <a:srgbClr val="1C1C1E"/>
                          </a:solidFill>
                          <a:latin typeface="Calibri"/>
                        </a:rPr>
                        <a:t>the required controls and the tier determine each other</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L-7</a:t>
                      </a:r>
                    </a:p>
                  </a:txBody>
                  <a:tcPr marL="82296" marR="64008" marT="32004" marB="32004" anchor="ctr">
                    <a:solidFill>
                      <a:srgbClr val="F6F3EF"/>
                    </a:solidFill>
                  </a:tcPr>
                </a:tc>
                <a:tc>
                  <a:txBody>
                    <a:bodyPr wrap="square"/>
                    <a:lstStyle/>
                    <a:p>
                      <a:pPr algn="l"/>
                      <a:r>
                        <a:rPr sz="900" b="0">
                          <a:solidFill>
                            <a:srgbClr val="1C1C1E"/>
                          </a:solidFill>
                          <a:latin typeface="Calibri"/>
                        </a:rPr>
                        <a:t>an alias move requires the new contract to refine the old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L-8</a:t>
                      </a:r>
                    </a:p>
                  </a:txBody>
                  <a:tcPr marL="82296" marR="64008" marT="32004" marB="32004" anchor="ctr">
                    <a:solidFill>
                      <a:srgbClr val="FFFFFF"/>
                    </a:solidFill>
                  </a:tcPr>
                </a:tc>
                <a:tc>
                  <a:txBody>
                    <a:bodyPr wrap="square"/>
                    <a:lstStyle/>
                    <a:p>
                      <a:pPr algn="l"/>
                      <a:r>
                        <a:rPr sz="900" b="0">
                          <a:solidFill>
                            <a:srgbClr val="1C1C1E"/>
                          </a:solidFill>
                          <a:latin typeface="Calibri"/>
                        </a:rPr>
                        <a:t>a regulatory regime's translation preserves truth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L-9</a:t>
                      </a:r>
                    </a:p>
                  </a:txBody>
                  <a:tcPr marL="82296" marR="64008" marT="32004" marB="32004" anchor="ctr">
                    <a:solidFill>
                      <a:srgbClr val="F6F3EF"/>
                    </a:solidFill>
                  </a:tcPr>
                </a:tc>
                <a:tc>
                  <a:txBody>
                    <a:bodyPr wrap="square"/>
                    <a:lstStyle/>
                    <a:p>
                      <a:pPr algn="l"/>
                      <a:r>
                        <a:rPr sz="900" b="0">
                          <a:solidFill>
                            <a:srgbClr val="1C1C1E"/>
                          </a:solidFill>
                          <a:latin typeface="Calibri"/>
                        </a:rPr>
                        <a:t>one traversal answers every provenance question</a:t>
                      </a:r>
                    </a:p>
                  </a:txBody>
                  <a:tcPr marL="82296" marR="64008" marT="32004" marB="32004" anchor="ctr">
                    <a:solidFill>
                      <a:srgbClr val="F6F3EF"/>
                    </a:solidFill>
                  </a:tcPr>
                </a:tc>
              </a:tr>
            </a:tbl>
          </a:graphicData>
        </a:graphic>
      </p:graphicFrame>
      <p:graphicFrame>
        <p:nvGraphicFramePr>
          <p:cNvPr id="11" name="Table 10"/>
          <p:cNvGraphicFramePr>
            <a:graphicFrameLocks noGrp="1"/>
          </p:cNvGraphicFramePr>
          <p:nvPr/>
        </p:nvGraphicFramePr>
        <p:xfrm>
          <a:off x="6202219" y="1353312"/>
          <a:ext cx="5212235" cy="2726736"/>
        </p:xfrm>
        <a:graphic>
          <a:graphicData uri="http://schemas.openxmlformats.org/drawingml/2006/table">
            <a:tbl>
              <a:tblPr firstRow="1">
                <a:tableStyleId>{5C22544A-7EE6-4342-B048-85BDC9FD1C3A}</a:tableStyleId>
              </a:tblPr>
              <a:tblGrid>
                <a:gridCol w="640099"/>
                <a:gridCol w="4572136"/>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What it says</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L-10</a:t>
                      </a:r>
                    </a:p>
                  </a:txBody>
                  <a:tcPr marL="82296" marR="64008" marT="32004" marB="32004" anchor="ctr">
                    <a:solidFill>
                      <a:srgbClr val="FFFFFF"/>
                    </a:solidFill>
                  </a:tcPr>
                </a:tc>
                <a:tc>
                  <a:txBody>
                    <a:bodyPr wrap="square"/>
                    <a:lstStyle/>
                    <a:p>
                      <a:pPr algn="l"/>
                      <a:r>
                        <a:rPr sz="900" b="0">
                          <a:solidFill>
                            <a:srgbClr val="1C1C1E"/>
                          </a:solidFill>
                          <a:latin typeface="Calibri"/>
                        </a:rPr>
                        <a:t>the as-of read saturates at the moment of the decision</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L-12</a:t>
                      </a:r>
                    </a:p>
                  </a:txBody>
                  <a:tcPr marL="82296" marR="64008" marT="32004" marB="32004" anchor="ctr">
                    <a:solidFill>
                      <a:srgbClr val="F6F3EF"/>
                    </a:solidFill>
                  </a:tcPr>
                </a:tc>
                <a:tc>
                  <a:txBody>
                    <a:bodyPr wrap="square"/>
                    <a:lstStyle/>
                    <a:p>
                      <a:pPr algn="l"/>
                      <a:r>
                        <a:rPr sz="900" b="0">
                          <a:solidFill>
                            <a:srgbClr val="1C1C1E"/>
                          </a:solidFill>
                          <a:latin typeface="Calibri"/>
                        </a:rPr>
                        <a:t>a replacement accepts at least what it replaced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L-15</a:t>
                      </a:r>
                    </a:p>
                  </a:txBody>
                  <a:tcPr marL="82296" marR="64008" marT="32004" marB="32004" anchor="ctr">
                    <a:solidFill>
                      <a:srgbClr val="FFFFFF"/>
                    </a:solidFill>
                  </a:tcPr>
                </a:tc>
                <a:tc>
                  <a:txBody>
                    <a:bodyPr wrap="square"/>
                    <a:lstStyle/>
                    <a:p>
                      <a:pPr algn="l"/>
                      <a:r>
                        <a:rPr sz="900" b="0">
                          <a:solidFill>
                            <a:srgbClr val="1C1C1E"/>
                          </a:solidFill>
                          <a:latin typeface="Calibri"/>
                        </a:rPr>
                        <a:t>every trainability class has a complete fibre — and none is empty</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L-16</a:t>
                      </a:r>
                    </a:p>
                  </a:txBody>
                  <a:tcPr marL="82296" marR="64008" marT="32004" marB="32004" anchor="ctr">
                    <a:solidFill>
                      <a:srgbClr val="F6F3EF"/>
                    </a:solidFill>
                  </a:tcPr>
                </a:tc>
                <a:tc>
                  <a:txBody>
                    <a:bodyPr wrap="square"/>
                    <a:lstStyle/>
                    <a:p>
                      <a:pPr algn="l"/>
                      <a:r>
                        <a:rPr sz="900" b="0">
                          <a:solidFill>
                            <a:srgbClr val="1C1C1E"/>
                          </a:solidFill>
                          <a:latin typeface="Calibri"/>
                        </a:rPr>
                        <a:t>no regulatory regime obliges and forbids one term</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L-18</a:t>
                      </a:r>
                    </a:p>
                  </a:txBody>
                  <a:tcPr marL="82296" marR="64008" marT="32004" marB="32004" anchor="ctr">
                    <a:solidFill>
                      <a:srgbClr val="FFFFFF"/>
                    </a:solidFill>
                  </a:tcPr>
                </a:tc>
                <a:tc>
                  <a:txBody>
                    <a:bodyPr wrap="square"/>
                    <a:lstStyle/>
                    <a:p>
                      <a:pPr algn="l"/>
                      <a:r>
                        <a:rPr sz="900" b="0">
                          <a:solidFill>
                            <a:srgbClr val="1C1C1E"/>
                          </a:solidFill>
                          <a:latin typeface="Calibri"/>
                        </a:rPr>
                        <a:t>no personal data inside an evidence node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L-19</a:t>
                      </a:r>
                    </a:p>
                  </a:txBody>
                  <a:tcPr marL="82296" marR="64008" marT="32004" marB="32004" anchor="ctr">
                    <a:solidFill>
                      <a:srgbClr val="F6F3EF"/>
                    </a:solidFill>
                  </a:tcPr>
                </a:tc>
                <a:tc>
                  <a:txBody>
                    <a:bodyPr wrap="square"/>
                    <a:lstStyle/>
                    <a:p>
                      <a:pPr algn="l"/>
                      <a:r>
                        <a:rPr sz="900" b="0">
                          <a:solidFill>
                            <a:srgbClr val="1C1C1E"/>
                          </a:solidFill>
                          <a:latin typeface="Calibri"/>
                        </a:rPr>
                        <a:t>composition is associative, with an identity</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L-20</a:t>
                      </a:r>
                    </a:p>
                  </a:txBody>
                  <a:tcPr marL="82296" marR="64008" marT="32004" marB="32004" anchor="ctr">
                    <a:solidFill>
                      <a:srgbClr val="FFFFFF"/>
                    </a:solidFill>
                  </a:tcPr>
                </a:tc>
                <a:tc>
                  <a:txBody>
                    <a:bodyPr wrap="square"/>
                    <a:lstStyle/>
                    <a:p>
                      <a:pPr algn="l"/>
                      <a:r>
                        <a:rPr sz="900" b="0">
                          <a:solidFill>
                            <a:srgbClr val="1C1C1E"/>
                          </a:solidFill>
                          <a:latin typeface="Calibri"/>
                        </a:rPr>
                        <a:t>schemas form a lattice; independent edits commute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L-21</a:t>
                      </a:r>
                    </a:p>
                  </a:txBody>
                  <a:tcPr marL="82296" marR="64008" marT="32004" marB="32004" anchor="ctr">
                    <a:solidFill>
                      <a:srgbClr val="F6F3EF"/>
                    </a:solidFill>
                  </a:tcPr>
                </a:tc>
                <a:tc>
                  <a:txBody>
                    <a:bodyPr wrap="square"/>
                    <a:lstStyle/>
                    <a:p>
                      <a:pPr algn="l"/>
                      <a:r>
                        <a:rPr sz="900" b="0">
                          <a:solidFill>
                            <a:srgbClr val="1C1C1E"/>
                          </a:solidFill>
                          <a:latin typeface="Calibri"/>
                        </a:rPr>
                        <a:t>a dependency edge type-checks or does not exist</a:t>
                      </a:r>
                    </a:p>
                  </a:txBody>
                  <a:tcPr marL="82296" marR="64008" marT="32004" marB="32004" anchor="ctr">
                    <a:solidFill>
                      <a:srgbClr val="F6F3EF"/>
                    </a:solidFill>
                  </a:tcPr>
                </a:tc>
              </a:tr>
            </a:tbl>
          </a:graphicData>
        </a:graphic>
      </p:graphicFrame>
      <p:graphicFrame>
        <p:nvGraphicFramePr>
          <p:cNvPr id="12" name="Table 11"/>
          <p:cNvGraphicFramePr>
            <a:graphicFrameLocks noGrp="1"/>
          </p:cNvGraphicFramePr>
          <p:nvPr/>
        </p:nvGraphicFramePr>
        <p:xfrm>
          <a:off x="777240" y="4317796"/>
          <a:ext cx="10637214" cy="1527960"/>
        </p:xfrm>
        <a:graphic>
          <a:graphicData uri="http://schemas.openxmlformats.org/drawingml/2006/table">
            <a:tbl>
              <a:tblPr firstRow="1">
                <a:tableStyleId>{5C22544A-7EE6-4342-B048-85BDC9FD1C3A}</a:tableStyleId>
              </a:tblPr>
              <a:tblGrid>
                <a:gridCol w="2377235"/>
                <a:gridCol w="8259979"/>
              </a:tblGrid>
              <a:tr h="329184">
                <a:tc>
                  <a:txBody>
                    <a:bodyPr wrap="square"/>
                    <a:lstStyle/>
                    <a:p>
                      <a:pPr algn="l"/>
                      <a:r>
                        <a:rPr sz="900" b="1">
                          <a:solidFill>
                            <a:srgbClr val="FFFFFF"/>
                          </a:solidFill>
                          <a:latin typeface="Calibri"/>
                        </a:rPr>
                        <a:t>Not built</a:t>
                      </a:r>
                    </a:p>
                  </a:txBody>
                  <a:tcPr marL="82296" marR="64008" marT="32004" marB="32004" anchor="ctr">
                    <a:solidFill>
                      <a:srgbClr val="4A4F57"/>
                    </a:solidFill>
                  </a:tcPr>
                </a:tc>
                <a:tc>
                  <a:txBody>
                    <a:bodyPr wrap="square"/>
                    <a:lstStyle/>
                    <a:p>
                      <a:pPr algn="l"/>
                      <a:r>
                        <a:rPr sz="900" b="1">
                          <a:solidFill>
                            <a:srgbClr val="FFFFFF"/>
                          </a:solidFill>
                          <a:latin typeface="Calibri"/>
                        </a:rPr>
                        <a:t>Why not</a:t>
                      </a:r>
                    </a:p>
                  </a:txBody>
                  <a:tcPr marL="82296" marR="64008" marT="32004" marB="32004" anchor="ctr">
                    <a:solidFill>
                      <a:srgbClr val="4A4F57"/>
                    </a:solidFill>
                  </a:tcPr>
                </a:tc>
              </a:tr>
              <a:tr h="299694">
                <a:tc>
                  <a:txBody>
                    <a:bodyPr wrap="square"/>
                    <a:lstStyle/>
                    <a:p>
                      <a:pPr algn="l"/>
                      <a:r>
                        <a:rPr sz="900" b="1">
                          <a:solidFill>
                            <a:srgbClr val="A51C30"/>
                          </a:solidFill>
                          <a:latin typeface="Calibri"/>
                        </a:rPr>
                        <a:t>L-6  abstraction soundness</a:t>
                      </a:r>
                    </a:p>
                  </a:txBody>
                  <a:tcPr marL="82296" marR="64008" marT="32004" marB="32004" anchor="ctr">
                    <a:solidFill>
                      <a:srgbClr val="FFFFFF"/>
                    </a:solidFill>
                  </a:tcPr>
                </a:tc>
                <a:tc>
                  <a:txBody>
                    <a:bodyPr wrap="square"/>
                    <a:lstStyle/>
                    <a:p>
                      <a:pPr algn="l"/>
                      <a:r>
                        <a:rPr sz="900" b="0">
                          <a:solidFill>
                            <a:srgbClr val="1C1C1E"/>
                          </a:solidFill>
                          <a:latin typeface="Calibri"/>
                        </a:rPr>
                        <a:t>nothing compares a generated summary with what it summarises; the replay that could exists for validation episodes, not documents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L-11  lens laws</a:t>
                      </a:r>
                    </a:p>
                  </a:txBody>
                  <a:tcPr marL="82296" marR="64008" marT="32004" marB="32004" anchor="ctr">
                    <a:solidFill>
                      <a:srgbClr val="F6F3EF"/>
                    </a:solidFill>
                  </a:tcPr>
                </a:tc>
                <a:tc>
                  <a:txBody>
                    <a:bodyPr wrap="square"/>
                    <a:lstStyle/>
                    <a:p>
                      <a:pPr algn="l"/>
                      <a:r>
                        <a:rPr sz="900" b="0">
                          <a:solidFill>
                            <a:srgbClr val="1C1C1E"/>
                          </a:solidFill>
                          <a:latin typeface="Calibri"/>
                        </a:rPr>
                        <a:t>documentation is regenerated whole rather than edited back, so there is no round trip to test</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L-13  evidence gluing</a:t>
                      </a:r>
                    </a:p>
                  </a:txBody>
                  <a:tcPr marL="82296" marR="64008" marT="32004" marB="32004" anchor="ctr">
                    <a:solidFill>
                      <a:srgbClr val="FFFFFF"/>
                    </a:solidFill>
                  </a:tcPr>
                </a:tc>
                <a:tc>
                  <a:txBody>
                    <a:bodyPr wrap="square"/>
                    <a:lstStyle/>
                    <a:p>
                      <a:pPr algn="l"/>
                      <a:r>
                        <a:rPr sz="900" b="0">
                          <a:solidFill>
                            <a:srgbClr val="1C1C1E"/>
                          </a:solidFill>
                          <a:latin typeface="Calibri"/>
                        </a:rPr>
                        <a:t>no consistency radius is computed anywhere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L-14  lax monoidality of risk</a:t>
                      </a:r>
                    </a:p>
                  </a:txBody>
                  <a:tcPr marL="82296" marR="64008" marT="32004" marB="32004" anchor="ctr">
                    <a:solidFill>
                      <a:srgbClr val="F6F3EF"/>
                    </a:solidFill>
                  </a:tcPr>
                </a:tc>
                <a:tc>
                  <a:txBody>
                    <a:bodyPr wrap="square"/>
                    <a:lstStyle/>
                    <a:p>
                      <a:pPr algn="l"/>
                      <a:r>
                        <a:rPr sz="900" b="0">
                          <a:solidFill>
                            <a:srgbClr val="1C1C1E"/>
                          </a:solidFill>
                          <a:latin typeface="Calibri"/>
                        </a:rPr>
                        <a:t>there is no aggregate risk measure over composed models, and no interaction premium</a:t>
                      </a:r>
                    </a:p>
                  </a:txBody>
                  <a:tcPr marL="82296" marR="64008" marT="32004" marB="32004" anchor="ctr">
                    <a:solidFill>
                      <a:srgbClr val="F6F3E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THEY CATCH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laws refuse — and one thing they cannot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35</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run that will not say which numbers it used  ·  L-W8</a:t>
            </a:r>
          </a:p>
        </p:txBody>
      </p:sp>
      <p:sp>
        <p:nvSpPr>
          <p:cNvPr id="14" name="TextBox 13"/>
          <p:cNvSpPr txBox="1"/>
          <p:nvPr/>
        </p:nvSpPr>
        <p:spPr>
          <a:xfrm>
            <a:off x="996695" y="2350008"/>
            <a:ext cx="4742535" cy="786383"/>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Fitting does not change the kernel, so a run declining to name the point of P it runs at produces a number attributable to nothing. Three of the shipped warrant examples were under-specified this way until the law ran.</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calibration with no as-of moment  ·  L-W11</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calibration reproduces a market rather than summarising a history, so the moment it was solved for is part of what it means. Without the stamp, staleness is silent: yesterday's fit prices today's book and nothing says which market it came from.</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generative model named by family, not by build  ·  L-W13</a:t>
            </a:r>
          </a:p>
        </p:txBody>
      </p:sp>
      <p:sp>
        <p:nvSpPr>
          <p:cNvPr id="24" name="TextBox 23"/>
          <p:cNvSpPr txBox="1"/>
          <p:nvPr/>
        </p:nvSpPr>
        <p:spPr>
          <a:xfrm>
            <a:off x="996695" y="4498848"/>
            <a:ext cx="4742535"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family name covers weights the host replaces on its own schedule, unannounced. A warrant carrying only the family describes a model that can change between two runs while every field of the document stays identical.</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And one law whose name oversells it  ·  L-15</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Every class gets a complete fibre — evidence schema, lifecycle, metrics, templates — and the gate runs at start-up, so a partial fibre is refused before anything is served. It is a dictionary over T0–T8 with a totality check rather than a fibration. What closed it was moving the base off the free-text model_class onto the DERIVED class: a totality gate over free text is defeated by typing a word nobody registered.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Concepts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objects a practitioner works with, each with a worked example small enough to hold in your head.</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9 · The shape of the whole thing</a:t>
            </a:r>
          </a:p>
          <a:p>
            <a:pPr>
              <a:lnSpc>
                <a:spcPct val="115000"/>
              </a:lnSpc>
              <a:spcBef>
                <a:spcPts val="0"/>
              </a:spcBef>
              <a:spcAft>
                <a:spcPts val="800"/>
              </a:spcAft>
            </a:pPr>
            <a:r>
              <a:rPr sz="1150" b="0" i="0">
                <a:solidFill>
                  <a:srgbClr val="E4DED6"/>
                </a:solidFill>
                <a:latin typeface="Calibri"/>
              </a:rPr>
              <a:t>10 · What a feature is</a:t>
            </a:r>
          </a:p>
          <a:p>
            <a:pPr>
              <a:lnSpc>
                <a:spcPct val="115000"/>
              </a:lnSpc>
              <a:spcBef>
                <a:spcPts val="0"/>
              </a:spcBef>
              <a:spcAft>
                <a:spcPts val="800"/>
              </a:spcAft>
            </a:pPr>
            <a:r>
              <a:rPr sz="1150" b="0" i="0">
                <a:solidFill>
                  <a:srgbClr val="E4DED6"/>
                </a:solidFill>
                <a:latin typeface="Calibri"/>
              </a:rPr>
              <a:t>11 · What a featureset is</a:t>
            </a:r>
          </a:p>
          <a:p>
            <a:pPr>
              <a:lnSpc>
                <a:spcPct val="115000"/>
              </a:lnSpc>
              <a:spcBef>
                <a:spcPts val="0"/>
              </a:spcBef>
              <a:spcAft>
                <a:spcPts val="800"/>
              </a:spcAft>
            </a:pPr>
            <a:r>
              <a:rPr sz="1150" b="0" i="0">
                <a:solidFill>
                  <a:srgbClr val="E4DED6"/>
                </a:solidFill>
                <a:latin typeface="Calibri"/>
              </a:rPr>
              <a:t>12 · Warrants, and what comes back</a:t>
            </a:r>
          </a:p>
          <a:p>
            <a:pPr>
              <a:lnSpc>
                <a:spcPct val="115000"/>
              </a:lnSpc>
              <a:spcBef>
                <a:spcPts val="0"/>
              </a:spcBef>
              <a:spcAft>
                <a:spcPts val="800"/>
              </a:spcAft>
            </a:pPr>
            <a:r>
              <a:rPr sz="1150" b="0" i="0">
                <a:solidFill>
                  <a:srgbClr val="E4DED6"/>
                </a:solidFill>
                <a:latin typeface="Calibri"/>
              </a:rPr>
              <a:t>13 · How things compose</a:t>
            </a:r>
          </a:p>
          <a:p>
            <a:pPr>
              <a:lnSpc>
                <a:spcPct val="115000"/>
              </a:lnSpc>
              <a:spcBef>
                <a:spcPts val="0"/>
              </a:spcBef>
              <a:spcAft>
                <a:spcPts val="800"/>
              </a:spcAft>
            </a:pPr>
            <a:r>
              <a:rPr sz="1150" b="0" i="0">
                <a:solidFill>
                  <a:srgbClr val="E4DED6"/>
                </a:solidFill>
                <a:latin typeface="Calibri"/>
              </a:rPr>
              <a:t>14 · Documentation, as a graph</a:t>
            </a:r>
          </a:p>
          <a:p>
            <a:pPr>
              <a:lnSpc>
                <a:spcPct val="115000"/>
              </a:lnSpc>
              <a:spcBef>
                <a:spcPts val="0"/>
              </a:spcBef>
              <a:spcAft>
                <a:spcPts val="800"/>
              </a:spcAft>
            </a:pPr>
            <a:r>
              <a:rPr sz="1150" b="0" i="0">
                <a:solidFill>
                  <a:srgbClr val="E4DED6"/>
                </a:solidFill>
                <a:latin typeface="Calibri"/>
              </a:rPr>
              <a:t>15 · What MAYA refuses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seven objects, and what each one answers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37</a:t>
            </a:r>
          </a:p>
        </p:txBody>
      </p:sp>
      <p:graphicFrame>
        <p:nvGraphicFramePr>
          <p:cNvPr id="10" name="Table 9"/>
          <p:cNvGraphicFramePr>
            <a:graphicFrameLocks noGrp="1"/>
          </p:cNvGraphicFramePr>
          <p:nvPr/>
        </p:nvGraphicFramePr>
        <p:xfrm>
          <a:off x="777240" y="1353312"/>
          <a:ext cx="10637214" cy="2716784"/>
        </p:xfrm>
        <a:graphic>
          <a:graphicData uri="http://schemas.openxmlformats.org/drawingml/2006/table">
            <a:tbl>
              <a:tblPr firstRow="1">
                <a:tableStyleId>{5C22544A-7EE6-4342-B048-85BDC9FD1C3A}</a:tableStyleId>
              </a:tblPr>
              <a:tblGrid>
                <a:gridCol w="1834002"/>
                <a:gridCol w="5226907"/>
                <a:gridCol w="3576305"/>
              </a:tblGrid>
              <a:tr h="329184">
                <a:tc>
                  <a:txBody>
                    <a:bodyPr wrap="square"/>
                    <a:lstStyle/>
                    <a:p>
                      <a:pPr algn="l"/>
                      <a:r>
                        <a:rPr sz="1000" b="1">
                          <a:solidFill>
                            <a:srgbClr val="FFFFFF"/>
                          </a:solidFill>
                          <a:latin typeface="Calibri"/>
                        </a:rPr>
                        <a:t>Object</a:t>
                      </a:r>
                    </a:p>
                  </a:txBody>
                  <a:tcPr marL="82296" marR="64008" marT="32004" marB="32004" anchor="ctr">
                    <a:solidFill>
                      <a:srgbClr val="A51C30"/>
                    </a:solidFill>
                  </a:tcPr>
                </a:tc>
                <a:tc>
                  <a:txBody>
                    <a:bodyPr wrap="square"/>
                    <a:lstStyle/>
                    <a:p>
                      <a:pPr algn="l"/>
                      <a:r>
                        <a:rPr sz="1000" b="1">
                          <a:solidFill>
                            <a:srgbClr val="FFFFFF"/>
                          </a:solidFill>
                          <a:latin typeface="Calibri"/>
                        </a:rPr>
                        <a:t>Answers</a:t>
                      </a:r>
                    </a:p>
                  </a:txBody>
                  <a:tcPr marL="82296" marR="64008" marT="32004" marB="32004" anchor="ctr">
                    <a:solidFill>
                      <a:srgbClr val="A51C30"/>
                    </a:solidFill>
                  </a:tcPr>
                </a:tc>
                <a:tc>
                  <a:txBody>
                    <a:bodyPr wrap="square"/>
                    <a:lstStyle/>
                    <a:p>
                      <a:pPr algn="l"/>
                      <a:r>
                        <a:rPr sz="1000" b="1">
                          <a:solidFill>
                            <a:srgbClr val="FFFFFF"/>
                          </a:solidFill>
                          <a:latin typeface="Calibri"/>
                        </a:rPr>
                        <a:t>Pinned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Feature</a:t>
                      </a:r>
                    </a:p>
                  </a:txBody>
                  <a:tcPr marL="82296" marR="64008" marT="32004" marB="32004" anchor="ctr">
                    <a:solidFill>
                      <a:srgbClr val="FFFFFF"/>
                    </a:solidFill>
                  </a:tcPr>
                </a:tc>
                <a:tc>
                  <a:txBody>
                    <a:bodyPr wrap="square"/>
                    <a:lstStyle/>
                    <a:p>
                      <a:pPr algn="l"/>
                      <a:r>
                        <a:rPr sz="1000" b="0">
                          <a:solidFill>
                            <a:srgbClr val="1C1C1E"/>
                          </a:solidFill>
                          <a:latin typeface="Calibri"/>
                        </a:rPr>
                        <a:t>what this signal MEANS — entity, shape, owner, definition</a:t>
                      </a:r>
                    </a:p>
                  </a:txBody>
                  <a:tcPr marL="82296" marR="64008" marT="32004" marB="32004" anchor="ctr">
                    <a:solidFill>
                      <a:srgbClr val="FFFFFF"/>
                    </a:solidFill>
                  </a:tcPr>
                </a:tc>
                <a:tc>
                  <a:txBody>
                    <a:bodyPr wrap="square"/>
                    <a:lstStyle/>
                    <a:p>
                      <a:pPr algn="l"/>
                      <a:r>
                        <a:rPr sz="1000" b="0">
                          <a:solidFill>
                            <a:srgbClr val="1C1C1E"/>
                          </a:solidFill>
                          <a:latin typeface="Calibri"/>
                        </a:rPr>
                        <a:t>nothing; it is a declaration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view version</a:t>
                      </a:r>
                    </a:p>
                  </a:txBody>
                  <a:tcPr marL="82296" marR="64008" marT="32004" marB="32004" anchor="ctr">
                    <a:solidFill>
                      <a:srgbClr val="F6F3EF"/>
                    </a:solidFill>
                  </a:tcPr>
                </a:tc>
                <a:tc>
                  <a:txBody>
                    <a:bodyPr wrap="square"/>
                    <a:lstStyle/>
                    <a:p>
                      <a:pPr algn="l"/>
                      <a:r>
                        <a:rPr sz="1000" b="0">
                          <a:solidFill>
                            <a:srgbClr val="1C1C1E"/>
                          </a:solidFill>
                          <a:latin typeface="Calibri"/>
                        </a:rPr>
                        <a:t>where the values ARE, at a stored version that does not move</a:t>
                      </a:r>
                    </a:p>
                  </a:txBody>
                  <a:tcPr marL="82296" marR="64008" marT="32004" marB="32004" anchor="ctr">
                    <a:solidFill>
                      <a:srgbClr val="F6F3EF"/>
                    </a:solidFill>
                  </a:tcPr>
                </a:tc>
                <a:tc>
                  <a:txBody>
                    <a:bodyPr wrap="square"/>
                    <a:lstStyle/>
                    <a:p>
                      <a:pPr algn="l"/>
                      <a:r>
                        <a:rPr sz="1000" b="0">
                          <a:solidFill>
                            <a:srgbClr val="1C1C1E"/>
                          </a:solidFill>
                          <a:latin typeface="Calibri"/>
                        </a:rPr>
                        <a:t>a featureset version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Featureset</a:t>
                      </a:r>
                    </a:p>
                  </a:txBody>
                  <a:tcPr marL="82296" marR="64008" marT="32004" marB="32004" anchor="ctr">
                    <a:solidFill>
                      <a:srgbClr val="FFFFFF"/>
                    </a:solidFill>
                  </a:tcPr>
                </a:tc>
                <a:tc>
                  <a:txBody>
                    <a:bodyPr wrap="square"/>
                    <a:lstStyle/>
                    <a:p>
                      <a:pPr algn="l"/>
                      <a:r>
                        <a:rPr sz="1000" b="0">
                          <a:solidFill>
                            <a:srgbClr val="1C1C1E"/>
                          </a:solidFill>
                          <a:latin typeface="Calibri"/>
                        </a:rPr>
                        <a:t>what X IS: a schema of named slots a kernel is defined over</a:t>
                      </a:r>
                    </a:p>
                  </a:txBody>
                  <a:tcPr marL="82296" marR="64008" marT="32004" marB="32004" anchor="ctr">
                    <a:solidFill>
                      <a:srgbClr val="FFFFFF"/>
                    </a:solidFill>
                  </a:tcPr>
                </a:tc>
                <a:tc>
                  <a:txBody>
                    <a:bodyPr wrap="square"/>
                    <a:lstStyle/>
                    <a:p>
                      <a:pPr algn="l"/>
                      <a:r>
                        <a:rPr sz="1000" b="0">
                          <a:solidFill>
                            <a:srgbClr val="1C1C1E"/>
                          </a:solidFill>
                          <a:latin typeface="Calibri"/>
                        </a:rPr>
                        <a:t>a model version's contract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which features fill that schema, and from which exact bytes</a:t>
                      </a:r>
                    </a:p>
                  </a:txBody>
                  <a:tcPr marL="82296" marR="64008" marT="32004" marB="32004" anchor="ctr">
                    <a:solidFill>
                      <a:srgbClr val="F6F3EF"/>
                    </a:solidFill>
                  </a:tcPr>
                </a:tc>
                <a:tc>
                  <a:txBody>
                    <a:bodyPr wrap="square"/>
                    <a:lstStyle/>
                    <a:p>
                      <a:pPr algn="l"/>
                      <a:r>
                        <a:rPr sz="1000" b="0">
                          <a:solidFill>
                            <a:srgbClr val="1C1C1E"/>
                          </a:solidFill>
                          <a:latin typeface="Calibri"/>
                        </a:rPr>
                        <a:t>a warrant, a snapshot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Model version</a:t>
                      </a:r>
                    </a:p>
                  </a:txBody>
                  <a:tcPr marL="82296" marR="64008" marT="32004" marB="32004" anchor="ctr">
                    <a:solidFill>
                      <a:srgbClr val="FFFFFF"/>
                    </a:solidFill>
                  </a:tcPr>
                </a:tc>
                <a:tc>
                  <a:txBody>
                    <a:bodyPr wrap="square"/>
                    <a:lstStyle/>
                    <a:p>
                      <a:pPr algn="l"/>
                      <a:r>
                        <a:rPr sz="1000" b="0">
                          <a:solidFill>
                            <a:srgbClr val="1C1C1E"/>
                          </a:solidFill>
                          <a:latin typeface="Calibri"/>
                        </a:rPr>
                        <a:t>the kernel f : P ⊗ X → D(Y) — immutable once approved</a:t>
                      </a:r>
                    </a:p>
                  </a:txBody>
                  <a:tcPr marL="82296" marR="64008" marT="32004" marB="32004" anchor="ctr">
                    <a:solidFill>
                      <a:srgbClr val="FFFFFF"/>
                    </a:solidFill>
                  </a:tcPr>
                </a:tc>
                <a:tc>
                  <a:txBody>
                    <a:bodyPr wrap="square"/>
                    <a:lstStyle/>
                    <a:p>
                      <a:pPr algn="l"/>
                      <a:r>
                        <a:rPr sz="1000" b="0">
                          <a:solidFill>
                            <a:srgbClr val="1C1C1E"/>
                          </a:solidFill>
                          <a:latin typeface="Calibri"/>
                        </a:rPr>
                        <a:t>a warrant, an alias</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Warrant</a:t>
                      </a:r>
                    </a:p>
                  </a:txBody>
                  <a:tcPr marL="82296" marR="64008" marT="32004" marB="32004" anchor="ctr">
                    <a:solidFill>
                      <a:srgbClr val="F6F3EF"/>
                    </a:solidFill>
                  </a:tcPr>
                </a:tc>
                <a:tc>
                  <a:txBody>
                    <a:bodyPr wrap="square"/>
                    <a:lstStyle/>
                    <a:p>
                      <a:pPr algn="l"/>
                      <a:r>
                        <a:rPr sz="1000" b="0">
                          <a:solidFill>
                            <a:srgbClr val="1C1C1E"/>
                          </a:solidFill>
                          <a:latin typeface="Calibri"/>
                        </a:rPr>
                        <a:t>a signed authorisation for ONE act — what may be run, by whom, on what data, until when. A FIT warrant to estimate; a SCORING warrant to use</a:t>
                      </a:r>
                    </a:p>
                  </a:txBody>
                  <a:tcPr marL="82296" marR="64008" marT="32004" marB="32004" anchor="ctr">
                    <a:solidFill>
                      <a:srgbClr val="F6F3EF"/>
                    </a:solidFill>
                  </a:tcPr>
                </a:tc>
                <a:tc>
                  <a:txBody>
                    <a:bodyPr wrap="square"/>
                    <a:lstStyle/>
                    <a:p>
                      <a:pPr algn="l"/>
                      <a:r>
                        <a:rPr sz="1000" b="0">
                          <a:solidFill>
                            <a:srgbClr val="1C1C1E"/>
                          </a:solidFill>
                          <a:latin typeface="Calibri"/>
                        </a:rPr>
                        <a:t>signed; nothing pins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numbers a fit produced — one point in P</a:t>
                      </a:r>
                    </a:p>
                  </a:txBody>
                  <a:tcPr marL="82296" marR="64008" marT="32004" marB="32004" anchor="ctr">
                    <a:solidFill>
                      <a:srgbClr val="FFFFFF"/>
                    </a:solidFill>
                  </a:tcPr>
                </a:tc>
                <a:tc>
                  <a:txBody>
                    <a:bodyPr wrap="square"/>
                    <a:lstStyle/>
                    <a:p>
                      <a:pPr algn="l"/>
                      <a:r>
                        <a:rPr sz="1000" b="0">
                          <a:solidFill>
                            <a:srgbClr val="1C1C1E"/>
                          </a:solidFill>
                          <a:latin typeface="Calibri"/>
                        </a:rPr>
                        <a:t>a scoring warrant</a:t>
                      </a:r>
                    </a:p>
                  </a:txBody>
                  <a:tcPr marL="82296" marR="64008" marT="32004" marB="32004" anchor="ctr">
                    <a:solidFill>
                      <a:srgbClr val="FFFFFF"/>
                    </a:solidFill>
                  </a:tcPr>
                </a:tc>
              </a:tr>
            </a:tbl>
          </a:graphicData>
        </a:graphic>
      </p:graphicFrame>
      <p:sp>
        <p:nvSpPr>
          <p:cNvPr id="11" name="Rectangle 10"/>
          <p:cNvSpPr/>
          <p:nvPr/>
        </p:nvSpPr>
        <p:spPr>
          <a:xfrm>
            <a:off x="777240" y="4289552"/>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89552"/>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08424"/>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Read the third column. </a:t>
            </a:r>
            <a:r>
              <a:rPr sz="1050" b="0" i="0">
                <a:solidFill>
                  <a:srgbClr val="1C1C1E"/>
                </a:solidFill>
                <a:latin typeface="Calibri"/>
              </a:rPr>
              <a:t>Every object above is pinned by something further down, and a pin is always to a version rather than to a name. That is why </a:t>
            </a:r>
            <a:r>
              <a:rPr sz="1050" b="1" i="0">
                <a:solidFill>
                  <a:srgbClr val="1C1C1E"/>
                </a:solidFill>
                <a:latin typeface="Calibri"/>
              </a:rPr>
              <a:t>the same identifier resolves to the same bytes a year later.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Model, feature and warrant management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38</a:t>
            </a:r>
          </a:p>
        </p:txBody>
      </p:sp>
      <p:sp>
        <p:nvSpPr>
          <p:cNvPr id="10" name="Rectangle 9"/>
          <p:cNvSpPr/>
          <p:nvPr/>
        </p:nvSpPr>
        <p:spPr>
          <a:xfrm>
            <a:off x="777240" y="1408176"/>
            <a:ext cx="10637215" cy="969264"/>
          </a:xfrm>
          <a:prstGeom prst="rect">
            <a:avLst/>
          </a:prstGeom>
          <a:solidFill>
            <a:srgbClr val="FAF4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08176"/>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536192"/>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Feature</a:t>
            </a:r>
          </a:p>
          <a:p>
            <a:pPr>
              <a:lnSpc>
                <a:spcPct val="112000"/>
              </a:lnSpc>
              <a:spcBef>
                <a:spcPts val="0"/>
              </a:spcBef>
              <a:spcAft>
                <a:spcPts val="0"/>
              </a:spcAft>
            </a:pPr>
            <a:r>
              <a:rPr sz="760" b="0" i="0">
                <a:solidFill>
                  <a:srgbClr val="4A4F57"/>
                </a:solidFill>
                <a:latin typeface="Calibri"/>
              </a:rPr>
              <a:t>what the model reads</a:t>
            </a:r>
          </a:p>
        </p:txBody>
      </p:sp>
      <p:sp>
        <p:nvSpPr>
          <p:cNvPr id="13" name="Chevron 12"/>
          <p:cNvSpPr/>
          <p:nvPr/>
        </p:nvSpPr>
        <p:spPr>
          <a:xfrm>
            <a:off x="1965960"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Define</a:t>
            </a:r>
          </a:p>
          <a:p>
            <a:pPr>
              <a:lnSpc>
                <a:spcPct val="110000"/>
              </a:lnSpc>
              <a:spcBef>
                <a:spcPts val="0"/>
              </a:spcBef>
              <a:spcAft>
                <a:spcPts val="0"/>
              </a:spcAft>
            </a:pPr>
            <a:r>
              <a:rPr sz="740" b="0" i="0">
                <a:solidFill>
                  <a:srgbClr val="4A4F57"/>
                </a:solidFill>
                <a:latin typeface="Calibri"/>
              </a:rPr>
              <a:t>a meaning: entity, shape, owner</a:t>
            </a:r>
          </a:p>
        </p:txBody>
      </p:sp>
      <p:sp>
        <p:nvSpPr>
          <p:cNvPr id="14" name="Chevron 13"/>
          <p:cNvSpPr/>
          <p:nvPr/>
        </p:nvSpPr>
        <p:spPr>
          <a:xfrm>
            <a:off x="3841028"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Derive</a:t>
            </a:r>
          </a:p>
          <a:p>
            <a:pPr>
              <a:lnSpc>
                <a:spcPct val="110000"/>
              </a:lnSpc>
              <a:spcBef>
                <a:spcPts val="0"/>
              </a:spcBef>
              <a:spcAft>
                <a:spcPts val="0"/>
              </a:spcAft>
            </a:pPr>
            <a:r>
              <a:rPr sz="740" b="0" i="0">
                <a:solidFill>
                  <a:srgbClr val="4A4F57"/>
                </a:solidFill>
                <a:latin typeface="Calibri"/>
              </a:rPr>
              <a:t>Z = f(X, Y), lineage recorded</a:t>
            </a:r>
          </a:p>
        </p:txBody>
      </p:sp>
      <p:sp>
        <p:nvSpPr>
          <p:cNvPr id="15" name="Chevron 14"/>
          <p:cNvSpPr/>
          <p:nvPr/>
        </p:nvSpPr>
        <p:spPr>
          <a:xfrm>
            <a:off x="5716097"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Materialise</a:t>
            </a:r>
          </a:p>
          <a:p>
            <a:pPr>
              <a:lnSpc>
                <a:spcPct val="110000"/>
              </a:lnSpc>
              <a:spcBef>
                <a:spcPts val="0"/>
              </a:spcBef>
              <a:spcAft>
                <a:spcPts val="0"/>
              </a:spcAft>
            </a:pPr>
            <a:r>
              <a:rPr sz="740" b="0" i="0">
                <a:solidFill>
                  <a:srgbClr val="4A4F57"/>
                </a:solidFill>
                <a:latin typeface="Calibri"/>
              </a:rPr>
              <a:t>values into a stored version that cannot move</a:t>
            </a:r>
          </a:p>
        </p:txBody>
      </p:sp>
      <p:sp>
        <p:nvSpPr>
          <p:cNvPr id="16" name="Chevron 15"/>
          <p:cNvSpPr/>
          <p:nvPr/>
        </p:nvSpPr>
        <p:spPr>
          <a:xfrm>
            <a:off x="7591165"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Declare a set</a:t>
            </a:r>
          </a:p>
          <a:p>
            <a:pPr>
              <a:lnSpc>
                <a:spcPct val="110000"/>
              </a:lnSpc>
              <a:spcBef>
                <a:spcPts val="0"/>
              </a:spcBef>
              <a:spcAft>
                <a:spcPts val="0"/>
              </a:spcAft>
            </a:pPr>
            <a:r>
              <a:rPr sz="740" b="0" i="0">
                <a:solidFill>
                  <a:srgbClr val="4A4F57"/>
                </a:solidFill>
                <a:latin typeface="Calibri"/>
              </a:rPr>
              <a:t>a SCHEMA of named slots</a:t>
            </a:r>
          </a:p>
        </p:txBody>
      </p:sp>
      <p:sp>
        <p:nvSpPr>
          <p:cNvPr id="17" name="Chevron 16"/>
          <p:cNvSpPr/>
          <p:nvPr/>
        </p:nvSpPr>
        <p:spPr>
          <a:xfrm>
            <a:off x="9466234" y="1490472"/>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Publish v1</a:t>
            </a:r>
          </a:p>
          <a:p>
            <a:pPr>
              <a:lnSpc>
                <a:spcPct val="110000"/>
              </a:lnSpc>
              <a:spcBef>
                <a:spcPts val="0"/>
              </a:spcBef>
              <a:spcAft>
                <a:spcPts val="0"/>
              </a:spcAft>
            </a:pPr>
            <a:r>
              <a:rPr sz="740" b="0" i="0">
                <a:solidFill>
                  <a:srgbClr val="4A4F57"/>
                </a:solidFill>
                <a:latin typeface="Calibri"/>
              </a:rPr>
              <a:t>slots filled, every binding pinned</a:t>
            </a:r>
          </a:p>
        </p:txBody>
      </p:sp>
      <p:sp>
        <p:nvSpPr>
          <p:cNvPr id="18" name="Rectangle 17"/>
          <p:cNvSpPr/>
          <p:nvPr/>
        </p:nvSpPr>
        <p:spPr>
          <a:xfrm>
            <a:off x="777240" y="2798064"/>
            <a:ext cx="10637215" cy="96926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2798064"/>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23544" y="2926080"/>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Model</a:t>
            </a:r>
          </a:p>
          <a:p>
            <a:pPr>
              <a:lnSpc>
                <a:spcPct val="112000"/>
              </a:lnSpc>
              <a:spcBef>
                <a:spcPts val="0"/>
              </a:spcBef>
              <a:spcAft>
                <a:spcPts val="0"/>
              </a:spcAft>
            </a:pPr>
            <a:r>
              <a:rPr sz="760" b="0" i="0">
                <a:solidFill>
                  <a:srgbClr val="4A4F57"/>
                </a:solidFill>
                <a:latin typeface="Calibri"/>
              </a:rPr>
              <a:t>what will run</a:t>
            </a:r>
          </a:p>
        </p:txBody>
      </p:sp>
      <p:sp>
        <p:nvSpPr>
          <p:cNvPr id="21" name="Chevron 20"/>
          <p:cNvSpPr/>
          <p:nvPr/>
        </p:nvSpPr>
        <p:spPr>
          <a:xfrm>
            <a:off x="1965960"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Register</a:t>
            </a:r>
          </a:p>
          <a:p>
            <a:pPr>
              <a:lnSpc>
                <a:spcPct val="110000"/>
              </a:lnSpc>
              <a:spcBef>
                <a:spcPts val="0"/>
              </a:spcBef>
              <a:spcAft>
                <a:spcPts val="0"/>
              </a:spcAft>
            </a:pPr>
            <a:r>
              <a:rPr sz="740" b="0" i="0">
                <a:solidFill>
                  <a:srgbClr val="4A4F57"/>
                </a:solidFill>
                <a:latin typeface="Calibri"/>
              </a:rPr>
              <a:t>owner, purpose, legal entity</a:t>
            </a:r>
          </a:p>
        </p:txBody>
      </p:sp>
      <p:sp>
        <p:nvSpPr>
          <p:cNvPr id="22" name="Chevron 21"/>
          <p:cNvSpPr/>
          <p:nvPr/>
        </p:nvSpPr>
        <p:spPr>
          <a:xfrm>
            <a:off x="3841028"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Assess</a:t>
            </a:r>
          </a:p>
          <a:p>
            <a:pPr>
              <a:lnSpc>
                <a:spcPct val="110000"/>
              </a:lnSpc>
              <a:spcBef>
                <a:spcPts val="0"/>
              </a:spcBef>
              <a:spcAft>
                <a:spcPts val="0"/>
              </a:spcAft>
            </a:pPr>
            <a:r>
              <a:rPr sz="740" b="0" i="0">
                <a:solidFill>
                  <a:srgbClr val="4A4F57"/>
                </a:solidFill>
                <a:latin typeface="Calibri"/>
              </a:rPr>
              <a:t>the risk tier, which sets the control depth</a:t>
            </a:r>
          </a:p>
        </p:txBody>
      </p:sp>
      <p:sp>
        <p:nvSpPr>
          <p:cNvPr id="23" name="Chevron 22"/>
          <p:cNvSpPr/>
          <p:nvPr/>
        </p:nvSpPr>
        <p:spPr>
          <a:xfrm>
            <a:off x="5716097" y="2880360"/>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Create version</a:t>
            </a:r>
          </a:p>
          <a:p>
            <a:pPr>
              <a:lnSpc>
                <a:spcPct val="110000"/>
              </a:lnSpc>
              <a:spcBef>
                <a:spcPts val="0"/>
              </a:spcBef>
              <a:spcAft>
                <a:spcPts val="0"/>
              </a:spcAft>
            </a:pPr>
            <a:r>
              <a:rPr sz="740" b="0" i="0">
                <a:solidFill>
                  <a:srgbClr val="4A4F57"/>
                </a:solidFill>
                <a:latin typeface="Calibri"/>
              </a:rPr>
              <a:t>the kernel f : P ⊗ X → D(Y)</a:t>
            </a:r>
          </a:p>
        </p:txBody>
      </p:sp>
      <p:sp>
        <p:nvSpPr>
          <p:cNvPr id="24" name="Chevron 23"/>
          <p:cNvSpPr/>
          <p:nvPr/>
        </p:nvSpPr>
        <p:spPr>
          <a:xfrm>
            <a:off x="7591165"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a:t>
            </a:r>
          </a:p>
          <a:p>
            <a:pPr>
              <a:lnSpc>
                <a:spcPct val="110000"/>
              </a:lnSpc>
              <a:spcBef>
                <a:spcPts val="0"/>
              </a:spcBef>
              <a:spcAft>
                <a:spcPts val="0"/>
              </a:spcAft>
            </a:pPr>
            <a:r>
              <a:rPr sz="740" b="0" i="0">
                <a:solidFill>
                  <a:srgbClr val="4A4F57"/>
                </a:solidFill>
                <a:latin typeface="Calibri"/>
              </a:rPr>
              <a:t>a quorum whose size follows the tier</a:t>
            </a:r>
          </a:p>
        </p:txBody>
      </p:sp>
      <p:sp>
        <p:nvSpPr>
          <p:cNvPr id="25" name="Chevron 24"/>
          <p:cNvSpPr/>
          <p:nvPr/>
        </p:nvSpPr>
        <p:spPr>
          <a:xfrm>
            <a:off x="9466234"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Point an alias</a:t>
            </a:r>
          </a:p>
          <a:p>
            <a:pPr>
              <a:lnSpc>
                <a:spcPct val="110000"/>
              </a:lnSpc>
              <a:spcBef>
                <a:spcPts val="0"/>
              </a:spcBef>
              <a:spcAft>
                <a:spcPts val="0"/>
              </a:spcAft>
            </a:pPr>
            <a:r>
              <a:rPr sz="740" b="0" i="0">
                <a:solidFill>
                  <a:srgbClr val="4A4F57"/>
                </a:solidFill>
                <a:latin typeface="Calibri"/>
              </a:rPr>
              <a:t>a moving name such as ‘production’; the move is refused unless the contract refines</a:t>
            </a:r>
          </a:p>
        </p:txBody>
      </p:sp>
      <p:sp>
        <p:nvSpPr>
          <p:cNvPr id="26" name="Rectangle 25"/>
          <p:cNvSpPr/>
          <p:nvPr/>
        </p:nvSpPr>
        <p:spPr>
          <a:xfrm>
            <a:off x="777240" y="4187952"/>
            <a:ext cx="10637215" cy="969264"/>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187952"/>
            <a:ext cx="45720" cy="96926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23544" y="4315968"/>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4A4F57"/>
                </a:solidFill>
                <a:latin typeface="Georgia"/>
              </a:rPr>
              <a:t>Execution</a:t>
            </a:r>
          </a:p>
          <a:p>
            <a:pPr>
              <a:lnSpc>
                <a:spcPct val="112000"/>
              </a:lnSpc>
              <a:spcBef>
                <a:spcPts val="0"/>
              </a:spcBef>
              <a:spcAft>
                <a:spcPts val="0"/>
              </a:spcAft>
            </a:pPr>
            <a:r>
              <a:rPr sz="760" b="0" i="0">
                <a:solidFill>
                  <a:srgbClr val="4A4F57"/>
                </a:solidFill>
                <a:latin typeface="Calibri"/>
              </a:rPr>
              <a:t>outside MAYA</a:t>
            </a:r>
          </a:p>
        </p:txBody>
      </p:sp>
      <p:sp>
        <p:nvSpPr>
          <p:cNvPr id="29" name="Chevron 28"/>
          <p:cNvSpPr/>
          <p:nvPr/>
        </p:nvSpPr>
        <p:spPr>
          <a:xfrm>
            <a:off x="1965960"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Fit warrant</a:t>
            </a:r>
          </a:p>
          <a:p>
            <a:pPr>
              <a:lnSpc>
                <a:spcPct val="110000"/>
              </a:lnSpc>
              <a:spcBef>
                <a:spcPts val="0"/>
              </a:spcBef>
              <a:spcAft>
                <a:spcPts val="0"/>
              </a:spcAft>
            </a:pPr>
            <a:r>
              <a:rPr sz="740" b="0" i="0">
                <a:solidFill>
                  <a:srgbClr val="4A4F57"/>
                </a:solidFill>
                <a:latin typeface="Calibri"/>
              </a:rPr>
              <a:t>model version × featureset version × window</a:t>
            </a:r>
          </a:p>
        </p:txBody>
      </p:sp>
      <p:sp>
        <p:nvSpPr>
          <p:cNvPr id="30" name="Chevron 29"/>
          <p:cNvSpPr/>
          <p:nvPr/>
        </p:nvSpPr>
        <p:spPr>
          <a:xfrm>
            <a:off x="3841028"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Engine runs</a:t>
            </a:r>
          </a:p>
          <a:p>
            <a:pPr>
              <a:lnSpc>
                <a:spcPct val="110000"/>
              </a:lnSpc>
              <a:spcBef>
                <a:spcPts val="0"/>
              </a:spcBef>
              <a:spcAft>
                <a:spcPts val="0"/>
              </a:spcAft>
            </a:pPr>
            <a:r>
              <a:rPr sz="740" b="0" i="0">
                <a:solidFill>
                  <a:srgbClr val="4A4F57"/>
                </a:solidFill>
                <a:latin typeface="Calibri"/>
              </a:rPr>
              <a:t>MAYA signs it and waits</a:t>
            </a:r>
          </a:p>
        </p:txBody>
      </p:sp>
      <p:sp>
        <p:nvSpPr>
          <p:cNvPr id="31" name="Chevron 30"/>
          <p:cNvSpPr/>
          <p:nvPr/>
        </p:nvSpPr>
        <p:spPr>
          <a:xfrm>
            <a:off x="5716097"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Parameter set</a:t>
            </a:r>
          </a:p>
          <a:p>
            <a:pPr>
              <a:lnSpc>
                <a:spcPct val="110000"/>
              </a:lnSpc>
              <a:spcBef>
                <a:spcPts val="0"/>
              </a:spcBef>
              <a:spcAft>
                <a:spcPts val="0"/>
              </a:spcAft>
            </a:pPr>
            <a:r>
              <a:rPr sz="740" b="0" i="0">
                <a:solidFill>
                  <a:srgbClr val="4A4F57"/>
                </a:solidFill>
                <a:latin typeface="Calibri"/>
              </a:rPr>
              <a:t>the fitted numbers come back</a:t>
            </a:r>
          </a:p>
        </p:txBody>
      </p:sp>
      <p:sp>
        <p:nvSpPr>
          <p:cNvPr id="32" name="Chevron 31"/>
          <p:cNvSpPr/>
          <p:nvPr/>
        </p:nvSpPr>
        <p:spPr>
          <a:xfrm>
            <a:off x="7591165"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 it</a:t>
            </a:r>
          </a:p>
          <a:p>
            <a:pPr>
              <a:lnSpc>
                <a:spcPct val="110000"/>
              </a:lnSpc>
              <a:spcBef>
                <a:spcPts val="0"/>
              </a:spcBef>
              <a:spcAft>
                <a:spcPts val="0"/>
              </a:spcAft>
            </a:pPr>
            <a:r>
              <a:rPr sz="740" b="0" i="0">
                <a:solidFill>
                  <a:srgbClr val="4A4F57"/>
                </a:solidFill>
                <a:latin typeface="Calibri"/>
              </a:rPr>
              <a:t>by somebody other than who recorded it</a:t>
            </a:r>
          </a:p>
        </p:txBody>
      </p:sp>
      <p:sp>
        <p:nvSpPr>
          <p:cNvPr id="33" name="Chevron 32"/>
          <p:cNvSpPr/>
          <p:nvPr/>
        </p:nvSpPr>
        <p:spPr>
          <a:xfrm>
            <a:off x="9466234"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Score warrant</a:t>
            </a:r>
          </a:p>
          <a:p>
            <a:pPr>
              <a:lnSpc>
                <a:spcPct val="110000"/>
              </a:lnSpc>
              <a:spcBef>
                <a:spcPts val="0"/>
              </a:spcBef>
              <a:spcAft>
                <a:spcPts val="0"/>
              </a:spcAft>
            </a:pPr>
            <a:r>
              <a:rPr sz="740" b="0" i="0">
                <a:solidFill>
                  <a:srgbClr val="4A4F57"/>
                </a:solidFill>
                <a:latin typeface="Calibri"/>
              </a:rPr>
              <a:t>names the model AND the parameter set</a:t>
            </a:r>
          </a:p>
        </p:txBody>
      </p:sp>
      <p:sp>
        <p:nvSpPr>
          <p:cNvPr id="34" name="Down Arrow 33"/>
          <p:cNvSpPr/>
          <p:nvPr/>
        </p:nvSpPr>
        <p:spPr>
          <a:xfrm>
            <a:off x="10215358" y="2423160"/>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965960" y="2478024"/>
            <a:ext cx="8121382"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featureset version a fit will read  →</a:t>
            </a:r>
          </a:p>
        </p:txBody>
      </p:sp>
      <p:sp>
        <p:nvSpPr>
          <p:cNvPr id="36" name="Down Arrow 35"/>
          <p:cNvSpPr/>
          <p:nvPr/>
        </p:nvSpPr>
        <p:spPr>
          <a:xfrm>
            <a:off x="6465221" y="3813048"/>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65960" y="3867912"/>
            <a:ext cx="4371245"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model version it is issued against  →</a:t>
            </a:r>
          </a:p>
        </p:txBody>
      </p:sp>
      <p:sp>
        <p:nvSpPr>
          <p:cNvPr id="38" name="Rectangle 37"/>
          <p:cNvSpPr/>
          <p:nvPr/>
        </p:nvSpPr>
        <p:spPr>
          <a:xfrm>
            <a:off x="777240" y="5340096"/>
            <a:ext cx="10637215"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60120" y="5422392"/>
            <a:ext cx="10271455" cy="274320"/>
          </a:xfrm>
          <a:prstGeom prst="rect">
            <a:avLst/>
          </a:prstGeom>
          <a:noFill/>
        </p:spPr>
        <p:txBody>
          <a:bodyPr wrap="square" lIns="0" rIns="0" tIns="0" bIns="0" anchor="t">
            <a:spAutoFit/>
          </a:bodyPr>
          <a:lstStyle/>
          <a:p>
            <a:pPr algn="l">
              <a:spcBef>
                <a:spcPts val="0"/>
              </a:spcBef>
              <a:spcAft>
                <a:spcPts val="0"/>
              </a:spcAft>
            </a:pPr>
            <a:r>
              <a:rPr sz="950" b="1" i="0">
                <a:solidFill>
                  <a:srgbClr val="FFFFFF"/>
                </a:solidFill>
                <a:latin typeface="Calibri"/>
              </a:rPr>
              <a:t>Evidence chain   </a:t>
            </a:r>
            <a:r>
              <a:rPr sz="950" b="0" i="0">
                <a:solidFill>
                  <a:srgbClr val="F4DFE3"/>
                </a:solidFill>
                <a:latin typeface="Calibri"/>
              </a:rPr>
              <a:t>every act above appends a node to one append-only, hash-linked chain</a:t>
            </a:r>
          </a:p>
        </p:txBody>
      </p:sp>
      <p:sp>
        <p:nvSpPr>
          <p:cNvPr id="40" name="TextBox 39"/>
          <p:cNvSpPr txBox="1"/>
          <p:nvPr/>
        </p:nvSpPr>
        <p:spPr>
          <a:xfrm>
            <a:off x="777240" y="5870448"/>
            <a:ext cx="10637215" cy="384048"/>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Left to right within a lane; downward where one lane hands something to the next. </a:t>
            </a:r>
            <a:r>
              <a:rPr sz="950" b="0" i="0">
                <a:solidFill>
                  <a:srgbClr val="4A4F57"/>
                </a:solidFill>
                <a:latin typeface="Calibri"/>
              </a:rPr>
              <a:t>The two vertical arrows are the whole design: a featureset version and a model version meet in a fit warrant, and the parameter set that comes back is what the next warrant names.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 is not always a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39</a:t>
            </a:r>
          </a:p>
        </p:txBody>
      </p:sp>
      <p:sp>
        <p:nvSpPr>
          <p:cNvPr id="10" name="Rectangle 9"/>
          <p:cNvSpPr/>
          <p:nvPr/>
        </p:nvSpPr>
        <p:spPr>
          <a:xfrm>
            <a:off x="777240" y="1353312"/>
            <a:ext cx="553135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{"name": "usd_curve", "entity": "book_id",</a:t>
            </a:r>
          </a:p>
          <a:p>
            <a:pPr>
              <a:lnSpc>
                <a:spcPct val="134000"/>
              </a:lnSpc>
              <a:spcBef>
                <a:spcPts val="0"/>
              </a:spcBef>
              <a:spcAft>
                <a:spcPts val="0"/>
              </a:spcAft>
            </a:pPr>
            <a:r>
              <a:rPr sz="950" b="0" i="0">
                <a:solidFill>
                  <a:srgbClr val="1C1C1E"/>
                </a:solidFill>
                <a:latin typeface="Consolas"/>
              </a:rPr>
              <a:t> "dtype": "numeric",</a:t>
            </a:r>
          </a:p>
          <a:p>
            <a:pPr>
              <a:lnSpc>
                <a:spcPct val="134000"/>
              </a:lnSpc>
              <a:spcBef>
                <a:spcPts val="0"/>
              </a:spcBef>
              <a:spcAft>
                <a:spcPts val="0"/>
              </a:spcAft>
            </a:pPr>
            <a:r>
              <a:rPr sz="950" b="0" i="0">
                <a:solidFill>
                  <a:srgbClr val="1C1C1E"/>
                </a:solidFill>
                <a:latin typeface="Consolas"/>
              </a:rPr>
              <a:t> "shape": [10],</a:t>
            </a:r>
          </a:p>
          <a:p>
            <a:pPr>
              <a:lnSpc>
                <a:spcPct val="134000"/>
              </a:lnSpc>
              <a:spcBef>
                <a:spcPts val="0"/>
              </a:spcBef>
              <a:spcAft>
                <a:spcPts val="0"/>
              </a:spcAft>
            </a:pPr>
            <a:r>
              <a:rPr sz="950" b="0" i="0">
                <a:solidFill>
                  <a:srgbClr val="1C1C1E"/>
                </a:solidFill>
                <a:latin typeface="Consolas"/>
              </a:rPr>
              <a:t> "components": ["1m","3m","6m","1y","2y",</a:t>
            </a:r>
          </a:p>
          <a:p>
            <a:pPr>
              <a:lnSpc>
                <a:spcPct val="134000"/>
              </a:lnSpc>
              <a:spcBef>
                <a:spcPts val="0"/>
              </a:spcBef>
              <a:spcAft>
                <a:spcPts val="0"/>
              </a:spcAft>
            </a:pPr>
            <a:r>
              <a:rPr sz="950" b="0" i="0">
                <a:solidFill>
                  <a:srgbClr val="1C1C1E"/>
                </a:solidFill>
                <a:latin typeface="Consolas"/>
              </a:rPr>
              <a:t>                "3y","5y","7y","10y","30y"]}</a:t>
            </a:r>
          </a:p>
        </p:txBody>
      </p:sp>
      <p:graphicFrame>
        <p:nvGraphicFramePr>
          <p:cNvPr id="13" name="Table 12"/>
          <p:cNvGraphicFramePr>
            <a:graphicFrameLocks noGrp="1"/>
          </p:cNvGraphicFramePr>
          <p:nvPr/>
        </p:nvGraphicFramePr>
        <p:xfrm>
          <a:off x="777240" y="2902191"/>
          <a:ext cx="5531350" cy="1562048"/>
        </p:xfrm>
        <a:graphic>
          <a:graphicData uri="http://schemas.openxmlformats.org/drawingml/2006/table">
            <a:tbl>
              <a:tblPr firstRow="1">
                <a:tableStyleId>{5C22544A-7EE6-4342-B048-85BDC9FD1C3A}</a:tableStyleId>
              </a:tblPr>
              <a:tblGrid>
                <a:gridCol w="1042138"/>
                <a:gridCol w="961974"/>
                <a:gridCol w="3527238"/>
              </a:tblGrid>
              <a:tr h="329184">
                <a:tc>
                  <a:txBody>
                    <a:bodyPr wrap="square"/>
                    <a:lstStyle/>
                    <a:p>
                      <a:pPr algn="l"/>
                      <a:r>
                        <a:rPr sz="950" b="1">
                          <a:solidFill>
                            <a:srgbClr val="FFFFFF"/>
                          </a:solidFill>
                          <a:latin typeface="Calibri"/>
                        </a:rPr>
                        <a:t>Shape</a:t>
                      </a:r>
                    </a:p>
                  </a:txBody>
                  <a:tcPr marL="82296" marR="64008" marT="32004" marB="32004" anchor="ctr">
                    <a:solidFill>
                      <a:srgbClr val="A51C30"/>
                    </a:solidFill>
                  </a:tcPr>
                </a:tc>
                <a:tc>
                  <a:txBody>
                    <a:bodyPr wrap="square"/>
                    <a:lstStyle/>
                    <a:p>
                      <a:pPr algn="l"/>
                      <a:r>
                        <a:rPr sz="950" b="1">
                          <a:solidFill>
                            <a:srgbClr val="FFFFFF"/>
                          </a:solidFill>
                          <a:latin typeface="Calibri"/>
                        </a:rPr>
                        <a:t>Kind</a:t>
                      </a:r>
                    </a:p>
                  </a:txBody>
                  <a:tcPr marL="82296" marR="64008" marT="32004" marB="32004" anchor="ctr">
                    <a:solidFill>
                      <a:srgbClr val="A51C30"/>
                    </a:solidFill>
                  </a:tcPr>
                </a:tc>
                <a:tc>
                  <a:txBody>
                    <a:bodyPr wrap="square"/>
                    <a:lstStyle/>
                    <a:p>
                      <a:pPr algn="l"/>
                      <a:r>
                        <a:rPr sz="950" b="1">
                          <a:solidFill>
                            <a:srgbClr val="FFFFFF"/>
                          </a:solidFill>
                          <a:latin typeface="Calibri"/>
                        </a:rPr>
                        <a:t>Example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t>
                      </a:r>
                    </a:p>
                  </a:txBody>
                  <a:tcPr marL="82296" marR="64008" marT="32004" marB="32004" anchor="ctr">
                    <a:solidFill>
                      <a:srgbClr val="FFFFFF"/>
                    </a:solidFill>
                  </a:tcPr>
                </a:tc>
                <a:tc>
                  <a:txBody>
                    <a:bodyPr wrap="square"/>
                    <a:lstStyle/>
                    <a:p>
                      <a:pPr algn="l"/>
                      <a:r>
                        <a:rPr sz="950" b="0">
                          <a:solidFill>
                            <a:srgbClr val="1C1C1E"/>
                          </a:solidFill>
                          <a:latin typeface="Calibri"/>
                        </a:rPr>
                        <a:t>scalar</a:t>
                      </a:r>
                    </a:p>
                  </a:txBody>
                  <a:tcPr marL="82296" marR="64008" marT="32004" marB="32004" anchor="ctr">
                    <a:solidFill>
                      <a:srgbClr val="FFFFFF"/>
                    </a:solidFill>
                  </a:tcPr>
                </a:tc>
                <a:tc>
                  <a:txBody>
                    <a:bodyPr wrap="square"/>
                    <a:lstStyle/>
                    <a:p>
                      <a:pPr algn="l"/>
                      <a:r>
                        <a:rPr sz="950" b="0">
                          <a:solidFill>
                            <a:srgbClr val="1C1C1E"/>
                          </a:solidFill>
                          <a:latin typeface="Calibri"/>
                        </a:rPr>
                        <a:t>debt service coverage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[10]</a:t>
                      </a:r>
                    </a:p>
                  </a:txBody>
                  <a:tcPr marL="82296" marR="64008" marT="32004" marB="32004" anchor="ctr">
                    <a:solidFill>
                      <a:srgbClr val="F6F3EF"/>
                    </a:solidFill>
                  </a:tcPr>
                </a:tc>
                <a:tc>
                  <a:txBody>
                    <a:bodyPr wrap="square"/>
                    <a:lstStyle/>
                    <a:p>
                      <a:pPr algn="l"/>
                      <a:r>
                        <a:rPr sz="950" b="0">
                          <a:solidFill>
                            <a:srgbClr val="1C1C1E"/>
                          </a:solidFill>
                          <a:latin typeface="Calibri"/>
                        </a:rPr>
                        <a:t>vector</a:t>
                      </a:r>
                    </a:p>
                  </a:txBody>
                  <a:tcPr marL="82296" marR="64008" marT="32004" marB="32004" anchor="ctr">
                    <a:solidFill>
                      <a:srgbClr val="F6F3EF"/>
                    </a:solidFill>
                  </a:tcPr>
                </a:tc>
                <a:tc>
                  <a:txBody>
                    <a:bodyPr wrap="square"/>
                    <a:lstStyle/>
                    <a:p>
                      <a:pPr algn="l"/>
                      <a:r>
                        <a:rPr sz="950" b="0">
                          <a:solidFill>
                            <a:srgbClr val="1C1C1E"/>
                          </a:solidFill>
                          <a:latin typeface="Calibri"/>
                        </a:rPr>
                        <a:t>a curve at ten tenors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[10, 10]</a:t>
                      </a:r>
                    </a:p>
                  </a:txBody>
                  <a:tcPr marL="82296" marR="64008" marT="32004" marB="32004" anchor="ctr">
                    <a:solidFill>
                      <a:srgbClr val="FFFFFF"/>
                    </a:solidFill>
                  </a:tcPr>
                </a:tc>
                <a:tc>
                  <a:txBody>
                    <a:bodyPr wrap="square"/>
                    <a:lstStyle/>
                    <a:p>
                      <a:pPr algn="l"/>
                      <a:r>
                        <a:rPr sz="950" b="0">
                          <a:solidFill>
                            <a:srgbClr val="1C1C1E"/>
                          </a:solidFill>
                          <a:latin typeface="Calibri"/>
                        </a:rPr>
                        <a:t>matrix</a:t>
                      </a:r>
                    </a:p>
                  </a:txBody>
                  <a:tcPr marL="82296" marR="64008" marT="32004" marB="32004" anchor="ctr">
                    <a:solidFill>
                      <a:srgbClr val="FFFFFF"/>
                    </a:solidFill>
                  </a:tcPr>
                </a:tc>
                <a:tc>
                  <a:txBody>
                    <a:bodyPr wrap="square"/>
                    <a:lstStyle/>
                    <a:p>
                      <a:pPr algn="l"/>
                      <a:r>
                        <a:rPr sz="950" b="0">
                          <a:solidFill>
                            <a:srgbClr val="1C1C1E"/>
                          </a:solidFill>
                          <a:latin typeface="Calibri"/>
                        </a:rPr>
                        <a:t>the correlation between them</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[5, 10, 10]</a:t>
                      </a:r>
                    </a:p>
                  </a:txBody>
                  <a:tcPr marL="82296" marR="64008" marT="32004" marB="32004" anchor="ctr">
                    <a:solidFill>
                      <a:srgbClr val="F6F3EF"/>
                    </a:solidFill>
                  </a:tcPr>
                </a:tc>
                <a:tc>
                  <a:txBody>
                    <a:bodyPr wrap="square"/>
                    <a:lstStyle/>
                    <a:p>
                      <a:pPr algn="l"/>
                      <a:r>
                        <a:rPr sz="950" b="0">
                          <a:solidFill>
                            <a:srgbClr val="1C1C1E"/>
                          </a:solidFill>
                          <a:latin typeface="Calibri"/>
                        </a:rPr>
                        <a:t>tensor</a:t>
                      </a:r>
                    </a:p>
                  </a:txBody>
                  <a:tcPr marL="82296" marR="64008" marT="32004" marB="32004" anchor="ctr">
                    <a:solidFill>
                      <a:srgbClr val="F6F3EF"/>
                    </a:solidFill>
                  </a:tcPr>
                </a:tc>
                <a:tc>
                  <a:txBody>
                    <a:bodyPr wrap="square"/>
                    <a:lstStyle/>
                    <a:p>
                      <a:pPr algn="l"/>
                      <a:r>
                        <a:rPr sz="950" b="0">
                          <a:solidFill>
                            <a:srgbClr val="1C1C1E"/>
                          </a:solidFill>
                          <a:latin typeface="Calibri"/>
                        </a:rPr>
                        <a:t>that matrix under five scenarios</a:t>
                      </a:r>
                    </a:p>
                  </a:txBody>
                  <a:tcPr marL="82296" marR="64008" marT="32004" marB="32004" anchor="ctr">
                    <a:solidFill>
                      <a:srgbClr val="F6F3EF"/>
                    </a:solidFill>
                  </a:tcPr>
                </a:tc>
              </a:tr>
            </a:tbl>
          </a:graphicData>
        </a:graphic>
      </p:graphicFrame>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The component order IS the axis order</a:t>
            </a:r>
          </a:p>
          <a:p>
            <a:pPr>
              <a:lnSpc>
                <a:spcPct val="125000"/>
              </a:lnSpc>
              <a:spcBef>
                <a:spcPts val="0"/>
              </a:spcBef>
              <a:spcAft>
                <a:spcPts val="1000"/>
              </a:spcAft>
            </a:pPr>
            <a:r>
              <a:rPr sz="1100" b="0" i="0">
                <a:solidFill>
                  <a:srgbClr val="1C1C1E"/>
                </a:solidFill>
                <a:latin typeface="Calibri"/>
              </a:rPr>
              <a:t>A curve whose tenors came back alphabetically would be a different curve — and one nobody would notice was wrong. When MAYA resolves a feature it preserves insertion order and never sorts.</a:t>
            </a:r>
          </a:p>
          <a:p>
            <a:pPr>
              <a:lnSpc>
                <a:spcPct val="125000"/>
              </a:lnSpc>
              <a:spcBef>
                <a:spcPts val="0"/>
              </a:spcBef>
              <a:spcAft>
                <a:spcPts val="1000"/>
              </a:spcAft>
            </a:pPr>
            <a:r>
              <a:rPr sz="1100" b="0" i="0">
                <a:solidFill>
                  <a:srgbClr val="4A4F57"/>
                </a:solidFill>
                <a:latin typeface="Calibri"/>
              </a:rPr>
              <a:t>The names are what make composition mean something. “Drop the 50-year point” is an operation on a name; on an anonymous array it is an operation on an index, and an index is not a meaning.</a:t>
            </a:r>
          </a:p>
          <a:p>
            <a:pPr>
              <a:lnSpc>
                <a:spcPct val="125000"/>
              </a:lnSpc>
              <a:spcBef>
                <a:spcPts val="0"/>
              </a:spcBef>
              <a:spcAft>
                <a:spcPts val="0"/>
              </a:spcAft>
            </a:pPr>
            <a:r>
              <a:rPr sz="1100" b="0" i="0">
                <a:solidFill>
                  <a:srgbClr val="4A4F57"/>
                </a:solidFill>
                <a:latin typeface="Calibri"/>
              </a:rPr>
              <a:t>A declared shape is checked against the values that arrive. A shape nobody verifies is a comment, and a model given ten tenors where it expected eleven produces an answer rather than an error.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Derived features, and the four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40</a:t>
            </a:r>
          </a:p>
        </p:txBody>
      </p:sp>
      <p:sp>
        <p:nvSpPr>
          <p:cNvPr id="10" name="Rectangle 9"/>
          <p:cNvSpPr/>
          <p:nvPr/>
        </p:nvSpPr>
        <p:spPr>
          <a:xfrm>
            <a:off x="777240" y="1353312"/>
            <a:ext cx="5318607" cy="181819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1819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952847"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lot_to_living_ratio = lot_size_sqft / living_area_sqft</a:t>
            </a:r>
          </a:p>
          <a:p>
            <a:pPr>
              <a:lnSpc>
                <a:spcPct val="134000"/>
              </a:lnSpc>
              <a:spcBef>
                <a:spcPts val="0"/>
              </a:spcBef>
              <a:spcAft>
                <a:spcPts val="0"/>
              </a:spcAft>
            </a:pPr>
            <a:r>
              <a:rPr sz="900" b="0" i="0">
                <a:solidFill>
                  <a:srgbClr val="1C1C1E"/>
                </a:solidFill>
                <a:latin typeface="Consolas"/>
              </a:rPr>
              <a:t>property_age        = year(event_ts) - year_built</a:t>
            </a:r>
          </a:p>
          <a:p>
            <a:pPr>
              <a:lnSpc>
                <a:spcPct val="134000"/>
              </a:lnSpc>
              <a:spcBef>
                <a:spcPts val="0"/>
              </a:spcBef>
              <a:spcAft>
                <a:spcPts val="0"/>
              </a:spcAft>
            </a:pPr>
            <a:r>
              <a:rPr sz="900" b="0" i="0">
                <a:solidFill>
                  <a:srgbClr val="1C1C1E"/>
                </a:solidFill>
                <a:latin typeface="Consolas"/>
              </a:rPr>
              <a:t>log_living_area     = log(living_area_sqft)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arithmetic, comparison, nine TOTAL functions -- each</a:t>
            </a:r>
          </a:p>
          <a:p>
            <a:pPr>
              <a:lnSpc>
                <a:spcPct val="134000"/>
              </a:lnSpc>
              <a:spcBef>
                <a:spcPts val="0"/>
              </a:spcBef>
              <a:spcAft>
                <a:spcPts val="0"/>
              </a:spcAft>
            </a:pPr>
            <a:r>
              <a:rPr sz="900" b="0" i="0">
                <a:solidFill>
                  <a:srgbClr val="7A7F87"/>
                </a:solidFill>
                <a:latin typeface="Consolas"/>
              </a:rPr>
              <a:t># defined for every input -- and the row's own clock.</a:t>
            </a:r>
          </a:p>
          <a:p>
            <a:pPr>
              <a:lnSpc>
                <a:spcPct val="134000"/>
              </a:lnSpc>
              <a:spcBef>
                <a:spcPts val="0"/>
              </a:spcBef>
              <a:spcAft>
                <a:spcPts val="0"/>
              </a:spcAft>
            </a:pPr>
            <a:r>
              <a:rPr sz="900" b="0" i="0">
                <a:solidFill>
                  <a:srgbClr val="7A7F87"/>
                </a:solidFill>
                <a:latin typeface="Consolas"/>
              </a:rPr>
              <a:t># Checked against a whitelist as the text is parsed, so</a:t>
            </a:r>
          </a:p>
          <a:p>
            <a:pPr>
              <a:lnSpc>
                <a:spcPct val="134000"/>
              </a:lnSpc>
              <a:spcBef>
                <a:spcPts val="0"/>
              </a:spcBef>
              <a:spcAft>
                <a:spcPts val="0"/>
              </a:spcAft>
            </a:pPr>
            <a:r>
              <a:rPr sz="900" b="0" i="0">
                <a:solidFill>
                  <a:srgbClr val="7A7F87"/>
                </a:solidFill>
                <a:latin typeface="Consolas"/>
              </a:rPr>
              <a:t># what cannot be expressed cannot be smuggled in.</a:t>
            </a:r>
          </a:p>
        </p:txBody>
      </p:sp>
      <p:sp>
        <p:nvSpPr>
          <p:cNvPr id="13" name="Rectangle 12"/>
          <p:cNvSpPr/>
          <p:nvPr/>
        </p:nvSpPr>
        <p:spPr>
          <a:xfrm>
            <a:off x="777240" y="3409248"/>
            <a:ext cx="5318607" cy="1042415"/>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409248"/>
            <a:ext cx="41148" cy="104241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528120"/>
            <a:ext cx="4861407" cy="822959"/>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MAYA transforms features it holds; </a:t>
            </a:r>
            <a:r>
              <a:rPr sz="1050" b="0" i="0">
                <a:solidFill>
                  <a:srgbClr val="1C1C1E"/>
                </a:solidFill>
                <a:latin typeface="Calibri"/>
              </a:rPr>
              <a:t>it does not run models. Computing x / y over a stored column is the same class of act as the null rate it already reports for every materialisation. </a:t>
            </a:r>
            <a:r>
              <a:rPr sz="1050" b="1" i="0">
                <a:solidFill>
                  <a:srgbClr val="1C1C1E"/>
                </a:solidFill>
                <a:latin typeface="Calibri"/>
              </a:rPr>
              <a:t>Running a kernel is not.</a:t>
            </a:r>
          </a:p>
        </p:txBody>
      </p:sp>
      <p:sp>
        <p:nvSpPr>
          <p:cNvPr id="16" name="TextBox 15"/>
          <p:cNvSpPr txBox="1"/>
          <p:nvPr/>
        </p:nvSpPr>
        <p:spPr>
          <a:xfrm>
            <a:off x="6521336" y="1353312"/>
            <a:ext cx="4893118"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Four rules, each because the alternative fails quietly</a:t>
            </a:r>
          </a:p>
        </p:txBody>
      </p:sp>
      <p:graphicFrame>
        <p:nvGraphicFramePr>
          <p:cNvPr id="17" name="Table 16"/>
          <p:cNvGraphicFramePr>
            <a:graphicFrameLocks noGrp="1"/>
          </p:cNvGraphicFramePr>
          <p:nvPr/>
        </p:nvGraphicFramePr>
        <p:xfrm>
          <a:off x="6521336" y="1719072"/>
          <a:ext cx="4893118" cy="2601696"/>
        </p:xfrm>
        <a:graphic>
          <a:graphicData uri="http://schemas.openxmlformats.org/drawingml/2006/table">
            <a:tbl>
              <a:tblPr firstRow="1">
                <a:tableStyleId>{5C22544A-7EE6-4342-B048-85BDC9FD1C3A}</a:tableStyleId>
              </a:tblPr>
              <a:tblGrid>
                <a:gridCol w="2084106"/>
                <a:gridCol w="2809012"/>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What it prevents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Lineage is every ancestor, not just the immediate inputs</a:t>
                      </a:r>
                    </a:p>
                  </a:txBody>
                  <a:tcPr marL="82296" marR="64008" marT="32004" marB="32004" anchor="ctr">
                    <a:solidFill>
                      <a:srgbClr val="FFFFFF"/>
                    </a:solidFill>
                  </a:tcPr>
                </a:tc>
                <a:tc>
                  <a:txBody>
                    <a:bodyPr wrap="square"/>
                    <a:lstStyle/>
                    <a:p>
                      <a:pPr algn="l"/>
                      <a:r>
                        <a:rPr sz="900" b="0">
                          <a:solidFill>
                            <a:srgbClr val="1C1C1E"/>
                          </a:solidFill>
                          <a:latin typeface="Calibri"/>
                        </a:rPr>
                        <a:t>a primitive retired under something deriving from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00" b="0">
                          <a:solidFill>
                            <a:srgbClr val="1C1C1E"/>
                          </a:solidFill>
                          <a:latin typeface="Calibri"/>
                        </a:rPr>
                        <a:t>the easiest way to leak the future: a value appearing knowable before its inputs were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No slot may derive from the label</a:t>
                      </a:r>
                    </a:p>
                  </a:txBody>
                  <a:tcPr marL="82296" marR="64008" marT="32004" marB="32004" anchor="ctr">
                    <a:solidFill>
                      <a:srgbClr val="FFFFFF"/>
                    </a:solidFill>
                  </a:tcPr>
                </a:tc>
                <a:tc>
                  <a:txBody>
                    <a:bodyPr wrap="square"/>
                    <a:lstStyle/>
                    <a:p>
                      <a:pPr algn="l"/>
                      <a:r>
                        <a:rPr sz="900" b="0">
                          <a:solidFill>
                            <a:srgbClr val="1C1C1E"/>
                          </a:solidFill>
                          <a:latin typeface="Calibri"/>
                        </a:rPr>
                        <a:t>leakage with a division sign in front of it</a:t>
                      </a:r>
                    </a:p>
                  </a:txBody>
                  <a:tcPr marL="82296" marR="64008" marT="32004" marB="32004" anchor="ctr">
                    <a:solidFill>
                      <a:srgbClr val="FFFFFF"/>
                    </a:solidFill>
                  </a:tcPr>
                </a:tc>
              </a:tr>
              <a:tr h="913257">
                <a:tc>
                  <a:txBody>
                    <a:bodyPr wrap="square"/>
                    <a:lstStyle/>
                    <a:p>
                      <a:pPr algn="l"/>
                      <a:r>
                        <a:rPr sz="900" b="1">
                          <a:solidFill>
                            <a:srgbClr val="A51C30"/>
                          </a:solidFill>
                          <a:latin typeface="Calibri"/>
                        </a:rPr>
                        <a:t>Certification is the meet, recomputed on every read — the weakest input wins, and deprecated is the weakest rank of all</a:t>
                      </a:r>
                    </a:p>
                  </a:txBody>
                  <a:tcPr marL="82296" marR="64008" marT="32004" marB="32004" anchor="ctr">
                    <a:solidFill>
                      <a:srgbClr val="F6F3EF"/>
                    </a:solidFill>
                  </a:tcPr>
                </a:tc>
                <a:tc>
                  <a:txBody>
                    <a:bodyPr wrap="square"/>
                    <a:lstStyle/>
                    <a:p>
                      <a:pPr algn="l"/>
                      <a:r>
                        <a:rPr sz="900" b="0">
                          <a:solidFill>
                            <a:srgbClr val="1C1C1E"/>
                          </a:solidFill>
                          <a:latin typeface="Calibri"/>
                        </a:rPr>
                        <a:t>deriving from an uncertified feature to launder it — and a derivation still claiming certified after an input was deprecated</a:t>
                      </a:r>
                    </a:p>
                  </a:txBody>
                  <a:tcPr marL="82296" marR="64008" marT="32004" marB="32004" anchor="ctr">
                    <a:solidFill>
                      <a:srgbClr val="F6F3E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that gets refused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41</a:t>
            </a:r>
          </a:p>
        </p:txBody>
      </p:sp>
      <p:sp>
        <p:nvSpPr>
          <p:cNvPr id="10" name="Rectangle 9"/>
          <p:cNvSpPr/>
          <p:nvPr/>
        </p:nvSpPr>
        <p:spPr>
          <a:xfrm>
            <a:off x="777240" y="1353312"/>
            <a:ext cx="5744096"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 price_per_sqft</a:t>
            </a:r>
          </a:p>
          <a:p>
            <a:pPr>
              <a:lnSpc>
                <a:spcPct val="134000"/>
              </a:lnSpc>
              <a:spcBef>
                <a:spcPts val="0"/>
              </a:spcBef>
              <a:spcAft>
                <a:spcPts val="0"/>
              </a:spcAft>
            </a:pPr>
            <a:r>
              <a:rPr sz="900" b="0" i="0">
                <a:solidFill>
                  <a:srgbClr val="1C1C1E"/>
                </a:solidFill>
                <a:latin typeface="Consolas"/>
              </a:rPr>
              <a:t>inputs:  [sale_price, living_area_sqft]</a:t>
            </a:r>
          </a:p>
          <a:p>
            <a:pPr>
              <a:lnSpc>
                <a:spcPct val="134000"/>
              </a:lnSpc>
              <a:spcBef>
                <a:spcPts val="0"/>
              </a:spcBef>
              <a:spcAft>
                <a:spcPts val="0"/>
              </a:spcAft>
            </a:pPr>
            <a:r>
              <a:rPr sz="900" b="0" i="0">
                <a:solidFill>
                  <a:srgbClr val="7A7F87"/>
                </a:solidFill>
                <a:latin typeface="Consolas"/>
              </a:rPr>
              <a:t>         # sale_price is the LABEL: what the model</a:t>
            </a:r>
          </a:p>
          <a:p>
            <a:pPr>
              <a:lnSpc>
                <a:spcPct val="134000"/>
              </a:lnSpc>
              <a:spcBef>
                <a:spcPts val="0"/>
              </a:spcBef>
              <a:spcAft>
                <a:spcPts val="0"/>
              </a:spcAft>
            </a:pPr>
            <a:r>
              <a:rPr sz="900" b="0" i="0">
                <a:solidFill>
                  <a:srgbClr val="7A7F87"/>
                </a:solidFill>
                <a:latin typeface="Consolas"/>
              </a:rPr>
              <a:t>         # is being trained to predict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409  'price_per_sqft' is computed from 'sale_price',</a:t>
            </a:r>
          </a:p>
          <a:p>
            <a:pPr>
              <a:lnSpc>
                <a:spcPct val="134000"/>
              </a:lnSpc>
              <a:spcBef>
                <a:spcPts val="0"/>
              </a:spcBef>
              <a:spcAft>
                <a:spcPts val="0"/>
              </a:spcAft>
            </a:pPr>
            <a:r>
              <a:rPr sz="900" b="0" i="0">
                <a:solidFill>
                  <a:srgbClr val="1C1C1E"/>
                </a:solidFill>
                <a:latin typeface="Consolas"/>
              </a:rPr>
              <a:t>     which this featureset declares as its label — a</a:t>
            </a:r>
          </a:p>
          <a:p>
            <a:pPr>
              <a:lnSpc>
                <a:spcPct val="134000"/>
              </a:lnSpc>
              <a:spcBef>
                <a:spcPts val="0"/>
              </a:spcBef>
              <a:spcAft>
                <a:spcPts val="0"/>
              </a:spcAft>
            </a:pPr>
            <a:r>
              <a:rPr sz="900" b="0" i="0">
                <a:solidFill>
                  <a:srgbClr val="1C1C1E"/>
                </a:solidFill>
                <a:latin typeface="Consolas"/>
              </a:rPr>
              <a:t>     feature derived from the label leaks the answer</a:t>
            </a:r>
          </a:p>
          <a:p>
            <a:pPr>
              <a:lnSpc>
                <a:spcPct val="134000"/>
              </a:lnSpc>
              <a:spcBef>
                <a:spcPts val="0"/>
              </a:spcBef>
              <a:spcAft>
                <a:spcPts val="0"/>
              </a:spcAft>
            </a:pPr>
            <a:r>
              <a:rPr sz="900" b="0" i="0">
                <a:solidFill>
                  <a:srgbClr val="1C1C1E"/>
                </a:solidFill>
                <a:latin typeface="Consolas"/>
              </a:rPr>
              <a:t>     into the training set.</a:t>
            </a:r>
          </a:p>
        </p:txBody>
      </p:sp>
      <p:sp>
        <p:nvSpPr>
          <p:cNvPr id="13" name="TextBox 12"/>
          <p:cNvSpPr txBox="1"/>
          <p:nvPr/>
        </p:nvSpPr>
        <p:spPr>
          <a:xfrm>
            <a:off x="777240" y="3620521"/>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check walks the WHOLE lineage, not the immediate inputs: a derivation of a derivation of the label is still the label.</a:t>
            </a:r>
          </a:p>
          <a:p>
            <a:pPr>
              <a:lnSpc>
                <a:spcPct val="125000"/>
              </a:lnSpc>
              <a:spcBef>
                <a:spcPts val="0"/>
              </a:spcBef>
              <a:spcAft>
                <a:spcPts val="0"/>
              </a:spcAft>
            </a:pPr>
            <a:r>
              <a:rPr sz="1100" b="0" i="0">
                <a:solidFill>
                  <a:srgbClr val="4A4F57"/>
                </a:solidFill>
                <a:latin typeface="Calibri"/>
              </a:rPr>
              <a:t>And it runs before the view is resolved, so the message is “you cannot train on the answer” rather than “no view supplies that”.</a:t>
            </a:r>
          </a:p>
        </p:txBody>
      </p:sp>
      <p:sp>
        <p:nvSpPr>
          <p:cNvPr id="14" name="TextBox 13"/>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Why this one matters more than it looks</a:t>
            </a:r>
          </a:p>
          <a:p>
            <a:pPr>
              <a:lnSpc>
                <a:spcPct val="125000"/>
              </a:lnSpc>
              <a:spcBef>
                <a:spcPts val="0"/>
              </a:spcBef>
              <a:spcAft>
                <a:spcPts val="1000"/>
              </a:spcAft>
            </a:pPr>
            <a:r>
              <a:rPr sz="1100" b="0" i="0">
                <a:solidFill>
                  <a:srgbClr val="1C1C1E"/>
                </a:solidFill>
                <a:latin typeface="Calibri"/>
              </a:rPr>
              <a:t>A model trained on a feature derived from its own label performs extraordinarily in validation and fails on the first case it has not already seen.</a:t>
            </a:r>
          </a:p>
          <a:p>
            <a:pPr>
              <a:lnSpc>
                <a:spcPct val="125000"/>
              </a:lnSpc>
              <a:spcBef>
                <a:spcPts val="0"/>
              </a:spcBef>
              <a:spcAft>
                <a:spcPts val="1000"/>
              </a:spcAft>
            </a:pPr>
            <a:r>
              <a:rPr sz="1100" b="0" i="0">
                <a:solidFill>
                  <a:srgbClr val="4A4F57"/>
                </a:solidFill>
                <a:latin typeface="Calibri"/>
              </a:rPr>
              <a:t>It is not caught by any metric, because every metric agrees the model is excellent. It is caught by knowing what the column was made from — which is why the lineage is recorded rather than inferred.</a:t>
            </a:r>
          </a:p>
          <a:p>
            <a:pPr>
              <a:lnSpc>
                <a:spcPct val="125000"/>
              </a:lnSpc>
              <a:spcBef>
                <a:spcPts val="0"/>
              </a:spcBef>
              <a:spcAft>
                <a:spcPts val="0"/>
              </a:spcAft>
            </a:pPr>
            <a:r>
              <a:rPr sz="1100" b="0" i="0">
                <a:solidFill>
                  <a:srgbClr val="4A4F57"/>
                </a:solidFill>
                <a:latin typeface="Calibri"/>
              </a:rPr>
              <a:t>The same argument produces the ingest-clock rule, the point-in-time assembly rule, and the refusal to normalise without an as_of — the date a read is answered as of. One idea, applied four times.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Sealed, ephemeral, owned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42</a:t>
            </a:r>
          </a:p>
        </p:txBody>
      </p:sp>
      <p:sp>
        <p:nvSpPr>
          <p:cNvPr id="10" name="Rectangle 9"/>
          <p:cNvSpPr/>
          <p:nvPr/>
        </p:nvSpPr>
        <p:spPr>
          <a:xfrm>
            <a:off x="777240"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Sealed</a:t>
            </a:r>
          </a:p>
        </p:txBody>
      </p:sp>
      <p:sp>
        <p:nvSpPr>
          <p:cNvPr id="14" name="TextBox 13"/>
          <p:cNvSpPr txBox="1"/>
          <p:nvPr/>
        </p:nvSpPr>
        <p:spPr>
          <a:xfrm>
            <a:off x="996695"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Final: no amendment, no further versions, no change of owner — and still composable. A parent that cannot move is a parent worth building on.</a:t>
            </a:r>
          </a:p>
        </p:txBody>
      </p:sp>
      <p:sp>
        <p:nvSpPr>
          <p:cNvPr id="15" name="Rectangle 14"/>
          <p:cNvSpPr/>
          <p:nvPr/>
        </p:nvSpPr>
        <p:spPr>
          <a:xfrm>
            <a:off x="4425804"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Ephemeral</a:t>
            </a:r>
          </a:p>
        </p:txBody>
      </p:sp>
      <p:sp>
        <p:nvSpPr>
          <p:cNvPr id="19" name="TextBox 18"/>
          <p:cNvSpPr txBox="1"/>
          <p:nvPr/>
        </p:nvSpPr>
        <p:spPr>
          <a:xfrm>
            <a:off x="4645260"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time to live, then destroyed. Cannot be sealed — permanent and temporary are not two flags that happen to be set. Cannot be composed from: a child that resolves today and dangles tomorrow. Its rows go; its evidence stays.</a:t>
            </a:r>
          </a:p>
        </p:txBody>
      </p:sp>
      <p:sp>
        <p:nvSpPr>
          <p:cNvPr id="20" name="Rectangle 19"/>
          <p:cNvSpPr/>
          <p:nvPr/>
        </p:nvSpPr>
        <p:spPr>
          <a:xfrm>
            <a:off x="8074369" y="1353312"/>
            <a:ext cx="3340085"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Owned</a:t>
            </a:r>
          </a:p>
        </p:txBody>
      </p:sp>
      <p:sp>
        <p:nvSpPr>
          <p:cNvPr id="24" name="TextBox 23"/>
          <p:cNvSpPr txBox="1"/>
          <p:nvPr/>
        </p:nvSpPr>
        <p:spPr>
          <a:xfrm>
            <a:off x="8293825" y="2157984"/>
            <a:ext cx="2901173"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Two facts kept apart. The CREATOR is history and never moves. The OWNER is a responsibility, transferred by name with the handover witnessed. An owner field that quietly becomes a leaver's username is how a model ends up accountable to nobody.</a:t>
            </a:r>
          </a:p>
        </p:txBody>
      </p:sp>
      <p:sp>
        <p:nvSpPr>
          <p:cNvPr id="25" name="Rectangle 24"/>
          <p:cNvSpPr/>
          <p:nvPr/>
        </p:nvSpPr>
        <p:spPr>
          <a:xfrm>
            <a:off x="777240" y="38404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8404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39593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Sealing is its own permission. </a:t>
            </a:r>
            <a:r>
              <a:rPr sz="1050" b="0" i="0">
                <a:solidFill>
                  <a:srgbClr val="1C1C1E"/>
                </a:solidFill>
                <a:latin typeface="Calibri"/>
              </a:rPr>
              <a:t>Whoever may define a thing is not automatically who may end it, so it sits with the second line. Breaking a seal is administrators-only and needs a reason — </a:t>
            </a:r>
            <a:r>
              <a:rPr sz="1050" b="1" i="0">
                <a:solidFill>
                  <a:srgbClr val="1C1C1E"/>
                </a:solidFill>
                <a:latin typeface="Calibri"/>
              </a:rPr>
              <a:t>a seal anybody could lift would not be a seal.</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featureset declares a schema; a version fills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43</a:t>
            </a:r>
          </a:p>
        </p:txBody>
      </p:sp>
      <p:sp>
        <p:nvSpPr>
          <p:cNvPr id="10" name="Rectangle 9"/>
          <p:cNvSpPr/>
          <p:nvPr/>
        </p:nvSpPr>
        <p:spPr>
          <a:xfrm>
            <a:off x="777240" y="1353312"/>
            <a:ext cx="5956840" cy="231137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31137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featureset: inflation</a:t>
            </a:r>
          </a:p>
          <a:p>
            <a:pPr>
              <a:lnSpc>
                <a:spcPct val="134000"/>
              </a:lnSpc>
              <a:spcBef>
                <a:spcPts val="0"/>
              </a:spcBef>
              <a:spcAft>
                <a:spcPts val="0"/>
              </a:spcAft>
            </a:pPr>
            <a:r>
              <a:rPr sz="950" b="0" i="0">
                <a:solidFill>
                  <a:srgbClr val="1C1C1E"/>
                </a:solidFill>
                <a:latin typeface="Consolas"/>
              </a:rPr>
              <a:t>schema:  gb_index   us_index   daily_index      all numeric</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slot          →  feature         @ view_version</a:t>
            </a:r>
          </a:p>
          <a:p>
            <a:pPr>
              <a:lnSpc>
                <a:spcPct val="134000"/>
              </a:lnSpc>
              <a:spcBef>
                <a:spcPts val="0"/>
              </a:spcBef>
              <a:spcAft>
                <a:spcPts val="0"/>
              </a:spcAft>
            </a:pPr>
            <a:r>
              <a:rPr sz="950" b="0" i="0">
                <a:solidFill>
                  <a:srgbClr val="1C1C1E"/>
                </a:solidFill>
                <a:latin typeface="Consolas"/>
              </a:rPr>
              <a:t>@v1    gb_index      →  UKRPI           @ 2025-02</a:t>
            </a:r>
          </a:p>
          <a:p>
            <a:pPr>
              <a:lnSpc>
                <a:spcPct val="134000"/>
              </a:lnSpc>
              <a:spcBef>
                <a:spcPts val="0"/>
              </a:spcBef>
              <a:spcAft>
                <a:spcPts val="0"/>
              </a:spcAft>
            </a:pPr>
            <a:r>
              <a:rPr sz="950" b="0" i="0">
                <a:solidFill>
                  <a:srgbClr val="1C1C1E"/>
                </a:solidFill>
                <a:latin typeface="Consolas"/>
              </a:rPr>
              <a:t>       us_index      →  USCPI           @ 2025-02</a:t>
            </a:r>
          </a:p>
          <a:p>
            <a:pPr>
              <a:lnSpc>
                <a:spcPct val="134000"/>
              </a:lnSpc>
              <a:spcBef>
                <a:spcPts val="0"/>
              </a:spcBef>
              <a:spcAft>
                <a:spcPts val="0"/>
              </a:spcAft>
            </a:pPr>
            <a:r>
              <a:rPr sz="950" b="0" i="0">
                <a:solidFill>
                  <a:srgbClr val="1C1C1E"/>
                </a:solidFill>
                <a:latin typeface="Consolas"/>
              </a:rPr>
              <a:t>       daily_index   →  RPI_DAILY_MKT   @ 2025-02</a:t>
            </a:r>
          </a:p>
          <a:p>
            <a:pPr>
              <a:lnSpc>
                <a:spcPct val="134000"/>
              </a:lnSpc>
              <a:spcBef>
                <a:spcPts val="0"/>
              </a:spcBef>
              <a:spcAft>
                <a:spcPts val="0"/>
              </a:spcAft>
            </a:pPr>
            <a:r>
              <a:rPr sz="950" b="0" i="0">
                <a:solidFill>
                  <a:srgbClr val="1C1C1E"/>
                </a:solidFill>
                <a:latin typeface="Consolas"/>
              </a:rPr>
              <a:t>@v2    gb_index      →  UKRPI           @ 2025-06</a:t>
            </a:r>
          </a:p>
          <a:p>
            <a:pPr>
              <a:lnSpc>
                <a:spcPct val="134000"/>
              </a:lnSpc>
              <a:spcBef>
                <a:spcPts val="0"/>
              </a:spcBef>
              <a:spcAft>
                <a:spcPts val="0"/>
              </a:spcAft>
            </a:pPr>
            <a:r>
              <a:rPr sz="950" b="0" i="0">
                <a:solidFill>
                  <a:srgbClr val="1C1C1E"/>
                </a:solidFill>
                <a:latin typeface="Consolas"/>
              </a:rPr>
              <a:t>       us_index      →  USCPI           @ 2025-06</a:t>
            </a:r>
          </a:p>
          <a:p>
            <a:pPr>
              <a:lnSpc>
                <a:spcPct val="134000"/>
              </a:lnSpc>
              <a:spcBef>
                <a:spcPts val="0"/>
              </a:spcBef>
              <a:spcAft>
                <a:spcPts val="0"/>
              </a:spcAft>
            </a:pPr>
            <a:r>
              <a:rPr sz="950" b="0" i="0">
                <a:solidFill>
                  <a:srgbClr val="1C1C1E"/>
                </a:solidFill>
                <a:latin typeface="Consolas"/>
              </a:rPr>
              <a:t>       daily_index   →  RPI_DAILY_DMO   @ 2025-06</a:t>
            </a:r>
          </a:p>
        </p:txBody>
      </p:sp>
      <p:sp>
        <p:nvSpPr>
          <p:cNvPr id="13" name="TextBox 12"/>
          <p:cNvSpPr txBox="1"/>
          <p:nvPr/>
        </p:nvSpPr>
        <p:spPr>
          <a:xfrm>
            <a:off x="777240" y="3902430"/>
            <a:ext cx="5956840" cy="2011680"/>
          </a:xfrm>
          <a:prstGeom prst="rect">
            <a:avLst/>
          </a:prstGeom>
          <a:noFill/>
        </p:spPr>
        <p:txBody>
          <a:bodyPr wrap="square" lIns="0" rIns="0" tIns="0" bIns="0" anchor="t">
            <a:spAutoFit/>
          </a:bodyPr>
          <a:lstStyle/>
          <a:p>
            <a:pPr algn="l">
              <a:lnSpc>
                <a:spcPct val="125000"/>
              </a:lnSpc>
              <a:spcBef>
                <a:spcPts val="0"/>
              </a:spcBef>
              <a:spcAft>
                <a:spcPts val="900"/>
              </a:spcAft>
            </a:pPr>
            <a:r>
              <a:rPr sz="1100" b="1" i="0">
                <a:solidFill>
                  <a:srgbClr val="A51C30"/>
                </a:solidFill>
                <a:latin typeface="Calibri"/>
              </a:rPr>
              <a:t>Like for like. </a:t>
            </a:r>
            <a:r>
              <a:rPr sz="1100" b="0" i="0">
                <a:solidFill>
                  <a:srgbClr val="1C1C1E"/>
                </a:solidFill>
                <a:latin typeface="Calibri"/>
              </a:rPr>
              <a:t>@v2 binds daily_index to a different daily RPI reference — the same signal at the same frequency for the same entity, published by somebody else. A model defined over inflation does not change: it reads daily_index, and always did.</a:t>
            </a:r>
          </a:p>
          <a:p>
            <a:pPr>
              <a:lnSpc>
                <a:spcPct val="125000"/>
              </a:lnSpc>
              <a:spcBef>
                <a:spcPts val="0"/>
              </a:spcBef>
              <a:spcAft>
                <a:spcPts val="0"/>
              </a:spcAft>
            </a:pPr>
            <a:r>
              <a:rPr sz="1100" b="0" i="0">
                <a:solidFill>
                  <a:srgbClr val="4A4F57"/>
                </a:solidFill>
                <a:latin typeface="Calibri"/>
              </a:rPr>
              <a:t>A version that cannot fill the schema is refused: it is a different featureset, or it is a model change, and the register decides which. Rolling forward mints a version re-resolved to the newest view versions, with a diff naming every slot that moved.</a:t>
            </a:r>
          </a:p>
        </p:txBody>
      </p:sp>
      <p:sp>
        <p:nvSpPr>
          <p:cNvPr id="14" name="TextBox 13"/>
          <p:cNvSpPr txBox="1"/>
          <p:nvPr/>
        </p:nvSpPr>
        <p:spPr>
          <a:xfrm>
            <a:off x="7159569" y="1353312"/>
            <a:ext cx="4254886"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binding — what fills a slot, and from where — pins exactly</a:t>
            </a:r>
          </a:p>
        </p:txBody>
      </p:sp>
      <p:graphicFrame>
        <p:nvGraphicFramePr>
          <p:cNvPr id="15" name="Table 14"/>
          <p:cNvGraphicFramePr>
            <a:graphicFrameLocks noGrp="1"/>
          </p:cNvGraphicFramePr>
          <p:nvPr/>
        </p:nvGraphicFramePr>
        <p:xfrm>
          <a:off x="7159569" y="1719072"/>
          <a:ext cx="4254885" cy="1849296"/>
        </p:xfrm>
        <a:graphic>
          <a:graphicData uri="http://schemas.openxmlformats.org/drawingml/2006/table">
            <a:tbl>
              <a:tblPr>
                <a:tableStyleId>{5C22544A-7EE6-4342-B048-85BDC9FD1C3A}</a:tableStyleId>
              </a:tblPr>
              <a:tblGrid>
                <a:gridCol w="1302516"/>
                <a:gridCol w="2952369"/>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feature</a:t>
                      </a:r>
                    </a:p>
                  </a:txBody>
                  <a:tcPr marL="82296" marR="64008" marT="32004" marB="32004" anchor="ctr">
                    <a:solidFill>
                      <a:srgbClr val="FFFFFF"/>
                    </a:solidFill>
                  </a:tcPr>
                </a:tc>
                <a:tc>
                  <a:txBody>
                    <a:bodyPr wrap="square"/>
                    <a:lstStyle/>
                    <a:p>
                      <a:pPr algn="l"/>
                      <a:r>
                        <a:rPr sz="950" b="0">
                          <a:solidFill>
                            <a:srgbClr val="1C1C1E"/>
                          </a:solidFill>
                          <a:latin typeface="Calibri"/>
                        </a:rPr>
                        <a:t>which signal fills the slot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view</a:t>
                      </a:r>
                    </a:p>
                  </a:txBody>
                  <a:tcPr marL="82296" marR="64008" marT="32004" marB="32004" anchor="ctr">
                    <a:solidFill>
                      <a:srgbClr val="F6F3EF"/>
                    </a:solidFill>
                  </a:tcPr>
                </a:tc>
                <a:tc>
                  <a:txBody>
                    <a:bodyPr wrap="square"/>
                    <a:lstStyle/>
                    <a:p>
                      <a:pPr algn="l"/>
                      <a:r>
                        <a:rPr sz="950" b="0">
                          <a:solidFill>
                            <a:srgbClr val="1C1C1E"/>
                          </a:solidFill>
                          <a:latin typeface="Calibri"/>
                        </a:rPr>
                        <a:t>which view supplies its values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view_version</a:t>
                      </a:r>
                    </a:p>
                  </a:txBody>
                  <a:tcPr marL="82296" marR="64008" marT="32004" marB="32004" anchor="ctr">
                    <a:solidFill>
                      <a:srgbClr val="FFFFFF"/>
                    </a:solidFill>
                  </a:tcPr>
                </a:tc>
                <a:tc>
                  <a:txBody>
                    <a:bodyPr wrap="square"/>
                    <a:lstStyle/>
                    <a:p>
                      <a:pPr algn="l"/>
                      <a:r>
                        <a:rPr sz="950" b="0">
                          <a:solidFill>
                            <a:srgbClr val="1C1C1E"/>
                          </a:solidFill>
                          <a:latin typeface="Calibri"/>
                        </a:rPr>
                        <a:t>which version of that view</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delta_version</a:t>
                      </a:r>
                    </a:p>
                  </a:txBody>
                  <a:tcPr marL="82296" marR="64008" marT="32004" marB="32004" anchor="ctr">
                    <a:solidFill>
                      <a:srgbClr val="F6F3EF"/>
                    </a:solidFill>
                  </a:tcPr>
                </a:tc>
                <a:tc>
                  <a:txBody>
                    <a:bodyPr wrap="square"/>
                    <a:lstStyle/>
                    <a:p>
                      <a:pPr algn="l"/>
                      <a:r>
                        <a:rPr sz="950" b="0">
                          <a:solidFill>
                            <a:srgbClr val="1C1C1E"/>
                          </a:solidFill>
                          <a:latin typeface="Calibri"/>
                        </a:rPr>
                        <a:t>which write to that path</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namespace</a:t>
                      </a:r>
                    </a:p>
                  </a:txBody>
                  <a:tcPr marL="82296" marR="64008" marT="32004" marB="32004" anchor="ctr">
                    <a:solidFill>
                      <a:srgbClr val="FFFFFF"/>
                    </a:solidFill>
                  </a:tcPr>
                </a:tc>
                <a:tc>
                  <a:txBody>
                    <a:bodyPr wrap="square"/>
                    <a:lstStyle/>
                    <a:p>
                      <a:pPr algn="l"/>
                      <a:r>
                        <a:rPr sz="950" b="0">
                          <a:solidFill>
                            <a:srgbClr val="1C1C1E"/>
                          </a:solidFill>
                          <a:latin typeface="Calibri"/>
                        </a:rPr>
                        <a:t>the resolved location in storage</a:t>
                      </a:r>
                    </a:p>
                  </a:txBody>
                  <a:tcPr marL="82296" marR="64008" marT="32004" marB="32004" anchor="ctr">
                    <a:solidFill>
                      <a:srgbClr val="FFFFFF"/>
                    </a:solidFill>
                  </a:tcPr>
                </a:tc>
              </a:tr>
            </a:tbl>
          </a:graphicData>
        </a:graphic>
      </p:graphicFrame>
      <p:sp>
        <p:nvSpPr>
          <p:cNvPr id="16" name="Rectangle 15"/>
          <p:cNvSpPr/>
          <p:nvPr/>
        </p:nvSpPr>
        <p:spPr>
          <a:xfrm>
            <a:off x="7159569" y="3732961"/>
            <a:ext cx="4254886" cy="122529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732961"/>
            <a:ext cx="41148" cy="122529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851833"/>
            <a:ext cx="3797686" cy="100584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path is mutable. </a:t>
            </a:r>
            <a:r>
              <a:rPr sz="1050" b="0" i="0">
                <a:solidFill>
                  <a:srgbClr val="1C1C1E"/>
                </a:solidFill>
                <a:latin typeface="Calibri"/>
              </a:rPr>
              <a:t>A set naming views without pinning them would resolve to different bytes next month, with its digest — the hash that names its contents — unchanged: </a:t>
            </a:r>
            <a:r>
              <a:rPr sz="1050" b="1" i="0">
                <a:solidFill>
                  <a:srgbClr val="1C1C1E"/>
                </a:solidFill>
                <a:latin typeface="Calibri"/>
              </a:rPr>
              <a:t>a stable name over moving contents.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Inheriting a feature: a curve with a tenor added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44</a:t>
            </a:r>
          </a:p>
        </p:txBody>
      </p:sp>
      <p:sp>
        <p:nvSpPr>
          <p:cNvPr id="10" name="Rectangle 9"/>
          <p:cNvSpPr/>
          <p:nvPr/>
        </p:nvSpPr>
        <p:spPr>
          <a:xfrm>
            <a:off x="777240" y="1353312"/>
            <a:ext cx="3149498" cy="1659635"/>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149498"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a:t>
            </a:r>
          </a:p>
        </p:txBody>
      </p:sp>
      <p:sp>
        <p:nvSpPr>
          <p:cNvPr id="13" name="TextBox 12"/>
          <p:cNvSpPr txBox="1"/>
          <p:nvPr/>
        </p:nvSpPr>
        <p:spPr>
          <a:xfrm>
            <a:off x="905256"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the parent — sealed, so it cannot move</a:t>
            </a:r>
          </a:p>
        </p:txBody>
      </p:sp>
      <p:sp>
        <p:nvSpPr>
          <p:cNvPr id="14" name="TextBox 13"/>
          <p:cNvSpPr txBox="1"/>
          <p:nvPr/>
        </p:nvSpPr>
        <p:spPr>
          <a:xfrm>
            <a:off x="905256"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1m</a:t>
            </a:r>
          </a:p>
        </p:txBody>
      </p:sp>
      <p:sp>
        <p:nvSpPr>
          <p:cNvPr id="15" name="TextBox 14"/>
          <p:cNvSpPr txBox="1"/>
          <p:nvPr/>
        </p:nvSpPr>
        <p:spPr>
          <a:xfrm>
            <a:off x="905256" y="2116836"/>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p>
        </p:txBody>
      </p:sp>
      <p:sp>
        <p:nvSpPr>
          <p:cNvPr id="16" name="TextBox 15"/>
          <p:cNvSpPr txBox="1"/>
          <p:nvPr/>
        </p:nvSpPr>
        <p:spPr>
          <a:xfrm>
            <a:off x="905256" y="2331720"/>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1y</a:t>
            </a:r>
          </a:p>
        </p:txBody>
      </p:sp>
      <p:sp>
        <p:nvSpPr>
          <p:cNvPr id="17" name="TextBox 16"/>
          <p:cNvSpPr txBox="1"/>
          <p:nvPr/>
        </p:nvSpPr>
        <p:spPr>
          <a:xfrm>
            <a:off x="905256" y="2546603"/>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5y</a:t>
            </a:r>
          </a:p>
        </p:txBody>
      </p:sp>
      <p:sp>
        <p:nvSpPr>
          <p:cNvPr id="18" name="TextBox 17"/>
          <p:cNvSpPr txBox="1"/>
          <p:nvPr/>
        </p:nvSpPr>
        <p:spPr>
          <a:xfrm>
            <a:off x="905256"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10y</a:t>
            </a:r>
          </a:p>
        </p:txBody>
      </p:sp>
      <p:sp>
        <p:nvSpPr>
          <p:cNvPr id="19" name="Rectangle 18"/>
          <p:cNvSpPr/>
          <p:nvPr/>
        </p:nvSpPr>
        <p:spPr>
          <a:xfrm>
            <a:off x="4521098" y="1353312"/>
            <a:ext cx="3149498" cy="1879091"/>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4521098"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4649114"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its own operations</a:t>
            </a:r>
          </a:p>
        </p:txBody>
      </p:sp>
      <p:sp>
        <p:nvSpPr>
          <p:cNvPr id="22" name="TextBox 21"/>
          <p:cNvSpPr txBox="1"/>
          <p:nvPr/>
        </p:nvSpPr>
        <p:spPr>
          <a:xfrm>
            <a:off x="4649114"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applied last, so they beat everything above</a:t>
            </a:r>
          </a:p>
        </p:txBody>
      </p:sp>
      <p:sp>
        <p:nvSpPr>
          <p:cNvPr id="23" name="TextBox 22"/>
          <p:cNvSpPr txBox="1"/>
          <p:nvPr/>
        </p:nvSpPr>
        <p:spPr>
          <a:xfrm>
            <a:off x="4649114" y="197510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add  </a:t>
            </a:r>
            <a:r>
              <a:rPr sz="950" b="1" i="0">
                <a:solidFill>
                  <a:srgbClr val="1C1C1E"/>
                </a:solidFill>
                <a:latin typeface="Calibri"/>
              </a:rPr>
              <a:t>30y</a:t>
            </a:r>
          </a:p>
          <a:p>
            <a:pPr>
              <a:spcBef>
                <a:spcPts val="0"/>
              </a:spcBef>
              <a:spcAft>
                <a:spcPts val="0"/>
              </a:spcAft>
            </a:pPr>
            <a:r>
              <a:rPr sz="760" b="0" i="0">
                <a:solidFill>
                  <a:srgbClr val="4A4F57"/>
                </a:solidFill>
                <a:latin typeface="Calibri"/>
              </a:rPr>
              <a:t>the curve goes further out</a:t>
            </a:r>
          </a:p>
        </p:txBody>
      </p:sp>
      <p:sp>
        <p:nvSpPr>
          <p:cNvPr id="24" name="TextBox 23"/>
          <p:cNvSpPr txBox="1"/>
          <p:nvPr/>
        </p:nvSpPr>
        <p:spPr>
          <a:xfrm>
            <a:off x="4649114" y="234086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drop  </a:t>
            </a:r>
            <a:r>
              <a:rPr sz="950" b="1" i="0">
                <a:solidFill>
                  <a:srgbClr val="1C1C1E"/>
                </a:solidFill>
                <a:latin typeface="Calibri"/>
              </a:rPr>
              <a:t>1m</a:t>
            </a:r>
          </a:p>
          <a:p>
            <a:pPr>
              <a:spcBef>
                <a:spcPts val="0"/>
              </a:spcBef>
              <a:spcAft>
                <a:spcPts val="0"/>
              </a:spcAft>
            </a:pPr>
            <a:r>
              <a:rPr sz="760" b="0" i="0">
                <a:solidFill>
                  <a:srgbClr val="4A4F57"/>
                </a:solidFill>
                <a:latin typeface="Calibri"/>
              </a:rPr>
              <a:t>no longer quoted</a:t>
            </a:r>
          </a:p>
        </p:txBody>
      </p:sp>
      <p:sp>
        <p:nvSpPr>
          <p:cNvPr id="25" name="TextBox 24"/>
          <p:cNvSpPr txBox="1"/>
          <p:nvPr/>
        </p:nvSpPr>
        <p:spPr>
          <a:xfrm>
            <a:off x="4649114" y="270662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override  </a:t>
            </a:r>
            <a:r>
              <a:rPr sz="950" b="1" i="0">
                <a:solidFill>
                  <a:srgbClr val="1C1C1E"/>
                </a:solidFill>
                <a:latin typeface="Calibri"/>
              </a:rPr>
              <a:t>3m</a:t>
            </a:r>
          </a:p>
          <a:p>
            <a:pPr>
              <a:spcBef>
                <a:spcPts val="0"/>
              </a:spcBef>
              <a:spcAft>
                <a:spcPts val="0"/>
              </a:spcAft>
            </a:pPr>
            <a:r>
              <a:rPr sz="760" b="0" i="0">
                <a:solidFill>
                  <a:srgbClr val="4A4F57"/>
                </a:solidFill>
                <a:latin typeface="Calibri"/>
              </a:rPr>
              <a:t>an OIS-based fixing</a:t>
            </a:r>
          </a:p>
        </p:txBody>
      </p:sp>
      <p:sp>
        <p:nvSpPr>
          <p:cNvPr id="26" name="Rectangle 25"/>
          <p:cNvSpPr/>
          <p:nvPr/>
        </p:nvSpPr>
        <p:spPr>
          <a:xfrm>
            <a:off x="8264956" y="1353312"/>
            <a:ext cx="3149498" cy="1659635"/>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8264956"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8392972"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usd_curve_plus</a:t>
            </a:r>
          </a:p>
        </p:txBody>
      </p:sp>
      <p:sp>
        <p:nvSpPr>
          <p:cNvPr id="29" name="TextBox 28"/>
          <p:cNvSpPr txBox="1"/>
          <p:nvPr/>
        </p:nvSpPr>
        <p:spPr>
          <a:xfrm>
            <a:off x="8392972"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1m is gone; the shape follows the components</a:t>
            </a:r>
          </a:p>
        </p:txBody>
      </p:sp>
      <p:sp>
        <p:nvSpPr>
          <p:cNvPr id="30" name="TextBox 29"/>
          <p:cNvSpPr txBox="1"/>
          <p:nvPr/>
        </p:nvSpPr>
        <p:spPr>
          <a:xfrm>
            <a:off x="8392972"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r>
              <a:rPr sz="880" b="0" i="0">
                <a:solidFill>
                  <a:srgbClr val="A51C30"/>
                </a:solidFill>
                <a:latin typeface="Calibri"/>
              </a:rPr>
              <a:t>   overridden here</a:t>
            </a:r>
          </a:p>
        </p:txBody>
      </p:sp>
      <p:sp>
        <p:nvSpPr>
          <p:cNvPr id="31" name="TextBox 30"/>
          <p:cNvSpPr txBox="1"/>
          <p:nvPr/>
        </p:nvSpPr>
        <p:spPr>
          <a:xfrm>
            <a:off x="8392972" y="2116836"/>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1y</a:t>
            </a:r>
          </a:p>
        </p:txBody>
      </p:sp>
      <p:sp>
        <p:nvSpPr>
          <p:cNvPr id="32" name="TextBox 31"/>
          <p:cNvSpPr txBox="1"/>
          <p:nvPr/>
        </p:nvSpPr>
        <p:spPr>
          <a:xfrm>
            <a:off x="8392972" y="2331720"/>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5y</a:t>
            </a:r>
          </a:p>
        </p:txBody>
      </p:sp>
      <p:sp>
        <p:nvSpPr>
          <p:cNvPr id="33" name="TextBox 32"/>
          <p:cNvSpPr txBox="1"/>
          <p:nvPr/>
        </p:nvSpPr>
        <p:spPr>
          <a:xfrm>
            <a:off x="8392972" y="2546603"/>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10y</a:t>
            </a:r>
          </a:p>
        </p:txBody>
      </p:sp>
      <p:sp>
        <p:nvSpPr>
          <p:cNvPr id="34" name="TextBox 33"/>
          <p:cNvSpPr txBox="1"/>
          <p:nvPr/>
        </p:nvSpPr>
        <p:spPr>
          <a:xfrm>
            <a:off x="8392972"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30y</a:t>
            </a:r>
            <a:r>
              <a:rPr sz="880" b="0" i="0">
                <a:solidFill>
                  <a:srgbClr val="A51C30"/>
                </a:solidFill>
                <a:latin typeface="Calibri"/>
              </a:rPr>
              <a:t>   added here</a:t>
            </a:r>
          </a:p>
        </p:txBody>
      </p:sp>
      <p:sp>
        <p:nvSpPr>
          <p:cNvPr id="35" name="Down Arrow 34"/>
          <p:cNvSpPr/>
          <p:nvPr/>
        </p:nvSpPr>
        <p:spPr>
          <a:xfrm>
            <a:off x="4109618"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own Arrow 35"/>
          <p:cNvSpPr/>
          <p:nvPr/>
        </p:nvSpPr>
        <p:spPr>
          <a:xfrm>
            <a:off x="7853476"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32689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Rectangle 37"/>
          <p:cNvSpPr/>
          <p:nvPr/>
        </p:nvSpPr>
        <p:spPr>
          <a:xfrm>
            <a:off x="777240" y="32689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1014983" y="33878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Ask the platform, not the row. </a:t>
            </a:r>
            <a:r>
              <a:rPr sz="1050" b="0" i="0">
                <a:solidFill>
                  <a:srgbClr val="1C1C1E"/>
                </a:solidFill>
                <a:latin typeface="Calibri"/>
              </a:rPr>
              <a:t>GET /features/usd_curve_plus/resolved returns the components above AND where each came from — 3m says it overrode usd_curve. </a:t>
            </a:r>
            <a:r>
              <a:rPr sz="1050" b="1" i="0">
                <a:solidFill>
                  <a:srgbClr val="1C1C1E"/>
                </a:solidFill>
                <a:latin typeface="Calibri"/>
              </a:rPr>
              <a:t>The row stores what this feature declares; resolving it is MAYA’s job.</a:t>
            </a:r>
          </a:p>
        </p:txBody>
      </p:sp>
      <p:sp>
        <p:nvSpPr>
          <p:cNvPr id="40" name="Rectangle 39"/>
          <p:cNvSpPr/>
          <p:nvPr/>
        </p:nvSpPr>
        <p:spPr>
          <a:xfrm>
            <a:off x="777240" y="4256532"/>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4256532"/>
            <a:ext cx="45720"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1014983" y="4375404"/>
            <a:ext cx="10180015" cy="804672"/>
          </a:xfrm>
          <a:prstGeom prst="rect">
            <a:avLst/>
          </a:prstGeom>
          <a:noFill/>
        </p:spPr>
        <p:txBody>
          <a:bodyPr wrap="square" lIns="0" rIns="0" tIns="0" bIns="0" anchor="t">
            <a:spAutoFit/>
          </a:bodyPr>
          <a:lstStyle/>
          <a:p>
            <a:pPr algn="l">
              <a:spcBef>
                <a:spcPts val="0"/>
              </a:spcBef>
              <a:spcAft>
                <a:spcPts val="500"/>
              </a:spcAft>
            </a:pPr>
            <a:r>
              <a:rPr sz="1150" b="1" i="0">
                <a:solidFill>
                  <a:srgbClr val="A51C30"/>
                </a:solidFill>
                <a:latin typeface="Georgia"/>
              </a:rPr>
              <a:t>And if a parent is amended anyway?</a:t>
            </a:r>
          </a:p>
          <a:p>
            <a:pPr>
              <a:lnSpc>
                <a:spcPct val="122000"/>
              </a:lnSpc>
              <a:spcBef>
                <a:spcPts val="0"/>
              </a:spcBef>
              <a:spcAft>
                <a:spcPts val="0"/>
              </a:spcAft>
            </a:pPr>
            <a:r>
              <a:rPr sz="980" b="1" i="0">
                <a:solidFill>
                  <a:srgbClr val="1C1C1E"/>
                </a:solidFill>
                <a:latin typeface="Calibri"/>
              </a:rPr>
              <a:t>The child says so. </a:t>
            </a:r>
            <a:r>
              <a:rPr sz="980" b="0" i="0">
                <a:solidFill>
                  <a:srgbClr val="1C1C1E"/>
                </a:solidFill>
                <a:latin typeface="Calibri"/>
              </a:rPr>
              <a:t>A composition records the parent’s definition version at the moment it resolved, so a parent that has moved since shows up as drift on every child that reads it — </a:t>
            </a:r>
            <a:r>
              <a:rPr sz="980" b="1" i="0">
                <a:solidFill>
                  <a:srgbClr val="A51C30"/>
                </a:solidFill>
                <a:latin typeface="Calibri"/>
              </a:rPr>
              <a:t>composed against v1, now at v3.</a:t>
            </a:r>
            <a:r>
              <a:rPr sz="980" b="0" i="0">
                <a:solidFill>
                  <a:srgbClr val="4A4F57"/>
                </a:solidFill>
                <a:latin typeface="Calibri"/>
              </a:rPr>
              <a:t>  Not a failed read: a child whose parent has moved is something to be told about, not something that should stop working.</a:t>
            </a:r>
          </a:p>
        </p:txBody>
      </p:sp>
      <p:sp>
        <p:nvSpPr>
          <p:cNvPr id="43" name="TextBox 42"/>
          <p:cNvSpPr txBox="1"/>
          <p:nvPr/>
        </p:nvSpPr>
        <p:spPr>
          <a:xfrm>
            <a:off x="777240" y="5390388"/>
            <a:ext cx="10637215" cy="310896"/>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 sealed parent cannot drift </a:t>
            </a:r>
            <a:r>
              <a:rPr sz="1000" b="0" i="0">
                <a:solidFill>
                  <a:srgbClr val="4A4F57"/>
                </a:solidFill>
                <a:latin typeface="Calibri"/>
              </a:rPr>
              <a:t>— the amendment that would move it is refused, so sealing turns a promise about stability into a property of the object.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Combining two featuresets: the rightmost wins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45</a:t>
            </a:r>
          </a:p>
        </p:txBody>
      </p:sp>
      <p:sp>
        <p:nvSpPr>
          <p:cNvPr id="10" name="Rectangle 9"/>
          <p:cNvSpPr/>
          <p:nvPr/>
        </p:nvSpPr>
        <p:spPr>
          <a:xfrm>
            <a:off x="777240"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044287"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retail_core</a:t>
            </a:r>
          </a:p>
        </p:txBody>
      </p:sp>
      <p:sp>
        <p:nvSpPr>
          <p:cNvPr id="13" name="TextBox 12"/>
          <p:cNvSpPr txBox="1"/>
          <p:nvPr/>
        </p:nvSpPr>
        <p:spPr>
          <a:xfrm>
            <a:off x="905256"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first parent — least prominent</a:t>
            </a:r>
          </a:p>
        </p:txBody>
      </p:sp>
      <p:sp>
        <p:nvSpPr>
          <p:cNvPr id="14" name="TextBox 13"/>
          <p:cNvSpPr txBox="1"/>
          <p:nvPr/>
        </p:nvSpPr>
        <p:spPr>
          <a:xfrm>
            <a:off x="905256"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dscr</a:t>
            </a:r>
          </a:p>
        </p:txBody>
      </p:sp>
      <p:sp>
        <p:nvSpPr>
          <p:cNvPr id="15" name="TextBox 14"/>
          <p:cNvSpPr txBox="1"/>
          <p:nvPr/>
        </p:nvSpPr>
        <p:spPr>
          <a:xfrm>
            <a:off x="905256"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p>
        </p:txBody>
      </p:sp>
      <p:sp>
        <p:nvSpPr>
          <p:cNvPr id="16" name="TextBox 15"/>
          <p:cNvSpPr txBox="1"/>
          <p:nvPr/>
        </p:nvSpPr>
        <p:spPr>
          <a:xfrm>
            <a:off x="905256"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months_on_book</a:t>
            </a:r>
          </a:p>
        </p:txBody>
      </p:sp>
      <p:sp>
        <p:nvSpPr>
          <p:cNvPr id="17" name="Rectangle 16"/>
          <p:cNvSpPr/>
          <p:nvPr/>
        </p:nvSpPr>
        <p:spPr>
          <a:xfrm>
            <a:off x="6370167"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370167" y="135331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98183"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sme_core</a:t>
            </a:r>
          </a:p>
        </p:txBody>
      </p:sp>
      <p:sp>
        <p:nvSpPr>
          <p:cNvPr id="20" name="TextBox 19"/>
          <p:cNvSpPr txBox="1"/>
          <p:nvPr/>
        </p:nvSpPr>
        <p:spPr>
          <a:xfrm>
            <a:off x="6498183"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second parent — wins any clash</a:t>
            </a:r>
          </a:p>
        </p:txBody>
      </p:sp>
      <p:sp>
        <p:nvSpPr>
          <p:cNvPr id="21" name="TextBox 20"/>
          <p:cNvSpPr txBox="1"/>
          <p:nvPr/>
        </p:nvSpPr>
        <p:spPr>
          <a:xfrm>
            <a:off x="6498183"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3-year average</a:t>
            </a:r>
          </a:p>
        </p:txBody>
      </p:sp>
      <p:sp>
        <p:nvSpPr>
          <p:cNvPr id="22" name="TextBox 21"/>
          <p:cNvSpPr txBox="1"/>
          <p:nvPr/>
        </p:nvSpPr>
        <p:spPr>
          <a:xfrm>
            <a:off x="6498183"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sector</a:t>
            </a:r>
          </a:p>
        </p:txBody>
      </p:sp>
      <p:sp>
        <p:nvSpPr>
          <p:cNvPr id="23" name="TextBox 22"/>
          <p:cNvSpPr txBox="1"/>
          <p:nvPr/>
        </p:nvSpPr>
        <p:spPr>
          <a:xfrm>
            <a:off x="6498183"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directors</a:t>
            </a:r>
          </a:p>
        </p:txBody>
      </p:sp>
      <p:sp>
        <p:nvSpPr>
          <p:cNvPr id="24" name="Rectangle 23"/>
          <p:cNvSpPr/>
          <p:nvPr/>
        </p:nvSpPr>
        <p:spPr>
          <a:xfrm>
            <a:off x="777240" y="2820924"/>
            <a:ext cx="10637215" cy="365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60120" y="2894076"/>
            <a:ext cx="10271455" cy="237744"/>
          </a:xfrm>
          <a:prstGeom prst="rect">
            <a:avLst/>
          </a:prstGeom>
          <a:noFill/>
        </p:spPr>
        <p:txBody>
          <a:bodyPr wrap="square" lIns="0" rIns="0" tIns="0" bIns="0" anchor="t">
            <a:spAutoFit/>
          </a:bodyPr>
          <a:lstStyle/>
          <a:p>
            <a:pPr algn="l">
              <a:spcBef>
                <a:spcPts val="0"/>
              </a:spcBef>
              <a:spcAft>
                <a:spcPts val="0"/>
              </a:spcAft>
            </a:pPr>
            <a:r>
              <a:rPr sz="1000" b="1" i="0">
                <a:solidFill>
                  <a:srgbClr val="FFFFFF"/>
                </a:solidFill>
                <a:latin typeface="Calibri"/>
              </a:rPr>
              <a:t>compose: [retail_core, sme_core]</a:t>
            </a:r>
            <a:r>
              <a:rPr sz="1000" b="0" i="0">
                <a:solidFill>
                  <a:srgbClr val="F4DFE3"/>
                </a:solidFill>
                <a:latin typeface="Calibri"/>
              </a:rPr>
              <a:t>     folded left to right, later wins     </a:t>
            </a:r>
            <a:r>
              <a:rPr sz="1000" b="0" i="0">
                <a:solidFill>
                  <a:srgbClr val="F4DFE3"/>
                </a:solidFill>
                <a:latin typeface="Calibri"/>
              </a:rPr>
              <a:t>then this set’s own operations, last of all</a:t>
            </a:r>
          </a:p>
        </p:txBody>
      </p:sp>
      <p:sp>
        <p:nvSpPr>
          <p:cNvPr id="26" name="Rectangle 25"/>
          <p:cNvSpPr/>
          <p:nvPr/>
        </p:nvSpPr>
        <p:spPr>
          <a:xfrm>
            <a:off x="777240" y="3387852"/>
            <a:ext cx="5044287" cy="1874519"/>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338785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05256" y="350672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sme_retail</a:t>
            </a:r>
          </a:p>
        </p:txBody>
      </p:sp>
      <p:sp>
        <p:nvSpPr>
          <p:cNvPr id="29" name="TextBox 28"/>
          <p:cNvSpPr txBox="1"/>
          <p:nvPr/>
        </p:nvSpPr>
        <p:spPr>
          <a:xfrm>
            <a:off x="905256" y="375361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what a kernel defined over it actually reads</a:t>
            </a:r>
          </a:p>
        </p:txBody>
      </p:sp>
      <p:sp>
        <p:nvSpPr>
          <p:cNvPr id="30" name="TextBox 29"/>
          <p:cNvSpPr txBox="1"/>
          <p:nvPr/>
        </p:nvSpPr>
        <p:spPr>
          <a:xfrm>
            <a:off x="905256" y="3936492"/>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dscr</a:t>
            </a:r>
            <a:r>
              <a:rPr sz="880" b="0" i="0">
                <a:solidFill>
                  <a:srgbClr val="A51C30"/>
                </a:solidFill>
                <a:latin typeface="Calibri"/>
              </a:rPr>
              <a:t>   from retail_core</a:t>
            </a:r>
          </a:p>
        </p:txBody>
      </p:sp>
      <p:sp>
        <p:nvSpPr>
          <p:cNvPr id="31" name="TextBox 30"/>
          <p:cNvSpPr txBox="1"/>
          <p:nvPr/>
        </p:nvSpPr>
        <p:spPr>
          <a:xfrm>
            <a:off x="905256" y="415137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from sme_core — it overrode retail’s</a:t>
            </a:r>
          </a:p>
        </p:txBody>
      </p:sp>
      <p:sp>
        <p:nvSpPr>
          <p:cNvPr id="32" name="TextBox 31"/>
          <p:cNvSpPr txBox="1"/>
          <p:nvPr/>
        </p:nvSpPr>
        <p:spPr>
          <a:xfrm>
            <a:off x="905256" y="4366260"/>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months_on_book</a:t>
            </a:r>
            <a:r>
              <a:rPr sz="880" b="0" i="0">
                <a:solidFill>
                  <a:srgbClr val="A51C30"/>
                </a:solidFill>
                <a:latin typeface="Calibri"/>
              </a:rPr>
              <a:t>   from retail_core</a:t>
            </a:r>
          </a:p>
        </p:txBody>
      </p:sp>
      <p:sp>
        <p:nvSpPr>
          <p:cNvPr id="33" name="TextBox 32"/>
          <p:cNvSpPr txBox="1"/>
          <p:nvPr/>
        </p:nvSpPr>
        <p:spPr>
          <a:xfrm>
            <a:off x="905256" y="4581144"/>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sector</a:t>
            </a:r>
            <a:r>
              <a:rPr sz="880" b="0" i="0">
                <a:solidFill>
                  <a:srgbClr val="A51C30"/>
                </a:solidFill>
                <a:latin typeface="Calibri"/>
              </a:rPr>
              <a:t>   from sme_core</a:t>
            </a:r>
          </a:p>
        </p:txBody>
      </p:sp>
      <p:sp>
        <p:nvSpPr>
          <p:cNvPr id="34" name="TextBox 33"/>
          <p:cNvSpPr txBox="1"/>
          <p:nvPr/>
        </p:nvSpPr>
        <p:spPr>
          <a:xfrm>
            <a:off x="905256" y="4796028"/>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directors</a:t>
            </a:r>
            <a:r>
              <a:rPr sz="880" b="0" i="0">
                <a:solidFill>
                  <a:srgbClr val="A51C30"/>
                </a:solidFill>
                <a:latin typeface="Calibri"/>
              </a:rPr>
              <a:t>   from sme_core</a:t>
            </a:r>
          </a:p>
        </p:txBody>
      </p:sp>
      <p:sp>
        <p:nvSpPr>
          <p:cNvPr id="35" name="TextBox 34"/>
          <p:cNvSpPr txBox="1"/>
          <p:nvPr/>
        </p:nvSpPr>
        <p:spPr>
          <a:xfrm>
            <a:off x="905256" y="501091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guarantee_cover</a:t>
            </a:r>
            <a:r>
              <a:rPr sz="880" b="0" i="0">
                <a:solidFill>
                  <a:srgbClr val="A51C30"/>
                </a:solidFill>
                <a:latin typeface="Calibri"/>
              </a:rPr>
              <a:t>   added by this set</a:t>
            </a:r>
          </a:p>
        </p:txBody>
      </p:sp>
      <p:sp>
        <p:nvSpPr>
          <p:cNvPr id="36" name="TextBox 35"/>
          <p:cNvSpPr txBox="1"/>
          <p:nvPr/>
        </p:nvSpPr>
        <p:spPr>
          <a:xfrm>
            <a:off x="6370167" y="3387852"/>
            <a:ext cx="5044287" cy="2194560"/>
          </a:xfrm>
          <a:prstGeom prst="rect">
            <a:avLst/>
          </a:prstGeom>
          <a:noFill/>
        </p:spPr>
        <p:txBody>
          <a:bodyPr wrap="square" lIns="0" rIns="0" tIns="0" bIns="0" anchor="t">
            <a:spAutoFit/>
          </a:bodyPr>
          <a:lstStyle/>
          <a:p>
            <a:pPr algn="l">
              <a:spcBef>
                <a:spcPts val="0"/>
              </a:spcBef>
              <a:spcAft>
                <a:spcPts val="800"/>
              </a:spcAft>
            </a:pPr>
            <a:r>
              <a:rPr sz="1200" b="1" i="0">
                <a:solidFill>
                  <a:srgbClr val="A51C30"/>
                </a:solidFill>
                <a:latin typeface="Georgia"/>
              </a:rPr>
              <a:t>Only one slot clashed</a:t>
            </a:r>
          </a:p>
          <a:p>
            <a:pPr>
              <a:lnSpc>
                <a:spcPct val="124000"/>
              </a:lnSpc>
              <a:spcBef>
                <a:spcPts val="0"/>
              </a:spcBef>
              <a:spcAft>
                <a:spcPts val="1000"/>
              </a:spcAft>
            </a:pPr>
            <a:r>
              <a:rPr sz="1000" b="0" i="0">
                <a:solidFill>
                  <a:srgbClr val="1C1C1E"/>
                </a:solidFill>
                <a:latin typeface="Calibri"/>
              </a:rPr>
              <a:t>Both parents declare turnover. sme_core is named second, so its 3-year average is what the set holds — and the resolved set SAYS SO, slot by slot.</a:t>
            </a:r>
          </a:p>
          <a:p>
            <a:pPr>
              <a:lnSpc>
                <a:spcPct val="124000"/>
              </a:lnSpc>
              <a:spcBef>
                <a:spcPts val="0"/>
              </a:spcBef>
              <a:spcAft>
                <a:spcPts val="800"/>
              </a:spcAft>
            </a:pPr>
            <a:r>
              <a:rPr sz="1000" b="0" i="0">
                <a:solidFill>
                  <a:srgbClr val="4A4F57"/>
                </a:solidFill>
                <a:latin typeface="Calibri"/>
              </a:rPr>
              <a:t>If a parent could beat a child, naming a parent would be an act of surrender; if order did not matter, ‘combine these two’ would be ambiguous whenever they disagreed.</a:t>
            </a:r>
          </a:p>
          <a:p>
            <a:pPr>
              <a:lnSpc>
                <a:spcPct val="124000"/>
              </a:lnSpc>
              <a:spcBef>
                <a:spcPts val="0"/>
              </a:spcBef>
              <a:spcAft>
                <a:spcPts val="800"/>
              </a:spcAft>
            </a:pPr>
            <a:r>
              <a:rPr sz="1000" b="1" i="0">
                <a:solidFill>
                  <a:srgbClr val="A51C30"/>
                </a:solidFill>
                <a:latin typeface="Calibri"/>
              </a:rPr>
              <a:t>A child inherits the parents’ retrieval policy the same way</a:t>
            </a:r>
            <a:r>
              <a:rPr sz="1000" b="0" i="0">
                <a:solidFill>
                  <a:srgbClr val="4A4F57"/>
                </a:solidFill>
                <a:latin typeface="Calibri"/>
              </a:rPr>
              <a:t> — one fold, applied to slots, to components and to policy.</a:t>
            </a:r>
          </a:p>
          <a:p>
            <a:pPr>
              <a:lnSpc>
                <a:spcPct val="124000"/>
              </a:lnSpc>
              <a:spcBef>
                <a:spcPts val="0"/>
              </a:spcBef>
              <a:spcAft>
                <a:spcPts val="800"/>
              </a:spcAft>
            </a:pPr>
            <a:r>
              <a:rPr sz="1000" b="1" i="0">
                <a:solidFill>
                  <a:srgbClr val="A51C30"/>
                </a:solidFill>
                <a:latin typeface="Calibri"/>
              </a:rPr>
              <a:t>A composed set satisfies a kernel exactly as a declared one does</a:t>
            </a:r>
            <a:r>
              <a:rPr sz="1000" b="0" i="0">
                <a:solidFill>
                  <a:srgbClr val="4A4F57"/>
                </a:solidFill>
                <a:latin typeface="Calibri"/>
              </a:rPr>
              <a:t> — the schema L-W10 checks is the RESOLVED one, the same slots the data fills. Inheriting every slot is the ordinary case, not an exotic one.</a:t>
            </a:r>
          </a:p>
          <a:p>
            <a:pPr>
              <a:lnSpc>
                <a:spcPct val="124000"/>
              </a:lnSpc>
              <a:spcBef>
                <a:spcPts val="0"/>
              </a:spcBef>
              <a:spcAft>
                <a:spcPts val="0"/>
              </a:spcAft>
            </a:pPr>
            <a:r>
              <a:rPr sz="1000" b="1" i="0">
                <a:solidFill>
                  <a:srgbClr val="A51C30"/>
                </a:solidFill>
                <a:latin typeface="Calibri"/>
              </a:rPr>
              <a:t>Two compositions are refused outright:</a:t>
            </a:r>
            <a:r>
              <a:rPr sz="1000" b="0" i="0">
                <a:solidFill>
                  <a:srgbClr val="4A4F57"/>
                </a:solidFill>
                <a:latin typeface="Calibri"/>
              </a:rPr>
              <a:t> a cycle, which has no fixed point to resolve to; and an ephemeral parent, which resolves today and dangles tomorrow.</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MAYA does to values on the way out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46</a:t>
            </a:r>
          </a:p>
        </p:txBody>
      </p:sp>
      <p:sp>
        <p:nvSpPr>
          <p:cNvPr id="10" name="Rectangle 9"/>
          <p:cNvSpPr/>
          <p:nvPr/>
        </p:nvSpPr>
        <p:spPr>
          <a:xfrm>
            <a:off x="777240"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Align</a:t>
            </a:r>
          </a:p>
          <a:p>
            <a:pPr>
              <a:lnSpc>
                <a:spcPct val="115000"/>
              </a:lnSpc>
              <a:spcBef>
                <a:spcPts val="0"/>
              </a:spcBef>
              <a:spcAft>
                <a:spcPts val="600"/>
              </a:spcAft>
            </a:pPr>
            <a:r>
              <a:rPr sz="850" b="0" i="0">
                <a:solidFill>
                  <a:srgbClr val="4A4F57"/>
                </a:solidFill>
                <a:latin typeface="Calibri"/>
              </a:rPr>
              <a:t>onto a chosen axis, filling gaps by a stated rule</a:t>
            </a:r>
          </a:p>
        </p:txBody>
      </p:sp>
      <p:sp>
        <p:nvSpPr>
          <p:cNvPr id="13" name="Rectangle 12"/>
          <p:cNvSpPr/>
          <p:nvPr/>
        </p:nvSpPr>
        <p:spPr>
          <a:xfrm>
            <a:off x="3482263"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statistics from what was knowable at the as_of — on OBSERVED values, before anything is filled</a:t>
            </a:r>
          </a:p>
        </p:txBody>
      </p:sp>
      <p:sp>
        <p:nvSpPr>
          <p:cNvPr id="16" name="Rectangle 15"/>
          <p:cNvSpPr/>
          <p:nvPr/>
        </p:nvSpPr>
        <p:spPr>
          <a:xfrm>
            <a:off x="6187287"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Fill</a:t>
            </a:r>
          </a:p>
          <a:p>
            <a:pPr>
              <a:lnSpc>
                <a:spcPct val="115000"/>
              </a:lnSpc>
              <a:spcBef>
                <a:spcPts val="0"/>
              </a:spcBef>
              <a:spcAft>
                <a:spcPts val="600"/>
              </a:spcAft>
            </a:pPr>
            <a:r>
              <a:rPr sz="850" b="0" i="0">
                <a:solidFill>
                  <a:srgbClr val="4A4F57"/>
                </a:solidFill>
                <a:latin typeface="Calibri"/>
              </a:rPr>
              <a:t>the gaps, reporting how much of each column was invented</a:t>
            </a:r>
          </a:p>
        </p:txBody>
      </p:sp>
      <p:sp>
        <p:nvSpPr>
          <p:cNvPr id="19" name="Rectangle 18"/>
          <p:cNvSpPr/>
          <p:nvPr/>
        </p:nvSpPr>
        <p:spPr>
          <a:xfrm>
            <a:off x="8892311"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Normalise</a:t>
            </a:r>
          </a:p>
          <a:p>
            <a:pPr>
              <a:lnSpc>
                <a:spcPct val="115000"/>
              </a:lnSpc>
              <a:spcBef>
                <a:spcPts val="0"/>
              </a:spcBef>
              <a:spcAft>
                <a:spcPts val="600"/>
              </a:spcAft>
            </a:pPr>
            <a:r>
              <a:rPr sz="850" b="0" i="0">
                <a:solidFill>
                  <a:srgbClr val="4A4F57"/>
                </a:solidFill>
                <a:latin typeface="Calibri"/>
              </a:rPr>
              <a:t>everything, including what was filled, and return the statistics with the data</a:t>
            </a:r>
          </a:p>
        </p:txBody>
      </p:sp>
      <p:sp>
        <p:nvSpPr>
          <p:cNvPr id="22" name="TextBox 21"/>
          <p:cNvSpPr txBox="1"/>
          <p:nvPr/>
        </p:nvSpPr>
        <p:spPr>
          <a:xfrm>
            <a:off x="777240" y="2834640"/>
            <a:ext cx="5531351"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The order is the point.</a:t>
            </a:r>
          </a:p>
          <a:p>
            <a:pPr>
              <a:lnSpc>
                <a:spcPct val="125000"/>
              </a:lnSpc>
              <a:spcBef>
                <a:spcPts val="0"/>
              </a:spcBef>
              <a:spcAft>
                <a:spcPts val="0"/>
              </a:spcAft>
            </a:pPr>
            <a:r>
              <a:rPr sz="1100" b="0" i="0">
                <a:solidFill>
                  <a:srgbClr val="1C1C1E"/>
                </a:solidFill>
                <a:latin typeface="Calibri"/>
              </a:rPr>
              <a:t>Fitting the normalisation AFTER filling would shrink the spread by exactly the amount that was invented, because every filled cell sits at the centre and pulls the variance down.</a:t>
            </a:r>
          </a:p>
        </p:txBody>
      </p:sp>
      <p:sp>
        <p:nvSpPr>
          <p:cNvPr id="23" name="TextBox 22"/>
          <p:cNvSpPr txBox="1"/>
          <p:nvPr/>
        </p:nvSpPr>
        <p:spPr>
          <a:xfrm>
            <a:off x="6734080" y="2834640"/>
            <a:ext cx="4680374"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And the as_of is not optional.</a:t>
            </a:r>
          </a:p>
          <a:p>
            <a:pPr>
              <a:lnSpc>
                <a:spcPct val="125000"/>
              </a:lnSpc>
              <a:spcBef>
                <a:spcPts val="0"/>
              </a:spcBef>
              <a:spcAft>
                <a:spcPts val="0"/>
              </a:spcAft>
            </a:pPr>
            <a:r>
              <a:rPr sz="1100" b="0" i="0">
                <a:solidFill>
                  <a:srgbClr val="1C1C1E"/>
                </a:solidFill>
                <a:latin typeface="Calibri"/>
              </a:rPr>
              <a:t>A z-score fitted over the whole column encodes what the mean turned out to be, including the part that had not happened when the row was scored. The leaky answer is the one somebody would get by accident, so it is the one that must not be the default.</a:t>
            </a:r>
          </a:p>
        </p:txBody>
      </p:sp>
      <p:sp>
        <p:nvSpPr>
          <p:cNvPr id="24" name="Rectangle 23"/>
          <p:cNvSpPr/>
          <p:nvPr/>
        </p:nvSpPr>
        <p:spPr>
          <a:xfrm>
            <a:off x="777240" y="448056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Rectangle 24"/>
          <p:cNvSpPr/>
          <p:nvPr/>
        </p:nvSpPr>
        <p:spPr>
          <a:xfrm>
            <a:off x="777240" y="448056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1014983" y="459943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Attached as default behaviour, overridden by the request. </a:t>
            </a:r>
            <a:r>
              <a:rPr sz="1050" b="0" i="0">
                <a:solidFill>
                  <a:srgbClr val="1C1C1E"/>
                </a:solidFill>
                <a:latin typeface="Calibri"/>
              </a:rPr>
              <a:t>Parents, then the object, then the caller — the same left-to-right fold, merged column by column, so a parent that fills three columns and a child that normalises one </a:t>
            </a:r>
            <a:r>
              <a:rPr sz="1050" b="1" i="0">
                <a:solidFill>
                  <a:srgbClr val="1C1C1E"/>
                </a:solidFill>
                <a:latin typeface="Calibri"/>
              </a:rPr>
              <a:t>end up doing both.</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fit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47</a:t>
            </a:r>
          </a:p>
        </p:txBody>
      </p:sp>
      <p:sp>
        <p:nvSpPr>
          <p:cNvPr id="10" name="Rectangle 9"/>
          <p:cNvSpPr/>
          <p:nvPr/>
        </p:nvSpPr>
        <p:spPr>
          <a:xfrm>
            <a:off x="777240" y="1353312"/>
            <a:ext cx="5744096" cy="239714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39714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2214265"/>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BINDING names where something comes from, or goes</a:t>
            </a:r>
          </a:p>
          <a:p>
            <a:pPr>
              <a:lnSpc>
                <a:spcPct val="134000"/>
              </a:lnSpc>
              <a:spcBef>
                <a:spcPts val="0"/>
              </a:spcBef>
              <a:spcAft>
                <a:spcPts val="0"/>
              </a:spcAft>
            </a:pPr>
            <a:r>
              <a:rPr sz="900" b="0" i="0">
                <a:solidFill>
                  <a:srgbClr val="1C1C1E"/>
                </a:solidFill>
                <a:latin typeface="Consolas"/>
              </a:rPr>
              <a:t>"operation":  {"verb": "fit"},</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"to_be_fitted"}},</a:t>
            </a:r>
          </a:p>
          <a:p>
            <a:pPr>
              <a:lnSpc>
                <a:spcPct val="134000"/>
              </a:lnSpc>
              <a:spcBef>
                <a:spcPts val="0"/>
              </a:spcBef>
              <a:spcAft>
                <a:spcPts val="0"/>
              </a:spcAft>
            </a:pPr>
            <a:r>
              <a:rPr sz="900" b="0" i="0">
                <a:solidFill>
                  <a:srgbClr val="1C1C1E"/>
                </a:solidFill>
                <a:latin typeface="Consolas"/>
              </a:rPr>
              <a:t>"data": {</a:t>
            </a:r>
          </a:p>
          <a:p>
            <a:pPr>
              <a:lnSpc>
                <a:spcPct val="134000"/>
              </a:lnSpc>
              <a:spcBef>
                <a:spcPts val="0"/>
              </a:spcBef>
              <a:spcAft>
                <a:spcPts val="0"/>
              </a:spcAft>
            </a:pPr>
            <a:r>
              <a:rPr sz="900" b="0" i="0">
                <a:solidFill>
                  <a:srgbClr val="1C1C1E"/>
                </a:solidFill>
                <a:latin typeface="Consolas"/>
              </a:rPr>
              <a:t>  "inputs":  [{"binding":   "featureset",</a:t>
            </a:r>
          </a:p>
          <a:p>
            <a:pPr>
              <a:lnSpc>
                <a:spcPct val="134000"/>
              </a:lnSpc>
              <a:spcBef>
                <a:spcPts val="0"/>
              </a:spcBef>
              <a:spcAft>
                <a:spcPts val="0"/>
              </a:spcAft>
            </a:pPr>
            <a:r>
              <a:rPr sz="900" b="0" i="0">
                <a:solidFill>
                  <a:srgbClr val="1C1C1E"/>
                </a:solidFill>
                <a:latin typeface="Consolas"/>
              </a:rPr>
              <a:t>               "featureset": "nj_home_core", "version": 1,</a:t>
            </a:r>
          </a:p>
          <a:p>
            <a:pPr>
              <a:lnSpc>
                <a:spcPct val="134000"/>
              </a:lnSpc>
              <a:spcBef>
                <a:spcPts val="0"/>
              </a:spcBef>
              <a:spcAft>
                <a:spcPts val="0"/>
              </a:spcAft>
            </a:pPr>
            <a:r>
              <a:rPr sz="900" b="0" i="0">
                <a:solidFill>
                  <a:srgbClr val="1C1C1E"/>
                </a:solidFill>
                <a:latin typeface="Consolas"/>
              </a:rPr>
              <a:t>               "window": {"from": "2019-01-01",</a:t>
            </a:r>
          </a:p>
          <a:p>
            <a:pPr>
              <a:lnSpc>
                <a:spcPct val="134000"/>
              </a:lnSpc>
              <a:spcBef>
                <a:spcPts val="0"/>
              </a:spcBef>
              <a:spcAft>
                <a:spcPts val="0"/>
              </a:spcAft>
            </a:pPr>
            <a:r>
              <a:rPr sz="900" b="0" i="0">
                <a:solidFill>
                  <a:srgbClr val="1C1C1E"/>
                </a:solidFill>
                <a:latin typeface="Consolas"/>
              </a:rPr>
              <a:t>                          "to":   "2024-12-31"},</a:t>
            </a:r>
          </a:p>
          <a:p>
            <a:pPr>
              <a:lnSpc>
                <a:spcPct val="134000"/>
              </a:lnSpc>
              <a:spcBef>
                <a:spcPts val="0"/>
              </a:spcBef>
              <a:spcAft>
                <a:spcPts val="0"/>
              </a:spcAft>
            </a:pPr>
            <a:r>
              <a:rPr sz="900" b="0" i="0">
                <a:solidFill>
                  <a:srgbClr val="1C1C1E"/>
                </a:solidFill>
                <a:latin typeface="Consolas"/>
              </a:rPr>
              <a:t>               "as_of":  "2025-01-15"}],</a:t>
            </a:r>
          </a:p>
          <a:p>
            <a:pPr>
              <a:lnSpc>
                <a:spcPct val="134000"/>
              </a:lnSpc>
              <a:spcBef>
                <a:spcPts val="0"/>
              </a:spcBef>
              <a:spcAft>
                <a:spcPts val="0"/>
              </a:spcAft>
            </a:pPr>
            <a:r>
              <a:rPr sz="900" b="0" i="0">
                <a:solidFill>
                  <a:srgbClr val="1C1C1E"/>
                </a:solidFill>
                <a:latin typeface="Consolas"/>
              </a:rPr>
              <a:t>  "outputs": [{"sink": "parameter_object"}]}</a:t>
            </a:r>
          </a:p>
        </p:txBody>
      </p:sp>
      <p:sp>
        <p:nvSpPr>
          <p:cNvPr id="13" name="Rectangle 12"/>
          <p:cNvSpPr/>
          <p:nvPr/>
        </p:nvSpPr>
        <p:spPr>
          <a:xfrm>
            <a:off x="777240" y="3969913"/>
            <a:ext cx="5744096"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969913"/>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4088785"/>
            <a:ext cx="5286896"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set fixes the columns; the warrant fixes the period. </a:t>
            </a:r>
            <a:r>
              <a:rPr sz="1050" b="0" i="0">
                <a:solidFill>
                  <a:srgbClr val="1C1C1E"/>
                </a:solidFill>
                <a:latin typeface="Calibri"/>
              </a:rPr>
              <a:t>That is why window and as_of are here and not in the featureset — </a:t>
            </a:r>
            <a:r>
              <a:rPr sz="1050" b="1" i="0">
                <a:solidFill>
                  <a:srgbClr val="1C1C1E"/>
                </a:solidFill>
                <a:latin typeface="Calibri"/>
              </a:rPr>
              <a:t>one set trains 2019–23 and 2020–24 without becoming two sets.</a:t>
            </a:r>
          </a:p>
        </p:txBody>
      </p:sp>
      <p:sp>
        <p:nvSpPr>
          <p:cNvPr id="16" name="TextBox 15"/>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Five checks before it is signed</a:t>
            </a:r>
          </a:p>
        </p:txBody>
      </p:sp>
      <p:graphicFrame>
        <p:nvGraphicFramePr>
          <p:cNvPr id="17" name="Table 16"/>
          <p:cNvGraphicFramePr>
            <a:graphicFrameLocks noGrp="1"/>
          </p:cNvGraphicFramePr>
          <p:nvPr/>
        </p:nvGraphicFramePr>
        <p:xfrm>
          <a:off x="6946824" y="1719072"/>
          <a:ext cx="4467629" cy="2134436"/>
        </p:xfrm>
        <a:graphic>
          <a:graphicData uri="http://schemas.openxmlformats.org/drawingml/2006/table">
            <a:tbl>
              <a:tblPr firstRow="1">
                <a:tableStyleId>{5C22544A-7EE6-4342-B048-85BDC9FD1C3A}</a:tableStyleId>
              </a:tblPr>
              <a:tblGrid>
                <a:gridCol w="771681"/>
                <a:gridCol w="3695948"/>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Asks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L-W1</a:t>
                      </a:r>
                    </a:p>
                  </a:txBody>
                  <a:tcPr marL="82296" marR="64008" marT="32004" marB="32004" anchor="ctr">
                    <a:solidFill>
                      <a:srgbClr val="FFFFFF"/>
                    </a:solidFill>
                  </a:tcPr>
                </a:tc>
                <a:tc>
                  <a:txBody>
                    <a:bodyPr wrap="square"/>
                    <a:lstStyle/>
                    <a:p>
                      <a:pPr algn="l"/>
                      <a:r>
                        <a:rPr sz="900" b="0">
                          <a:solidFill>
                            <a:srgbClr val="1C1C1E"/>
                          </a:solidFill>
                          <a:latin typeface="Calibri"/>
                        </a:rPr>
                        <a:t>is 'fit' meaningful for this class? T0 has nothing to fit, and the refusal says so</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L-W10</a:t>
                      </a:r>
                    </a:p>
                  </a:txBody>
                  <a:tcPr marL="82296" marR="64008" marT="32004" marB="32004" anchor="ctr">
                    <a:solidFill>
                      <a:srgbClr val="F6F3EF"/>
                    </a:solidFill>
                  </a:tcPr>
                </a:tc>
                <a:tc>
                  <a:txBody>
                    <a:bodyPr wrap="square"/>
                    <a:lstStyle/>
                    <a:p>
                      <a:pPr algn="l"/>
                      <a:r>
                        <a:rPr sz="900" b="0">
                          <a:solidFill>
                            <a:srgbClr val="1C1C1E"/>
                          </a:solidFill>
                          <a:latin typeface="Calibri"/>
                        </a:rPr>
                        <a:t>does the featureset provide what the kernel declares it reads?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L-W3</a:t>
                      </a:r>
                    </a:p>
                  </a:txBody>
                  <a:tcPr marL="82296" marR="64008" marT="32004" marB="32004" anchor="ctr">
                    <a:solidFill>
                      <a:srgbClr val="FFFFFF"/>
                    </a:solidFill>
                  </a:tcPr>
                </a:tc>
                <a:tc>
                  <a:txBody>
                    <a:bodyPr wrap="square"/>
                    <a:lstStyle/>
                    <a:p>
                      <a:pPr algn="l"/>
                      <a:r>
                        <a:rPr sz="900" b="0">
                          <a:solidFill>
                            <a:srgbClr val="1C1C1E"/>
                          </a:solidFill>
                          <a:latin typeface="Calibri"/>
                        </a:rPr>
                        <a:t>is the binding one that can answer 'what was known at t'?</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L-W9</a:t>
                      </a:r>
                    </a:p>
                  </a:txBody>
                  <a:tcPr marL="82296" marR="64008" marT="32004" marB="32004" anchor="ctr">
                    <a:solidFill>
                      <a:srgbClr val="F6F3EF"/>
                    </a:solidFill>
                  </a:tcPr>
                </a:tc>
                <a:tc>
                  <a:txBody>
                    <a:bodyPr wrap="square"/>
                    <a:lstStyle/>
                    <a:p>
                      <a:pPr algn="l"/>
                      <a:r>
                        <a:rPr sz="900" b="0">
                          <a:solidFill>
                            <a:srgbClr val="1C1C1E"/>
                          </a:solidFill>
                          <a:latin typeface="Calibri"/>
                        </a:rPr>
                        <a:t>is the read bounded in BOTH clocks?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L-W4</a:t>
                      </a:r>
                    </a:p>
                  </a:txBody>
                  <a:tcPr marL="82296" marR="64008" marT="32004" marB="32004" anchor="ctr">
                    <a:solidFill>
                      <a:srgbClr val="FFFFFF"/>
                    </a:solidFill>
                  </a:tcPr>
                </a:tc>
                <a:tc>
                  <a:txBody>
                    <a:bodyPr wrap="square"/>
                    <a:lstStyle/>
                    <a:p>
                      <a:pPr algn="l"/>
                      <a:r>
                        <a:rPr sz="900" b="0">
                          <a:solidFill>
                            <a:srgbClr val="1C1C1E"/>
                          </a:solidFill>
                          <a:latin typeface="Calibri"/>
                        </a:rPr>
                        <a:t>does it say where the parameters go?</a:t>
                      </a:r>
                    </a:p>
                  </a:txBody>
                  <a:tcPr marL="82296" marR="64008" marT="32004" marB="32004" anchor="ctr">
                    <a:solidFill>
                      <a:srgbClr val="FFFFFF"/>
                    </a:solidFill>
                  </a:tcPr>
                </a:tc>
              </a:tr>
            </a:tbl>
          </a:graphicData>
        </a:graphic>
      </p:graphicFrame>
      <p:sp>
        <p:nvSpPr>
          <p:cNvPr id="18" name="TextBox 17"/>
          <p:cNvSpPr txBox="1"/>
          <p:nvPr/>
        </p:nvSpPr>
        <p:spPr>
          <a:xfrm>
            <a:off x="6946824" y="4036390"/>
            <a:ext cx="4467630" cy="1005840"/>
          </a:xfrm>
          <a:prstGeom prst="rect">
            <a:avLst/>
          </a:prstGeom>
          <a:noFill/>
        </p:spPr>
        <p:txBody>
          <a:bodyPr wrap="square" lIns="0" rIns="0" tIns="0" bIns="0" anchor="t">
            <a:spAutoFit/>
          </a:bodyPr>
          <a:lstStyle/>
          <a:p>
            <a:pPr algn="l">
              <a:lnSpc>
                <a:spcPct val="124000"/>
              </a:lnSpc>
              <a:spcBef>
                <a:spcPts val="0"/>
              </a:spcBef>
              <a:spcAft>
                <a:spcPts val="600"/>
              </a:spcAft>
            </a:pPr>
            <a:r>
              <a:rPr sz="1150" b="1" i="0">
                <a:solidFill>
                  <a:srgbClr val="1C1C1E"/>
                </a:solidFill>
                <a:latin typeface="Calibri"/>
              </a:rPr>
              <a:t>MAYA does not fit anything. It signs this and waits.</a:t>
            </a:r>
          </a:p>
          <a:p>
            <a:pPr>
              <a:lnSpc>
                <a:spcPct val="124000"/>
              </a:lnSpc>
              <a:spcBef>
                <a:spcPts val="0"/>
              </a:spcBef>
              <a:spcAft>
                <a:spcPts val="0"/>
              </a:spcAft>
            </a:pPr>
            <a:r>
              <a:rPr sz="1050" b="0" i="0">
                <a:solidFill>
                  <a:srgbClr val="4A4F57"/>
                </a:solidFill>
                <a:latin typeface="Calibri"/>
              </a:rPr>
              <a:t>The estimation happens in an execution engine — the same boundary drawn everywhere else here.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fit produces a parameter set, not a model version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48</a:t>
            </a:r>
          </a:p>
        </p:txBody>
      </p:sp>
      <p:sp>
        <p:nvSpPr>
          <p:cNvPr id="10" name="Rectangle 9"/>
          <p:cNvSpPr/>
          <p:nvPr/>
        </p:nvSpPr>
        <p:spPr>
          <a:xfrm>
            <a:off x="777240" y="1353312"/>
            <a:ext cx="553135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the kernel did not change.</a:t>
            </a:r>
          </a:p>
          <a:p>
            <a:pPr>
              <a:lnSpc>
                <a:spcPct val="134000"/>
              </a:lnSpc>
              <a:spcBef>
                <a:spcPts val="0"/>
              </a:spcBef>
              <a:spcAft>
                <a:spcPts val="0"/>
              </a:spcAft>
            </a:pPr>
            <a:r>
              <a:rPr sz="950" b="0" i="0">
                <a:solidFill>
                  <a:srgbClr val="1C1C1E"/>
                </a:solidFill>
                <a:latin typeface="Consolas"/>
              </a:rPr>
              <a:t>⇒ minting a model version per retrain would make</a:t>
            </a:r>
          </a:p>
          <a:p>
            <a:pPr>
              <a:lnSpc>
                <a:spcPct val="134000"/>
              </a:lnSpc>
              <a:spcBef>
                <a:spcPts val="0"/>
              </a:spcBef>
              <a:spcAft>
                <a:spcPts val="0"/>
              </a:spcAft>
            </a:pPr>
            <a:r>
              <a:rPr sz="950" b="0" i="0">
                <a:solidFill>
                  <a:srgbClr val="1C1C1E"/>
                </a:solidFill>
                <a:latin typeface="Consolas"/>
              </a:rPr>
              <a:t>  'the model changed' mean two different things.</a:t>
            </a:r>
          </a:p>
        </p:txBody>
      </p:sp>
      <p:sp>
        <p:nvSpPr>
          <p:cNvPr id="13" name="TextBox 12"/>
          <p:cNvSpPr txBox="1"/>
          <p:nvPr/>
        </p:nvSpPr>
        <p:spPr>
          <a:xfrm>
            <a:off x="777240" y="3087608"/>
            <a:ext cx="5531351" cy="1737360"/>
          </a:xfrm>
          <a:prstGeom prst="rect">
            <a:avLst/>
          </a:prstGeom>
          <a:noFill/>
        </p:spPr>
        <p:txBody>
          <a:bodyPr wrap="square" lIns="0" rIns="0" tIns="0" bIns="0" anchor="t">
            <a:spAutoFit/>
          </a:bodyPr>
          <a:lstStyle/>
          <a:p>
            <a:pPr algn="l">
              <a:lnSpc>
                <a:spcPct val="125000"/>
              </a:lnSpc>
              <a:spcBef>
                <a:spcPts val="0"/>
              </a:spcBef>
              <a:spcAft>
                <a:spcPts val="900"/>
              </a:spcAft>
            </a:pPr>
            <a:r>
              <a:rPr sz="1100" b="0" i="0">
                <a:solidFill>
                  <a:srgbClr val="1C1C1E"/>
                </a:solidFill>
                <a:latin typeface="Calibri"/>
              </a:rPr>
              <a:t>But a parameter set does change behaviour — so it is immutable, versioned, and an alias cannot point at it until somebody other than whoever recorded it has approved.</a:t>
            </a:r>
          </a:p>
          <a:p>
            <a:pPr>
              <a:lnSpc>
                <a:spcPct val="125000"/>
              </a:lnSpc>
              <a:spcBef>
                <a:spcPts val="0"/>
              </a:spcBef>
              <a:spcAft>
                <a:spcPts val="0"/>
              </a:spcAft>
            </a:pPr>
            <a:r>
              <a:rPr sz="1100" b="0" i="0">
                <a:solidFill>
                  <a:srgbClr val="4A4F57"/>
                </a:solidFill>
                <a:latin typeface="Calibri"/>
              </a:rPr>
              <a:t>Accepted ONLY against a warrant MAYA issued, and only when it names the featureset version that produced it.</a:t>
            </a:r>
          </a:p>
        </p:txBody>
      </p:sp>
      <p:sp>
        <p:nvSpPr>
          <p:cNvPr id="14" name="TextBox 13"/>
          <p:cNvSpPr txBox="1"/>
          <p:nvPr/>
        </p:nvSpPr>
        <p:spPr>
          <a:xfrm>
            <a:off x="6734080" y="1353312"/>
            <a:ext cx="4680374"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to P, governed to three depths</a:t>
            </a:r>
          </a:p>
        </p:txBody>
      </p:sp>
      <p:graphicFrame>
        <p:nvGraphicFramePr>
          <p:cNvPr id="15" name="Table 14"/>
          <p:cNvGraphicFramePr>
            <a:graphicFrameLocks noGrp="1"/>
          </p:cNvGraphicFramePr>
          <p:nvPr/>
        </p:nvGraphicFramePr>
        <p:xfrm>
          <a:off x="6734080" y="1719072"/>
          <a:ext cx="4680374" cy="1253832"/>
        </p:xfrm>
        <a:graphic>
          <a:graphicData uri="http://schemas.openxmlformats.org/drawingml/2006/table">
            <a:tbl>
              <a:tblPr firstRow="1">
                <a:tableStyleId>{5C22544A-7EE6-4342-B048-85BDC9FD1C3A}</a:tableStyleId>
              </a:tblPr>
              <a:tblGrid>
                <a:gridCol w="1191368"/>
                <a:gridCol w="2127443"/>
                <a:gridCol w="1361563"/>
              </a:tblGrid>
              <a:tr h="329184">
                <a:tc>
                  <a:txBody>
                    <a:bodyPr wrap="square"/>
                    <a:lstStyle/>
                    <a:p>
                      <a:pPr algn="l"/>
                      <a:r>
                        <a:rPr sz="950" b="1">
                          <a:solidFill>
                            <a:srgbClr val="FFFFFF"/>
                          </a:solidFill>
                          <a:latin typeface="Calibri"/>
                        </a:rPr>
                        <a:t>Route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often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6" name="TextBox 15"/>
          <p:cNvSpPr txBox="1"/>
          <p:nvPr/>
        </p:nvSpPr>
        <p:spPr>
          <a:xfrm>
            <a:off x="6734080" y="3090672"/>
            <a:ext cx="4680374" cy="1828800"/>
          </a:xfrm>
          <a:prstGeom prst="rect">
            <a:avLst/>
          </a:prstGeom>
          <a:noFill/>
        </p:spPr>
        <p:txBody>
          <a:bodyPr wrap="square" lIns="0" rIns="0" tIns="0" bIns="0" anchor="t">
            <a:spAutoFit/>
          </a:bodyPr>
          <a:lstStyle/>
          <a:p>
            <a:pPr algn="l">
              <a:lnSpc>
                <a:spcPct val="124000"/>
              </a:lnSpc>
              <a:spcBef>
                <a:spcPts val="0"/>
              </a:spcBef>
              <a:spcAft>
                <a:spcPts val="900"/>
              </a:spcAft>
            </a:pPr>
            <a:r>
              <a:rPr sz="1050" b="0" i="0">
                <a:solidFill>
                  <a:srgbClr val="4A4F57"/>
                </a:solidFill>
                <a:latin typeface="Calibri"/>
              </a:rPr>
              <a:t>The middle row is why provenance is not cosmetic: a Hull–White model recalibrated every morning would drown the register if each day needed a committee.</a:t>
            </a:r>
          </a:p>
          <a:p>
            <a:pPr>
              <a:lnSpc>
                <a:spcPct val="124000"/>
              </a:lnSpc>
              <a:spcBef>
                <a:spcPts val="0"/>
              </a:spcBef>
              <a:spcAft>
                <a:spcPts val="0"/>
              </a:spcAft>
            </a:pPr>
            <a:r>
              <a:rPr sz="1050" b="0" i="0">
                <a:solidFill>
                  <a:srgbClr val="4A4F57"/>
                </a:solidFill>
                <a:latin typeface="Calibri"/>
              </a:rPr>
              <a:t>The bottom row is the model that never trains. A closed form arrives with its parameters and its kernel is ready from the first day — and L-W1 refuses it a fit warrant, so nobody has to remember which models train.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run warrant, and why it is determined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49</a:t>
            </a:r>
          </a:p>
        </p:txBody>
      </p:sp>
      <p:sp>
        <p:nvSpPr>
          <p:cNvPr id="10" name="Rectangle 9"/>
          <p:cNvSpPr/>
          <p:nvPr/>
        </p:nvSpPr>
        <p:spPr>
          <a:xfrm>
            <a:off x="777240" y="1353312"/>
            <a:ext cx="5956840"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"score", "deterministic": true},</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"parameter_set",</a:t>
            </a:r>
          </a:p>
          <a:p>
            <a:pPr>
              <a:lnSpc>
                <a:spcPct val="134000"/>
              </a:lnSpc>
              <a:spcBef>
                <a:spcPts val="0"/>
              </a:spcBef>
              <a:spcAft>
                <a:spcPts val="0"/>
              </a:spcAft>
            </a:pPr>
            <a:r>
              <a:rPr sz="900" b="0" i="0">
                <a:solidFill>
                  <a:srgbClr val="1C1C1E"/>
                </a:solidFill>
                <a:latin typeface="Consolas"/>
              </a:rPr>
              <a:t>                          "parameter_set": "01a06d51f9c3",</a:t>
            </a:r>
          </a:p>
          <a:p>
            <a:pPr>
              <a:lnSpc>
                <a:spcPct val="134000"/>
              </a:lnSpc>
              <a:spcBef>
                <a:spcPts val="0"/>
              </a:spcBef>
              <a:spcAft>
                <a:spcPts val="0"/>
              </a:spcAft>
            </a:pPr>
            <a:r>
              <a:rPr sz="900" b="0" i="0">
                <a:solidFill>
                  <a:srgbClr val="1C1C1E"/>
                </a:solidFill>
                <a:latin typeface="Consolas"/>
              </a:rPr>
              <a:t>                          "digest": "sha256:c4e7…"}},</a:t>
            </a:r>
          </a:p>
          <a:p>
            <a:pPr>
              <a:lnSpc>
                <a:spcPct val="134000"/>
              </a:lnSpc>
              <a:spcBef>
                <a:spcPts val="0"/>
              </a:spcBef>
              <a:spcAft>
                <a:spcPts val="0"/>
              </a:spcAft>
            </a:pPr>
            <a:r>
              <a:rPr sz="900" b="0" i="0">
                <a:solidFill>
                  <a:srgbClr val="1C1C1E"/>
                </a:solidFill>
                <a:latin typeface="Consolas"/>
              </a:rPr>
              <a:t>"data": {"inputs":  [{"binding": "request"}],</a:t>
            </a:r>
          </a:p>
          <a:p>
            <a:pPr>
              <a:lnSpc>
                <a:spcPct val="134000"/>
              </a:lnSpc>
              <a:spcBef>
                <a:spcPts val="0"/>
              </a:spcBef>
              <a:spcAft>
                <a:spcPts val="0"/>
              </a:spcAft>
            </a:pPr>
            <a:r>
              <a:rPr sz="900" b="0" i="0">
                <a:solidFill>
                  <a:srgbClr val="1C1C1E"/>
                </a:solidFill>
                <a:latin typeface="Consolas"/>
              </a:rPr>
              <a:t>         "outputs": [{"sink": "response"}]}</a:t>
            </a:r>
          </a:p>
        </p:txBody>
      </p:sp>
      <p:sp>
        <p:nvSpPr>
          <p:cNvPr id="13" name="TextBox 12"/>
          <p:cNvSpPr txBox="1"/>
          <p:nvPr/>
        </p:nvSpPr>
        <p:spPr>
          <a:xfrm>
            <a:off x="777240" y="3234552"/>
            <a:ext cx="5956840" cy="155448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Model version AND parameter set, both pinned. The run is determined: same kernel, same point in P, same input, same answer.</a:t>
            </a:r>
          </a:p>
          <a:p>
            <a:pPr>
              <a:lnSpc>
                <a:spcPct val="125000"/>
              </a:lnSpc>
              <a:spcBef>
                <a:spcPts val="0"/>
              </a:spcBef>
              <a:spcAft>
                <a:spcPts val="0"/>
              </a:spcAft>
            </a:pPr>
            <a:r>
              <a:rPr sz="1050" b="0" i="0">
                <a:solidFill>
                  <a:srgbClr val="4A4F57"/>
                </a:solidFill>
                <a:latin typeface="Calibri"/>
              </a:rPr>
              <a:t>L-W8 refuses each of to_be_fitted and parameter_set in the other’s position. A fit that claims to read parameters has the direction backwards; a score that will not name its point in P produces a number attributable to nothing.</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appraiser gets</a:t>
            </a:r>
          </a:p>
          <a:p>
            <a:pPr>
              <a:lnSpc>
                <a:spcPct val="124000"/>
              </a:lnSpc>
              <a:spcBef>
                <a:spcPts val="0"/>
              </a:spcBef>
              <a:spcAft>
                <a:spcPts val="800"/>
              </a:spcAft>
            </a:pPr>
            <a:r>
              <a:rPr sz="1100" b="0" i="0">
                <a:solidFill>
                  <a:srgbClr val="1C1C1E"/>
                </a:solidFill>
                <a:latin typeface="Calibri"/>
              </a:rPr>
              <a:t>A number whose provenance runs all the way back:</a:t>
            </a:r>
          </a:p>
          <a:p>
            <a:pPr>
              <a:spcBef>
                <a:spcPts val="0"/>
              </a:spcBef>
              <a:spcAft>
                <a:spcPts val="500"/>
              </a:spcAft>
            </a:pPr>
            <a:r>
              <a:rPr sz="1050" b="1" i="0">
                <a:solidFill>
                  <a:srgbClr val="A51C30"/>
                </a:solidFill>
                <a:latin typeface="Calibri"/>
              </a:rPr>
              <a:t>→  </a:t>
            </a:r>
            <a:r>
              <a:rPr sz="1050" b="0" i="0">
                <a:solidFill>
                  <a:srgbClr val="4A4F57"/>
                </a:solidFill>
                <a:latin typeface="Calibri"/>
              </a:rPr>
              <a:t>the parameter set that produced it</a:t>
            </a:r>
          </a:p>
          <a:p>
            <a:pPr>
              <a:spcBef>
                <a:spcPts val="0"/>
              </a:spcBef>
              <a:spcAft>
                <a:spcPts val="500"/>
              </a:spcAft>
            </a:pPr>
            <a:r>
              <a:rPr sz="1050" b="1" i="0">
                <a:solidFill>
                  <a:srgbClr val="A51C30"/>
                </a:solidFill>
                <a:latin typeface="Calibri"/>
              </a:rPr>
              <a:t>→  </a:t>
            </a:r>
            <a:r>
              <a:rPr sz="1050" b="0" i="0">
                <a:solidFill>
                  <a:srgbClr val="4A4F57"/>
                </a:solidFill>
                <a:latin typeface="Calibri"/>
              </a:rPr>
              <a:t>the featureset version it was fitted from</a:t>
            </a:r>
          </a:p>
          <a:p>
            <a:pPr>
              <a:spcBef>
                <a:spcPts val="0"/>
              </a:spcBef>
              <a:spcAft>
                <a:spcPts val="500"/>
              </a:spcAft>
            </a:pPr>
            <a:r>
              <a:rPr sz="1050" b="1" i="0">
                <a:solidFill>
                  <a:srgbClr val="A51C30"/>
                </a:solidFill>
                <a:latin typeface="Calibri"/>
              </a:rPr>
              <a:t>→  </a:t>
            </a:r>
            <a:r>
              <a:rPr sz="1050" b="0" i="0">
                <a:solidFill>
                  <a:srgbClr val="4A4F57"/>
                </a:solidFill>
                <a:latin typeface="Calibri"/>
              </a:rPr>
              <a:t>the pinned Delta namespaces beneath that</a:t>
            </a:r>
          </a:p>
          <a:p>
            <a:pPr>
              <a:spcBef>
                <a:spcPts val="0"/>
              </a:spcBef>
              <a:spcAft>
                <a:spcPts val="500"/>
              </a:spcAft>
            </a:pPr>
            <a:r>
              <a:rPr sz="1050" b="1" i="0">
                <a:solidFill>
                  <a:srgbClr val="A51C30"/>
                </a:solidFill>
                <a:latin typeface="Calibri"/>
              </a:rPr>
              <a:t>→  </a:t>
            </a:r>
            <a:r>
              <a:rPr sz="1050" b="0" i="0">
                <a:solidFill>
                  <a:srgbClr val="4A4F57"/>
                </a:solidFill>
                <a:latin typeface="Calibri"/>
              </a:rPr>
              <a:t>the rows that were true and known on a stated date</a:t>
            </a:r>
          </a:p>
          <a:p>
            <a:pPr>
              <a:lnSpc>
                <a:spcPct val="124000"/>
              </a:lnSpc>
              <a:spcBef>
                <a:spcPts val="800"/>
              </a:spcBef>
              <a:spcAft>
                <a:spcPts val="0"/>
              </a:spcAft>
            </a:pPr>
            <a:r>
              <a:rPr sz="1100" b="1" i="0">
                <a:solidFill>
                  <a:srgbClr val="1C1C1E"/>
                </a:solidFill>
                <a:latin typeface="Calibri"/>
              </a:rPr>
              <a:t>Not a claim about lineage. A chain of pins, each of which resolves.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Warrants differ by kind of model — as refusals, not as documents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50</a:t>
            </a:r>
          </a:p>
        </p:txBody>
      </p:sp>
      <p:graphicFrame>
        <p:nvGraphicFramePr>
          <p:cNvPr id="10" name="Table 9"/>
          <p:cNvGraphicFramePr>
            <a:graphicFrameLocks noGrp="1"/>
          </p:cNvGraphicFramePr>
          <p:nvPr/>
        </p:nvGraphicFramePr>
        <p:xfrm>
          <a:off x="777240" y="1764792"/>
          <a:ext cx="10637213" cy="1739568"/>
        </p:xfrm>
        <a:graphic>
          <a:graphicData uri="http://schemas.openxmlformats.org/drawingml/2006/table">
            <a:tbl>
              <a:tblPr firstRow="1">
                <a:tableStyleId>{5C22544A-7EE6-4342-B048-85BDC9FD1C3A}</a:tableStyleId>
              </a:tblPr>
              <a:tblGrid>
                <a:gridCol w="914321"/>
                <a:gridCol w="2742964"/>
                <a:gridCol w="3017260"/>
                <a:gridCol w="3962668"/>
              </a:tblGrid>
              <a:tr h="329184">
                <a:tc>
                  <a:txBody>
                    <a:bodyPr wrap="square"/>
                    <a:lstStyle/>
                    <a:p>
                      <a:pPr algn="l"/>
                      <a:r>
                        <a:rPr sz="950" b="1">
                          <a:solidFill>
                            <a:srgbClr val="FFFFFF"/>
                          </a:solidFill>
                          <a:latin typeface="Calibri"/>
                        </a:rPr>
                        <a:t>Law</a:t>
                      </a:r>
                    </a:p>
                  </a:txBody>
                  <a:tcPr marL="82296" marR="64008" marT="32004" marB="32004" anchor="ctr">
                    <a:solidFill>
                      <a:srgbClr val="A51C30"/>
                    </a:solidFill>
                  </a:tcPr>
                </a:tc>
                <a:tc>
                  <a:txBody>
                    <a:bodyPr wrap="square"/>
                    <a:lstStyle/>
                    <a:p>
                      <a:pPr algn="l"/>
                      <a:r>
                        <a:rPr sz="950" b="1">
                          <a:solidFill>
                            <a:srgbClr val="FFFFFF"/>
                          </a:solidFill>
                          <a:latin typeface="Calibri"/>
                        </a:rPr>
                        <a:t>Bites when</a:t>
                      </a:r>
                    </a:p>
                  </a:txBody>
                  <a:tcPr marL="82296" marR="64008" marT="32004" marB="32004" anchor="ctr">
                    <a:solidFill>
                      <a:srgbClr val="A51C30"/>
                    </a:solidFill>
                  </a:tcPr>
                </a:tc>
                <a:tc>
                  <a:txBody>
                    <a:bodyPr wrap="square"/>
                    <a:lstStyle/>
                    <a:p>
                      <a:pPr algn="l"/>
                      <a:r>
                        <a:rPr sz="950" b="1">
                          <a:solidFill>
                            <a:srgbClr val="FFFFFF"/>
                          </a:solidFill>
                          <a:latin typeface="Calibri"/>
                        </a:rPr>
                        <a:t>What it refuses</a:t>
                      </a:r>
                    </a:p>
                  </a:txBody>
                  <a:tcPr marL="82296" marR="64008" marT="32004" marB="32004" anchor="ctr">
                    <a:solidFill>
                      <a:srgbClr val="A51C30"/>
                    </a:solidFill>
                  </a:tcPr>
                </a:tc>
                <a:tc>
                  <a:txBody>
                    <a:bodyPr wrap="square"/>
                    <a:lstStyle/>
                    <a:p>
                      <a:pPr algn="l"/>
                      <a:r>
                        <a:rPr sz="95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L-W11</a:t>
                      </a:r>
                    </a:p>
                  </a:txBody>
                  <a:tcPr marL="82296" marR="64008" marT="32004" marB="32004" anchor="ctr">
                    <a:solidFill>
                      <a:srgbClr val="FFFFFF"/>
                    </a:solidFill>
                  </a:tcPr>
                </a:tc>
                <a:tc>
                  <a:txBody>
                    <a:bodyPr wrap="square"/>
                    <a:lstStyle/>
                    <a:p>
                      <a:pPr algn="l"/>
                      <a:r>
                        <a:rPr sz="950" b="0">
                          <a:solidFill>
                            <a:srgbClr val="1C1C1E"/>
                          </a:solidFill>
                          <a:latin typeface="Calibri"/>
                        </a:rPr>
                        <a:t>parameters.kind is calibration_set,
and the verb is not fit</a:t>
                      </a:r>
                    </a:p>
                  </a:txBody>
                  <a:tcPr marL="82296" marR="64008" marT="32004" marB="32004" anchor="ctr">
                    <a:solidFill>
                      <a:srgbClr val="FFFFFF"/>
                    </a:solidFill>
                  </a:tcPr>
                </a:tc>
                <a:tc>
                  <a:txBody>
                    <a:bodyPr wrap="square"/>
                    <a:lstStyle/>
                    <a:p>
                      <a:pPr algn="l"/>
                      <a:r>
                        <a:rPr sz="950" b="0">
                          <a:solidFill>
                            <a:srgbClr val="1C1C1E"/>
                          </a:solidFill>
                          <a:latin typeface="Calibri"/>
                        </a:rPr>
                        <a:t>a run that does not say what the
parameters were calibrated AS OF</a:t>
                      </a:r>
                    </a:p>
                  </a:txBody>
                  <a:tcPr marL="82296" marR="64008" marT="32004" marB="32004" anchor="ctr">
                    <a:solidFill>
                      <a:srgbClr val="FFFFFF"/>
                    </a:solidFill>
                  </a:tcPr>
                </a:tc>
                <a:tc>
                  <a:txBody>
                    <a:bodyPr wrap="square"/>
                    <a:lstStyle/>
                    <a:p>
                      <a:pPr algn="l"/>
                      <a:r>
                        <a:rPr sz="950" b="0">
                          <a:solidFill>
                            <a:srgbClr val="1C1C1E"/>
                          </a:solidFill>
                          <a:latin typeface="Calibri"/>
                        </a:rPr>
                        <a:t>yesterday's swaption fit priced against
today's book, silently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L-W12</a:t>
                      </a:r>
                    </a:p>
                  </a:txBody>
                  <a:tcPr marL="82296" marR="64008" marT="32004" marB="32004" anchor="ctr">
                    <a:solidFill>
                      <a:srgbClr val="F6F3EF"/>
                    </a:solidFill>
                  </a:tcPr>
                </a:tc>
                <a:tc>
                  <a:txBody>
                    <a:bodyPr wrap="square"/>
                    <a:lstStyle/>
                    <a:p>
                      <a:pPr algn="l"/>
                      <a:r>
                        <a:rPr sz="950" b="0">
                          <a:solidFill>
                            <a:srgbClr val="1C1C1E"/>
                          </a:solidFill>
                          <a:latin typeface="Calibri"/>
                        </a:rPr>
                        <a:t>parameters come from the artifact</a:t>
                      </a:r>
                    </a:p>
                  </a:txBody>
                  <a:tcPr marL="82296" marR="64008" marT="32004" marB="32004" anchor="ctr">
                    <a:solidFill>
                      <a:srgbClr val="F6F3EF"/>
                    </a:solidFill>
                  </a:tcPr>
                </a:tc>
                <a:tc>
                  <a:txBody>
                    <a:bodyPr wrap="square"/>
                    <a:lstStyle/>
                    <a:p>
                      <a:pPr algn="l"/>
                      <a:r>
                        <a:rPr sz="950" b="0">
                          <a:solidFill>
                            <a:srgbClr val="1C1C1E"/>
                          </a:solidFill>
                          <a:latin typeface="Calibri"/>
                        </a:rPr>
                        <a:t>a warrant with no artifact digest</a:t>
                      </a:r>
                    </a:p>
                  </a:txBody>
                  <a:tcPr marL="82296" marR="64008" marT="32004" marB="32004" anchor="ctr">
                    <a:solidFill>
                      <a:srgbClr val="F6F3EF"/>
                    </a:solidFill>
                  </a:tcPr>
                </a:tc>
                <a:tc>
                  <a:txBody>
                    <a:bodyPr wrap="square"/>
                    <a:lstStyle/>
                    <a:p>
                      <a:pPr algn="l"/>
                      <a:r>
                        <a:rPr sz="950" b="0">
                          <a:solidFill>
                            <a:srgbClr val="1C1C1E"/>
                          </a:solidFill>
                          <a:latin typeface="Calibri"/>
                        </a:rPr>
                        <a:t>'what ran is what was approved' becomes
an assumption instead of a check</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L-W13</a:t>
                      </a:r>
                    </a:p>
                  </a:txBody>
                  <a:tcPr marL="82296" marR="64008" marT="32004" marB="32004" anchor="ctr">
                    <a:solidFill>
                      <a:srgbClr val="FFFFFF"/>
                    </a:solidFill>
                  </a:tcPr>
                </a:tc>
                <a:tc>
                  <a:txBody>
                    <a:bodyPr wrap="square"/>
                    <a:lstStyle/>
                    <a:p>
                      <a:pPr algn="l"/>
                      <a:r>
                        <a:rPr sz="950" b="0">
                          <a:solidFill>
                            <a:srgbClr val="1C1C1E"/>
                          </a:solidFill>
                          <a:latin typeface="Calibri"/>
                        </a:rPr>
                        <a:t>the runtime is generative</a:t>
                      </a:r>
                    </a:p>
                  </a:txBody>
                  <a:tcPr marL="82296" marR="64008" marT="32004" marB="32004" anchor="ctr">
                    <a:solidFill>
                      <a:srgbClr val="FFFFFF"/>
                    </a:solidFill>
                  </a:tcPr>
                </a:tc>
                <a:tc>
                  <a:txBody>
                    <a:bodyPr wrap="square"/>
                    <a:lstStyle/>
                    <a:p>
                      <a:pPr algn="l"/>
                      <a:r>
                        <a:rPr sz="950" b="0">
                          <a:solidFill>
                            <a:srgbClr val="1C1C1E"/>
                          </a:solidFill>
                          <a:latin typeface="Calibri"/>
                        </a:rPr>
                        <a:t>a base_model name with no build pinned</a:t>
                      </a:r>
                    </a:p>
                  </a:txBody>
                  <a:tcPr marL="82296" marR="64008" marT="32004" marB="32004" anchor="ctr">
                    <a:solidFill>
                      <a:srgbClr val="FFFFFF"/>
                    </a:solidFill>
                  </a:tcPr>
                </a:tc>
                <a:tc>
                  <a:txBody>
                    <a:bodyPr wrap="square"/>
                    <a:lstStyle/>
                    <a:p>
                      <a:pPr algn="l"/>
                      <a:r>
                        <a:rPr sz="950" b="0">
                          <a:solidFill>
                            <a:srgbClr val="1C1C1E"/>
                          </a:solidFill>
                          <a:latin typeface="Calibri"/>
                        </a:rPr>
                        <a:t>the weights are replaced by the host and
every field in the document stays the same</a:t>
                      </a:r>
                    </a:p>
                  </a:txBody>
                  <a:tcPr marL="82296" marR="64008" marT="32004" marB="32004" anchor="ctr">
                    <a:solidFill>
                      <a:srgbClr val="FFFFFF"/>
                    </a:solidFill>
                  </a:tcPr>
                </a:tc>
              </a:tr>
            </a:tbl>
          </a:graphicData>
        </a:graphic>
      </p:graphicFrame>
      <p:sp>
        <p:nvSpPr>
          <p:cNvPr id="11" name="Rectangle 10"/>
          <p:cNvSpPr/>
          <p:nvPr/>
        </p:nvSpPr>
        <p:spPr>
          <a:xfrm>
            <a:off x="777240" y="3778681"/>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78681"/>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97553"/>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is keyed on a fact the platform DERIVES </a:t>
            </a:r>
            <a:r>
              <a:rPr sz="1050" b="0" i="0">
                <a:solidFill>
                  <a:srgbClr val="1C1C1E"/>
                </a:solidFill>
                <a:latin typeface="Calibri"/>
              </a:rPr>
              <a:t>— the parameter kind, the source binding, the runtime — never on a category anybody attached to the model. L-W12 bites hardest on a neural network, yet is not written in terms of the class, because a PMML scorecard is T2 and carries the same exposure: </a:t>
            </a:r>
            <a:r>
              <a:rPr sz="1050" b="1" i="0">
                <a:solidFill>
                  <a:srgbClr val="1C1C1E"/>
                </a:solidFill>
                <a:latin typeface="Calibri"/>
              </a:rPr>
              <a:t>keying it on the class would have missed that, and looked like coverage.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Profiles template the request, never the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51</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Facts, derived</a:t>
            </a:r>
          </a:p>
          <a:p>
            <a:pPr>
              <a:lnSpc>
                <a:spcPct val="115000"/>
              </a:lnSpc>
              <a:spcBef>
                <a:spcPts val="0"/>
              </a:spcBef>
              <a:spcAft>
                <a:spcPts val="600"/>
              </a:spcAft>
            </a:pPr>
            <a:r>
              <a:rPr sz="850" b="0" i="0">
                <a:solidFill>
                  <a:srgbClr val="4A4F57"/>
                </a:solidFill>
                <a:latin typeface="Calibri"/>
              </a:rPr>
              <a:t>trainability_class, parameter_kind, runtime, artifact_format, tier, domain, environment</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Predicate selects</a:t>
            </a:r>
          </a:p>
          <a:p>
            <a:pPr>
              <a:lnSpc>
                <a:spcPct val="115000"/>
              </a:lnSpc>
              <a:spcBef>
                <a:spcPts val="0"/>
              </a:spcBef>
              <a:spcAft>
                <a:spcPts val="600"/>
              </a:spcAft>
            </a:pPr>
            <a:r>
              <a:rPr sz="850" b="0" i="0">
                <a:solidFill>
                  <a:srgbClr val="4A4F57"/>
                </a:solidFill>
                <a:latin typeface="Calibri"/>
              </a:rPr>
              <a:t>a profile matches facts it does not get to declare, so it cannot disagree with them</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The fold</a:t>
            </a:r>
          </a:p>
          <a:p>
            <a:pPr>
              <a:lnSpc>
                <a:spcPct val="115000"/>
              </a:lnSpc>
              <a:spcBef>
                <a:spcPts val="0"/>
              </a:spcBef>
              <a:spcAft>
                <a:spcPts val="600"/>
              </a:spcAft>
            </a:pPr>
            <a:r>
              <a:rPr sz="850" b="0" i="0">
                <a:solidFill>
                  <a:srgbClr val="4A4F57"/>
                </a:solidFill>
                <a:latin typeface="Calibri"/>
              </a:rPr>
              <a:t>left to right, rightmost wins per KEY, {} the identity, ordered by specificity</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Holes only</a:t>
            </a:r>
          </a:p>
          <a:p>
            <a:pPr>
              <a:lnSpc>
                <a:spcPct val="115000"/>
              </a:lnSpc>
              <a:spcBef>
                <a:spcPts val="0"/>
              </a:spcBef>
              <a:spcAft>
                <a:spcPts val="600"/>
              </a:spcAft>
            </a:pPr>
            <a:r>
              <a:rPr sz="850" b="0" i="0">
                <a:solidFill>
                  <a:srgbClr val="4A4F57"/>
                </a:solidFill>
                <a:latin typeface="Calibri"/>
              </a:rPr>
              <a:t>a value the caller supplied is theirs; the derivation names which profile filled each one</a:t>
            </a:r>
          </a:p>
        </p:txBody>
      </p:sp>
      <p:graphicFrame>
        <p:nvGraphicFramePr>
          <p:cNvPr id="22" name="Table 21"/>
          <p:cNvGraphicFramePr>
            <a:graphicFrameLocks noGrp="1"/>
          </p:cNvGraphicFramePr>
          <p:nvPr/>
        </p:nvGraphicFramePr>
        <p:xfrm>
          <a:off x="777240" y="3163824"/>
          <a:ext cx="10637213" cy="1483917"/>
        </p:xfrm>
        <a:graphic>
          <a:graphicData uri="http://schemas.openxmlformats.org/drawingml/2006/table">
            <a:tbl>
              <a:tblPr firstRow="1">
                <a:tableStyleId>{5C22544A-7EE6-4342-B048-85BDC9FD1C3A}</a:tableStyleId>
              </a:tblPr>
              <a:tblGrid>
                <a:gridCol w="2377235"/>
                <a:gridCol w="3657285"/>
                <a:gridCol w="4602693"/>
              </a:tblGrid>
              <a:tr h="329184">
                <a:tc>
                  <a:txBody>
                    <a:bodyPr wrap="square"/>
                    <a:lstStyle/>
                    <a:p>
                      <a:pPr algn="l"/>
                      <a:r>
                        <a:rPr sz="1050" b="1">
                          <a:solidFill>
                            <a:srgbClr val="FFFFFF"/>
                          </a:solidFill>
                          <a:latin typeface="Calibri"/>
                        </a:rPr>
                        <a:t>What you want</a:t>
                      </a:r>
                    </a:p>
                  </a:txBody>
                  <a:tcPr marL="82296" marR="64008" marT="32004" marB="32004" anchor="ctr">
                    <a:solidFill>
                      <a:srgbClr val="A51C30"/>
                    </a:solidFill>
                  </a:tcPr>
                </a:tc>
                <a:tc>
                  <a:txBody>
                    <a:bodyPr wrap="square"/>
                    <a:lstStyle/>
                    <a:p>
                      <a:pPr algn="l"/>
                      <a:r>
                        <a:rPr sz="1050" b="1">
                          <a:solidFill>
                            <a:srgbClr val="FFFFFF"/>
                          </a:solidFill>
                          <a:latin typeface="Calibri"/>
                        </a:rPr>
                        <a:t>Where it goes</a:t>
                      </a:r>
                    </a:p>
                  </a:txBody>
                  <a:tcPr marL="82296" marR="64008" marT="32004" marB="32004" anchor="ctr">
                    <a:solidFill>
                      <a:srgbClr val="A51C30"/>
                    </a:solidFill>
                  </a:tcPr>
                </a:tc>
                <a:tc>
                  <a:txBody>
                    <a:bodyPr wrap="square"/>
                    <a:lstStyle/>
                    <a:p>
                      <a:pPr algn="l"/>
                      <a:r>
                        <a:rPr sz="1050" b="1">
                          <a:solidFill>
                            <a:srgbClr val="FFFFFF"/>
                          </a:solidFill>
                          <a:latin typeface="Calibri"/>
                        </a:rPr>
                        <a:t>Because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Save typing</a:t>
                      </a:r>
                    </a:p>
                  </a:txBody>
                  <a:tcPr marL="82296" marR="64008" marT="32004" marB="32004" anchor="ctr">
                    <a:solidFill>
                      <a:srgbClr val="FFFFFF"/>
                    </a:solidFill>
                  </a:tcPr>
                </a:tc>
                <a:tc>
                  <a:txBody>
                    <a:bodyPr wrap="square"/>
                    <a:lstStyle/>
                    <a:p>
                      <a:pPr algn="l"/>
                      <a:r>
                        <a:rPr sz="1050" b="0">
                          <a:solidFill>
                            <a:srgbClr val="1C1C1E"/>
                          </a:solidFill>
                          <a:latin typeface="Calibri"/>
                        </a:rPr>
                        <a:t>a profile</a:t>
                      </a:r>
                    </a:p>
                  </a:txBody>
                  <a:tcPr marL="82296" marR="64008" marT="32004" marB="32004" anchor="ctr">
                    <a:solidFill>
                      <a:srgbClr val="FFFFFF"/>
                    </a:solidFill>
                  </a:tcPr>
                </a:tc>
                <a:tc>
                  <a:txBody>
                    <a:bodyPr wrap="square"/>
                    <a:lstStyle/>
                    <a:p>
                      <a:pPr algn="l"/>
                      <a:r>
                        <a:rPr sz="1050" b="0">
                          <a:solidFill>
                            <a:srgbClr val="1C1C1E"/>
                          </a:solidFill>
                          <a:latin typeface="Calibri"/>
                        </a:rPr>
                        <a:t>it fills holes, and the grammar re-validates the result anyway</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Refuse something</a:t>
                      </a:r>
                    </a:p>
                  </a:txBody>
                  <a:tcPr marL="82296" marR="64008" marT="32004" marB="32004" anchor="ctr">
                    <a:solidFill>
                      <a:srgbClr val="F6F3EF"/>
                    </a:solidFill>
                  </a:tcPr>
                </a:tc>
                <a:tc>
                  <a:txBody>
                    <a:bodyPr wrap="square"/>
                    <a:lstStyle/>
                    <a:p>
                      <a:pPr algn="l"/>
                      <a:r>
                        <a:rPr sz="1050" b="0">
                          <a:solidFill>
                            <a:srgbClr val="1C1C1E"/>
                          </a:solidFill>
                          <a:latin typeface="Calibri"/>
                        </a:rPr>
                        <a:t>a law, or the policy gate at warrant resolution</a:t>
                      </a:r>
                    </a:p>
                  </a:txBody>
                  <a:tcPr marL="82296" marR="64008" marT="32004" marB="32004" anchor="ctr">
                    <a:solidFill>
                      <a:srgbClr val="F6F3EF"/>
                    </a:solidFill>
                  </a:tcPr>
                </a:tc>
                <a:tc>
                  <a:txBody>
                    <a:bodyPr wrap="square"/>
                    <a:lstStyle/>
                    <a:p>
                      <a:pPr algn="l"/>
                      <a:r>
                        <a:rPr sz="1050" b="0">
                          <a:solidFill>
                            <a:srgbClr val="1C1C1E"/>
                          </a:solidFill>
                          <a:latin typeface="Calibri"/>
                        </a:rPr>
                        <a:t>a default is something you can drop; a refusal is not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Decide who may act</a:t>
                      </a:r>
                    </a:p>
                  </a:txBody>
                  <a:tcPr marL="82296" marR="64008" marT="32004" marB="32004" anchor="ctr">
                    <a:solidFill>
                      <a:srgbClr val="FFFFFF"/>
                    </a:solidFill>
                  </a:tcPr>
                </a:tc>
                <a:tc>
                  <a:txBody>
                    <a:bodyPr wrap="square"/>
                    <a:lstStyle/>
                    <a:p>
                      <a:pPr algn="l"/>
                      <a:r>
                        <a:rPr sz="1050" b="0">
                          <a:solidFill>
                            <a:srgbClr val="1C1C1E"/>
                          </a:solidFill>
                          <a:latin typeface="Calibri"/>
                        </a:rPr>
                        <a:t>a grant — authority given to one principal for one stated use</a:t>
                      </a:r>
                    </a:p>
                  </a:txBody>
                  <a:tcPr marL="82296" marR="64008" marT="32004" marB="32004" anchor="ctr">
                    <a:solidFill>
                      <a:srgbClr val="FFFFFF"/>
                    </a:solidFill>
                  </a:tcPr>
                </a:tc>
                <a:tc>
                  <a:txBody>
                    <a:bodyPr wrap="square"/>
                    <a:lstStyle/>
                    <a:p>
                      <a:pPr algn="l"/>
                      <a:r>
                        <a:rPr sz="1050" b="0">
                          <a:solidFill>
                            <a:srgbClr val="1C1C1E"/>
                          </a:solidFill>
                          <a:latin typeface="Calibri"/>
                        </a:rPr>
                        <a:t>authority is never inherited</a:t>
                      </a:r>
                    </a:p>
                  </a:txBody>
                  <a:tcPr marL="82296" marR="64008" marT="32004" marB="32004" anchor="ctr">
                    <a:solidFill>
                      <a:srgbClr val="FFFFFF"/>
                    </a:solidFill>
                  </a:tcPr>
                </a:tc>
              </a:tr>
            </a:tbl>
          </a:graphicData>
        </a:graphic>
      </p:graphicFrame>
      <p:sp>
        <p:nvSpPr>
          <p:cNvPr id="23" name="Rectangle 22"/>
          <p:cNvSpPr/>
          <p:nvPr/>
        </p:nvSpPr>
        <p:spPr>
          <a:xfrm>
            <a:off x="777240" y="4885486"/>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885486"/>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1014983" y="5004358"/>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Principal, declared use, environment, time to live and binding kind are refused AT CREATION, </a:t>
            </a:r>
            <a:r>
              <a:rPr sz="1050" b="0" i="0">
                <a:solidFill>
                  <a:srgbClr val="1C1C1E"/>
                </a:solidFill>
                <a:latin typeface="Calibri"/>
              </a:rPr>
              <a:t>not defended at use: a check performed when the profile is written is one nobody can forget later. </a:t>
            </a:r>
            <a:r>
              <a:rPr sz="1050" b="1" i="0">
                <a:solidFill>
                  <a:srgbClr val="1C1C1E"/>
                </a:solidFill>
                <a:latin typeface="Calibri"/>
              </a:rPr>
              <a:t>A template able to widen authority is an authority mechanism in a convenience mechanism's clothes.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relations, and the two that carry consequence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52</a:t>
            </a:r>
          </a:p>
        </p:txBody>
      </p:sp>
      <p:graphicFrame>
        <p:nvGraphicFramePr>
          <p:cNvPr id="10" name="Table 9"/>
          <p:cNvGraphicFramePr>
            <a:graphicFrameLocks noGrp="1"/>
          </p:cNvGraphicFramePr>
          <p:nvPr/>
        </p:nvGraphicFramePr>
        <p:xfrm>
          <a:off x="777240" y="1353312"/>
          <a:ext cx="10637213" cy="2133092"/>
        </p:xfrm>
        <a:graphic>
          <a:graphicData uri="http://schemas.openxmlformats.org/drawingml/2006/table">
            <a:tbl>
              <a:tblPr firstRow="1">
                <a:tableStyleId>{5C22544A-7EE6-4342-B048-85BDC9FD1C3A}</a:tableStyleId>
              </a:tblPr>
              <a:tblGrid>
                <a:gridCol w="1920074"/>
                <a:gridCol w="5668792"/>
                <a:gridCol w="1462914"/>
                <a:gridCol w="1585433"/>
              </a:tblGrid>
              <a:tr h="329184">
                <a:tc>
                  <a:txBody>
                    <a:bodyPr wrap="square"/>
                    <a:lstStyle/>
                    <a:p>
                      <a:pPr algn="l"/>
                      <a:r>
                        <a:rPr sz="1000" b="1">
                          <a:solidFill>
                            <a:srgbClr val="FFFFFF"/>
                          </a:solidFill>
                          <a:latin typeface="Calibri"/>
                        </a:rPr>
                        <a:t>Relation</a:t>
                      </a:r>
                    </a:p>
                  </a:txBody>
                  <a:tcPr marL="82296" marR="64008" marT="32004" marB="32004" anchor="ctr">
                    <a:solidFill>
                      <a:srgbClr val="A51C30"/>
                    </a:solidFill>
                  </a:tcPr>
                </a:tc>
                <a:tc>
                  <a:txBody>
                    <a:bodyPr wrap="square"/>
                    <a:lstStyle/>
                    <a:p>
                      <a:pPr algn="l"/>
                      <a:r>
                        <a:rPr sz="1000" b="1">
                          <a:solidFill>
                            <a:srgbClr val="FFFFFF"/>
                          </a:solidFill>
                          <a:latin typeface="Calibri"/>
                        </a:rPr>
                        <a:t>Means</a:t>
                      </a:r>
                    </a:p>
                  </a:txBody>
                  <a:tcPr marL="82296" marR="64008" marT="32004" marB="32004" anchor="ctr">
                    <a:solidFill>
                      <a:srgbClr val="A51C30"/>
                    </a:solidFill>
                  </a:tcPr>
                </a:tc>
                <a:tc>
                  <a:txBody>
                    <a:bodyPr wrap="square"/>
                    <a:lstStyle/>
                    <a:p>
                      <a:pPr algn="l"/>
                      <a:r>
                        <a:rPr sz="1000" b="1">
                          <a:solidFill>
                            <a:srgbClr val="FFFFFF"/>
                          </a:solidFill>
                          <a:latin typeface="Calibri"/>
                        </a:rPr>
                        <a:t>Propagates</a:t>
                      </a:r>
                    </a:p>
                  </a:txBody>
                  <a:tcPr marL="82296" marR="64008" marT="32004" marB="32004" anchor="ctr">
                    <a:solidFill>
                      <a:srgbClr val="A51C30"/>
                    </a:solidFill>
                  </a:tcPr>
                </a:tc>
                <a:tc>
                  <a:txBody>
                    <a:bodyPr wrap="square"/>
                    <a:lstStyle/>
                    <a:p>
                      <a:pPr algn="l"/>
                      <a:r>
                        <a:rPr sz="1000" b="1">
                          <a:solidFill>
                            <a:srgbClr val="FFFFFF"/>
                          </a:solidFill>
                          <a:latin typeface="Calibri"/>
                        </a:rPr>
                        <a:t>Type-checked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derives_from</a:t>
                      </a:r>
                    </a:p>
                  </a:txBody>
                  <a:tcPr marL="82296" marR="64008" marT="32004" marB="32004" anchor="ctr">
                    <a:solidFill>
                      <a:srgbClr val="FFFFFF"/>
                    </a:solidFill>
                  </a:tcPr>
                </a:tc>
                <a:tc>
                  <a:txBody>
                    <a:bodyPr wrap="square"/>
                    <a:lstStyle/>
                    <a:p>
                      <a:pPr algn="l"/>
                      <a:r>
                        <a:rPr sz="1000" b="0">
                          <a:solidFill>
                            <a:srgbClr val="1C1C1E"/>
                          </a:solidFill>
                          <a:latin typeface="Calibri"/>
                        </a:rPr>
                        <a:t>built from it: a variant, a recalibration for another book. Lineage, not dependency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input_to</a:t>
                      </a:r>
                    </a:p>
                  </a:txBody>
                  <a:tcPr marL="82296" marR="64008" marT="32004" marB="32004" anchor="ctr">
                    <a:solidFill>
                      <a:srgbClr val="F6F3EF"/>
                    </a:solidFill>
                  </a:tcPr>
                </a:tc>
                <a:tc>
                  <a:txBody>
                    <a:bodyPr wrap="square"/>
                    <a:lstStyle/>
                    <a:p>
                      <a:pPr algn="l"/>
                      <a:r>
                        <a:rPr sz="1000" b="0">
                          <a:solidFill>
                            <a:srgbClr val="1C1C1E"/>
                          </a:solidFill>
                          <a:latin typeface="Calibri"/>
                        </a:rPr>
                        <a:t>this model's OUTPUT is read as an input by that one</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YES — or flagged unchecked</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calibrated_by</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are solved by that model or procedure</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no — no wire</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challenger_of</a:t>
                      </a:r>
                    </a:p>
                  </a:txBody>
                  <a:tcPr marL="82296" marR="64008" marT="32004" marB="32004" anchor="ctr">
                    <a:solidFill>
                      <a:srgbClr val="F6F3EF"/>
                    </a:solidFill>
                  </a:tcPr>
                </a:tc>
                <a:tc>
                  <a:txBody>
                    <a:bodyPr wrap="square"/>
                    <a:lstStyle/>
                    <a:p>
                      <a:pPr algn="l"/>
                      <a:r>
                        <a:rPr sz="1000" b="0">
                          <a:solidFill>
                            <a:srgbClr val="1C1C1E"/>
                          </a:solidFill>
                          <a:latin typeface="Calibri"/>
                        </a:rPr>
                        <a:t>built to argue with it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benchmark_for</a:t>
                      </a:r>
                    </a:p>
                  </a:txBody>
                  <a:tcPr marL="82296" marR="64008" marT="32004" marB="32004" anchor="ctr">
                    <a:solidFill>
                      <a:srgbClr val="FFFFFF"/>
                    </a:solidFill>
                  </a:tcPr>
                </a:tc>
                <a:tc>
                  <a:txBody>
                    <a:bodyPr wrap="square"/>
                    <a:lstStyle/>
                    <a:p>
                      <a:pPr algn="l"/>
                      <a:r>
                        <a:rPr sz="1000" b="0">
                          <a:solidFill>
                            <a:srgbClr val="1C1C1E"/>
                          </a:solidFill>
                          <a:latin typeface="Calibri"/>
                        </a:rPr>
                        <a:t>a reference point to judge it against</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Rectangle 10"/>
          <p:cNvSpPr/>
          <p:nvPr/>
        </p:nvSpPr>
        <p:spPr>
          <a:xfrm>
            <a:off x="777240" y="3742436"/>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42436"/>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61308"/>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first two are the ones people conflate, and it costs both answers. </a:t>
            </a:r>
            <a:r>
              <a:rPr sz="1050" b="0" i="0">
                <a:solidFill>
                  <a:srgbClr val="1C1C1E"/>
                </a:solidFill>
                <a:latin typeface="Calibri"/>
              </a:rPr>
              <a:t>“What did we base this on” and “what breaks if this changes” are different questions. A challenger counted as a dependency inflates every blast radius — the set of models a change reaches — it appears in; a variant counted as one makes a change to the parent look like a change to a book it never touched.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ONE THAT COMPOSES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edge between models is type-checked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53</a:t>
            </a:r>
          </a:p>
        </p:txBody>
      </p:sp>
      <p:sp>
        <p:nvSpPr>
          <p:cNvPr id="10" name="Rectangle 9"/>
          <p:cNvSpPr/>
          <p:nvPr/>
        </p:nvSpPr>
        <p:spPr>
          <a:xfrm>
            <a:off x="777240" y="135331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L-21 · THE CHECK</a:t>
            </a:r>
          </a:p>
        </p:txBody>
      </p:sp>
      <p:sp>
        <p:nvSpPr>
          <p:cNvPr id="13" name="TextBox 12"/>
          <p:cNvSpPr txBox="1"/>
          <p:nvPr/>
        </p:nvSpPr>
        <p:spPr>
          <a:xfrm>
            <a:off x="978408" y="1746504"/>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shared = the names output(A) and input(B) have in common</a:t>
            </a:r>
          </a:p>
          <a:p>
            <a:pPr>
              <a:lnSpc>
                <a:spcPct val="134000"/>
              </a:lnSpc>
              <a:spcBef>
                <a:spcPts val="0"/>
              </a:spcBef>
              <a:spcAft>
                <a:spcPts val="0"/>
              </a:spcAft>
            </a:pPr>
            <a:r>
              <a:rPr sz="950" b="0" i="0">
                <a:solidFill>
                  <a:srgbClr val="1C1C1E"/>
                </a:solidFill>
                <a:latin typeface="Consolas"/>
              </a:rPr>
              <a:t>refines( output(A),  input(B) restricted to shared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shared is empty        → a wire to nowhere: refused</a:t>
            </a:r>
          </a:p>
          <a:p>
            <a:pPr>
              <a:lnSpc>
                <a:spcPct val="134000"/>
              </a:lnSpc>
              <a:spcBef>
                <a:spcPts val="0"/>
              </a:spcBef>
              <a:spcAft>
                <a:spcPts val="0"/>
              </a:spcAft>
            </a:pPr>
            <a:r>
              <a:rPr sz="950" b="0" i="0">
                <a:solidFill>
                  <a:srgbClr val="7A7F87"/>
                </a:solidFill>
                <a:latin typeface="Consolas"/>
              </a:rPr>
              <a:t># a shared field clashes → refused, and it names the field</a:t>
            </a:r>
          </a:p>
          <a:p>
            <a:pPr>
              <a:lnSpc>
                <a:spcPct val="134000"/>
              </a:lnSpc>
              <a:spcBef>
                <a:spcPts val="0"/>
              </a:spcBef>
              <a:spcAft>
                <a:spcPts val="0"/>
              </a:spcAft>
            </a:pPr>
            <a:r>
              <a:rPr sz="950" b="0" i="0">
                <a:solidFill>
                  <a:srgbClr val="7A7F87"/>
                </a:solidFill>
                <a:latin typeface="Consolas"/>
              </a:rPr>
              <a:t># B reads more besides   → fine: another edge carries it,</a:t>
            </a:r>
          </a:p>
          <a:p>
            <a:pPr>
              <a:lnSpc>
                <a:spcPct val="134000"/>
              </a:lnSpc>
              <a:spcBef>
                <a:spcPts val="0"/>
              </a:spcBef>
              <a:spcAft>
                <a:spcPts val="0"/>
              </a:spcAft>
            </a:pPr>
            <a:r>
              <a:rPr sz="950" b="0" i="0">
                <a:solidFill>
                  <a:srgbClr val="7A7F87"/>
                </a:solidFill>
                <a:latin typeface="Consolas"/>
              </a:rPr>
              <a:t>#                          or the caller supplies it</a:t>
            </a:r>
          </a:p>
          <a:p>
            <a:pPr>
              <a:lnSpc>
                <a:spcPct val="134000"/>
              </a:lnSpc>
              <a:spcBef>
                <a:spcPts val="0"/>
              </a:spcBef>
              <a:spcAft>
                <a:spcPts val="0"/>
              </a:spcAft>
            </a:pPr>
            <a:r>
              <a:rPr sz="950" b="0" i="0">
                <a:solidFill>
                  <a:srgbClr val="7A7F87"/>
                </a:solidFill>
                <a:latin typeface="Consolas"/>
              </a:rPr>
              <a:t># either end unversioned → recorded, type_checked = 0</a:t>
            </a:r>
          </a:p>
        </p:txBody>
      </p:sp>
      <p:sp>
        <p:nvSpPr>
          <p:cNvPr id="14" name="Rectangle 13"/>
          <p:cNvSpPr/>
          <p:nvPr/>
        </p:nvSpPr>
        <p:spPr>
          <a:xfrm>
            <a:off x="777240" y="3805915"/>
            <a:ext cx="5744096" cy="12984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805915"/>
            <a:ext cx="41148" cy="12984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924787"/>
            <a:ext cx="5286896" cy="10789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 least one shared field, and every shared field type-checks. </a:t>
            </a:r>
            <a:r>
              <a:rPr sz="1050" b="0" i="0">
                <a:solidFill>
                  <a:srgbClr val="1C1C1E"/>
                </a:solidFill>
                <a:latin typeface="Calibri"/>
              </a:rPr>
              <a:t>Asking the source to satisfy the whole of the target’s input refused the ordinary shape of a model network and admitted only the degenerate case where a model reads nothing but its predecessor. What B reads from elsewhere is not this edge’s business — </a:t>
            </a:r>
            <a:r>
              <a:rPr sz="1050" b="1" i="0">
                <a:solidFill>
                  <a:srgbClr val="1C1C1E"/>
                </a:solidFill>
                <a:latin typeface="Calibri"/>
              </a:rPr>
              <a:t>and the composite’s schema now says what the caller must still supply.</a:t>
            </a:r>
          </a:p>
        </p:txBody>
      </p:sp>
      <p:sp>
        <p:nvSpPr>
          <p:cNvPr id="17" name="TextBox 16"/>
          <p:cNvSpPr txBox="1"/>
          <p:nvPr/>
        </p:nvSpPr>
        <p:spPr>
          <a:xfrm>
            <a:off x="6946824" y="1353312"/>
            <a:ext cx="4467630" cy="365760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input_to is a claim about types.</a:t>
            </a:r>
          </a:p>
          <a:p>
            <a:pPr>
              <a:lnSpc>
                <a:spcPct val="126000"/>
              </a:lnSpc>
              <a:spcBef>
                <a:spcPts val="0"/>
              </a:spcBef>
              <a:spcAft>
                <a:spcPts val="900"/>
              </a:spcAft>
            </a:pPr>
            <a:r>
              <a:rPr sz="1100" b="0" i="0">
                <a:solidFill>
                  <a:srgbClr val="1C1C1E"/>
                </a:solidFill>
                <a:latin typeface="Calibri"/>
              </a:rPr>
              <a:t>A’s output is read as an input by B — a discount curve into a pricer, a PD model into an ECL stack. MAYA moves no data and runs no model: the edge is a statement about two entries in the REGISTER, which is exactly why it can be checked at all.</a:t>
            </a:r>
          </a:p>
          <a:p>
            <a:pPr>
              <a:spcBef>
                <a:spcPts val="0"/>
              </a:spcBef>
              <a:spcAft>
                <a:spcPts val="800"/>
              </a:spcAft>
            </a:pPr>
            <a:r>
              <a:rPr sz="1200" b="1" i="0">
                <a:solidFill>
                  <a:srgbClr val="A51C30"/>
                </a:solidFill>
                <a:latin typeface="Georgia"/>
              </a:rPr>
              <a:t>And where it could not be checked, it says so.</a:t>
            </a:r>
          </a:p>
          <a:p>
            <a:pPr>
              <a:lnSpc>
                <a:spcPct val="126000"/>
              </a:lnSpc>
              <a:spcBef>
                <a:spcPts val="0"/>
              </a:spcBef>
              <a:spcAft>
                <a:spcPts val="900"/>
              </a:spcAft>
            </a:pPr>
            <a:r>
              <a:rPr sz="1100" b="0" i="0">
                <a:solidFill>
                  <a:srgbClr val="1C1C1E"/>
                </a:solidFill>
                <a:latin typeface="Calibri"/>
              </a:rPr>
              <a:t>An edge either end of which has no version yet is recorded with the type check SKIPPED — you cannot always add models in dependency order — and carries type_checked = 0 to say which kind it is.</a:t>
            </a:r>
          </a:p>
          <a:p>
            <a:pPr>
              <a:lnSpc>
                <a:spcPct val="126000"/>
              </a:lnSpc>
              <a:spcBef>
                <a:spcPts val="0"/>
              </a:spcBef>
              <a:spcAft>
                <a:spcPts val="0"/>
              </a:spcAft>
            </a:pPr>
            <a:r>
              <a:rPr sz="1050" b="0" i="0">
                <a:solidFill>
                  <a:srgbClr val="4A4F57"/>
                </a:solidFill>
                <a:latin typeface="Calibri"/>
              </a:rPr>
              <a:t>Until that flag it was indistinguishable from a checked edge, and travelled through blast radius as though somebody had validated it: a control reporting success it had not performed. So “a dependency edge type-checks or does not exist” is overstated, and the flag is what makes the exception visible.</a:t>
            </a:r>
          </a:p>
        </p:txBody>
      </p:sp>
      <p:sp>
        <p:nvSpPr>
          <p:cNvPr id="18" name="Rectangle 17"/>
          <p:cNvSpPr/>
          <p:nvPr/>
        </p:nvSpPr>
        <p:spPr>
          <a:xfrm>
            <a:off x="777240" y="5342107"/>
            <a:ext cx="10637215" cy="80467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342107"/>
            <a:ext cx="41148"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460979"/>
            <a:ext cx="10180015" cy="58521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the edge makes answerable. </a:t>
            </a:r>
            <a:r>
              <a:rPr sz="1050" b="0" i="0">
                <a:solidFill>
                  <a:srgbClr val="1C1C1E"/>
                </a:solidFill>
                <a:latin typeface="Calibri"/>
              </a:rPr>
              <a:t>A blast radius follows only the propagating edges and returns each model with its DISTANCE, so the immediately affected are separable from those two hops away, and with the worst TIER reached — one Tier 1 model is not five Tier 4s. A cycle is refused at the edge that would close it, naming the path that already exists.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IMPOSSIBILITY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there is no single model-risk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54</a:t>
            </a:r>
          </a:p>
        </p:txBody>
      </p:sp>
      <p:sp>
        <p:nvSpPr>
          <p:cNvPr id="10" name="Rectangle 9"/>
          <p:cNvSpPr/>
          <p:nvPr/>
        </p:nvSpPr>
        <p:spPr>
          <a:xfrm>
            <a:off x="777240" y="1353312"/>
            <a:ext cx="5744096" cy="20679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679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TWO NETWORKS, IDENTICAL PARTS</a:t>
            </a:r>
          </a:p>
        </p:txBody>
      </p:sp>
      <p:sp>
        <p:nvSpPr>
          <p:cNvPr id="13" name="TextBox 12"/>
          <p:cNvSpPr txBox="1"/>
          <p:nvPr/>
        </p:nvSpPr>
        <p:spPr>
          <a:xfrm>
            <a:off x="978408" y="1746504"/>
            <a:ext cx="5378336" cy="1592427"/>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Network 1:   A ──→ B          one curve, two consumers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1C1C1E"/>
                </a:solidFill>
                <a:latin typeface="Consolas"/>
              </a:rPr>
              <a:t>Network 2:   A  ──→ B         two INDEPENDENTLY BUILT curves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every marginal is identical.  the joints are not.</a:t>
            </a:r>
          </a:p>
        </p:txBody>
      </p:sp>
      <p:sp>
        <p:nvSpPr>
          <p:cNvPr id="14" name="Rectangle 13"/>
          <p:cNvSpPr/>
          <p:nvPr/>
        </p:nvSpPr>
        <p:spPr>
          <a:xfrm>
            <a:off x="777240" y="3695547"/>
            <a:ext cx="5744096" cy="16916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695547"/>
            <a:ext cx="41148" cy="1691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814419"/>
            <a:ext cx="5286896" cy="14721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 function of the parts distinguishes these. </a:t>
            </a:r>
            <a:r>
              <a:rPr sz="1050" b="0" i="0">
                <a:solidFill>
                  <a:srgbClr val="1C1C1E"/>
                </a:solidFill>
                <a:latin typeface="Calibri"/>
              </a:rPr>
              <a:t>Aggregating requires the parts to compose, and shared dependency is exactly where composition fails: copying a dependency is not duplicating it, and no rule that reads models one at a time can tell. Any single figure either double-counts the shared curve or ignores it, and a committee cannot decompose it to find out which.</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So the board pack refuses to produce one</a:t>
            </a:r>
          </a:p>
          <a:p>
            <a:pPr>
              <a:lnSpc>
                <a:spcPct val="126000"/>
              </a:lnSpc>
              <a:spcBef>
                <a:spcPts val="0"/>
              </a:spcBef>
              <a:spcAft>
                <a:spcPts val="800"/>
              </a:spcAft>
            </a:pPr>
            <a:r>
              <a:rPr sz="1100" b="0" i="0">
                <a:solidFill>
                  <a:srgbClr val="1C1C1E"/>
                </a:solidFill>
                <a:latin typeface="Calibri"/>
              </a:rPr>
              <a:t>And says so IN the pack, rather than leaving an absence — a reader who came looking for the number finds the reason instead.</a:t>
            </a:r>
          </a:p>
          <a:p>
            <a:pPr>
              <a:lnSpc>
                <a:spcPct val="126000"/>
              </a:lnSpc>
              <a:spcBef>
                <a:spcPts val="0"/>
              </a:spcBef>
              <a:spcAft>
                <a:spcPts val="800"/>
              </a:spcAft>
            </a:pPr>
            <a:r>
              <a:rPr sz="1100" b="0" i="0">
                <a:solidFill>
                  <a:srgbClr val="4A4F57"/>
                </a:solidFill>
                <a:latin typeface="Calibri"/>
              </a:rPr>
              <a:t>What it reports is the indicators, each against a limit somebody set, with the exceptions named. That is what a committee can act on; a number they cannot decompose is a number they cannot act on.</a:t>
            </a:r>
          </a:p>
          <a:p>
            <a:pPr>
              <a:lnSpc>
                <a:spcPct val="126000"/>
              </a:lnSpc>
              <a:spcBef>
                <a:spcPts val="0"/>
              </a:spcBef>
              <a:spcAft>
                <a:spcPts val="800"/>
              </a:spcAft>
            </a:pPr>
            <a:r>
              <a:rPr sz="1100" b="1" i="0">
                <a:solidFill>
                  <a:srgbClr val="A51C30"/>
                </a:solidFill>
                <a:latin typeface="Calibri"/>
              </a:rPr>
              <a:t>What it does answer is the supervisor’s actual question</a:t>
            </a:r>
            <a:r>
              <a:rPr sz="1100" b="0" i="0">
                <a:solidFill>
                  <a:srgbClr val="4A4F57"/>
                </a:solidFill>
                <a:latin typeface="Calibri"/>
              </a:rPr>
              <a:t> — “common dependencies and shared assumptions” — model by model, as a list rather than a paragraph.</a:t>
            </a:r>
          </a:p>
          <a:p>
            <a:pPr>
              <a:lnSpc>
                <a:spcPct val="126000"/>
              </a:lnSpc>
              <a:spcBef>
                <a:spcPts val="0"/>
              </a:spcBef>
              <a:spcAft>
                <a:spcPts val="0"/>
              </a:spcAft>
            </a:pPr>
            <a:r>
              <a:rPr sz="1100" b="0" i="0">
                <a:solidFill>
                  <a:srgbClr val="1C1C1E"/>
                </a:solidFill>
                <a:latin typeface="Calibri"/>
              </a:rPr>
              <a:t>A theorem arriving as a product decision rather than a footnote.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FIVE MOMENTS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does not arrive all at once about one 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55</a:t>
            </a:r>
          </a:p>
        </p:txBody>
      </p:sp>
      <p:graphicFrame>
        <p:nvGraphicFramePr>
          <p:cNvPr id="10" name="Table 9"/>
          <p:cNvGraphicFramePr>
            <a:graphicFrameLocks noGrp="1"/>
          </p:cNvGraphicFramePr>
          <p:nvPr/>
        </p:nvGraphicFramePr>
        <p:xfrm>
          <a:off x="777240" y="1764792"/>
          <a:ext cx="10637213" cy="1975104"/>
        </p:xfrm>
        <a:graphic>
          <a:graphicData uri="http://schemas.openxmlformats.org/drawingml/2006/table">
            <a:tbl>
              <a:tblPr firstRow="1">
                <a:tableStyleId>{5C22544A-7EE6-4342-B048-85BDC9FD1C3A}</a:tableStyleId>
              </a:tblPr>
              <a:tblGrid>
                <a:gridCol w="2194371"/>
                <a:gridCol w="2285803"/>
                <a:gridCol w="4480174"/>
                <a:gridCol w="1676865"/>
              </a:tblGrid>
              <a:tr h="329184">
                <a:tc>
                  <a:txBody>
                    <a:bodyPr wrap="square"/>
                    <a:lstStyle/>
                    <a:p>
                      <a:pPr algn="l"/>
                      <a:r>
                        <a:rPr sz="1000" b="1">
                          <a:solidFill>
                            <a:srgbClr val="FFFFFF"/>
                          </a:solidFill>
                          <a:latin typeface="Calibri"/>
                        </a:rPr>
                        <a:t>When</a:t>
                      </a:r>
                    </a:p>
                  </a:txBody>
                  <a:tcPr marL="82296" marR="64008" marT="32004" marB="32004" anchor="ctr">
                    <a:solidFill>
                      <a:srgbClr val="A51C30"/>
                    </a:solidFill>
                  </a:tcPr>
                </a:tc>
                <a:tc>
                  <a:txBody>
                    <a:bodyPr wrap="square"/>
                    <a:lstStyle/>
                    <a:p>
                      <a:pPr algn="l"/>
                      <a:r>
                        <a:rPr sz="1000" b="1">
                          <a:solidFill>
                            <a:srgbClr val="FFFFFF"/>
                          </a:solidFill>
                          <a:latin typeface="Calibri"/>
                        </a:rPr>
                        <a:t>About</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Could it be filed?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before anything runs</a:t>
                      </a:r>
                    </a:p>
                  </a:txBody>
                  <a:tcPr marL="82296" marR="64008" marT="32004" marB="32004" anchor="ctr">
                    <a:solidFill>
                      <a:srgbClr val="FFFFFF"/>
                    </a:solidFill>
                  </a:tcPr>
                </a:tc>
                <a:tc>
                  <a:txBody>
                    <a:bodyPr wrap="square"/>
                    <a:lstStyle/>
                    <a:p>
                      <a:pPr algn="l"/>
                      <a:r>
                        <a:rPr sz="1000" b="0">
                          <a:solidFill>
                            <a:srgbClr val="1C1C1E"/>
                          </a:solidFill>
                          <a:latin typeface="Calibri"/>
                        </a:rPr>
                        <a:t>the MODEL</a:t>
                      </a:r>
                    </a:p>
                  </a:txBody>
                  <a:tcPr marL="82296" marR="64008" marT="32004" marB="32004" anchor="ctr">
                    <a:solidFill>
                      <a:srgbClr val="FFFFFF"/>
                    </a:solidFill>
                  </a:tcPr>
                </a:tc>
                <a:tc>
                  <a:txBody>
                    <a:bodyPr wrap="square"/>
                    <a:lstStyle/>
                    <a:p>
                      <a:pPr algn="l"/>
                      <a:r>
                        <a:rPr sz="1000" b="0">
                          <a:solidFill>
                            <a:srgbClr val="1C1C1E"/>
                          </a:solidFill>
                          <a:latin typeface="Calibri"/>
                        </a:rPr>
                        <a:t>the methodology paper, the literature the approach comes from</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version is created</a:t>
                      </a:r>
                    </a:p>
                  </a:txBody>
                  <a:tcPr marL="82296" marR="64008" marT="32004" marB="32004" anchor="ctr">
                    <a:solidFill>
                      <a:srgbClr val="F6F3EF"/>
                    </a:solidFill>
                  </a:tcPr>
                </a:tc>
                <a:tc>
                  <a:txBody>
                    <a:bodyPr wrap="square"/>
                    <a:lstStyle/>
                    <a:p>
                      <a:pPr algn="l"/>
                      <a:r>
                        <a:rPr sz="1000" b="0">
                          <a:solidFill>
                            <a:srgbClr val="1C1C1E"/>
                          </a:solidFill>
                          <a:latin typeface="Calibri"/>
                        </a:rPr>
                        <a:t>the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specification of that kernel</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a fit warrant executes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convergence study, the note explaining one morning</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featureset is filled</a:t>
                      </a:r>
                    </a:p>
                  </a:txBody>
                  <a:tcPr marL="82296" marR="64008" marT="32004" marB="32004" anchor="ctr">
                    <a:solidFill>
                      <a:srgbClr val="F6F3EF"/>
                    </a:solidFill>
                  </a:tcPr>
                </a:tc>
                <a:tc>
                  <a:txBody>
                    <a:bodyPr wrap="square"/>
                    <a:lstStyle/>
                    <a:p>
                      <a:pPr algn="l"/>
                      <a:r>
                        <a:rPr sz="1000" b="0">
                          <a:solidFill>
                            <a:srgbClr val="1C1C1E"/>
                          </a:solidFill>
                          <a:latin typeface="Calibri"/>
                        </a:rPr>
                        <a:t>the 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data dictionary, the source-system agreement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validation concludes</a:t>
                      </a:r>
                    </a:p>
                  </a:txBody>
                  <a:tcPr marL="82296" marR="64008" marT="32004" marB="32004" anchor="ctr">
                    <a:solidFill>
                      <a:srgbClr val="FFFFFF"/>
                    </a:solidFill>
                  </a:tcPr>
                </a:tc>
                <a:tc>
                  <a:txBody>
                    <a:bodyPr wrap="square"/>
                    <a:lstStyle/>
                    <a:p>
                      <a:pPr algn="l"/>
                      <a:r>
                        <a:rPr sz="1000" b="0">
                          <a:solidFill>
                            <a:srgbClr val="1C1C1E"/>
                          </a:solidFill>
                          <a:latin typeface="Calibri"/>
                        </a:rPr>
                        <a:t>the VALIDATION</a:t>
                      </a:r>
                    </a:p>
                  </a:txBody>
                  <a:tcPr marL="82296" marR="64008" marT="32004" marB="32004" anchor="ctr">
                    <a:solidFill>
                      <a:srgbClr val="FFFFFF"/>
                    </a:solidFill>
                  </a:tcPr>
                </a:tc>
                <a:tc>
                  <a:txBody>
                    <a:bodyPr wrap="square"/>
                    <a:lstStyle/>
                    <a:p>
                      <a:pPr algn="l"/>
                      <a:r>
                        <a:rPr sz="1000" b="0">
                          <a:solidFill>
                            <a:srgbClr val="1C1C1E"/>
                          </a:solidFill>
                          <a:latin typeface="Calibri"/>
                        </a:rPr>
                        <a:t>the independent recode, the reviewer's working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bl>
          </a:graphicData>
        </a:graphic>
      </p:graphicFrame>
      <p:sp>
        <p:nvSpPr>
          <p:cNvPr id="11" name="Rectangle 10"/>
          <p:cNvSpPr/>
          <p:nvPr/>
        </p:nvSpPr>
        <p:spPr>
          <a:xfrm>
            <a:off x="777240" y="4014215"/>
            <a:ext cx="10637215"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421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3087"/>
            <a:ext cx="10180015"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of the five have no document to be filed against, and they are the two that matter most. </a:t>
            </a:r>
            <a:r>
              <a:rPr sz="1050" b="0" i="0">
                <a:solidFill>
                  <a:srgbClr val="1C1C1E"/>
                </a:solidFill>
                <a:latin typeface="Calibri"/>
              </a:rPr>
              <a:t>A calibrated model produces a parameter set every morning. A featureset's documentation is read by every model fitted from it, so filing it against one of them makes it invisible to the rest — and filing it against the SET rather than the version describes something that has since moved.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TRAINING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calibration is a governed act, two hundred and fifty times a year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56</a:t>
            </a:r>
          </a:p>
        </p:txBody>
      </p:sp>
      <p:sp>
        <p:nvSpPr>
          <p:cNvPr id="10" name="TextBox 9"/>
          <p:cNvSpPr txBox="1"/>
          <p:nvPr/>
        </p:nvSpPr>
        <p:spPr>
          <a:xfrm>
            <a:off x="777240" y="1764792"/>
            <a:ext cx="5531351"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Hull–White is solved every morning.</a:t>
            </a:r>
          </a:p>
          <a:p>
            <a:pPr>
              <a:lnSpc>
                <a:spcPct val="128000"/>
              </a:lnSpc>
              <a:spcBef>
                <a:spcPts val="0"/>
              </a:spcBef>
              <a:spcAft>
                <a:spcPts val="900"/>
              </a:spcAft>
            </a:pPr>
            <a:r>
              <a:rPr sz="1200" b="0" i="0">
                <a:solidFill>
                  <a:srgbClr val="1C1C1E"/>
                </a:solidFill>
                <a:latin typeface="Calibri"/>
              </a:rPr>
              <a:t>Each solve is a governed act: a warrant behind it, a featureset version read, diagnostics returned, a reviewer's signature on it.</a:t>
            </a:r>
          </a:p>
          <a:p>
            <a:pPr>
              <a:lnSpc>
                <a:spcPct val="128000"/>
              </a:lnSpc>
              <a:spcBef>
                <a:spcPts val="0"/>
              </a:spcBef>
              <a:spcAft>
                <a:spcPts val="900"/>
              </a:spcAft>
            </a:pPr>
            <a:r>
              <a:rPr sz="1200" b="0" i="0">
                <a:solidFill>
                  <a:srgbClr val="1C1C1E"/>
                </a:solidFill>
                <a:latin typeface="Calibri"/>
              </a:rPr>
              <a:t>In most estates none of them has a record anybody can read, and the note explaining the one morning it went wrong lives in an email.</a:t>
            </a:r>
          </a:p>
          <a:p>
            <a:pPr>
              <a:lnSpc>
                <a:spcPct val="128000"/>
              </a:lnSpc>
              <a:spcBef>
                <a:spcPts val="0"/>
              </a:spcBef>
              <a:spcAft>
                <a:spcPts val="0"/>
              </a:spcAft>
            </a:pPr>
            <a:r>
              <a:rPr sz="1100" b="0" i="0">
                <a:solidFill>
                  <a:srgbClr val="4A4F57"/>
                </a:solidFill>
                <a:latin typeface="Calibri"/>
              </a:rPr>
              <a:t>So the record is COMPILED, from what the register already holds. All two hundred and fifty exist whether or not somebody had time to write one — and the one that needs a human note has a place to put it, as an attachment against the same subject.</a:t>
            </a:r>
          </a:p>
        </p:txBody>
      </p:sp>
      <p:graphicFrame>
        <p:nvGraphicFramePr>
          <p:cNvPr id="11" name="Table 10"/>
          <p:cNvGraphicFramePr>
            <a:graphicFrameLocks noGrp="1"/>
          </p:cNvGraphicFramePr>
          <p:nvPr/>
        </p:nvGraphicFramePr>
        <p:xfrm>
          <a:off x="6734080" y="1764792"/>
          <a:ext cx="4680374" cy="2340392"/>
        </p:xfrm>
        <a:graphic>
          <a:graphicData uri="http://schemas.openxmlformats.org/drawingml/2006/table">
            <a:tbl>
              <a:tblPr firstRow="1">
                <a:tableStyleId>{5C22544A-7EE6-4342-B048-85BDC9FD1C3A}</a:tableStyleId>
              </a:tblPr>
              <a:tblGrid>
                <a:gridCol w="1752949"/>
                <a:gridCol w="2927425"/>
              </a:tblGrid>
              <a:tr h="329184">
                <a:tc>
                  <a:txBody>
                    <a:bodyPr wrap="square"/>
                    <a:lstStyle/>
                    <a:p>
                      <a:pPr algn="l"/>
                      <a:r>
                        <a:rPr sz="950" b="1">
                          <a:solidFill>
                            <a:srgbClr val="FFFFFF"/>
                          </a:solidFill>
                          <a:latin typeface="Calibri"/>
                        </a:rPr>
                        <a:t>Section</a:t>
                      </a:r>
                    </a:p>
                  </a:txBody>
                  <a:tcPr marL="82296" marR="64008" marT="32004" marB="32004" anchor="ctr">
                    <a:solidFill>
                      <a:srgbClr val="A51C30"/>
                    </a:solidFill>
                  </a:tcPr>
                </a:tc>
                <a:tc>
                  <a:txBody>
                    <a:bodyPr wrap="square"/>
                    <a:lstStyle/>
                    <a:p>
                      <a:pPr algn="l"/>
                      <a:r>
                        <a:rPr sz="950" b="1">
                          <a:solidFill>
                            <a:srgbClr val="FFFFFF"/>
                          </a:solidFill>
                          <a:latin typeface="Calibri"/>
                        </a:rPr>
                        <a:t>From</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What this is</a:t>
                      </a:r>
                    </a:p>
                  </a:txBody>
                  <a:tcPr marL="82296" marR="64008" marT="32004" marB="32004" anchor="ctr">
                    <a:solidFill>
                      <a:srgbClr val="FFFFFF"/>
                    </a:solidFill>
                  </a:tcPr>
                </a:tc>
                <a:tc>
                  <a:txBody>
                    <a:bodyPr wrap="square"/>
                    <a:lstStyle/>
                    <a:p>
                      <a:pPr algn="l"/>
                      <a:r>
                        <a:rPr sz="950" b="0">
                          <a:solidFill>
                            <a:srgbClr val="1C1C1E"/>
                          </a:solidFill>
                          <a:latin typeface="Calibri"/>
                        </a:rPr>
                        <a:t>kind, provenance, state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Under what authority</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What it read</a:t>
                      </a:r>
                    </a:p>
                  </a:txBody>
                  <a:tcPr marL="82296" marR="64008" marT="32004" marB="32004" anchor="ctr">
                    <a:solidFill>
                      <a:srgbClr val="FFFFFF"/>
                    </a:solidFill>
                  </a:tcPr>
                </a:tc>
                <a:tc>
                  <a:txBody>
                    <a:bodyPr wrap="square"/>
                    <a:lstStyle/>
                    <a:p>
                      <a:pPr algn="l"/>
                      <a:r>
                        <a:rPr sz="950" b="0">
                          <a:solidFill>
                            <a:srgbClr val="1C1C1E"/>
                          </a:solidFill>
                          <a:latin typeface="Calibri"/>
                        </a:rPr>
                        <a:t>the featureset VERSION, window, as_of, snapshot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What it produced</a:t>
                      </a:r>
                    </a:p>
                  </a:txBody>
                  <a:tcPr marL="82296" marR="64008" marT="32004" marB="32004" anchor="ctr">
                    <a:solidFill>
                      <a:srgbClr val="F6F3EF"/>
                    </a:solidFill>
                  </a:tcPr>
                </a:tc>
                <a:tc>
                  <a:txBody>
                    <a:bodyPr wrap="square"/>
                    <a:lstStyle/>
                    <a:p>
                      <a:pPr algn="l"/>
                      <a:r>
                        <a:rPr sz="950" b="0">
                          <a:solidFill>
                            <a:srgbClr val="1C1C1E"/>
                          </a:solidFill>
                          <a:latin typeface="Calibri"/>
                        </a:rPr>
                        <a:t>the values and their digest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What the fit reported</a:t>
                      </a:r>
                    </a:p>
                  </a:txBody>
                  <a:tcPr marL="82296" marR="64008" marT="32004" marB="32004" anchor="ctr">
                    <a:solidFill>
                      <a:srgbClr val="FFFFFF"/>
                    </a:solidFill>
                  </a:tcPr>
                </a:tc>
                <a:tc>
                  <a:txBody>
                    <a:bodyPr wrap="square"/>
                    <a:lstStyle/>
                    <a:p>
                      <a:pPr algn="l"/>
                      <a:r>
                        <a:rPr sz="950" b="0">
                          <a:solidFill>
                            <a:srgbClr val="1C1C1E"/>
                          </a:solidFill>
                          <a:latin typeface="Calibri"/>
                        </a:rPr>
                        <a:t>the diagnostics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Who accepted it</a:t>
                      </a:r>
                    </a:p>
                  </a:txBody>
                  <a:tcPr marL="82296" marR="64008" marT="32004" marB="32004" anchor="ctr">
                    <a:solidFill>
                      <a:srgbClr val="F6F3EF"/>
                    </a:solidFill>
                  </a:tcPr>
                </a:tc>
                <a:tc>
                  <a:txBody>
                    <a:bodyPr wrap="square"/>
                    <a:lstStyle/>
                    <a:p>
                      <a:pPr algn="l"/>
                      <a:r>
                        <a:rPr sz="950" b="0">
                          <a:solidFill>
                            <a:srgbClr val="1C1C1E"/>
                          </a:solidFill>
                          <a:latin typeface="Calibri"/>
                        </a:rPr>
                        <a:t>and who recorded it — never the same person</a:t>
                      </a:r>
                    </a:p>
                  </a:txBody>
                  <a:tcPr marL="82296" marR="64008" marT="32004" marB="32004" anchor="ctr">
                    <a:solidFill>
                      <a:srgbClr val="F6F3EF"/>
                    </a:solidFill>
                  </a:tcPr>
                </a:tc>
              </a:tr>
            </a:tbl>
          </a:graphicData>
        </a:graphic>
      </p:graphicFrame>
      <p:sp>
        <p:nvSpPr>
          <p:cNvPr id="12" name="Rectangle 11"/>
          <p:cNvSpPr/>
          <p:nvPr/>
        </p:nvSpPr>
        <p:spPr>
          <a:xfrm>
            <a:off x="6734080" y="4342930"/>
            <a:ext cx="4680374"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734080" y="4342930"/>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971824" y="4461802"/>
            <a:ext cx="4223174"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fit with no warrant is a NAMED GAP, not a blank section. </a:t>
            </a:r>
            <a:r>
              <a:rPr sz="1050" b="0" i="0">
                <a:solidFill>
                  <a:srgbClr val="1C1C1E"/>
                </a:solidFill>
                <a:latin typeface="Calibri"/>
              </a:rPr>
              <a:t>It has no answer to “which data produced these numbers”, and that is worth saying out loud rather than leaving a heading with nothing under it.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HOLISTIC VIEW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dossier: the graph, walked from a model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57</a:t>
            </a:r>
          </a:p>
        </p:txBody>
      </p:sp>
      <p:sp>
        <p:nvSpPr>
          <p:cNvPr id="10" name="Rectangle 9"/>
          <p:cNvSpPr/>
          <p:nvPr/>
        </p:nvSpPr>
        <p:spPr>
          <a:xfrm>
            <a:off x="777240" y="1353312"/>
            <a:ext cx="5956840" cy="326870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6870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COMPUTED, NEVER STORED</a:t>
            </a:r>
          </a:p>
        </p:txBody>
      </p:sp>
      <p:sp>
        <p:nvSpPr>
          <p:cNvPr id="13" name="TextBox 12"/>
          <p:cNvSpPr txBox="1"/>
          <p:nvPr/>
        </p:nvSpPr>
        <p:spPr>
          <a:xfrm>
            <a:off x="978408" y="1746504"/>
            <a:ext cx="5591080" cy="279321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model</a:t>
            </a:r>
          </a:p>
          <a:p>
            <a:pPr>
              <a:lnSpc>
                <a:spcPct val="134000"/>
              </a:lnSpc>
              <a:spcBef>
                <a:spcPts val="0"/>
              </a:spcBef>
              <a:spcAft>
                <a:spcPts val="0"/>
              </a:spcAft>
            </a:pPr>
            <a:r>
              <a:rPr sz="900" b="0" i="0">
                <a:solidFill>
                  <a:srgbClr val="1C1C1E"/>
                </a:solidFill>
                <a:latin typeface="Consolas"/>
              </a:rPr>
              <a:t> ├── attached : methodology paper, literature, vendor note</a:t>
            </a:r>
          </a:p>
          <a:p>
            <a:pPr>
              <a:lnSpc>
                <a:spcPct val="134000"/>
              </a:lnSpc>
              <a:spcBef>
                <a:spcPts val="0"/>
              </a:spcBef>
              <a:spcAft>
                <a:spcPts val="0"/>
              </a:spcAft>
            </a:pPr>
            <a:r>
              <a:rPr sz="900" b="0" i="0">
                <a:solidFill>
                  <a:srgbClr val="1C1C1E"/>
                </a:solidFill>
                <a:latin typeface="Consolas"/>
              </a:rPr>
              <a:t> ├── compiled : development document, model card,</a:t>
            </a:r>
          </a:p>
          <a:p>
            <a:pPr>
              <a:lnSpc>
                <a:spcPct val="134000"/>
              </a:lnSpc>
              <a:spcBef>
                <a:spcPts val="0"/>
              </a:spcBef>
              <a:spcAft>
                <a:spcPts val="0"/>
              </a:spcAft>
            </a:pPr>
            <a:r>
              <a:rPr sz="900" b="0" i="0">
                <a:solidFill>
                  <a:srgbClr val="1C1C1E"/>
                </a:solidFill>
                <a:latin typeface="Consolas"/>
              </a:rPr>
              <a:t> │               EU AI Act Annex IV technical file</a:t>
            </a:r>
          </a:p>
          <a:p>
            <a:pPr>
              <a:lnSpc>
                <a:spcPct val="134000"/>
              </a:lnSpc>
              <a:spcBef>
                <a:spcPts val="0"/>
              </a:spcBef>
              <a:spcAft>
                <a:spcPts val="0"/>
              </a:spcAft>
            </a:pPr>
            <a:r>
              <a:rPr sz="900" b="0" i="0">
                <a:solidFill>
                  <a:srgbClr val="1C1C1E"/>
                </a:solidFill>
                <a:latin typeface="Consolas"/>
              </a:rPr>
              <a:t> └── version 1.0.0</a:t>
            </a:r>
          </a:p>
          <a:p>
            <a:pPr>
              <a:lnSpc>
                <a:spcPct val="134000"/>
              </a:lnSpc>
              <a:spcBef>
                <a:spcPts val="0"/>
              </a:spcBef>
              <a:spcAft>
                <a:spcPts val="0"/>
              </a:spcAft>
            </a:pPr>
            <a:r>
              <a:rPr sz="900" b="0" i="0">
                <a:solidFill>
                  <a:srgbClr val="1C1C1E"/>
                </a:solidFill>
                <a:latin typeface="Consolas"/>
              </a:rPr>
              <a:t>      ├── attached : kernel specification</a:t>
            </a:r>
          </a:p>
          <a:p>
            <a:pPr>
              <a:lnSpc>
                <a:spcPct val="134000"/>
              </a:lnSpc>
              <a:spcBef>
                <a:spcPts val="0"/>
              </a:spcBef>
              <a:spcAft>
                <a:spcPts val="0"/>
              </a:spcAft>
            </a:pPr>
            <a:r>
              <a:rPr sz="900" b="0" i="0">
                <a:solidFill>
                  <a:srgbClr val="1C1C1E"/>
                </a:solidFill>
                <a:latin typeface="Consolas"/>
              </a:rPr>
              <a:t>      ├── compiled : validation report</a:t>
            </a:r>
          </a:p>
          <a:p>
            <a:pPr>
              <a:lnSpc>
                <a:spcPct val="134000"/>
              </a:lnSpc>
              <a:spcBef>
                <a:spcPts val="0"/>
              </a:spcBef>
              <a:spcAft>
                <a:spcPts val="0"/>
              </a:spcAft>
            </a:pPr>
            <a:r>
              <a:rPr sz="900" b="0" i="0">
                <a:solidFill>
                  <a:srgbClr val="1C1C1E"/>
                </a:solidFill>
                <a:latin typeface="Consolas"/>
              </a:rPr>
              <a:t>      ├── parameter set ps-8817      (fitted 2026-03-31)</a:t>
            </a:r>
          </a:p>
          <a:p>
            <a:pPr>
              <a:lnSpc>
                <a:spcPct val="134000"/>
              </a:lnSpc>
              <a:spcBef>
                <a:spcPts val="0"/>
              </a:spcBef>
              <a:spcAft>
                <a:spcPts val="0"/>
              </a:spcAft>
            </a:pPr>
            <a:r>
              <a:rPr sz="900" b="0" i="0">
                <a:solidFill>
                  <a:srgbClr val="1C1C1E"/>
                </a:solidFill>
                <a:latin typeface="Consolas"/>
              </a:rPr>
              <a:t>      │    ├── compiled : TRAINING RECORD</a:t>
            </a:r>
          </a:p>
          <a:p>
            <a:pPr>
              <a:lnSpc>
                <a:spcPct val="134000"/>
              </a:lnSpc>
              <a:spcBef>
                <a:spcPts val="0"/>
              </a:spcBef>
              <a:spcAft>
                <a:spcPts val="0"/>
              </a:spcAft>
            </a:pPr>
            <a:r>
              <a:rPr sz="900" b="0" i="0">
                <a:solidFill>
                  <a:srgbClr val="1C1C1E"/>
                </a:solidFill>
                <a:latin typeface="Consolas"/>
              </a:rPr>
              <a:t>      │    └── attached : convergence study</a:t>
            </a:r>
          </a:p>
          <a:p>
            <a:pPr>
              <a:lnSpc>
                <a:spcPct val="134000"/>
              </a:lnSpc>
              <a:spcBef>
                <a:spcPts val="0"/>
              </a:spcBef>
              <a:spcAft>
                <a:spcPts val="0"/>
              </a:spcAft>
            </a:pPr>
            <a:r>
              <a:rPr sz="900" b="0" i="0">
                <a:solidFill>
                  <a:srgbClr val="1C1C1E"/>
                </a:solidFill>
                <a:latin typeface="Consolas"/>
              </a:rPr>
              <a:t>      └── fitted from  featureset sb_core @ v1</a:t>
            </a:r>
          </a:p>
          <a:p>
            <a:pPr>
              <a:lnSpc>
                <a:spcPct val="134000"/>
              </a:lnSpc>
              <a:spcBef>
                <a:spcPts val="0"/>
              </a:spcBef>
              <a:spcAft>
                <a:spcPts val="0"/>
              </a:spcAft>
            </a:pPr>
            <a:r>
              <a:rPr sz="900" b="0" i="0">
                <a:solidFill>
                  <a:srgbClr val="1C1C1E"/>
                </a:solidFill>
                <a:latin typeface="Consolas"/>
              </a:rPr>
              <a:t>           ├── attached : data dictionary, source agreement</a:t>
            </a:r>
          </a:p>
          <a:p>
            <a:pPr>
              <a:lnSpc>
                <a:spcPct val="134000"/>
              </a:lnSpc>
              <a:spcBef>
                <a:spcPts val="0"/>
              </a:spcBef>
              <a:spcAft>
                <a:spcPts val="0"/>
              </a:spcAft>
            </a:pPr>
            <a:r>
              <a:rPr sz="900" b="0" i="0">
                <a:solidFill>
                  <a:srgbClr val="1C1C1E"/>
                </a:solidFill>
                <a:latin typeface="Consolas"/>
              </a:rPr>
              <a:t>           └── feature dscr</a:t>
            </a:r>
          </a:p>
          <a:p>
            <a:pPr>
              <a:lnSpc>
                <a:spcPct val="134000"/>
              </a:lnSpc>
              <a:spcBef>
                <a:spcPts val="0"/>
              </a:spcBef>
              <a:spcAft>
                <a:spcPts val="0"/>
              </a:spcAft>
            </a:pPr>
            <a:r>
              <a:rPr sz="900" b="0" i="0">
                <a:solidFill>
                  <a:srgbClr val="1C1C1E"/>
                </a:solidFill>
                <a:latin typeface="Consolas"/>
              </a:rPr>
              <a:t>                └── attached : business definition</a:t>
            </a:r>
          </a:p>
        </p:txBody>
      </p:sp>
      <p:sp>
        <p:nvSpPr>
          <p:cNvPr id="14" name="TextBox 13"/>
          <p:cNvSpPr txBox="1"/>
          <p:nvPr/>
        </p:nvSpPr>
        <p:spPr>
          <a:xfrm>
            <a:off x="7159569" y="1353312"/>
            <a:ext cx="4254886" cy="347472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properties</a:t>
            </a:r>
          </a:p>
          <a:p>
            <a:pPr>
              <a:spcBef>
                <a:spcPts val="0"/>
              </a:spcBef>
              <a:spcAft>
                <a:spcPts val="800"/>
              </a:spcAft>
            </a:pPr>
            <a:r>
              <a:rPr sz="1050" b="1" i="0">
                <a:solidFill>
                  <a:srgbClr val="A51C30"/>
                </a:solidFill>
                <a:latin typeface="Calibri"/>
              </a:rPr>
              <a:t>→  </a:t>
            </a:r>
            <a:r>
              <a:rPr sz="1050" b="1" i="0">
                <a:solidFill>
                  <a:srgbClr val="1C1C1E"/>
                </a:solidFill>
                <a:latin typeface="Calibri"/>
              </a:rPr>
              <a:t>It follows the pins, not the names. </a:t>
            </a:r>
            <a:r>
              <a:rPr sz="1050" b="0" i="0">
                <a:solidFill>
                  <a:srgbClr val="4A4F57"/>
                </a:solidFill>
                <a:latin typeface="Calibri"/>
              </a:rPr>
              <a:t>sb_core@v1, never sb_core. A document about the set describes something that has since moved.</a:t>
            </a:r>
          </a:p>
          <a:p>
            <a:pPr>
              <a:spcBef>
                <a:spcPts val="0"/>
              </a:spcBef>
              <a:spcAft>
                <a:spcPts val="800"/>
              </a:spcAft>
            </a:pPr>
            <a:r>
              <a:rPr sz="1050" b="1" i="0">
                <a:solidFill>
                  <a:srgbClr val="A51C30"/>
                </a:solidFill>
                <a:latin typeface="Calibri"/>
              </a:rPr>
              <a:t>→  </a:t>
            </a:r>
            <a:r>
              <a:rPr sz="1050" b="1" i="0">
                <a:solidFill>
                  <a:srgbClr val="1C1C1E"/>
                </a:solidFill>
                <a:latin typeface="Calibri"/>
              </a:rPr>
              <a:t>Gaps are named. </a:t>
            </a:r>
            <a:r>
              <a:rPr sz="1050" b="0" i="0">
                <a:solidFill>
                  <a:srgbClr val="4A4F57"/>
                </a:solidFill>
                <a:latin typeface="Calibri"/>
              </a:rPr>
              <a:t>Every node with nothing filed says what was expected. A page that silently omits what it could not find reads as complete.</a:t>
            </a:r>
          </a:p>
          <a:p>
            <a:pPr>
              <a:spcBef>
                <a:spcPts val="0"/>
              </a:spcBef>
              <a:spcAft>
                <a:spcPts val="800"/>
              </a:spcAft>
            </a:pPr>
            <a:r>
              <a:rPr sz="1050" b="1" i="0">
                <a:solidFill>
                  <a:srgbClr val="A51C30"/>
                </a:solidFill>
                <a:latin typeface="Calibri"/>
              </a:rPr>
              <a:t>→  </a:t>
            </a:r>
            <a:r>
              <a:rPr sz="1050" b="1" i="0">
                <a:solidFill>
                  <a:srgbClr val="1C1C1E"/>
                </a:solidFill>
                <a:latin typeface="Calibri"/>
              </a:rPr>
              <a:t>It is computed. </a:t>
            </a:r>
            <a:r>
              <a:rPr sz="1050" b="0" i="0">
                <a:solidFill>
                  <a:srgbClr val="4A4F57"/>
                </a:solidFill>
                <a:latin typeface="Calibri"/>
              </a:rPr>
              <a:t>Its inputs are all versioned or immutable, so there is nothing to keep in step — and a stored dossier would be a second account of the documentation, able to disagree with the first.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EXPORT PACK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the whole of it travels to somebody without a login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58</a:t>
            </a:r>
          </a:p>
        </p:txBody>
      </p:sp>
      <p:sp>
        <p:nvSpPr>
          <p:cNvPr id="10" name="Rectangle 9"/>
          <p:cNvSpPr/>
          <p:nvPr/>
        </p:nvSpPr>
        <p:spPr>
          <a:xfrm>
            <a:off x="777240"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Self-contained</a:t>
            </a:r>
          </a:p>
          <a:p>
            <a:pPr>
              <a:lnSpc>
                <a:spcPct val="115000"/>
              </a:lnSpc>
              <a:spcBef>
                <a:spcPts val="0"/>
              </a:spcBef>
              <a:spcAft>
                <a:spcPts val="600"/>
              </a:spcAft>
            </a:pPr>
            <a:r>
              <a:rPr sz="850" b="0" i="0">
                <a:solidFill>
                  <a:srgbClr val="4A4F57"/>
                </a:solidFill>
                <a:latin typeface="Calibri"/>
              </a:rPr>
              <a:t>they cannot query the platform, so the pack carries the register state, the documents, the attachments and the evidence segment</a:t>
            </a:r>
          </a:p>
        </p:txBody>
      </p:sp>
      <p:sp>
        <p:nvSpPr>
          <p:cNvPr id="13" name="Rectangle 12"/>
          <p:cNvSpPr/>
          <p:nvPr/>
        </p:nvSpPr>
        <p:spPr>
          <a:xfrm>
            <a:off x="3482263"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Digested</a:t>
            </a:r>
          </a:p>
          <a:p>
            <a:pPr>
              <a:lnSpc>
                <a:spcPct val="115000"/>
              </a:lnSpc>
              <a:spcBef>
                <a:spcPts val="0"/>
              </a:spcBef>
              <a:spcAft>
                <a:spcPts val="600"/>
              </a:spcAft>
            </a:pPr>
            <a:r>
              <a:rPr sz="850" b="0" i="0">
                <a:solidFill>
                  <a:srgbClr val="4A4F57"/>
                </a:solidFill>
                <a:latin typeface="Calibri"/>
              </a:rPr>
              <a:t>they cannot take its word for anything, so every member is hashed and the manifest is hashed over the members</a:t>
            </a:r>
          </a:p>
        </p:txBody>
      </p:sp>
      <p:sp>
        <p:nvSpPr>
          <p:cNvPr id="16" name="Rectangle 15"/>
          <p:cNvSpPr/>
          <p:nvPr/>
        </p:nvSpPr>
        <p:spPr>
          <a:xfrm>
            <a:off x="6187287"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Comparable</a:t>
            </a:r>
          </a:p>
          <a:p>
            <a:pPr>
              <a:lnSpc>
                <a:spcPct val="115000"/>
              </a:lnSpc>
              <a:spcBef>
                <a:spcPts val="0"/>
              </a:spcBef>
              <a:spcAft>
                <a:spcPts val="600"/>
              </a:spcAft>
            </a:pPr>
            <a:r>
              <a:rPr sz="850" b="0" i="0">
                <a:solidFill>
                  <a:srgbClr val="4A4F57"/>
                </a:solidFill>
                <a:latin typeface="Calibri"/>
              </a:rPr>
              <a:t>the content digest EXCLUDES the manifest, so two packs of the same state agree — “has anything changed” is one comparison</a:t>
            </a:r>
          </a:p>
        </p:txBody>
      </p:sp>
      <p:sp>
        <p:nvSpPr>
          <p:cNvPr id="19" name="Rectangle 18"/>
          <p:cNvSpPr/>
          <p:nvPr/>
        </p:nvSpPr>
        <p:spPr>
          <a:xfrm>
            <a:off x="8892311"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Honest</a:t>
            </a:r>
          </a:p>
          <a:p>
            <a:pPr>
              <a:lnSpc>
                <a:spcPct val="115000"/>
              </a:lnSpc>
              <a:spcBef>
                <a:spcPts val="0"/>
              </a:spcBef>
              <a:spcAft>
                <a:spcPts val="600"/>
              </a:spcAft>
            </a:pPr>
            <a:r>
              <a:rPr sz="850" b="0" i="0">
                <a:solidFill>
                  <a:srgbClr val="4A4F57"/>
                </a:solidFill>
                <a:latin typeface="Calibri"/>
              </a:rPr>
              <a:t>gaps.md first: what could not be included, and why</a:t>
            </a:r>
          </a:p>
        </p:txBody>
      </p:sp>
      <p:sp>
        <p:nvSpPr>
          <p:cNvPr id="22" name="Rectangle 21"/>
          <p:cNvSpPr/>
          <p:nvPr/>
        </p:nvSpPr>
        <p:spPr>
          <a:xfrm>
            <a:off x="777240" y="3685032"/>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685032"/>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803904"/>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things it deliberately does not do. </a:t>
            </a:r>
            <a:r>
              <a:rPr sz="1050" b="0" i="0">
                <a:solidFill>
                  <a:srgbClr val="1C1C1E"/>
                </a:solidFill>
                <a:latin typeface="Calibri"/>
              </a:rPr>
              <a:t>It does not AUTHOR anything: documents are rendered, not compiled, so cutting a pack monthly does not silently author four documents a month. And it does not re-materialise personal data — a flagged node carries its erasable pointer into the pack, because resolving it would put personal data where an erasure request cannot reach.</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refusals that matter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59</a:t>
            </a:r>
          </a:p>
        </p:txBody>
      </p:sp>
      <p:graphicFrame>
        <p:nvGraphicFramePr>
          <p:cNvPr id="10" name="Table 9"/>
          <p:cNvGraphicFramePr>
            <a:graphicFrameLocks noGrp="1"/>
          </p:cNvGraphicFramePr>
          <p:nvPr/>
        </p:nvGraphicFramePr>
        <p:xfrm>
          <a:off x="777240" y="1353312"/>
          <a:ext cx="10637215" cy="2863088"/>
        </p:xfrm>
        <a:graphic>
          <a:graphicData uri="http://schemas.openxmlformats.org/drawingml/2006/table">
            <a:tbl>
              <a:tblPr firstRow="1">
                <a:tableStyleId>{5C22544A-7EE6-4342-B048-85BDC9FD1C3A}</a:tableStyleId>
              </a:tblPr>
              <a:tblGrid>
                <a:gridCol w="4218206"/>
                <a:gridCol w="6419009"/>
              </a:tblGrid>
              <a:tr h="329184">
                <a:tc>
                  <a:txBody>
                    <a:bodyPr wrap="square"/>
                    <a:lstStyle/>
                    <a:p>
                      <a:pPr algn="l"/>
                      <a:r>
                        <a:rPr sz="1000" b="1">
                          <a:solidFill>
                            <a:srgbClr val="FFFFFF"/>
                          </a:solidFill>
                          <a:latin typeface="Calibri"/>
                        </a:rPr>
                        <a:t>Refused</a:t>
                      </a:r>
                    </a:p>
                  </a:txBody>
                  <a:tcPr marL="82296" marR="64008" marT="32004" marB="32004" anchor="ctr">
                    <a:solidFill>
                      <a:srgbClr val="A51C30"/>
                    </a:solidFill>
                  </a:tcPr>
                </a:tc>
                <a:tc>
                  <a:txBody>
                    <a:bodyPr wrap="square"/>
                    <a:lstStyle/>
                    <a:p>
                      <a:pPr algn="l"/>
                      <a:r>
                        <a:rPr sz="1000" b="1">
                          <a:solidFill>
                            <a:srgbClr val="FFFFFF"/>
                          </a:solidFill>
                          <a:latin typeface="Calibri"/>
                        </a:rPr>
                        <a:t>Because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training set with either clock unbounded</a:t>
                      </a:r>
                    </a:p>
                  </a:txBody>
                  <a:tcPr marL="82296" marR="64008" marT="32004" marB="32004" anchor="ctr">
                    <a:solidFill>
                      <a:srgbClr val="FFFFFF"/>
                    </a:solidFill>
                  </a:tcPr>
                </a:tc>
                <a:tc>
                  <a:txBody>
                    <a:bodyPr wrap="square"/>
                    <a:lstStyle/>
                    <a:p>
                      <a:pPr algn="l"/>
                      <a:r>
                        <a:rPr sz="1000" b="0">
                          <a:solidFill>
                            <a:srgbClr val="1C1C1E"/>
                          </a:solidFill>
                          <a:latin typeface="Calibri"/>
                        </a:rPr>
                        <a:t>it cannot be shown point-in-time correct, so it cannot be shown not to have leaked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 derived from the label</a:t>
                      </a:r>
                    </a:p>
                  </a:txBody>
                  <a:tcPr marL="82296" marR="64008" marT="32004" marB="32004" anchor="ctr">
                    <a:solidFill>
                      <a:srgbClr val="F6F3EF"/>
                    </a:solidFill>
                  </a:tcPr>
                </a:tc>
                <a:tc>
                  <a:txBody>
                    <a:bodyPr wrap="square"/>
                    <a:lstStyle/>
                    <a:p>
                      <a:pPr algn="l"/>
                      <a:r>
                        <a:rPr sz="1000" b="0">
                          <a:solidFill>
                            <a:srgbClr val="1C1C1E"/>
                          </a:solidFill>
                          <a:latin typeface="Calibri"/>
                        </a:rPr>
                        <a:t>leakage with a division sign in front of it; every metric will agree the model is excellent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normalising without an as_of</a:t>
                      </a:r>
                    </a:p>
                  </a:txBody>
                  <a:tcPr marL="82296" marR="64008" marT="32004" marB="32004" anchor="ctr">
                    <a:solidFill>
                      <a:srgbClr val="FFFFFF"/>
                    </a:solidFill>
                  </a:tcPr>
                </a:tc>
                <a:tc>
                  <a:txBody>
                    <a:bodyPr wrap="square"/>
                    <a:lstStyle/>
                    <a:p>
                      <a:pPr algn="l"/>
                      <a:r>
                        <a:rPr sz="1000" b="0">
                          <a:solidFill>
                            <a:srgbClr val="1C1C1E"/>
                          </a:solidFill>
                          <a:latin typeface="Calibri"/>
                        </a:rPr>
                        <a:t>the leaky answer is the one somebody would get by accident, so it must not be the default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featureset that does not cover the kernel’s inputs</a:t>
                      </a:r>
                    </a:p>
                  </a:txBody>
                  <a:tcPr marL="82296" marR="64008" marT="32004" marB="32004" anchor="ctr">
                    <a:solidFill>
                      <a:srgbClr val="F6F3EF"/>
                    </a:solidFill>
                  </a:tcPr>
                </a:tc>
                <a:tc>
                  <a:txBody>
                    <a:bodyPr wrap="square"/>
                    <a:lstStyle/>
                    <a:p>
                      <a:pPr algn="l"/>
                      <a:r>
                        <a:rPr sz="1000" b="0">
                          <a:solidFill>
                            <a:srgbClr val="1C1C1E"/>
                          </a:solidFill>
                          <a:latin typeface="Calibri"/>
                        </a:rPr>
                        <a:t>adding a regressor is a model change, not a data change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fit warrant for a T0 model</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come from theory; asking it to fit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parameters with no warrant behind them</a:t>
                      </a:r>
                    </a:p>
                  </a:txBody>
                  <a:tcPr marL="82296" marR="64008" marT="32004" marB="32004" anchor="ctr">
                    <a:solidFill>
                      <a:srgbClr val="F6F3EF"/>
                    </a:solidFill>
                  </a:tcPr>
                </a:tc>
                <a:tc>
                  <a:txBody>
                    <a:bodyPr wrap="square"/>
                    <a:lstStyle/>
                    <a:p>
                      <a:pPr algn="l"/>
                      <a:r>
                        <a:rPr sz="1000" b="0">
                          <a:solidFill>
                            <a:srgbClr val="1C1C1E"/>
                          </a:solidFill>
                          <a:latin typeface="Calibri"/>
                        </a:rPr>
                        <a:t>‘which data produced these numbers’ would have no answer</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version approved before its model is assessed</a:t>
                      </a:r>
                    </a:p>
                  </a:txBody>
                  <a:tcPr marL="82296" marR="64008" marT="32004" marB="32004" anchor="ctr">
                    <a:solidFill>
                      <a:srgbClr val="FFFFFF"/>
                    </a:solidFill>
                  </a:tcPr>
                </a:tc>
                <a:tc>
                  <a:txBody>
                    <a:bodyPr wrap="square"/>
                    <a:lstStyle/>
                    <a:p>
                      <a:pPr algn="l"/>
                      <a:r>
                        <a:rPr sz="1000" b="0">
                          <a:solidFill>
                            <a:srgbClr val="1C1C1E"/>
                          </a:solidFill>
                          <a:latin typeface="Calibri"/>
                        </a:rPr>
                        <a:t>the tier decides how many signatures the approval needs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upload missing entity_id or either clock</a:t>
                      </a:r>
                    </a:p>
                  </a:txBody>
                  <a:tcPr marL="82296" marR="64008" marT="32004" marB="32004" anchor="ctr">
                    <a:solidFill>
                      <a:srgbClr val="F6F3EF"/>
                    </a:solidFill>
                  </a:tcPr>
                </a:tc>
                <a:tc>
                  <a:txBody>
                    <a:bodyPr wrap="square"/>
                    <a:lstStyle/>
                    <a:p>
                      <a:pPr algn="l"/>
                      <a:r>
                        <a:rPr sz="1000" b="0">
                          <a:solidFill>
                            <a:srgbClr val="1C1C1E"/>
                          </a:solidFill>
                          <a:latin typeface="Calibri"/>
                        </a:rPr>
                        <a:t>accepting it moves the failure two layers from where it was caused</a:t>
                      </a:r>
                    </a:p>
                  </a:txBody>
                  <a:tcPr marL="82296" marR="64008" marT="32004" marB="32004" anchor="ctr">
                    <a:solidFill>
                      <a:srgbClr val="F6F3EF"/>
                    </a:solidFill>
                  </a:tcPr>
                </a:tc>
              </a:tr>
            </a:tbl>
          </a:graphicData>
        </a:graphic>
      </p:graphicFrame>
      <p:sp>
        <p:nvSpPr>
          <p:cNvPr id="11" name="Rectangle 10"/>
          <p:cNvSpPr/>
          <p:nvPr/>
        </p:nvSpPr>
        <p:spPr>
          <a:xfrm>
            <a:off x="777240" y="4417567"/>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17567"/>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36439"/>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Every refusal carries a remediation. </a:t>
            </a:r>
            <a:r>
              <a:rPr sz="1050" b="0" i="0">
                <a:solidFill>
                  <a:srgbClr val="1C1C1E"/>
                </a:solidFill>
                <a:latin typeface="Calibri"/>
              </a:rPr>
              <a:t>“Policy violation” tells somebody nothing they can act on, so each of these names what to do instead — </a:t>
            </a:r>
            <a:r>
              <a:rPr sz="1050" b="1" i="0">
                <a:solidFill>
                  <a:srgbClr val="1C1C1E"/>
                </a:solidFill>
                <a:latin typeface="Calibri"/>
              </a:rPr>
              <a:t>a gate people cannot satisfy is a gate people route around.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the boundary is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60</a:t>
            </a:r>
          </a:p>
        </p:txBody>
      </p:sp>
      <p:sp>
        <p:nvSpPr>
          <p:cNvPr id="10" name="Rectangle 9"/>
          <p:cNvSpPr/>
          <p:nvPr/>
        </p:nvSpPr>
        <p:spPr>
          <a:xfrm>
            <a:off x="777240"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compute</a:t>
            </a:r>
          </a:p>
        </p:txBody>
      </p:sp>
      <p:sp>
        <p:nvSpPr>
          <p:cNvPr id="14" name="TextBox 13"/>
          <p:cNvSpPr txBox="1"/>
          <p:nvPr/>
        </p:nvSpPr>
        <p:spPr>
          <a:xfrm>
            <a:off x="996695"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fitting, no calibration, no scoring. MAYA issues a warrant and takes delivery of the result. The engine shipped with it exists so a fresh deployment can demonstrate the whole governed path against real artifacts — not so anybody runs an estate on it.</a:t>
            </a:r>
          </a:p>
        </p:txBody>
      </p:sp>
      <p:sp>
        <p:nvSpPr>
          <p:cNvPr id="15" name="Rectangle 14"/>
          <p:cNvSpPr/>
          <p:nvPr/>
        </p:nvSpPr>
        <p:spPr>
          <a:xfrm>
            <a:off x="4425804"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transform</a:t>
            </a:r>
          </a:p>
        </p:txBody>
      </p:sp>
      <p:sp>
        <p:nvSpPr>
          <p:cNvPr id="19" name="TextBox 18"/>
          <p:cNvSpPr txBox="1"/>
          <p:nvPr/>
        </p:nvSpPr>
        <p:spPr>
          <a:xfrm>
            <a:off x="4645260"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expression language is small on purpose. Anything needing a library, a join or a model is declared external: the definition, the lineage and the leakage check are still kept, and the register says plainly that the platform did not compute the values.</a:t>
            </a:r>
          </a:p>
        </p:txBody>
      </p:sp>
      <p:sp>
        <p:nvSpPr>
          <p:cNvPr id="20" name="Rectangle 19"/>
          <p:cNvSpPr/>
          <p:nvPr/>
        </p:nvSpPr>
        <p:spPr>
          <a:xfrm>
            <a:off x="8074369" y="1353312"/>
            <a:ext cx="3340085"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choose</a:t>
            </a:r>
          </a:p>
        </p:txBody>
      </p:sp>
      <p:sp>
        <p:nvSpPr>
          <p:cNvPr id="24" name="TextBox 23"/>
          <p:cNvSpPr txBox="1"/>
          <p:nvPr/>
        </p:nvSpPr>
        <p:spPr>
          <a:xfrm>
            <a:off x="8293825" y="2157984"/>
            <a:ext cx="2901173"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feature selection, no importance ranking, no suggestion engine. It records what you chose, pins it so it cannot move underneath you, and refuses the combinations that are type errors.</a:t>
            </a:r>
          </a:p>
        </p:txBody>
      </p:sp>
      <p:sp>
        <p:nvSpPr>
          <p:cNvPr id="25" name="Rectangle 24"/>
          <p:cNvSpPr/>
          <p:nvPr/>
        </p:nvSpPr>
        <p:spPr>
          <a:xfrm>
            <a:off x="777240" y="3931920"/>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931920"/>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4050791"/>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platform that claimed to do all three </a:t>
            </a:r>
            <a:r>
              <a:rPr sz="1050" b="0" i="0">
                <a:solidFill>
                  <a:srgbClr val="1C1C1E"/>
                </a:solidFill>
                <a:latin typeface="Calibri"/>
              </a:rPr>
              <a:t>would be believed about the parts it does badly. Stating the boundary is what makes </a:t>
            </a:r>
            <a:r>
              <a:rPr sz="1050" b="1" i="0">
                <a:solidFill>
                  <a:srgbClr val="1C1C1E"/>
                </a:solidFill>
                <a:latin typeface="Calibri"/>
              </a:rPr>
              <a:t>the rest of it worth relying on.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Refusing at the edge of what it can see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61</a:t>
            </a:r>
          </a:p>
        </p:txBody>
      </p:sp>
      <p:graphicFrame>
        <p:nvGraphicFramePr>
          <p:cNvPr id="10" name="Table 9"/>
          <p:cNvGraphicFramePr>
            <a:graphicFrameLocks noGrp="1"/>
          </p:cNvGraphicFramePr>
          <p:nvPr/>
        </p:nvGraphicFramePr>
        <p:xfrm>
          <a:off x="777240" y="1353312"/>
          <a:ext cx="10637213" cy="2517912"/>
        </p:xfrm>
        <a:graphic>
          <a:graphicData uri="http://schemas.openxmlformats.org/drawingml/2006/table">
            <a:tbl>
              <a:tblPr firstRow="1">
                <a:tableStyleId>{5C22544A-7EE6-4342-B048-85BDC9FD1C3A}</a:tableStyleId>
              </a:tblPr>
              <a:tblGrid>
                <a:gridCol w="3117804"/>
                <a:gridCol w="2751003"/>
                <a:gridCol w="4768406"/>
              </a:tblGrid>
              <a:tr h="329184">
                <a:tc>
                  <a:txBody>
                    <a:bodyPr wrap="square"/>
                    <a:lstStyle/>
                    <a:p>
                      <a:pPr algn="l"/>
                      <a:r>
                        <a:rPr sz="950" b="1">
                          <a:solidFill>
                            <a:srgbClr val="FFFFFF"/>
                          </a:solidFill>
                          <a:latin typeface="Calibri"/>
                        </a:rPr>
                        <a:t>At this boundary</a:t>
                      </a:r>
                    </a:p>
                  </a:txBody>
                  <a:tcPr marL="82296" marR="64008" marT="32004" marB="32004" anchor="ctr">
                    <a:solidFill>
                      <a:srgbClr val="A51C30"/>
                    </a:solidFill>
                  </a:tcPr>
                </a:tc>
                <a:tc>
                  <a:txBody>
                    <a:bodyPr wrap="square"/>
                    <a:lstStyle/>
                    <a:p>
                      <a:pPr algn="l"/>
                      <a:r>
                        <a:rPr sz="950" b="1">
                          <a:solidFill>
                            <a:srgbClr val="FFFFFF"/>
                          </a:solidFill>
                          <a:latin typeface="Calibri"/>
                        </a:rPr>
                        <a:t>The convenient answer</a:t>
                      </a:r>
                    </a:p>
                  </a:txBody>
                  <a:tcPr marL="82296" marR="64008" marT="32004" marB="32004" anchor="ctr">
                    <a:solidFill>
                      <a:srgbClr val="A51C30"/>
                    </a:solidFill>
                  </a:tcPr>
                </a:tc>
                <a:tc>
                  <a:txBody>
                    <a:bodyPr wrap="square"/>
                    <a:lstStyle/>
                    <a:p>
                      <a:pPr algn="l"/>
                      <a:r>
                        <a:rPr sz="950" b="1">
                          <a:solidFill>
                            <a:srgbClr val="FFFFFF"/>
                          </a:solidFill>
                          <a:latin typeface="Calibri"/>
                        </a:rPr>
                        <a:t>What it reports instead</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a timestamp token nobody has verified</a:t>
                      </a:r>
                    </a:p>
                  </a:txBody>
                  <a:tcPr marL="82296" marR="64008" marT="32004" marB="32004" anchor="ctr">
                    <a:solidFill>
                      <a:srgbClr val="FFFFFF"/>
                    </a:solidFill>
                  </a:tcPr>
                </a:tc>
                <a:tc>
                  <a:txBody>
                    <a:bodyPr wrap="square"/>
                    <a:lstStyle/>
                    <a:p>
                      <a:pPr algn="l"/>
                      <a:r>
                        <a:rPr sz="950" b="0">
                          <a:solidFill>
                            <a:srgbClr val="1C1C1E"/>
                          </a:solidFill>
                          <a:latin typeface="Calibri"/>
                        </a:rPr>
                        <a:t>“verified” — or “no token”</a:t>
                      </a:r>
                    </a:p>
                  </a:txBody>
                  <a:tcPr marL="82296" marR="64008" marT="32004" marB="32004" anchor="ctr">
                    <a:solidFill>
                      <a:srgbClr val="FFFFFF"/>
                    </a:solidFill>
                  </a:tcPr>
                </a:tc>
                <a:tc>
                  <a:txBody>
                    <a:bodyPr wrap="square"/>
                    <a:lstStyle/>
                    <a:p>
                      <a:pPr algn="l"/>
                      <a:r>
                        <a:rPr sz="950" b="0">
                          <a:solidFill>
                            <a:srgbClr val="1C1C1E"/>
                          </a:solidFill>
                          <a:latin typeface="Calibri"/>
                        </a:rPr>
                        <a:t>a third state. Checking one means holding a certificate chain and choosing which roots to trust, which the firm's security function decided once</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an export from another model registry</a:t>
                      </a:r>
                    </a:p>
                  </a:txBody>
                  <a:tcPr marL="82296" marR="64008" marT="32004" marB="32004" anchor="ctr">
                    <a:solidFill>
                      <a:srgbClr val="F6F3EF"/>
                    </a:solidFill>
                  </a:tcPr>
                </a:tc>
                <a:tc>
                  <a:txBody>
                    <a:bodyPr wrap="square"/>
                    <a:lstStyle/>
                    <a:p>
                      <a:pPr algn="l"/>
                      <a:r>
                        <a:rPr sz="950" b="0">
                          <a:solidFill>
                            <a:srgbClr val="1C1C1E"/>
                          </a:solidFill>
                          <a:latin typeface="Calibri"/>
                        </a:rPr>
                        <a:t>registrations, at import scale</a:t>
                      </a:r>
                    </a:p>
                  </a:txBody>
                  <a:tcPr marL="82296" marR="64008" marT="32004" marB="32004" anchor="ctr">
                    <a:solidFill>
                      <a:srgbClr val="F6F3EF"/>
                    </a:solidFill>
                  </a:tcPr>
                </a:tc>
                <a:tc>
                  <a:txBody>
                    <a:bodyPr wrap="square"/>
                    <a:lstStyle/>
                    <a:p>
                      <a:pPr algn="l"/>
                      <a:r>
                        <a:rPr sz="950" b="0">
                          <a:solidFill>
                            <a:srgbClr val="1C1C1E"/>
                          </a:solidFill>
                          <a:latin typeface="Calibri"/>
                        </a:rPr>
                        <a:t>candidates for triage. Owner, purpose, entity, materiality and ‘is it a model at all’ are in no ML platform anywhere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a discovery sweep with malformed rows</a:t>
                      </a:r>
                    </a:p>
                  </a:txBody>
                  <a:tcPr marL="82296" marR="64008" marT="32004" marB="32004" anchor="ctr">
                    <a:solidFill>
                      <a:srgbClr val="FFFFFF"/>
                    </a:solidFill>
                  </a:tcPr>
                </a:tc>
                <a:tc>
                  <a:txBody>
                    <a:bodyPr wrap="square"/>
                    <a:lstStyle/>
                    <a:p>
                      <a:pPr algn="l"/>
                      <a:r>
                        <a:rPr sz="950" b="0">
                          <a:solidFill>
                            <a:srgbClr val="1C1C1E"/>
                          </a:solidFill>
                          <a:latin typeface="Calibri"/>
                        </a:rPr>
                        <a:t>keep the good ones</a:t>
                      </a:r>
                    </a:p>
                  </a:txBody>
                  <a:tcPr marL="82296" marR="64008" marT="32004" marB="32004" anchor="ctr">
                    <a:solidFill>
                      <a:srgbClr val="FFFFFF"/>
                    </a:solidFill>
                  </a:tcPr>
                </a:tc>
                <a:tc>
                  <a:txBody>
                    <a:bodyPr wrap="square"/>
                    <a:lstStyle/>
                    <a:p>
                      <a:pPr algn="l"/>
                      <a:r>
                        <a:rPr sz="950" b="0">
                          <a:solidFill>
                            <a:srgbClr val="1C1C1E"/>
                          </a:solidFill>
                          <a:latin typeface="Calibri"/>
                        </a:rPr>
                        <a:t>refused whole. A partial ingest grades the rows MAYA kept, not the scanner</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an extension that is installed</a:t>
                      </a:r>
                    </a:p>
                  </a:txBody>
                  <a:tcPr marL="82296" marR="64008" marT="32004" marB="32004" anchor="ctr">
                    <a:solidFill>
                      <a:srgbClr val="F6F3EF"/>
                    </a:solidFill>
                  </a:tcPr>
                </a:tc>
                <a:tc>
                  <a:txBody>
                    <a:bodyPr wrap="square"/>
                    <a:lstStyle/>
                    <a:p>
                      <a:pPr algn="l"/>
                      <a:r>
                        <a:rPr sz="950" b="0">
                          <a:solidFill>
                            <a:srgbClr val="1C1C1E"/>
                          </a:solidFill>
                          <a:latin typeface="Calibri"/>
                        </a:rPr>
                        <a:t>load it</a:t>
                      </a:r>
                    </a:p>
                  </a:txBody>
                  <a:tcPr marL="82296" marR="64008" marT="32004" marB="32004" anchor="ctr">
                    <a:solidFill>
                      <a:srgbClr val="F6F3EF"/>
                    </a:solidFill>
                  </a:tcPr>
                </a:tc>
                <a:tc>
                  <a:txBody>
                    <a:bodyPr wrap="square"/>
                    <a:lstStyle/>
                    <a:p>
                      <a:pPr algn="l"/>
                      <a:r>
                        <a:rPr sz="950" b="0">
                          <a:solidFill>
                            <a:srgbClr val="1C1C1E"/>
                          </a:solidFill>
                          <a:latin typeface="Calibri"/>
                        </a:rPr>
                        <a:t>seen, not enabled. A control switched on by a dependency bump is a control nobody turned on</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 pack sent to a supervisor</a:t>
                      </a:r>
                    </a:p>
                  </a:txBody>
                  <a:tcPr marL="82296" marR="64008" marT="32004" marB="32004" anchor="ctr">
                    <a:solidFill>
                      <a:srgbClr val="FFFFFF"/>
                    </a:solidFill>
                  </a:tcPr>
                </a:tc>
                <a:tc>
                  <a:txBody>
                    <a:bodyPr wrap="square"/>
                    <a:lstStyle/>
                    <a:p>
                      <a:pPr algn="l"/>
                      <a:r>
                        <a:rPr sz="950" b="0">
                          <a:solidFill>
                            <a:srgbClr val="1C1C1E"/>
                          </a:solidFill>
                          <a:latin typeface="Calibri"/>
                        </a:rPr>
                        <a:t>an examiner portal</a:t>
                      </a:r>
                    </a:p>
                  </a:txBody>
                  <a:tcPr marL="82296" marR="64008" marT="32004" marB="32004" anchor="ctr">
                    <a:solidFill>
                      <a:srgbClr val="FFFFFF"/>
                    </a:solidFill>
                  </a:tcPr>
                </a:tc>
                <a:tc>
                  <a:txBody>
                    <a:bodyPr wrap="square"/>
                    <a:lstStyle/>
                    <a:p>
                      <a:pPr algn="l"/>
                      <a:r>
                        <a:rPr sz="950" b="0">
                          <a:solidFill>
                            <a:srgbClr val="1C1C1E"/>
                          </a:solidFill>
                          <a:latin typeface="Calibri"/>
                        </a:rPr>
                        <a:t>a time-boxed link to a content digest. It establishes no identity, and says so</a:t>
                      </a:r>
                    </a:p>
                  </a:txBody>
                  <a:tcPr marL="82296" marR="64008" marT="32004" marB="32004" anchor="ctr">
                    <a:solidFill>
                      <a:srgbClr val="FFFFFF"/>
                    </a:solidFill>
                  </a:tcPr>
                </a:tc>
              </a:tr>
            </a:tbl>
          </a:graphicData>
        </a:graphic>
      </p:graphicFrame>
      <p:sp>
        <p:nvSpPr>
          <p:cNvPr id="11" name="Rectangle 10"/>
          <p:cNvSpPr/>
          <p:nvPr/>
        </p:nvSpPr>
        <p:spPr>
          <a:xfrm>
            <a:off x="777240" y="4072394"/>
            <a:ext cx="10637215" cy="89611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72394"/>
            <a:ext cx="41148"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91266"/>
            <a:ext cx="10180015" cy="67665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 a boundary the natural report is the answer you wish you had — </a:t>
            </a:r>
            <a:r>
              <a:rPr sz="1050" b="0" i="0">
                <a:solidFill>
                  <a:srgbClr val="1C1C1E"/>
                </a:solidFill>
                <a:latin typeface="Calibri"/>
              </a:rPr>
              <a:t>and the overstatement is invisible precisely because nobody can see past the boundary to check it. </a:t>
            </a:r>
            <a:r>
              <a:rPr sz="1050" b="1" i="0">
                <a:solidFill>
                  <a:srgbClr val="1C1C1E"/>
                </a:solidFill>
                <a:latin typeface="Calibri"/>
              </a:rPr>
              <a:t>Each of these widens a type rather than adding a warning.</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System Design</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Components, algorithms, transaction boundaries and failure modes. For whoever builds or audits the platform rather than the models.</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16 · Architecture and design rules</a:t>
            </a:r>
          </a:p>
          <a:p>
            <a:pPr>
              <a:lnSpc>
                <a:spcPct val="115000"/>
              </a:lnSpc>
              <a:spcBef>
                <a:spcPts val="0"/>
              </a:spcBef>
              <a:spcAft>
                <a:spcPts val="800"/>
              </a:spcAft>
            </a:pPr>
            <a:r>
              <a:rPr sz="1150" b="0" i="0">
                <a:solidFill>
                  <a:srgbClr val="E4DED6"/>
                </a:solidFill>
                <a:latin typeface="Calibri"/>
              </a:rPr>
              <a:t>17 · Core domain and registry</a:t>
            </a:r>
          </a:p>
          <a:p>
            <a:pPr>
              <a:lnSpc>
                <a:spcPct val="115000"/>
              </a:lnSpc>
              <a:spcBef>
                <a:spcPts val="0"/>
              </a:spcBef>
              <a:spcAft>
                <a:spcPts val="800"/>
              </a:spcAft>
            </a:pPr>
            <a:r>
              <a:rPr sz="1150" b="0" i="0">
                <a:solidFill>
                  <a:srgbClr val="E4DED6"/>
                </a:solidFill>
                <a:latin typeface="Calibri"/>
              </a:rPr>
              <a:t>18 · The feature platform</a:t>
            </a:r>
          </a:p>
          <a:p>
            <a:pPr>
              <a:lnSpc>
                <a:spcPct val="115000"/>
              </a:lnSpc>
              <a:spcBef>
                <a:spcPts val="0"/>
              </a:spcBef>
              <a:spcAft>
                <a:spcPts val="800"/>
              </a:spcAft>
            </a:pPr>
            <a:r>
              <a:rPr sz="1150" b="0" i="0">
                <a:solidFill>
                  <a:srgbClr val="E4DED6"/>
                </a:solidFill>
                <a:latin typeface="Calibri"/>
              </a:rPr>
              <a:t>19 · Governance subsystems</a:t>
            </a:r>
          </a:p>
          <a:p>
            <a:pPr>
              <a:lnSpc>
                <a:spcPct val="115000"/>
              </a:lnSpc>
              <a:spcBef>
                <a:spcPts val="0"/>
              </a:spcBef>
              <a:spcAft>
                <a:spcPts val="800"/>
              </a:spcAft>
            </a:pPr>
            <a:r>
              <a:rPr sz="1150" b="0" i="0">
                <a:solidFill>
                  <a:srgbClr val="E4DED6"/>
                </a:solidFill>
                <a:latin typeface="Calibri"/>
              </a:rPr>
              <a:t>20 · The execution plane</a:t>
            </a:r>
          </a:p>
          <a:p>
            <a:pPr>
              <a:lnSpc>
                <a:spcPct val="115000"/>
              </a:lnSpc>
              <a:spcBef>
                <a:spcPts val="0"/>
              </a:spcBef>
              <a:spcAft>
                <a:spcPts val="800"/>
              </a:spcAft>
            </a:pPr>
            <a:r>
              <a:rPr sz="1150" b="0" i="0">
                <a:solidFill>
                  <a:srgbClr val="E4DED6"/>
                </a:solidFill>
                <a:latin typeface="Calibri"/>
              </a:rPr>
              <a:t>21 · Machine assistance</a:t>
            </a:r>
          </a:p>
          <a:p>
            <a:pPr>
              <a:lnSpc>
                <a:spcPct val="115000"/>
              </a:lnSpc>
              <a:spcBef>
                <a:spcPts val="0"/>
              </a:spcBef>
              <a:spcAft>
                <a:spcPts val="800"/>
              </a:spcAft>
            </a:pPr>
            <a:r>
              <a:rPr sz="1150" b="0" i="0">
                <a:solidFill>
                  <a:srgbClr val="E4DED6"/>
                </a:solidFill>
                <a:latin typeface="Calibri"/>
              </a:rPr>
              <a:t>22 · Interfaces and the SDK</a:t>
            </a:r>
          </a:p>
          <a:p>
            <a:pPr>
              <a:lnSpc>
                <a:spcPct val="115000"/>
              </a:lnSpc>
              <a:spcBef>
                <a:spcPts val="0"/>
              </a:spcBef>
              <a:spcAft>
                <a:spcPts val="800"/>
              </a:spcAft>
            </a:pPr>
            <a:r>
              <a:rPr sz="1150" b="0" i="0">
                <a:solidFill>
                  <a:srgbClr val="E4DED6"/>
                </a:solidFill>
                <a:latin typeface="Calibri"/>
              </a:rPr>
              <a:t>23 · Cross-cutting and operations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STRUCTURE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Component inventory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63</a:t>
            </a:r>
          </a:p>
        </p:txBody>
      </p:sp>
      <p:sp>
        <p:nvSpPr>
          <p:cNvPr id="10" name="Rectangle 9"/>
          <p:cNvSpPr/>
          <p:nvPr/>
        </p:nvSpPr>
        <p:spPr>
          <a:xfrm>
            <a:off x="777240" y="1371600"/>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566928"/>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463040"/>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E4057"/>
                </a:solidFill>
                <a:latin typeface="Calibri"/>
              </a:rPr>
              <a:t>Interfaces</a:t>
            </a:r>
          </a:p>
        </p:txBody>
      </p:sp>
      <p:sp>
        <p:nvSpPr>
          <p:cNvPr id="13" name="Rectangle 12"/>
          <p:cNvSpPr/>
          <p:nvPr/>
        </p:nvSpPr>
        <p:spPr>
          <a:xfrm>
            <a:off x="3794759"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94759"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routes/ (Flask UI)</a:t>
            </a:r>
          </a:p>
        </p:txBody>
      </p:sp>
      <p:sp>
        <p:nvSpPr>
          <p:cNvPr id="15" name="Rectangle 14"/>
          <p:cNvSpPr/>
          <p:nvPr/>
        </p:nvSpPr>
        <p:spPr>
          <a:xfrm>
            <a:off x="5665393"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65393"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REST API v1</a:t>
            </a:r>
          </a:p>
        </p:txBody>
      </p:sp>
      <p:sp>
        <p:nvSpPr>
          <p:cNvPr id="17" name="Rectangle 16"/>
          <p:cNvSpPr/>
          <p:nvPr/>
        </p:nvSpPr>
        <p:spPr>
          <a:xfrm>
            <a:off x="7536027"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536027"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Python SDK / CLI</a:t>
            </a:r>
          </a:p>
        </p:txBody>
      </p:sp>
      <p:sp>
        <p:nvSpPr>
          <p:cNvPr id="19" name="Rectangle 18"/>
          <p:cNvSpPr/>
          <p:nvPr/>
        </p:nvSpPr>
        <p:spPr>
          <a:xfrm>
            <a:off x="9406661"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06661"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notify (outbound)</a:t>
            </a:r>
          </a:p>
        </p:txBody>
      </p:sp>
      <p:sp>
        <p:nvSpPr>
          <p:cNvPr id="21" name="Rectangle 20"/>
          <p:cNvSpPr/>
          <p:nvPr/>
        </p:nvSpPr>
        <p:spPr>
          <a:xfrm>
            <a:off x="777240" y="2057400"/>
            <a:ext cx="10637215" cy="7315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20574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2148840"/>
            <a:ext cx="2651760" cy="548640"/>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A51C30"/>
                </a:solidFill>
                <a:latin typeface="Calibri"/>
              </a:rPr>
              <a:t>Governance subsystems</a:t>
            </a:r>
          </a:p>
        </p:txBody>
      </p:sp>
      <p:sp>
        <p:nvSpPr>
          <p:cNvPr id="24" name="Rectangle 23"/>
          <p:cNvSpPr/>
          <p:nvPr/>
        </p:nvSpPr>
        <p:spPr>
          <a:xfrm>
            <a:off x="3794759"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3794759"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Registry</a:t>
            </a:r>
          </a:p>
        </p:txBody>
      </p:sp>
      <p:sp>
        <p:nvSpPr>
          <p:cNvPr id="26" name="Rectangle 25"/>
          <p:cNvSpPr/>
          <p:nvPr/>
        </p:nvSpPr>
        <p:spPr>
          <a:xfrm>
            <a:off x="5665393"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5665393"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Evidence engine</a:t>
            </a:r>
          </a:p>
        </p:txBody>
      </p:sp>
      <p:sp>
        <p:nvSpPr>
          <p:cNvPr id="28" name="Rectangle 27"/>
          <p:cNvSpPr/>
          <p:nvPr/>
        </p:nvSpPr>
        <p:spPr>
          <a:xfrm>
            <a:off x="7536027"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7536027"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Risk &amp; tiering</a:t>
            </a:r>
          </a:p>
        </p:txBody>
      </p:sp>
      <p:sp>
        <p:nvSpPr>
          <p:cNvPr id="30" name="Rectangle 29"/>
          <p:cNvSpPr/>
          <p:nvPr/>
        </p:nvSpPr>
        <p:spPr>
          <a:xfrm>
            <a:off x="9406661"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406661"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Regimes &amp; policy</a:t>
            </a:r>
          </a:p>
        </p:txBody>
      </p:sp>
      <p:sp>
        <p:nvSpPr>
          <p:cNvPr id="32" name="Rectangle 31"/>
          <p:cNvSpPr/>
          <p:nvPr/>
        </p:nvSpPr>
        <p:spPr>
          <a:xfrm>
            <a:off x="3794759"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3794759"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Lifecycle</a:t>
            </a:r>
          </a:p>
        </p:txBody>
      </p:sp>
      <p:sp>
        <p:nvSpPr>
          <p:cNvPr id="34" name="Rectangle 33"/>
          <p:cNvSpPr/>
          <p:nvPr/>
        </p:nvSpPr>
        <p:spPr>
          <a:xfrm>
            <a:off x="5665393"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5665393"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Validation</a:t>
            </a:r>
          </a:p>
        </p:txBody>
      </p:sp>
      <p:sp>
        <p:nvSpPr>
          <p:cNvPr id="36" name="Rectangle 35"/>
          <p:cNvSpPr/>
          <p:nvPr/>
        </p:nvSpPr>
        <p:spPr>
          <a:xfrm>
            <a:off x="7536027"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7536027"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Doc compiler</a:t>
            </a:r>
          </a:p>
        </p:txBody>
      </p:sp>
      <p:sp>
        <p:nvSpPr>
          <p:cNvPr id="38" name="Rectangle 37"/>
          <p:cNvSpPr/>
          <p:nvPr/>
        </p:nvSpPr>
        <p:spPr>
          <a:xfrm>
            <a:off x="9406661"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406661"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Overlays</a:t>
            </a:r>
          </a:p>
        </p:txBody>
      </p:sp>
      <p:sp>
        <p:nvSpPr>
          <p:cNvPr id="40" name="Rectangle 39"/>
          <p:cNvSpPr/>
          <p:nvPr/>
        </p:nvSpPr>
        <p:spPr>
          <a:xfrm>
            <a:off x="777240" y="29077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2907792"/>
            <a:ext cx="45720" cy="566928"/>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96695" y="29992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D5016"/>
                </a:solidFill>
                <a:latin typeface="Calibri"/>
              </a:rPr>
              <a:t>Data &amp; execution</a:t>
            </a:r>
          </a:p>
        </p:txBody>
      </p:sp>
      <p:sp>
        <p:nvSpPr>
          <p:cNvPr id="43" name="Rectangle 42"/>
          <p:cNvSpPr/>
          <p:nvPr/>
        </p:nvSpPr>
        <p:spPr>
          <a:xfrm>
            <a:off x="3794759"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94759"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Feature platform</a:t>
            </a:r>
          </a:p>
        </p:txBody>
      </p:sp>
      <p:sp>
        <p:nvSpPr>
          <p:cNvPr id="45" name="Rectangle 44"/>
          <p:cNvSpPr/>
          <p:nvPr/>
        </p:nvSpPr>
        <p:spPr>
          <a:xfrm>
            <a:off x="5665393"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65393"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Monitoring</a:t>
            </a:r>
          </a:p>
        </p:txBody>
      </p:sp>
      <p:sp>
        <p:nvSpPr>
          <p:cNvPr id="47" name="Rectangle 46"/>
          <p:cNvSpPr/>
          <p:nvPr/>
        </p:nvSpPr>
        <p:spPr>
          <a:xfrm>
            <a:off x="7536027"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36027"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Warrant service</a:t>
            </a:r>
          </a:p>
        </p:txBody>
      </p:sp>
      <p:sp>
        <p:nvSpPr>
          <p:cNvPr id="49" name="Rectangle 48"/>
          <p:cNvSpPr/>
          <p:nvPr/>
        </p:nvSpPr>
        <p:spPr>
          <a:xfrm>
            <a:off x="9406661"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6661"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Machine assistance</a:t>
            </a:r>
          </a:p>
        </p:txBody>
      </p:sp>
      <p:sp>
        <p:nvSpPr>
          <p:cNvPr id="51" name="Rectangle 50"/>
          <p:cNvSpPr/>
          <p:nvPr/>
        </p:nvSpPr>
        <p:spPr>
          <a:xfrm>
            <a:off x="777240" y="35935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593592"/>
            <a:ext cx="45720"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96695" y="36850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1F3A5F"/>
                </a:solidFill>
                <a:latin typeface="Calibri"/>
              </a:rPr>
              <a:t>Core domain — no I/O, no framework</a:t>
            </a:r>
          </a:p>
        </p:txBody>
      </p:sp>
      <p:sp>
        <p:nvSpPr>
          <p:cNvPr id="54" name="Rectangle 53"/>
          <p:cNvSpPr/>
          <p:nvPr/>
        </p:nvSpPr>
        <p:spPr>
          <a:xfrm>
            <a:off x="3794759"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94759"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algebra</a:t>
            </a:r>
          </a:p>
        </p:txBody>
      </p:sp>
      <p:sp>
        <p:nvSpPr>
          <p:cNvPr id="56" name="Rectangle 55"/>
          <p:cNvSpPr/>
          <p:nvPr/>
        </p:nvSpPr>
        <p:spPr>
          <a:xfrm>
            <a:off x="5665393"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65393"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contracts</a:t>
            </a:r>
          </a:p>
        </p:txBody>
      </p:sp>
      <p:sp>
        <p:nvSpPr>
          <p:cNvPr id="58" name="Rectangle 57"/>
          <p:cNvSpPr/>
          <p:nvPr/>
        </p:nvSpPr>
        <p:spPr>
          <a:xfrm>
            <a:off x="7536027"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36027"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schemas</a:t>
            </a:r>
          </a:p>
        </p:txBody>
      </p:sp>
      <p:sp>
        <p:nvSpPr>
          <p:cNvPr id="60" name="Rectangle 59"/>
          <p:cNvSpPr/>
          <p:nvPr/>
        </p:nvSpPr>
        <p:spPr>
          <a:xfrm>
            <a:off x="9406661"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6661"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identity</a:t>
            </a:r>
          </a:p>
        </p:txBody>
      </p:sp>
      <p:sp>
        <p:nvSpPr>
          <p:cNvPr id="62" name="Rectangle 61"/>
          <p:cNvSpPr/>
          <p:nvPr/>
        </p:nvSpPr>
        <p:spPr>
          <a:xfrm>
            <a:off x="3794759" y="39867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94759" y="40279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lattice</a:t>
            </a:r>
          </a:p>
        </p:txBody>
      </p:sp>
      <p:sp>
        <p:nvSpPr>
          <p:cNvPr id="64" name="Rectangle 63"/>
          <p:cNvSpPr/>
          <p:nvPr/>
        </p:nvSpPr>
        <p:spPr>
          <a:xfrm>
            <a:off x="777240" y="42793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Rectangle 64"/>
          <p:cNvSpPr/>
          <p:nvPr/>
        </p:nvSpPr>
        <p:spPr>
          <a:xfrm>
            <a:off x="777240" y="4279392"/>
            <a:ext cx="45720" cy="566928"/>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6" name="TextBox 65"/>
          <p:cNvSpPr txBox="1"/>
          <p:nvPr/>
        </p:nvSpPr>
        <p:spPr>
          <a:xfrm>
            <a:off x="996695" y="4370831"/>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4A3A1F"/>
                </a:solidFill>
                <a:latin typeface="Calibri"/>
              </a:rPr>
              <a:t>Platform</a:t>
            </a:r>
          </a:p>
        </p:txBody>
      </p:sp>
      <p:sp>
        <p:nvSpPr>
          <p:cNvPr id="67" name="Rectangle 66"/>
          <p:cNvSpPr/>
          <p:nvPr/>
        </p:nvSpPr>
        <p:spPr>
          <a:xfrm>
            <a:off x="3794759"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8" name="TextBox 67"/>
          <p:cNvSpPr txBox="1"/>
          <p:nvPr/>
        </p:nvSpPr>
        <p:spPr>
          <a:xfrm>
            <a:off x="3794759"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config</a:t>
            </a:r>
          </a:p>
        </p:txBody>
      </p:sp>
      <p:sp>
        <p:nvSpPr>
          <p:cNvPr id="69" name="Rectangle 68"/>
          <p:cNvSpPr/>
          <p:nvPr/>
        </p:nvSpPr>
        <p:spPr>
          <a:xfrm>
            <a:off x="5665393"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0" name="TextBox 69"/>
          <p:cNvSpPr txBox="1"/>
          <p:nvPr/>
        </p:nvSpPr>
        <p:spPr>
          <a:xfrm>
            <a:off x="5665393"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db (schema + repos)</a:t>
            </a:r>
          </a:p>
        </p:txBody>
      </p:sp>
      <p:sp>
        <p:nvSpPr>
          <p:cNvPr id="71" name="Rectangle 70"/>
          <p:cNvSpPr/>
          <p:nvPr/>
        </p:nvSpPr>
        <p:spPr>
          <a:xfrm>
            <a:off x="7536027"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7536027"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core/log</a:t>
            </a:r>
          </a:p>
        </p:txBody>
      </p:sp>
      <p:sp>
        <p:nvSpPr>
          <p:cNvPr id="73" name="Rectangle 72"/>
          <p:cNvSpPr/>
          <p:nvPr/>
        </p:nvSpPr>
        <p:spPr>
          <a:xfrm>
            <a:off x="9406661"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9406661"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core/ports.py</a:t>
            </a:r>
          </a:p>
        </p:txBody>
      </p:sp>
      <p:sp>
        <p:nvSpPr>
          <p:cNvPr id="75" name="Rectangle 74"/>
          <p:cNvSpPr/>
          <p:nvPr/>
        </p:nvSpPr>
        <p:spPr>
          <a:xfrm>
            <a:off x="3794759" y="46725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3794759" y="47137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scheduler</a:t>
            </a:r>
          </a:p>
        </p:txBody>
      </p:sp>
      <p:sp>
        <p:nvSpPr>
          <p:cNvPr id="77" name="TextBox 76"/>
          <p:cNvSpPr txBox="1"/>
          <p:nvPr/>
        </p:nvSpPr>
        <p:spPr>
          <a:xfrm>
            <a:off x="777240" y="5020055"/>
            <a:ext cx="10637215" cy="5029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dependency rule, and what actually holds it. </a:t>
            </a:r>
            <a:r>
              <a:rPr sz="1100" b="0" i="0">
                <a:solidFill>
                  <a:srgbClr val="1C1C1E"/>
                </a:solidFill>
                <a:latin typeface="Calibri"/>
              </a:rPr>
              <a:t>Arrows point downward only: the core domain imports nothing from MAYA, interfaces import everything and are imported by nothing. </a:t>
            </a:r>
            <a:r>
              <a:rPr sz="1100" b="0" i="0">
                <a:solidFill>
                  <a:srgbClr val="1C1C1E"/>
                </a:solidFill>
                <a:latin typeface="Consolas"/>
              </a:rPr>
              <a:t>tests/test_import_discipline.py</a:t>
            </a:r>
            <a:r>
              <a:rPr sz="1100" b="0" i="0">
                <a:solidFill>
                  <a:srgbClr val="1C1C1E"/>
                </a:solidFill>
                <a:latin typeface="Calibri"/>
              </a:rPr>
              <a:t> walks every import and fails the suite on a crossing. It is a test, not a pipeline — this repository has no CI, no linter and no type checker, so the rule holds for as long as somebody runs pytest.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EACH COMPONENT DOES NOT OWN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Responsibility boundaries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64</a:t>
            </a:r>
          </a:p>
        </p:txBody>
      </p:sp>
      <p:graphicFrame>
        <p:nvGraphicFramePr>
          <p:cNvPr id="10" name="Table 9"/>
          <p:cNvGraphicFramePr>
            <a:graphicFrameLocks noGrp="1"/>
          </p:cNvGraphicFramePr>
          <p:nvPr/>
        </p:nvGraphicFramePr>
        <p:xfrm>
          <a:off x="777240" y="1353312"/>
          <a:ext cx="10637214" cy="3813302"/>
        </p:xfrm>
        <a:graphic>
          <a:graphicData uri="http://schemas.openxmlformats.org/drawingml/2006/table">
            <a:tbl>
              <a:tblPr firstRow="1">
                <a:tableStyleId>{5C22544A-7EE6-4342-B048-85BDC9FD1C3A}</a:tableStyleId>
              </a:tblPr>
              <a:tblGrid>
                <a:gridCol w="2200803"/>
                <a:gridCol w="4493306"/>
                <a:gridCol w="3943105"/>
              </a:tblGrid>
              <a:tr h="329184">
                <a:tc>
                  <a:txBody>
                    <a:bodyPr wrap="square"/>
                    <a:lstStyle/>
                    <a:p>
                      <a:pPr algn="l"/>
                      <a:r>
                        <a:rPr sz="1050" b="1">
                          <a:solidFill>
                            <a:srgbClr val="FFFFFF"/>
                          </a:solidFill>
                          <a:latin typeface="Calibri"/>
                        </a:rPr>
                        <a:t>Component</a:t>
                      </a:r>
                    </a:p>
                  </a:txBody>
                  <a:tcPr marL="82296" marR="64008" marT="32004" marB="32004" anchor="ctr">
                    <a:solidFill>
                      <a:srgbClr val="A51C30"/>
                    </a:solidFill>
                  </a:tcPr>
                </a:tc>
                <a:tc>
                  <a:txBody>
                    <a:bodyPr wrap="square"/>
                    <a:lstStyle/>
                    <a:p>
                      <a:pPr algn="l"/>
                      <a:r>
                        <a:rPr sz="1050" b="1">
                          <a:solidFill>
                            <a:srgbClr val="FFFFFF"/>
                          </a:solidFill>
                          <a:latin typeface="Calibri"/>
                        </a:rPr>
                        <a:t>Owns</a:t>
                      </a:r>
                    </a:p>
                  </a:txBody>
                  <a:tcPr marL="82296" marR="64008" marT="32004" marB="32004" anchor="ctr">
                    <a:solidFill>
                      <a:srgbClr val="A51C30"/>
                    </a:solidFill>
                  </a:tcPr>
                </a:tc>
                <a:tc>
                  <a:txBody>
                    <a:bodyPr wrap="square"/>
                    <a:lstStyle/>
                    <a:p>
                      <a:pPr algn="l"/>
                      <a:r>
                        <a:rPr sz="1050" b="1">
                          <a:solidFill>
                            <a:srgbClr val="FFFFFF"/>
                          </a:solidFill>
                          <a:latin typeface="Calibri"/>
                        </a:rPr>
                        <a:t>Does NOT own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Core domain</a:t>
                      </a:r>
                    </a:p>
                  </a:txBody>
                  <a:tcPr marL="82296" marR="64008" marT="32004" marB="32004" anchor="ctr">
                    <a:solidFill>
                      <a:srgbClr val="FFFFFF"/>
                    </a:solidFill>
                  </a:tcPr>
                </a:tc>
                <a:tc>
                  <a:txBody>
                    <a:bodyPr wrap="square"/>
                    <a:lstStyle/>
                    <a:p>
                      <a:pPr algn="l"/>
                      <a:r>
                        <a:rPr sz="1000" b="0">
                          <a:solidFill>
                            <a:srgbClr val="1C1C1E"/>
                          </a:solidFill>
                          <a:latin typeface="Calibri"/>
                        </a:rPr>
                        <a:t>The algebra: kernels, contracts, schema lattice, probe equivalence</a:t>
                      </a:r>
                    </a:p>
                  </a:txBody>
                  <a:tcPr marL="82296" marR="64008" marT="32004" marB="32004" anchor="ctr">
                    <a:solidFill>
                      <a:srgbClr val="FFFFFF"/>
                    </a:solidFill>
                  </a:tcPr>
                </a:tc>
                <a:tc>
                  <a:txBody>
                    <a:bodyPr wrap="square"/>
                    <a:lstStyle/>
                    <a:p>
                      <a:pPr algn="l"/>
                      <a:r>
                        <a:rPr sz="1000" b="0">
                          <a:solidFill>
                            <a:srgbClr val="1C1C1E"/>
                          </a:solidFill>
                          <a:latin typeface="Calibri"/>
                        </a:rPr>
                        <a:t>Persistence, HTTP, orchestration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Registry</a:t>
                      </a:r>
                    </a:p>
                  </a:txBody>
                  <a:tcPr marL="82296" marR="64008" marT="32004" marB="32004" anchor="ctr">
                    <a:solidFill>
                      <a:srgbClr val="F6F3EF"/>
                    </a:solidFill>
                  </a:tcPr>
                </a:tc>
                <a:tc>
                  <a:txBody>
                    <a:bodyPr wrap="square"/>
                    <a:lstStyle/>
                    <a:p>
                      <a:pPr algn="l"/>
                      <a:r>
                        <a:rPr sz="1000" b="0">
                          <a:solidFill>
                            <a:srgbClr val="1C1C1E"/>
                          </a:solidFill>
                          <a:latin typeface="Calibri"/>
                        </a:rPr>
                        <a:t>Models, versions, artifacts, aliases, fibres, introspection</a:t>
                      </a:r>
                    </a:p>
                  </a:txBody>
                  <a:tcPr marL="82296" marR="64008" marT="32004" marB="32004" anchor="ctr">
                    <a:solidFill>
                      <a:srgbClr val="F6F3EF"/>
                    </a:solidFill>
                  </a:tcPr>
                </a:tc>
                <a:tc>
                  <a:txBody>
                    <a:bodyPr wrap="square"/>
                    <a:lstStyle/>
                    <a:p>
                      <a:pPr algn="l"/>
                      <a:r>
                        <a:rPr sz="1000" b="0">
                          <a:solidFill>
                            <a:srgbClr val="1C1C1E"/>
                          </a:solidFill>
                          <a:latin typeface="Calibri"/>
                        </a:rPr>
                        <a:t>Whether a version may be promoted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engine</a:t>
                      </a:r>
                    </a:p>
                  </a:txBody>
                  <a:tcPr marL="82296" marR="64008" marT="32004" marB="32004" anchor="ctr">
                    <a:solidFill>
                      <a:srgbClr val="FFFFFF"/>
                    </a:solidFill>
                  </a:tcPr>
                </a:tc>
                <a:tc>
                  <a:txBody>
                    <a:bodyPr wrap="square"/>
                    <a:lstStyle/>
                    <a:p>
                      <a:pPr algn="l"/>
                      <a:r>
                        <a:rPr sz="1000" b="0">
                          <a:solidFill>
                            <a:srgbClr val="1C1C1E"/>
                          </a:solidFill>
                          <a:latin typeface="Calibri"/>
                        </a:rPr>
                        <a:t>The append-only chain, semiring evaluation, provenance</a:t>
                      </a:r>
                    </a:p>
                  </a:txBody>
                  <a:tcPr marL="82296" marR="64008" marT="32004" marB="32004" anchor="ctr">
                    <a:solidFill>
                      <a:srgbClr val="FFFFFF"/>
                    </a:solidFill>
                  </a:tcPr>
                </a:tc>
                <a:tc>
                  <a:txBody>
                    <a:bodyPr wrap="square"/>
                    <a:lstStyle/>
                    <a:p>
                      <a:pPr algn="l"/>
                      <a:r>
                        <a:rPr sz="1000" b="0">
                          <a:solidFill>
                            <a:srgbClr val="1C1C1E"/>
                          </a:solidFill>
                          <a:latin typeface="Calibri"/>
                        </a:rPr>
                        <a:t>What evidence means for a gate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 &amp; tiering</a:t>
                      </a:r>
                    </a:p>
                  </a:txBody>
                  <a:tcPr marL="82296" marR="64008" marT="32004" marB="32004" anchor="ctr">
                    <a:solidFill>
                      <a:srgbClr val="F6F3EF"/>
                    </a:solidFill>
                  </a:tcPr>
                </a:tc>
                <a:tc>
                  <a:txBody>
                    <a:bodyPr wrap="square"/>
                    <a:lstStyle/>
                    <a:p>
                      <a:pPr algn="l"/>
                      <a:r>
                        <a:rPr sz="1000" b="0">
                          <a:solidFill>
                            <a:srgbClr val="1C1C1E"/>
                          </a:solidFill>
                          <a:latin typeface="Calibri"/>
                        </a:rPr>
                        <a:t>The two lattices, tier derivation, control adequacy, traces</a:t>
                      </a:r>
                    </a:p>
                  </a:txBody>
                  <a:tcPr marL="82296" marR="64008" marT="32004" marB="32004" anchor="ctr">
                    <a:solidFill>
                      <a:srgbClr val="F6F3EF"/>
                    </a:solidFill>
                  </a:tcPr>
                </a:tc>
                <a:tc>
                  <a:txBody>
                    <a:bodyPr wrap="square"/>
                    <a:lstStyle/>
                    <a:p>
                      <a:pPr algn="l"/>
                      <a:r>
                        <a:rPr sz="1000" b="0">
                          <a:solidFill>
                            <a:srgbClr val="1C1C1E"/>
                          </a:solidFill>
                          <a:latin typeface="Calibri"/>
                        </a:rPr>
                        <a:t>Overriding a tier — that is workflow</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Regimes &amp; policy</a:t>
                      </a:r>
                    </a:p>
                  </a:txBody>
                  <a:tcPr marL="82296" marR="64008" marT="32004" marB="32004" anchor="ctr">
                    <a:solidFill>
                      <a:srgbClr val="FFFFFF"/>
                    </a:solidFill>
                  </a:tcPr>
                </a:tc>
                <a:tc>
                  <a:txBody>
                    <a:bodyPr wrap="square"/>
                    <a:lstStyle/>
                    <a:p>
                      <a:pPr algn="l"/>
                      <a:r>
                        <a:rPr sz="1000" b="0">
                          <a:solidFill>
                            <a:srgbClr val="1C1C1E"/>
                          </a:solidFill>
                          <a:latin typeface="Calibri"/>
                        </a:rPr>
                        <a:t>Regimes as institutions, their translations, versioned gates</a:t>
                      </a:r>
                    </a:p>
                  </a:txBody>
                  <a:tcPr marL="82296" marR="64008" marT="32004" marB="32004" anchor="ctr">
                    <a:solidFill>
                      <a:srgbClr val="FFFFFF"/>
                    </a:solidFill>
                  </a:tcPr>
                </a:tc>
                <a:tc>
                  <a:txBody>
                    <a:bodyPr wrap="square"/>
                    <a:lstStyle/>
                    <a:p>
                      <a:pPr algn="l"/>
                      <a:r>
                        <a:rPr sz="1000" b="0">
                          <a:solidFill>
                            <a:srgbClr val="1C1C1E"/>
                          </a:solidFill>
                          <a:latin typeface="Calibri"/>
                        </a:rPr>
                        <a:t>Executing a transition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Lifecycle</a:t>
                      </a:r>
                    </a:p>
                  </a:txBody>
                  <a:tcPr marL="82296" marR="64008" marT="32004" marB="32004" anchor="ctr">
                    <a:solidFill>
                      <a:srgbClr val="F6F3EF"/>
                    </a:solidFill>
                  </a:tcPr>
                </a:tc>
                <a:tc>
                  <a:txBody>
                    <a:bodyPr wrap="square"/>
                    <a:lstStyle/>
                    <a:p>
                      <a:pPr algn="l"/>
                      <a:r>
                        <a:rPr sz="1000" b="0">
                          <a:solidFill>
                            <a:srgbClr val="1C1C1E"/>
                          </a:solidFill>
                          <a:latin typeface="Calibri"/>
                        </a:rPr>
                        <a:t>State machines, transitions, approvals, segregation of duties</a:t>
                      </a:r>
                    </a:p>
                  </a:txBody>
                  <a:tcPr marL="82296" marR="64008" marT="32004" marB="32004" anchor="ctr">
                    <a:solidFill>
                      <a:srgbClr val="F6F3EF"/>
                    </a:solidFill>
                  </a:tcPr>
                </a:tc>
                <a:tc>
                  <a:txBody>
                    <a:bodyPr wrap="square"/>
                    <a:lstStyle/>
                    <a:p>
                      <a:pPr algn="l"/>
                      <a:r>
                        <a:rPr sz="1000" b="0">
                          <a:solidFill>
                            <a:srgbClr val="1C1C1E"/>
                          </a:solidFill>
                          <a:latin typeface="Calibri"/>
                        </a:rPr>
                        <a:t>Guard content — that is policy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Plans, test execution, findings, remediation</a:t>
                      </a:r>
                    </a:p>
                  </a:txBody>
                  <a:tcPr marL="82296" marR="64008" marT="32004" marB="32004" anchor="ctr">
                    <a:solidFill>
                      <a:srgbClr val="FFFFFF"/>
                    </a:solidFill>
                  </a:tcPr>
                </a:tc>
                <a:tc>
                  <a:txBody>
                    <a:bodyPr wrap="square"/>
                    <a:lstStyle/>
                    <a:p>
                      <a:pPr algn="l"/>
                      <a:r>
                        <a:rPr sz="1000" b="0">
                          <a:solidFill>
                            <a:srgbClr val="1C1C1E"/>
                          </a:solidFill>
                          <a:latin typeface="Calibri"/>
                        </a:rPr>
                        <a:t>Computing metrics at scale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platform</a:t>
                      </a:r>
                    </a:p>
                  </a:txBody>
                  <a:tcPr marL="82296" marR="64008" marT="32004" marB="32004" anchor="ctr">
                    <a:solidFill>
                      <a:srgbClr val="F6F3EF"/>
                    </a:solidFill>
                  </a:tcPr>
                </a:tc>
                <a:tc>
                  <a:txBody>
                    <a:bodyPr wrap="square"/>
                    <a:lstStyle/>
                    <a:p>
                      <a:pPr algn="l"/>
                      <a:r>
                        <a:rPr sz="1000" b="0">
                          <a:solidFill>
                            <a:srgbClr val="1C1C1E"/>
                          </a:solidFill>
                          <a:latin typeface="Calibri"/>
                        </a:rPr>
                        <a:t>Registry, materialisation, PIT, contracts, skew</a:t>
                      </a:r>
                    </a:p>
                  </a:txBody>
                  <a:tcPr marL="82296" marR="64008" marT="32004" marB="32004" anchor="ctr">
                    <a:solidFill>
                      <a:srgbClr val="F6F3EF"/>
                    </a:solidFill>
                  </a:tcPr>
                </a:tc>
                <a:tc>
                  <a:txBody>
                    <a:bodyPr wrap="square"/>
                    <a:lstStyle/>
                    <a:p>
                      <a:pPr algn="l"/>
                      <a:r>
                        <a:rPr sz="1000" b="0">
                          <a:solidFill>
                            <a:srgbClr val="1C1C1E"/>
                          </a:solidFill>
                          <a:latin typeface="Calibri"/>
                        </a:rPr>
                        <a:t>Model semantics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 definitions, evaluation, breaches, health</a:t>
                      </a:r>
                    </a:p>
                  </a:txBody>
                  <a:tcPr marL="82296" marR="64008" marT="32004" marB="32004" anchor="ctr">
                    <a:solidFill>
                      <a:srgbClr val="FFFFFF"/>
                    </a:solidFill>
                  </a:tcPr>
                </a:tc>
                <a:tc>
                  <a:txBody>
                    <a:bodyPr wrap="square"/>
                    <a:lstStyle/>
                    <a:p>
                      <a:pPr algn="l"/>
                      <a:r>
                        <a:rPr sz="1000" b="0">
                          <a:solidFill>
                            <a:srgbClr val="1C1C1E"/>
                          </a:solidFill>
                          <a:latin typeface="Calibri"/>
                        </a:rPr>
                        <a:t>Deciding consequences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service</a:t>
                      </a:r>
                    </a:p>
                  </a:txBody>
                  <a:tcPr marL="82296" marR="64008" marT="32004" marB="32004" anchor="ctr">
                    <a:solidFill>
                      <a:srgbClr val="F6F3EF"/>
                    </a:solidFill>
                  </a:tcPr>
                </a:tc>
                <a:tc>
                  <a:txBody>
                    <a:bodyPr wrap="square"/>
                    <a:lstStyle/>
                    <a:p>
                      <a:pPr algn="l"/>
                      <a:r>
                        <a:rPr sz="1000" b="0">
                          <a:solidFill>
                            <a:srgbClr val="1C1C1E"/>
                          </a:solidFill>
                          <a:latin typeface="Calibri"/>
                        </a:rPr>
                        <a:t>Resolution, signing, revocation, telemetry ingest</a:t>
                      </a:r>
                    </a:p>
                  </a:txBody>
                  <a:tcPr marL="82296" marR="64008" marT="32004" marB="32004" anchor="ctr">
                    <a:solidFill>
                      <a:srgbClr val="F6F3EF"/>
                    </a:solidFill>
                  </a:tcPr>
                </a:tc>
                <a:tc>
                  <a:txBody>
                    <a:bodyPr wrap="square"/>
                    <a:lstStyle/>
                    <a:p>
                      <a:pPr algn="l"/>
                      <a:r>
                        <a:rPr sz="1000" b="0">
                          <a:solidFill>
                            <a:srgbClr val="1C1C1E"/>
                          </a:solidFill>
                          <a:latin typeface="Calibri"/>
                        </a:rPr>
                        <a:t>Any governance decision — it reads a projection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Machine assistance</a:t>
                      </a:r>
                    </a:p>
                  </a:txBody>
                  <a:tcPr marL="82296" marR="64008" marT="32004" marB="32004" anchor="ctr">
                    <a:solidFill>
                      <a:srgbClr val="FFFFFF"/>
                    </a:solidFill>
                  </a:tcPr>
                </a:tc>
                <a:tc>
                  <a:txBody>
                    <a:bodyPr wrap="square"/>
                    <a:lstStyle/>
                    <a:p>
                      <a:pPr algn="l"/>
                      <a:r>
                        <a:rPr sz="1000" b="0">
                          <a:solidFill>
                            <a:srgbClr val="1C1C1E"/>
                          </a:solidFill>
                          <a:latin typeface="Calibri"/>
                        </a:rPr>
                        <a:t>Capabilities, grounding, citation checking, oracles</a:t>
                      </a:r>
                    </a:p>
                  </a:txBody>
                  <a:tcPr marL="82296" marR="64008" marT="32004" marB="32004" anchor="ctr">
                    <a:solidFill>
                      <a:srgbClr val="FFFFFF"/>
                    </a:solidFill>
                  </a:tcPr>
                </a:tc>
                <a:tc>
                  <a:txBody>
                    <a:bodyPr wrap="square"/>
                    <a:lstStyle/>
                    <a:p>
                      <a:pPr algn="l"/>
                      <a:r>
                        <a:rPr sz="1000" b="0">
                          <a:solidFill>
                            <a:srgbClr val="1C1C1E"/>
                          </a:solidFill>
                          <a:latin typeface="Calibri"/>
                        </a:rPr>
                        <a:t>Any governance state transition</a:t>
                      </a:r>
                    </a:p>
                  </a:txBody>
                  <a:tcPr marL="82296" marR="64008" marT="32004" marB="32004" anchor="ctr">
                    <a:solidFill>
                      <a:srgbClr val="FFFFFF"/>
                    </a:solidFill>
                  </a:tcPr>
                </a:tc>
              </a:tr>
            </a:tbl>
          </a:graphicData>
        </a:graphic>
      </p:graphicFrame>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BINDS EVERY COMPONENT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design rules, and what enforces each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65</a:t>
            </a:r>
          </a:p>
        </p:txBody>
      </p:sp>
      <p:sp>
        <p:nvSpPr>
          <p:cNvPr id="10" name="Rectangle 9"/>
          <p:cNvSpPr/>
          <p:nvPr/>
        </p:nvSpPr>
        <p:spPr>
          <a:xfrm>
            <a:off x="777240"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DR-1</a:t>
            </a:r>
          </a:p>
        </p:txBody>
      </p:sp>
      <p:sp>
        <p:nvSpPr>
          <p:cNvPr id="13" name="TextBox 12"/>
          <p:cNvSpPr txBox="1"/>
          <p:nvPr/>
        </p:nvSpPr>
        <p:spPr>
          <a:xfrm>
            <a:off x="99669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Ports, not internals</a:t>
            </a:r>
          </a:p>
        </p:txBody>
      </p:sp>
      <p:sp>
        <p:nvSpPr>
          <p:cNvPr id="14" name="TextBox 13"/>
          <p:cNvSpPr txBox="1"/>
          <p:nvPr/>
        </p:nvSpPr>
        <p:spPr>
          <a:xfrm>
            <a:off x="99669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component is consumed through a Protocol in core/ports.py, never through another component's internals.</a:t>
            </a:r>
          </a:p>
        </p:txBody>
      </p:sp>
      <p:sp>
        <p:nvSpPr>
          <p:cNvPr id="15" name="Rectangle 14"/>
          <p:cNvSpPr/>
          <p:nvPr/>
        </p:nvSpPr>
        <p:spPr>
          <a:xfrm>
            <a:off x="349597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DR-2</a:t>
            </a:r>
          </a:p>
        </p:txBody>
      </p:sp>
      <p:sp>
        <p:nvSpPr>
          <p:cNvPr id="18" name="TextBox 17"/>
          <p:cNvSpPr txBox="1"/>
          <p:nvPr/>
        </p:nvSpPr>
        <p:spPr>
          <a:xfrm>
            <a:off x="371543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Domain is pure</a:t>
            </a:r>
          </a:p>
        </p:txBody>
      </p:sp>
      <p:sp>
        <p:nvSpPr>
          <p:cNvPr id="19" name="TextBox 18"/>
          <p:cNvSpPr txBox="1"/>
          <p:nvPr/>
        </p:nvSpPr>
        <p:spPr>
          <a:xfrm>
            <a:off x="3715435" y="2157984"/>
            <a:ext cx="2042083"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Domain logic is synchronous and side-effect free; I/O lives in adapters at the edge. The one rule with a test.</a:t>
            </a:r>
          </a:p>
        </p:txBody>
      </p:sp>
      <p:sp>
        <p:nvSpPr>
          <p:cNvPr id="20" name="Rectangle 19"/>
          <p:cNvSpPr/>
          <p:nvPr/>
        </p:nvSpPr>
        <p:spPr>
          <a:xfrm>
            <a:off x="621471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DR-3</a:t>
            </a:r>
          </a:p>
        </p:txBody>
      </p:sp>
      <p:sp>
        <p:nvSpPr>
          <p:cNvPr id="23" name="TextBox 22"/>
          <p:cNvSpPr txBox="1"/>
          <p:nvPr/>
        </p:nvSpPr>
        <p:spPr>
          <a:xfrm>
            <a:off x="643417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Idempotent where claimed</a:t>
            </a:r>
          </a:p>
        </p:txBody>
      </p:sp>
      <p:sp>
        <p:nvSpPr>
          <p:cNvPr id="24" name="TextBox 23"/>
          <p:cNvSpPr txBox="1"/>
          <p:nvPr/>
        </p:nvSpPr>
        <p:spPr>
          <a:xfrm>
            <a:off x="643417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There is no Idempotency-Key header. Idempotency is per path, from a natural key: a redelivered telemetry batch and a re-run anchor write nothing.</a:t>
            </a:r>
          </a:p>
        </p:txBody>
      </p:sp>
      <p:sp>
        <p:nvSpPr>
          <p:cNvPr id="25" name="Rectangle 24"/>
          <p:cNvSpPr/>
          <p:nvPr/>
        </p:nvSpPr>
        <p:spPr>
          <a:xfrm>
            <a:off x="893345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DR-4</a:t>
            </a:r>
          </a:p>
        </p:txBody>
      </p:sp>
      <p:sp>
        <p:nvSpPr>
          <p:cNvPr id="28" name="TextBox 27"/>
          <p:cNvSpPr txBox="1"/>
          <p:nvPr/>
        </p:nvSpPr>
        <p:spPr>
          <a:xfrm>
            <a:off x="915291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Derivations are written</a:t>
            </a:r>
          </a:p>
        </p:txBody>
      </p:sp>
      <p:sp>
        <p:nvSpPr>
          <p:cNvPr id="29" name="TextBox 28"/>
          <p:cNvSpPr txBox="1"/>
          <p:nvPr/>
        </p:nvSpPr>
        <p:spPr>
          <a:xfrm>
            <a:off x="915291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derived value is persisted with its derivation record — the tier rationale, the alias proof, the PIT report.</a:t>
            </a:r>
          </a:p>
        </p:txBody>
      </p:sp>
      <p:sp>
        <p:nvSpPr>
          <p:cNvPr id="30" name="Rectangle 29"/>
          <p:cNvSpPr/>
          <p:nvPr/>
        </p:nvSpPr>
        <p:spPr>
          <a:xfrm>
            <a:off x="777240"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DR-5</a:t>
            </a:r>
          </a:p>
        </p:txBody>
      </p:sp>
      <p:sp>
        <p:nvSpPr>
          <p:cNvPr id="33" name="TextBox 32"/>
          <p:cNvSpPr txBox="1"/>
          <p:nvPr/>
        </p:nvSpPr>
        <p:spPr>
          <a:xfrm>
            <a:off x="996695" y="3950207"/>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One transaction owner</a:t>
            </a:r>
          </a:p>
        </p:txBody>
      </p:sp>
      <p:sp>
        <p:nvSpPr>
          <p:cNvPr id="34" name="TextBox 33"/>
          <p:cNvSpPr txBox="1"/>
          <p:nvPr/>
        </p:nvSpPr>
        <p:spPr>
          <a:xfrm>
            <a:off x="996695" y="4453127"/>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db/database.py owns the only re-entrant transaction(). The evidence append is its one caller, because read-the-head-then-insert is why it exists.</a:t>
            </a:r>
          </a:p>
        </p:txBody>
      </p:sp>
      <p:sp>
        <p:nvSpPr>
          <p:cNvPr id="35" name="Rectangle 34"/>
          <p:cNvSpPr/>
          <p:nvPr/>
        </p:nvSpPr>
        <p:spPr>
          <a:xfrm>
            <a:off x="3495979"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3495979"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371543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DR-6</a:t>
            </a:r>
          </a:p>
        </p:txBody>
      </p:sp>
      <p:sp>
        <p:nvSpPr>
          <p:cNvPr id="38" name="TextBox 37"/>
          <p:cNvSpPr txBox="1"/>
          <p:nvPr/>
        </p:nvSpPr>
        <p:spPr>
          <a:xfrm>
            <a:off x="3715435" y="3950207"/>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 bare failures</a:t>
            </a:r>
          </a:p>
        </p:txBody>
      </p:sp>
      <p:sp>
        <p:nvSpPr>
          <p:cNvPr id="39" name="TextBox 38"/>
          <p:cNvSpPr txBox="1"/>
          <p:nvPr/>
        </p:nvSpPr>
        <p:spPr>
          <a:xfrm>
            <a:off x="3715435" y="4261103"/>
            <a:ext cx="2042083"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Each subsystem's common.py defines its error with a code and as_problem(). Never an unmapped 500.</a:t>
            </a:r>
          </a:p>
        </p:txBody>
      </p:sp>
      <p:sp>
        <p:nvSpPr>
          <p:cNvPr id="40" name="Rectangle 39"/>
          <p:cNvSpPr/>
          <p:nvPr/>
        </p:nvSpPr>
        <p:spPr>
          <a:xfrm>
            <a:off x="6214719"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6214719"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643417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DR-7</a:t>
            </a:r>
          </a:p>
        </p:txBody>
      </p:sp>
      <p:sp>
        <p:nvSpPr>
          <p:cNvPr id="43" name="TextBox 42"/>
          <p:cNvSpPr txBox="1"/>
          <p:nvPr/>
        </p:nvSpPr>
        <p:spPr>
          <a:xfrm>
            <a:off x="6434175" y="3950207"/>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Blocking must explain</a:t>
            </a:r>
          </a:p>
        </p:txBody>
      </p:sp>
      <p:sp>
        <p:nvSpPr>
          <p:cNvPr id="44" name="TextBox 43"/>
          <p:cNvSpPr txBox="1"/>
          <p:nvPr/>
        </p:nvSpPr>
        <p:spPr>
          <a:xfrm>
            <a:off x="6434175" y="4453127"/>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Anything that blocks a user returns why, and a remediation string saying what would unblock it.</a:t>
            </a:r>
          </a:p>
        </p:txBody>
      </p:sp>
      <p:sp>
        <p:nvSpPr>
          <p:cNvPr id="45" name="Rectangle 44"/>
          <p:cNvSpPr/>
          <p:nvPr/>
        </p:nvSpPr>
        <p:spPr>
          <a:xfrm>
            <a:off x="8933459" y="3456432"/>
            <a:ext cx="2480995" cy="1920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Rectangle 45"/>
          <p:cNvSpPr/>
          <p:nvPr/>
        </p:nvSpPr>
        <p:spPr>
          <a:xfrm>
            <a:off x="8933459" y="3456432"/>
            <a:ext cx="41148" cy="1920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7" name="TextBox 46"/>
          <p:cNvSpPr txBox="1"/>
          <p:nvPr/>
        </p:nvSpPr>
        <p:spPr>
          <a:xfrm>
            <a:off x="9171203" y="3575303"/>
            <a:ext cx="2023795" cy="1700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Six are conventions. </a:t>
            </a:r>
            <a:r>
              <a:rPr sz="1050" b="0" i="0">
                <a:solidFill>
                  <a:srgbClr val="1C1C1E"/>
                </a:solidFill>
                <a:latin typeface="Calibri"/>
              </a:rPr>
              <a:t>Only DR-2 is mechanised. The rest are held by review — indistinguishable from enforcement until somebody does not keep one.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DEPLOYMENT</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Process model — one process today, five units by design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66</a:t>
            </a:r>
          </a:p>
        </p:txBody>
      </p:sp>
      <p:graphicFrame>
        <p:nvGraphicFramePr>
          <p:cNvPr id="10" name="Table 9"/>
          <p:cNvGraphicFramePr>
            <a:graphicFrameLocks noGrp="1"/>
          </p:cNvGraphicFramePr>
          <p:nvPr/>
        </p:nvGraphicFramePr>
        <p:xfrm>
          <a:off x="777240" y="1764792"/>
          <a:ext cx="10637212" cy="2687674"/>
        </p:xfrm>
        <a:graphic>
          <a:graphicData uri="http://schemas.openxmlformats.org/drawingml/2006/table">
            <a:tbl>
              <a:tblPr firstRow="1">
                <a:tableStyleId>{5C22544A-7EE6-4342-B048-85BDC9FD1C3A}</a:tableStyleId>
              </a:tblPr>
              <a:tblGrid>
                <a:gridCol w="2092566"/>
                <a:gridCol w="2005376"/>
                <a:gridCol w="4446704"/>
                <a:gridCol w="2092566"/>
              </a:tblGrid>
              <a:tr h="333781">
                <a:tc>
                  <a:txBody>
                    <a:bodyPr wrap="square"/>
                    <a:lstStyle/>
                    <a:p>
                      <a:pPr algn="l"/>
                      <a:r>
                        <a:rPr sz="1100" b="1">
                          <a:solidFill>
                            <a:srgbClr val="FFFFFF"/>
                          </a:solidFill>
                          <a:latin typeface="Calibri"/>
                        </a:rPr>
                        <a:t>Unit</a:t>
                      </a:r>
                    </a:p>
                  </a:txBody>
                  <a:tcPr marL="82296" marR="64008" marT="32004" marB="32004" anchor="ctr">
                    <a:solidFill>
                      <a:srgbClr val="A51C30"/>
                    </a:solidFill>
                  </a:tcPr>
                </a:tc>
                <a:tc>
                  <a:txBody>
                    <a:bodyPr wrap="square"/>
                    <a:lstStyle/>
                    <a:p>
                      <a:pPr algn="l"/>
                      <a:r>
                        <a:rPr sz="1100" b="1">
                          <a:solidFill>
                            <a:srgbClr val="FFFFFF"/>
                          </a:solidFill>
                          <a:latin typeface="Calibri"/>
                        </a:rPr>
                        <a:t>Status</a:t>
                      </a:r>
                    </a:p>
                  </a:txBody>
                  <a:tcPr marL="82296" marR="64008" marT="32004" marB="32004" anchor="ctr">
                    <a:solidFill>
                      <a:srgbClr val="A51C30"/>
                    </a:solidFill>
                  </a:tcPr>
                </a:tc>
                <a:tc>
                  <a:txBody>
                    <a:bodyPr wrap="square"/>
                    <a:lstStyle/>
                    <a:p>
                      <a:pPr algn="l"/>
                      <a:r>
                        <a:rPr sz="1100" b="1">
                          <a:solidFill>
                            <a:srgbClr val="FFFFFF"/>
                          </a:solidFill>
                          <a:latin typeface="Calibri"/>
                        </a:rPr>
                        <a:t>Why it is separate</a:t>
                      </a:r>
                    </a:p>
                  </a:txBody>
                  <a:tcPr marL="82296" marR="64008" marT="32004" marB="32004" anchor="ctr">
                    <a:solidFill>
                      <a:srgbClr val="A51C30"/>
                    </a:solidFill>
                  </a:tcPr>
                </a:tc>
                <a:tc>
                  <a:txBody>
                    <a:bodyPr wrap="square"/>
                    <a:lstStyle/>
                    <a:p>
                      <a:pPr algn="l"/>
                      <a:r>
                        <a:rPr sz="1100" b="1">
                          <a:solidFill>
                            <a:srgbClr val="FFFFFF"/>
                          </a:solidFill>
                          <a:latin typeface="Calibri"/>
                        </a:rPr>
                        <a:t>Fails independently?</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Flask app (routes/)</a:t>
                      </a:r>
                    </a:p>
                  </a:txBody>
                  <a:tcPr marL="82296" marR="64008" marT="32004" marB="32004" anchor="ctr">
                    <a:solidFill>
                      <a:srgbClr val="FFFFFF"/>
                    </a:solidFill>
                  </a:tcPr>
                </a:tc>
                <a:tc>
                  <a:txBody>
                    <a:bodyPr wrap="square"/>
                    <a:lstStyle/>
                    <a:p>
                      <a:pPr algn="l"/>
                      <a:r>
                        <a:rPr sz="1050" b="0">
                          <a:solidFill>
                            <a:srgbClr val="1C1C1E"/>
                          </a:solidFill>
                          <a:latin typeface="Calibri"/>
                        </a:rPr>
                        <a:t>Built — one process</a:t>
                      </a:r>
                    </a:p>
                  </a:txBody>
                  <a:tcPr marL="82296" marR="64008" marT="32004" marB="32004" anchor="ctr">
                    <a:solidFill>
                      <a:srgbClr val="FFFFFF"/>
                    </a:solidFill>
                  </a:tcPr>
                </a:tc>
                <a:tc>
                  <a:txBody>
                    <a:bodyPr wrap="square"/>
                    <a:lstStyle/>
                    <a:p>
                      <a:pPr algn="l"/>
                      <a:r>
                        <a:rPr sz="1050" b="0">
                          <a:solidFill>
                            <a:srgbClr val="1C1C1E"/>
                          </a:solidFill>
                          <a:latin typeface="Calibri"/>
                        </a:rPr>
                        <a:t>UI and REST API v1 are served by the same app; the API is the only interface</a:t>
                      </a:r>
                    </a:p>
                  </a:txBody>
                  <a:tcPr marL="82296" marR="64008" marT="32004" marB="32004" anchor="ctr">
                    <a:solidFill>
                      <a:srgbClr val="FFFFFF"/>
                    </a:solidFill>
                  </a:tcPr>
                </a:tc>
                <a:tc>
                  <a:txBody>
                    <a:bodyPr wrap="square"/>
                    <a:lstStyle/>
                    <a:p>
                      <a:pPr algn="l"/>
                      <a:r>
                        <a:rPr sz="1050" b="0">
                          <a:solidFill>
                            <a:srgbClr val="1C1C1E"/>
                          </a:solidFill>
                          <a:latin typeface="Calibri"/>
                        </a:rPr>
                        <a:t>—</a:t>
                      </a:r>
                    </a:p>
                  </a:txBody>
                  <a:tcPr marL="82296" marR="64008" marT="32004" marB="32004" anchor="ctr">
                    <a:solidFill>
                      <a:srgbClr val="FFFFFF"/>
                    </a:solidFill>
                  </a:tcPr>
                </a:tc>
              </a:tr>
              <a:tr h="420624">
                <a:tc>
                  <a:txBody>
                    <a:bodyPr wrap="square"/>
                    <a:lstStyle/>
                    <a:p>
                      <a:pPr algn="l"/>
                      <a:r>
                        <a:rPr sz="1050" b="1">
                          <a:solidFill>
                            <a:srgbClr val="A51C30"/>
                          </a:solidFill>
                          <a:latin typeface="Calibri"/>
                        </a:rPr>
                        <a:t>Scheduler loop</a:t>
                      </a:r>
                    </a:p>
                  </a:txBody>
                  <a:tcPr marL="82296" marR="64008" marT="32004" marB="32004" anchor="ctr">
                    <a:solidFill>
                      <a:srgbClr val="F6F3EF"/>
                    </a:solidFill>
                  </a:tcPr>
                </a:tc>
                <a:tc>
                  <a:txBody>
                    <a:bodyPr wrap="square"/>
                    <a:lstStyle/>
                    <a:p>
                      <a:pPr algn="l"/>
                      <a:r>
                        <a:rPr sz="1050" b="0">
                          <a:solidFill>
                            <a:srgbClr val="1C1C1E"/>
                          </a:solidFill>
                          <a:latin typeface="Calibri"/>
                        </a:rPr>
                        <a:t>Built — in-process thread</a:t>
                      </a:r>
                    </a:p>
                  </a:txBody>
                  <a:tcPr marL="82296" marR="64008" marT="32004" marB="32004" anchor="ctr">
                    <a:solidFill>
                      <a:srgbClr val="F6F3EF"/>
                    </a:solidFill>
                  </a:tcPr>
                </a:tc>
                <a:tc>
                  <a:txBody>
                    <a:bodyPr wrap="square"/>
                    <a:lstStyle/>
                    <a:p>
                      <a:pPr algn="l"/>
                      <a:r>
                        <a:rPr sz="1050" b="0">
                          <a:solidFill>
                            <a:srgbClr val="1C1C1E"/>
                          </a:solidFill>
                          <a:latin typeface="Calibri"/>
                        </a:rPr>
                        <a:t>Fourteen jobs on a timer, off by default and enabled in config</a:t>
                      </a:r>
                    </a:p>
                  </a:txBody>
                  <a:tcPr marL="82296" marR="64008" marT="32004" marB="32004" anchor="ctr">
                    <a:solidFill>
                      <a:srgbClr val="F6F3EF"/>
                    </a:solidFill>
                  </a:tcPr>
                </a:tc>
                <a:tc>
                  <a:txBody>
                    <a:bodyPr wrap="square"/>
                    <a:lstStyle/>
                    <a:p>
                      <a:pPr algn="l"/>
                      <a:r>
                        <a:rPr sz="1050" b="0">
                          <a:solidFill>
                            <a:srgbClr val="1C1C1E"/>
                          </a:solidFill>
                          <a:latin typeface="Calibri"/>
                        </a:rPr>
                        <a:t>No — shares the process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Sandbox child</a:t>
                      </a:r>
                    </a:p>
                  </a:txBody>
                  <a:tcPr marL="82296" marR="64008" marT="32004" marB="32004" anchor="ctr">
                    <a:solidFill>
                      <a:srgbClr val="FFFFFF"/>
                    </a:solidFill>
                  </a:tcPr>
                </a:tc>
                <a:tc>
                  <a:txBody>
                    <a:bodyPr wrap="square"/>
                    <a:lstStyle/>
                    <a:p>
                      <a:pPr algn="l"/>
                      <a:r>
                        <a:rPr sz="1050" b="0">
                          <a:solidFill>
                            <a:srgbClr val="1C1C1E"/>
                          </a:solidFill>
                          <a:latin typeface="Calibri"/>
                        </a:rPr>
                        <a:t>Built — fork + rlimits</a:t>
                      </a:r>
                    </a:p>
                  </a:txBody>
                  <a:tcPr marL="82296" marR="64008" marT="32004" marB="32004" anchor="ctr">
                    <a:solidFill>
                      <a:srgbClr val="FFFFFF"/>
                    </a:solidFill>
                  </a:tcPr>
                </a:tc>
                <a:tc>
                  <a:txBody>
                    <a:bodyPr wrap="square"/>
                    <a:lstStyle/>
                    <a:p>
                      <a:pPr algn="l"/>
                      <a:r>
                        <a:rPr sz="1050" b="0">
                          <a:solidFill>
                            <a:srgbClr val="1C1C1E"/>
                          </a:solidFill>
                          <a:latin typeface="Calibri"/>
                        </a:rPr>
                        <a:t>An artifact's bugs must not become the platform's; CPU and address space bounded</a:t>
                      </a:r>
                    </a:p>
                  </a:txBody>
                  <a:tcPr marL="82296" marR="64008" marT="32004" marB="32004" anchor="ctr">
                    <a:solidFill>
                      <a:srgbClr val="FFFFFF"/>
                    </a:solidFill>
                  </a:tcPr>
                </a:tc>
                <a:tc>
                  <a:txBody>
                    <a:bodyPr wrap="square"/>
                    <a:lstStyle/>
                    <a:p>
                      <a:pPr algn="l"/>
                      <a:r>
                        <a:rPr sz="1050" b="0">
                          <a:solidFill>
                            <a:srgbClr val="1C1C1E"/>
                          </a:solidFill>
                          <a:latin typeface="Calibri"/>
                        </a:rPr>
                        <a:t>Yes</a:t>
                      </a:r>
                    </a:p>
                  </a:txBody>
                  <a:tcPr marL="82296" marR="64008" marT="32004" marB="32004" anchor="ctr">
                    <a:solidFill>
                      <a:srgbClr val="FFFFFF"/>
                    </a:solidFill>
                  </a:tcPr>
                </a:tc>
              </a:tr>
              <a:tr h="420624">
                <a:tc>
                  <a:txBody>
                    <a:bodyPr wrap="square"/>
                    <a:lstStyle/>
                    <a:p>
                      <a:pPr algn="l"/>
                      <a:r>
                        <a:rPr sz="1050" b="1">
                          <a:solidFill>
                            <a:srgbClr val="A51C30"/>
                          </a:solidFill>
                          <a:latin typeface="Calibri"/>
                        </a:rPr>
                        <a:t>maya-warrants</a:t>
                      </a:r>
                    </a:p>
                  </a:txBody>
                  <a:tcPr marL="82296" marR="64008" marT="32004" marB="32004" anchor="ctr">
                    <a:solidFill>
                      <a:srgbClr val="F6F3EF"/>
                    </a:solidFill>
                  </a:tcPr>
                </a:tc>
                <a:tc>
                  <a:txBody>
                    <a:bodyPr wrap="square"/>
                    <a:lstStyle/>
                    <a:p>
                      <a:pPr algn="l"/>
                      <a:r>
                        <a:rPr sz="1050" b="0">
                          <a:solidFill>
                            <a:srgbClr val="1C1C1E"/>
                          </a:solidFill>
                          <a:latin typeface="Calibri"/>
                        </a:rPr>
                        <a:t>Designed, not built</a:t>
                      </a:r>
                    </a:p>
                  </a:txBody>
                  <a:tcPr marL="82296" marR="64008" marT="32004" marB="32004" anchor="ctr">
                    <a:solidFill>
                      <a:srgbClr val="F6F3EF"/>
                    </a:solidFill>
                  </a:tcPr>
                </a:tc>
                <a:tc>
                  <a:txBody>
                    <a:bodyPr wrap="square"/>
                    <a:lstStyle/>
                    <a:p>
                      <a:pPr algn="l"/>
                      <a:r>
                        <a:rPr sz="1050" b="0">
                          <a:solidFill>
                            <a:srgbClr val="1C1C1E"/>
                          </a:solidFill>
                          <a:latin typeface="Calibri"/>
                        </a:rPr>
                        <a:t>10× tighter SLA; would read only the warrant projection</a:t>
                      </a:r>
                    </a:p>
                  </a:txBody>
                  <a:tcPr marL="82296" marR="64008" marT="32004" marB="32004" anchor="ctr">
                    <a:solidFill>
                      <a:srgbClr val="F6F3EF"/>
                    </a:solidFill>
                  </a:tcPr>
                </a:tc>
                <a:tc>
                  <a:txBody>
                    <a:bodyPr wrap="square"/>
                    <a:lstStyle/>
                    <a:p>
                      <a:pPr algn="l"/>
                      <a:r>
                        <a:rPr sz="1050" b="0">
                          <a:solidFill>
                            <a:srgbClr val="1C1C1E"/>
                          </a:solidFill>
                          <a:latin typeface="Calibri"/>
                        </a:rPr>
                        <a:t>By design, once split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Cluster data plane</a:t>
                      </a:r>
                    </a:p>
                  </a:txBody>
                  <a:tcPr marL="82296" marR="64008" marT="32004" marB="32004" anchor="ctr">
                    <a:solidFill>
                      <a:srgbClr val="FFFFFF"/>
                    </a:solidFill>
                  </a:tcPr>
                </a:tc>
                <a:tc>
                  <a:txBody>
                    <a:bodyPr wrap="square"/>
                    <a:lstStyle/>
                    <a:p>
                      <a:pPr algn="l"/>
                      <a:r>
                        <a:rPr sz="1050" b="0">
                          <a:solidFill>
                            <a:srgbClr val="1C1C1E"/>
                          </a:solidFill>
                          <a:latin typeface="Calibri"/>
                        </a:rPr>
                        <a:t>Designed, not built</a:t>
                      </a:r>
                    </a:p>
                  </a:txBody>
                  <a:tcPr marL="82296" marR="64008" marT="32004" marB="32004" anchor="ctr">
                    <a:solidFill>
                      <a:srgbClr val="FFFFFF"/>
                    </a:solidFill>
                  </a:tcPr>
                </a:tc>
                <a:tc>
                  <a:txBody>
                    <a:bodyPr wrap="square"/>
                    <a:lstStyle/>
                    <a:p>
                      <a:pPr algn="l"/>
                      <a:r>
                        <a:rPr sz="1050" b="0">
                          <a:solidFill>
                            <a:srgbClr val="1C1C1E"/>
                          </a:solidFill>
                          <a:latin typeface="Calibri"/>
                        </a:rPr>
                        <a:t>PIT joins and materialisation run in-process on pandas + deltalake today</a:t>
                      </a:r>
                    </a:p>
                  </a:txBody>
                  <a:tcPr marL="82296" marR="64008" marT="32004" marB="32004" anchor="ctr">
                    <a:solidFill>
                      <a:srgbClr val="FFFFFF"/>
                    </a:solidFill>
                  </a:tcPr>
                </a:tc>
                <a:tc>
                  <a:txBody>
                    <a:bodyPr wrap="square"/>
                    <a:lstStyle/>
                    <a:p>
                      <a:pPr algn="l"/>
                      <a:r>
                        <a:rPr sz="1050" b="0">
                          <a:solidFill>
                            <a:srgbClr val="1C1C1E"/>
                          </a:solidFill>
                          <a:latin typeface="Calibri"/>
                        </a:rPr>
                        <a:t>—</a:t>
                      </a:r>
                    </a:p>
                  </a:txBody>
                  <a:tcPr marL="82296" marR="64008" marT="32004" marB="32004" anchor="ctr">
                    <a:solidFill>
                      <a:srgbClr val="FFFFFF"/>
                    </a:solidFill>
                  </a:tcPr>
                </a:tc>
              </a:tr>
            </a:tbl>
          </a:graphicData>
        </a:graphic>
      </p:graphicFrame>
      <p:sp>
        <p:nvSpPr>
          <p:cNvPr id="11" name="Rectangle 10"/>
          <p:cNvSpPr/>
          <p:nvPr/>
        </p:nvSpPr>
        <p:spPr>
          <a:xfrm>
            <a:off x="777240" y="4726787"/>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26787"/>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845659"/>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one asymmetry, and it is a design not a deployment. </a:t>
            </a:r>
            <a:r>
              <a:rPr sz="1050" b="0" i="0">
                <a:solidFill>
                  <a:srgbClr val="1C1C1E"/>
                </a:solidFill>
                <a:latin typeface="Calibri"/>
              </a:rPr>
              <a:t>Governance must not become the bank's single point of failure: if the control plane is down, already-authorised production scoring should continue and only new issuance and governance changes stop. Today one process holds both, so that separation is a property of the drawing rather than of the estate. It is written here as the target, in the tense it has earned.</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CORE/DOMAIN/ALGEBRA.PY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model algebra, and the class it derives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67</a:t>
            </a:r>
          </a:p>
        </p:txBody>
      </p:sp>
      <p:sp>
        <p:nvSpPr>
          <p:cNvPr id="10" name="Rectangle 9"/>
          <p:cNvSpPr/>
          <p:nvPr/>
        </p:nvSpPr>
        <p:spPr>
          <a:xfrm>
            <a:off x="777240" y="1353312"/>
            <a:ext cx="5637724" cy="362250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622509"/>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DEFINITION, AS A TYPE</a:t>
            </a:r>
          </a:p>
        </p:txBody>
      </p:sp>
      <p:sp>
        <p:nvSpPr>
          <p:cNvPr id="13" name="TextBox 12"/>
          <p:cNvSpPr txBox="1"/>
          <p:nvPr/>
        </p:nvSpPr>
        <p:spPr>
          <a:xfrm>
            <a:off x="978408" y="1746504"/>
            <a:ext cx="5271964" cy="314702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ParameterObject:</a:t>
            </a:r>
          </a:p>
          <a:p>
            <a:pPr>
              <a:lnSpc>
                <a:spcPct val="134000"/>
              </a:lnSpc>
              <a:spcBef>
                <a:spcPts val="0"/>
              </a:spcBef>
              <a:spcAft>
                <a:spcPts val="0"/>
              </a:spcAft>
            </a:pPr>
            <a:r>
              <a:rPr sz="950" b="0" i="0">
                <a:solidFill>
                  <a:srgbClr val="1C1C1E"/>
                </a:solidFill>
                <a:latin typeface="Consolas"/>
              </a:rPr>
              <a:t>    kind: ParameterKind      # none | calibration_set |</a:t>
            </a:r>
          </a:p>
          <a:p>
            <a:pPr>
              <a:lnSpc>
                <a:spcPct val="134000"/>
              </a:lnSpc>
              <a:spcBef>
                <a:spcPts val="0"/>
              </a:spcBef>
              <a:spcAft>
                <a:spcPts val="0"/>
              </a:spcAft>
            </a:pPr>
            <a:r>
              <a:rPr sz="950" b="0" i="0">
                <a:solidFill>
                  <a:srgbClr val="7A7F87"/>
                </a:solidFill>
                <a:latin typeface="Consolas"/>
              </a:rPr>
              <a:t>                             #   learned_weights | rule_set | opaque | ...</a:t>
            </a:r>
          </a:p>
          <a:p>
            <a:pPr>
              <a:lnSpc>
                <a:spcPct val="134000"/>
              </a:lnSpc>
              <a:spcBef>
                <a:spcPts val="0"/>
              </a:spcBef>
              <a:spcAft>
                <a:spcPts val="0"/>
              </a:spcAft>
            </a:pPr>
            <a:r>
              <a:rPr sz="950" b="0" i="0">
                <a:solidFill>
                  <a:srgbClr val="1C1C1E"/>
                </a:solidFill>
                <a:latin typeface="Consolas"/>
              </a:rPr>
              <a:t>    artifact_digest: str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is_terminal(self) -&gt; bool:    # P ≅ I  — the T0 case</a:t>
            </a:r>
          </a:p>
          <a:p>
            <a:pPr>
              <a:lnSpc>
                <a:spcPct val="134000"/>
              </a:lnSpc>
              <a:spcBef>
                <a:spcPts val="0"/>
              </a:spcBef>
              <a:spcAft>
                <a:spcPts val="0"/>
              </a:spcAft>
            </a:pPr>
            <a:r>
              <a:rPr sz="950" b="0" i="0">
                <a:solidFill>
                  <a:srgbClr val="1C1C1E"/>
                </a:solidFill>
                <a:latin typeface="Consolas"/>
              </a:rPr>
              <a:t>        return self.kind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ParametricKernel:          # a model:  f : P ⊗ X → Y</a:t>
            </a:r>
          </a:p>
          <a:p>
            <a:pPr>
              <a:lnSpc>
                <a:spcPct val="134000"/>
              </a:lnSpc>
              <a:spcBef>
                <a:spcPts val="0"/>
              </a:spcBef>
              <a:spcAft>
                <a:spcPts val="0"/>
              </a:spcAft>
            </a:pPr>
            <a:r>
              <a:rPr sz="950" b="0" i="0">
                <a:solidFill>
                  <a:srgbClr val="1C1C1E"/>
                </a:solidFill>
                <a:latin typeface="Consolas"/>
              </a:rPr>
              <a:t>    parameters: ParameterObject</a:t>
            </a:r>
          </a:p>
          <a:p>
            <a:pPr>
              <a:lnSpc>
                <a:spcPct val="134000"/>
              </a:lnSpc>
              <a:spcBef>
                <a:spcPts val="0"/>
              </a:spcBef>
              <a:spcAft>
                <a:spcPts val="0"/>
              </a:spcAft>
            </a:pPr>
            <a:r>
              <a:rPr sz="950" b="0" i="0">
                <a:solidFill>
                  <a:srgbClr val="1C1C1E"/>
                </a:solidFill>
                <a:latin typeface="Consolas"/>
              </a:rPr>
              <a:t>    input: ObjectSpec ; output: ObjectSpec</a:t>
            </a:r>
          </a:p>
          <a:p>
            <a:pPr>
              <a:lnSpc>
                <a:spcPct val="134000"/>
              </a:lnSpc>
              <a:spcBef>
                <a:spcPts val="0"/>
              </a:spcBef>
              <a:spcAft>
                <a:spcPts val="0"/>
              </a:spcAft>
            </a:pPr>
            <a:r>
              <a:rPr sz="950" b="0" i="0">
                <a:solidFill>
                  <a:srgbClr val="1C1C1E"/>
                </a:solidFill>
                <a:latin typeface="Consolas"/>
              </a:rPr>
              <a:t>    deterministic: bool          # law L-3; typed once, compiled per dialect</a:t>
            </a:r>
          </a:p>
        </p:txBody>
      </p:sp>
      <p:sp>
        <p:nvSpPr>
          <p:cNvPr id="14" name="Rectangle 13"/>
          <p:cNvSpPr/>
          <p:nvPr/>
        </p:nvSpPr>
        <p:spPr>
          <a:xfrm>
            <a:off x="6734080" y="1353312"/>
            <a:ext cx="4680374"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73408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935248" y="1444752"/>
            <a:ext cx="431461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CLASS IS A FUNCTION, NOT A FIELD</a:t>
            </a:r>
          </a:p>
        </p:txBody>
      </p:sp>
      <p:sp>
        <p:nvSpPr>
          <p:cNvPr id="17" name="TextBox 16"/>
          <p:cNvSpPr txBox="1"/>
          <p:nvPr/>
        </p:nvSpPr>
        <p:spPr>
          <a:xfrm>
            <a:off x="6935248" y="1746504"/>
            <a:ext cx="4314614"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trainability_class(self, fit, adaptive) -&gt; str:</a:t>
            </a:r>
          </a:p>
          <a:p>
            <a:pPr>
              <a:lnSpc>
                <a:spcPct val="134000"/>
              </a:lnSpc>
              <a:spcBef>
                <a:spcPts val="0"/>
              </a:spcBef>
              <a:spcAft>
                <a:spcPts val="0"/>
              </a:spcAft>
            </a:pPr>
            <a:r>
              <a:rPr sz="950" b="0" i="0">
                <a:solidFill>
                  <a:srgbClr val="1C1C1E"/>
                </a:solidFill>
                <a:latin typeface="Consolas"/>
              </a:rPr>
              <a:t>    if not self.parameters.is_accessible:</a:t>
            </a:r>
          </a:p>
          <a:p>
            <a:pPr>
              <a:lnSpc>
                <a:spcPct val="134000"/>
              </a:lnSpc>
              <a:spcBef>
                <a:spcPts val="0"/>
              </a:spcBef>
              <a:spcAft>
                <a:spcPts val="0"/>
              </a:spcAft>
            </a:pPr>
            <a:r>
              <a:rPr sz="950" b="0" i="0">
                <a:solidFill>
                  <a:srgbClr val="1C1C1E"/>
                </a:solidFill>
                <a:latin typeface="Consolas"/>
              </a:rPr>
              <a:t>        return "T6"                  # vendor black box</a:t>
            </a:r>
          </a:p>
          <a:p>
            <a:pPr>
              <a:lnSpc>
                <a:spcPct val="134000"/>
              </a:lnSpc>
              <a:spcBef>
                <a:spcPts val="0"/>
              </a:spcBef>
              <a:spcAft>
                <a:spcPts val="0"/>
              </a:spcAft>
            </a:pPr>
            <a:r>
              <a:rPr sz="950" b="0" i="0">
                <a:solidFill>
                  <a:srgbClr val="1C1C1E"/>
                </a:solidFill>
                <a:latin typeface="Consolas"/>
              </a:rPr>
              <a:t>    if self.parameters.is_terminal:</a:t>
            </a:r>
          </a:p>
          <a:p>
            <a:pPr>
              <a:lnSpc>
                <a:spcPct val="134000"/>
              </a:lnSpc>
              <a:spcBef>
                <a:spcPts val="0"/>
              </a:spcBef>
              <a:spcAft>
                <a:spcPts val="0"/>
              </a:spcAft>
            </a:pPr>
            <a:r>
              <a:rPr sz="950" b="0" i="0">
                <a:solidFill>
                  <a:srgbClr val="1C1C1E"/>
                </a:solidFill>
                <a:latin typeface="Consolas"/>
              </a:rPr>
              <a:t>        return "T0"                  # analytic — P ≅ I</a:t>
            </a:r>
          </a:p>
          <a:p>
            <a:pPr>
              <a:lnSpc>
                <a:spcPct val="134000"/>
              </a:lnSpc>
              <a:spcBef>
                <a:spcPts val="0"/>
              </a:spcBef>
              <a:spcAft>
                <a:spcPts val="0"/>
              </a:spcAft>
            </a:pPr>
            <a:r>
              <a:rPr sz="950" b="0" i="0">
                <a:solidFill>
                  <a:srgbClr val="1C1C1E"/>
                </a:solidFill>
                <a:latin typeface="Consolas"/>
              </a:rPr>
              <a:t>    return {"calibrate": "T1", "estimate": "T2",</a:t>
            </a:r>
          </a:p>
          <a:p>
            <a:pPr>
              <a:lnSpc>
                <a:spcPct val="134000"/>
              </a:lnSpc>
              <a:spcBef>
                <a:spcPts val="0"/>
              </a:spcBef>
              <a:spcAft>
                <a:spcPts val="0"/>
              </a:spcAft>
            </a:pPr>
            <a:r>
              <a:rPr sz="950" b="0" i="0">
                <a:solidFill>
                  <a:srgbClr val="1C1C1E"/>
                </a:solidFill>
                <a:latin typeface="Consolas"/>
              </a:rPr>
              <a:t>            "train": "T4" if adaptive else "T3",</a:t>
            </a:r>
          </a:p>
          <a:p>
            <a:pPr>
              <a:lnSpc>
                <a:spcPct val="134000"/>
              </a:lnSpc>
              <a:spcBef>
                <a:spcPts val="0"/>
              </a:spcBef>
              <a:spcAft>
                <a:spcPts val="0"/>
              </a:spcAft>
            </a:pPr>
            <a:r>
              <a:rPr sz="950" b="0" i="0">
                <a:solidFill>
                  <a:srgbClr val="1C1C1E"/>
                </a:solidFill>
                <a:latin typeface="Consolas"/>
              </a:rPr>
              <a:t>            "configure": "T5", "elicit": "T7",</a:t>
            </a:r>
          </a:p>
          <a:p>
            <a:pPr>
              <a:lnSpc>
                <a:spcPct val="134000"/>
              </a:lnSpc>
              <a:spcBef>
                <a:spcPts val="0"/>
              </a:spcBef>
              <a:spcAft>
                <a:spcPts val="0"/>
              </a:spcAft>
            </a:pPr>
            <a:r>
              <a:rPr sz="950" b="0" i="0">
                <a:solidFill>
                  <a:srgbClr val="1C1C1E"/>
                </a:solidFill>
                <a:latin typeface="Consolas"/>
              </a:rPr>
              <a:t>            "author": "T8"}[fit]</a:t>
            </a:r>
          </a:p>
        </p:txBody>
      </p:sp>
      <p:sp>
        <p:nvSpPr>
          <p:cNvPr id="18" name="TextBox 17"/>
          <p:cNvSpPr txBox="1"/>
          <p:nvPr/>
        </p:nvSpPr>
        <p:spPr>
          <a:xfrm>
            <a:off x="6734080" y="3991333"/>
            <a:ext cx="4680374" cy="1737360"/>
          </a:xfrm>
          <a:prstGeom prst="rect">
            <a:avLst/>
          </a:prstGeom>
          <a:noFill/>
        </p:spPr>
        <p:txBody>
          <a:bodyPr wrap="square" lIns="0" rIns="0" tIns="0" bIns="0" anchor="t">
            <a:spAutoFit/>
          </a:bodyPr>
          <a:lstStyle/>
          <a:p>
            <a:pPr algn="l"/>
          </a:p>
          <a:p>
            <a:pPr>
              <a:spcBef>
                <a:spcPts val="600"/>
              </a:spcBef>
              <a:spcAft>
                <a:spcPts val="300"/>
              </a:spcAft>
            </a:pPr>
            <a:r>
              <a:rPr sz="1050" b="1">
                <a:solidFill>
                  <a:srgbClr val="A51C30"/>
                </a:solidFill>
                <a:latin typeface="Calibri"/>
              </a:rPr>
              <a:t>▪  </a:t>
            </a:r>
            <a:r>
              <a:rPr sz="1050" b="1">
                <a:solidFill>
                  <a:srgbClr val="1C1C1E"/>
                </a:solidFill>
                <a:latin typeface="Calibri"/>
              </a:rPr>
              <a:t>Parameters are an object, not a blob</a:t>
            </a:r>
          </a:p>
          <a:p>
            <a:pPr lvl="1">
              <a:spcBef>
                <a:spcPts val="0"/>
              </a:spcBef>
              <a:spcAft>
                <a:spcPts val="0"/>
              </a:spcAft>
            </a:pPr>
            <a:r>
              <a:rPr sz="950">
                <a:solidFill>
                  <a:srgbClr val="4A4F57"/>
                </a:solidFill>
                <a:latin typeface="Calibri"/>
              </a:rPr>
              <a:t>“no parameters” and “inaccessible parameters” are states, not nulls</a:t>
            </a:r>
          </a:p>
          <a:p>
            <a:pPr>
              <a:spcBef>
                <a:spcPts val="600"/>
              </a:spcBef>
              <a:spcAft>
                <a:spcPts val="300"/>
              </a:spcAft>
            </a:pPr>
            <a:r>
              <a:rPr sz="1050" b="1">
                <a:solidFill>
                  <a:srgbClr val="A51C30"/>
                </a:solidFill>
                <a:latin typeface="Calibri"/>
              </a:rPr>
              <a:t>▪  </a:t>
            </a:r>
            <a:r>
              <a:rPr sz="1050" b="1">
                <a:solidFill>
                  <a:srgbClr val="1C1C1E"/>
                </a:solidFill>
                <a:latin typeface="Calibri"/>
              </a:rPr>
              <a:t>The class is derived</a:t>
            </a:r>
          </a:p>
          <a:p>
            <a:pPr lvl="1">
              <a:spcBef>
                <a:spcPts val="0"/>
              </a:spcBef>
              <a:spcAft>
                <a:spcPts val="0"/>
              </a:spcAft>
            </a:pPr>
            <a:r>
              <a:rPr sz="950">
                <a:solidFill>
                  <a:srgbClr val="4A4F57"/>
                </a:solidFill>
                <a:latin typeface="Calibri"/>
              </a:rPr>
              <a:t>never an enum a user picks, so a mislabelled record is unreachable</a:t>
            </a:r>
          </a:p>
          <a:p>
            <a:pPr>
              <a:spcBef>
                <a:spcPts val="600"/>
              </a:spcBef>
              <a:spcAft>
                <a:spcPts val="300"/>
              </a:spcAft>
            </a:pPr>
            <a:r>
              <a:rPr sz="1050" b="1">
                <a:solidFill>
                  <a:srgbClr val="A51C30"/>
                </a:solidFill>
                <a:latin typeface="Calibri"/>
              </a:rPr>
              <a:t>▪  </a:t>
            </a:r>
            <a:r>
              <a:rPr sz="1050" b="1">
                <a:solidFill>
                  <a:srgbClr val="1C1C1E"/>
                </a:solidFill>
                <a:latin typeface="Calibri"/>
              </a:rPr>
              <a:t>No framework, no I/O</a:t>
            </a:r>
          </a:p>
          <a:p>
            <a:pPr lvl="1">
              <a:spcBef>
                <a:spcPts val="0"/>
              </a:spcBef>
              <a:spcAft>
                <a:spcPts val="0"/>
              </a:spcAft>
            </a:pPr>
            <a:r>
              <a:rPr sz="950">
                <a:solidFill>
                  <a:srgbClr val="4A4F57"/>
                </a:solidFill>
                <a:latin typeface="Calibri"/>
              </a:rPr>
              <a:t>the laws run in milliseconds over generated inputs</a:t>
            </a:r>
          </a:p>
        </p:txBody>
      </p:sp>
      <p:sp>
        <p:nvSpPr>
          <p:cNvPr id="19" name="Rectangle 18"/>
          <p:cNvSpPr/>
          <p:nvPr/>
        </p:nvSpPr>
        <p:spPr>
          <a:xfrm>
            <a:off x="777240" y="5250141"/>
            <a:ext cx="5637724"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25014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5369013"/>
            <a:ext cx="5180524"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consequence that matters. </a:t>
            </a:r>
            <a:r>
              <a:rPr sz="1050" b="0" i="0">
                <a:solidFill>
                  <a:srgbClr val="1C1C1E"/>
                </a:solidFill>
                <a:latin typeface="Calibri"/>
              </a:rPr>
              <a:t>Asking a closed-form pricer for its training set is a type error, and the system can say so precisely. Every mandatory-field workaround that fills an inventory with meaningless records disappears at this line.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CORE/DOMAIN/CONTRACTS.PY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Contract algebra — what the code really does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68</a:t>
            </a:r>
          </a:p>
        </p:txBody>
      </p:sp>
      <p:sp>
        <p:nvSpPr>
          <p:cNvPr id="10" name="Rectangle 9"/>
          <p:cNvSpPr/>
          <p:nvPr/>
        </p:nvSpPr>
        <p:spPr>
          <a:xfrm>
            <a:off x="777240" y="1353312"/>
            <a:ext cx="585046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WHAT THE CODE ACTUALLY DOES</a:t>
            </a:r>
          </a:p>
        </p:txBody>
      </p:sp>
      <p:sp>
        <p:nvSpPr>
          <p:cNvPr id="13" name="TextBox 12"/>
          <p:cNvSpPr txBox="1"/>
          <p:nvPr/>
        </p:nvSpPr>
        <p:spPr>
          <a:xfrm>
            <a:off x="978408" y="1746504"/>
            <a:ext cx="548470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refines(self, other: Contract) -&gt; RefinementResult:</a:t>
            </a:r>
          </a:p>
          <a:p>
            <a:pPr>
              <a:lnSpc>
                <a:spcPct val="134000"/>
              </a:lnSpc>
              <a:spcBef>
                <a:spcPts val="0"/>
              </a:spcBef>
              <a:spcAft>
                <a:spcPts val="0"/>
              </a:spcAft>
            </a:pPr>
            <a:r>
              <a:rPr sz="950" b="0" i="0">
                <a:solidFill>
                  <a:srgbClr val="1C1C1E"/>
                </a:solidFill>
                <a:latin typeface="Consolas"/>
              </a:rPr>
              <a:t>    """C' ⪯ C iff A ⊆ A' and (A ∧ G') ⊆ G. Law L-7."""</a:t>
            </a:r>
          </a:p>
          <a:p>
            <a:pPr>
              <a:lnSpc>
                <a:spcPct val="134000"/>
              </a:lnSpc>
              <a:spcBef>
                <a:spcPts val="0"/>
              </a:spcBef>
              <a:spcAft>
                <a:spcPts val="0"/>
              </a:spcAft>
            </a:pPr>
            <a:r>
              <a:rPr sz="950" b="0" i="0">
                <a:solidFill>
                  <a:srgbClr val="1C1C1E"/>
                </a:solidFill>
                <a:latin typeface="Consolas"/>
              </a:rPr>
              <a:t>    weak   = [k for k, b in other._a().items()</a:t>
            </a:r>
          </a:p>
          <a:p>
            <a:pPr>
              <a:lnSpc>
                <a:spcPct val="134000"/>
              </a:lnSpc>
              <a:spcBef>
                <a:spcPts val="0"/>
              </a:spcBef>
              <a:spcAft>
                <a:spcPts val="0"/>
              </a:spcAft>
            </a:pPr>
            <a:r>
              <a:rPr sz="950" b="0" i="0">
                <a:solidFill>
                  <a:srgbClr val="1C1C1E"/>
                </a:solidFill>
                <a:latin typeface="Consolas"/>
              </a:rPr>
              <a:t>              if k in self._a() and not self._a()[k].weaker_than(b)]</a:t>
            </a:r>
          </a:p>
          <a:p>
            <a:pPr>
              <a:lnSpc>
                <a:spcPct val="134000"/>
              </a:lnSpc>
              <a:spcBef>
                <a:spcPts val="0"/>
              </a:spcBef>
              <a:spcAft>
                <a:spcPts val="0"/>
              </a:spcAft>
            </a:pPr>
            <a:r>
              <a:rPr sz="950" b="0" i="0">
                <a:solidFill>
                  <a:srgbClr val="1C1C1E"/>
                </a:solidFill>
                <a:latin typeface="Consolas"/>
              </a:rPr>
              <a:t>    strong = [k for k, b in other._g().items()</a:t>
            </a:r>
          </a:p>
          <a:p>
            <a:pPr>
              <a:lnSpc>
                <a:spcPct val="134000"/>
              </a:lnSpc>
              <a:spcBef>
                <a:spcPts val="0"/>
              </a:spcBef>
              <a:spcAft>
                <a:spcPts val="0"/>
              </a:spcAft>
            </a:pPr>
            <a:r>
              <a:rPr sz="950" b="0" i="0">
                <a:solidFill>
                  <a:srgbClr val="1C1C1E"/>
                </a:solidFill>
                <a:latin typeface="Consolas"/>
              </a:rPr>
              <a:t>              if k not in self._g() or not self._g()[k].stronger_than(b)]</a:t>
            </a:r>
          </a:p>
          <a:p>
            <a:pPr>
              <a:lnSpc>
                <a:spcPct val="134000"/>
              </a:lnSpc>
              <a:spcBef>
                <a:spcPts val="0"/>
              </a:spcBef>
              <a:spcAft>
                <a:spcPts val="0"/>
              </a:spcAft>
            </a:pPr>
            <a:r>
              <a:rPr sz="950" b="0" i="0">
                <a:solidFill>
                  <a:srgbClr val="1C1C1E"/>
                </a:solidFill>
                <a:latin typeface="Consolas"/>
              </a:rPr>
              <a:t>    return RefinementResult(holds = not weak and not strong,</a:t>
            </a:r>
          </a:p>
          <a:p>
            <a:pPr>
              <a:lnSpc>
                <a:spcPct val="134000"/>
              </a:lnSpc>
              <a:spcBef>
                <a:spcPts val="0"/>
              </a:spcBef>
              <a:spcAft>
                <a:spcPts val="0"/>
              </a:spcAft>
            </a:pPr>
            <a:r>
              <a:rPr sz="950" b="0" i="0">
                <a:solidFill>
                  <a:srgbClr val="1C1C1E"/>
                </a:solidFill>
                <a:latin typeface="Consolas"/>
              </a:rPr>
              <a:t>                            assumption_failures=tuple(weak),</a:t>
            </a:r>
          </a:p>
          <a:p>
            <a:pPr>
              <a:lnSpc>
                <a:spcPct val="134000"/>
              </a:lnSpc>
              <a:spcBef>
                <a:spcPts val="0"/>
              </a:spcBef>
              <a:spcAft>
                <a:spcPts val="0"/>
              </a:spcAft>
            </a:pPr>
            <a:r>
              <a:rPr sz="950" b="0" i="0">
                <a:solidFill>
                  <a:srgbClr val="1C1C1E"/>
                </a:solidFill>
                <a:latin typeface="Consolas"/>
              </a:rPr>
              <a:t>                            guarantee_failures=tuple(strong))</a:t>
            </a:r>
          </a:p>
        </p:txBody>
      </p:sp>
      <p:sp>
        <p:nvSpPr>
          <p:cNvPr id="14" name="TextBox 13"/>
          <p:cNvSpPr txBox="1"/>
          <p:nvPr/>
        </p:nvSpPr>
        <p:spPr>
          <a:xfrm>
            <a:off x="7053196" y="1353312"/>
            <a:ext cx="4361258" cy="2011680"/>
          </a:xfrm>
          <a:prstGeom prst="rect">
            <a:avLst/>
          </a:prstGeom>
          <a:noFill/>
        </p:spPr>
        <p:txBody>
          <a:bodyPr wrap="square" lIns="0" rIns="0" tIns="0" bIns="0" anchor="t">
            <a:spAutoFit/>
          </a:bodyPr>
          <a:lstStyle/>
          <a:p>
            <a:pPr algn="l">
              <a:spcBef>
                <a:spcPts val="0"/>
              </a:spcBef>
              <a:spcAft>
                <a:spcPts val="700"/>
              </a:spcAft>
            </a:pPr>
            <a:r>
              <a:rPr sz="1200" b="1" i="0">
                <a:solidFill>
                  <a:srgbClr val="1C1C1E"/>
                </a:solidFill>
                <a:latin typeface="Georgia"/>
              </a:rPr>
              <a:t>A clause is an interval or a set, not a predicate</a:t>
            </a:r>
          </a:p>
          <a:p>
            <a:pPr>
              <a:lnSpc>
                <a:spcPct val="124000"/>
              </a:lnSpc>
              <a:spcBef>
                <a:spcPts val="0"/>
              </a:spcBef>
              <a:spcAft>
                <a:spcPts val="700"/>
              </a:spcAft>
            </a:pPr>
            <a:r>
              <a:rPr sz="1050" b="0" i="0">
                <a:solidFill>
                  <a:srgbClr val="4A4F57"/>
                </a:solidFill>
                <a:latin typeface="Calibri"/>
              </a:rPr>
              <a:t>A Bound is a key with a minimum, a maximum or an allowed set. Refinement compares bounds key by key — it does not form A ∧ G' and does not evaluate a predicate language. There is no implication solver here, and the refusal names the failing keys rather than a clause.</a:t>
            </a:r>
          </a:p>
          <a:p>
            <a:pPr>
              <a:lnSpc>
                <a:spcPct val="124000"/>
              </a:lnSpc>
              <a:spcBef>
                <a:spcPts val="0"/>
              </a:spcBef>
              <a:spcAft>
                <a:spcPts val="600"/>
              </a:spcAft>
            </a:pPr>
            <a:r>
              <a:rPr sz="1050" b="0" i="0">
                <a:solidFill>
                  <a:srgbClr val="4A4F57"/>
                </a:solidFill>
                <a:latin typeface="Calibri"/>
              </a:rPr>
              <a:t>Richer assumptions are recorded as </a:t>
            </a:r>
            <a:r>
              <a:rPr sz="1050" b="1" i="1">
                <a:solidFill>
                  <a:srgbClr val="1C1C1E"/>
                </a:solidFill>
                <a:latin typeface="Calibri"/>
              </a:rPr>
              <a:t>narrative</a:t>
            </a:r>
            <a:r>
              <a:rPr sz="1050" b="0" i="0">
                <a:solidFill>
                  <a:srgbClr val="4A4F57"/>
                </a:solidFill>
                <a:latin typeface="Calibri"/>
              </a:rPr>
              <a:t> and excluded from the check — so nobody believes a proof happened that did not.</a:t>
            </a:r>
          </a:p>
        </p:txBody>
      </p:sp>
      <p:graphicFrame>
        <p:nvGraphicFramePr>
          <p:cNvPr id="15" name="Table 14"/>
          <p:cNvGraphicFramePr>
            <a:graphicFrameLocks noGrp="1"/>
          </p:cNvGraphicFramePr>
          <p:nvPr/>
        </p:nvGraphicFramePr>
        <p:xfrm>
          <a:off x="777240" y="4064485"/>
          <a:ext cx="10637213" cy="2023364"/>
        </p:xfrm>
        <a:graphic>
          <a:graphicData uri="http://schemas.openxmlformats.org/drawingml/2006/table">
            <a:tbl>
              <a:tblPr firstRow="1">
                <a:tableStyleId>{5C22544A-7EE6-4342-B048-85BDC9FD1C3A}</a:tableStyleId>
              </a:tblPr>
              <a:tblGrid>
                <a:gridCol w="1742302"/>
                <a:gridCol w="3392904"/>
                <a:gridCol w="5502007"/>
              </a:tblGrid>
              <a:tr h="329184">
                <a:tc>
                  <a:txBody>
                    <a:bodyPr wrap="square"/>
                    <a:lstStyle/>
                    <a:p>
                      <a:pPr algn="l"/>
                      <a:r>
                        <a:rPr sz="1050" b="1">
                          <a:solidFill>
                            <a:srgbClr val="FFFFFF"/>
                          </a:solidFill>
                          <a:latin typeface="Calibri"/>
                        </a:rPr>
                        <a:t>Operation</a:t>
                      </a:r>
                    </a:p>
                  </a:txBody>
                  <a:tcPr marL="82296" marR="64008" marT="32004" marB="32004" anchor="ctr">
                    <a:solidFill>
                      <a:srgbClr val="A51C30"/>
                    </a:solidFill>
                  </a:tcPr>
                </a:tc>
                <a:tc>
                  <a:txBody>
                    <a:bodyPr wrap="square"/>
                    <a:lstStyle/>
                    <a:p>
                      <a:pPr algn="l"/>
                      <a:r>
                        <a:rPr sz="1050" b="1">
                          <a:solidFill>
                            <a:srgbClr val="FFFFFF"/>
                          </a:solidFill>
                          <a:latin typeface="Calibri"/>
                        </a:rPr>
                        <a:t>What it is meant to answer</a:t>
                      </a:r>
                    </a:p>
                  </a:txBody>
                  <a:tcPr marL="82296" marR="64008" marT="32004" marB="32004" anchor="ctr">
                    <a:solidFill>
                      <a:srgbClr val="A51C30"/>
                    </a:solidFill>
                  </a:tcPr>
                </a:tc>
                <a:tc>
                  <a:txBody>
                    <a:bodyPr wrap="square"/>
                    <a:lstStyle/>
                    <a:p>
                      <a:pPr algn="l"/>
                      <a:r>
                        <a:rPr sz="1050" b="1">
                          <a:solidFill>
                            <a:srgbClr val="FFFFFF"/>
                          </a:solidFill>
                          <a:latin typeface="Calibri"/>
                        </a:rPr>
                        <a:t>What the code does today</a:t>
                      </a:r>
                    </a:p>
                  </a:txBody>
                  <a:tcPr marL="82296" marR="64008" marT="32004" marB="32004" anchor="ctr">
                    <a:solidFill>
                      <a:srgbClr val="A51C30"/>
                    </a:solidFill>
                  </a:tcPr>
                </a:tc>
              </a:tr>
              <a:tr h="402336">
                <a:tc>
                  <a:txBody>
                    <a:bodyPr wrap="square"/>
                    <a:lstStyle/>
                    <a:p>
                      <a:pPr algn="l"/>
                      <a:r>
                        <a:rPr sz="1000" b="1">
                          <a:solidFill>
                            <a:srgbClr val="A51C30"/>
                          </a:solidFill>
                          <a:latin typeface="Calibri"/>
                        </a:rPr>
                        <a:t>Refinement  ⪯</a:t>
                      </a:r>
                    </a:p>
                  </a:txBody>
                  <a:tcPr marL="82296" marR="64008" marT="32004" marB="32004" anchor="ctr">
                    <a:solidFill>
                      <a:srgbClr val="FFFFFF"/>
                    </a:solidFill>
                  </a:tcPr>
                </a:tc>
                <a:tc>
                  <a:txBody>
                    <a:bodyPr wrap="square"/>
                    <a:lstStyle/>
                    <a:p>
                      <a:pPr algn="l"/>
                      <a:r>
                        <a:rPr sz="1000" b="0">
                          <a:solidFill>
                            <a:srgbClr val="1C1C1E"/>
                          </a:solidFill>
                          <a:latin typeface="Calibri"/>
                        </a:rPr>
                        <a:t>May version B replace version A?</a:t>
                      </a:r>
                    </a:p>
                  </a:txBody>
                  <a:tcPr marL="82296" marR="64008" marT="32004" marB="32004" anchor="ctr">
                    <a:solidFill>
                      <a:srgbClr val="FFFFFF"/>
                    </a:solidFill>
                  </a:tcPr>
                </a:tc>
                <a:tc>
                  <a:txBody>
                    <a:bodyPr wrap="square"/>
                    <a:lstStyle/>
                    <a:p>
                      <a:pPr algn="l"/>
                      <a:r>
                        <a:rPr sz="1000" b="0">
                          <a:solidFill>
                            <a:srgbClr val="1C1C1E"/>
                          </a:solidFill>
                          <a:latin typeface="Calibri"/>
                        </a:rPr>
                        <a:t>Built, and enforced at every alias move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Composition  ⊗</a:t>
                      </a:r>
                    </a:p>
                  </a:txBody>
                  <a:tcPr marL="82296" marR="64008" marT="32004" marB="32004" anchor="ctr">
                    <a:solidFill>
                      <a:srgbClr val="F6F3EF"/>
                    </a:solidFill>
                  </a:tcPr>
                </a:tc>
                <a:tc>
                  <a:txBody>
                    <a:bodyPr wrap="square"/>
                    <a:lstStyle/>
                    <a:p>
                      <a:pPr algn="l"/>
                      <a:r>
                        <a:rPr sz="1000" b="0">
                          <a:solidFill>
                            <a:srgbClr val="1C1C1E"/>
                          </a:solidFill>
                          <a:latin typeface="Calibri"/>
                        </a:rPr>
                        <a:t>What does this chain promise end to end?</a:t>
                      </a:r>
                    </a:p>
                  </a:txBody>
                  <a:tcPr marL="82296" marR="64008" marT="32004" marB="32004" anchor="ctr">
                    <a:solidFill>
                      <a:srgbClr val="F6F3EF"/>
                    </a:solidFill>
                  </a:tcPr>
                </a:tc>
                <a:tc>
                  <a:txBody>
                    <a:bodyPr wrap="square"/>
                    <a:lstStyle/>
                    <a:p>
                      <a:pPr algn="l"/>
                      <a:r>
                        <a:rPr sz="1000" b="0">
                          <a:solidFill>
                            <a:srgbClr val="1C1C1E"/>
                          </a:solidFill>
                          <a:latin typeface="Calibri"/>
                        </a:rPr>
                        <a:t>Unions assumptions and guarantees — it does not discharge the downstream's assumptions against the upstream's guarantees</a:t>
                      </a:r>
                    </a:p>
                  </a:txBody>
                  <a:tcPr marL="82296" marR="64008" marT="32004" marB="32004" anchor="ctr">
                    <a:solidFill>
                      <a:srgbClr val="F6F3EF"/>
                    </a:solidFill>
                  </a:tcPr>
                </a:tc>
              </a:tr>
              <a:tr h="402336">
                <a:tc>
                  <a:txBody>
                    <a:bodyPr wrap="square"/>
                    <a:lstStyle/>
                    <a:p>
                      <a:pPr algn="l"/>
                      <a:r>
                        <a:rPr sz="1000" b="1">
                          <a:solidFill>
                            <a:srgbClr val="A51C30"/>
                          </a:solidFill>
                          <a:latin typeface="Calibri"/>
                        </a:rPr>
                        <a:t>Conjunction  ∧</a:t>
                      </a:r>
                    </a:p>
                  </a:txBody>
                  <a:tcPr marL="82296" marR="64008" marT="32004" marB="32004" anchor="ctr">
                    <a:solidFill>
                      <a:srgbClr val="FFFFFF"/>
                    </a:solidFill>
                  </a:tcPr>
                </a:tc>
                <a:tc>
                  <a:txBody>
                    <a:bodyPr wrap="square"/>
                    <a:lstStyle/>
                    <a:p>
                      <a:pPr algn="l"/>
                      <a:r>
                        <a:rPr sz="1000" b="0">
                          <a:solidFill>
                            <a:srgbClr val="1C1C1E"/>
                          </a:solidFill>
                          <a:latin typeface="Calibri"/>
                        </a:rPr>
                        <a:t>Performance and fairness and latency together</a:t>
                      </a:r>
                    </a:p>
                  </a:txBody>
                  <a:tcPr marL="82296" marR="64008" marT="32004" marB="32004" anchor="ctr">
                    <a:solidFill>
                      <a:srgbClr val="FFFFFF"/>
                    </a:solidFill>
                  </a:tcPr>
                </a:tc>
                <a:tc>
                  <a:txBody>
                    <a:bodyPr wrap="square"/>
                    <a:lstStyle/>
                    <a:p>
                      <a:pPr algn="l"/>
                      <a:r>
                        <a:rPr sz="1000" b="0">
                          <a:solidFill>
                            <a:srgbClr val="1C1C1E"/>
                          </a:solidFill>
                          <a:latin typeface="Calibri"/>
                        </a:rPr>
                        <a:t>The same function as composition, under a second name. Right here, wrong there</a:t>
                      </a:r>
                    </a:p>
                  </a:txBody>
                  <a:tcPr marL="82296" marR="64008" marT="32004" marB="32004" anchor="ctr">
                    <a:solidFill>
                      <a:srgbClr val="FFFFFF"/>
                    </a:solidFill>
                  </a:tcPr>
                </a:tc>
              </a:tr>
              <a:tr h="402336">
                <a:tc>
                  <a:txBody>
                    <a:bodyPr wrap="square"/>
                    <a:lstStyle/>
                    <a:p>
                      <a:pPr algn="l"/>
                      <a:r>
                        <a:rPr sz="1000" b="1">
                          <a:solidFill>
                            <a:srgbClr val="A51C30"/>
                          </a:solidFill>
                          <a:latin typeface="Calibri"/>
                        </a:rPr>
                        <a:t>Quotient  /</a:t>
                      </a:r>
                    </a:p>
                  </a:txBody>
                  <a:tcPr marL="82296" marR="64008" marT="32004" marB="32004" anchor="ctr">
                    <a:solidFill>
                      <a:srgbClr val="F6F3EF"/>
                    </a:solidFill>
                  </a:tcPr>
                </a:tc>
                <a:tc>
                  <a:txBody>
                    <a:bodyPr wrap="square"/>
                    <a:lstStyle/>
                    <a:p>
                      <a:pPr algn="l"/>
                      <a:r>
                        <a:rPr sz="1000" b="0">
                          <a:solidFill>
                            <a:srgbClr val="1C1C1E"/>
                          </a:solidFill>
                          <a:latin typeface="Calibri"/>
                        </a:rPr>
                        <a:t>What must the missing piece guarantee?</a:t>
                      </a:r>
                    </a:p>
                  </a:txBody>
                  <a:tcPr marL="82296" marR="64008" marT="32004" marB="32004" anchor="ctr">
                    <a:solidFill>
                      <a:srgbClr val="F6F3EF"/>
                    </a:solidFill>
                  </a:tcPr>
                </a:tc>
                <a:tc>
                  <a:txBody>
                    <a:bodyPr wrap="square"/>
                    <a:lstStyle/>
                    <a:p>
                      <a:pPr algn="l"/>
                      <a:r>
                        <a:rPr sz="1000" b="0">
                          <a:solidFill>
                            <a:srgbClr val="1C1C1E"/>
                          </a:solidFill>
                          <a:latin typeface="Calibri"/>
                        </a:rPr>
                        <a:t>Drops the guarantee keys already held — a keyed difference, not a residual</a:t>
                      </a:r>
                    </a:p>
                  </a:txBody>
                  <a:tcPr marL="82296" marR="64008" marT="32004" marB="32004" anchor="ctr">
                    <a:solidFill>
                      <a:srgbClr val="F6F3EF"/>
                    </a:solidFill>
                  </a:tcPr>
                </a:tc>
              </a:tr>
            </a:tbl>
          </a:graphicData>
        </a:graphic>
      </p:graphicFrame>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THE FIBRATION</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class is complete, or the platform does not start</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69</a:t>
            </a:r>
          </a:p>
        </p:txBody>
      </p:sp>
      <p:sp>
        <p:nvSpPr>
          <p:cNvPr id="10" name="Rectangle 9"/>
          <p:cNvSpPr/>
          <p:nvPr/>
        </p:nvSpPr>
        <p:spPr>
          <a:xfrm>
            <a:off x="777240" y="1764792"/>
            <a:ext cx="6169584"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core/fibres/registry.py</a:t>
            </a:r>
          </a:p>
        </p:txBody>
      </p:sp>
      <p:sp>
        <p:nvSpPr>
          <p:cNvPr id="13" name="TextBox 12"/>
          <p:cNvSpPr txBox="1"/>
          <p:nvPr/>
        </p:nvSpPr>
        <p:spPr>
          <a:xfrm>
            <a:off x="978408" y="2157984"/>
            <a:ext cx="5803824"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FACETS = ("evidence", "lifecycle", "metrics", "templates")</a:t>
            </a:r>
          </a:p>
          <a:p>
            <a:pPr>
              <a:lnSpc>
                <a:spcPct val="134000"/>
              </a:lnSpc>
              <a:spcBef>
                <a:spcPts val="0"/>
              </a:spcBef>
              <a:spcAft>
                <a:spcPts val="0"/>
              </a:spcAft>
            </a:pPr>
            <a:r>
              <a:rPr sz="950" b="0" i="0">
                <a:solidFill>
                  <a:srgbClr val="1C1C1E"/>
                </a:solidFill>
                <a:latin typeface="Consolas"/>
              </a:rPr>
              <a:t>BASE   = ("T0", "T1", …, "T8")        # the nine classes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register(self, fibre):              # the extension point</a:t>
            </a:r>
          </a:p>
          <a:p>
            <a:pPr>
              <a:lnSpc>
                <a:spcPct val="134000"/>
              </a:lnSpc>
              <a:spcBef>
                <a:spcPts val="0"/>
              </a:spcBef>
              <a:spcAft>
                <a:spcPts val="0"/>
              </a:spcAft>
            </a:pPr>
            <a:r>
              <a:rPr sz="950" b="0" i="0">
                <a:solidFill>
                  <a:srgbClr val="1C1C1E"/>
                </a:solidFill>
                <a:latin typeface="Consolas"/>
              </a:rPr>
              <a:t>    if missing := fibre.missing_facets():</a:t>
            </a:r>
          </a:p>
          <a:p>
            <a:pPr>
              <a:lnSpc>
                <a:spcPct val="134000"/>
              </a:lnSpc>
              <a:spcBef>
                <a:spcPts val="0"/>
              </a:spcBef>
              <a:spcAft>
                <a:spcPts val="0"/>
              </a:spcAft>
            </a:pPr>
            <a:r>
              <a:rPr sz="950" b="0" i="0">
                <a:solidFill>
                  <a:srgbClr val="1C1C1E"/>
                </a:solidFill>
                <a:latin typeface="Consolas"/>
              </a:rPr>
              <a:t>        raise FibreError("partial_fibre",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verify(self):                       # law L-15, at start-up</a:t>
            </a:r>
          </a:p>
          <a:p>
            <a:pPr>
              <a:lnSpc>
                <a:spcPct val="134000"/>
              </a:lnSpc>
              <a:spcBef>
                <a:spcPts val="0"/>
              </a:spcBef>
              <a:spcAft>
                <a:spcPts val="0"/>
              </a:spcAft>
            </a:pPr>
            <a:r>
              <a:rPr sz="950" b="0" i="0">
                <a:solidFill>
                  <a:srgbClr val="1C1C1E"/>
                </a:solidFill>
                <a:latin typeface="Consolas"/>
              </a:rPr>
              <a:t>    if gaps := self.totality():         # no fibre, or a partial one</a:t>
            </a:r>
          </a:p>
          <a:p>
            <a:pPr>
              <a:lnSpc>
                <a:spcPct val="134000"/>
              </a:lnSpc>
              <a:spcBef>
                <a:spcPts val="0"/>
              </a:spcBef>
              <a:spcAft>
                <a:spcPts val="0"/>
              </a:spcAft>
            </a:pPr>
            <a:r>
              <a:rPr sz="950" b="0" i="0">
                <a:solidFill>
                  <a:srgbClr val="1C1C1E"/>
                </a:solidFill>
                <a:latin typeface="Consolas"/>
              </a:rPr>
              <a:t>        raise FibreError("fibration_incomplete", …)</a:t>
            </a:r>
          </a:p>
        </p:txBody>
      </p:sp>
      <p:sp>
        <p:nvSpPr>
          <p:cNvPr id="14" name="TextBox 13"/>
          <p:cNvSpPr txBox="1"/>
          <p:nvPr/>
        </p:nvSpPr>
        <p:spPr>
          <a:xfrm>
            <a:off x="7372313" y="1764792"/>
            <a:ext cx="4042141" cy="310896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A fibre is what a class needs</a:t>
            </a:r>
          </a:p>
          <a:p>
            <a:pPr>
              <a:lnSpc>
                <a:spcPct val="130000"/>
              </a:lnSpc>
              <a:spcBef>
                <a:spcPts val="0"/>
              </a:spcBef>
              <a:spcAft>
                <a:spcPts val="1100"/>
              </a:spcAft>
            </a:pPr>
            <a:r>
              <a:rPr sz="1100" b="0" i="0">
                <a:solidFill>
                  <a:srgbClr val="4A4F57"/>
                </a:solidFill>
                <a:latin typeface="Calibri"/>
              </a:rPr>
              <a:t>Four facets: what evidence it must carry, which lifecycle it follows, what can be monitored on it, what compiles for it. A new kind of model supplies a fibre and nothing else changes — no migration, no new table, no new screen.</a:t>
            </a:r>
          </a:p>
          <a:p>
            <a:pPr>
              <a:spcBef>
                <a:spcPts val="0"/>
              </a:spcBef>
              <a:spcAft>
                <a:spcPts val="700"/>
              </a:spcAft>
            </a:pPr>
            <a:r>
              <a:rPr sz="1250" b="1" i="0">
                <a:solidFill>
                  <a:srgbClr val="1C1C1E"/>
                </a:solidFill>
                <a:latin typeface="Georgia"/>
              </a:rPr>
              <a:t>The base is the trainability class</a:t>
            </a:r>
          </a:p>
          <a:p>
            <a:pPr>
              <a:lnSpc>
                <a:spcPct val="130000"/>
              </a:lnSpc>
              <a:spcBef>
                <a:spcPts val="0"/>
              </a:spcBef>
              <a:spcAft>
                <a:spcPts val="1100"/>
              </a:spcAft>
            </a:pPr>
            <a:r>
              <a:rPr sz="1100" b="0" i="0">
                <a:solidFill>
                  <a:srgbClr val="4A4F57"/>
                </a:solidFill>
                <a:latin typeface="Calibri"/>
              </a:rPr>
              <a:t>Not the model class, which is free text: a totality gate over free text is defeated by typing a word nobody registered. T0–T8 is derived from how P is inhabited, so the index cannot be typed wrong.</a:t>
            </a:r>
          </a:p>
          <a:p>
            <a:pPr>
              <a:lnSpc>
                <a:spcPct val="126000"/>
              </a:lnSpc>
              <a:spcBef>
                <a:spcPts val="0"/>
              </a:spcBef>
              <a:spcAft>
                <a:spcPts val="0"/>
              </a:spcAft>
            </a:pPr>
            <a:r>
              <a:rPr sz="1050" b="1" i="0">
                <a:solidFill>
                  <a:srgbClr val="A51C30"/>
                </a:solidFill>
                <a:latin typeface="Calibri"/>
              </a:rPr>
              <a:t>The fibre is not inert. </a:t>
            </a:r>
            <a:r>
              <a:rPr sz="1050" b="0" i="0">
                <a:solidFill>
                  <a:srgbClr val="1C1C1E"/>
                </a:solidFill>
                <a:latin typeface="Calibri"/>
              </a:rPr>
              <a:t>A performance monitor on a T0 pricer, or a calibration monitor on a T5 assembly, is refused </a:t>
            </a:r>
            <a:r>
              <a:rPr sz="1050" b="0" i="0">
                <a:solidFill>
                  <a:srgbClr val="1C1C1E"/>
                </a:solidFill>
                <a:latin typeface="Consolas"/>
              </a:rPr>
              <a:t>kind_not_answerable</a:t>
            </a:r>
            <a:r>
              <a:rPr sz="1050" b="0" i="0">
                <a:solidFill>
                  <a:srgbClr val="1C1C1E"/>
                </a:solidFill>
                <a:latin typeface="Calibri"/>
              </a:rPr>
              <a:t> — the class decides what may be asked of it.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creation — what runs, and what is still design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70</a:t>
            </a:r>
          </a:p>
        </p:txBody>
      </p:sp>
      <p:sp>
        <p:nvSpPr>
          <p:cNvPr id="10" name="Rectangle 9"/>
          <p:cNvSpPr/>
          <p:nvPr/>
        </p:nvSpPr>
        <p:spPr>
          <a:xfrm>
            <a:off x="777240"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Validate</a:t>
            </a:r>
          </a:p>
          <a:p>
            <a:pPr>
              <a:lnSpc>
                <a:spcPct val="115000"/>
              </a:lnSpc>
              <a:spcBef>
                <a:spcPts val="0"/>
              </a:spcBef>
              <a:spcAft>
                <a:spcPts val="600"/>
              </a:spcAft>
            </a:pPr>
            <a:r>
              <a:rPr sz="850" b="0" i="0">
                <a:solidFill>
                  <a:srgbClr val="4A4F57"/>
                </a:solidFill>
                <a:latin typeface="Calibri"/>
              </a:rPr>
              <a:t>Kernel spec parsed, class derived, unexplained parameters refused</a:t>
            </a:r>
          </a:p>
        </p:txBody>
      </p:sp>
      <p:sp>
        <p:nvSpPr>
          <p:cNvPr id="13" name="Rectangle 12"/>
          <p:cNvSpPr/>
          <p:nvPr/>
        </p:nvSpPr>
        <p:spPr>
          <a:xfrm>
            <a:off x="2471728"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471728"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2618032"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Resolve</a:t>
            </a:r>
          </a:p>
          <a:p>
            <a:pPr>
              <a:lnSpc>
                <a:spcPct val="115000"/>
              </a:lnSpc>
              <a:spcBef>
                <a:spcPts val="0"/>
              </a:spcBef>
              <a:spcAft>
                <a:spcPts val="600"/>
              </a:spcAft>
            </a:pPr>
            <a:r>
              <a:rPr sz="850" b="0" i="0">
                <a:solidFill>
                  <a:srgbClr val="4A4F57"/>
                </a:solidFill>
                <a:latin typeface="Calibri"/>
              </a:rPr>
              <a:t>Digest looked up in the content-addressed store; the store is the authority on its own contents</a:t>
            </a:r>
          </a:p>
        </p:txBody>
      </p:sp>
      <p:sp>
        <p:nvSpPr>
          <p:cNvPr id="16" name="Rectangle 15"/>
          <p:cNvSpPr/>
          <p:nvPr/>
        </p:nvSpPr>
        <p:spPr>
          <a:xfrm>
            <a:off x="4166216"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166216"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312520"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Commit</a:t>
            </a:r>
          </a:p>
          <a:p>
            <a:pPr>
              <a:lnSpc>
                <a:spcPct val="115000"/>
              </a:lnSpc>
              <a:spcBef>
                <a:spcPts val="0"/>
              </a:spcBef>
              <a:spcAft>
                <a:spcPts val="600"/>
              </a:spcAft>
            </a:pPr>
            <a:r>
              <a:rPr sz="850" b="0" i="0">
                <a:solidFill>
                  <a:srgbClr val="4A4F57"/>
                </a:solidFill>
                <a:latin typeface="Calibri"/>
              </a:rPr>
              <a:t>Version inserted immutable, status draft, manifest digest computed</a:t>
            </a:r>
          </a:p>
        </p:txBody>
      </p:sp>
      <p:sp>
        <p:nvSpPr>
          <p:cNvPr id="19" name="Rectangle 18"/>
          <p:cNvSpPr/>
          <p:nvPr/>
        </p:nvSpPr>
        <p:spPr>
          <a:xfrm>
            <a:off x="5860705"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5860705"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6007009"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Evidence</a:t>
            </a:r>
          </a:p>
          <a:p>
            <a:pPr>
              <a:lnSpc>
                <a:spcPct val="115000"/>
              </a:lnSpc>
              <a:spcBef>
                <a:spcPts val="0"/>
              </a:spcBef>
              <a:spcAft>
                <a:spcPts val="600"/>
              </a:spcAft>
            </a:pPr>
            <a:r>
              <a:rPr sz="850" b="0" i="0">
                <a:solidFill>
                  <a:srgbClr val="4A4F57"/>
                </a:solidFill>
                <a:latin typeface="Calibri"/>
              </a:rPr>
              <a:t>version_created appended to the chain</a:t>
            </a:r>
          </a:p>
        </p:txBody>
      </p:sp>
      <p:sp>
        <p:nvSpPr>
          <p:cNvPr id="22" name="Rectangle 21"/>
          <p:cNvSpPr/>
          <p:nvPr/>
        </p:nvSpPr>
        <p:spPr>
          <a:xfrm>
            <a:off x="7691429" y="1764792"/>
            <a:ext cx="3723025" cy="2139696"/>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691429" y="1764792"/>
            <a:ext cx="3723025"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7819445" y="1883664"/>
            <a:ext cx="3466993"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Not built, and why each one is not</a:t>
            </a:r>
          </a:p>
        </p:txBody>
      </p:sp>
      <p:sp>
        <p:nvSpPr>
          <p:cNvPr id="25" name="TextBox 24"/>
          <p:cNvSpPr txBox="1"/>
          <p:nvPr/>
        </p:nvSpPr>
        <p:spPr>
          <a:xfrm>
            <a:off x="7819445" y="2130552"/>
            <a:ext cx="3466993" cy="36576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store.py hashes and stores. provenance.py verifies in three states — verified, unverified, absent — and mints none</a:t>
            </a:r>
          </a:p>
        </p:txBody>
      </p:sp>
      <p:sp>
        <p:nvSpPr>
          <p:cNvPr id="26" name="TextBox 25"/>
          <p:cNvSpPr txBox="1"/>
          <p:nvPr/>
        </p:nvSpPr>
        <p:spPr>
          <a:xfrm>
            <a:off x="7819445" y="249631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Quarantine to a no-execute store</a:t>
            </a:r>
          </a:p>
        </p:txBody>
      </p:sp>
      <p:sp>
        <p:nvSpPr>
          <p:cNvPr id="27" name="TextBox 26"/>
          <p:cNvSpPr txBox="1"/>
          <p:nvPr/>
        </p:nvSpPr>
        <p:spPr>
          <a:xfrm>
            <a:off x="7819445" y="277063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Malware, pickle-opcode, SCA and licence scans</a:t>
            </a:r>
          </a:p>
        </p:txBody>
      </p:sp>
      <p:sp>
        <p:nvSpPr>
          <p:cNvPr id="28" name="TextBox 27"/>
          <p:cNvSpPr txBox="1"/>
          <p:nvPr/>
        </p:nvSpPr>
        <p:spPr>
          <a:xfrm>
            <a:off x="7819445" y="3044951"/>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Format policy per target environment</a:t>
            </a:r>
          </a:p>
        </p:txBody>
      </p:sp>
      <p:sp>
        <p:nvSpPr>
          <p:cNvPr id="29" name="TextBox 28"/>
          <p:cNvSpPr txBox="1"/>
          <p:nvPr/>
        </p:nvSpPr>
        <p:spPr>
          <a:xfrm>
            <a:off x="7819445" y="3319271"/>
            <a:ext cx="3466993" cy="274320"/>
          </a:xfrm>
          <a:prstGeom prst="rect">
            <a:avLst/>
          </a:prstGeom>
          <a:noFill/>
        </p:spPr>
        <p:txBody>
          <a:bodyPr wrap="square" lIns="0" rIns="0" tIns="0" bIns="0" anchor="t">
            <a:spAutoFit/>
          </a:bodyPr>
          <a:lstStyle/>
          <a:p>
            <a:pPr algn="l">
              <a:spcBef>
                <a:spcPts val="0"/>
              </a:spcBef>
              <a:spcAft>
                <a:spcPts val="0"/>
              </a:spcAft>
            </a:pPr>
            <a:r>
              <a:rPr sz="880" b="1" i="0">
                <a:solidFill>
                  <a:srgbClr val="A51C30"/>
                </a:solidFill>
                <a:latin typeface="Calibri"/>
              </a:rPr>
              <a:t>SIGNING — verification is built; minting is refused</a:t>
            </a:r>
            <a:r>
              <a:rPr sz="880" b="0" i="0">
                <a:solidFill>
                  <a:srgbClr val="A51C30"/>
                </a:solidFill>
                <a:latin typeface="Calibri"/>
              </a:rPr>
              <a:t>   a platform that signed would hold the key that could forge</a:t>
            </a:r>
          </a:p>
        </p:txBody>
      </p:sp>
      <p:sp>
        <p:nvSpPr>
          <p:cNvPr id="30" name="TextBox 29"/>
          <p:cNvSpPr txBox="1"/>
          <p:nvPr/>
        </p:nvSpPr>
        <p:spPr>
          <a:xfrm>
            <a:off x="7819445" y="3593591"/>
            <a:ext cx="3466993" cy="274320"/>
          </a:xfrm>
          <a:prstGeom prst="rect">
            <a:avLst/>
          </a:prstGeom>
          <a:noFill/>
        </p:spPr>
        <p:txBody>
          <a:bodyPr wrap="square" lIns="0" rIns="0" tIns="0" bIns="0" anchor="t">
            <a:spAutoFit/>
          </a:bodyPr>
          <a:lstStyle/>
          <a:p>
            <a:pPr algn="l">
              <a:spcBef>
                <a:spcPts val="0"/>
              </a:spcBef>
              <a:spcAft>
                <a:spcPts val="0"/>
              </a:spcAft>
            </a:pPr>
            <a:r>
              <a:rPr sz="880" b="1" i="0">
                <a:solidFill>
                  <a:srgbClr val="A51C30"/>
                </a:solidFill>
                <a:latin typeface="Calibri"/>
              </a:rPr>
              <a:t>CONVERSION — the equivalence claim is held to a standard</a:t>
            </a:r>
            <a:r>
              <a:rPr sz="880" b="0" i="0">
                <a:solidFill>
                  <a:srgbClr val="A51C30"/>
                </a:solidFill>
                <a:latin typeface="Calibri"/>
              </a:rPr>
              <a:t>   converting means loading and running a model</a:t>
            </a:r>
          </a:p>
        </p:txBody>
      </p:sp>
      <p:sp>
        <p:nvSpPr>
          <p:cNvPr id="31" name="Rectangle 30"/>
          <p:cNvSpPr/>
          <p:nvPr/>
        </p:nvSpPr>
        <p:spPr>
          <a:xfrm>
            <a:off x="777240" y="3685032"/>
            <a:ext cx="6595073"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Rectangle 31"/>
          <p:cNvSpPr/>
          <p:nvPr/>
        </p:nvSpPr>
        <p:spPr>
          <a:xfrm>
            <a:off x="777240" y="36850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1014983" y="3803904"/>
            <a:ext cx="6137873"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There is no outbox. </a:t>
            </a:r>
            <a:r>
              <a:rPr sz="1050" b="0" i="0">
                <a:solidFill>
                  <a:srgbClr val="1C1C1E"/>
                </a:solidFill>
                <a:latin typeface="Calibri"/>
              </a:rPr>
              <a:t>A two-phase commit with an outbox row for the object-store promotion, and an artifact_pending state that cannot be aliased, is the design. What runs is one insert followed by one evidence append — and the append opens its own transaction, so the two are not atomic. The transaction-boundary argument is a plan, not a property.</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CORE/REGISTRY/ALIASES.PY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Alias moves — the most dangerous operation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71</a:t>
            </a:r>
          </a:p>
        </p:txBody>
      </p:sp>
      <p:sp>
        <p:nvSpPr>
          <p:cNvPr id="10" name="Rectangle 9"/>
          <p:cNvSpPr/>
          <p:nvPr/>
        </p:nvSpPr>
        <p:spPr>
          <a:xfrm>
            <a:off x="777240" y="1353312"/>
            <a:ext cx="10637215"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GOVERNED SWITCH</a:t>
            </a:r>
          </a:p>
        </p:txBody>
      </p:sp>
      <p:sp>
        <p:nvSpPr>
          <p:cNvPr id="13" name="TextBox 12"/>
          <p:cNvSpPr txBox="1"/>
          <p:nvPr/>
        </p:nvSpPr>
        <p:spPr>
          <a:xfrm>
            <a:off x="978408" y="1746504"/>
            <a:ext cx="10271455"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m   = catalogue.require(urn)</a:t>
            </a:r>
          </a:p>
          <a:p>
            <a:pPr>
              <a:lnSpc>
                <a:spcPct val="134000"/>
              </a:lnSpc>
              <a:spcBef>
                <a:spcPts val="0"/>
              </a:spcBef>
              <a:spcAft>
                <a:spcPts val="0"/>
              </a:spcAft>
            </a:pPr>
            <a:r>
              <a:rPr sz="950" b="0" i="0">
                <a:solidFill>
                  <a:srgbClr val="1C1C1E"/>
                </a:solidFill>
                <a:latin typeface="Consolas"/>
              </a:rPr>
              <a:t>new = versions.require(urn, to_semver)</a:t>
            </a:r>
          </a:p>
          <a:p>
            <a:pPr>
              <a:lnSpc>
                <a:spcPct val="134000"/>
              </a:lnSpc>
              <a:spcBef>
                <a:spcPts val="0"/>
              </a:spcBef>
              <a:spcAft>
                <a:spcPts val="0"/>
              </a:spcAft>
            </a:pPr>
            <a:r>
              <a:rPr sz="950" b="0" i="0">
                <a:solidFill>
                  <a:srgbClr val="1C1C1E"/>
                </a:solidFill>
                <a:latin typeface="Consolas"/>
              </a:rPr>
              <a:t>if new["status"] != "approved": raise RegistryError(...)   # only approved versions</a:t>
            </a:r>
          </a:p>
          <a:p>
            <a:pPr>
              <a:lnSpc>
                <a:spcPct val="134000"/>
              </a:lnSpc>
              <a:spcBef>
                <a:spcPts val="0"/>
              </a:spcBef>
              <a:spcAft>
                <a:spcPts val="0"/>
              </a:spcAft>
            </a:pPr>
            <a:r>
              <a:rPr sz="950" b="0" i="0">
                <a:solidFill>
                  <a:srgbClr val="1C1C1E"/>
                </a:solidFill>
                <a:latin typeface="Consolas"/>
              </a:rPr>
              <a:t>self._check_not_blocked(m)                        # an open blocking finding stops it first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proof = obligations(new, incumbent)               # L-7 refinement AND L-12 variance</a:t>
            </a:r>
          </a:p>
          <a:p>
            <a:pPr>
              <a:lnSpc>
                <a:spcPct val="134000"/>
              </a:lnSpc>
              <a:spcBef>
                <a:spcPts val="0"/>
              </a:spcBef>
              <a:spcAft>
                <a:spcPts val="0"/>
              </a:spcAft>
            </a:pPr>
            <a:r>
              <a:rPr sz="950" b="0" i="0">
                <a:solidFill>
                  <a:srgbClr val="1C1C1E"/>
                </a:solidFill>
                <a:latin typeface="Consolas"/>
              </a:rPr>
              <a:t>if not (proof["refinement"]["holds"] and proof["variance"]["ok"]):</a:t>
            </a:r>
          </a:p>
          <a:p>
            <a:pPr>
              <a:lnSpc>
                <a:spcPct val="134000"/>
              </a:lnSpc>
              <a:spcBef>
                <a:spcPts val="0"/>
              </a:spcBef>
              <a:spcAft>
                <a:spcPts val="0"/>
              </a:spcAft>
            </a:pPr>
            <a:r>
              <a:rPr sz="950" b="0" i="0">
                <a:solidFill>
                  <a:srgbClr val="1C1C1E"/>
                </a:solidFill>
                <a:latin typeface="Consolas"/>
              </a:rPr>
              <a:t>    raise RegistryError(f"alias move refused: {reason}")     # the refusal names the clause</a:t>
            </a:r>
          </a:p>
          <a:p>
            <a:pPr>
              <a:lnSpc>
                <a:spcPct val="134000"/>
              </a:lnSpc>
              <a:spcBef>
                <a:spcPts val="0"/>
              </a:spcBef>
              <a:spcAft>
                <a:spcPts val="0"/>
              </a:spcAft>
            </a:pPr>
            <a:r>
              <a:rPr sz="950" b="0" i="0">
                <a:solidFill>
                  <a:srgbClr val="1C1C1E"/>
                </a:solidFill>
                <a:latin typeface="Consolas"/>
              </a:rPr>
              <a:t>policy.check("alias:move", {...})                 # policy may refuse; it may never permit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aliases.point(...); history.add({..., **proof}); evidence.append("alias_moved", ...)</a:t>
            </a:r>
          </a:p>
        </p:txBody>
      </p:sp>
      <p:sp>
        <p:nvSpPr>
          <p:cNvPr id="14" name="TextBox 13"/>
          <p:cNvSpPr txBox="1"/>
          <p:nvPr/>
        </p:nvSpPr>
        <p:spPr>
          <a:xfrm>
            <a:off x="777240" y="4417032"/>
            <a:ext cx="5850468" cy="14630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Substitutability is a proof, not a meeting. </a:t>
            </a:r>
            <a:r>
              <a:rPr sz="1100" b="0" i="0">
                <a:solidFill>
                  <a:srgbClr val="1C1C1E"/>
                </a:solidFill>
                <a:latin typeface="Calibri"/>
              </a:rPr>
              <a:t>Consumers bind to the alias, so they cannot be broken and are not redeployed. The proof is stored on the history row, which is what makes “why was this allowed” answerable a year later.</a:t>
            </a:r>
          </a:p>
        </p:txBody>
      </p:sp>
      <p:sp>
        <p:nvSpPr>
          <p:cNvPr id="15" name="Rectangle 14"/>
          <p:cNvSpPr/>
          <p:nvPr/>
        </p:nvSpPr>
        <p:spPr>
          <a:xfrm>
            <a:off x="6946824" y="4417032"/>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441703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4535904"/>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is not here. </a:t>
            </a:r>
            <a:r>
              <a:rPr sz="1050" b="0" i="0">
                <a:solidFill>
                  <a:srgbClr val="1C1C1E"/>
                </a:solidFill>
                <a:latin typeface="Calibri"/>
              </a:rPr>
              <a:t>No advisory lock serialising per (model, environment), no transaction around the three writes, no cache pre-warm and no scheduled post-move comparison. Each was described as built and none is. The three writes in the last line are the ones to fix first.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CORE/FEATURES/ASSEMBLY.PY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Point-in-time assembly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72</a:t>
            </a:r>
          </a:p>
        </p:txBody>
      </p:sp>
      <p:sp>
        <p:nvSpPr>
          <p:cNvPr id="10" name="Rectangle 9"/>
          <p:cNvSpPr/>
          <p:nvPr/>
        </p:nvSpPr>
        <p:spPr>
          <a:xfrm>
            <a:off x="777240" y="135331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ASSEMBLY</a:t>
            </a:r>
          </a:p>
        </p:txBody>
      </p:sp>
      <p:sp>
        <p:nvSpPr>
          <p:cNvPr id="13" name="TextBox 12"/>
          <p:cNvSpPr txBox="1"/>
          <p:nvPr/>
        </p:nvSpPr>
        <p:spPr>
          <a:xfrm>
            <a:off x="978408" y="174650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gate = static_check(req)                       # LAYER 1</a:t>
            </a:r>
          </a:p>
          <a:p>
            <a:pPr>
              <a:lnSpc>
                <a:spcPct val="134000"/>
              </a:lnSpc>
              <a:spcBef>
                <a:spcPts val="0"/>
              </a:spcBef>
              <a:spcAft>
                <a:spcPts val="0"/>
              </a:spcAft>
            </a:pPr>
            <a:r>
              <a:rPr sz="950" b="0" i="0">
                <a:solidFill>
                  <a:srgbClr val="1C1C1E"/>
                </a:solidFill>
                <a:latin typeface="Consolas"/>
              </a:rPr>
              <a:t>if not gate.passed:</a:t>
            </a:r>
          </a:p>
          <a:p>
            <a:pPr>
              <a:lnSpc>
                <a:spcPct val="134000"/>
              </a:lnSpc>
              <a:spcBef>
                <a:spcPts val="0"/>
              </a:spcBef>
              <a:spcAft>
                <a:spcPts val="0"/>
              </a:spcAft>
            </a:pPr>
            <a:r>
              <a:rPr sz="950" b="0" i="0">
                <a:solidFill>
                  <a:srgbClr val="1C1C1E"/>
                </a:solidFill>
                <a:latin typeface="Consolas"/>
              </a:rPr>
              <a:t>    raise AssemblyRejected(gate.detail)        # rejected, not sampled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rows   = self._join(spine, views, as_of)       # per view, per row</a:t>
            </a:r>
          </a:p>
          <a:p>
            <a:pPr>
              <a:lnSpc>
                <a:spcPct val="134000"/>
              </a:lnSpc>
              <a:spcBef>
                <a:spcPts val="0"/>
              </a:spcBef>
              <a:spcAft>
                <a:spcPts val="0"/>
              </a:spcAft>
            </a:pPr>
            <a:r>
              <a:rPr sz="950" b="0" i="0">
                <a:solidFill>
                  <a:srgbClr val="1C1C1E"/>
                </a:solidFill>
                <a:latin typeface="Consolas"/>
              </a:rPr>
              <a:t>report = verify_sampled(rows, self._recompute) # LAYER 2</a:t>
            </a:r>
          </a:p>
          <a:p>
            <a:pPr>
              <a:lnSpc>
                <a:spcPct val="134000"/>
              </a:lnSpc>
              <a:spcBef>
                <a:spcPts val="0"/>
              </a:spcBef>
              <a:spcAft>
                <a:spcPts val="0"/>
              </a:spcAft>
            </a:pPr>
            <a:r>
              <a:rPr sz="950" b="0" i="0">
                <a:solidFill>
                  <a:srgbClr val="1C1C1E"/>
                </a:solidFill>
                <a:latin typeface="Consolas"/>
              </a:rPr>
              <a:t>report.leakage = detect_leakage(rows)          # purity screen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self._persist(name, rows, as_of, report, ...)  # table + evidence</a:t>
            </a:r>
          </a:p>
        </p:txBody>
      </p:sp>
      <p:sp>
        <p:nvSpPr>
          <p:cNvPr id="14" name="Rectangle 13"/>
          <p:cNvSpPr/>
          <p:nvPr/>
        </p:nvSpPr>
        <p:spPr>
          <a:xfrm>
            <a:off x="6840452" y="1353312"/>
            <a:ext cx="4574002"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840452" y="1353312"/>
            <a:ext cx="41148" cy="199286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041620" y="1444752"/>
            <a:ext cx="420824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POINT-IN-TIME READ</a:t>
            </a:r>
          </a:p>
        </p:txBody>
      </p:sp>
      <p:sp>
        <p:nvSpPr>
          <p:cNvPr id="17" name="TextBox 16"/>
          <p:cNvSpPr txBox="1"/>
          <p:nvPr/>
        </p:nvSpPr>
        <p:spPr>
          <a:xfrm>
            <a:off x="7041620" y="1746504"/>
            <a:ext cx="4208242"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knowable_by = min(label_ts, as_of)</a:t>
            </a:r>
          </a:p>
          <a:p>
            <a:pPr>
              <a:lnSpc>
                <a:spcPct val="134000"/>
              </a:lnSpc>
              <a:spcBef>
                <a:spcPts val="0"/>
              </a:spcBef>
              <a:spcAft>
                <a:spcPts val="0"/>
              </a:spcAft>
            </a:pPr>
            <a:r>
              <a:rPr sz="950" b="0" i="0">
                <a:solidFill>
                  <a:srgbClr val="1C1C1E"/>
                </a:solidFill>
                <a:latin typeface="Consolas"/>
              </a:rPr>
              <a:t>eligible = [r for r in records</a:t>
            </a:r>
          </a:p>
          <a:p>
            <a:pPr>
              <a:lnSpc>
                <a:spcPct val="134000"/>
              </a:lnSpc>
              <a:spcBef>
                <a:spcPts val="0"/>
              </a:spcBef>
              <a:spcAft>
                <a:spcPts val="0"/>
              </a:spcAft>
            </a:pPr>
            <a:r>
              <a:rPr sz="950" b="0" i="0">
                <a:solidFill>
                  <a:srgbClr val="1C1C1E"/>
                </a:solidFill>
                <a:latin typeface="Consolas"/>
              </a:rPr>
              <a:t>            if r[VALID_TIME]  &lt;= label_ts</a:t>
            </a:r>
          </a:p>
          <a:p>
            <a:pPr>
              <a:lnSpc>
                <a:spcPct val="134000"/>
              </a:lnSpc>
              <a:spcBef>
                <a:spcPts val="0"/>
              </a:spcBef>
              <a:spcAft>
                <a:spcPts val="0"/>
              </a:spcAft>
            </a:pPr>
            <a:r>
              <a:rPr sz="950" b="0" i="0">
                <a:solidFill>
                  <a:srgbClr val="1C1C1E"/>
                </a:solidFill>
                <a:latin typeface="Consolas"/>
              </a:rPr>
              <a:t>            and r[INGEST_TIME] &lt;= knowable_by]</a:t>
            </a:r>
          </a:p>
          <a:p>
            <a:pPr>
              <a:lnSpc>
                <a:spcPct val="134000"/>
              </a:lnSpc>
              <a:spcBef>
                <a:spcPts val="0"/>
              </a:spcBef>
              <a:spcAft>
                <a:spcPts val="0"/>
              </a:spcAft>
            </a:pPr>
            <a:r>
              <a:rPr sz="950" b="0" i="0">
                <a:solidFill>
                  <a:srgbClr val="1C1C1E"/>
                </a:solidFill>
                <a:latin typeface="Consolas"/>
              </a:rPr>
              <a:t>return max(eligible,</a:t>
            </a:r>
          </a:p>
          <a:p>
            <a:pPr>
              <a:lnSpc>
                <a:spcPct val="134000"/>
              </a:lnSpc>
              <a:spcBef>
                <a:spcPts val="0"/>
              </a:spcBef>
              <a:spcAft>
                <a:spcPts val="0"/>
              </a:spcAft>
            </a:pPr>
            <a:r>
              <a:rPr sz="950" b="0" i="0">
                <a:solidFill>
                  <a:srgbClr val="1C1C1E"/>
                </a:solidFill>
                <a:latin typeface="Consolas"/>
              </a:rPr>
              <a:t>           key=lambda r: (r[VALID_TIME],</a:t>
            </a:r>
          </a:p>
          <a:p>
            <a:pPr>
              <a:lnSpc>
                <a:spcPct val="134000"/>
              </a:lnSpc>
              <a:spcBef>
                <a:spcPts val="0"/>
              </a:spcBef>
              <a:spcAft>
                <a:spcPts val="0"/>
              </a:spcAft>
            </a:pPr>
            <a:r>
              <a:rPr sz="950" b="0" i="0">
                <a:solidFill>
                  <a:srgbClr val="1C1C1E"/>
                </a:solidFill>
                <a:latin typeface="Consolas"/>
              </a:rPr>
              <a:t>                          r[INGEST_TIME]))</a:t>
            </a:r>
          </a:p>
        </p:txBody>
      </p:sp>
      <p:sp>
        <p:nvSpPr>
          <p:cNvPr id="18" name="TextBox 17"/>
          <p:cNvSpPr txBox="1"/>
          <p:nvPr/>
        </p:nvSpPr>
        <p:spPr>
          <a:xfrm>
            <a:off x="777240" y="4009621"/>
            <a:ext cx="10637215" cy="146304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Two clocks, and the min is the reproducibility guarantee. </a:t>
            </a:r>
            <a:r>
              <a:rPr sz="1150" b="0" i="0">
                <a:solidFill>
                  <a:srgbClr val="1C1C1E"/>
                </a:solidFill>
                <a:latin typeface="Calibri"/>
              </a:rPr>
              <a:t>Valid time is what was true by the label; transaction time is what was knowable by it. Bounding ingest by </a:t>
            </a:r>
            <a:r>
              <a:rPr sz="1150" b="0" i="0">
                <a:solidFill>
                  <a:srgbClr val="1C1C1E"/>
                </a:solidFill>
                <a:latin typeface="Consolas"/>
              </a:rPr>
              <a:t>min(ℓ, a)</a:t>
            </a:r>
            <a:r>
              <a:rPr sz="1150" b="0" i="0">
                <a:solidFill>
                  <a:srgbClr val="1C1C1E"/>
                </a:solidFill>
                <a:latin typeface="Calibri"/>
              </a:rPr>
              <a:t> makes every a ≥ ℓ give the same answer: the row assembled the day the label matured and the same row re-assembled a year later are identical, however many restatements arrived in between. The table format supplies the second clock — a version pinned per view, </a:t>
            </a:r>
            <a:r>
              <a:rPr sz="1150" b="1" i="0">
                <a:solidFill>
                  <a:srgbClr val="1C1C1E"/>
                </a:solidFill>
                <a:latin typeface="Calibri"/>
              </a:rPr>
              <a:t>Delta or Iceberg</a:t>
            </a:r>
            <a:r>
              <a:rPr sz="1150" b="0" i="0">
                <a:solidFill>
                  <a:srgbClr val="1C1C1E"/>
                </a:solidFill>
                <a:latin typeface="Calibri"/>
              </a:rPr>
              <a:t> by configuration, since both answer the six questions MAYA asks and a bank should not have to keep a second copy of its features in a format its query engines cannot read. There is no Spark here: the join is a Python loop over the rows of a pinned version, which is the same operator at a smaller scale and is where a cluster engine would go.</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CORE/FEATURES/SOURCES.PY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Values are uploaded, or pulled — never read through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73</a:t>
            </a:r>
          </a:p>
        </p:txBody>
      </p:sp>
      <p:sp>
        <p:nvSpPr>
          <p:cNvPr id="10" name="Rectangle 9"/>
          <p:cNvSpPr/>
          <p:nvPr/>
        </p:nvSpPr>
        <p:spPr>
          <a:xfrm>
            <a:off x="777240" y="1353312"/>
            <a:ext cx="5531351" cy="307572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7572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DECLARE, THEN PULL</a:t>
            </a:r>
          </a:p>
        </p:txBody>
      </p:sp>
      <p:sp>
        <p:nvSpPr>
          <p:cNvPr id="13" name="TextBox 12"/>
          <p:cNvSpPr txBox="1"/>
          <p:nvPr/>
        </p:nvSpPr>
        <p:spPr>
          <a:xfrm>
            <a:off x="978408" y="1746504"/>
            <a:ext cx="5165591" cy="2600233"/>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PUT  /feature-views/{name}/source</a:t>
            </a:r>
          </a:p>
          <a:p>
            <a:pPr>
              <a:lnSpc>
                <a:spcPct val="134000"/>
              </a:lnSpc>
              <a:spcBef>
                <a:spcPts val="0"/>
              </a:spcBef>
              <a:spcAft>
                <a:spcPts val="0"/>
              </a:spcAft>
            </a:pPr>
            <a:r>
              <a:rPr sz="900" b="0" i="0">
                <a:solidFill>
                  <a:srgbClr val="1C1C1E"/>
                </a:solidFill>
                <a:latin typeface="Consolas"/>
              </a:rPr>
              <a:t>{"kind": "sql",</a:t>
            </a:r>
          </a:p>
          <a:p>
            <a:pPr>
              <a:lnSpc>
                <a:spcPct val="134000"/>
              </a:lnSpc>
              <a:spcBef>
                <a:spcPts val="0"/>
              </a:spcBef>
              <a:spcAft>
                <a:spcPts val="0"/>
              </a:spcAft>
            </a:pPr>
            <a:r>
              <a:rPr sz="900" b="0" i="0">
                <a:solidFill>
                  <a:srgbClr val="1C1C1E"/>
                </a:solidFill>
                <a:latin typeface="Consolas"/>
              </a:rPr>
              <a:t> "locator": "postgresql://reader@warehouse/risk",</a:t>
            </a:r>
          </a:p>
          <a:p>
            <a:pPr>
              <a:lnSpc>
                <a:spcPct val="134000"/>
              </a:lnSpc>
              <a:spcBef>
                <a:spcPts val="0"/>
              </a:spcBef>
              <a:spcAft>
                <a:spcPts val="0"/>
              </a:spcAft>
            </a:pPr>
            <a:r>
              <a:rPr sz="900" b="0" i="0">
                <a:solidFill>
                  <a:srgbClr val="1C1C1E"/>
                </a:solidFill>
                <a:latin typeface="Consolas"/>
              </a:rPr>
              <a:t> "statement": "SELECT customer_number, asof,",</a:t>
            </a:r>
          </a:p>
          <a:p>
            <a:pPr>
              <a:lnSpc>
                <a:spcPct val="134000"/>
              </a:lnSpc>
              <a:spcBef>
                <a:spcPts val="0"/>
              </a:spcBef>
              <a:spcAft>
                <a:spcPts val="0"/>
              </a:spcAft>
            </a:pPr>
            <a:r>
              <a:rPr sz="900" b="0" i="0">
                <a:solidFill>
                  <a:srgbClr val="1C1C1E"/>
                </a:solidFill>
                <a:latin typeface="Consolas"/>
              </a:rPr>
              <a:t>               loaded_at, dscr FROM sb_risk",</a:t>
            </a:r>
          </a:p>
          <a:p>
            <a:pPr>
              <a:lnSpc>
                <a:spcPct val="134000"/>
              </a:lnSpc>
              <a:spcBef>
                <a:spcPts val="0"/>
              </a:spcBef>
              <a:spcAft>
                <a:spcPts val="0"/>
              </a:spcAft>
            </a:pPr>
            <a:r>
              <a:rPr sz="900" b="0" i="0">
                <a:solidFill>
                  <a:srgbClr val="1C1C1E"/>
                </a:solidFill>
                <a:latin typeface="Consolas"/>
              </a:rPr>
              <a:t> "credential_ref": "warehouse-reader",</a:t>
            </a:r>
          </a:p>
          <a:p>
            <a:pPr>
              <a:lnSpc>
                <a:spcPct val="134000"/>
              </a:lnSpc>
              <a:spcBef>
                <a:spcPts val="0"/>
              </a:spcBef>
              <a:spcAft>
                <a:spcPts val="0"/>
              </a:spcAft>
            </a:pPr>
            <a:r>
              <a:rPr sz="900" b="0" i="0">
                <a:solidFill>
                  <a:srgbClr val="1C1C1E"/>
                </a:solidFill>
                <a:latin typeface="Consolas"/>
              </a:rPr>
              <a:t> "options": {"columns": {</a:t>
            </a:r>
          </a:p>
          <a:p>
            <a:pPr>
              <a:lnSpc>
                <a:spcPct val="134000"/>
              </a:lnSpc>
              <a:spcBef>
                <a:spcPts val="0"/>
              </a:spcBef>
              <a:spcAft>
                <a:spcPts val="0"/>
              </a:spcAft>
            </a:pPr>
            <a:r>
              <a:rPr sz="900" b="0" i="0">
                <a:solidFill>
                  <a:srgbClr val="1C1C1E"/>
                </a:solidFill>
                <a:latin typeface="Consolas"/>
              </a:rPr>
              <a:t>     "customer_number": "entity_id",</a:t>
            </a:r>
          </a:p>
          <a:p>
            <a:pPr>
              <a:lnSpc>
                <a:spcPct val="134000"/>
              </a:lnSpc>
              <a:spcBef>
                <a:spcPts val="0"/>
              </a:spcBef>
              <a:spcAft>
                <a:spcPts val="0"/>
              </a:spcAft>
            </a:pPr>
            <a:r>
              <a:rPr sz="900" b="0" i="0">
                <a:solidFill>
                  <a:srgbClr val="1C1C1E"/>
                </a:solidFill>
                <a:latin typeface="Consolas"/>
              </a:rPr>
              <a:t>     "asof": "event_ts",</a:t>
            </a:r>
          </a:p>
          <a:p>
            <a:pPr>
              <a:lnSpc>
                <a:spcPct val="134000"/>
              </a:lnSpc>
              <a:spcBef>
                <a:spcPts val="0"/>
              </a:spcBef>
              <a:spcAft>
                <a:spcPts val="0"/>
              </a:spcAft>
            </a:pPr>
            <a:r>
              <a:rPr sz="900" b="0" i="0">
                <a:solidFill>
                  <a:srgbClr val="1C1C1E"/>
                </a:solidFill>
                <a:latin typeface="Consolas"/>
              </a:rPr>
              <a:t>     "loaded_at": "ingest_ts"}}}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POST /feature-views/{name}/source/pull</a:t>
            </a:r>
          </a:p>
          <a:p>
            <a:pPr>
              <a:lnSpc>
                <a:spcPct val="134000"/>
              </a:lnSpc>
              <a:spcBef>
                <a:spcPts val="0"/>
              </a:spcBef>
              <a:spcAft>
                <a:spcPts val="0"/>
              </a:spcAft>
            </a:pPr>
            <a:r>
              <a:rPr sz="900" b="0" i="0">
                <a:solidFill>
                  <a:srgbClr val="1C1C1E"/>
                </a:solidFill>
                <a:latin typeface="Consolas"/>
              </a:rPr>
              <a:t>  -&gt; a NEW version. Never an update.</a:t>
            </a:r>
          </a:p>
        </p:txBody>
      </p:sp>
      <p:graphicFrame>
        <p:nvGraphicFramePr>
          <p:cNvPr id="14" name="Table 13"/>
          <p:cNvGraphicFramePr>
            <a:graphicFrameLocks noGrp="1"/>
          </p:cNvGraphicFramePr>
          <p:nvPr/>
        </p:nvGraphicFramePr>
        <p:xfrm>
          <a:off x="6627708" y="1353312"/>
          <a:ext cx="4786746" cy="2594609"/>
        </p:xfrm>
        <a:graphic>
          <a:graphicData uri="http://schemas.openxmlformats.org/drawingml/2006/table">
            <a:tbl>
              <a:tblPr firstRow="1">
                <a:tableStyleId>{5C22544A-7EE6-4342-B048-85BDC9FD1C3A}</a:tableStyleId>
              </a:tblPr>
              <a:tblGrid>
                <a:gridCol w="1535371"/>
                <a:gridCol w="3251375"/>
              </a:tblGrid>
              <a:tr h="329184">
                <a:tc>
                  <a:txBody>
                    <a:bodyPr wrap="square"/>
                    <a:lstStyle/>
                    <a:p>
                      <a:pPr algn="l"/>
                      <a:r>
                        <a:rPr sz="950" b="1">
                          <a:solidFill>
                            <a:srgbClr val="FFFFFF"/>
                          </a:solidFill>
                          <a:latin typeface="Calibri"/>
                        </a:rPr>
                        <a:t>Refused</a:t>
                      </a:r>
                    </a:p>
                  </a:txBody>
                  <a:tcPr marL="82296" marR="64008" marT="32004" marB="32004" anchor="ctr">
                    <a:solidFill>
                      <a:srgbClr val="A51C30"/>
                    </a:solidFill>
                  </a:tcPr>
                </a:tc>
                <a:tc>
                  <a:txBody>
                    <a:bodyPr wrap="square"/>
                    <a:lstStyle/>
                    <a:p>
                      <a:pPr algn="l"/>
                      <a:r>
                        <a:rPr sz="950" b="1">
                          <a:solidFill>
                            <a:srgbClr val="FFFFFF"/>
                          </a:solidFill>
                          <a:latin typeface="Calibri"/>
                        </a:rPr>
                        <a:t>Why</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a statement that writes</a:t>
                      </a:r>
                    </a:p>
                  </a:txBody>
                  <a:tcPr marL="82296" marR="64008" marT="32004" marB="32004" anchor="ctr">
                    <a:solidFill>
                      <a:srgbClr val="FFFFFF"/>
                    </a:solidFill>
                  </a:tcPr>
                </a:tc>
                <a:tc>
                  <a:txBody>
                    <a:bodyPr wrap="square"/>
                    <a:lstStyle/>
                    <a:p>
                      <a:pPr algn="l"/>
                      <a:r>
                        <a:rPr sz="900" b="0">
                          <a:solidFill>
                            <a:srgbClr val="1C1C1E"/>
                          </a:solidFill>
                          <a:latin typeface="Calibri"/>
                        </a:rPr>
                        <a:t>checked when STORED, not when run — the moment it is saved, somebody will schedule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two statements</a:t>
                      </a:r>
                    </a:p>
                  </a:txBody>
                  <a:tcPr marL="82296" marR="64008" marT="32004" marB="32004" anchor="ctr">
                    <a:solidFill>
                      <a:srgbClr val="F6F3EF"/>
                    </a:solidFill>
                  </a:tcPr>
                </a:tc>
                <a:tc>
                  <a:txBody>
                    <a:bodyPr wrap="square"/>
                    <a:lstStyle/>
                    <a:p>
                      <a:pPr algn="l"/>
                      <a:r>
                        <a:rPr sz="900" b="0">
                          <a:solidFill>
                            <a:srgbClr val="1C1C1E"/>
                          </a:solidFill>
                          <a:latin typeface="Calibri"/>
                        </a:rPr>
                        <a:t>a second appended to a read is how a read stops being one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a second source on one view</a:t>
                      </a:r>
                    </a:p>
                  </a:txBody>
                  <a:tcPr marL="82296" marR="64008" marT="32004" marB="32004" anchor="ctr">
                    <a:solidFill>
                      <a:srgbClr val="FFFFFF"/>
                    </a:solidFill>
                  </a:tcPr>
                </a:tc>
                <a:tc>
                  <a:txBody>
                    <a:bodyPr wrap="square"/>
                    <a:lstStyle/>
                    <a:p>
                      <a:pPr algn="l"/>
                      <a:r>
                        <a:rPr sz="900" b="0">
                          <a:solidFill>
                            <a:srgbClr val="1C1C1E"/>
                          </a:solidFill>
                          <a:latin typeface="Calibri"/>
                        </a:rPr>
                        <a:t>a view filled from two places has a provenance nobody can state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 pull returning nothing</a:t>
                      </a:r>
                    </a:p>
                  </a:txBody>
                  <a:tcPr marL="82296" marR="64008" marT="32004" marB="32004" anchor="ctr">
                    <a:solidFill>
                      <a:srgbClr val="F6F3EF"/>
                    </a:solidFill>
                  </a:tcPr>
                </a:tc>
                <a:tc>
                  <a:txBody>
                    <a:bodyPr wrap="square"/>
                    <a:lstStyle/>
                    <a:p>
                      <a:pPr algn="l"/>
                      <a:r>
                        <a:rPr sz="900" b="0">
                          <a:solidFill>
                            <a:srgbClr val="1C1C1E"/>
                          </a:solidFill>
                          <a:latin typeface="Calibri"/>
                        </a:rPr>
                        <a:t>a version of nothing is not a version</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storing a credential</a:t>
                      </a:r>
                    </a:p>
                  </a:txBody>
                  <a:tcPr marL="82296" marR="64008" marT="32004" marB="32004" anchor="ctr">
                    <a:solidFill>
                      <a:srgbClr val="FFFFFF"/>
                    </a:solidFill>
                  </a:tcPr>
                </a:tc>
                <a:tc>
                  <a:txBody>
                    <a:bodyPr wrap="square"/>
                    <a:lstStyle/>
                    <a:p>
                      <a:pPr algn="l"/>
                      <a:r>
                        <a:rPr sz="900" b="0">
                          <a:solidFill>
                            <a:srgbClr val="1C1C1E"/>
                          </a:solidFill>
                          <a:latin typeface="Calibri"/>
                        </a:rPr>
                        <a:t>a source names one; the deployment resolves it. The schema has nowhere to put a secret</a:t>
                      </a:r>
                    </a:p>
                  </a:txBody>
                  <a:tcPr marL="82296" marR="64008" marT="32004" marB="32004" anchor="ctr">
                    <a:solidFill>
                      <a:srgbClr val="FFFFFF"/>
                    </a:solidFill>
                  </a:tcPr>
                </a:tc>
              </a:tr>
            </a:tbl>
          </a:graphicData>
        </a:graphic>
      </p:graphicFrame>
      <p:sp>
        <p:nvSpPr>
          <p:cNvPr id="15" name="TextBox 14"/>
          <p:cNvSpPr txBox="1"/>
          <p:nvPr/>
        </p:nvSpPr>
        <p:spPr>
          <a:xfrm>
            <a:off x="777240" y="4685065"/>
            <a:ext cx="10637215" cy="137160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Copy, do not connect. </a:t>
            </a:r>
            <a:r>
              <a:rPr sz="1150" b="0" i="0">
                <a:solidFill>
                  <a:srgbClr val="1C1C1E"/>
                </a:solidFill>
                <a:latin typeface="Calibri"/>
              </a:rPr>
              <a:t>The guarantee above holds because rows carry both clocks and are never amended in place — a restatement is a NEW row, so the earlier read stays derivable. A warehouse table has neither property: once August’s restatement lands, May’s row is gone, and no read-time rule recovers what the June decision saw. The query would not fail. It would return the restated number and say nothing. So MAYA pulls — SQL through SQLAlchemy, files and S3 and GCS through pyarrow — bitemporalises what it got, and writes it into its own store as an ordinary, immutable, pinnable version. It costs a copy. It is the only way the operator survives contact with somebody else’s warehouse.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LEAKAGE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Three layers, and what each actually proves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74</a:t>
            </a:r>
          </a:p>
        </p:txBody>
      </p:sp>
      <p:graphicFrame>
        <p:nvGraphicFramePr>
          <p:cNvPr id="10" name="Table 9"/>
          <p:cNvGraphicFramePr>
            <a:graphicFrameLocks noGrp="1"/>
          </p:cNvGraphicFramePr>
          <p:nvPr/>
        </p:nvGraphicFramePr>
        <p:xfrm>
          <a:off x="777240" y="1353312"/>
          <a:ext cx="10637214" cy="2308885"/>
        </p:xfrm>
        <a:graphic>
          <a:graphicData uri="http://schemas.openxmlformats.org/drawingml/2006/table">
            <a:tbl>
              <a:tblPr firstRow="1">
                <a:tableStyleId>{5C22544A-7EE6-4342-B048-85BDC9FD1C3A}</a:tableStyleId>
              </a:tblPr>
              <a:tblGrid>
                <a:gridCol w="1834002"/>
                <a:gridCol w="4951807"/>
                <a:gridCol w="3851405"/>
              </a:tblGrid>
              <a:tr h="333781">
                <a:tc>
                  <a:txBody>
                    <a:bodyPr wrap="square"/>
                    <a:lstStyle/>
                    <a:p>
                      <a:pPr algn="l"/>
                      <a:r>
                        <a:rPr sz="1100" b="1">
                          <a:solidFill>
                            <a:srgbClr val="FFFFFF"/>
                          </a:solidFill>
                          <a:latin typeface="Calibri"/>
                        </a:rPr>
                        <a:t>Layer</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What it proves</a:t>
                      </a:r>
                    </a:p>
                  </a:txBody>
                  <a:tcPr marL="82296" marR="64008" marT="32004" marB="32004" anchor="ctr">
                    <a:solidFill>
                      <a:srgbClr val="A51C30"/>
                    </a:solidFill>
                  </a:tcPr>
                </a:tc>
              </a:tr>
              <a:tr h="658368">
                <a:tc>
                  <a:txBody>
                    <a:bodyPr wrap="square"/>
                    <a:lstStyle/>
                    <a:p>
                      <a:pPr algn="l"/>
                      <a:r>
                        <a:rPr sz="1050" b="1">
                          <a:solidFill>
                            <a:srgbClr val="A51C30"/>
                          </a:solidFill>
                          <a:latin typeface="Calibri"/>
                        </a:rPr>
                        <a:t>1 · Static analysis</a:t>
                      </a:r>
                    </a:p>
                  </a:txBody>
                  <a:tcPr marL="82296" marR="64008" marT="32004" marB="32004" anchor="ctr">
                    <a:solidFill>
                      <a:srgbClr val="FFFFFF"/>
                    </a:solidFill>
                  </a:tcPr>
                </a:tc>
                <a:tc>
                  <a:txBody>
                    <a:bodyPr wrap="square"/>
                    <a:lstStyle/>
                    <a:p>
                      <a:pPr algn="l"/>
                      <a:r>
                        <a:rPr sz="1050" b="0">
                          <a:solidFill>
                            <a:srgbClr val="1C1C1E"/>
                          </a:solidFill>
                          <a:latin typeface="Calibri"/>
                        </a:rPr>
                        <a:t>Requires BOTH a valid-time and a transaction-time bound on the assembly. Missing either and it is rejected outright</a:t>
                      </a:r>
                    </a:p>
                  </a:txBody>
                  <a:tcPr marL="82296" marR="64008" marT="32004" marB="32004" anchor="ctr">
                    <a:solidFill>
                      <a:srgbClr val="FFFFFF"/>
                    </a:solidFill>
                  </a:tcPr>
                </a:tc>
                <a:tc>
                  <a:txBody>
                    <a:bodyPr wrap="square"/>
                    <a:lstStyle/>
                    <a:p>
                      <a:pPr algn="l"/>
                      <a:r>
                        <a:rPr sz="1050" b="0">
                          <a:solidFill>
                            <a:srgbClr val="1C1C1E"/>
                          </a:solidFill>
                          <a:latin typeface="Calibri"/>
                        </a:rPr>
                        <a:t>A genuine proof for the dominant leakage class. This is the strong check</a:t>
                      </a:r>
                    </a:p>
                  </a:txBody>
                  <a:tcPr marL="82296" marR="64008" marT="32004" marB="32004" anchor="ctr">
                    <a:solidFill>
                      <a:srgbClr val="FFFFFF"/>
                    </a:solidFill>
                  </a:tcPr>
                </a:tc>
              </a:tr>
              <a:tr h="658368">
                <a:tc>
                  <a:txBody>
                    <a:bodyPr wrap="square"/>
                    <a:lstStyle/>
                    <a:p>
                      <a:pPr algn="l"/>
                      <a:r>
                        <a:rPr sz="1050" b="1">
                          <a:solidFill>
                            <a:srgbClr val="A51C30"/>
                          </a:solidFill>
                          <a:latin typeface="Calibri"/>
                        </a:rPr>
                        <a:t>2 · Sampling</a:t>
                      </a:r>
                    </a:p>
                  </a:txBody>
                  <a:tcPr marL="82296" marR="64008" marT="32004" marB="32004" anchor="ctr">
                    <a:solidFill>
                      <a:srgbClr val="F6F3EF"/>
                    </a:solidFill>
                  </a:tcPr>
                </a:tc>
                <a:tc>
                  <a:txBody>
                    <a:bodyPr wrap="square"/>
                    <a:lstStyle/>
                    <a:p>
                      <a:pPr algn="l"/>
                      <a:r>
                        <a:rPr sz="1050" b="0">
                          <a:solidFill>
                            <a:srgbClr val="1C1C1E"/>
                          </a:solidFill>
                          <a:latin typeface="Calibri"/>
                        </a:rPr>
                        <a:t>One recomputation of 200 sampled rows by a second code path, compared against the assembled values. Rows are bucketed by label value only</a:t>
                      </a:r>
                    </a:p>
                  </a:txBody>
                  <a:tcPr marL="82296" marR="64008" marT="32004" marB="32004" anchor="ctr">
                    <a:solidFill>
                      <a:srgbClr val="F6F3EF"/>
                    </a:solidFill>
                  </a:tcPr>
                </a:tc>
                <a:tc>
                  <a:txBody>
                    <a:bodyPr wrap="square"/>
                    <a:lstStyle/>
                    <a:p>
                      <a:pPr algn="l"/>
                      <a:r>
                        <a:rPr sz="1050" b="0">
                          <a:solidFill>
                            <a:srgbClr val="1C1C1E"/>
                          </a:solidFill>
                          <a:latin typeface="Calibri"/>
                        </a:rPr>
                        <a:t>Implementation drift between the two paths. NOT a wrong rule: both paths would be wrong together</a:t>
                      </a:r>
                    </a:p>
                  </a:txBody>
                  <a:tcPr marL="82296" marR="64008" marT="32004" marB="32004" anchor="ctr">
                    <a:solidFill>
                      <a:srgbClr val="F6F3EF"/>
                    </a:solidFill>
                  </a:tcPr>
                </a:tc>
              </a:tr>
              <a:tr h="658368">
                <a:tc>
                  <a:txBody>
                    <a:bodyPr wrap="square"/>
                    <a:lstStyle/>
                    <a:p>
                      <a:pPr algn="l"/>
                      <a:r>
                        <a:rPr sz="1050" b="1">
                          <a:solidFill>
                            <a:srgbClr val="A51C30"/>
                          </a:solidFill>
                          <a:latin typeface="Calibri"/>
                        </a:rPr>
                        <a:t>3 · Injection</a:t>
                      </a:r>
                    </a:p>
                  </a:txBody>
                  <a:tcPr marL="82296" marR="64008" marT="32004" marB="32004" anchor="ctr">
                    <a:solidFill>
                      <a:srgbClr val="FFFFFF"/>
                    </a:solidFill>
                  </a:tcPr>
                </a:tc>
                <a:tc>
                  <a:txBody>
                    <a:bodyPr wrap="square"/>
                    <a:lstStyle/>
                    <a:p>
                      <a:pPr algn="l"/>
                      <a:r>
                        <a:rPr sz="1050" b="0">
                          <a:solidFill>
                            <a:srgbClr val="1C1C1E"/>
                          </a:solidFill>
                          <a:latin typeface="Calibri"/>
                        </a:rPr>
                        <a:t>tests/test_features.py plants a deliberately leaky feature the verifier must catch</a:t>
                      </a:r>
                    </a:p>
                  </a:txBody>
                  <a:tcPr marL="82296" marR="64008" marT="32004" marB="32004" anchor="ctr">
                    <a:solidFill>
                      <a:srgbClr val="FFFFFF"/>
                    </a:solidFill>
                  </a:tcPr>
                </a:tc>
                <a:tc>
                  <a:txBody>
                    <a:bodyPr wrap="square"/>
                    <a:lstStyle/>
                    <a:p>
                      <a:pPr algn="l"/>
                      <a:r>
                        <a:rPr sz="1050" b="0">
                          <a:solidFill>
                            <a:srgbClr val="1C1C1E"/>
                          </a:solidFill>
                          <a:latin typeface="Calibri"/>
                        </a:rPr>
                        <a:t>That the verifier still works — the failure mode that would otherwise be silent</a:t>
                      </a:r>
                    </a:p>
                  </a:txBody>
                  <a:tcPr marL="82296" marR="64008" marT="32004" marB="32004" anchor="ctr">
                    <a:solidFill>
                      <a:srgbClr val="FFFFFF"/>
                    </a:solidFill>
                  </a:tcPr>
                </a:tc>
              </a:tr>
            </a:tbl>
          </a:graphicData>
        </a:graphic>
      </p:graphicFrame>
      <p:sp>
        <p:nvSpPr>
          <p:cNvPr id="11" name="Rectangle 10"/>
          <p:cNvSpPr/>
          <p:nvPr/>
        </p:nvSpPr>
        <p:spPr>
          <a:xfrm>
            <a:off x="777240" y="3918229"/>
            <a:ext cx="10637215"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4027957"/>
            <a:ext cx="9997135" cy="1207008"/>
          </a:xfrm>
          <a:prstGeom prst="rect">
            <a:avLst/>
          </a:prstGeom>
          <a:noFill/>
        </p:spPr>
        <p:txBody>
          <a:bodyPr wrap="square" lIns="0" rIns="0" tIns="0" bIns="0" anchor="t">
            <a:spAutoFit/>
          </a:bodyPr>
          <a:lstStyle/>
          <a:p>
            <a:pPr algn="l">
              <a:spcBef>
                <a:spcPts val="0"/>
              </a:spcBef>
              <a:spcAft>
                <a:spcPts val="500"/>
              </a:spcAft>
            </a:pPr>
            <a:r>
              <a:rPr sz="1350" b="1" i="0">
                <a:solidFill>
                  <a:srgbClr val="FFFFFF"/>
                </a:solidFill>
                <a:latin typeface="Georgia"/>
              </a:rPr>
              <a:t>What layer 2 does not claim</a:t>
            </a:r>
          </a:p>
          <a:p>
            <a:pPr>
              <a:lnSpc>
                <a:spcPct val="126000"/>
              </a:lnSpc>
              <a:spcBef>
                <a:spcPts val="0"/>
              </a:spcBef>
              <a:spcAft>
                <a:spcPts val="0"/>
              </a:spcAft>
            </a:pPr>
            <a:r>
              <a:rPr sz="1100" b="1" i="0">
                <a:solidFill>
                  <a:srgbClr val="FFFFFF"/>
                </a:solidFill>
                <a:latin typeface="Calibri"/>
              </a:rPr>
              <a:t>The sample is 200, hard-coded; the stratum is the label value and nothing else; and no power computation exists anywhere in the repository. </a:t>
            </a:r>
            <a:r>
              <a:rPr sz="1100" b="0" i="0">
                <a:solidFill>
                  <a:srgbClr val="F6E0E4"/>
                </a:solidFill>
                <a:latin typeface="Calibri"/>
              </a:rPr>
              <a:t>So “detects systematic violations at a stated statistical power” was a claim about a number nobody computes. It catches the two paths disagreeing. A leak confined to a rare, high-value segment is exactly where it fails, and layer 1 remains the only one that proves something about the data.</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TRAINING–SERVING SKEW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Serving must read the version the contract pinned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75</a:t>
            </a:r>
          </a:p>
        </p:txBody>
      </p:sp>
      <p:sp>
        <p:nvSpPr>
          <p:cNvPr id="10" name="Rectangle 9"/>
          <p:cNvSpPr/>
          <p:nvPr/>
        </p:nvSpPr>
        <p:spPr>
          <a:xfrm>
            <a:off x="777240" y="1353312"/>
            <a:ext cx="10637215" cy="1005840"/>
          </a:xfrm>
          <a:prstGeom prst="rect">
            <a:avLst/>
          </a:prstGeom>
          <a:solidFill>
            <a:srgbClr val="8B2F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1097280" y="1499616"/>
            <a:ext cx="9997135" cy="804672"/>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FFFFFF"/>
                </a:solidFill>
                <a:latin typeface="Calibri"/>
              </a:rPr>
              <a:t>The failure this prevents. </a:t>
            </a:r>
            <a:r>
              <a:rPr sz="1150" b="0" i="0">
                <a:solidFill>
                  <a:srgbClr val="F6E0E4"/>
                </a:solidFill>
                <a:latin typeface="Calibri"/>
              </a:rPr>
              <a:t>A contract pins feature view v7; an online store serving “latest” hands the model features it was never fitted on — </a:t>
            </a:r>
            <a:r>
              <a:rPr sz="1150" b="1" i="0">
                <a:solidFill>
                  <a:srgbClr val="FFFFFF"/>
                </a:solidFill>
                <a:latin typeface="Calibri"/>
              </a:rPr>
              <a:t>with the contract digest still matching and every monitor green.</a:t>
            </a:r>
            <a:r>
              <a:rPr sz="1150" b="0" i="0">
                <a:solidFill>
                  <a:srgbClr val="F6E0E4"/>
                </a:solidFill>
                <a:latin typeface="Calibri"/>
              </a:rPr>
              <a:t>  Silently wrong production scoring, introduced by the platform that exists to prevent it.</a:t>
            </a:r>
          </a:p>
        </p:txBody>
      </p:sp>
      <p:sp>
        <p:nvSpPr>
          <p:cNvPr id="12" name="Rectangle 11"/>
          <p:cNvSpPr/>
          <p:nvPr/>
        </p:nvSpPr>
        <p:spPr>
          <a:xfrm>
            <a:off x="777240" y="2587752"/>
            <a:ext cx="4893118" cy="80279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2587752"/>
            <a:ext cx="41148" cy="80279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978408" y="2679192"/>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VERSION WOULD BE PART OF THE KEY</a:t>
            </a:r>
          </a:p>
        </p:txBody>
      </p:sp>
      <p:sp>
        <p:nvSpPr>
          <p:cNvPr id="15" name="TextBox 14"/>
          <p:cNvSpPr txBox="1"/>
          <p:nvPr/>
        </p:nvSpPr>
        <p:spPr>
          <a:xfrm>
            <a:off x="978408" y="2980944"/>
            <a:ext cx="4527358" cy="327309"/>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1C1C1E"/>
                </a:solidFill>
                <a:latin typeface="Consolas"/>
              </a:rPr>
              <a:t>key = f"fv:{feature_view_id}:v{version}:{entity_id}"</a:t>
            </a:r>
          </a:p>
        </p:txBody>
      </p:sp>
      <p:graphicFrame>
        <p:nvGraphicFramePr>
          <p:cNvPr id="16" name="Table 15"/>
          <p:cNvGraphicFramePr>
            <a:graphicFrameLocks noGrp="1"/>
          </p:cNvGraphicFramePr>
          <p:nvPr/>
        </p:nvGraphicFramePr>
        <p:xfrm>
          <a:off x="6095847" y="2542032"/>
          <a:ext cx="5318606" cy="1703374"/>
        </p:xfrm>
        <a:graphic>
          <a:graphicData uri="http://schemas.openxmlformats.org/drawingml/2006/table">
            <a:tbl>
              <a:tblPr firstRow="1">
                <a:tableStyleId>{5C22544A-7EE6-4342-B048-85BDC9FD1C3A}</a:tableStyleId>
              </a:tblPr>
              <a:tblGrid>
                <a:gridCol w="1506938"/>
                <a:gridCol w="3811668"/>
              </a:tblGrid>
              <a:tr h="329184">
                <a:tc>
                  <a:txBody>
                    <a:bodyPr wrap="square"/>
                    <a:lstStyle/>
                    <a:p>
                      <a:pPr algn="l"/>
                      <a:r>
                        <a:rPr sz="1050" b="1">
                          <a:solidFill>
                            <a:srgbClr val="FFFFFF"/>
                          </a:solidFill>
                          <a:latin typeface="Calibri"/>
                        </a:rPr>
                        <a:t>Phase</a:t>
                      </a:r>
                    </a:p>
                  </a:txBody>
                  <a:tcPr marL="82296" marR="64008" marT="32004" marB="32004" anchor="ctr">
                    <a:solidFill>
                      <a:srgbClr val="A51C30"/>
                    </a:solidFill>
                  </a:tcPr>
                </a:tc>
                <a:tc>
                  <a:txBody>
                    <a:bodyPr wrap="square"/>
                    <a:lstStyle/>
                    <a:p>
                      <a:pPr algn="l"/>
                      <a:r>
                        <a:rPr sz="1050" b="1">
                          <a:solidFill>
                            <a:srgbClr val="FFFFFF"/>
                          </a:solidFill>
                          <a:latin typeface="Calibri"/>
                        </a:rPr>
                        <a:t>Behaviour</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Publish v(n+1)</a:t>
                      </a:r>
                    </a:p>
                  </a:txBody>
                  <a:tcPr marL="82296" marR="64008" marT="32004" marB="32004" anchor="ctr">
                    <a:solidFill>
                      <a:srgbClr val="FFFFFF"/>
                    </a:solidFill>
                  </a:tcPr>
                </a:tc>
                <a:tc>
                  <a:txBody>
                    <a:bodyPr wrap="square"/>
                    <a:lstStyle/>
                    <a:p>
                      <a:pPr algn="l"/>
                      <a:r>
                        <a:rPr sz="1050" b="0">
                          <a:solidFill>
                            <a:srgbClr val="1C1C1E"/>
                          </a:solidFill>
                          <a:latin typeface="Calibri"/>
                        </a:rPr>
                        <a:t>Begin dual-write to both namespaces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Steady state</a:t>
                      </a:r>
                    </a:p>
                  </a:txBody>
                  <a:tcPr marL="82296" marR="64008" marT="32004" marB="32004" anchor="ctr">
                    <a:solidFill>
                      <a:srgbClr val="F6F3EF"/>
                    </a:solidFill>
                  </a:tcPr>
                </a:tc>
                <a:tc>
                  <a:txBody>
                    <a:bodyPr wrap="square"/>
                    <a:lstStyle/>
                    <a:p>
                      <a:pPr algn="l"/>
                      <a:r>
                        <a:rPr sz="1050" b="0">
                          <a:solidFill>
                            <a:srgbClr val="1C1C1E"/>
                          </a:solidFill>
                          <a:latin typeface="Calibri"/>
                        </a:rPr>
                        <a:t>Serving reads the namespace PINNED BY THE CONTRACT, never “latest”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Retire v(n)</a:t>
                      </a:r>
                    </a:p>
                  </a:txBody>
                  <a:tcPr marL="82296" marR="64008" marT="32004" marB="32004" anchor="ctr">
                    <a:solidFill>
                      <a:srgbClr val="FFFFFF"/>
                    </a:solidFill>
                  </a:tcPr>
                </a:tc>
                <a:tc>
                  <a:txBody>
                    <a:bodyPr wrap="square"/>
                    <a:lstStyle/>
                    <a:p>
                      <a:pPr algn="l"/>
                      <a:r>
                        <a:rPr sz="1050" b="0">
                          <a:solidFill>
                            <a:srgbClr val="1C1C1E"/>
                          </a:solidFill>
                          <a:latin typeface="Calibri"/>
                        </a:rPr>
                        <a:t>Only when zero active contracts reference it — a governed action with consumer-impact check</a:t>
                      </a:r>
                    </a:p>
                  </a:txBody>
                  <a:tcPr marL="82296" marR="64008" marT="32004" marB="32004" anchor="ctr">
                    <a:solidFill>
                      <a:srgbClr val="FFFFFF"/>
                    </a:solidFill>
                  </a:tcPr>
                </a:tc>
              </a:tr>
            </a:tbl>
          </a:graphicData>
        </a:graphic>
      </p:graphicFrame>
      <p:sp>
        <p:nvSpPr>
          <p:cNvPr id="17" name="TextBox 16"/>
          <p:cNvSpPr txBox="1"/>
          <p:nvPr/>
        </p:nvSpPr>
        <p:spPr>
          <a:xfrm>
            <a:off x="777240" y="3685031"/>
            <a:ext cx="4893118" cy="164592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Law L-17 was recorded as blocked on an online store, and was blocked on the wrong thing. </a:t>
            </a:r>
            <a:r>
              <a:rPr sz="1100" b="0" i="0">
                <a:solidFill>
                  <a:srgbClr val="1C1C1E"/>
                </a:solidFill>
                <a:latin typeface="Calibri"/>
              </a:rPr>
              <a:t>A store sits on the serving path at request latency, and this platform does not go there. The engine already knows which namespaces it read, so it attests them and MAYA compares against what the contract pins — the same shape as every other claim here: the platform does not perform the act, it holds whoever did to what they said they did. </a:t>
            </a:r>
            <a:r>
              <a:rPr sz="1100" b="1" i="0">
                <a:solidFill>
                  <a:srgbClr val="A51C30"/>
                </a:solidFill>
                <a:latin typeface="Calibri"/>
              </a:rPr>
              <a:t>The same move made value-level skew detection possible, </a:t>
            </a:r>
            <a:r>
              <a:rPr sz="1100" b="0" i="0">
                <a:solidFill>
                  <a:srgbClr val="1C1C1E"/>
                </a:solidFill>
                <a:latin typeface="Calibri"/>
              </a:rPr>
              <a:t>and having two clocks is what separates a stale value from one that is correct today and was not knowable at the decision — the kind every backtest passes.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TELEMETRY AND EVALUATION</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Monitoring reads two streams, and the gap between them is the point</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76</a:t>
            </a:r>
          </a:p>
        </p:txBody>
      </p:sp>
      <p:sp>
        <p:nvSpPr>
          <p:cNvPr id="10" name="Rectangle 9"/>
          <p:cNvSpPr/>
          <p:nvPr/>
        </p:nvSpPr>
        <p:spPr>
          <a:xfrm>
            <a:off x="777240" y="1764792"/>
            <a:ext cx="5090007" cy="9144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509000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14983" y="1911095"/>
            <a:ext cx="4614519" cy="731520"/>
          </a:xfrm>
          <a:prstGeom prst="rect">
            <a:avLst/>
          </a:prstGeom>
          <a:noFill/>
        </p:spPr>
        <p:txBody>
          <a:bodyPr wrap="square" lIns="0" rIns="0" tIns="0" bIns="0" anchor="t">
            <a:spAutoFit/>
          </a:bodyPr>
          <a:lstStyle/>
          <a:p>
            <a:pPr algn="l">
              <a:spcBef>
                <a:spcPts val="0"/>
              </a:spcBef>
              <a:spcAft>
                <a:spcPts val="300"/>
              </a:spcAft>
            </a:pPr>
            <a:r>
              <a:rPr sz="1300" b="1" i="0">
                <a:solidFill>
                  <a:srgbClr val="A51C30"/>
                </a:solidFill>
                <a:latin typeface="Consolas"/>
              </a:rPr>
              <a:t>scores</a:t>
            </a:r>
          </a:p>
          <a:p>
            <a:pPr>
              <a:lnSpc>
                <a:spcPct val="120000"/>
              </a:lnSpc>
              <a:spcBef>
                <a:spcPts val="0"/>
              </a:spcBef>
              <a:spcAft>
                <a:spcPts val="0"/>
              </a:spcAft>
            </a:pPr>
            <a:r>
              <a:rPr sz="1050" b="0" i="0">
                <a:solidFill>
                  <a:srgbClr val="4A4F57"/>
                </a:solidFill>
                <a:latin typeface="Calibri"/>
              </a:rPr>
              <a:t>What the model produced, when it produced it. entity_id · scored_at · score</a:t>
            </a:r>
          </a:p>
        </p:txBody>
      </p:sp>
      <p:sp>
        <p:nvSpPr>
          <p:cNvPr id="13" name="Rectangle 12"/>
          <p:cNvSpPr/>
          <p:nvPr/>
        </p:nvSpPr>
        <p:spPr>
          <a:xfrm>
            <a:off x="6324447" y="1764792"/>
            <a:ext cx="5090007" cy="9144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324447" y="1764792"/>
            <a:ext cx="5090007" cy="45720"/>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562191" y="1911095"/>
            <a:ext cx="4614519" cy="731520"/>
          </a:xfrm>
          <a:prstGeom prst="rect">
            <a:avLst/>
          </a:prstGeom>
          <a:noFill/>
        </p:spPr>
        <p:txBody>
          <a:bodyPr wrap="square" lIns="0" rIns="0" tIns="0" bIns="0" anchor="t">
            <a:spAutoFit/>
          </a:bodyPr>
          <a:lstStyle/>
          <a:p>
            <a:pPr algn="l">
              <a:spcBef>
                <a:spcPts val="0"/>
              </a:spcBef>
              <a:spcAft>
                <a:spcPts val="300"/>
              </a:spcAft>
            </a:pPr>
            <a:r>
              <a:rPr sz="1300" b="1" i="0">
                <a:solidFill>
                  <a:srgbClr val="2E4057"/>
                </a:solidFill>
                <a:latin typeface="Consolas"/>
              </a:rPr>
              <a:t>outcomes</a:t>
            </a:r>
          </a:p>
          <a:p>
            <a:pPr>
              <a:lnSpc>
                <a:spcPct val="120000"/>
              </a:lnSpc>
              <a:spcBef>
                <a:spcPts val="0"/>
              </a:spcBef>
              <a:spcAft>
                <a:spcPts val="0"/>
              </a:spcAft>
            </a:pPr>
            <a:r>
              <a:rPr sz="1050" b="0" i="0">
                <a:solidFill>
                  <a:srgbClr val="4A4F57"/>
                </a:solidFill>
                <a:latin typeface="Calibri"/>
              </a:rPr>
              <a:t>What actually happened, learned later. entity_id · label · label_ts</a:t>
            </a:r>
          </a:p>
        </p:txBody>
      </p:sp>
      <p:graphicFrame>
        <p:nvGraphicFramePr>
          <p:cNvPr id="16" name="Table 15"/>
          <p:cNvGraphicFramePr>
            <a:graphicFrameLocks noGrp="1"/>
          </p:cNvGraphicFramePr>
          <p:nvPr/>
        </p:nvGraphicFramePr>
        <p:xfrm>
          <a:off x="777240" y="2862072"/>
          <a:ext cx="6382328" cy="2666896"/>
        </p:xfrm>
        <a:graphic>
          <a:graphicData uri="http://schemas.openxmlformats.org/drawingml/2006/table">
            <a:tbl>
              <a:tblPr firstRow="1">
                <a:tableStyleId>{5C22544A-7EE6-4342-B048-85BDC9FD1C3A}</a:tableStyleId>
              </a:tblPr>
              <a:tblGrid>
                <a:gridCol w="2644107"/>
                <a:gridCol w="3738221"/>
              </a:tblGrid>
              <a:tr h="329184">
                <a:tc>
                  <a:txBody>
                    <a:bodyPr wrap="square"/>
                    <a:lstStyle/>
                    <a:p>
                      <a:pPr algn="l"/>
                      <a:r>
                        <a:rPr sz="1000" b="1">
                          <a:solidFill>
                            <a:srgbClr val="FFFFFF"/>
                          </a:solidFill>
                          <a:latin typeface="Calibri"/>
                        </a:rPr>
                        <a:t>Ingestion rule</a:t>
                      </a:r>
                    </a:p>
                  </a:txBody>
                  <a:tcPr marL="82296" marR="64008" marT="32004" marB="32004" anchor="ctr">
                    <a:solidFill>
                      <a:srgbClr val="A51C30"/>
                    </a:solidFill>
                  </a:tcPr>
                </a:tc>
                <a:tc>
                  <a:txBody>
                    <a:bodyPr wrap="square"/>
                    <a:lstStyle/>
                    <a:p>
                      <a:pPr algn="l"/>
                      <a:r>
                        <a:rPr sz="100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Idempotent on the digest of the batch's own rows</a:t>
                      </a:r>
                    </a:p>
                  </a:txBody>
                  <a:tcPr marL="82296" marR="64008" marT="32004" marB="32004" anchor="ctr">
                    <a:solidFill>
                      <a:srgbClr val="FFFFFF"/>
                    </a:solidFill>
                  </a:tcPr>
                </a:tc>
                <a:tc>
                  <a:txBody>
                    <a:bodyPr wrap="square"/>
                    <a:lstStyle/>
                    <a:p>
                      <a:pPr algn="l"/>
                      <a:r>
                        <a:rPr sz="950" b="0">
                          <a:solidFill>
                            <a:srgbClr val="1C1C1E"/>
                          </a:solidFill>
                          <a:latin typeface="Calibri"/>
                        </a:rPr>
                        <a:t>Collectors deliver at least once; double-counting a redelivered batch reports a population that never existed</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 row without its OWN timestamp is refused</a:t>
                      </a:r>
                    </a:p>
                  </a:txBody>
                  <a:tcPr marL="82296" marR="64008" marT="32004" marB="32004" anchor="ctr">
                    <a:solidFill>
                      <a:srgbClr val="F6F3EF"/>
                    </a:solidFill>
                  </a:tcPr>
                </a:tc>
                <a:tc>
                  <a:txBody>
                    <a:bodyPr wrap="square"/>
                    <a:lstStyle/>
                    <a:p>
                      <a:pPr algn="l"/>
                      <a:r>
                        <a:rPr sz="950" b="0">
                          <a:solidFill>
                            <a:srgbClr val="1C1C1E"/>
                          </a:solidFill>
                          <a:latin typeface="Calibri"/>
                        </a:rPr>
                        <a:t>Stamping it with the batch's arrival time is how every window silently becomes wrong</a:t>
                      </a:r>
                    </a:p>
                  </a:txBody>
                  <a:tcPr marL="82296" marR="64008" marT="32004" marB="32004" anchor="ctr">
                    <a:solidFill>
                      <a:srgbClr val="F6F3EF"/>
                    </a:solidFill>
                  </a:tcPr>
                </a:tc>
              </a:tr>
              <a:tr h="457200">
                <a:tc>
                  <a:txBody>
                    <a:bodyPr wrap="square"/>
                    <a:lstStyle/>
                    <a:p>
                      <a:pPr algn="l"/>
                      <a:r>
                        <a:rPr sz="950" b="1">
                          <a:solidFill>
                            <a:srgbClr val="A51C30"/>
                          </a:solidFill>
                          <a:latin typeface="Calibri"/>
                        </a:rPr>
                        <a:t>The sample rate travels on every row</a:t>
                      </a:r>
                    </a:p>
                  </a:txBody>
                  <a:tcPr marL="82296" marR="64008" marT="32004" marB="32004" anchor="ctr">
                    <a:solidFill>
                      <a:srgbClr val="FFFFFF"/>
                    </a:solidFill>
                  </a:tcPr>
                </a:tc>
                <a:tc>
                  <a:txBody>
                    <a:bodyPr wrap="square"/>
                    <a:lstStyle/>
                    <a:p>
                      <a:pPr algn="l"/>
                      <a:r>
                        <a:rPr sz="950" b="0">
                          <a:solidFill>
                            <a:srgbClr val="1C1C1E"/>
                          </a:solidFill>
                          <a:latin typeface="Calibri"/>
                        </a:rPr>
                        <a:t>A statistic that cannot say what population it speaks for</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Labels join at READ time, and unlabelled rows come back unlabelled</a:t>
                      </a:r>
                    </a:p>
                  </a:txBody>
                  <a:tcPr marL="82296" marR="64008" marT="32004" marB="32004" anchor="ctr">
                    <a:solidFill>
                      <a:srgbClr val="F6F3EF"/>
                    </a:solidFill>
                  </a:tcPr>
                </a:tc>
                <a:tc>
                  <a:txBody>
                    <a:bodyPr wrap="square"/>
                    <a:lstStyle/>
                    <a:p>
                      <a:pPr algn="l"/>
                      <a:r>
                        <a:rPr sz="950" b="0">
                          <a:solidFill>
                            <a:srgbClr val="1C1C1E"/>
                          </a:solidFill>
                          <a:latin typeface="Calibri"/>
                        </a:rPr>
                        <a:t>The monitor decides maturity per row; a join that dropped the unlabelled would have decided for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 drift monitor's reference window is STATED</a:t>
                      </a:r>
                    </a:p>
                  </a:txBody>
                  <a:tcPr marL="82296" marR="64008" marT="32004" marB="32004" anchor="ctr">
                    <a:solidFill>
                      <a:srgbClr val="FFFFFF"/>
                    </a:solidFill>
                  </a:tcPr>
                </a:tc>
                <a:tc>
                  <a:txBody>
                    <a:bodyPr wrap="square"/>
                    <a:lstStyle/>
                    <a:p>
                      <a:pPr algn="l"/>
                      <a:r>
                        <a:rPr sz="950" b="0">
                          <a:solidFill>
                            <a:srgbClr val="1C1C1E"/>
                          </a:solidFill>
                          <a:latin typeface="Calibri"/>
                        </a:rPr>
                        <a:t>“What is this drifting from” belonging to whoever ran it rather than to the record</a:t>
                      </a:r>
                    </a:p>
                  </a:txBody>
                  <a:tcPr marL="82296" marR="64008" marT="32004" marB="32004" anchor="ctr">
                    <a:solidFill>
                      <a:srgbClr val="FFFFFF"/>
                    </a:solidFill>
                  </a:tcPr>
                </a:tc>
              </a:tr>
            </a:tbl>
          </a:graphicData>
        </a:graphic>
      </p:graphicFrame>
      <p:sp>
        <p:nvSpPr>
          <p:cNvPr id="17" name="TextBox 16"/>
          <p:cNvSpPr txBox="1"/>
          <p:nvPr/>
        </p:nvSpPr>
        <p:spPr>
          <a:xfrm>
            <a:off x="7478685" y="2862072"/>
            <a:ext cx="3935769" cy="137160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Delayed labels are the hard part</a:t>
            </a:r>
          </a:p>
          <a:p>
            <a:pPr>
              <a:lnSpc>
                <a:spcPct val="124000"/>
              </a:lnSpc>
              <a:spcBef>
                <a:spcPts val="0"/>
              </a:spcBef>
              <a:spcAft>
                <a:spcPts val="600"/>
              </a:spcAft>
            </a:pPr>
            <a:r>
              <a:rPr sz="1050" b="0" i="0">
                <a:solidFill>
                  <a:srgbClr val="4A4F57"/>
                </a:solidFill>
                <a:latin typeface="Calibri"/>
              </a:rPr>
              <a:t>A monitor declares a label_delay; performance is computed only over the vintage cohort whose outcome window has closed, and an immature cohort is refused rather than reported.</a:t>
            </a:r>
          </a:p>
          <a:p>
            <a:pPr>
              <a:lnSpc>
                <a:spcPct val="124000"/>
              </a:lnSpc>
              <a:spcBef>
                <a:spcPts val="0"/>
              </a:spcBef>
              <a:spcAft>
                <a:spcPts val="600"/>
              </a:spcAft>
            </a:pPr>
            <a:r>
              <a:rPr sz="1050" b="1" i="0">
                <a:solidFill>
                  <a:srgbClr val="1C1C1E"/>
                </a:solidFill>
                <a:latin typeface="Calibri"/>
              </a:rPr>
              <a:t>An AUC on immature outcomes is worse than no AUC</a:t>
            </a:r>
            <a:r>
              <a:rPr sz="1050" b="0" i="0">
                <a:solidFill>
                  <a:srgbClr val="4A4F57"/>
                </a:solidFill>
                <a:latin typeface="Calibri"/>
              </a:rPr>
              <a:t> — it is confidently wrong in a direction nobody checks.</a:t>
            </a:r>
          </a:p>
        </p:txBody>
      </p:sp>
      <p:graphicFrame>
        <p:nvGraphicFramePr>
          <p:cNvPr id="18" name="Table 17"/>
          <p:cNvGraphicFramePr>
            <a:graphicFrameLocks noGrp="1"/>
          </p:cNvGraphicFramePr>
          <p:nvPr/>
        </p:nvGraphicFramePr>
        <p:xfrm>
          <a:off x="7478685" y="4553712"/>
          <a:ext cx="3935769" cy="2178480"/>
        </p:xfrm>
        <a:graphic>
          <a:graphicData uri="http://schemas.openxmlformats.org/drawingml/2006/table">
            <a:tbl>
              <a:tblPr firstRow="1">
                <a:tableStyleId>{5C22544A-7EE6-4342-B048-85BDC9FD1C3A}</a:tableStyleId>
              </a:tblPr>
              <a:tblGrid>
                <a:gridCol w="1311923"/>
                <a:gridCol w="2623846"/>
              </a:tblGrid>
              <a:tr h="329184">
                <a:tc>
                  <a:txBody>
                    <a:bodyPr wrap="square"/>
                    <a:lstStyle/>
                    <a:p>
                      <a:pPr algn="l"/>
                      <a:r>
                        <a:rPr sz="950" b="1">
                          <a:solidFill>
                            <a:srgbClr val="FFFFFF"/>
                          </a:solidFill>
                          <a:latin typeface="Calibri"/>
                        </a:rPr>
                        <a:t>Class</a:t>
                      </a:r>
                    </a:p>
                  </a:txBody>
                  <a:tcPr marL="82296" marR="64008" marT="32004" marB="32004" anchor="ctr">
                    <a:solidFill>
                      <a:srgbClr val="A51C30"/>
                    </a:solidFill>
                  </a:tcPr>
                </a:tc>
                <a:tc>
                  <a:txBody>
                    <a:bodyPr wrap="square"/>
                    <a:lstStyle/>
                    <a:p>
                      <a:pPr algn="l"/>
                      <a:r>
                        <a:rPr sz="950" b="1">
                          <a:solidFill>
                            <a:srgbClr val="FFFFFF"/>
                          </a:solidFill>
                          <a:latin typeface="Calibri"/>
                        </a:rPr>
                        <a:t>Default metrics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T1 calibrated</a:t>
                      </a:r>
                    </a:p>
                  </a:txBody>
                  <a:tcPr marL="82296" marR="64008" marT="32004" marB="32004" anchor="ctr">
                    <a:solidFill>
                      <a:srgbClr val="FFFFFF"/>
                    </a:solidFill>
                  </a:tcPr>
                </a:tc>
                <a:tc>
                  <a:txBody>
                    <a:bodyPr wrap="square"/>
                    <a:lstStyle/>
                    <a:p>
                      <a:pPr algn="l"/>
                      <a:r>
                        <a:rPr sz="950" b="0">
                          <a:solidFill>
                            <a:srgbClr val="1C1C1E"/>
                          </a:solidFill>
                          <a:latin typeface="Calibri"/>
                        </a:rPr>
                        <a:t>Calibration error, arbitrage-free checks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T2 / T3</a:t>
                      </a:r>
                    </a:p>
                  </a:txBody>
                  <a:tcPr marL="82296" marR="64008" marT="32004" marB="32004" anchor="ctr">
                    <a:solidFill>
                      <a:srgbClr val="F6F3EF"/>
                    </a:solidFill>
                  </a:tcPr>
                </a:tc>
                <a:tc>
                  <a:txBody>
                    <a:bodyPr wrap="square"/>
                    <a:lstStyle/>
                    <a:p>
                      <a:pPr algn="l"/>
                      <a:r>
                        <a:rPr sz="950" b="0">
                          <a:solidFill>
                            <a:srgbClr val="1C1C1E"/>
                          </a:solidFill>
                          <a:latin typeface="Calibri"/>
                        </a:rPr>
                        <a:t>KS, AUC, PSI, Hosmer–Lemeshow</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T4 adaptive</a:t>
                      </a:r>
                    </a:p>
                  </a:txBody>
                  <a:tcPr marL="82296" marR="64008" marT="32004" marB="32004" anchor="ctr">
                    <a:solidFill>
                      <a:srgbClr val="FFFFFF"/>
                    </a:solidFill>
                  </a:tcPr>
                </a:tc>
                <a:tc>
                  <a:txBody>
                    <a:bodyPr wrap="square"/>
                    <a:lstStyle/>
                    <a:p>
                      <a:pPr algn="l"/>
                      <a:r>
                        <a:rPr sz="950" b="0">
                          <a:solidFill>
                            <a:srgbClr val="1C1C1E"/>
                          </a:solidFill>
                          <a:latin typeface="Calibri"/>
                        </a:rPr>
                        <a:t>Parameter-change magnitude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T5 foundation</a:t>
                      </a:r>
                    </a:p>
                  </a:txBody>
                  <a:tcPr marL="82296" marR="64008" marT="32004" marB="32004" anchor="ctr">
                    <a:solidFill>
                      <a:srgbClr val="F6F3EF"/>
                    </a:solidFill>
                  </a:tcPr>
                </a:tc>
                <a:tc>
                  <a:txBody>
                    <a:bodyPr wrap="square"/>
                    <a:lstStyle/>
                    <a:p>
                      <a:pPr algn="l"/>
                      <a:r>
                        <a:rPr sz="950" b="0">
                          <a:solidFill>
                            <a:srgbClr val="1C1C1E"/>
                          </a:solidFill>
                          <a:latin typeface="Calibri"/>
                        </a:rPr>
                        <a:t>Groundedness, hallucination rate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T6 opaque</a:t>
                      </a:r>
                    </a:p>
                  </a:txBody>
                  <a:tcPr marL="82296" marR="64008" marT="32004" marB="32004" anchor="ctr">
                    <a:solidFill>
                      <a:srgbClr val="FFFFFF"/>
                    </a:solidFill>
                  </a:tcPr>
                </a:tc>
                <a:tc>
                  <a:txBody>
                    <a:bodyPr wrap="square"/>
                    <a:lstStyle/>
                    <a:p>
                      <a:pPr algn="l"/>
                      <a:r>
                        <a:rPr sz="950" b="0">
                          <a:solidFill>
                            <a:srgbClr val="1C1C1E"/>
                          </a:solidFill>
                          <a:latin typeface="Calibri"/>
                        </a:rPr>
                        <a:t>Own-outcomes divergence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T8 authored</a:t>
                      </a:r>
                    </a:p>
                  </a:txBody>
                  <a:tcPr marL="82296" marR="64008" marT="32004" marB="32004" anchor="ctr">
                    <a:solidFill>
                      <a:srgbClr val="F6F3EF"/>
                    </a:solidFill>
                  </a:tcPr>
                </a:tc>
                <a:tc>
                  <a:txBody>
                    <a:bodyPr wrap="square"/>
                    <a:lstStyle/>
                    <a:p>
                      <a:pPr algn="l"/>
                      <a:r>
                        <a:rPr sz="950" b="0">
                          <a:solidFill>
                            <a:srgbClr val="1C1C1E"/>
                          </a:solidFill>
                          <a:latin typeface="Calibri"/>
                        </a:rPr>
                        <a:t>Rule-fire distribution, exception rate</a:t>
                      </a:r>
                    </a:p>
                  </a:txBody>
                  <a:tcPr marL="82296" marR="64008" marT="32004" marB="32004" anchor="ctr">
                    <a:solidFill>
                      <a:srgbClr val="F6F3EF"/>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CORE/EVIDENCE/ENGINE.PY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Evidence engine — append and chain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77</a:t>
            </a:r>
          </a:p>
        </p:txBody>
      </p:sp>
      <p:sp>
        <p:nvSpPr>
          <p:cNvPr id="10" name="Rectangle 9"/>
          <p:cNvSpPr/>
          <p:nvPr/>
        </p:nvSpPr>
        <p:spPr>
          <a:xfrm>
            <a:off x="777240" y="1353312"/>
            <a:ext cx="6382329"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APPEND PATH</a:t>
            </a:r>
          </a:p>
        </p:txBody>
      </p:sp>
      <p:sp>
        <p:nvSpPr>
          <p:cNvPr id="13" name="TextBox 12"/>
          <p:cNvSpPr txBox="1"/>
          <p:nvPr/>
        </p:nvSpPr>
        <p:spPr>
          <a:xfrm>
            <a:off x="978408" y="1746504"/>
            <a:ext cx="6016569"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self.repo.db.transaction():        # read the head, insert head+1</a:t>
            </a:r>
          </a:p>
          <a:p>
            <a:pPr>
              <a:lnSpc>
                <a:spcPct val="134000"/>
              </a:lnSpc>
              <a:spcBef>
                <a:spcPts val="0"/>
              </a:spcBef>
              <a:spcAft>
                <a:spcPts val="0"/>
              </a:spcAft>
            </a:pPr>
            <a:r>
              <a:rPr sz="950" b="0" i="0">
                <a:solidFill>
                  <a:srgbClr val="1C1C1E"/>
                </a:solidFill>
                <a:latin typeface="Consolas"/>
              </a:rPr>
              <a:t>    prev_seq, prev_hash = self.head()</a:t>
            </a:r>
          </a:p>
          <a:p>
            <a:pPr>
              <a:lnSpc>
                <a:spcPct val="134000"/>
              </a:lnSpc>
              <a:spcBef>
                <a:spcPts val="0"/>
              </a:spcBef>
              <a:spcAft>
                <a:spcPts val="0"/>
              </a:spcAft>
            </a:pPr>
            <a:r>
              <a:rPr sz="950" b="0" i="0">
                <a:solidFill>
                  <a:srgbClr val="1C1C1E"/>
                </a:solidFill>
                <a:latin typeface="Consolas"/>
              </a:rPr>
              <a:t>    stored = {} if personal_data else payload    # law L-18</a:t>
            </a:r>
          </a:p>
          <a:p>
            <a:pPr>
              <a:lnSpc>
                <a:spcPct val="134000"/>
              </a:lnSpc>
              <a:spcBef>
                <a:spcPts val="0"/>
              </a:spcBef>
              <a:spcAft>
                <a:spcPts val="0"/>
              </a:spcAft>
            </a:pPr>
            <a:r>
              <a:rPr sz="950" b="0" i="0">
                <a:solidFill>
                  <a:srgbClr val="1C1C1E"/>
                </a:solidFill>
                <a:latin typeface="Consolas"/>
              </a:rPr>
              <a:t>    content_hash = canonical_digest(</a:t>
            </a:r>
          </a:p>
          <a:p>
            <a:pPr>
              <a:lnSpc>
                <a:spcPct val="134000"/>
              </a:lnSpc>
              <a:spcBef>
                <a:spcPts val="0"/>
              </a:spcBef>
              <a:spcAft>
                <a:spcPts val="0"/>
              </a:spcAft>
            </a:pPr>
            <a:r>
              <a:rPr sz="950" b="0" i="0">
                <a:solidFill>
                  <a:srgbClr val="1C1C1E"/>
                </a:solidFill>
                <a:latin typeface="Consolas"/>
              </a:rPr>
              <a:t>        {..., "payload": stored,</a:t>
            </a:r>
          </a:p>
          <a:p>
            <a:pPr>
              <a:lnSpc>
                <a:spcPct val="134000"/>
              </a:lnSpc>
              <a:spcBef>
                <a:spcPts val="0"/>
              </a:spcBef>
              <a:spcAft>
                <a:spcPts val="0"/>
              </a:spcAft>
            </a:pPr>
            <a:r>
              <a:rPr sz="950" b="0" i="0">
                <a:solidFill>
                  <a:srgbClr val="1C1C1E"/>
                </a:solidFill>
                <a:latin typeface="Consolas"/>
              </a:rPr>
              <a:t>         "recorded_by": actor, "trust": trust})</a:t>
            </a:r>
          </a:p>
          <a:p>
            <a:pPr>
              <a:lnSpc>
                <a:spcPct val="134000"/>
              </a:lnSpc>
              <a:spcBef>
                <a:spcPts val="0"/>
              </a:spcBef>
              <a:spcAft>
                <a:spcPts val="0"/>
              </a:spcAft>
            </a:pPr>
            <a:r>
              <a:rPr sz="950" b="0" i="0">
                <a:solidFill>
                  <a:srgbClr val="1C1C1E"/>
                </a:solidFill>
                <a:latin typeface="Consolas"/>
              </a:rPr>
              <a:t>    self.repo.add({</a:t>
            </a:r>
          </a:p>
          <a:p>
            <a:pPr>
              <a:lnSpc>
                <a:spcPct val="134000"/>
              </a:lnSpc>
              <a:spcBef>
                <a:spcPts val="0"/>
              </a:spcBef>
              <a:spcAft>
                <a:spcPts val="0"/>
              </a:spcAft>
            </a:pPr>
            <a:r>
              <a:rPr sz="950" b="0" i="0">
                <a:solidFill>
                  <a:srgbClr val="1C1C1E"/>
                </a:solidFill>
                <a:latin typeface="Consolas"/>
              </a:rPr>
              <a:t>        "seq": prev_seq + 1, "payload": stored,</a:t>
            </a:r>
          </a:p>
          <a:p>
            <a:pPr>
              <a:lnSpc>
                <a:spcPct val="134000"/>
              </a:lnSpc>
              <a:spcBef>
                <a:spcPts val="0"/>
              </a:spcBef>
              <a:spcAft>
                <a:spcPts val="0"/>
              </a:spcAft>
            </a:pPr>
            <a:r>
              <a:rPr sz="950" b="0" i="0">
                <a:solidFill>
                  <a:srgbClr val="1C1C1E"/>
                </a:solidFill>
                <a:latin typeface="Consolas"/>
              </a:rPr>
              <a:t>        "content_hash": content_hash, "prev_hash": prev_hash,</a:t>
            </a:r>
          </a:p>
          <a:p>
            <a:pPr>
              <a:lnSpc>
                <a:spcPct val="134000"/>
              </a:lnSpc>
              <a:spcBef>
                <a:spcPts val="0"/>
              </a:spcBef>
              <a:spcAft>
                <a:spcPts val="0"/>
              </a:spcAft>
            </a:pPr>
            <a:r>
              <a:rPr sz="950" b="0" i="0">
                <a:solidFill>
                  <a:srgbClr val="1C1C1E"/>
                </a:solidFill>
                <a:latin typeface="Consolas"/>
              </a:rPr>
              <a:t>        "chain_hash": canonical_digest(</a:t>
            </a:r>
          </a:p>
          <a:p>
            <a:pPr>
              <a:lnSpc>
                <a:spcPct val="134000"/>
              </a:lnSpc>
              <a:spcBef>
                <a:spcPts val="0"/>
              </a:spcBef>
              <a:spcAft>
                <a:spcPts val="0"/>
              </a:spcAft>
            </a:pPr>
            <a:r>
              <a:rPr sz="950" b="0" i="0">
                <a:solidFill>
                  <a:srgbClr val="1C1C1E"/>
                </a:solidFill>
                <a:latin typeface="Consolas"/>
              </a:rPr>
              <a:t>            [seq, prev_hash, content_hash, parents])})</a:t>
            </a:r>
          </a:p>
          <a:p>
            <a:pPr>
              <a:lnSpc>
                <a:spcPct val="134000"/>
              </a:lnSpc>
              <a:spcBef>
                <a:spcPts val="0"/>
              </a:spcBef>
              <a:spcAft>
                <a:spcPts val="0"/>
              </a:spcAft>
            </a:pPr>
            <a:r>
              <a:rPr sz="950" b="0" i="0">
                <a:solidFill>
                  <a:srgbClr val="7A7F87"/>
                </a:solidFill>
                <a:latin typeface="Consolas"/>
              </a:rPr>
              <a:t># IntegrityError → jittered back-off, re-read the head, retry</a:t>
            </a:r>
          </a:p>
        </p:txBody>
      </p:sp>
      <p:sp>
        <p:nvSpPr>
          <p:cNvPr id="14" name="TextBox 13"/>
          <p:cNvSpPr txBox="1"/>
          <p:nvPr/>
        </p:nvSpPr>
        <p:spPr>
          <a:xfrm>
            <a:off x="7585057" y="1353312"/>
            <a:ext cx="3829397"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Chain over DAG — why both</a:t>
            </a:r>
          </a:p>
          <a:p>
            <a:pPr>
              <a:spcBef>
                <a:spcPts val="600"/>
              </a:spcBef>
              <a:spcAft>
                <a:spcPts val="300"/>
              </a:spcAft>
            </a:pPr>
            <a:r>
              <a:rPr sz="1050" b="1">
                <a:solidFill>
                  <a:srgbClr val="A51C30"/>
                </a:solidFill>
                <a:latin typeface="Calibri"/>
              </a:rPr>
              <a:t>▪  </a:t>
            </a:r>
            <a:r>
              <a:rPr sz="1050" b="1">
                <a:solidFill>
                  <a:srgbClr val="1C1C1E"/>
                </a:solidFill>
                <a:latin typeface="Calibri"/>
              </a:rPr>
              <a:t>The DAG expresses derivation</a:t>
            </a:r>
          </a:p>
          <a:p>
            <a:pPr lvl="1">
              <a:spcBef>
                <a:spcPts val="0"/>
              </a:spcBef>
              <a:spcAft>
                <a:spcPts val="0"/>
              </a:spcAft>
            </a:pPr>
            <a:r>
              <a:rPr sz="950">
                <a:solidFill>
                  <a:srgbClr val="4A4F57"/>
                </a:solidFill>
                <a:latin typeface="Calibri"/>
              </a:rPr>
              <a:t>what supports what</a:t>
            </a:r>
          </a:p>
          <a:p>
            <a:pPr>
              <a:spcBef>
                <a:spcPts val="600"/>
              </a:spcBef>
              <a:spcAft>
                <a:spcPts val="300"/>
              </a:spcAft>
            </a:pPr>
            <a:r>
              <a:rPr sz="1050" b="1">
                <a:solidFill>
                  <a:srgbClr val="A51C30"/>
                </a:solidFill>
                <a:latin typeface="Calibri"/>
              </a:rPr>
              <a:t>▪  </a:t>
            </a:r>
            <a:r>
              <a:rPr sz="1050" b="1">
                <a:solidFill>
                  <a:srgbClr val="1C1C1E"/>
                </a:solidFill>
                <a:latin typeface="Calibri"/>
              </a:rPr>
              <a:t>The chain expresses order</a:t>
            </a:r>
          </a:p>
          <a:p>
            <a:pPr lvl="1">
              <a:spcBef>
                <a:spcPts val="0"/>
              </a:spcBef>
              <a:spcAft>
                <a:spcPts val="0"/>
              </a:spcAft>
            </a:pPr>
            <a:r>
              <a:rPr sz="950">
                <a:solidFill>
                  <a:srgbClr val="4A4F57"/>
                </a:solidFill>
                <a:latin typeface="Calibri"/>
              </a:rPr>
              <a:t>so deleting a leaf or inserting into the past becomes detectable</a:t>
            </a:r>
          </a:p>
          <a:p>
            <a:pPr>
              <a:spcBef>
                <a:spcPts val="600"/>
              </a:spcBef>
              <a:spcAft>
                <a:spcPts val="300"/>
              </a:spcAft>
            </a:pPr>
            <a:r>
              <a:rPr sz="1050" b="1">
                <a:solidFill>
                  <a:srgbClr val="A51C30"/>
                </a:solidFill>
                <a:latin typeface="Calibri"/>
              </a:rPr>
              <a:t>▪  </a:t>
            </a:r>
            <a:r>
              <a:rPr sz="1050" b="1">
                <a:solidFill>
                  <a:srgbClr val="1C1C1E"/>
                </a:solidFill>
                <a:latin typeface="Calibri"/>
              </a:rPr>
              <a:t>Who, and how much, are hashed</a:t>
            </a:r>
          </a:p>
          <a:p>
            <a:pPr lvl="1">
              <a:spcBef>
                <a:spcPts val="0"/>
              </a:spcBef>
              <a:spcAft>
                <a:spcPts val="0"/>
              </a:spcAft>
            </a:pPr>
            <a:r>
              <a:rPr sz="950">
                <a:solidFill>
                  <a:srgbClr val="4A4F57"/>
                </a:solidFill>
                <a:latin typeface="Calibri"/>
              </a:rPr>
              <a:t>segregation of duties is decided by reading recorded_by off these nodes; before it was hashed, one UPDATE turned that control off silently</a:t>
            </a:r>
          </a:p>
          <a:p>
            <a:pPr>
              <a:spcBef>
                <a:spcPts val="600"/>
              </a:spcBef>
              <a:spcAft>
                <a:spcPts val="300"/>
              </a:spcAft>
            </a:pPr>
            <a:r>
              <a:rPr sz="1050" b="1">
                <a:solidFill>
                  <a:srgbClr val="A51C30"/>
                </a:solidFill>
                <a:latin typeface="Calibri"/>
              </a:rPr>
              <a:t>▪  </a:t>
            </a:r>
            <a:r>
              <a:rPr sz="1050" b="1">
                <a:solidFill>
                  <a:srgbClr val="1C1C1E"/>
                </a:solidFill>
                <a:latin typeface="Calibri"/>
              </a:rPr>
              <a:t>No lock — a retry</a:t>
            </a:r>
          </a:p>
          <a:p>
            <a:pPr lvl="1">
              <a:spcBef>
                <a:spcPts val="0"/>
              </a:spcBef>
              <a:spcAft>
                <a:spcPts val="0"/>
              </a:spcAft>
            </a:pPr>
            <a:r>
              <a:rPr sz="950">
                <a:solidFill>
                  <a:srgbClr val="4A4F57"/>
                </a:solidFill>
                <a:latin typeface="Calibri"/>
              </a:rPr>
              <a:t>the sequence race is lost, backed off with jitter, and re-run</a:t>
            </a:r>
          </a:p>
        </p:txBody>
      </p:sp>
      <p:sp>
        <p:nvSpPr>
          <p:cNvPr id="15" name="Rectangle 14"/>
          <p:cNvSpPr/>
          <p:nvPr/>
        </p:nvSpPr>
        <p:spPr>
          <a:xfrm>
            <a:off x="777240" y="4620737"/>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620737"/>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4739609"/>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Law L-18: the payload is discarded, not pointed at. </a:t>
            </a:r>
            <a:r>
              <a:rPr sz="1050" b="0" i="0">
                <a:solidFill>
                  <a:srgbClr val="1C1C1E"/>
                </a:solidFill>
                <a:latin typeface="Calibri"/>
              </a:rPr>
              <a:t>There is no payload_uri column, no per-subject key and no shred path here. “An erasable pointer” described a design nobody built, and reads as though the data is still retrievable under authority. Discarding is stronger for the law as stated — nothing to erase — and weaker for anybody who expected to resolve it later.</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CORE/EVIDENCE/ANCHOR.PY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anchor — because a chain that certifies itself certifies nothing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78</a:t>
            </a:r>
          </a:p>
        </p:txBody>
      </p:sp>
      <p:sp>
        <p:nvSpPr>
          <p:cNvPr id="10" name="Rectangle 9"/>
          <p:cNvSpPr/>
          <p:nvPr/>
        </p:nvSpPr>
        <p:spPr>
          <a:xfrm>
            <a:off x="777240" y="1764792"/>
            <a:ext cx="6063212"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69745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BUILT — WORMReader / WORMWriter, core/ports.py</a:t>
            </a:r>
          </a:p>
        </p:txBody>
      </p:sp>
      <p:sp>
        <p:nvSpPr>
          <p:cNvPr id="13" name="TextBox 12"/>
          <p:cNvSpPr txBox="1"/>
          <p:nvPr/>
        </p:nvSpPr>
        <p:spPr>
          <a:xfrm>
            <a:off x="978408" y="2157984"/>
            <a:ext cx="5697452"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scheduler job evidence.anchor</a:t>
            </a:r>
          </a:p>
          <a:p>
            <a:pPr>
              <a:lnSpc>
                <a:spcPct val="134000"/>
              </a:lnSpc>
              <a:spcBef>
                <a:spcPts val="0"/>
              </a:spcBef>
              <a:spcAft>
                <a:spcPts val="0"/>
              </a:spcAft>
            </a:pPr>
            <a:r>
              <a:rPr sz="950" b="0" i="0">
                <a:solidFill>
                  <a:srgbClr val="1C1C1E"/>
                </a:solidFill>
                <a:latin typeface="Consolas"/>
              </a:rPr>
              <a:t>agreement = evidence.verify_against_anchors()</a:t>
            </a:r>
          </a:p>
          <a:p>
            <a:pPr>
              <a:lnSpc>
                <a:spcPct val="134000"/>
              </a:lnSpc>
              <a:spcBef>
                <a:spcPts val="0"/>
              </a:spcBef>
              <a:spcAft>
                <a:spcPts val="0"/>
              </a:spcAft>
            </a:pPr>
            <a:r>
              <a:rPr sz="950" b="0" i="0">
                <a:solidFill>
                  <a:srgbClr val="1C1C1E"/>
                </a:solidFill>
                <a:latin typeface="Consolas"/>
              </a:rPr>
              <a:t>if not agreement["agrees"]:</a:t>
            </a:r>
          </a:p>
          <a:p>
            <a:pPr>
              <a:lnSpc>
                <a:spcPct val="134000"/>
              </a:lnSpc>
              <a:spcBef>
                <a:spcPts val="0"/>
              </a:spcBef>
              <a:spcAft>
                <a:spcPts val="0"/>
              </a:spcAft>
            </a:pPr>
            <a:r>
              <a:rPr sz="950" b="0" i="0">
                <a:solidFill>
                  <a:srgbClr val="1C1C1E"/>
                </a:solidFill>
                <a:latin typeface="Consolas"/>
              </a:rPr>
              <a:t>    return refuse(...)          # never anchor over a broken chain</a:t>
            </a:r>
          </a:p>
          <a:p>
            <a:pPr>
              <a:lnSpc>
                <a:spcPct val="134000"/>
              </a:lnSpc>
              <a:spcBef>
                <a:spcPts val="0"/>
              </a:spcBef>
              <a:spcAft>
                <a:spcPts val="0"/>
              </a:spcAft>
            </a:pPr>
            <a:r>
              <a:rPr sz="950" b="0" i="0">
                <a:solidFill>
                  <a:srgbClr val="1C1C1E"/>
                </a:solidFill>
                <a:latin typeface="Consolas"/>
              </a:rPr>
              <a:t>evidence.anchor_head(actor=ctx.actor)</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core/evidence/anchor.py — write-once, one file per head</a:t>
            </a:r>
          </a:p>
          <a:p>
            <a:pPr>
              <a:lnSpc>
                <a:spcPct val="134000"/>
              </a:lnSpc>
              <a:spcBef>
                <a:spcPts val="0"/>
              </a:spcBef>
              <a:spcAft>
                <a:spcPts val="0"/>
              </a:spcAft>
            </a:pPr>
            <a:r>
              <a:rPr sz="950" b="0" i="0">
                <a:solidFill>
                  <a:srgbClr val="1C1C1E"/>
                </a:solidFill>
                <a:latin typeface="Consolas"/>
              </a:rPr>
              <a:t>if self.store.exists(name):</a:t>
            </a:r>
          </a:p>
          <a:p>
            <a:pPr>
              <a:lnSpc>
                <a:spcPct val="134000"/>
              </a:lnSpc>
              <a:spcBef>
                <a:spcPts val="0"/>
              </a:spcBef>
              <a:spcAft>
                <a:spcPts val="0"/>
              </a:spcAft>
            </a:pPr>
            <a:r>
              <a:rPr sz="950" b="0" i="0">
                <a:solidFill>
                  <a:srgbClr val="1C1C1E"/>
                </a:solidFill>
                <a:latin typeface="Consolas"/>
              </a:rPr>
              <a:t>    if held["chain_hash"] != chain_hash:</a:t>
            </a:r>
          </a:p>
          <a:p>
            <a:pPr>
              <a:lnSpc>
                <a:spcPct val="134000"/>
              </a:lnSpc>
              <a:spcBef>
                <a:spcPts val="0"/>
              </a:spcBef>
              <a:spcAft>
                <a:spcPts val="0"/>
              </a:spcAft>
            </a:pPr>
            <a:r>
              <a:rPr sz="950" b="0" i="0">
                <a:solidFill>
                  <a:srgbClr val="1C1C1E"/>
                </a:solidFill>
                <a:latin typeface="Consolas"/>
              </a:rPr>
              <a:t>        raise AnchorError("anchor_disagreement", ...)</a:t>
            </a:r>
          </a:p>
          <a:p>
            <a:pPr>
              <a:lnSpc>
                <a:spcPct val="134000"/>
              </a:lnSpc>
              <a:spcBef>
                <a:spcPts val="0"/>
              </a:spcBef>
              <a:spcAft>
                <a:spcPts val="0"/>
              </a:spcAft>
            </a:pPr>
            <a:r>
              <a:rPr sz="950" b="0" i="0">
                <a:solidFill>
                  <a:srgbClr val="1C1C1E"/>
                </a:solidFill>
                <a:latin typeface="Consolas"/>
              </a:rPr>
              <a:t>    return {**held, "written": 0}     # idempotent re-run</a:t>
            </a:r>
          </a:p>
        </p:txBody>
      </p:sp>
      <p:sp>
        <p:nvSpPr>
          <p:cNvPr id="14" name="TextBox 13"/>
          <p:cNvSpPr txBox="1"/>
          <p:nvPr/>
        </p:nvSpPr>
        <p:spPr>
          <a:xfrm>
            <a:off x="7159569" y="1764792"/>
            <a:ext cx="4254886" cy="219456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The property worth the slide</a:t>
            </a:r>
          </a:p>
          <a:p>
            <a:pPr>
              <a:lnSpc>
                <a:spcPct val="126000"/>
              </a:lnSpc>
              <a:spcBef>
                <a:spcPts val="0"/>
              </a:spcBef>
              <a:spcAft>
                <a:spcPts val="0"/>
              </a:spcAft>
            </a:pPr>
            <a:r>
              <a:rPr sz="1050" b="0" i="0">
                <a:solidFill>
                  <a:srgbClr val="1C1C1E"/>
                </a:solidFill>
                <a:latin typeface="Calibri"/>
              </a:rPr>
              <a:t>Rewrite a node and re-link every hash after it, and </a:t>
            </a:r>
            <a:r>
              <a:rPr sz="1050" b="1" i="0">
                <a:solidFill>
                  <a:srgbClr val="1C1C1E"/>
                </a:solidFill>
                <a:latin typeface="Calibri"/>
              </a:rPr>
              <a:t>verify_chain reports the chain valid</a:t>
            </a:r>
            <a:r>
              <a:rPr sz="1050" b="0" i="0">
                <a:solidFill>
                  <a:srgbClr val="1C1C1E"/>
                </a:solidFill>
                <a:latin typeface="Calibri"/>
              </a:rPr>
              <a:t>. It is internally consistent, and that is all self-verification can ever ask. The anchor disagrees, because the head was written down before, on another medium. </a:t>
            </a:r>
            <a:r>
              <a:rPr sz="1050" b="0" i="0">
                <a:solidFill>
                  <a:srgbClr val="1C1C1E"/>
                </a:solidFill>
                <a:latin typeface="Consolas"/>
              </a:rPr>
              <a:t>tests/test_evidence_anchor.py</a:t>
            </a:r>
            <a:r>
              <a:rPr sz="1050" b="0" i="0">
                <a:solidFill>
                  <a:srgbClr val="1C1C1E"/>
                </a:solidFill>
                <a:latin typeface="Calibri"/>
              </a:rPr>
              <a:t> asserts exactly that.</a:t>
            </a:r>
          </a:p>
        </p:txBody>
      </p:sp>
      <p:sp>
        <p:nvSpPr>
          <p:cNvPr id="15" name="Rectangle 14"/>
          <p:cNvSpPr/>
          <p:nvPr/>
        </p:nvSpPr>
        <p:spPr>
          <a:xfrm>
            <a:off x="7159569" y="4142232"/>
            <a:ext cx="4254886" cy="1874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159569" y="4142232"/>
            <a:ext cx="41148"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397313" y="4261104"/>
            <a:ext cx="3797686" cy="165506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And its four limits, stated in the code. </a:t>
            </a:r>
            <a:r>
              <a:rPr sz="1050" b="0" i="0">
                <a:solidFill>
                  <a:srgbClr val="1C1C1E"/>
                </a:solidFill>
                <a:latin typeface="Calibri"/>
              </a:rPr>
              <a:t>A directory is separation of medium, not enforcement — the read-only bit stops an accident, not an adversary. The medium is a deployment choice behind two ports, so S3 Object Lock changes nothing above the seam. Nothing before the first anchor can be contradicted. And RFC-3161 timestamping by an authority holding a key nobody here holds is not built.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SEMIRING EVALUATION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engine,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79</a:t>
            </a:r>
          </a:p>
        </p:txBody>
      </p:sp>
      <p:sp>
        <p:nvSpPr>
          <p:cNvPr id="10" name="Rectangle 9"/>
          <p:cNvSpPr/>
          <p:nvPr/>
        </p:nvSpPr>
        <p:spPr>
          <a:xfrm>
            <a:off x="777240" y="1353312"/>
            <a:ext cx="5850468"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core/evidence/engine.py</a:t>
            </a:r>
          </a:p>
        </p:txBody>
      </p:sp>
      <p:sp>
        <p:nvSpPr>
          <p:cNvPr id="13" name="TextBox 12"/>
          <p:cNvSpPr txBox="1"/>
          <p:nvPr/>
        </p:nvSpPr>
        <p:spPr>
          <a:xfrm>
            <a:off x="978408" y="1746504"/>
            <a:ext cx="5484708"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evaluate(claim, K: Semiring[T], valuation) -&gt; T:</a:t>
            </a:r>
          </a:p>
          <a:p>
            <a:pPr>
              <a:lnSpc>
                <a:spcPct val="134000"/>
              </a:lnSpc>
              <a:spcBef>
                <a:spcPts val="0"/>
              </a:spcBef>
              <a:spcAft>
                <a:spcPts val="0"/>
              </a:spcAft>
            </a:pPr>
            <a:r>
              <a:rPr sz="950" b="0" i="0">
                <a:solidFill>
                  <a:srgbClr val="1C1C1E"/>
                </a:solidFill>
                <a:latin typeface="Consolas"/>
              </a:rPr>
              <a:t>    def go(node):</a:t>
            </a:r>
          </a:p>
          <a:p>
            <a:pPr>
              <a:lnSpc>
                <a:spcPct val="134000"/>
              </a:lnSpc>
              <a:spcBef>
                <a:spcPts val="0"/>
              </a:spcBef>
              <a:spcAft>
                <a:spcPts val="0"/>
              </a:spcAft>
            </a:pPr>
            <a:r>
              <a:rPr sz="950" b="0" i="0">
                <a:solidFill>
                  <a:srgbClr val="1C1C1E"/>
                </a:solidFill>
                <a:latin typeface="Consolas"/>
              </a:rPr>
              <a:t>        d = derivations[node]</a:t>
            </a:r>
          </a:p>
          <a:p>
            <a:pPr>
              <a:lnSpc>
                <a:spcPct val="134000"/>
              </a:lnSpc>
              <a:spcBef>
                <a:spcPts val="0"/>
              </a:spcBef>
              <a:spcAft>
                <a:spcPts val="0"/>
              </a:spcAft>
            </a:pPr>
            <a:r>
              <a:rPr sz="950" b="0" i="0">
                <a:solidFill>
                  <a:srgbClr val="1C1C1E"/>
                </a:solidFill>
                <a:latin typeface="Consolas"/>
              </a:rPr>
              <a:t>        if d.is_leaf: return valuation(node)</a:t>
            </a:r>
          </a:p>
          <a:p>
            <a:pPr>
              <a:lnSpc>
                <a:spcPct val="134000"/>
              </a:lnSpc>
              <a:spcBef>
                <a:spcPts val="0"/>
              </a:spcBef>
              <a:spcAft>
                <a:spcPts val="0"/>
              </a:spcAft>
            </a:pPr>
            <a:r>
              <a:rPr sz="950" b="0" i="0">
                <a:solidFill>
                  <a:srgbClr val="1C1C1E"/>
                </a:solidFill>
                <a:latin typeface="Consolas"/>
              </a:rPr>
              <a:t>        r = K.zero</a:t>
            </a:r>
          </a:p>
          <a:p>
            <a:pPr>
              <a:lnSpc>
                <a:spcPct val="134000"/>
              </a:lnSpc>
              <a:spcBef>
                <a:spcPts val="0"/>
              </a:spcBef>
              <a:spcAft>
                <a:spcPts val="0"/>
              </a:spcAft>
            </a:pPr>
            <a:r>
              <a:rPr sz="950" b="0" i="0">
                <a:solidFill>
                  <a:srgbClr val="1C1C1E"/>
                </a:solidFill>
                <a:latin typeface="Consolas"/>
              </a:rPr>
              <a:t>        for alt in d.alternatives:            # OR</a:t>
            </a:r>
          </a:p>
          <a:p>
            <a:pPr>
              <a:lnSpc>
                <a:spcPct val="134000"/>
              </a:lnSpc>
              <a:spcBef>
                <a:spcPts val="0"/>
              </a:spcBef>
              <a:spcAft>
                <a:spcPts val="0"/>
              </a:spcAft>
            </a:pPr>
            <a:r>
              <a:rPr sz="950" b="0" i="0">
                <a:solidFill>
                  <a:srgbClr val="1C1C1E"/>
                </a:solidFill>
                <a:latin typeface="Consolas"/>
              </a:rPr>
              <a:t>            t = K.one</a:t>
            </a:r>
          </a:p>
          <a:p>
            <a:pPr>
              <a:lnSpc>
                <a:spcPct val="134000"/>
              </a:lnSpc>
              <a:spcBef>
                <a:spcPts val="0"/>
              </a:spcBef>
              <a:spcAft>
                <a:spcPts val="0"/>
              </a:spcAft>
            </a:pPr>
            <a:r>
              <a:rPr sz="950" b="0" i="0">
                <a:solidFill>
                  <a:srgbClr val="1C1C1E"/>
                </a:solidFill>
                <a:latin typeface="Consolas"/>
              </a:rPr>
              <a:t>            for dep in alt.requires:          # AND</a:t>
            </a:r>
          </a:p>
          <a:p>
            <a:pPr>
              <a:lnSpc>
                <a:spcPct val="134000"/>
              </a:lnSpc>
              <a:spcBef>
                <a:spcPts val="0"/>
              </a:spcBef>
              <a:spcAft>
                <a:spcPts val="0"/>
              </a:spcAft>
            </a:pPr>
            <a:r>
              <a:rPr sz="950" b="0" i="0">
                <a:solidFill>
                  <a:srgbClr val="1C1C1E"/>
                </a:solidFill>
                <a:latin typeface="Consolas"/>
              </a:rPr>
              <a:t>                t = K.times(t, go(dep))</a:t>
            </a:r>
          </a:p>
          <a:p>
            <a:pPr>
              <a:lnSpc>
                <a:spcPct val="134000"/>
              </a:lnSpc>
              <a:spcBef>
                <a:spcPts val="0"/>
              </a:spcBef>
              <a:spcAft>
                <a:spcPts val="0"/>
              </a:spcAft>
            </a:pPr>
            <a:r>
              <a:rPr sz="950" b="0" i="0">
                <a:solidFill>
                  <a:srgbClr val="1C1C1E"/>
                </a:solidFill>
                <a:latin typeface="Consolas"/>
              </a:rPr>
              <a:t>            r = K.plus(r, t)</a:t>
            </a:r>
          </a:p>
          <a:p>
            <a:pPr>
              <a:lnSpc>
                <a:spcPct val="134000"/>
              </a:lnSpc>
              <a:spcBef>
                <a:spcPts val="0"/>
              </a:spcBef>
              <a:spcAft>
                <a:spcPts val="0"/>
              </a:spcAft>
            </a:pPr>
            <a:r>
              <a:rPr sz="950" b="0" i="0">
                <a:solidFill>
                  <a:srgbClr val="1C1C1E"/>
                </a:solidFill>
                <a:latin typeface="Consolas"/>
              </a:rPr>
              <a:t>        return r</a:t>
            </a:r>
          </a:p>
          <a:p>
            <a:pPr>
              <a:lnSpc>
                <a:spcPct val="134000"/>
              </a:lnSpc>
              <a:spcBef>
                <a:spcPts val="0"/>
              </a:spcBef>
              <a:spcAft>
                <a:spcPts val="0"/>
              </a:spcAft>
            </a:pPr>
            <a:r>
              <a:rPr sz="950" b="0" i="0">
                <a:solidFill>
                  <a:srgbClr val="1C1C1E"/>
                </a:solidFill>
                <a:latin typeface="Consolas"/>
              </a:rPr>
              <a:t>    return go(claim.root)                     # memoised</a:t>
            </a:r>
          </a:p>
        </p:txBody>
      </p:sp>
      <p:graphicFrame>
        <p:nvGraphicFramePr>
          <p:cNvPr id="14" name="Table 13"/>
          <p:cNvGraphicFramePr>
            <a:graphicFrameLocks noGrp="1"/>
          </p:cNvGraphicFramePr>
          <p:nvPr/>
        </p:nvGraphicFramePr>
        <p:xfrm>
          <a:off x="7053196" y="1353312"/>
          <a:ext cx="4361257" cy="2716784"/>
        </p:xfrm>
        <a:graphic>
          <a:graphicData uri="http://schemas.openxmlformats.org/drawingml/2006/table">
            <a:tbl>
              <a:tblPr firstRow="1">
                <a:tableStyleId>{5C22544A-7EE6-4342-B048-85BDC9FD1C3A}</a:tableStyleId>
              </a:tblPr>
              <a:tblGrid>
                <a:gridCol w="1453752"/>
                <a:gridCol w="2907505"/>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Used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Lifecycle gates, warrant resolution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Examiner packs — what must be shown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Corroboration depth</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Health score, AI-draft discounting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Remediation planning, capacity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Document staleness</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polynomial  ℕ[X]</a:t>
                      </a:r>
                    </a:p>
                  </a:txBody>
                  <a:tcPr marL="82296" marR="64008" marT="32004" marB="32004" anchor="ctr">
                    <a:solidFill>
                      <a:srgbClr val="FFFFFF"/>
                    </a:solidFill>
                  </a:tcPr>
                </a:tc>
                <a:tc>
                  <a:txBody>
                    <a:bodyPr wrap="square"/>
                    <a:lstStyle/>
                    <a:p>
                      <a:pPr algn="l"/>
                      <a:r>
                        <a:rPr sz="1000" b="0">
                          <a:solidFill>
                            <a:srgbClr val="1C1C1E"/>
                          </a:solidFill>
                          <a:latin typeface="Calibri"/>
                        </a:rPr>
                        <a:t>The universal one — the rest substitute into it</a:t>
                      </a:r>
                    </a:p>
                  </a:txBody>
                  <a:tcPr marL="82296" marR="64008" marT="32004" marB="32004" anchor="ctr">
                    <a:solidFill>
                      <a:srgbClr val="FFFFFF"/>
                    </a:solidFill>
                  </a:tcPr>
                </a:tc>
              </a:tr>
            </a:tbl>
          </a:graphicData>
        </a:graphic>
      </p:graphicFrame>
      <p:sp>
        <p:nvSpPr>
          <p:cNvPr id="15" name="TextBox 14"/>
          <p:cNvSpPr txBox="1"/>
          <p:nvPr/>
        </p:nvSpPr>
        <p:spPr>
          <a:xfrm>
            <a:off x="7053196" y="4234687"/>
            <a:ext cx="4361258" cy="73152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Evaluate once in ℕ[X] </a:t>
            </a:r>
            <a:r>
              <a:rPr sz="1000" b="0" i="0">
                <a:solidFill>
                  <a:srgbClr val="1C1C1E"/>
                </a:solidFill>
                <a:latin typeface="Calibri"/>
              </a:rPr>
              <a:t>and every other answer is a substitution into it — law L-9. Freshness is the exception: its zero does not annihilate, so it is not a semiring, and a test says so.</a:t>
            </a:r>
          </a:p>
        </p:txBody>
      </p:sp>
      <p:sp>
        <p:nvSpPr>
          <p:cNvPr id="16" name="Rectangle 15"/>
          <p:cNvSpPr/>
          <p:nvPr/>
        </p:nvSpPr>
        <p:spPr>
          <a:xfrm>
            <a:off x="777240" y="4931633"/>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931633"/>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14983" y="5050505"/>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cost of asking why, and its cap. </a:t>
            </a:r>
            <a:r>
              <a:rPr sz="1050" b="0" i="0">
                <a:solidFill>
                  <a:srgbClr val="1C1C1E"/>
                </a:solidFill>
                <a:latin typeface="Calibri"/>
              </a:rPr>
              <a:t>Why-provenance is worst-case exponential in the number of alternatives. Controls: absorption (a ⊕ ab = a), memoisation, and a hard 4,096-term cap beyond which evaluation stops accumulating and returns truncated=true. It marks the answer partial — it does not fall back to a cheaper semiring. The marker is the control.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Risk tiering — derived, monotone, and only as good as its facts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80</a:t>
            </a:r>
          </a:p>
        </p:txBody>
      </p:sp>
      <p:sp>
        <p:nvSpPr>
          <p:cNvPr id="10" name="TextBox 9"/>
          <p:cNvSpPr txBox="1"/>
          <p:nvPr/>
        </p:nvSpPr>
        <p:spPr>
          <a:xfrm>
            <a:off x="777240" y="1764792"/>
            <a:ext cx="10637215" cy="566928"/>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A risk tier is a number from 1 to 4, and nobody picks it. </a:t>
            </a:r>
            <a:r>
              <a:rPr sz="1200" b="0" i="0">
                <a:solidFill>
                  <a:srgbClr val="1C1C1E"/>
                </a:solidFill>
                <a:latin typeface="Calibri"/>
              </a:rPr>
              <a:t>It is derived from how consequential a model is (materiality) and how hard it is to reason about (complexity), and it decides how much control the model gets — approval quorum, scope of validation, cadence of monitoring.</a:t>
            </a:r>
          </a:p>
        </p:txBody>
      </p:sp>
      <p:sp>
        <p:nvSpPr>
          <p:cNvPr id="11" name="Rectangle 10"/>
          <p:cNvSpPr/>
          <p:nvPr/>
        </p:nvSpPr>
        <p:spPr>
          <a:xfrm>
            <a:off x="777240" y="2423160"/>
            <a:ext cx="5956840"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23160"/>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514600"/>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core/risk/tiering.py</a:t>
            </a:r>
          </a:p>
        </p:txBody>
      </p:sp>
      <p:sp>
        <p:nvSpPr>
          <p:cNvPr id="14" name="TextBox 13"/>
          <p:cNvSpPr txBox="1"/>
          <p:nvPr/>
        </p:nvSpPr>
        <p:spPr>
          <a:xfrm>
            <a:off x="978408" y="2816351"/>
            <a:ext cx="5591080"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facts = FactCollector(model_id).collect()   # sourced where possible</a:t>
            </a:r>
          </a:p>
          <a:p>
            <a:pPr>
              <a:lnSpc>
                <a:spcPct val="134000"/>
              </a:lnSpc>
              <a:spcBef>
                <a:spcPts val="0"/>
              </a:spcBef>
              <a:spcAft>
                <a:spcPts val="0"/>
              </a:spcAft>
            </a:pPr>
            <a:r>
              <a:rPr sz="950" b="0" i="0">
                <a:solidFill>
                  <a:srgbClr val="1C1C1E"/>
                </a:solidFill>
                <a:latin typeface="Consolas"/>
              </a:rPr>
              <a:t>rules = rulesets.get(ruleset_version)       # immutable, versioned</a:t>
            </a:r>
          </a:p>
          <a:p>
            <a:pPr>
              <a:lnSpc>
                <a:spcPct val="134000"/>
              </a:lnSpc>
              <a:spcBef>
                <a:spcPts val="0"/>
              </a:spcBef>
              <a:spcAft>
                <a:spcPts val="0"/>
              </a:spcAft>
            </a:pPr>
            <a:r>
              <a:rPr sz="950" b="0" i="0">
                <a:solidFill>
                  <a:srgbClr val="1C1C1E"/>
                </a:solidFill>
                <a:latin typeface="Consolas"/>
              </a:rPr>
              <a:t>m = Materiality(quantitative=..., qualitative=...).join()</a:t>
            </a:r>
          </a:p>
          <a:p>
            <a:pPr>
              <a:lnSpc>
                <a:spcPct val="134000"/>
              </a:lnSpc>
              <a:spcBef>
                <a:spcPts val="0"/>
              </a:spcBef>
              <a:spcAft>
                <a:spcPts val="0"/>
              </a:spcAft>
            </a:pPr>
            <a:r>
              <a:rPr sz="950" b="0" i="0">
                <a:solidFill>
                  <a:srgbClr val="1C1C1E"/>
                </a:solidFill>
                <a:latin typeface="Consolas"/>
              </a:rPr>
              <a:t>c = Complexity.meet(data=..., methodology=..., ...)</a:t>
            </a:r>
          </a:p>
          <a:p>
            <a:pPr>
              <a:lnSpc>
                <a:spcPct val="134000"/>
              </a:lnSpc>
              <a:spcBef>
                <a:spcPts val="0"/>
              </a:spcBef>
              <a:spcAft>
                <a:spcPts val="0"/>
              </a:spcAft>
            </a:pPr>
            <a:r>
              <a:rPr sz="950" b="0" i="0">
                <a:solidFill>
                  <a:srgbClr val="1C1C1E"/>
                </a:solidFill>
                <a:latin typeface="Consolas"/>
              </a:rPr>
              <a:t>tier     = rules.tau(m, c)      # monotone — law L-4</a:t>
            </a:r>
          </a:p>
          <a:p>
            <a:pPr>
              <a:lnSpc>
                <a:spcPct val="134000"/>
              </a:lnSpc>
              <a:spcBef>
                <a:spcPts val="0"/>
              </a:spcBef>
              <a:spcAft>
                <a:spcPts val="0"/>
              </a:spcAft>
            </a:pPr>
            <a:r>
              <a:rPr sz="950" b="0" i="0">
                <a:solidFill>
                  <a:srgbClr val="1C1C1E"/>
                </a:solidFill>
                <a:latin typeface="Consolas"/>
              </a:rPr>
              <a:t>controls = rules.req(tier)      # the controls it requires — law L-5</a:t>
            </a:r>
          </a:p>
          <a:p>
            <a:pPr>
              <a:lnSpc>
                <a:spcPct val="134000"/>
              </a:lnSpc>
              <a:spcBef>
                <a:spcPts val="0"/>
              </a:spcBef>
              <a:spcAft>
                <a:spcPts val="0"/>
              </a:spcAft>
            </a:pPr>
            <a:r>
              <a:rPr sz="950" b="0" i="0">
                <a:solidFill>
                  <a:srgbClr val="1C1C1E"/>
                </a:solidFill>
                <a:latin typeface="Consolas"/>
              </a:rPr>
              <a:t>return RiskAssessment(fact_snapshot=..., ruleset_version=...,</a:t>
            </a:r>
          </a:p>
          <a:p>
            <a:pPr>
              <a:lnSpc>
                <a:spcPct val="134000"/>
              </a:lnSpc>
              <a:spcBef>
                <a:spcPts val="0"/>
              </a:spcBef>
              <a:spcAft>
                <a:spcPts val="0"/>
              </a:spcAft>
            </a:pPr>
            <a:r>
              <a:rPr sz="950" b="0" i="0">
                <a:solidFill>
                  <a:srgbClr val="1C1C1E"/>
                </a:solidFill>
                <a:latin typeface="Consolas"/>
              </a:rPr>
              <a:t>                      rationale=rules.explain(m, c, tier))   # DR-4</a:t>
            </a:r>
          </a:p>
        </p:txBody>
      </p:sp>
      <p:sp>
        <p:nvSpPr>
          <p:cNvPr id="15" name="TextBox 14"/>
          <p:cNvSpPr txBox="1"/>
          <p:nvPr/>
        </p:nvSpPr>
        <p:spPr>
          <a:xfrm>
            <a:off x="7159569" y="2423160"/>
            <a:ext cx="4254886" cy="2194560"/>
          </a:xfrm>
          <a:prstGeom prst="rect">
            <a:avLst/>
          </a:prstGeom>
          <a:noFill/>
        </p:spPr>
        <p:txBody>
          <a:bodyPr wrap="square" lIns="0" rIns="0" tIns="0" bIns="0" anchor="t">
            <a:spAutoFit/>
          </a:bodyPr>
          <a:lstStyle/>
          <a:p>
            <a:pPr algn="l">
              <a:spcBef>
                <a:spcPts val="0"/>
              </a:spcBef>
              <a:spcAft>
                <a:spcPts val="700"/>
              </a:spcAft>
            </a:pPr>
            <a:r>
              <a:rPr sz="1200" b="1" i="0">
                <a:solidFill>
                  <a:srgbClr val="1C1C1E"/>
                </a:solidFill>
                <a:latin typeface="Georgia"/>
              </a:rPr>
              <a:t>Two axes, never one score</a:t>
            </a:r>
          </a:p>
          <a:p>
            <a:pPr>
              <a:lnSpc>
                <a:spcPct val="124000"/>
              </a:lnSpc>
              <a:spcBef>
                <a:spcPts val="0"/>
              </a:spcBef>
              <a:spcAft>
                <a:spcPts val="800"/>
              </a:spcAft>
            </a:pPr>
            <a:r>
              <a:rPr sz="1050" b="0" i="0">
                <a:solidFill>
                  <a:srgbClr val="4A4F57"/>
                </a:solidFill>
                <a:latin typeface="Calibri"/>
              </a:rPr>
              <a:t>Materiality and complexity are separate lattices. Collapsing them into a product lets a very complex model with modest exposure land beside a simple model with enormous exposure.</a:t>
            </a:r>
          </a:p>
          <a:p>
            <a:pPr>
              <a:lnSpc>
                <a:spcPct val="124000"/>
              </a:lnSpc>
              <a:spcBef>
                <a:spcPts val="0"/>
              </a:spcBef>
              <a:spcAft>
                <a:spcPts val="600"/>
              </a:spcAft>
            </a:pPr>
            <a:r>
              <a:rPr sz="1050" b="0" i="0">
                <a:solidFill>
                  <a:srgbClr val="4A4F57"/>
                </a:solidFill>
                <a:latin typeface="Calibri"/>
              </a:rPr>
              <a:t>The map to the tier is monotone, so </a:t>
            </a:r>
            <a:r>
              <a:rPr sz="1050" b="1" i="0">
                <a:solidFill>
                  <a:srgbClr val="1C1C1E"/>
                </a:solidFill>
                <a:latin typeface="Calibri"/>
              </a:rPr>
              <a:t>nothing we can learn that makes a model more consequential or more complicated will ever move it into a lighter control regime.</a:t>
            </a:r>
            <a:r>
              <a:rPr sz="1050" b="0" i="0">
                <a:solidFill>
                  <a:srgbClr val="4A4F57"/>
                </a:solidFill>
                <a:latin typeface="Calibri"/>
              </a:rPr>
              <a:t> An unconstrained scoring formula cannot promise that, and usually cannot even be checked.</a:t>
            </a:r>
          </a:p>
        </p:txBody>
      </p:sp>
      <p:sp>
        <p:nvSpPr>
          <p:cNvPr id="16" name="Rectangle 15"/>
          <p:cNvSpPr/>
          <p:nvPr/>
        </p:nvSpPr>
        <p:spPr>
          <a:xfrm>
            <a:off x="777240" y="4875763"/>
            <a:ext cx="595684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875763"/>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14983" y="4994635"/>
            <a:ext cx="549964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attack the obvious control misses. </a:t>
            </a:r>
            <a:r>
              <a:rPr sz="1050" b="0" i="0">
                <a:solidFill>
                  <a:srgbClr val="1C1C1E"/>
                </a:solidFill>
                <a:latin typeface="Calibri"/>
              </a:rPr>
              <a:t>Overriding a derived tier is visible — but understating an exposure lowers it through a perfectly valid, fully audited derivation. So exposure binds to a system of record where one exists, an unsourced fact is marked and peer-cohort outlier detection applies, and a purpose_class change is approved at the tier being LEFT.</a:t>
            </a:r>
          </a:p>
        </p:txBody>
      </p:sp>
      <p:sp>
        <p:nvSpPr>
          <p:cNvPr id="19" name="Rectangle 18"/>
          <p:cNvSpPr/>
          <p:nvPr/>
        </p:nvSpPr>
        <p:spPr>
          <a:xfrm>
            <a:off x="7159569" y="4875763"/>
            <a:ext cx="4254886"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159569" y="4875763"/>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7397313" y="4994635"/>
            <a:ext cx="3797686"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Retrospective calibration. </a:t>
            </a:r>
            <a:r>
              <a:rPr sz="1050" b="0" i="0">
                <a:solidFill>
                  <a:srgbClr val="1C1C1E"/>
                </a:solidFill>
                <a:latin typeface="Calibri"/>
              </a:rPr>
              <a:t>Annually, tier assignments are back-tested against realised incidents, findings and losses. A tier that never predicts anything is evidence of systematic understatement — not of a quiet portfolio.</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APPROVAL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approval is a quorum, and its depth follows the tier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81</a:t>
            </a:r>
          </a:p>
        </p:txBody>
      </p:sp>
      <p:sp>
        <p:nvSpPr>
          <p:cNvPr id="10" name="TextBox 9"/>
          <p:cNvSpPr txBox="1"/>
          <p:nvPr/>
        </p:nvSpPr>
        <p:spPr>
          <a:xfrm>
            <a:off x="777240" y="1764792"/>
            <a:ext cx="10637215" cy="438912"/>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Attesting the model </a:t>
            </a:r>
            <a:r>
              <a:rPr sz="1250" b="1" i="0">
                <a:solidFill>
                  <a:srgbClr val="1C1C1E"/>
                </a:solidFill>
                <a:latin typeface="Calibri"/>
              </a:rPr>
              <a:t>record</a:t>
            </a:r>
            <a:r>
              <a:rPr sz="1250" b="0" i="0">
                <a:solidFill>
                  <a:srgbClr val="1C1C1E"/>
                </a:solidFill>
                <a:latin typeface="Calibri"/>
              </a:rPr>
              <a:t> is not approving the </a:t>
            </a:r>
            <a:r>
              <a:rPr sz="1250" b="1" i="0">
                <a:solidFill>
                  <a:srgbClr val="1C1C1E"/>
                </a:solidFill>
                <a:latin typeface="Calibri"/>
              </a:rPr>
              <a:t>version</a:t>
            </a:r>
            <a:r>
              <a:rPr sz="1250" b="0" i="0">
                <a:solidFill>
                  <a:srgbClr val="1C1C1E"/>
                </a:solidFill>
                <a:latin typeface="Calibri"/>
              </a:rPr>
              <a:t>. The version is the thing that runs, so it carries its own quorum, and the tier sets its depth.</a:t>
            </a:r>
          </a:p>
        </p:txBody>
      </p:sp>
      <p:graphicFrame>
        <p:nvGraphicFramePr>
          <p:cNvPr id="11" name="Table 10"/>
          <p:cNvGraphicFramePr>
            <a:graphicFrameLocks noGrp="1"/>
          </p:cNvGraphicFramePr>
          <p:nvPr/>
        </p:nvGraphicFramePr>
        <p:xfrm>
          <a:off x="777240" y="2295144"/>
          <a:ext cx="10637214" cy="2034565"/>
        </p:xfrm>
        <a:graphic>
          <a:graphicData uri="http://schemas.openxmlformats.org/drawingml/2006/table">
            <a:tbl>
              <a:tblPr firstRow="1">
                <a:tableStyleId>{5C22544A-7EE6-4342-B048-85BDC9FD1C3A}</a:tableStyleId>
              </a:tblPr>
              <a:tblGrid>
                <a:gridCol w="1192101"/>
                <a:gridCol w="3117804"/>
                <a:gridCol w="6327309"/>
              </a:tblGrid>
              <a:tr h="333781">
                <a:tc>
                  <a:txBody>
                    <a:bodyPr wrap="square"/>
                    <a:lstStyle/>
                    <a:p>
                      <a:pPr algn="l"/>
                      <a:r>
                        <a:rPr sz="1100" b="1">
                          <a:solidFill>
                            <a:srgbClr val="FFFFFF"/>
                          </a:solidFill>
                          <a:latin typeface="Calibri"/>
                        </a:rPr>
                        <a:t>Tier</a:t>
                      </a:r>
                    </a:p>
                  </a:txBody>
                  <a:tcPr marL="82296" marR="64008" marT="32004" marB="32004" anchor="ctr">
                    <a:solidFill>
                      <a:srgbClr val="A51C30"/>
                    </a:solidFill>
                  </a:tcPr>
                </a:tc>
                <a:tc>
                  <a:txBody>
                    <a:bodyPr wrap="square"/>
                    <a:lstStyle/>
                    <a:p>
                      <a:pPr algn="l"/>
                      <a:r>
                        <a:rPr sz="1100" b="1">
                          <a:solidFill>
                            <a:srgbClr val="FFFFFF"/>
                          </a:solidFill>
                          <a:latin typeface="Calibri"/>
                        </a:rPr>
                        <a:t>Who must sign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566928">
                <a:tc>
                  <a:txBody>
                    <a:bodyPr wrap="square"/>
                    <a:lstStyle/>
                    <a:p>
                      <a:pPr algn="l"/>
                      <a:r>
                        <a:rPr sz="1050" b="1">
                          <a:solidFill>
                            <a:srgbClr val="A51C30"/>
                          </a:solidFill>
                          <a:latin typeface="Calibri"/>
                        </a:rPr>
                        <a:t>1 and 2</a:t>
                      </a:r>
                    </a:p>
                  </a:txBody>
                  <a:tcPr marL="82296" marR="64008" marT="32004" marB="32004" anchor="ctr">
                    <a:solidFill>
                      <a:srgbClr val="FFFFFF"/>
                    </a:solidFill>
                  </a:tcPr>
                </a:tc>
                <a:tc>
                  <a:txBody>
                    <a:bodyPr wrap="square"/>
                    <a:lstStyle/>
                    <a:p>
                      <a:pPr algn="l"/>
                      <a:r>
                        <a:rPr sz="1050" b="0">
                          <a:solidFill>
                            <a:srgbClr val="1C1C1E"/>
                          </a:solidFill>
                          <a:latin typeface="Calibri"/>
                        </a:rPr>
                        <a:t>model_risk_manager AND validator</a:t>
                      </a:r>
                    </a:p>
                  </a:txBody>
                  <a:tcPr marL="82296" marR="64008" marT="32004" marB="32004" anchor="ctr">
                    <a:solidFill>
                      <a:srgbClr val="FFFFFF"/>
                    </a:solidFill>
                  </a:tcPr>
                </a:tc>
                <a:tc>
                  <a:txBody>
                    <a:bodyPr wrap="square"/>
                    <a:lstStyle/>
                    <a:p>
                      <a:pPr algn="l"/>
                      <a:r>
                        <a:rPr sz="1050" b="0">
                          <a:solidFill>
                            <a:srgbClr val="1C1C1E"/>
                          </a:solidFill>
                          <a:latin typeface="Calibri"/>
                        </a:rPr>
                        <a:t>The same rule (L-5) that decides every other control set: depth of control follows the tier</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3 and 4</a:t>
                      </a:r>
                    </a:p>
                  </a:txBody>
                  <a:tcPr marL="82296" marR="64008" marT="32004" marB="32004" anchor="ctr">
                    <a:solidFill>
                      <a:srgbClr val="F6F3EF"/>
                    </a:solidFill>
                  </a:tcPr>
                </a:tc>
                <a:tc>
                  <a:txBody>
                    <a:bodyPr wrap="square"/>
                    <a:lstStyle/>
                    <a:p>
                      <a:pPr algn="l"/>
                      <a:r>
                        <a:rPr sz="1050" b="0">
                          <a:solidFill>
                            <a:srgbClr val="1C1C1E"/>
                          </a:solidFill>
                          <a:latin typeface="Calibri"/>
                        </a:rPr>
                        <a:t>one authorised person</a:t>
                      </a:r>
                    </a:p>
                  </a:txBody>
                  <a:tcPr marL="82296" marR="64008" marT="32004" marB="32004" anchor="ctr">
                    <a:solidFill>
                      <a:srgbClr val="F6F3EF"/>
                    </a:solidFill>
                  </a:tcPr>
                </a:tc>
                <a:tc>
                  <a:txBody>
                    <a:bodyPr wrap="square"/>
                    <a:lstStyle/>
                    <a:p>
                      <a:pPr algn="l"/>
                      <a:r>
                        <a:rPr sz="1050" b="0">
                          <a:solidFill>
                            <a:srgbClr val="1C1C1E"/>
                          </a:solidFill>
                          <a:latin typeface="Calibri"/>
                        </a:rPr>
                        <a:t>Saying so beats pretending a scheduling heuristic deserves the ceremony of a capital model</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no tier</a:t>
                      </a:r>
                    </a:p>
                  </a:txBody>
                  <a:tcPr marL="82296" marR="64008" marT="32004" marB="32004" anchor="ctr">
                    <a:solidFill>
                      <a:srgbClr val="FFFFFF"/>
                    </a:solidFill>
                  </a:tcPr>
                </a:tc>
                <a:tc>
                  <a:txBody>
                    <a:bodyPr wrap="square"/>
                    <a:lstStyle/>
                    <a:p>
                      <a:pPr algn="l"/>
                      <a:r>
                        <a:rPr sz="1050" b="0">
                          <a:solidFill>
                            <a:srgbClr val="1C1C1E"/>
                          </a:solidFill>
                          <a:latin typeface="Calibri"/>
                        </a:rPr>
                        <a:t>— refused outright —</a:t>
                      </a:r>
                    </a:p>
                  </a:txBody>
                  <a:tcPr marL="82296" marR="64008" marT="32004" marB="32004" anchor="ctr">
                    <a:solidFill>
                      <a:srgbClr val="FFFFFF"/>
                    </a:solidFill>
                  </a:tcPr>
                </a:tc>
                <a:tc>
                  <a:txBody>
                    <a:bodyPr wrap="square"/>
                    <a:lstStyle/>
                    <a:p>
                      <a:pPr algn="l"/>
                      <a:r>
                        <a:rPr sz="1050" b="0">
                          <a:solidFill>
                            <a:srgbClr val="1C1C1E"/>
                          </a:solidFill>
                          <a:latin typeface="Calibri"/>
                        </a:rPr>
                        <a:t>Approving first and assessing afterwards is how a model chooses its own control depth</a:t>
                      </a:r>
                    </a:p>
                  </a:txBody>
                  <a:tcPr marL="82296" marR="64008" marT="32004" marB="32004" anchor="ctr">
                    <a:solidFill>
                      <a:srgbClr val="FFFFFF"/>
                    </a:solidFill>
                  </a:tcPr>
                </a:tc>
              </a:tr>
            </a:tbl>
          </a:graphicData>
        </a:graphic>
      </p:graphicFrame>
      <p:sp>
        <p:nvSpPr>
          <p:cNvPr id="12" name="TextBox 11"/>
          <p:cNvSpPr txBox="1"/>
          <p:nvPr/>
        </p:nvSpPr>
        <p:spPr>
          <a:xfrm>
            <a:off x="777240" y="4549165"/>
            <a:ext cx="5105863" cy="155448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Three refusals worth the code</a:t>
            </a:r>
          </a:p>
          <a:p>
            <a:pPr>
              <a:spcBef>
                <a:spcPts val="500"/>
              </a:spcBef>
              <a:spcAft>
                <a:spcPts val="300"/>
              </a:spcAft>
            </a:pPr>
            <a:r>
              <a:rPr sz="1000" b="1">
                <a:solidFill>
                  <a:srgbClr val="A51C30"/>
                </a:solidFill>
                <a:latin typeface="Calibri"/>
              </a:rPr>
              <a:t>▪  </a:t>
            </a:r>
            <a:r>
              <a:rPr sz="1000" b="1">
                <a:solidFill>
                  <a:srgbClr val="1C1C1E"/>
                </a:solidFill>
                <a:latin typeface="Calibri"/>
              </a:rPr>
              <a:t>One decline closes it</a:t>
            </a:r>
          </a:p>
          <a:p>
            <a:pPr lvl="1">
              <a:spcBef>
                <a:spcPts val="0"/>
              </a:spcBef>
              <a:spcAft>
                <a:spcPts val="0"/>
              </a:spcAft>
            </a:pPr>
            <a:r>
              <a:rPr sz="900">
                <a:solidFill>
                  <a:srgbClr val="4A4F57"/>
                </a:solidFill>
                <a:latin typeface="Calibri"/>
              </a:rPr>
              <a:t>the version returns to its author, and the decline is counted before the quorum is</a:t>
            </a:r>
          </a:p>
          <a:p>
            <a:pPr>
              <a:spcBef>
                <a:spcPts val="500"/>
              </a:spcBef>
              <a:spcAft>
                <a:spcPts val="300"/>
              </a:spcAft>
            </a:pPr>
            <a:r>
              <a:rPr sz="1000" b="1">
                <a:solidFill>
                  <a:srgbClr val="A51C30"/>
                </a:solidFill>
                <a:latin typeface="Calibri"/>
              </a:rPr>
              <a:t>▪  </a:t>
            </a:r>
            <a:r>
              <a:rPr sz="1000" b="1">
                <a:solidFill>
                  <a:srgbClr val="1C1C1E"/>
                </a:solidFill>
                <a:latin typeface="Calibri"/>
              </a:rPr>
              <a:t>No signing twice under two roles</a:t>
            </a:r>
          </a:p>
          <a:p>
            <a:pPr lvl="1">
              <a:spcBef>
                <a:spcPts val="0"/>
              </a:spcBef>
              <a:spcAft>
                <a:spcPts val="0"/>
              </a:spcAft>
            </a:pPr>
            <a:r>
              <a:rPr sz="900">
                <a:solidFill>
                  <a:srgbClr val="4A4F57"/>
                </a:solidFill>
                <a:latin typeface="Calibri"/>
              </a:rPr>
              <a:t>a quorum is a number of people, not a number of hats</a:t>
            </a:r>
          </a:p>
          <a:p>
            <a:pPr>
              <a:spcBef>
                <a:spcPts val="500"/>
              </a:spcBef>
              <a:spcAft>
                <a:spcPts val="300"/>
              </a:spcAft>
            </a:pPr>
            <a:r>
              <a:rPr sz="1000" b="1">
                <a:solidFill>
                  <a:srgbClr val="A51C30"/>
                </a:solidFill>
                <a:latin typeface="Calibri"/>
              </a:rPr>
              <a:t>▪  </a:t>
            </a:r>
            <a:r>
              <a:rPr sz="1000" b="1">
                <a:solidFill>
                  <a:srgbClr val="1C1C1E"/>
                </a:solidFill>
                <a:latin typeface="Calibri"/>
              </a:rPr>
              <a:t>Signing is its own permission</a:t>
            </a:r>
          </a:p>
          <a:p>
            <a:pPr lvl="1">
              <a:spcBef>
                <a:spcPts val="0"/>
              </a:spcBef>
              <a:spcAft>
                <a:spcPts val="0"/>
              </a:spcAft>
            </a:pPr>
            <a:r>
              <a:rPr sz="900">
                <a:solidFill>
                  <a:srgbClr val="4A4F57"/>
                </a:solidFill>
                <a:latin typeface="Calibri"/>
              </a:rPr>
              <a:t>a validator signs a quorum and may never approve alone</a:t>
            </a:r>
          </a:p>
        </p:txBody>
      </p:sp>
      <p:sp>
        <p:nvSpPr>
          <p:cNvPr id="13" name="Rectangle 12"/>
          <p:cNvSpPr/>
          <p:nvPr/>
        </p:nvSpPr>
        <p:spPr>
          <a:xfrm>
            <a:off x="6414964" y="4549165"/>
            <a:ext cx="4999491"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414964" y="4549165"/>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652708" y="4668037"/>
            <a:ext cx="4542291" cy="11064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schema does half of it. </a:t>
            </a:r>
            <a:r>
              <a:rPr sz="1050" b="0" i="0">
                <a:solidFill>
                  <a:srgbClr val="1C1C1E"/>
                </a:solidFill>
                <a:latin typeface="Calibri"/>
              </a:rPr>
              <a:t>UNIQUE (approval, role) enforces one signature per role. The other half — that one person may not sign twice under two hats — cannot be a constraint and lives in the service, because it is about people rather than rows.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REGIMES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scope determination that can be defended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82</a:t>
            </a:r>
          </a:p>
        </p:txBody>
      </p:sp>
      <p:sp>
        <p:nvSpPr>
          <p:cNvPr id="10" name="TextBox 9"/>
          <p:cNvSpPr txBox="1"/>
          <p:nvPr/>
        </p:nvSpPr>
        <p:spPr>
          <a:xfrm>
            <a:off x="777240" y="1353312"/>
            <a:ext cx="10637215" cy="420624"/>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Three regimes are encoded: SR 26-2, SS1/23, the EU AI Act. </a:t>
            </a:r>
            <a:r>
              <a:rPr sz="1200" b="0" i="0">
                <a:solidFill>
                  <a:srgbClr val="1C1C1E"/>
                </a:solidFill>
                <a:latin typeface="Calibri"/>
              </a:rPr>
              <a:t>Each is an institution — its own vocabulary, its obligations written in that vocabulary, and a translation from MAYA's facts into it. A regime activates only if the translation preserves truth.</a:t>
            </a:r>
          </a:p>
        </p:txBody>
      </p:sp>
      <p:sp>
        <p:nvSpPr>
          <p:cNvPr id="11" name="Rectangle 10"/>
          <p:cNvSpPr/>
          <p:nvPr/>
        </p:nvSpPr>
        <p:spPr>
          <a:xfrm>
            <a:off x="777240" y="1883664"/>
            <a:ext cx="10637215"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883664"/>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975104"/>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core/regimes/engine.py</a:t>
            </a:r>
          </a:p>
        </p:txBody>
      </p:sp>
      <p:sp>
        <p:nvSpPr>
          <p:cNvPr id="14" name="TextBox 13"/>
          <p:cNvSpPr txBox="1"/>
          <p:nvPr/>
        </p:nvSpPr>
        <p:spPr>
          <a:xfrm>
            <a:off x="978408" y="2276856"/>
            <a:ext cx="10271455"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determine(model_id: str, inst: Institution) -&gt; ScopeDetermination:</a:t>
            </a:r>
          </a:p>
          <a:p>
            <a:pPr>
              <a:lnSpc>
                <a:spcPct val="134000"/>
              </a:lnSpc>
              <a:spcBef>
                <a:spcPts val="0"/>
              </a:spcBef>
              <a:spcAft>
                <a:spcPts val="0"/>
              </a:spcAft>
            </a:pPr>
            <a:r>
              <a:rPr sz="950" b="0" i="0">
                <a:solidFill>
                  <a:srgbClr val="1C1C1E"/>
                </a:solidFill>
                <a:latin typeface="Consolas"/>
              </a:rPr>
              <a:t>    local  = inst.translate(CoreFacts.for_model(model_id))   # the translation</a:t>
            </a:r>
          </a:p>
          <a:p>
            <a:pPr>
              <a:lnSpc>
                <a:spcPct val="134000"/>
              </a:lnSpc>
              <a:spcBef>
                <a:spcPts val="0"/>
              </a:spcBef>
              <a:spcAft>
                <a:spcPts val="0"/>
              </a:spcAft>
            </a:pPr>
            <a:r>
              <a:rPr sz="950" b="0" i="0">
                <a:solidFill>
                  <a:srgbClr val="1C1C1E"/>
                </a:solidFill>
                <a:latin typeface="Consolas"/>
              </a:rPr>
              <a:t>    result = inst.sentences["is_model"].evaluate(local)</a:t>
            </a:r>
          </a:p>
          <a:p>
            <a:pPr>
              <a:lnSpc>
                <a:spcPct val="134000"/>
              </a:lnSpc>
              <a:spcBef>
                <a:spcPts val="0"/>
              </a:spcBef>
              <a:spcAft>
                <a:spcPts val="0"/>
              </a:spcAft>
            </a:pPr>
            <a:r>
              <a:rPr sz="950" b="0" i="0">
                <a:solidFill>
                  <a:srgbClr val="1C1C1E"/>
                </a:solidFill>
                <a:latin typeface="Consolas"/>
              </a:rPr>
              <a:t>    return ScopeDetermination(</a:t>
            </a:r>
          </a:p>
          <a:p>
            <a:pPr>
              <a:lnSpc>
                <a:spcPct val="134000"/>
              </a:lnSpc>
              <a:spcBef>
                <a:spcPts val="0"/>
              </a:spcBef>
              <a:spcAft>
                <a:spcPts val="0"/>
              </a:spcAft>
            </a:pPr>
            <a:r>
              <a:rPr sz="950" b="0" i="0">
                <a:solidFill>
                  <a:srgbClr val="1C1C1E"/>
                </a:solidFill>
                <a:latin typeface="Consolas"/>
              </a:rPr>
              <a:t>        regime_key=inst.key, regime_version=inst.version,</a:t>
            </a:r>
          </a:p>
          <a:p>
            <a:pPr>
              <a:lnSpc>
                <a:spcPct val="134000"/>
              </a:lnSpc>
              <a:spcBef>
                <a:spcPts val="0"/>
              </a:spcBef>
              <a:spcAft>
                <a:spcPts val="0"/>
              </a:spcAft>
            </a:pPr>
            <a:r>
              <a:rPr sz="950" b="0" i="0">
                <a:solidFill>
                  <a:srgbClr val="1C1C1E"/>
                </a:solidFill>
                <a:latin typeface="Consolas"/>
              </a:rPr>
              <a:t>        determination = "in_scope" if result.value else "out_of_scope",</a:t>
            </a:r>
          </a:p>
          <a:p>
            <a:pPr>
              <a:lnSpc>
                <a:spcPct val="134000"/>
              </a:lnSpc>
              <a:spcBef>
                <a:spcPts val="0"/>
              </a:spcBef>
              <a:spcAft>
                <a:spcPts val="0"/>
              </a:spcAft>
            </a:pPr>
            <a:r>
              <a:rPr sz="950" b="0" i="0">
                <a:solidFill>
                  <a:srgbClr val="1C1C1E"/>
                </a:solidFill>
                <a:latin typeface="Consolas"/>
              </a:rPr>
              <a:t>        derivation = {"evaluated": result.value,</a:t>
            </a:r>
          </a:p>
          <a:p>
            <a:pPr>
              <a:lnSpc>
                <a:spcPct val="134000"/>
              </a:lnSpc>
              <a:spcBef>
                <a:spcPts val="0"/>
              </a:spcBef>
              <a:spcAft>
                <a:spcPts val="0"/>
              </a:spcAft>
            </a:pPr>
            <a:r>
              <a:rPr sz="950" b="0" i="0">
                <a:solidFill>
                  <a:srgbClr val="1C1C1E"/>
                </a:solidFill>
                <a:latin typeface="Consolas"/>
              </a:rPr>
              <a:t>                      "failing_conjunct": result.first_false_conjunct,</a:t>
            </a:r>
          </a:p>
          <a:p>
            <a:pPr>
              <a:lnSpc>
                <a:spcPct val="134000"/>
              </a:lnSpc>
              <a:spcBef>
                <a:spcPts val="0"/>
              </a:spcBef>
              <a:spcAft>
                <a:spcPts val="0"/>
              </a:spcAft>
            </a:pPr>
            <a:r>
              <a:rPr sz="950" b="0" i="0">
                <a:solidFill>
                  <a:srgbClr val="1C1C1E"/>
                </a:solidFill>
                <a:latin typeface="Consolas"/>
              </a:rPr>
              <a:t>                      "facts": local.as_dict(), "citation": result.citation},</a:t>
            </a:r>
          </a:p>
          <a:p>
            <a:pPr>
              <a:lnSpc>
                <a:spcPct val="134000"/>
              </a:lnSpc>
              <a:spcBef>
                <a:spcPts val="0"/>
              </a:spcBef>
              <a:spcAft>
                <a:spcPts val="0"/>
              </a:spcAft>
            </a:pPr>
            <a:r>
              <a:rPr sz="950" b="0" i="0">
                <a:solidFill>
                  <a:srgbClr val="1C1C1E"/>
                </a:solidFill>
                <a:latin typeface="Consolas"/>
              </a:rPr>
              <a:t>        obligations = [s.key for s in inst.sentences if s.holds(local)])</a:t>
            </a:r>
          </a:p>
        </p:txBody>
      </p:sp>
      <p:sp>
        <p:nvSpPr>
          <p:cNvPr id="15" name="TextBox 14"/>
          <p:cNvSpPr txBox="1"/>
          <p:nvPr/>
        </p:nvSpPr>
        <p:spPr>
          <a:xfrm>
            <a:off x="777240" y="4743678"/>
            <a:ext cx="5531351" cy="1536192"/>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 determination is a derivation, not a flag</a:t>
            </a:r>
          </a:p>
          <a:p>
            <a:pPr>
              <a:lnSpc>
                <a:spcPct val="126000"/>
              </a:lnSpc>
              <a:spcBef>
                <a:spcPts val="0"/>
              </a:spcBef>
              <a:spcAft>
                <a:spcPts val="0"/>
              </a:spcAft>
            </a:pPr>
            <a:r>
              <a:rPr sz="1150" b="0" i="0">
                <a:solidFill>
                  <a:srgbClr val="4A4F57"/>
                </a:solidFill>
                <a:latin typeface="Calibri"/>
              </a:rPr>
              <a:t>“Why is this out of scope?” is answered by the failing conjunct and a clause citation — the same answer every time it is asked, including in five years by somebody who was not there.</a:t>
            </a:r>
          </a:p>
        </p:txBody>
      </p:sp>
      <p:sp>
        <p:nvSpPr>
          <p:cNvPr id="16" name="Rectangle 15"/>
          <p:cNvSpPr/>
          <p:nvPr/>
        </p:nvSpPr>
        <p:spPr>
          <a:xfrm>
            <a:off x="6734080" y="4743678"/>
            <a:ext cx="4680374"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734080" y="4743678"/>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971824" y="4862550"/>
            <a:ext cx="4223174"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Law L-8, and its weaker quantifier. </a:t>
            </a:r>
            <a:r>
              <a:rPr sz="1050" b="0" i="0">
                <a:solidFill>
                  <a:srgbClr val="1C1C1E"/>
                </a:solidFill>
                <a:latin typeface="Calibri"/>
              </a:rPr>
              <a:t>core/regimes/translation.py::satisfaction_condition requires evaluating natively and evaluating the translation to agree — over six probe states spanning the corners, not over generated states — and a regime that fails it cannot be activated. The quantifier is stated rather than hidden.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WORKFLOW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Lifecycle, segregation of duties, and day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83</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Transitions are guarded, and guards explain</a:t>
            </a:r>
          </a:p>
        </p:txBody>
      </p:sp>
      <p:sp>
        <p:nvSpPr>
          <p:cNvPr id="11" name="Rectangle 10"/>
          <p:cNvSpPr/>
          <p:nvPr/>
        </p:nvSpPr>
        <p:spPr>
          <a:xfrm>
            <a:off x="777240" y="1719072"/>
            <a:ext cx="499949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1907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19656"/>
            <a:ext cx="463373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unmet = [g for g in t.guards</a:t>
            </a:r>
          </a:p>
          <a:p>
            <a:pPr>
              <a:lnSpc>
                <a:spcPct val="134000"/>
              </a:lnSpc>
              <a:spcBef>
                <a:spcPts val="0"/>
              </a:spcBef>
              <a:spcAft>
                <a:spcPts val="0"/>
              </a:spcAft>
            </a:pPr>
            <a:r>
              <a:rPr sz="950" b="0" i="0">
                <a:solidFill>
                  <a:srgbClr val="1C1C1E"/>
                </a:solidFill>
                <a:latin typeface="Consolas"/>
              </a:rPr>
              <a:t>         if not policy.evaluate(g, ctx).allow]</a:t>
            </a:r>
          </a:p>
          <a:p>
            <a:pPr>
              <a:lnSpc>
                <a:spcPct val="134000"/>
              </a:lnSpc>
              <a:spcBef>
                <a:spcPts val="0"/>
              </a:spcBef>
              <a:spcAft>
                <a:spcPts val="0"/>
              </a:spcAft>
            </a:pPr>
            <a:r>
              <a:rPr sz="950" b="0" i="0">
                <a:solidFill>
                  <a:srgbClr val="1C1C1E"/>
                </a:solidFill>
                <a:latin typeface="Consolas"/>
              </a:rPr>
              <a:t>sod   = sod_engine.violations(actor, t, m)</a:t>
            </a:r>
          </a:p>
          <a:p>
            <a:pPr>
              <a:lnSpc>
                <a:spcPct val="134000"/>
              </a:lnSpc>
              <a:spcBef>
                <a:spcPts val="0"/>
              </a:spcBef>
              <a:spcAft>
                <a:spcPts val="0"/>
              </a:spcAft>
            </a:pPr>
            <a:r>
              <a:rPr sz="950" b="0" i="0">
                <a:solidFill>
                  <a:srgbClr val="1C1C1E"/>
                </a:solidFill>
                <a:latin typeface="Consolas"/>
              </a:rPr>
              <a:t>if unmet or sod:</a:t>
            </a:r>
          </a:p>
          <a:p>
            <a:pPr>
              <a:lnSpc>
                <a:spcPct val="134000"/>
              </a:lnSpc>
              <a:spcBef>
                <a:spcPts val="0"/>
              </a:spcBef>
              <a:spcAft>
                <a:spcPts val="0"/>
              </a:spcAft>
            </a:pPr>
            <a:r>
              <a:rPr sz="950" b="0" i="0">
                <a:solidFill>
                  <a:srgbClr val="1C1C1E"/>
                </a:solidFill>
                <a:latin typeface="Consolas"/>
              </a:rPr>
              <a:t>    raise TransitionBlocked(unmet, sod)</a:t>
            </a:r>
          </a:p>
          <a:p>
            <a:pPr>
              <a:lnSpc>
                <a:spcPct val="134000"/>
              </a:lnSpc>
              <a:spcBef>
                <a:spcPts val="0"/>
              </a:spcBef>
              <a:spcAft>
                <a:spcPts val="0"/>
              </a:spcAft>
            </a:pPr>
            <a:r>
              <a:rPr sz="950" b="0" i="0">
                <a:solidFill>
                  <a:srgbClr val="7A7F87"/>
                </a:solidFill>
                <a:latin typeface="Consolas"/>
              </a:rPr>
              <a:t>    # each entry carries a remediation link — DR-7</a:t>
            </a:r>
          </a:p>
        </p:txBody>
      </p:sp>
      <p:sp>
        <p:nvSpPr>
          <p:cNvPr id="14" name="TextBox 13"/>
          <p:cNvSpPr txBox="1"/>
          <p:nvPr/>
        </p:nvSpPr>
        <p:spPr>
          <a:xfrm>
            <a:off x="777240" y="3453368"/>
            <a:ext cx="4999491" cy="146304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Four SoD rules, read from the chain</a:t>
            </a:r>
          </a:p>
          <a:p>
            <a:pPr>
              <a:lnSpc>
                <a:spcPct val="124000"/>
              </a:lnSpc>
              <a:spcBef>
                <a:spcPts val="0"/>
              </a:spcBef>
              <a:spcAft>
                <a:spcPts val="600"/>
              </a:spcAft>
            </a:pPr>
            <a:r>
              <a:rPr sz="1050" b="0" i="0">
                <a:solidFill>
                  <a:srgbClr val="4A4F57"/>
                </a:solidFill>
                <a:latin typeface="Calibri"/>
              </a:rPr>
              <a:t>creator ≠ approver · creator ≠ promoter · creator ≠ concluder of its validation · raiser ≠ closer of a finding</a:t>
            </a:r>
          </a:p>
          <a:p>
            <a:pPr>
              <a:lnSpc>
                <a:spcPct val="124000"/>
              </a:lnSpc>
              <a:spcBef>
                <a:spcPts val="0"/>
              </a:spcBef>
              <a:spcAft>
                <a:spcPts val="0"/>
              </a:spcAft>
            </a:pPr>
            <a:r>
              <a:rPr sz="1050" b="1" i="0">
                <a:solidFill>
                  <a:srgbClr val="A51C30"/>
                </a:solidFill>
                <a:latin typeface="Calibri"/>
              </a:rPr>
              <a:t>Read from the evidence chain, not a second table. </a:t>
            </a:r>
            <a:r>
              <a:rPr sz="1050" b="0" i="0">
                <a:solidFill>
                  <a:srgbClr val="4A4F57"/>
                </a:solidFill>
                <a:latin typeface="Calibri"/>
              </a:rPr>
              <a:t>Each rule names the payload field carrying the identity it is about: a finding is raised against the model, while closing one concerns the finding. A rule that looks in the wrong place </a:t>
            </a:r>
            <a:r>
              <a:rPr sz="1050" b="1" i="0">
                <a:solidFill>
                  <a:srgbClr val="1C1C1E"/>
                </a:solidFill>
                <a:latin typeface="Calibri"/>
              </a:rPr>
              <a:t>finds nothing and permits everything</a:t>
            </a:r>
            <a:r>
              <a:rPr sz="1050" b="0" i="0">
                <a:solidFill>
                  <a:srgbClr val="4A4F57"/>
                </a:solidFill>
                <a:latin typeface="Calibri"/>
              </a:rPr>
              <a:t> — a control reporting success.</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Baseline import — the day-one problem</a:t>
            </a:r>
          </a:p>
        </p:txBody>
      </p:sp>
      <p:sp>
        <p:nvSpPr>
          <p:cNvPr id="16" name="Rectangle 15"/>
          <p:cNvSpPr/>
          <p:nvPr/>
        </p:nvSpPr>
        <p:spPr>
          <a:xfrm>
            <a:off x="6414964"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561268"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Imported</a:t>
            </a:r>
          </a:p>
          <a:p>
            <a:pPr>
              <a:lnSpc>
                <a:spcPct val="115000"/>
              </a:lnSpc>
              <a:spcBef>
                <a:spcPts val="0"/>
              </a:spcBef>
              <a:spcAft>
                <a:spcPts val="600"/>
              </a:spcAft>
            </a:pPr>
            <a:r>
              <a:rPr sz="850" b="0" i="0">
                <a:solidFill>
                  <a:srgbClr val="4A4F57"/>
                </a:solidFill>
                <a:latin typeface="Calibri"/>
              </a:rPr>
              <a:t>Bulk / connector</a:t>
            </a:r>
          </a:p>
        </p:txBody>
      </p:sp>
      <p:sp>
        <p:nvSpPr>
          <p:cNvPr id="19" name="Rectangle 18"/>
          <p:cNvSpPr/>
          <p:nvPr/>
        </p:nvSpPr>
        <p:spPr>
          <a:xfrm>
            <a:off x="8142421"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142421"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8288725"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Baselined</a:t>
            </a:r>
          </a:p>
          <a:p>
            <a:pPr>
              <a:lnSpc>
                <a:spcPct val="115000"/>
              </a:lnSpc>
              <a:spcBef>
                <a:spcPts val="0"/>
              </a:spcBef>
              <a:spcAft>
                <a:spcPts val="600"/>
              </a:spcAft>
            </a:pPr>
            <a:r>
              <a:rPr sz="850" b="0" i="0">
                <a:solidFill>
                  <a:srgbClr val="4A4F57"/>
                </a:solidFill>
                <a:latin typeface="Calibri"/>
              </a:rPr>
              <a:t>Tiered, owner confirmed, debt recorded</a:t>
            </a:r>
          </a:p>
        </p:txBody>
      </p:sp>
      <p:sp>
        <p:nvSpPr>
          <p:cNvPr id="22" name="Rectangle 21"/>
          <p:cNvSpPr/>
          <p:nvPr/>
        </p:nvSpPr>
        <p:spPr>
          <a:xfrm>
            <a:off x="9869878"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869878"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016182"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Gate bites</a:t>
            </a:r>
          </a:p>
          <a:p>
            <a:pPr>
              <a:lnSpc>
                <a:spcPct val="115000"/>
              </a:lnSpc>
              <a:spcBef>
                <a:spcPts val="0"/>
              </a:spcBef>
              <a:spcAft>
                <a:spcPts val="600"/>
              </a:spcAft>
            </a:pPr>
            <a:r>
              <a:rPr sz="850" b="0" i="0">
                <a:solidFill>
                  <a:srgbClr val="4A4F57"/>
                </a:solidFill>
                <a:latin typeface="Calibri"/>
              </a:rPr>
              <a:t>On the next MATERIAL change</a:t>
            </a:r>
          </a:p>
        </p:txBody>
      </p:sp>
      <p:sp>
        <p:nvSpPr>
          <p:cNvPr id="25" name="Rectangle 24"/>
          <p:cNvSpPr/>
          <p:nvPr/>
        </p:nvSpPr>
        <p:spPr>
          <a:xfrm>
            <a:off x="6414964" y="3182112"/>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414964" y="318211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652708" y="3300984"/>
            <a:ext cx="4542291"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this exists. </a:t>
            </a:r>
            <a:r>
              <a:rPr sz="1050" b="0" i="0">
                <a:solidFill>
                  <a:srgbClr val="1C1C1E"/>
                </a:solidFill>
                <a:latin typeface="Calibri"/>
              </a:rPr>
              <a:t>On import, 1,200 legacy models arrive with no evidence. Without a baseline path every gate fails, every dashboard is red, and the programme dies by month seven. Debt is a tracked burn-down with a board-approved expiry — never rendered in the same colour as a breach.</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POLICY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Versioned gates — changing a control without weakening it quietly</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84</a:t>
            </a:r>
          </a:p>
        </p:txBody>
      </p:sp>
      <p:sp>
        <p:nvSpPr>
          <p:cNvPr id="10" name="Rectangle 9"/>
          <p:cNvSpPr/>
          <p:nvPr/>
        </p:nvSpPr>
        <p:spPr>
          <a:xfrm>
            <a:off x="777240" y="1819656"/>
            <a:ext cx="5637724"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819656"/>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911095"/>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core/policy/language.py</a:t>
            </a:r>
          </a:p>
        </p:txBody>
      </p:sp>
      <p:sp>
        <p:nvSpPr>
          <p:cNvPr id="13" name="TextBox 12"/>
          <p:cNvSpPr txBox="1"/>
          <p:nvPr/>
        </p:nvSpPr>
        <p:spPr>
          <a:xfrm>
            <a:off x="978408" y="2212848"/>
            <a:ext cx="5271964"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rule is a PREDICATE, not a program</a:t>
            </a:r>
          </a:p>
          <a:p>
            <a:pPr>
              <a:lnSpc>
                <a:spcPct val="134000"/>
              </a:lnSpc>
              <a:spcBef>
                <a:spcPts val="0"/>
              </a:spcBef>
              <a:spcAft>
                <a:spcPts val="0"/>
              </a:spcAft>
            </a:pPr>
            <a:r>
              <a:rPr sz="900" b="0" i="0">
                <a:solidFill>
                  <a:srgbClr val="1C1C1E"/>
                </a:solidFill>
                <a:latin typeface="Consolas"/>
              </a:rPr>
              <a:t>blocking_findings == 0 and tier is not None</a:t>
            </a:r>
          </a:p>
          <a:p>
            <a:pPr>
              <a:lnSpc>
                <a:spcPct val="134000"/>
              </a:lnSpc>
              <a:spcBef>
                <a:spcPts val="0"/>
              </a:spcBef>
              <a:spcAft>
                <a:spcPts val="0"/>
              </a:spcAft>
            </a:pPr>
            <a:r>
              <a:rPr sz="900" b="0" i="0">
                <a:solidFill>
                  <a:srgbClr val="1C1C1E"/>
                </a:solidFill>
                <a:latin typeface="Consolas"/>
              </a:rPr>
              <a:t>  and all(d in accepted for d in required_docs)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whitelisted at the AST: comparison, membership,</a:t>
            </a:r>
          </a:p>
          <a:p>
            <a:pPr>
              <a:lnSpc>
                <a:spcPct val="134000"/>
              </a:lnSpc>
              <a:spcBef>
                <a:spcPts val="0"/>
              </a:spcBef>
              <a:spcAft>
                <a:spcPts val="0"/>
              </a:spcAft>
            </a:pPr>
            <a:r>
              <a:rPr sz="900" b="0" i="0">
                <a:solidFill>
                  <a:srgbClr val="7A7F87"/>
                </a:solidFill>
                <a:latin typeface="Consolas"/>
              </a:rPr>
              <a:t>#   and / or / not, any / all, six functions.</a:t>
            </a:r>
          </a:p>
          <a:p>
            <a:pPr>
              <a:lnSpc>
                <a:spcPct val="134000"/>
              </a:lnSpc>
              <a:spcBef>
                <a:spcPts val="0"/>
              </a:spcBef>
              <a:spcAft>
                <a:spcPts val="0"/>
              </a:spcAft>
            </a:pPr>
            <a:r>
              <a:rPr sz="900" b="0" i="0">
                <a:solidFill>
                  <a:srgbClr val="7A7F87"/>
                </a:solidFill>
                <a:latin typeface="Consolas"/>
              </a:rPr>
              <a:t># NO loops, assignment, def, attribute access,</a:t>
            </a:r>
          </a:p>
          <a:p>
            <a:pPr>
              <a:lnSpc>
                <a:spcPct val="134000"/>
              </a:lnSpc>
              <a:spcBef>
                <a:spcPts val="0"/>
              </a:spcBef>
              <a:spcAft>
                <a:spcPts val="0"/>
              </a:spcAft>
            </a:pPr>
            <a:r>
              <a:rPr sz="900" b="0" i="0">
                <a:solidFill>
                  <a:srgbClr val="7A7F87"/>
                </a:solidFill>
                <a:latin typeface="Consolas"/>
              </a:rPr>
              <a:t>#   subscripting.</a:t>
            </a:r>
          </a:p>
        </p:txBody>
      </p:sp>
      <p:sp>
        <p:nvSpPr>
          <p:cNvPr id="14" name="TextBox 13"/>
          <p:cNvSpPr txBox="1"/>
          <p:nvPr/>
        </p:nvSpPr>
        <p:spPr>
          <a:xfrm>
            <a:off x="777240" y="4131624"/>
            <a:ext cx="5637724" cy="114300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gate is a predicate, not a program. </a:t>
            </a:r>
            <a:r>
              <a:rPr sz="1050" b="0" i="0">
                <a:solidFill>
                  <a:srgbClr val="1C1C1E"/>
                </a:solidFill>
                <a:latin typeface="Calibri"/>
              </a:rPr>
              <a:t>A control written in a general-purpose policy language has to be run to be understood, and a reviewer signing one off cannot run it.</a:t>
            </a:r>
          </a:p>
        </p:txBody>
      </p:sp>
      <p:graphicFrame>
        <p:nvGraphicFramePr>
          <p:cNvPr id="15" name="Table 14"/>
          <p:cNvGraphicFramePr>
            <a:graphicFrameLocks noGrp="1"/>
          </p:cNvGraphicFramePr>
          <p:nvPr/>
        </p:nvGraphicFramePr>
        <p:xfrm>
          <a:off x="6840452" y="1819656"/>
          <a:ext cx="4574002" cy="2889504"/>
        </p:xfrm>
        <a:graphic>
          <a:graphicData uri="http://schemas.openxmlformats.org/drawingml/2006/table">
            <a:tbl>
              <a:tblPr firstRow="1">
                <a:tableStyleId>{5C22544A-7EE6-4342-B048-85BDC9FD1C3A}</a:tableStyleId>
              </a:tblPr>
              <a:tblGrid>
                <a:gridCol w="2243850"/>
                <a:gridCol w="2330152"/>
              </a:tblGrid>
              <a:tr h="329184">
                <a:tc>
                  <a:txBody>
                    <a:bodyPr wrap="square"/>
                    <a:lstStyle/>
                    <a:p>
                      <a:pPr algn="l"/>
                      <a:r>
                        <a:rPr sz="950" b="1">
                          <a:solidFill>
                            <a:srgbClr val="FFFFFF"/>
                          </a:solidFill>
                          <a:latin typeface="Calibri"/>
                        </a:rPr>
                        <a:t>Property</a:t>
                      </a:r>
                    </a:p>
                  </a:txBody>
                  <a:tcPr marL="82296" marR="64008" marT="32004" marB="32004" anchor="ctr">
                    <a:solidFill>
                      <a:srgbClr val="A51C30"/>
                    </a:solidFill>
                  </a:tcPr>
                </a:tc>
                <a:tc>
                  <a:txBody>
                    <a:bodyPr wrap="square"/>
                    <a:lstStyle/>
                    <a:p>
                      <a:pPr algn="l"/>
                      <a:r>
                        <a:rPr sz="950" b="1">
                          <a:solidFill>
                            <a:srgbClr val="FFFFFF"/>
                          </a:solidFill>
                          <a:latin typeface="Calibri"/>
                        </a:rPr>
                        <a:t>What it prevents</a:t>
                      </a:r>
                    </a:p>
                  </a:txBody>
                  <a:tcPr marL="82296" marR="64008" marT="32004" marB="32004" anchor="ctr">
                    <a:solidFill>
                      <a:srgbClr val="A51C30"/>
                    </a:solidFill>
                  </a:tcPr>
                </a:tc>
              </a:tr>
              <a:tr h="640080">
                <a:tc>
                  <a:txBody>
                    <a:bodyPr wrap="square"/>
                    <a:lstStyle/>
                    <a:p>
                      <a:pPr algn="l"/>
                      <a:r>
                        <a:rPr sz="900" b="1">
                          <a:solidFill>
                            <a:srgbClr val="A51C30"/>
                          </a:solidFill>
                          <a:latin typeface="Calibri"/>
                        </a:rPr>
                        <a:t>A fact the gate does not publish is refused when the rule is WRITTEN</a:t>
                      </a:r>
                    </a:p>
                  </a:txBody>
                  <a:tcPr marL="82296" marR="64008" marT="32004" marB="32004" anchor="ctr">
                    <a:solidFill>
                      <a:srgbClr val="FFFFFF"/>
                    </a:solidFill>
                  </a:tcPr>
                </a:tc>
                <a:tc>
                  <a:txBody>
                    <a:bodyPr wrap="square"/>
                    <a:lstStyle/>
                    <a:p>
                      <a:pPr algn="l"/>
                      <a:r>
                        <a:rPr sz="900" b="0">
                          <a:solidFill>
                            <a:srgbClr val="1C1C1E"/>
                          </a:solidFill>
                          <a:latin typeface="Calibri"/>
                        </a:rPr>
                        <a:t>A rule failing at the moment of a governance decision</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 policy ships with its cases, and one must REFUSE</a:t>
                      </a:r>
                    </a:p>
                  </a:txBody>
                  <a:tcPr marL="82296" marR="64008" marT="32004" marB="32004" anchor="ctr">
                    <a:solidFill>
                      <a:srgbClr val="F6F3EF"/>
                    </a:solidFill>
                  </a:tcPr>
                </a:tc>
                <a:tc>
                  <a:txBody>
                    <a:bodyPr wrap="square"/>
                    <a:lstStyle/>
                    <a:p>
                      <a:pPr algn="l"/>
                      <a:r>
                        <a:rPr sz="900" b="0">
                          <a:solidFill>
                            <a:srgbClr val="1C1C1E"/>
                          </a:solidFill>
                          <a:latin typeface="Calibri"/>
                        </a:rPr>
                        <a:t>A policy nobody has shown to be a gate</a:t>
                      </a:r>
                    </a:p>
                  </a:txBody>
                  <a:tcPr marL="82296" marR="64008" marT="32004" marB="32004" anchor="ctr">
                    <a:solidFill>
                      <a:srgbClr val="F6F3EF"/>
                    </a:solidFill>
                  </a:tcPr>
                </a:tc>
              </a:tr>
              <a:tr h="640080">
                <a:tc>
                  <a:txBody>
                    <a:bodyPr wrap="square"/>
                    <a:lstStyle/>
                    <a:p>
                      <a:pPr algn="l"/>
                      <a:r>
                        <a:rPr sz="900" b="1">
                          <a:solidFill>
                            <a:srgbClr val="A51C30"/>
                          </a:solidFill>
                          <a:latin typeface="Calibri"/>
                        </a:rPr>
                        <a:t>Publishing replays the OUTGOING version's cases against the new rule</a:t>
                      </a:r>
                    </a:p>
                  </a:txBody>
                  <a:tcPr marL="82296" marR="64008" marT="32004" marB="32004" anchor="ctr">
                    <a:solidFill>
                      <a:srgbClr val="FFFFFF"/>
                    </a:solidFill>
                  </a:tcPr>
                </a:tc>
                <a:tc>
                  <a:txBody>
                    <a:bodyPr wrap="square"/>
                    <a:lstStyle/>
                    <a:p>
                      <a:pPr algn="l"/>
                      <a:r>
                        <a:rPr sz="900" b="0">
                          <a:solidFill>
                            <a:srgbClr val="1C1C1E"/>
                          </a:solidFill>
                          <a:latin typeface="Calibri"/>
                        </a:rPr>
                        <a:t>A loosened gate discovered rather than decided</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Authoring and publishing are separate; a published version supersedes, never edits</a:t>
                      </a:r>
                    </a:p>
                  </a:txBody>
                  <a:tcPr marL="82296" marR="64008" marT="32004" marB="32004" anchor="ctr">
                    <a:solidFill>
                      <a:srgbClr val="F6F3EF"/>
                    </a:solidFill>
                  </a:tcPr>
                </a:tc>
                <a:tc>
                  <a:txBody>
                    <a:bodyPr wrap="square"/>
                    <a:lstStyle/>
                    <a:p>
                      <a:pPr algn="l"/>
                      <a:r>
                        <a:rPr sz="900" b="0">
                          <a:solidFill>
                            <a:srgbClr val="1C1C1E"/>
                          </a:solidFill>
                          <a:latin typeface="Calibri"/>
                        </a:rPr>
                        <a:t>One person changing a control end to end</a:t>
                      </a:r>
                    </a:p>
                  </a:txBody>
                  <a:tcPr marL="82296" marR="64008" marT="32004" marB="32004" anchor="ctr">
                    <a:solidFill>
                      <a:srgbClr val="F6F3EF"/>
                    </a:solidFill>
                  </a:tcPr>
                </a:tc>
              </a:tr>
            </a:tbl>
          </a:graphicData>
        </a:graphic>
      </p:graphicFrame>
      <p:sp>
        <p:nvSpPr>
          <p:cNvPr id="16" name="Rectangle 15"/>
          <p:cNvSpPr/>
          <p:nvPr/>
        </p:nvSpPr>
        <p:spPr>
          <a:xfrm>
            <a:off x="777240" y="5056632"/>
            <a:ext cx="10637215" cy="6400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69848" y="5157216"/>
            <a:ext cx="10051999" cy="512064"/>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FFFFFF"/>
                </a:solidFill>
                <a:latin typeface="Calibri"/>
              </a:rPr>
              <a:t>The honest boundary. </a:t>
            </a:r>
            <a:r>
              <a:rPr sz="1100" b="0" i="0">
                <a:solidFill>
                  <a:srgbClr val="F6E0E4"/>
                </a:solidFill>
                <a:latin typeface="Calibri"/>
              </a:rPr>
              <a:t>Policy tightens; the code's invariants are the floor. A rule runs in addition to the registry's checks, never instead of them — because replacing an invariant with a line of configuration means a typo can weaken the platform while the deployment looks successful.</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DOCUMENTATION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 two kinds, held apart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85</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Compiled — what the register knows</a:t>
            </a:r>
          </a:p>
        </p:txBody>
      </p:sp>
      <p:sp>
        <p:nvSpPr>
          <p:cNvPr id="11" name="Rectangle 10"/>
          <p:cNvSpPr/>
          <p:nvPr/>
        </p:nvSpPr>
        <p:spPr>
          <a:xfrm>
            <a:off x="777240" y="1737360"/>
            <a:ext cx="4999491" cy="108914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08914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4633731" cy="90626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gen = [lens.render(ctx) for lens in template]</a:t>
            </a:r>
          </a:p>
          <a:p>
            <a:pPr>
              <a:lnSpc>
                <a:spcPct val="134000"/>
              </a:lnSpc>
              <a:spcBef>
                <a:spcPts val="0"/>
              </a:spcBef>
              <a:spcAft>
                <a:spcPts val="0"/>
              </a:spcAft>
            </a:pPr>
            <a:r>
              <a:rPr sz="950" b="0" i="0">
                <a:solidFill>
                  <a:srgbClr val="1C1C1E"/>
                </a:solidFill>
                <a:latin typeface="Consolas"/>
              </a:rPr>
              <a:t>doc.stale = ev.digest != prev.evidence_digest</a:t>
            </a:r>
          </a:p>
          <a:p>
            <a:pPr>
              <a:lnSpc>
                <a:spcPct val="134000"/>
              </a:lnSpc>
              <a:spcBef>
                <a:spcPts val="0"/>
              </a:spcBef>
              <a:spcAft>
                <a:spcPts val="0"/>
              </a:spcAft>
            </a:pPr>
            <a:r>
              <a:rPr sz="950" b="0" i="0">
                <a:solidFill>
                  <a:srgbClr val="7A7F87"/>
                </a:solidFill>
                <a:latin typeface="Consolas"/>
              </a:rPr>
              <a:t># a lens that cannot fill its section says so,</a:t>
            </a:r>
          </a:p>
          <a:p>
            <a:pPr>
              <a:lnSpc>
                <a:spcPct val="134000"/>
              </a:lnSpc>
              <a:spcBef>
                <a:spcPts val="0"/>
              </a:spcBef>
              <a:spcAft>
                <a:spcPts val="0"/>
              </a:spcAft>
            </a:pPr>
            <a:r>
              <a:rPr sz="950" b="0" i="0">
                <a:solidFill>
                  <a:srgbClr val="7A7F87"/>
                </a:solidFill>
                <a:latin typeface="Consolas"/>
              </a:rPr>
              <a:t># so a gap in the evidence is visible, not blank</a:t>
            </a:r>
          </a:p>
        </p:txBody>
      </p:sp>
      <p:sp>
        <p:nvSpPr>
          <p:cNvPr id="14" name="TextBox 13"/>
          <p:cNvSpPr txBox="1"/>
          <p:nvPr/>
        </p:nvSpPr>
        <p:spPr>
          <a:xfrm>
            <a:off x="777240" y="3064245"/>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Four kinds, fifteen lenses. Every section records the evidence it rested on, so citation soundness is a Boolean evaluation rather than a claim. Staleness is computed from the chain head at compile time, never remembered.</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Attached — what a person wrote</a:t>
            </a:r>
          </a:p>
        </p:txBody>
      </p:sp>
      <p:sp>
        <p:nvSpPr>
          <p:cNvPr id="16" name="Rectangle 15"/>
          <p:cNvSpPr/>
          <p:nvPr/>
        </p:nvSpPr>
        <p:spPr>
          <a:xfrm>
            <a:off x="6414964" y="1737360"/>
            <a:ext cx="499949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616132" y="1837943"/>
            <a:ext cx="463373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digest, size = store.put(bytes)   # sha256 IS the key</a:t>
            </a:r>
          </a:p>
          <a:p>
            <a:pPr>
              <a:lnSpc>
                <a:spcPct val="134000"/>
              </a:lnSpc>
              <a:spcBef>
                <a:spcPts val="0"/>
              </a:spcBef>
              <a:spcAft>
                <a:spcPts val="0"/>
              </a:spcAft>
            </a:pPr>
            <a:r>
              <a:rPr sz="950" b="0" i="0">
                <a:solidFill>
                  <a:srgbClr val="1C1C1E"/>
                </a:solidFill>
                <a:latin typeface="Consolas"/>
              </a:rPr>
              <a:t>version_id = current_version(urn) # not the model</a:t>
            </a:r>
          </a:p>
          <a:p>
            <a:pPr>
              <a:lnSpc>
                <a:spcPct val="134000"/>
              </a:lnSpc>
              <a:spcBef>
                <a:spcPts val="0"/>
              </a:spcBef>
              <a:spcAft>
                <a:spcPts val="0"/>
              </a:spcAft>
            </a:pPr>
            <a:r>
              <a:rPr sz="950" b="0" i="0">
                <a:solidFill>
                  <a:srgbClr val="1C1C1E"/>
                </a:solidFill>
                <a:latin typeface="Consolas"/>
              </a:rPr>
              <a:t>...</a:t>
            </a:r>
          </a:p>
          <a:p>
            <a:pPr>
              <a:lnSpc>
                <a:spcPct val="134000"/>
              </a:lnSpc>
              <a:spcBef>
                <a:spcPts val="0"/>
              </a:spcBef>
              <a:spcAft>
                <a:spcPts val="0"/>
              </a:spcAft>
            </a:pPr>
            <a:r>
              <a:rPr sz="950" b="0" i="0">
                <a:solidFill>
                  <a:srgbClr val="1C1C1E"/>
                </a:solidFill>
                <a:latin typeface="Consolas"/>
              </a:rPr>
              <a:t>refuse_if(actor == row.attached_by, "self_review")</a:t>
            </a:r>
          </a:p>
          <a:p>
            <a:pPr>
              <a:lnSpc>
                <a:spcPct val="134000"/>
              </a:lnSpc>
              <a:spcBef>
                <a:spcPts val="0"/>
              </a:spcBef>
              <a:spcAft>
                <a:spcPts val="0"/>
              </a:spcAft>
            </a:pPr>
            <a:r>
              <a:rPr sz="950" b="0" i="0">
                <a:solidFill>
                  <a:srgbClr val="1C1C1E"/>
                </a:solidFill>
                <a:latin typeface="Consolas"/>
              </a:rPr>
              <a:t>refuse_if(not accept and not note, "reason_required")</a:t>
            </a:r>
          </a:p>
        </p:txBody>
      </p:sp>
      <p:sp>
        <p:nvSpPr>
          <p:cNvPr id="19" name="TextBox 18"/>
          <p:cNvSpPr txBox="1"/>
          <p:nvPr/>
        </p:nvSpPr>
        <p:spPr>
          <a:xfrm>
            <a:off x="6414964" y="3267951"/>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Filed against the version it describes, because an MDD describes the coefficients it printed — not their replacement. Re-hashed on read: what was accepted is what is served.</a:t>
            </a:r>
          </a:p>
        </p:txBody>
      </p:sp>
      <p:sp>
        <p:nvSpPr>
          <p:cNvPr id="20" name="Rectangle 19"/>
          <p:cNvSpPr/>
          <p:nvPr/>
        </p:nvSpPr>
        <p:spPr>
          <a:xfrm>
            <a:off x="777240" y="4663440"/>
            <a:ext cx="10637215" cy="89611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4663440"/>
            <a:ext cx="41148"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1014983" y="4782312"/>
            <a:ext cx="10180015" cy="67665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both. </a:t>
            </a:r>
            <a:r>
              <a:rPr sz="1050" b="0" i="0">
                <a:solidFill>
                  <a:srgbClr val="1C1C1E"/>
                </a:solidFill>
                <a:latin typeface="Calibri"/>
              </a:rPr>
              <a:t>A platform that only compiles cannot hold the paper the quant actually wrote; one that only stores files is a share drive with a database in front. Held apart, the register can say which is which — and a rejected document stays on file with its reason, because the papers that did not pass are the ones a supervisor asks about.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warrant grammar — a product, not a union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86</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4A4F57"/>
                </a:solidFill>
                <a:latin typeface="Calibri"/>
              </a:rPr>
              <a:t>Every model a bank runs differs along exactly four independent axes. The grammar is their PRODUCT, so a new model technology is a new value in one vocabulary — not a new document type.</a:t>
            </a:r>
          </a:p>
        </p:txBody>
      </p:sp>
      <p:sp>
        <p:nvSpPr>
          <p:cNvPr id="11" name="Rectangle 10"/>
          <p:cNvSpPr/>
          <p:nvPr/>
        </p:nvSpPr>
        <p:spPr>
          <a:xfrm>
            <a:off x="777240" y="2011680"/>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011680"/>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66544"/>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1  Parameter object  ·  8</a:t>
            </a:r>
          </a:p>
          <a:p>
            <a:pPr>
              <a:spcBef>
                <a:spcPts val="0"/>
              </a:spcBef>
              <a:spcAft>
                <a:spcPts val="0"/>
              </a:spcAft>
            </a:pPr>
            <a:r>
              <a:rPr sz="950" b="0" i="1">
                <a:solidFill>
                  <a:srgbClr val="7A7F87"/>
                </a:solidFill>
                <a:latin typeface="Calibri"/>
              </a:rPr>
              <a:t>how P is inhabited</a:t>
            </a:r>
          </a:p>
        </p:txBody>
      </p:sp>
      <p:sp>
        <p:nvSpPr>
          <p:cNvPr id="14" name="TextBox 13"/>
          <p:cNvSpPr txBox="1"/>
          <p:nvPr/>
        </p:nvSpPr>
        <p:spPr>
          <a:xfrm>
            <a:off x="3968404" y="2103120"/>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none · calibration_set · estimated_coefficients · learned_weights · llm_configuration · rule_set · elicited_weights · opaque</a:t>
            </a:r>
          </a:p>
        </p:txBody>
      </p:sp>
      <p:sp>
        <p:nvSpPr>
          <p:cNvPr id="15" name="Rectangle 14"/>
          <p:cNvSpPr/>
          <p:nvPr/>
        </p:nvSpPr>
        <p:spPr>
          <a:xfrm>
            <a:off x="777240" y="2798064"/>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798064"/>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78408" y="2852928"/>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2  Realisation  ·  18</a:t>
            </a:r>
          </a:p>
          <a:p>
            <a:pPr>
              <a:spcBef>
                <a:spcPts val="0"/>
              </a:spcBef>
              <a:spcAft>
                <a:spcPts val="0"/>
              </a:spcAft>
            </a:pPr>
            <a:r>
              <a:rPr sz="950" b="0" i="1">
                <a:solidFill>
                  <a:srgbClr val="7A7F87"/>
                </a:solidFill>
                <a:latin typeface="Calibri"/>
              </a:rPr>
              <a:t>how the kernel becomes runnable</a:t>
            </a:r>
          </a:p>
        </p:txBody>
      </p:sp>
      <p:sp>
        <p:nvSpPr>
          <p:cNvPr id="18" name="TextBox 17"/>
          <p:cNvSpPr txBox="1"/>
          <p:nvPr/>
        </p:nvSpPr>
        <p:spPr>
          <a:xfrm>
            <a:off x="3968404" y="2889504"/>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quantlib · onnx · pmml · pfa · estimator · rules · python.callable · container · rest · sql · spreadsheet · solver · sas · r · matlab · llm.prompt · llm.agent · descriptor_only</a:t>
            </a:r>
          </a:p>
        </p:txBody>
      </p:sp>
      <p:sp>
        <p:nvSpPr>
          <p:cNvPr id="19" name="Rectangle 18"/>
          <p:cNvSpPr/>
          <p:nvPr/>
        </p:nvSpPr>
        <p:spPr>
          <a:xfrm>
            <a:off x="777240" y="3584448"/>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3584448"/>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78408" y="3639312"/>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3  Operation  ·  10</a:t>
            </a:r>
          </a:p>
          <a:p>
            <a:pPr>
              <a:spcBef>
                <a:spcPts val="0"/>
              </a:spcBef>
              <a:spcAft>
                <a:spcPts val="0"/>
              </a:spcAft>
            </a:pPr>
            <a:r>
              <a:rPr sz="950" b="0" i="1">
                <a:solidFill>
                  <a:srgbClr val="7A7F87"/>
                </a:solidFill>
                <a:latin typeface="Calibri"/>
              </a:rPr>
              <a:t>what is asked of it</a:t>
            </a:r>
          </a:p>
        </p:txBody>
      </p:sp>
      <p:sp>
        <p:nvSpPr>
          <p:cNvPr id="22" name="TextBox 21"/>
          <p:cNvSpPr txBox="1"/>
          <p:nvPr/>
        </p:nvSpPr>
        <p:spPr>
          <a:xfrm>
            <a:off x="3968404" y="3675887"/>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score · fit · validate · backtest · explain · simulate · stress · optimise · generate · monitor</a:t>
            </a:r>
          </a:p>
        </p:txBody>
      </p:sp>
      <p:sp>
        <p:nvSpPr>
          <p:cNvPr id="23" name="Rectangle 22"/>
          <p:cNvSpPr/>
          <p:nvPr/>
        </p:nvSpPr>
        <p:spPr>
          <a:xfrm>
            <a:off x="777240" y="4370832"/>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370832"/>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78408" y="4425696"/>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4  Data binding  ·  12</a:t>
            </a:r>
          </a:p>
          <a:p>
            <a:pPr>
              <a:spcBef>
                <a:spcPts val="0"/>
              </a:spcBef>
              <a:spcAft>
                <a:spcPts val="0"/>
              </a:spcAft>
            </a:pPr>
            <a:r>
              <a:rPr sz="950" b="0" i="1">
                <a:solidFill>
                  <a:srgbClr val="7A7F87"/>
                </a:solidFill>
                <a:latin typeface="Calibri"/>
              </a:rPr>
              <a:t>where its data comes from</a:t>
            </a:r>
          </a:p>
        </p:txBody>
      </p:sp>
      <p:sp>
        <p:nvSpPr>
          <p:cNvPr id="26" name="TextBox 25"/>
          <p:cNvSpPr txBox="1"/>
          <p:nvPr/>
        </p:nvSpPr>
        <p:spPr>
          <a:xfrm>
            <a:off x="3968404" y="4462272"/>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inline · request · feature_namespace · featureset · dataset_snapshot · delta_table · sql_query · stream · market_data · document_corpus · scenario_set · artifact</a:t>
            </a:r>
          </a:p>
        </p:txBody>
      </p:sp>
      <p:sp>
        <p:nvSpPr>
          <p:cNvPr id="27" name="TextBox 26"/>
          <p:cNvSpPr txBox="1"/>
          <p:nvPr/>
        </p:nvSpPr>
        <p:spPr>
          <a:xfrm>
            <a:off x="777240" y="537667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Extends the right way. </a:t>
            </a:r>
            <a:r>
              <a:rPr sz="1150" b="0" i="0">
                <a:solidFill>
                  <a:srgbClr val="1C1C1E"/>
                </a:solidFill>
                <a:latin typeface="Calibri"/>
              </a:rPr>
              <a:t>A model technology nobody anticipated is a new value in one vocabulary — almost always a runtime — not a new document type. Six of the nineteen run inside MAYA; the rest name an engine the bank already operates, and the warrant is what MAYA hands it.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ONE GRAMMAR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same document, at different coordinates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87</a:t>
            </a:r>
          </a:p>
        </p:txBody>
      </p:sp>
      <p:graphicFrame>
        <p:nvGraphicFramePr>
          <p:cNvPr id="10" name="Table 9"/>
          <p:cNvGraphicFramePr>
            <a:graphicFrameLocks noGrp="1"/>
          </p:cNvGraphicFramePr>
          <p:nvPr/>
        </p:nvGraphicFramePr>
        <p:xfrm>
          <a:off x="777240" y="1353312"/>
          <a:ext cx="10637213" cy="3022117"/>
        </p:xfrm>
        <a:graphic>
          <a:graphicData uri="http://schemas.openxmlformats.org/drawingml/2006/table">
            <a:tbl>
              <a:tblPr firstRow="1">
                <a:tableStyleId>{5C22544A-7EE6-4342-B048-85BDC9FD1C3A}</a:tableStyleId>
              </a:tblPr>
              <a:tblGrid>
                <a:gridCol w="2727491"/>
                <a:gridCol w="2818407"/>
                <a:gridCol w="2181992"/>
                <a:gridCol w="1363745"/>
                <a:gridCol w="1545578"/>
              </a:tblGrid>
              <a:tr h="333781">
                <a:tc>
                  <a:txBody>
                    <a:bodyPr wrap="square"/>
                    <a:lstStyle/>
                    <a:p>
                      <a:pPr algn="l"/>
                      <a:r>
                        <a:rPr sz="1100" b="1">
                          <a:solidFill>
                            <a:srgbClr val="FFFFFF"/>
                          </a:solidFill>
                          <a:latin typeface="Calibri"/>
                        </a:rPr>
                        <a:t>Model</a:t>
                      </a:r>
                    </a:p>
                  </a:txBody>
                  <a:tcPr marL="82296" marR="64008" marT="32004" marB="32004" anchor="ctr">
                    <a:solidFill>
                      <a:srgbClr val="A51C30"/>
                    </a:solidFill>
                  </a:tcPr>
                </a:tc>
                <a:tc>
                  <a:txBody>
                    <a:bodyPr wrap="square"/>
                    <a:lstStyle/>
                    <a:p>
                      <a:pPr algn="l"/>
                      <a:r>
                        <a:rPr sz="1100" b="1">
                          <a:solidFill>
                            <a:srgbClr val="FFFFFF"/>
                          </a:solidFill>
                          <a:latin typeface="Calibri"/>
                        </a:rPr>
                        <a:t>1  parameters</a:t>
                      </a:r>
                    </a:p>
                  </a:txBody>
                  <a:tcPr marL="82296" marR="64008" marT="32004" marB="32004" anchor="ctr">
                    <a:solidFill>
                      <a:srgbClr val="A51C30"/>
                    </a:solidFill>
                  </a:tcPr>
                </a:tc>
                <a:tc>
                  <a:txBody>
                    <a:bodyPr wrap="square"/>
                    <a:lstStyle/>
                    <a:p>
                      <a:pPr algn="l"/>
                      <a:r>
                        <a:rPr sz="1100" b="1">
                          <a:solidFill>
                            <a:srgbClr val="FFFFFF"/>
                          </a:solidFill>
                          <a:latin typeface="Calibri"/>
                        </a:rPr>
                        <a:t>2  runtime</a:t>
                      </a:r>
                    </a:p>
                  </a:txBody>
                  <a:tcPr marL="82296" marR="64008" marT="32004" marB="32004" anchor="ctr">
                    <a:solidFill>
                      <a:srgbClr val="A51C30"/>
                    </a:solidFill>
                  </a:tcPr>
                </a:tc>
                <a:tc>
                  <a:txBody>
                    <a:bodyPr wrap="square"/>
                    <a:lstStyle/>
                    <a:p>
                      <a:pPr algn="l"/>
                      <a:r>
                        <a:rPr sz="1100" b="1">
                          <a:solidFill>
                            <a:srgbClr val="FFFFFF"/>
                          </a:solidFill>
                          <a:latin typeface="Calibri"/>
                        </a:rPr>
                        <a:t>3  verb</a:t>
                      </a:r>
                    </a:p>
                  </a:txBody>
                  <a:tcPr marL="82296" marR="64008" marT="32004" marB="32004" anchor="ctr">
                    <a:solidFill>
                      <a:srgbClr val="A51C30"/>
                    </a:solidFill>
                  </a:tcPr>
                </a:tc>
                <a:tc>
                  <a:txBody>
                    <a:bodyPr wrap="square"/>
                    <a:lstStyle/>
                    <a:p>
                      <a:pPr algn="l"/>
                      <a:r>
                        <a:rPr sz="1100" b="1">
                          <a:solidFill>
                            <a:srgbClr val="FFFFFF"/>
                          </a:solidFill>
                          <a:latin typeface="Calibri"/>
                        </a:rPr>
                        <a:t>4  data</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Black swaption pricer</a:t>
                      </a:r>
                    </a:p>
                  </a:txBody>
                  <a:tcPr marL="82296" marR="64008" marT="32004" marB="32004" anchor="ctr">
                    <a:solidFill>
                      <a:srgbClr val="FFFFFF"/>
                    </a:solidFill>
                  </a:tcPr>
                </a:tc>
                <a:tc>
                  <a:txBody>
                    <a:bodyPr wrap="square"/>
                    <a:lstStyle/>
                    <a:p>
                      <a:pPr algn="l"/>
                      <a:r>
                        <a:rPr sz="1050" b="0">
                          <a:solidFill>
                            <a:srgbClr val="1C1C1E"/>
                          </a:solidFill>
                          <a:latin typeface="Calibri"/>
                        </a:rPr>
                        <a:t>none  (T0)</a:t>
                      </a:r>
                    </a:p>
                  </a:txBody>
                  <a:tcPr marL="82296" marR="64008" marT="32004" marB="32004" anchor="ctr">
                    <a:solidFill>
                      <a:srgbClr val="FFFFFF"/>
                    </a:solidFill>
                  </a:tcPr>
                </a:tc>
                <a:tc>
                  <a:txBody>
                    <a:bodyPr wrap="square"/>
                    <a:lstStyle/>
                    <a:p>
                      <a:pPr algn="l"/>
                      <a:r>
                        <a:rPr sz="1050" b="0">
                          <a:solidFill>
                            <a:srgbClr val="1C1C1E"/>
                          </a:solidFill>
                          <a:latin typeface="Calibri"/>
                        </a:rPr>
                        <a:t>quantlib</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market_data</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Hull-White calibration</a:t>
                      </a:r>
                    </a:p>
                  </a:txBody>
                  <a:tcPr marL="82296" marR="64008" marT="32004" marB="32004" anchor="ctr">
                    <a:solidFill>
                      <a:srgbClr val="F6F3E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6F3EF"/>
                    </a:solidFill>
                  </a:tcPr>
                </a:tc>
                <a:tc>
                  <a:txBody>
                    <a:bodyPr wrap="square"/>
                    <a:lstStyle/>
                    <a:p>
                      <a:pPr algn="l"/>
                      <a:r>
                        <a:rPr sz="1050" b="0">
                          <a:solidFill>
                            <a:srgbClr val="1C1C1E"/>
                          </a:solidFill>
                          <a:latin typeface="Calibri"/>
                        </a:rPr>
                        <a:t>quantlib</a:t>
                      </a:r>
                    </a:p>
                  </a:txBody>
                  <a:tcPr marL="82296" marR="64008" marT="32004" marB="32004" anchor="ctr">
                    <a:solidFill>
                      <a:srgbClr val="F6F3EF"/>
                    </a:solidFill>
                  </a:tcPr>
                </a:tc>
                <a:tc>
                  <a:txBody>
                    <a:bodyPr wrap="square"/>
                    <a:lstStyle/>
                    <a:p>
                      <a:pPr algn="l"/>
                      <a:r>
                        <a:rPr sz="1050" b="0">
                          <a:solidFill>
                            <a:srgbClr val="1C1C1E"/>
                          </a:solidFill>
                          <a:latin typeface="Calibri"/>
                        </a:rPr>
                        <a:t>fit</a:t>
                      </a:r>
                    </a:p>
                  </a:txBody>
                  <a:tcPr marL="82296" marR="64008" marT="32004" marB="32004" anchor="ctr">
                    <a:solidFill>
                      <a:srgbClr val="F6F3E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Gradient-boosted PD</a:t>
                      </a:r>
                    </a:p>
                  </a:txBody>
                  <a:tcPr marL="82296" marR="64008" marT="32004" marB="32004" anchor="ctr">
                    <a:solidFill>
                      <a:srgbClr val="FFFFFF"/>
                    </a:solidFill>
                  </a:tcPr>
                </a:tc>
                <a:tc>
                  <a:txBody>
                    <a:bodyPr wrap="square"/>
                    <a:lstStyle/>
                    <a:p>
                      <a:pPr algn="l"/>
                      <a:r>
                        <a:rPr sz="1050" b="0">
                          <a:solidFill>
                            <a:srgbClr val="1C1C1E"/>
                          </a:solidFill>
                          <a:latin typeface="Calibri"/>
                        </a:rPr>
                        <a:t>learned_weights  (T3)</a:t>
                      </a:r>
                    </a:p>
                  </a:txBody>
                  <a:tcPr marL="82296" marR="64008" marT="32004" marB="32004" anchor="ctr">
                    <a:solidFill>
                      <a:srgbClr val="FFFFFF"/>
                    </a:solidFill>
                  </a:tcPr>
                </a:tc>
                <a:tc>
                  <a:txBody>
                    <a:bodyPr wrap="square"/>
                    <a:lstStyle/>
                    <a:p>
                      <a:pPr algn="l"/>
                      <a:r>
                        <a:rPr sz="1050" b="0">
                          <a:solidFill>
                            <a:srgbClr val="1C1C1E"/>
                          </a:solidFill>
                          <a:latin typeface="Calibri"/>
                        </a:rPr>
                        <a:t>onnx</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KYC summariser</a:t>
                      </a:r>
                    </a:p>
                  </a:txBody>
                  <a:tcPr marL="82296" marR="64008" marT="32004" marB="32004" anchor="ctr">
                    <a:solidFill>
                      <a:srgbClr val="F6F3E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6F3EF"/>
                    </a:solidFill>
                  </a:tcPr>
                </a:tc>
                <a:tc>
                  <a:txBody>
                    <a:bodyPr wrap="square"/>
                    <a:lstStyle/>
                    <a:p>
                      <a:pPr algn="l"/>
                      <a:r>
                        <a:rPr sz="1050" b="0">
                          <a:solidFill>
                            <a:srgbClr val="1C1C1E"/>
                          </a:solidFill>
                          <a:latin typeface="Calibri"/>
                        </a:rPr>
                        <a:t>llm.prompt</a:t>
                      </a:r>
                    </a:p>
                  </a:txBody>
                  <a:tcPr marL="82296" marR="64008" marT="32004" marB="32004" anchor="ctr">
                    <a:solidFill>
                      <a:srgbClr val="F6F3EF"/>
                    </a:solidFill>
                  </a:tcPr>
                </a:tc>
                <a:tc>
                  <a:txBody>
                    <a:bodyPr wrap="square"/>
                    <a:lstStyle/>
                    <a:p>
                      <a:pPr algn="l"/>
                      <a:r>
                        <a:rPr sz="1050" b="0">
                          <a:solidFill>
                            <a:srgbClr val="1C1C1E"/>
                          </a:solidFill>
                          <a:latin typeface="Calibri"/>
                        </a:rPr>
                        <a:t>generate</a:t>
                      </a:r>
                    </a:p>
                  </a:txBody>
                  <a:tcPr marL="82296" marR="64008" marT="32004" marB="32004" anchor="ctr">
                    <a:solidFill>
                      <a:srgbClr val="F6F3EF"/>
                    </a:solidFill>
                  </a:tcPr>
                </a:tc>
                <a:tc>
                  <a:txBody>
                    <a:bodyPr wrap="square"/>
                    <a:lstStyle/>
                    <a:p>
                      <a:pPr algn="l"/>
                      <a:r>
                        <a:rPr sz="1050" b="0">
                          <a:solidFill>
                            <a:srgbClr val="1C1C1E"/>
                          </a:solidFill>
                          <a:latin typeface="Calibri"/>
                        </a:rPr>
                        <a:t>document_corpus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Vendor AML engine</a:t>
                      </a:r>
                    </a:p>
                  </a:txBody>
                  <a:tcPr marL="82296" marR="64008" marT="32004" marB="32004" anchor="ctr">
                    <a:solidFill>
                      <a:srgbClr val="FFFFFF"/>
                    </a:solidFill>
                  </a:tcPr>
                </a:tc>
                <a:tc>
                  <a:txBody>
                    <a:bodyPr wrap="square"/>
                    <a:lstStyle/>
                    <a:p>
                      <a:pPr algn="l"/>
                      <a:r>
                        <a:rPr sz="1050" b="0">
                          <a:solidFill>
                            <a:srgbClr val="1C1C1E"/>
                          </a:solidFill>
                          <a:latin typeface="Calibri"/>
                        </a:rPr>
                        <a:t>opaque  (T6)</a:t>
                      </a:r>
                    </a:p>
                  </a:txBody>
                  <a:tcPr marL="82296" marR="64008" marT="32004" marB="32004" anchor="ctr">
                    <a:solidFill>
                      <a:srgbClr val="FFFFFF"/>
                    </a:solidFill>
                  </a:tcPr>
                </a:tc>
                <a:tc>
                  <a:txBody>
                    <a:bodyPr wrap="square"/>
                    <a:lstStyle/>
                    <a:p>
                      <a:pPr algn="l"/>
                      <a:r>
                        <a:rPr sz="1050" b="0">
                          <a:solidFill>
                            <a:srgbClr val="1C1C1E"/>
                          </a:solidFill>
                          <a:latin typeface="Calibri"/>
                        </a:rPr>
                        <a:t>descriptor_only</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stream</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Behaviour scorecard</a:t>
                      </a:r>
                    </a:p>
                  </a:txBody>
                  <a:tcPr marL="82296" marR="64008" marT="32004" marB="32004" anchor="ctr">
                    <a:solidFill>
                      <a:srgbClr val="F6F3EF"/>
                    </a:solidFill>
                  </a:tcPr>
                </a:tc>
                <a:tc>
                  <a:txBody>
                    <a:bodyPr wrap="square"/>
                    <a:lstStyle/>
                    <a:p>
                      <a:pPr algn="l"/>
                      <a:r>
                        <a:rPr sz="1050" b="0">
                          <a:solidFill>
                            <a:srgbClr val="1C1C1E"/>
                          </a:solidFill>
                          <a:latin typeface="Calibri"/>
                        </a:rPr>
                        <a:t>estimated_coefficients  (T2)</a:t>
                      </a:r>
                    </a:p>
                  </a:txBody>
                  <a:tcPr marL="82296" marR="64008" marT="32004" marB="32004" anchor="ctr">
                    <a:solidFill>
                      <a:srgbClr val="F6F3EF"/>
                    </a:solidFill>
                  </a:tcPr>
                </a:tc>
                <a:tc>
                  <a:txBody>
                    <a:bodyPr wrap="square"/>
                    <a:lstStyle/>
                    <a:p>
                      <a:pPr algn="l"/>
                      <a:r>
                        <a:rPr sz="1050" b="0">
                          <a:solidFill>
                            <a:srgbClr val="1C1C1E"/>
                          </a:solidFill>
                          <a:latin typeface="Calibri"/>
                        </a:rPr>
                        <a:t>pmml</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Origination rule set</a:t>
                      </a:r>
                    </a:p>
                  </a:txBody>
                  <a:tcPr marL="82296" marR="64008" marT="32004" marB="32004" anchor="ctr">
                    <a:solidFill>
                      <a:srgbClr val="FFFFFF"/>
                    </a:solidFill>
                  </a:tcPr>
                </a:tc>
                <a:tc>
                  <a:txBody>
                    <a:bodyPr wrap="square"/>
                    <a:lstStyle/>
                    <a:p>
                      <a:pPr algn="l"/>
                      <a:r>
                        <a:rPr sz="1050" b="0">
                          <a:solidFill>
                            <a:srgbClr val="1C1C1E"/>
                          </a:solidFill>
                          <a:latin typeface="Calibri"/>
                        </a:rPr>
                        <a:t>rule_set  (T8)</a:t>
                      </a:r>
                    </a:p>
                  </a:txBody>
                  <a:tcPr marL="82296" marR="64008" marT="32004" marB="32004" anchor="ctr">
                    <a:solidFill>
                      <a:srgbClr val="FFFFFF"/>
                    </a:solidFill>
                  </a:tcPr>
                </a:tc>
                <a:tc>
                  <a:txBody>
                    <a:bodyPr wrap="square"/>
                    <a:lstStyle/>
                    <a:p>
                      <a:pPr algn="l"/>
                      <a:r>
                        <a:rPr sz="1050" b="0">
                          <a:solidFill>
                            <a:srgbClr val="1C1C1E"/>
                          </a:solidFill>
                          <a:latin typeface="Calibri"/>
                        </a:rPr>
                        <a:t>rules</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request</a:t>
                      </a:r>
                    </a:p>
                  </a:txBody>
                  <a:tcPr marL="82296" marR="64008" marT="32004" marB="32004" anchor="ctr">
                    <a:solidFill>
                      <a:srgbClr val="FFFFFF"/>
                    </a:solidFill>
                  </a:tcPr>
                </a:tc>
              </a:tr>
            </a:tbl>
          </a:graphicData>
        </a:graphic>
      </p:graphicFrame>
      <p:sp>
        <p:nvSpPr>
          <p:cNvPr id="11" name="Rectangle 10"/>
          <p:cNvSpPr/>
          <p:nvPr/>
        </p:nvSpPr>
        <p:spPr>
          <a:xfrm>
            <a:off x="777240" y="4613173"/>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13173"/>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722901"/>
            <a:ext cx="10088575" cy="621792"/>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first two rows are the argument. </a:t>
            </a:r>
            <a:r>
              <a:rPr sz="1100" b="0" i="0">
                <a:solidFill>
                  <a:srgbClr val="1C1C1E"/>
                </a:solidFill>
                <a:latin typeface="Calibri"/>
              </a:rPr>
              <a:t>Same library, same runtime, and the grammar treats them completely differently — because the parameter axis differs. “Is it AI?” puts both in one bucket; “how is P inhabited?” separates them correctly, and that is what makes the evidence expectations right for each.</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ADMISSIBILITY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grammar refuses, and why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88</a:t>
            </a:r>
          </a:p>
        </p:txBody>
      </p:sp>
      <p:graphicFrame>
        <p:nvGraphicFramePr>
          <p:cNvPr id="10" name="Table 9"/>
          <p:cNvGraphicFramePr>
            <a:graphicFrameLocks noGrp="1"/>
          </p:cNvGraphicFramePr>
          <p:nvPr/>
        </p:nvGraphicFramePr>
        <p:xfrm>
          <a:off x="777240" y="1353312"/>
          <a:ext cx="10637214" cy="4405592"/>
        </p:xfrm>
        <a:graphic>
          <a:graphicData uri="http://schemas.openxmlformats.org/drawingml/2006/table">
            <a:tbl>
              <a:tblPr firstRow="1">
                <a:tableStyleId>{5C22544A-7EE6-4342-B048-85BDC9FD1C3A}</a:tableStyleId>
              </a:tblPr>
              <a:tblGrid>
                <a:gridCol w="779451"/>
                <a:gridCol w="3071954"/>
                <a:gridCol w="6785809"/>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Refuses</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291172">
                <a:tc>
                  <a:txBody>
                    <a:bodyPr wrap="square"/>
                    <a:lstStyle/>
                    <a:p>
                      <a:pPr algn="l"/>
                      <a:r>
                        <a:rPr sz="850" b="1">
                          <a:solidFill>
                            <a:srgbClr val="A51C30"/>
                          </a:solidFill>
                          <a:latin typeface="Calibri"/>
                        </a:rPr>
                        <a:t>L-W0</a:t>
                      </a:r>
                    </a:p>
                  </a:txBody>
                  <a:tcPr marL="82296" marR="64008" marT="32004" marB="32004" anchor="ctr">
                    <a:solidFill>
                      <a:srgbClr val="FFFFFF"/>
                    </a:solidFill>
                  </a:tcPr>
                </a:tc>
                <a:tc>
                  <a:txBody>
                    <a:bodyPr wrap="square"/>
                    <a:lstStyle/>
                    <a:p>
                      <a:pPr algn="l"/>
                      <a:r>
                        <a:rPr sz="850" b="0">
                          <a:solidFill>
                            <a:srgbClr val="1C1C1E"/>
                          </a:solidFill>
                          <a:latin typeface="Calibri"/>
                        </a:rPr>
                        <a:t>a malformed document</a:t>
                      </a:r>
                    </a:p>
                  </a:txBody>
                  <a:tcPr marL="82296" marR="64008" marT="32004" marB="32004" anchor="ctr">
                    <a:solidFill>
                      <a:srgbClr val="FFFFFF"/>
                    </a:solidFill>
                  </a:tcPr>
                </a:tc>
                <a:tc>
                  <a:txBody>
                    <a:bodyPr wrap="square"/>
                    <a:lstStyle/>
                    <a:p>
                      <a:pPr algn="l"/>
                      <a:r>
                        <a:rPr sz="850" b="0">
                          <a:solidFill>
                            <a:srgbClr val="1C1C1E"/>
                          </a:solidFill>
                          <a:latin typeface="Calibri"/>
                        </a:rPr>
                        <a:t>ten sections, a known verb, a runtime without its entry keys</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a:t>
                      </a:r>
                    </a:p>
                  </a:txBody>
                  <a:tcPr marL="82296" marR="64008" marT="32004" marB="32004" anchor="ctr">
                    <a:solidFill>
                      <a:srgbClr val="F6F3EF"/>
                    </a:solidFill>
                  </a:tcPr>
                </a:tc>
                <a:tc>
                  <a:txBody>
                    <a:bodyPr wrap="square"/>
                    <a:lstStyle/>
                    <a:p>
                      <a:pPr algn="l"/>
                      <a:r>
                        <a:rPr sz="850" b="0">
                          <a:solidFill>
                            <a:srgbClr val="1C1C1E"/>
                          </a:solidFill>
                          <a:latin typeface="Calibri"/>
                        </a:rPr>
                        <a:t>fit on T0 or T6</a:t>
                      </a:r>
                    </a:p>
                  </a:txBody>
                  <a:tcPr marL="82296" marR="64008" marT="32004" marB="32004" anchor="ctr">
                    <a:solidFill>
                      <a:srgbClr val="F6F3EF"/>
                    </a:solidFill>
                  </a:tcPr>
                </a:tc>
                <a:tc>
                  <a:txBody>
                    <a:bodyPr wrap="square"/>
                    <a:lstStyle/>
                    <a:p>
                      <a:pPr algn="l"/>
                      <a:r>
                        <a:rPr sz="850" b="0">
                          <a:solidFill>
                            <a:srgbClr val="1C1C1E"/>
                          </a:solidFill>
                          <a:latin typeface="Calibri"/>
                        </a:rPr>
                        <a:t>T0's parameters come from theory; T6's are inside a vendor black box</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L-W2</a:t>
                      </a:r>
                    </a:p>
                  </a:txBody>
                  <a:tcPr marL="82296" marR="64008" marT="32004" marB="32004" anchor="ctr">
                    <a:solidFill>
                      <a:srgbClr val="FFFFFF"/>
                    </a:solidFill>
                  </a:tcPr>
                </a:tc>
                <a:tc>
                  <a:txBody>
                    <a:bodyPr wrap="square"/>
                    <a:lstStyle/>
                    <a:p>
                      <a:pPr algn="l"/>
                      <a:r>
                        <a:rPr sz="850" b="0">
                          <a:solidFill>
                            <a:srgbClr val="1C1C1E"/>
                          </a:solidFill>
                          <a:latin typeface="Calibri"/>
                        </a:rPr>
                        <a:t>generate on a non-generative runtime</a:t>
                      </a:r>
                    </a:p>
                  </a:txBody>
                  <a:tcPr marL="82296" marR="64008" marT="32004" marB="32004" anchor="ctr">
                    <a:solidFill>
                      <a:srgbClr val="FFFFFF"/>
                    </a:solidFill>
                  </a:tcPr>
                </a:tc>
                <a:tc>
                  <a:txBody>
                    <a:bodyPr wrap="square"/>
                    <a:lstStyle/>
                    <a:p>
                      <a:pPr algn="l"/>
                      <a:r>
                        <a:rPr sz="850" b="0">
                          <a:solidFill>
                            <a:srgbClr val="1C1C1E"/>
                          </a:solidFill>
                          <a:latin typeface="Calibri"/>
                        </a:rPr>
                        <a:t>an ONNX graph does not produce prose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L-W3</a:t>
                      </a:r>
                    </a:p>
                  </a:txBody>
                  <a:tcPr marL="82296" marR="64008" marT="32004" marB="32004" anchor="ctr">
                    <a:solidFill>
                      <a:srgbClr val="F6F3EF"/>
                    </a:solidFill>
                  </a:tcPr>
                </a:tc>
                <a:tc>
                  <a:txBody>
                    <a:bodyPr wrap="square"/>
                    <a:lstStyle/>
                    <a:p>
                      <a:pPr algn="l"/>
                      <a:r>
                        <a:rPr sz="850" b="0">
                          <a:solidFill>
                            <a:srgbClr val="1C1C1E"/>
                          </a:solidFill>
                          <a:latin typeface="Calibri"/>
                        </a:rPr>
                        <a:t>training from a non-bitemporal source</a:t>
                      </a:r>
                    </a:p>
                  </a:txBody>
                  <a:tcPr marL="82296" marR="64008" marT="32004" marB="32004" anchor="ctr">
                    <a:solidFill>
                      <a:srgbClr val="F6F3EF"/>
                    </a:solidFill>
                  </a:tcPr>
                </a:tc>
                <a:tc>
                  <a:txBody>
                    <a:bodyPr wrap="square"/>
                    <a:lstStyle/>
                    <a:p>
                      <a:pPr algn="l"/>
                      <a:r>
                        <a:rPr sz="850" b="0">
                          <a:solidFill>
                            <a:srgbClr val="1C1C1E"/>
                          </a:solidFill>
                          <a:latin typeface="Calibri"/>
                        </a:rPr>
                        <a:t>it cannot be shown point-in-time correct, so it cannot be shown leak-free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L-W4</a:t>
                      </a:r>
                    </a:p>
                  </a:txBody>
                  <a:tcPr marL="82296" marR="64008" marT="32004" marB="32004" anchor="ctr">
                    <a:solidFill>
                      <a:srgbClr val="FFFFFF"/>
                    </a:solidFill>
                  </a:tcPr>
                </a:tc>
                <a:tc>
                  <a:txBody>
                    <a:bodyPr wrap="square"/>
                    <a:lstStyle/>
                    <a:p>
                      <a:pPr algn="l"/>
                      <a:r>
                        <a:rPr sz="850" b="0">
                          <a:solidFill>
                            <a:srgbClr val="1C1C1E"/>
                          </a:solidFill>
                          <a:latin typeface="Calibri"/>
                        </a:rPr>
                        <a:t>a fit with no parameter_object sink</a:t>
                      </a:r>
                    </a:p>
                  </a:txBody>
                  <a:tcPr marL="82296" marR="64008" marT="32004" marB="32004" anchor="ctr">
                    <a:solidFill>
                      <a:srgbClr val="FFFFFF"/>
                    </a:solidFill>
                  </a:tcPr>
                </a:tc>
                <a:tc>
                  <a:txBody>
                    <a:bodyPr wrap="square"/>
                    <a:lstStyle/>
                    <a:p>
                      <a:pPr algn="l"/>
                      <a:r>
                        <a:rPr sz="850" b="0">
                          <a:solidFill>
                            <a:srgbClr val="1C1C1E"/>
                          </a:solidFill>
                          <a:latin typeface="Calibri"/>
                        </a:rPr>
                        <a:t>a fit produces a NEW parameter object, it does not edit the old one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L-W5</a:t>
                      </a:r>
                    </a:p>
                  </a:txBody>
                  <a:tcPr marL="82296" marR="64008" marT="32004" marB="32004" anchor="ctr">
                    <a:solidFill>
                      <a:srgbClr val="F6F3EF"/>
                    </a:solidFill>
                  </a:tcPr>
                </a:tc>
                <a:tc>
                  <a:txBody>
                    <a:bodyPr wrap="square"/>
                    <a:lstStyle/>
                    <a:p>
                      <a:pPr algn="l"/>
                      <a:r>
                        <a:rPr sz="850" b="0">
                          <a:solidFill>
                            <a:srgbClr val="1C1C1E"/>
                          </a:solidFill>
                          <a:latin typeface="Calibri"/>
                        </a:rPr>
                        <a:t>claimed determinism with no seed</a:t>
                      </a:r>
                    </a:p>
                  </a:txBody>
                  <a:tcPr marL="82296" marR="64008" marT="32004" marB="32004" anchor="ctr">
                    <a:solidFill>
                      <a:srgbClr val="F6F3EF"/>
                    </a:solidFill>
                  </a:tcPr>
                </a:tc>
                <a:tc>
                  <a:txBody>
                    <a:bodyPr wrap="square"/>
                    <a:lstStyle/>
                    <a:p>
                      <a:pPr algn="l"/>
                      <a:r>
                        <a:rPr sz="850" b="0">
                          <a:solidFill>
                            <a:srgbClr val="1C1C1E"/>
                          </a:solidFill>
                          <a:latin typeface="Calibri"/>
                        </a:rPr>
                        <a:t>an LLM at 0.7 is not reproducible, and neither is an unseeded simulation</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L-W6</a:t>
                      </a:r>
                    </a:p>
                  </a:txBody>
                  <a:tcPr marL="82296" marR="64008" marT="32004" marB="32004" anchor="ctr">
                    <a:solidFill>
                      <a:srgbClr val="FFFFFF"/>
                    </a:solidFill>
                  </a:tcPr>
                </a:tc>
                <a:tc>
                  <a:txBody>
                    <a:bodyPr wrap="square"/>
                    <a:lstStyle/>
                    <a:p>
                      <a:pPr algn="l"/>
                      <a:r>
                        <a:rPr sz="850" b="0">
                          <a:solidFill>
                            <a:srgbClr val="1C1C1E"/>
                          </a:solidFill>
                          <a:latin typeface="Calibri"/>
                        </a:rPr>
                        <a:t>fit on a descriptor-only model</a:t>
                      </a:r>
                    </a:p>
                  </a:txBody>
                  <a:tcPr marL="82296" marR="64008" marT="32004" marB="32004" anchor="ctr">
                    <a:solidFill>
                      <a:srgbClr val="FFFFFF"/>
                    </a:solidFill>
                  </a:tcPr>
                </a:tc>
                <a:tc>
                  <a:txBody>
                    <a:bodyPr wrap="square"/>
                    <a:lstStyle/>
                    <a:p>
                      <a:pPr algn="l"/>
                      <a:r>
                        <a:rPr sz="850" b="0">
                          <a:solidFill>
                            <a:srgbClr val="1C1C1E"/>
                          </a:solidFill>
                          <a:latin typeface="Calibri"/>
                        </a:rPr>
                        <a:t>you cannot inhabit what nothing on this side can reach</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L-W7</a:t>
                      </a:r>
                    </a:p>
                  </a:txBody>
                  <a:tcPr marL="82296" marR="64008" marT="32004" marB="32004" anchor="ctr">
                    <a:solidFill>
                      <a:srgbClr val="F6F3EF"/>
                    </a:solidFill>
                  </a:tcPr>
                </a:tc>
                <a:tc>
                  <a:txBody>
                    <a:bodyPr wrap="square"/>
                    <a:lstStyle/>
                    <a:p>
                      <a:pPr algn="l"/>
                      <a:r>
                        <a:rPr sz="850" b="0">
                          <a:solidFill>
                            <a:srgbClr val="1C1C1E"/>
                          </a:solidFill>
                          <a:latin typeface="Calibri"/>
                        </a:rPr>
                        <a:t>a backtest with no outcomes</a:t>
                      </a:r>
                    </a:p>
                  </a:txBody>
                  <a:tcPr marL="82296" marR="64008" marT="32004" marB="32004" anchor="ctr">
                    <a:solidFill>
                      <a:srgbClr val="F6F3EF"/>
                    </a:solidFill>
                  </a:tcPr>
                </a:tc>
                <a:tc>
                  <a:txBody>
                    <a:bodyPr wrap="square"/>
                    <a:lstStyle/>
                    <a:p>
                      <a:pPr algn="l"/>
                      <a:r>
                        <a:rPr sz="850" b="0">
                          <a:solidFill>
                            <a:srgbClr val="1C1C1E"/>
                          </a:solidFill>
                          <a:latin typeface="Calibri"/>
                        </a:rPr>
                        <a:t>that is a re-score wearing a backtest's name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L-W8</a:t>
                      </a:r>
                    </a:p>
                  </a:txBody>
                  <a:tcPr marL="82296" marR="64008" marT="32004" marB="32004" anchor="ctr">
                    <a:solidFill>
                      <a:srgbClr val="FFFFFF"/>
                    </a:solidFill>
                  </a:tcPr>
                </a:tc>
                <a:tc>
                  <a:txBody>
                    <a:bodyPr wrap="square"/>
                    <a:lstStyle/>
                    <a:p>
                      <a:pPr algn="l"/>
                      <a:r>
                        <a:rPr sz="850" b="0">
                          <a:solidFill>
                            <a:srgbClr val="1C1C1E"/>
                          </a:solidFill>
                          <a:latin typeface="Calibri"/>
                        </a:rPr>
                        <a:t>a run that will not name its point in P</a:t>
                      </a:r>
                    </a:p>
                  </a:txBody>
                  <a:tcPr marL="82296" marR="64008" marT="32004" marB="32004" anchor="ctr">
                    <a:solidFill>
                      <a:srgbClr val="FFFFFF"/>
                    </a:solidFill>
                  </a:tcPr>
                </a:tc>
                <a:tc>
                  <a:txBody>
                    <a:bodyPr wrap="square"/>
                    <a:lstStyle/>
                    <a:p>
                      <a:pPr algn="l"/>
                      <a:r>
                        <a:rPr sz="850" b="0">
                          <a:solidFill>
                            <a:srgbClr val="1C1C1E"/>
                          </a:solidFill>
                          <a:latin typeface="Calibri"/>
                        </a:rPr>
                        <a:t>a number produced at an unstated point in P is attributable to nothing</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L-W9</a:t>
                      </a:r>
                    </a:p>
                  </a:txBody>
                  <a:tcPr marL="82296" marR="64008" marT="32004" marB="32004" anchor="ctr">
                    <a:solidFill>
                      <a:srgbClr val="F6F3EF"/>
                    </a:solidFill>
                  </a:tcPr>
                </a:tc>
                <a:tc>
                  <a:txBody>
                    <a:bodyPr wrap="square"/>
                    <a:lstStyle/>
                    <a:p>
                      <a:pPr algn="l"/>
                      <a:r>
                        <a:rPr sz="850" b="0">
                          <a:solidFill>
                            <a:srgbClr val="1C1C1E"/>
                          </a:solidFill>
                          <a:latin typeface="Calibri"/>
                        </a:rPr>
                        <a:t>a training read unbounded in either clock</a:t>
                      </a:r>
                    </a:p>
                  </a:txBody>
                  <a:tcPr marL="82296" marR="64008" marT="32004" marB="32004" anchor="ctr">
                    <a:solidFill>
                      <a:srgbClr val="F6F3EF"/>
                    </a:solidFill>
                  </a:tcPr>
                </a:tc>
                <a:tc>
                  <a:txBody>
                    <a:bodyPr wrap="square"/>
                    <a:lstStyle/>
                    <a:p>
                      <a:pPr algn="l"/>
                      <a:r>
                        <a:rPr sz="850" b="0">
                          <a:solidFill>
                            <a:srgbClr val="1C1C1E"/>
                          </a:solidFill>
                          <a:latin typeface="Calibri"/>
                        </a:rPr>
                        <a:t>the set fixes the columns; the warrant must fix the period</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L-W10</a:t>
                      </a:r>
                    </a:p>
                  </a:txBody>
                  <a:tcPr marL="82296" marR="64008" marT="32004" marB="32004" anchor="ctr">
                    <a:solidFill>
                      <a:srgbClr val="FFFFFF"/>
                    </a:solidFill>
                  </a:tcPr>
                </a:tc>
                <a:tc>
                  <a:txBody>
                    <a:bodyPr wrap="square"/>
                    <a:lstStyle/>
                    <a:p>
                      <a:pPr algn="l"/>
                      <a:r>
                        <a:rPr sz="850" b="0">
                          <a:solidFill>
                            <a:srgbClr val="1C1C1E"/>
                          </a:solidFill>
                          <a:latin typeface="Calibri"/>
                        </a:rPr>
                        <a:t>a featureset that misses what the kernel reads</a:t>
                      </a:r>
                    </a:p>
                  </a:txBody>
                  <a:tcPr marL="82296" marR="64008" marT="32004" marB="32004" anchor="ctr">
                    <a:solidFill>
                      <a:srgbClr val="FFFFFF"/>
                    </a:solidFill>
                  </a:tcPr>
                </a:tc>
                <a:tc>
                  <a:txBody>
                    <a:bodyPr wrap="square"/>
                    <a:lstStyle/>
                    <a:p>
                      <a:pPr algn="l"/>
                      <a:r>
                        <a:rPr sz="850" b="0">
                          <a:solidFill>
                            <a:srgbClr val="1C1C1E"/>
                          </a:solidFill>
                          <a:latin typeface="Calibri"/>
                        </a:rPr>
                        <a:t>contravariance in inputs — L-12, one level out, checked at issuance against the register</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L-W11</a:t>
                      </a:r>
                    </a:p>
                  </a:txBody>
                  <a:tcPr marL="82296" marR="64008" marT="32004" marB="32004" anchor="ctr">
                    <a:solidFill>
                      <a:srgbClr val="F6F3EF"/>
                    </a:solidFill>
                  </a:tcPr>
                </a:tc>
                <a:tc>
                  <a:txBody>
                    <a:bodyPr wrap="square"/>
                    <a:lstStyle/>
                    <a:p>
                      <a:pPr algn="l"/>
                      <a:r>
                        <a:rPr sz="850" b="0">
                          <a:solidFill>
                            <a:srgbClr val="1C1C1E"/>
                          </a:solidFill>
                          <a:latin typeface="Calibri"/>
                        </a:rPr>
                        <a:t>a calibration with no as-of</a:t>
                      </a:r>
                    </a:p>
                  </a:txBody>
                  <a:tcPr marL="82296" marR="64008" marT="32004" marB="32004" anchor="ctr">
                    <a:solidFill>
                      <a:srgbClr val="F6F3EF"/>
                    </a:solidFill>
                  </a:tcPr>
                </a:tc>
                <a:tc>
                  <a:txBody>
                    <a:bodyPr wrap="square"/>
                    <a:lstStyle/>
                    <a:p>
                      <a:pPr algn="l"/>
                      <a:r>
                        <a:rPr sz="850" b="0">
                          <a:solidFill>
                            <a:srgbClr val="1C1C1E"/>
                          </a:solidFill>
                          <a:latin typeface="Calibri"/>
                        </a:rPr>
                        <a:t>yesterday's numbers and this morning's are not the same run</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L-W12</a:t>
                      </a:r>
                    </a:p>
                  </a:txBody>
                  <a:tcPr marL="82296" marR="64008" marT="32004" marB="32004" anchor="ctr">
                    <a:solidFill>
                      <a:srgbClr val="FFFFFF"/>
                    </a:solidFill>
                  </a:tcPr>
                </a:tc>
                <a:tc>
                  <a:txBody>
                    <a:bodyPr wrap="square"/>
                    <a:lstStyle/>
                    <a:p>
                      <a:pPr algn="l"/>
                      <a:r>
                        <a:rPr sz="850" b="0">
                          <a:solidFill>
                            <a:srgbClr val="1C1C1E"/>
                          </a:solidFill>
                          <a:latin typeface="Calibri"/>
                        </a:rPr>
                        <a:t>parameters inside an artifact with no digest</a:t>
                      </a:r>
                    </a:p>
                  </a:txBody>
                  <a:tcPr marL="82296" marR="64008" marT="32004" marB="32004" anchor="ctr">
                    <a:solidFill>
                      <a:srgbClr val="FFFFFF"/>
                    </a:solidFill>
                  </a:tcPr>
                </a:tc>
                <a:tc>
                  <a:txBody>
                    <a:bodyPr wrap="square"/>
                    <a:lstStyle/>
                    <a:p>
                      <a:pPr algn="l"/>
                      <a:r>
                        <a:rPr sz="850" b="0">
                          <a:solidFill>
                            <a:srgbClr val="1C1C1E"/>
                          </a:solidFill>
                          <a:latin typeface="Calibri"/>
                        </a:rPr>
                        <a:t>P would then be whatever that file happens to contain today</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L-W13</a:t>
                      </a:r>
                    </a:p>
                  </a:txBody>
                  <a:tcPr marL="82296" marR="64008" marT="32004" marB="32004" anchor="ctr">
                    <a:solidFill>
                      <a:srgbClr val="F6F3EF"/>
                    </a:solidFill>
                  </a:tcPr>
                </a:tc>
                <a:tc>
                  <a:txBody>
                    <a:bodyPr wrap="square"/>
                    <a:lstStyle/>
                    <a:p>
                      <a:pPr algn="l"/>
                      <a:r>
                        <a:rPr sz="850" b="0">
                          <a:solidFill>
                            <a:srgbClr val="1C1C1E"/>
                          </a:solidFill>
                          <a:latin typeface="Calibri"/>
                        </a:rPr>
                        <a:t>a generative runtime pinned to a model name</a:t>
                      </a:r>
                    </a:p>
                  </a:txBody>
                  <a:tcPr marL="82296" marR="64008" marT="32004" marB="32004" anchor="ctr">
                    <a:solidFill>
                      <a:srgbClr val="F6F3EF"/>
                    </a:solidFill>
                  </a:tcPr>
                </a:tc>
                <a:tc>
                  <a:txBody>
                    <a:bodyPr wrap="square"/>
                    <a:lstStyle/>
                    <a:p>
                      <a:pPr algn="l"/>
                      <a:r>
                        <a:rPr sz="850" b="0">
                          <a:solidFill>
                            <a:srgbClr val="1C1C1E"/>
                          </a:solidFill>
                          <a:latin typeface="Calibri"/>
                        </a:rPr>
                        <a:t>the name survives a provider's build change; the behaviour does not</a:t>
                      </a:r>
                    </a:p>
                  </a:txBody>
                  <a:tcPr marL="82296" marR="64008" marT="32004" marB="32004" anchor="ctr">
                    <a:solidFill>
                      <a:srgbClr val="F6F3EF"/>
                    </a:solidFill>
                  </a:tcPr>
                </a:tc>
              </a:tr>
            </a:tbl>
          </a:graphicData>
        </a:graphic>
      </p:graphicFrame>
      <p:sp>
        <p:nvSpPr>
          <p:cNvPr id="11" name="TextBox 10"/>
          <p:cNvSpPr txBox="1"/>
          <p:nvPr/>
        </p:nvSpPr>
        <p:spPr>
          <a:xfrm>
            <a:off x="777240" y="5850356"/>
            <a:ext cx="10637215" cy="402336"/>
          </a:xfrm>
          <a:prstGeom prst="rect">
            <a:avLst/>
          </a:prstGeom>
          <a:noFill/>
        </p:spPr>
        <p:txBody>
          <a:bodyPr wrap="square" lIns="0" rIns="0" tIns="0" bIns="0" anchor="t">
            <a:spAutoFit/>
          </a:bodyPr>
          <a:lstStyle/>
          <a:p>
            <a:pPr algn="l">
              <a:lnSpc>
                <a:spcPct val="118000"/>
              </a:lnSpc>
              <a:spcBef>
                <a:spcPts val="0"/>
              </a:spcBef>
              <a:spcAft>
                <a:spcPts val="0"/>
              </a:spcAft>
            </a:pPr>
            <a:r>
              <a:rPr sz="1000" b="1" i="0">
                <a:solidFill>
                  <a:srgbClr val="A51C30"/>
                </a:solidFill>
                <a:latin typeface="Calibri"/>
              </a:rPr>
              <a:t>Validated before signed, never after. </a:t>
            </a:r>
            <a:r>
              <a:rPr sz="1000" b="0" i="0">
                <a:solidFill>
                  <a:srgbClr val="1C1C1E"/>
                </a:solidFill>
                <a:latin typeface="Calibri"/>
              </a:rPr>
              <a:t>A signature over a non-conforming document assures that it is authentic and not that it is usable, and an engine reads it as both.</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RESOLUTION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 resolution — the order of the checks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89</a:t>
            </a:r>
          </a:p>
        </p:txBody>
      </p:sp>
      <p:sp>
        <p:nvSpPr>
          <p:cNvPr id="10" name="Rectangle 9"/>
          <p:cNvSpPr/>
          <p:nvPr/>
        </p:nvSpPr>
        <p:spPr>
          <a:xfrm>
            <a:off x="777240" y="1353312"/>
            <a:ext cx="6063212" cy="293634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93634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69745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core/execution/warrants.py</a:t>
            </a:r>
          </a:p>
        </p:txBody>
      </p:sp>
      <p:sp>
        <p:nvSpPr>
          <p:cNvPr id="13" name="TextBox 12"/>
          <p:cNvSpPr txBox="1"/>
          <p:nvPr/>
        </p:nvSpPr>
        <p:spPr>
          <a:xfrm>
            <a:off x="978408" y="1746504"/>
            <a:ext cx="5697452" cy="2460856"/>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 resolve(urn, environment, principal, declared_use, verb="score"):</a:t>
            </a:r>
          </a:p>
          <a:p>
            <a:pPr>
              <a:lnSpc>
                <a:spcPct val="134000"/>
              </a:lnSpc>
              <a:spcBef>
                <a:spcPts val="0"/>
              </a:spcBef>
              <a:spcAft>
                <a:spcPts val="0"/>
              </a:spcAft>
            </a:pPr>
            <a:r>
              <a:rPr sz="850" b="0" i="0">
                <a:solidFill>
                  <a:srgbClr val="1C1C1E"/>
                </a:solidFill>
                <a:latin typeface="Consolas"/>
              </a:rPr>
              <a:t>    name, semver, alias = parse_urn(urn)</a:t>
            </a:r>
          </a:p>
          <a:p>
            <a:pPr>
              <a:lnSpc>
                <a:spcPct val="134000"/>
              </a:lnSpc>
              <a:spcBef>
                <a:spcPts val="0"/>
              </a:spcBef>
              <a:spcAft>
                <a:spcPts val="0"/>
              </a:spcAft>
            </a:pPr>
            <a:r>
              <a:rPr sz="850" b="0" i="0">
                <a:solidFill>
                  <a:srgbClr val="1C1C1E"/>
                </a:solidFill>
                <a:latin typeface="Consolas"/>
              </a:rPr>
              <a:t>    m = self._model(urn, model_urn(name))       # the register, by URN</a:t>
            </a:r>
          </a:p>
          <a:p>
            <a:pPr>
              <a:lnSpc>
                <a:spcPct val="134000"/>
              </a:lnSpc>
              <a:spcBef>
                <a:spcPts val="0"/>
              </a:spcBef>
              <a:spcAft>
                <a:spcPts val="0"/>
              </a:spcAft>
            </a:pPr>
            <a:r>
              <a:rPr sz="850" b="0" i="0">
                <a:solidFill>
                  <a:srgbClr val="1C1C1E"/>
                </a:solidFill>
                <a:latin typeface="Consolas"/>
              </a:rPr>
              <a:t>    self._check_not_blocked(m)                  # a blocking finding restricts</a:t>
            </a:r>
          </a:p>
          <a:p>
            <a:pPr>
              <a:lnSpc>
                <a:spcPct val="134000"/>
              </a:lnSpc>
              <a:spcBef>
                <a:spcPts val="0"/>
              </a:spcBef>
              <a:spcAft>
                <a:spcPts val="0"/>
              </a:spcAft>
            </a:pPr>
            <a:r>
              <a:rPr sz="850" b="0" i="0">
                <a:solidFill>
                  <a:srgbClr val="1C1C1E"/>
                </a:solidFill>
                <a:latin typeface="Consolas"/>
              </a:rPr>
              <a:t>    grant = self._grant(m, environment, principal, declared_use)</a:t>
            </a:r>
          </a:p>
          <a:p>
            <a:pPr>
              <a:lnSpc>
                <a:spcPct val="134000"/>
              </a:lnSpc>
              <a:spcBef>
                <a:spcPts val="0"/>
              </a:spcBef>
              <a:spcAft>
                <a:spcPts val="0"/>
              </a:spcAft>
            </a:pPr>
            <a:r>
              <a:rPr sz="850" b="0" i="0">
                <a:solidFill>
                  <a:srgbClr val="1C1C1E"/>
                </a:solidFill>
                <a:latin typeface="Consolas"/>
              </a:rPr>
              <a:t>    version = self._version(m["urn"], environment, semver,</a:t>
            </a:r>
          </a:p>
          <a:p>
            <a:pPr>
              <a:lnSpc>
                <a:spcPct val="134000"/>
              </a:lnSpc>
              <a:spcBef>
                <a:spcPts val="0"/>
              </a:spcBef>
              <a:spcAft>
                <a:spcPts val="0"/>
              </a:spcAft>
            </a:pPr>
            <a:r>
              <a:rPr sz="850" b="0" i="0">
                <a:solidFill>
                  <a:srgbClr val="1C1C1E"/>
                </a:solidFill>
                <a:latin typeface="Consolas"/>
              </a:rPr>
              <a:t>                            alias or grant["alias_name"], urn)</a:t>
            </a:r>
          </a:p>
          <a:p>
            <a:pPr>
              <a:lnSpc>
                <a:spcPct val="134000"/>
              </a:lnSpc>
              <a:spcBef>
                <a:spcPts val="0"/>
              </a:spcBef>
              <a:spcAft>
                <a:spcPts val="0"/>
              </a:spcAft>
            </a:pPr>
            <a:r>
              <a:rPr sz="850" b="0" i="0">
                <a:solidFill>
                  <a:srgbClr val="1C1C1E"/>
                </a:solidFill>
                <a:latin typeface="Consolas"/>
              </a:rPr>
              <a:t>    if self.policy is not None:        # consulted last, and only to refuse</a:t>
            </a:r>
          </a:p>
          <a:p>
            <a:pPr>
              <a:lnSpc>
                <a:spcPct val="134000"/>
              </a:lnSpc>
              <a:spcBef>
                <a:spcPts val="0"/>
              </a:spcBef>
              <a:spcAft>
                <a:spcPts val="0"/>
              </a:spcAft>
            </a:pPr>
            <a:r>
              <a:rPr sz="850" b="0" i="0">
                <a:solidFill>
                  <a:srgbClr val="1C1C1E"/>
                </a:solidFill>
                <a:latin typeface="Consolas"/>
              </a:rPr>
              <a:t>        self.policy.check("warrant:resolve", {...}, urn)</a:t>
            </a:r>
          </a:p>
          <a:p>
            <a:pPr>
              <a:lnSpc>
                <a:spcPct val="134000"/>
              </a:lnSpc>
              <a:spcBef>
                <a:spcPts val="0"/>
              </a:spcBef>
              <a:spcAft>
                <a:spcPts val="0"/>
              </a:spcAft>
            </a:pPr>
            <a:r>
              <a:rPr sz="850" b="0" i="0">
                <a:solidFill>
                  <a:srgbClr val="1C1C1E"/>
                </a:solidFill>
                <a:latin typeface="Consolas"/>
              </a:rPr>
              <a:t>    return self.builder.build(urn, m, version, grant, principal,</a:t>
            </a:r>
          </a:p>
          <a:p>
            <a:pPr>
              <a:lnSpc>
                <a:spcPct val="134000"/>
              </a:lnSpc>
              <a:spcBef>
                <a:spcPts val="0"/>
              </a:spcBef>
              <a:spcAft>
                <a:spcPts val="0"/>
              </a:spcAft>
            </a:pPr>
            <a:r>
              <a:rPr sz="850" b="0" i="0">
                <a:solidFill>
                  <a:srgbClr val="1C1C1E"/>
                </a:solidFill>
                <a:latin typeface="Consolas"/>
              </a:rPr>
              <a:t>                              declared_use, environment, self.epoch,</a:t>
            </a:r>
          </a:p>
          <a:p>
            <a:pPr>
              <a:lnSpc>
                <a:spcPct val="134000"/>
              </a:lnSpc>
              <a:spcBef>
                <a:spcPts val="0"/>
              </a:spcBef>
              <a:spcAft>
                <a:spcPts val="0"/>
              </a:spcAft>
            </a:pPr>
            <a:r>
              <a:rPr sz="850" b="0" i="0">
                <a:solidFill>
                  <a:srgbClr val="1C1C1E"/>
                </a:solidFill>
                <a:latin typeface="Consolas"/>
              </a:rPr>
              <a:t>                              verb=verb,</a:t>
            </a:r>
          </a:p>
          <a:p>
            <a:pPr>
              <a:lnSpc>
                <a:spcPct val="134000"/>
              </a:lnSpc>
              <a:spcBef>
                <a:spcPts val="0"/>
              </a:spcBef>
              <a:spcAft>
                <a:spcPts val="0"/>
              </a:spcAft>
            </a:pPr>
            <a:r>
              <a:rPr sz="850" b="0" i="0">
                <a:solidFill>
                  <a:srgbClr val="1C1C1E"/>
                </a:solidFill>
                <a:latin typeface="Consolas"/>
              </a:rPr>
              <a:t>                              parameter_set=self._point_of_p(urn, version))</a:t>
            </a:r>
          </a:p>
        </p:txBody>
      </p:sp>
      <p:sp>
        <p:nvSpPr>
          <p:cNvPr id="14" name="TextBox 13"/>
          <p:cNvSpPr txBox="1"/>
          <p:nvPr/>
        </p:nvSpPr>
        <p:spPr>
          <a:xfrm>
            <a:off x="7265941" y="1353312"/>
            <a:ext cx="4148513" cy="3108960"/>
          </a:xfrm>
          <a:prstGeom prst="rect">
            <a:avLst/>
          </a:prstGeom>
          <a:noFill/>
        </p:spPr>
        <p:txBody>
          <a:bodyPr wrap="square" lIns="0" rIns="0" tIns="0" bIns="0" anchor="t">
            <a:spAutoFit/>
          </a:bodyPr>
          <a:lstStyle/>
          <a:p>
            <a:pPr algn="l">
              <a:spcBef>
                <a:spcPts val="0"/>
              </a:spcBef>
              <a:spcAft>
                <a:spcPts val="600"/>
              </a:spcAft>
            </a:pPr>
            <a:r>
              <a:rPr sz="1250" b="1" i="0">
                <a:solidFill>
                  <a:srgbClr val="1C1C1E"/>
                </a:solidFill>
                <a:latin typeface="Georgia"/>
              </a:rPr>
              <a:t>What the order is for</a:t>
            </a:r>
          </a:p>
          <a:p>
            <a:pPr>
              <a:spcBef>
                <a:spcPts val="600"/>
              </a:spcBef>
              <a:spcAft>
                <a:spcPts val="300"/>
              </a:spcAft>
            </a:pPr>
            <a:r>
              <a:rPr sz="1050" b="1">
                <a:solidFill>
                  <a:srgbClr val="A51C30"/>
                </a:solidFill>
                <a:latin typeface="Calibri"/>
              </a:rPr>
              <a:t>▪  </a:t>
            </a:r>
            <a:r>
              <a:rPr sz="1050" b="1">
                <a:solidFill>
                  <a:srgbClr val="1C1C1E"/>
                </a:solidFill>
                <a:latin typeface="Calibri"/>
              </a:rPr>
              <a:t>Refuse before anything is loaded</a:t>
            </a:r>
          </a:p>
          <a:p>
            <a:pPr lvl="1">
              <a:spcBef>
                <a:spcPts val="0"/>
              </a:spcBef>
              <a:spcAft>
                <a:spcPts val="0"/>
              </a:spcAft>
            </a:pPr>
            <a:r>
              <a:rPr sz="900">
                <a:solidFill>
                  <a:srgbClr val="4A4F57"/>
                </a:solidFill>
                <a:latin typeface="Calibri"/>
              </a:rPr>
              <a:t>Entitlement, blocking findings and version status are all decided out of the register. No artifact is opened on this path</a:t>
            </a:r>
          </a:p>
          <a:p>
            <a:pPr>
              <a:spcBef>
                <a:spcPts val="600"/>
              </a:spcBef>
              <a:spcAft>
                <a:spcPts val="300"/>
              </a:spcAft>
            </a:pPr>
            <a:r>
              <a:rPr sz="1050" b="1">
                <a:solidFill>
                  <a:srgbClr val="A51C30"/>
                </a:solidFill>
                <a:latin typeface="Calibri"/>
              </a:rPr>
              <a:t>▪  </a:t>
            </a:r>
            <a:r>
              <a:rPr sz="1050" b="1">
                <a:solidFill>
                  <a:srgbClr val="1C1C1E"/>
                </a:solidFill>
                <a:latin typeface="Calibri"/>
              </a:rPr>
              <a:t>Policy is consulted last, and only to refuse</a:t>
            </a:r>
          </a:p>
          <a:p>
            <a:pPr lvl="1">
              <a:spcBef>
                <a:spcPts val="0"/>
              </a:spcBef>
              <a:spcAft>
                <a:spcPts val="0"/>
              </a:spcAft>
            </a:pPr>
            <a:r>
              <a:rPr sz="900">
                <a:solidFill>
                  <a:srgbClr val="4A4F57"/>
                </a:solidFill>
                <a:latin typeface="Calibri"/>
              </a:rPr>
              <a:t>A gate that can only subtract cannot grant what the checks above it withheld</a:t>
            </a:r>
          </a:p>
          <a:p>
            <a:pPr>
              <a:spcBef>
                <a:spcPts val="600"/>
              </a:spcBef>
              <a:spcAft>
                <a:spcPts val="300"/>
              </a:spcAft>
            </a:pPr>
            <a:r>
              <a:rPr sz="1050" b="1">
                <a:solidFill>
                  <a:srgbClr val="A51C30"/>
                </a:solidFill>
                <a:latin typeface="Calibri"/>
              </a:rPr>
              <a:t>▪  </a:t>
            </a:r>
            <a:r>
              <a:rPr sz="1050" b="1">
                <a:solidFill>
                  <a:srgbClr val="1C1C1E"/>
                </a:solidFill>
                <a:latin typeface="Calibri"/>
              </a:rPr>
              <a:t>Signed HMAC-SHA256, keyed per audience</a:t>
            </a:r>
          </a:p>
          <a:p>
            <a:pPr lvl="1">
              <a:spcBef>
                <a:spcPts val="0"/>
              </a:spcBef>
              <a:spcAft>
                <a:spcPts val="0"/>
              </a:spcAft>
            </a:pPr>
            <a:r>
              <a:rPr sz="900">
                <a:solidFill>
                  <a:srgbClr val="4A4F57"/>
                </a:solidFill>
                <a:latin typeface="Calibri"/>
              </a:rPr>
              <a:t>The key is derived from the principal the warrant is FOR, so a compromised engine forges warrants for itself and nobody else</a:t>
            </a:r>
          </a:p>
          <a:p>
            <a:pPr>
              <a:spcBef>
                <a:spcPts val="600"/>
              </a:spcBef>
              <a:spcAft>
                <a:spcPts val="300"/>
              </a:spcAft>
            </a:pPr>
            <a:r>
              <a:rPr sz="1050" b="1">
                <a:solidFill>
                  <a:srgbClr val="A51C30"/>
                </a:solidFill>
                <a:latin typeface="Calibri"/>
              </a:rPr>
              <a:t>▪  </a:t>
            </a:r>
            <a:r>
              <a:rPr sz="1050" b="1">
                <a:solidFill>
                  <a:srgbClr val="1C1C1E"/>
                </a:solidFill>
                <a:latin typeface="Calibri"/>
              </a:rPr>
              <a:t>TTL and grace follow the tier</a:t>
            </a:r>
          </a:p>
          <a:p>
            <a:pPr lvl="1">
              <a:spcBef>
                <a:spcPts val="0"/>
              </a:spcBef>
              <a:spcAft>
                <a:spcPts val="0"/>
              </a:spcAft>
            </a:pPr>
            <a:r>
              <a:rPr sz="900">
                <a:solidFill>
                  <a:srgbClr val="4A4F57"/>
                </a:solidFill>
                <a:latin typeface="Calibri"/>
              </a:rPr>
              <a:t>60 s and zero grace at Tier 1; the TTL is jittered ±20% so a fleet does not re-resolve in lockstep</a:t>
            </a:r>
          </a:p>
        </p:txBody>
      </p:sp>
      <p:sp>
        <p:nvSpPr>
          <p:cNvPr id="15" name="TextBox 14"/>
          <p:cNvSpPr txBox="1"/>
          <p:nvPr/>
        </p:nvSpPr>
        <p:spPr>
          <a:xfrm>
            <a:off x="777240" y="4545688"/>
            <a:ext cx="5318607" cy="274320"/>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Revocation — what actually propagates</a:t>
            </a:r>
          </a:p>
        </p:txBody>
      </p:sp>
      <p:graphicFrame>
        <p:nvGraphicFramePr>
          <p:cNvPr id="16" name="Table 15"/>
          <p:cNvGraphicFramePr>
            <a:graphicFrameLocks noGrp="1"/>
          </p:cNvGraphicFramePr>
          <p:nvPr/>
        </p:nvGraphicFramePr>
        <p:xfrm>
          <a:off x="777240" y="4856584"/>
          <a:ext cx="5318607" cy="1901480"/>
        </p:xfrm>
        <a:graphic>
          <a:graphicData uri="http://schemas.openxmlformats.org/drawingml/2006/table">
            <a:tbl>
              <a:tblPr firstRow="1">
                <a:tableStyleId>{5C22544A-7EE6-4342-B048-85BDC9FD1C3A}</a:tableStyleId>
              </a:tblPr>
              <a:tblGrid>
                <a:gridCol w="2109103"/>
                <a:gridCol w="3209504"/>
              </a:tblGrid>
              <a:tr h="329184">
                <a:tc>
                  <a:txBody>
                    <a:bodyPr wrap="square"/>
                    <a:lstStyle/>
                    <a:p>
                      <a:pPr algn="l"/>
                      <a:r>
                        <a:rPr sz="950" b="1">
                          <a:solidFill>
                            <a:srgbClr val="FFFFFF"/>
                          </a:solidFill>
                          <a:latin typeface="Calibri"/>
                        </a:rPr>
                        <a:t>Path</a:t>
                      </a:r>
                    </a:p>
                  </a:txBody>
                  <a:tcPr marL="82296" marR="64008" marT="32004" marB="32004" anchor="ctr">
                    <a:solidFill>
                      <a:srgbClr val="A51C30"/>
                    </a:solidFill>
                  </a:tcPr>
                </a:tc>
                <a:tc>
                  <a:txBody>
                    <a:bodyPr wrap="square"/>
                    <a:lstStyle/>
                    <a:p>
                      <a:pPr algn="l"/>
                      <a:r>
                        <a:rPr sz="950" b="1">
                          <a:solidFill>
                            <a:srgbClr val="FFFFFF"/>
                          </a:solidFill>
                          <a:latin typeface="Calibri"/>
                        </a:rPr>
                        <a:t>What it stops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Withdraw the grant</a:t>
                      </a:r>
                    </a:p>
                  </a:txBody>
                  <a:tcPr marL="82296" marR="64008" marT="32004" marB="32004" anchor="ctr">
                    <a:solidFill>
                      <a:srgbClr val="FFFFFF"/>
                    </a:solidFill>
                  </a:tcPr>
                </a:tc>
                <a:tc>
                  <a:txBody>
                    <a:bodyPr wrap="square"/>
                    <a:lstStyle/>
                    <a:p>
                      <a:pPr algn="l"/>
                      <a:r>
                        <a:rPr sz="950" b="0">
                          <a:solidFill>
                            <a:srgbClr val="1C1C1E"/>
                          </a:solidFill>
                          <a:latin typeface="Calibri"/>
                        </a:rPr>
                        <a:t>No further descriptor is minted for that principal</a:t>
                      </a:r>
                    </a:p>
                  </a:txBody>
                  <a:tcPr marL="82296" marR="64008" marT="32004" marB="32004" anchor="ctr">
                    <a:solidFill>
                      <a:srgbClr val="FFFFFF"/>
                    </a:solidFill>
                  </a:tcPr>
                </a:tc>
              </a:tr>
              <a:tr h="632040">
                <a:tc>
                  <a:txBody>
                    <a:bodyPr wrap="square"/>
                    <a:lstStyle/>
                    <a:p>
                      <a:pPr algn="l"/>
                      <a:r>
                        <a:rPr sz="950" b="1">
                          <a:solidFill>
                            <a:srgbClr val="A51C30"/>
                          </a:solidFill>
                          <a:latin typeface="Calibri"/>
                        </a:rPr>
                        <a:t>Epoch bump on every revocation</a:t>
                      </a:r>
                    </a:p>
                  </a:txBody>
                  <a:tcPr marL="82296" marR="64008" marT="32004" marB="32004" anchor="ctr">
                    <a:solidFill>
                      <a:srgbClr val="F6F3EF"/>
                    </a:solidFill>
                  </a:tcPr>
                </a:tc>
                <a:tc>
                  <a:txBody>
                    <a:bodyPr wrap="square"/>
                    <a:lstStyle/>
                    <a:p>
                      <a:pPr algn="l"/>
                      <a:r>
                        <a:rPr sz="950" b="0">
                          <a:solidFill>
                            <a:srgbClr val="1C1C1E"/>
                          </a:solidFill>
                          <a:latin typeface="Calibri"/>
                        </a:rPr>
                        <a:t>A descriptor minted under an older epoch is stale on its face — the counter is in-process, so a restart resets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The consumer's local revocation list</a:t>
                      </a:r>
                    </a:p>
                  </a:txBody>
                  <a:tcPr marL="82296" marR="64008" marT="32004" marB="32004" anchor="ctr">
                    <a:solidFill>
                      <a:srgbClr val="FFFFFF"/>
                    </a:solidFill>
                  </a:tcPr>
                </a:tc>
                <a:tc>
                  <a:txBody>
                    <a:bodyPr wrap="square"/>
                    <a:lstStyle/>
                    <a:p>
                      <a:pPr algn="l"/>
                      <a:r>
                        <a:rPr sz="950" b="0">
                          <a:solidFill>
                            <a:srgbClr val="1C1C1E"/>
                          </a:solidFill>
                          <a:latin typeface="Calibri"/>
                        </a:rPr>
                        <a:t>Refused regardless of grace — grace extends currency, never ignorance</a:t>
                      </a:r>
                    </a:p>
                  </a:txBody>
                  <a:tcPr marL="82296" marR="64008" marT="32004" marB="32004" anchor="ctr">
                    <a:solidFill>
                      <a:srgbClr val="FFFFFF"/>
                    </a:solidFill>
                  </a:tcPr>
                </a:tc>
              </a:tr>
            </a:tbl>
          </a:graphicData>
        </a:graphic>
      </p:graphicFrame>
      <p:sp>
        <p:nvSpPr>
          <p:cNvPr id="17" name="Rectangle 16"/>
          <p:cNvSpPr/>
          <p:nvPr/>
        </p:nvSpPr>
        <p:spPr>
          <a:xfrm>
            <a:off x="6521336" y="4545688"/>
            <a:ext cx="4893118" cy="17007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521336" y="4545688"/>
            <a:ext cx="41148" cy="17007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759080" y="4664560"/>
            <a:ext cx="4435918" cy="1481328"/>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There is no cache, so there is no stampede. </a:t>
            </a:r>
            <a:r>
              <a:rPr sz="1000" b="0" i="0">
                <a:solidFill>
                  <a:srgbClr val="1C1C1E"/>
                </a:solidFill>
                <a:latin typeface="Calibri"/>
              </a:rPr>
              <a:t>Resolution reads four to six tables on every call. The Redis descriptor cache, single-flight coalescing, pre-warm-before-invalidate, the warrant_projection read model and a Kafka revocation event are designed and not built — docs/14 §27 — and the 50 ms p99 in the requirements is a target that nothing here measures. TTL jitter is built, which is the one piece that matters only once a cache exists.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DESIGNED, NOT BUILT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Approved use, and the use nobody has compared it with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90</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C1C1E"/>
                </a:solidFill>
                <a:latin typeface="Calibri"/>
              </a:rPr>
              <a:t>SS1/23 asks the inventory to record intended use </a:t>
            </a:r>
            <a:r>
              <a:rPr sz="1200" b="1" i="1">
                <a:solidFill>
                  <a:srgbClr val="A51C30"/>
                </a:solidFill>
                <a:latin typeface="Calibri"/>
              </a:rPr>
              <a:t>compared to actual use</a:t>
            </a:r>
            <a:r>
              <a:rPr sz="1200" b="0" i="0">
                <a:solidFill>
                  <a:srgbClr val="1C1C1E"/>
                </a:solidFill>
                <a:latin typeface="Calibri"/>
              </a:rPr>
              <a:t>. Every input that comparison needs is recorded. The comparison itself is not written — so what follows on the right is a design, and is marked as one.</a:t>
            </a:r>
          </a:p>
        </p:txBody>
      </p:sp>
      <p:sp>
        <p:nvSpPr>
          <p:cNvPr id="11" name="TextBox 10"/>
          <p:cNvSpPr txBox="1"/>
          <p:nvPr/>
        </p:nvSpPr>
        <p:spPr>
          <a:xfrm>
            <a:off x="777240" y="1901952"/>
            <a:ext cx="4680374" cy="274320"/>
          </a:xfrm>
          <a:prstGeom prst="rect">
            <a:avLst/>
          </a:prstGeom>
          <a:noFill/>
        </p:spPr>
        <p:txBody>
          <a:bodyPr wrap="square" lIns="0" rIns="0" tIns="0" bIns="0" anchor="t">
            <a:spAutoFit/>
          </a:bodyPr>
          <a:lstStyle/>
          <a:p>
            <a:pPr algn="l">
              <a:spcBef>
                <a:spcPts val="0"/>
              </a:spcBef>
              <a:spcAft>
                <a:spcPts val="0"/>
              </a:spcAft>
            </a:pPr>
            <a:r>
              <a:rPr sz="1200" b="1" i="0">
                <a:solidFill>
                  <a:srgbClr val="1C1C1E"/>
                </a:solidFill>
                <a:latin typeface="Georgia"/>
              </a:rPr>
              <a:t>Built — the inputs</a:t>
            </a:r>
          </a:p>
        </p:txBody>
      </p:sp>
      <p:graphicFrame>
        <p:nvGraphicFramePr>
          <p:cNvPr id="12" name="Table 11"/>
          <p:cNvGraphicFramePr>
            <a:graphicFrameLocks noGrp="1"/>
          </p:cNvGraphicFramePr>
          <p:nvPr/>
        </p:nvGraphicFramePr>
        <p:xfrm>
          <a:off x="777240" y="2212848"/>
          <a:ext cx="4680373" cy="2209696"/>
        </p:xfrm>
        <a:graphic>
          <a:graphicData uri="http://schemas.openxmlformats.org/drawingml/2006/table">
            <a:tbl>
              <a:tblPr firstRow="1">
                <a:tableStyleId>{5C22544A-7EE6-4342-B048-85BDC9FD1C3A}</a:tableStyleId>
              </a:tblPr>
              <a:tblGrid>
                <a:gridCol w="2674499"/>
                <a:gridCol w="2005874"/>
              </a:tblGrid>
              <a:tr h="329184">
                <a:tc>
                  <a:txBody>
                    <a:bodyPr wrap="square"/>
                    <a:lstStyle/>
                    <a:p>
                      <a:pPr algn="l"/>
                      <a:r>
                        <a:rPr sz="950" b="1">
                          <a:solidFill>
                            <a:srgbClr val="FFFFFF"/>
                          </a:solidFill>
                          <a:latin typeface="Calibri"/>
                        </a:rPr>
                        <a:t>What</a:t>
                      </a:r>
                    </a:p>
                  </a:txBody>
                  <a:tcPr marL="82296" marR="64008" marT="32004" marB="32004" anchor="ctr">
                    <a:solidFill>
                      <a:srgbClr val="A51C30"/>
                    </a:solidFill>
                  </a:tcPr>
                </a:tc>
                <a:tc>
                  <a:txBody>
                    <a:bodyPr wrap="square"/>
                    <a:lstStyle/>
                    <a:p>
                      <a:pPr algn="l"/>
                      <a:r>
                        <a:rPr sz="950" b="1">
                          <a:solidFill>
                            <a:srgbClr val="FFFFFF"/>
                          </a:solidFill>
                          <a:latin typeface="Calibri"/>
                        </a:rPr>
                        <a:t>Where</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Principal, environment and declared use, per grant</a:t>
                      </a:r>
                    </a:p>
                  </a:txBody>
                  <a:tcPr marL="82296" marR="64008" marT="32004" marB="32004" anchor="ctr">
                    <a:solidFill>
                      <a:srgbClr val="FFFFFF"/>
                    </a:solidFill>
                  </a:tcPr>
                </a:tc>
                <a:tc>
                  <a:txBody>
                    <a:bodyPr wrap="square"/>
                    <a:lstStyle/>
                    <a:p>
                      <a:pPr algn="l"/>
                      <a:r>
                        <a:rPr sz="950" b="0">
                          <a:solidFill>
                            <a:srgbClr val="1C1C1E"/>
                          </a:solidFill>
                          <a:latin typeface="Calibri"/>
                        </a:rPr>
                        <a:t>warrant table, one row per entitlement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 resolution whose declared use has no grant is refused</a:t>
                      </a:r>
                    </a:p>
                  </a:txBody>
                  <a:tcPr marL="82296" marR="64008" marT="32004" marB="32004" anchor="ctr">
                    <a:solidFill>
                      <a:srgbClr val="F6F3EF"/>
                    </a:solidFill>
                  </a:tcPr>
                </a:tc>
                <a:tc>
                  <a:txBody>
                    <a:bodyPr wrap="square"/>
                    <a:lstStyle/>
                    <a:p>
                      <a:pPr algn="l"/>
                      <a:r>
                        <a:rPr sz="950" b="0">
                          <a:solidFill>
                            <a:srgbClr val="1C1C1E"/>
                          </a:solidFill>
                          <a:latin typeface="Calibri"/>
                        </a:rPr>
                        <a:t>core/execution/warrants.py</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Issue and revoke are evidence nodes with an actor</a:t>
                      </a:r>
                    </a:p>
                  </a:txBody>
                  <a:tcPr marL="82296" marR="64008" marT="32004" marB="32004" anchor="ctr">
                    <a:solidFill>
                      <a:srgbClr val="FFFFFF"/>
                    </a:solidFill>
                  </a:tcPr>
                </a:tc>
                <a:tc>
                  <a:txBody>
                    <a:bodyPr wrap="square"/>
                    <a:lstStyle/>
                    <a:p>
                      <a:pPr algn="l"/>
                      <a:r>
                        <a:rPr sz="950" b="0">
                          <a:solidFill>
                            <a:srgbClr val="1C1C1E"/>
                          </a:solidFill>
                          <a:latin typeface="Calibri"/>
                        </a:rPr>
                        <a:t>the chain</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Scores and outcomes per version</a:t>
                      </a:r>
                    </a:p>
                  </a:txBody>
                  <a:tcPr marL="82296" marR="64008" marT="32004" marB="32004" anchor="ctr">
                    <a:solidFill>
                      <a:srgbClr val="F6F3EF"/>
                    </a:solidFill>
                  </a:tcPr>
                </a:tc>
                <a:tc>
                  <a:txBody>
                    <a:bodyPr wrap="square"/>
                    <a:lstStyle/>
                    <a:p>
                      <a:pPr algn="l"/>
                      <a:r>
                        <a:rPr sz="950" b="0">
                          <a:solidFill>
                            <a:srgbClr val="1C1C1E"/>
                          </a:solidFill>
                          <a:latin typeface="Calibri"/>
                        </a:rPr>
                        <a:t>core/telemetry/collector.py, into Delta</a:t>
                      </a:r>
                    </a:p>
                  </a:txBody>
                  <a:tcPr marL="82296" marR="64008" marT="32004" marB="32004" anchor="ctr">
                    <a:solidFill>
                      <a:srgbClr val="F6F3EF"/>
                    </a:solidFill>
                  </a:tcPr>
                </a:tc>
              </a:tr>
            </a:tbl>
          </a:graphicData>
        </a:graphic>
      </p:graphicFrame>
      <p:sp>
        <p:nvSpPr>
          <p:cNvPr id="13" name="TextBox 12"/>
          <p:cNvSpPr txBox="1"/>
          <p:nvPr/>
        </p:nvSpPr>
        <p:spPr>
          <a:xfrm>
            <a:off x="5883103" y="1901952"/>
            <a:ext cx="5531351" cy="274320"/>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Designed — the six exceptions it would raise</a:t>
            </a:r>
          </a:p>
        </p:txBody>
      </p:sp>
      <p:graphicFrame>
        <p:nvGraphicFramePr>
          <p:cNvPr id="14" name="Table 13"/>
          <p:cNvGraphicFramePr>
            <a:graphicFrameLocks noGrp="1"/>
          </p:cNvGraphicFramePr>
          <p:nvPr/>
        </p:nvGraphicFramePr>
        <p:xfrm>
          <a:off x="5883103" y="2212848"/>
          <a:ext cx="5531350" cy="2340392"/>
        </p:xfrm>
        <a:graphic>
          <a:graphicData uri="http://schemas.openxmlformats.org/drawingml/2006/table">
            <a:tbl>
              <a:tblPr firstRow="1">
                <a:tableStyleId>{5C22544A-7EE6-4342-B048-85BDC9FD1C3A}</a:tableStyleId>
              </a:tblPr>
              <a:tblGrid>
                <a:gridCol w="3457094"/>
                <a:gridCol w="2074256"/>
              </a:tblGrid>
              <a:tr h="329184">
                <a:tc>
                  <a:txBody>
                    <a:bodyPr wrap="square"/>
                    <a:lstStyle/>
                    <a:p>
                      <a:pPr algn="l"/>
                      <a:r>
                        <a:rPr sz="950" b="1">
                          <a:solidFill>
                            <a:srgbClr val="FFFFFF"/>
                          </a:solidFill>
                          <a:latin typeface="Calibri"/>
                        </a:rPr>
                        <a:t>Exception</a:t>
                      </a:r>
                    </a:p>
                  </a:txBody>
                  <a:tcPr marL="82296" marR="64008" marT="32004" marB="32004" anchor="ctr">
                    <a:solidFill>
                      <a:srgbClr val="A51C30"/>
                    </a:solidFill>
                  </a:tcPr>
                </a:tc>
                <a:tc>
                  <a:txBody>
                    <a:bodyPr wrap="square"/>
                    <a:lstStyle/>
                    <a:p>
                      <a:pPr algn="l"/>
                      <a:r>
                        <a:rPr sz="950" b="1">
                          <a:solidFill>
                            <a:srgbClr val="FFFFFF"/>
                          </a:solidFill>
                          <a:latin typeface="Calibri"/>
                        </a:rPr>
                        <a:t>Would become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 portfolio that is not an approved use</a:t>
                      </a:r>
                    </a:p>
                  </a:txBody>
                  <a:tcPr marL="82296" marR="64008" marT="32004" marB="32004" anchor="ctr">
                    <a:solidFill>
                      <a:srgbClr val="FFFFFF"/>
                    </a:solidFill>
                  </a:tcPr>
                </a:tc>
                <a:tc>
                  <a:txBody>
                    <a:bodyPr wrap="square"/>
                    <a:lstStyle/>
                    <a:p>
                      <a:pPr algn="l"/>
                      <a:r>
                        <a:rPr sz="950" b="0">
                          <a:solidFill>
                            <a:srgbClr val="1C1C1E"/>
                          </a:solidFill>
                          <a:latin typeface="Calibri"/>
                        </a:rPr>
                        <a:t>Finding, owner, due date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Calls originating outside the approval's scope</a:t>
                      </a:r>
                    </a:p>
                  </a:txBody>
                  <a:tcPr marL="82296" marR="64008" marT="32004" marB="32004" anchor="ctr">
                    <a:solidFill>
                      <a:srgbClr val="F6F3EF"/>
                    </a:solidFill>
                  </a:tcPr>
                </a:tc>
                <a:tc>
                  <a:txBody>
                    <a:bodyPr wrap="square"/>
                    <a:lstStyle/>
                    <a:p>
                      <a:pPr algn="l"/>
                      <a:r>
                        <a:rPr sz="950" b="0">
                          <a:solidFill>
                            <a:srgbClr val="1C1C1E"/>
                          </a:solidFill>
                          <a:latin typeface="Calibri"/>
                        </a:rPr>
                        <a:t>Finding + scope review</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Volume far above the assessed use</a:t>
                      </a:r>
                    </a:p>
                  </a:txBody>
                  <a:tcPr marL="82296" marR="64008" marT="32004" marB="32004" anchor="ctr">
                    <a:solidFill>
                      <a:srgbClr val="FFFFFF"/>
                    </a:solidFill>
                  </a:tcPr>
                </a:tc>
                <a:tc>
                  <a:txBody>
                    <a:bodyPr wrap="square"/>
                    <a:lstStyle/>
                    <a:p>
                      <a:pPr algn="l"/>
                      <a:r>
                        <a:rPr sz="950" b="0">
                          <a:solidFill>
                            <a:srgbClr val="1C1C1E"/>
                          </a:solidFill>
                          <a:latin typeface="Calibri"/>
                        </a:rPr>
                        <a:t>Investigation task</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Inputs outside declared operating boundaries</a:t>
                      </a:r>
                    </a:p>
                  </a:txBody>
                  <a:tcPr marL="82296" marR="64008" marT="32004" marB="32004" anchor="ctr">
                    <a:solidFill>
                      <a:srgbClr val="F6F3EF"/>
                    </a:solidFill>
                  </a:tcPr>
                </a:tc>
                <a:tc>
                  <a:txBody>
                    <a:bodyPr wrap="square"/>
                    <a:lstStyle/>
                    <a:p>
                      <a:pPr algn="l"/>
                      <a:r>
                        <a:rPr sz="950" b="0">
                          <a:solidFill>
                            <a:srgbClr val="1C1C1E"/>
                          </a:solidFill>
                          <a:latin typeface="Calibri"/>
                        </a:rPr>
                        <a:t>Contract assumption A is failing</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An approved use with no calls for 180 days</a:t>
                      </a:r>
                    </a:p>
                  </a:txBody>
                  <a:tcPr marL="82296" marR="64008" marT="32004" marB="32004" anchor="ctr">
                    <a:solidFill>
                      <a:srgbClr val="FFFFFF"/>
                    </a:solidFill>
                  </a:tcPr>
                </a:tc>
                <a:tc>
                  <a:txBody>
                    <a:bodyPr wrap="square"/>
                    <a:lstStyle/>
                    <a:p>
                      <a:pPr algn="l"/>
                      <a:r>
                        <a:rPr sz="950" b="0">
                          <a:solidFill>
                            <a:srgbClr val="1C1C1E"/>
                          </a:solidFill>
                          <a:latin typeface="Calibri"/>
                        </a:rPr>
                        <a:t>Candidate for withdrawal</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A new principal resolving the warrant</a:t>
                      </a:r>
                    </a:p>
                  </a:txBody>
                  <a:tcPr marL="82296" marR="64008" marT="32004" marB="32004" anchor="ctr">
                    <a:solidFill>
                      <a:srgbClr val="F6F3EF"/>
                    </a:solidFill>
                  </a:tcPr>
                </a:tc>
                <a:tc>
                  <a:txBody>
                    <a:bodyPr wrap="square"/>
                    <a:lstStyle/>
                    <a:p>
                      <a:pPr algn="l"/>
                      <a:r>
                        <a:rPr sz="950" b="0">
                          <a:solidFill>
                            <a:srgbClr val="1C1C1E"/>
                          </a:solidFill>
                          <a:latin typeface="Calibri"/>
                        </a:rPr>
                        <a:t>Entitlement review</a:t>
                      </a:r>
                    </a:p>
                  </a:txBody>
                  <a:tcPr marL="82296" marR="64008" marT="32004" marB="32004" anchor="ctr">
                    <a:solidFill>
                      <a:srgbClr val="F6F3EF"/>
                    </a:solidFill>
                  </a:tcPr>
                </a:tc>
              </a:tr>
            </a:tbl>
          </a:graphicData>
        </a:graphic>
      </p:graphicFrame>
      <p:sp>
        <p:nvSpPr>
          <p:cNvPr id="15" name="TextBox 14"/>
          <p:cNvSpPr txBox="1"/>
          <p:nvPr/>
        </p:nvSpPr>
        <p:spPr>
          <a:xfrm>
            <a:off x="5883103" y="4717834"/>
            <a:ext cx="5531351"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None of this runs. </a:t>
            </a:r>
            <a:r>
              <a:rPr sz="1000" b="0" i="0">
                <a:solidFill>
                  <a:srgbClr val="1C1C1E"/>
                </a:solidFill>
                <a:latin typeface="Calibri"/>
              </a:rPr>
              <a:t>Use reconciliation is one of the eight screens in docs/14 §28 that are designed and not built; the boundary check on the left is the one part of it that is enforced today, at execution rather than in a report.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REGISTRATION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capability contract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91</a:t>
            </a:r>
          </a:p>
        </p:txBody>
      </p:sp>
      <p:sp>
        <p:nvSpPr>
          <p:cNvPr id="10" name="Rectangle 9"/>
          <p:cNvSpPr/>
          <p:nvPr/>
        </p:nvSpPr>
        <p:spPr>
          <a:xfrm>
            <a:off x="777240" y="1353312"/>
            <a:ext cx="6169584"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core/assist/capabilities.py — register()</a:t>
            </a:r>
          </a:p>
        </p:txBody>
      </p:sp>
      <p:sp>
        <p:nvSpPr>
          <p:cNvPr id="13" name="TextBox 12"/>
          <p:cNvSpPr txBox="1"/>
          <p:nvPr/>
        </p:nvSpPr>
        <p:spPr>
          <a:xfrm>
            <a:off x="978408" y="1746504"/>
            <a:ext cx="5803824"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register(self, capability_key, description, tier, base_model,</a:t>
            </a:r>
          </a:p>
          <a:p>
            <a:pPr>
              <a:lnSpc>
                <a:spcPct val="134000"/>
              </a:lnSpc>
              <a:spcBef>
                <a:spcPts val="0"/>
              </a:spcBef>
              <a:spcAft>
                <a:spcPts val="0"/>
              </a:spcAft>
            </a:pPr>
            <a:r>
              <a:rPr sz="950" b="0" i="0">
                <a:solidFill>
                  <a:srgbClr val="1C1C1E"/>
                </a:solidFill>
                <a:latin typeface="Consolas"/>
              </a:rPr>
              <a:t>             prompt_digest, owner, oracle_key=None, ...):</a:t>
            </a:r>
          </a:p>
          <a:p>
            <a:pPr>
              <a:lnSpc>
                <a:spcPct val="134000"/>
              </a:lnSpc>
              <a:spcBef>
                <a:spcPts val="0"/>
              </a:spcBef>
              <a:spcAft>
                <a:spcPts val="0"/>
              </a:spcAft>
            </a:pPr>
            <a:r>
              <a:rPr sz="950" b="0" i="0">
                <a:solidFill>
                  <a:srgbClr val="1C1C1E"/>
                </a:solidFill>
                <a:latin typeface="Consolas"/>
              </a:rPr>
              <a:t>    if tier == "C":</a:t>
            </a:r>
          </a:p>
          <a:p>
            <a:pPr>
              <a:lnSpc>
                <a:spcPct val="134000"/>
              </a:lnSpc>
              <a:spcBef>
                <a:spcPts val="0"/>
              </a:spcBef>
              <a:spcAft>
                <a:spcPts val="0"/>
              </a:spcAft>
            </a:pPr>
            <a:r>
              <a:rPr sz="950" b="0" i="0">
                <a:solidFill>
                  <a:srgbClr val="1C1C1E"/>
                </a:solidFill>
                <a:latin typeface="Consolas"/>
              </a:rPr>
              <a:t>        raise AssistError("advisory_not_registrable", ...)</a:t>
            </a:r>
          </a:p>
          <a:p>
            <a:pPr>
              <a:lnSpc>
                <a:spcPct val="134000"/>
              </a:lnSpc>
              <a:spcBef>
                <a:spcPts val="0"/>
              </a:spcBef>
              <a:spcAft>
                <a:spcPts val="0"/>
              </a:spcAft>
            </a:pPr>
            <a:r>
              <a:rPr sz="950" b="0" i="0">
                <a:solidFill>
                  <a:srgbClr val="1C1C1E"/>
                </a:solidFill>
                <a:latin typeface="Consolas"/>
              </a:rPr>
              <a:t>    if tier not in TIERS:</a:t>
            </a:r>
          </a:p>
          <a:p>
            <a:pPr>
              <a:lnSpc>
                <a:spcPct val="134000"/>
              </a:lnSpc>
              <a:spcBef>
                <a:spcPts val="0"/>
              </a:spcBef>
              <a:spcAft>
                <a:spcPts val="0"/>
              </a:spcAft>
            </a:pPr>
            <a:r>
              <a:rPr sz="950" b="0" i="0">
                <a:solidFill>
                  <a:srgbClr val="1C1C1E"/>
                </a:solidFill>
                <a:latin typeface="Consolas"/>
              </a:rPr>
              <a:t>        raise AssistError("unknown_tier", ...)</a:t>
            </a:r>
          </a:p>
          <a:p>
            <a:pPr>
              <a:lnSpc>
                <a:spcPct val="134000"/>
              </a:lnSpc>
              <a:spcBef>
                <a:spcPts val="0"/>
              </a:spcBef>
              <a:spcAft>
                <a:spcPts val="0"/>
              </a:spcAft>
            </a:pPr>
            <a:r>
              <a:rPr sz="950" b="0" i="0">
                <a:solidFill>
                  <a:srgbClr val="1C1C1E"/>
                </a:solidFill>
                <a:latin typeface="Consolas"/>
              </a:rPr>
              <a:t>    if tier == TIER_A and not oracle_key:</a:t>
            </a:r>
          </a:p>
          <a:p>
            <a:pPr>
              <a:lnSpc>
                <a:spcPct val="134000"/>
              </a:lnSpc>
              <a:spcBef>
                <a:spcPts val="0"/>
              </a:spcBef>
              <a:spcAft>
                <a:spcPts val="0"/>
              </a:spcAft>
            </a:pPr>
            <a:r>
              <a:rPr sz="950" b="0" i="0">
                <a:solidFill>
                  <a:srgbClr val="1C1C1E"/>
                </a:solidFill>
                <a:latin typeface="Consolas"/>
              </a:rPr>
              <a:t>        raise AssistError("oracle_required", ...)</a:t>
            </a:r>
          </a:p>
          <a:p>
            <a:pPr>
              <a:lnSpc>
                <a:spcPct val="134000"/>
              </a:lnSpc>
              <a:spcBef>
                <a:spcPts val="0"/>
              </a:spcBef>
              <a:spcAft>
                <a:spcPts val="0"/>
              </a:spcAft>
            </a:pPr>
            <a:r>
              <a:rPr sz="950" b="0" i="0">
                <a:solidFill>
                  <a:srgbClr val="1C1C1E"/>
                </a:solidFill>
                <a:latin typeface="Consolas"/>
              </a:rPr>
              <a:t>    if oracle_key and not oracles.get(oracle_key):</a:t>
            </a:r>
          </a:p>
          <a:p>
            <a:pPr>
              <a:lnSpc>
                <a:spcPct val="134000"/>
              </a:lnSpc>
              <a:spcBef>
                <a:spcPts val="0"/>
              </a:spcBef>
              <a:spcAft>
                <a:spcPts val="0"/>
              </a:spcAft>
            </a:pPr>
            <a:r>
              <a:rPr sz="950" b="0" i="0">
                <a:solidFill>
                  <a:srgbClr val="1C1C1E"/>
                </a:solidFill>
                <a:latin typeface="Consolas"/>
              </a:rPr>
              <a:t>        raise AssistError("unknown_oracle",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self.capabilities.add(row)</a:t>
            </a:r>
          </a:p>
          <a:p>
            <a:pPr>
              <a:lnSpc>
                <a:spcPct val="134000"/>
              </a:lnSpc>
              <a:spcBef>
                <a:spcPts val="0"/>
              </a:spcBef>
              <a:spcAft>
                <a:spcPts val="0"/>
              </a:spcAft>
            </a:pPr>
            <a:r>
              <a:rPr sz="950" b="0" i="0">
                <a:solidFill>
                  <a:srgbClr val="1C1C1E"/>
                </a:solidFill>
                <a:latin typeface="Consolas"/>
              </a:rPr>
              <a:t>    self.evidence.append("ai_capability_registered", ...)</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tiers, one criterion</a:t>
            </a:r>
          </a:p>
          <a:p>
            <a:pPr>
              <a:spcBef>
                <a:spcPts val="800"/>
              </a:spcBef>
              <a:spcAft>
                <a:spcPts val="300"/>
              </a:spcAft>
            </a:pPr>
            <a:r>
              <a:rPr sz="1150" b="1">
                <a:solidFill>
                  <a:srgbClr val="A51C30"/>
                </a:solidFill>
                <a:latin typeface="Calibri"/>
              </a:rPr>
              <a:t>▪  </a:t>
            </a:r>
            <a:r>
              <a:rPr sz="1150" b="1">
                <a:solidFill>
                  <a:srgbClr val="1C1C1E"/>
                </a:solidFill>
                <a:latin typeface="Calibri"/>
              </a:rPr>
              <a:t>Tier A — verified</a:t>
            </a:r>
          </a:p>
          <a:p>
            <a:pPr lvl="1">
              <a:spcBef>
                <a:spcPts val="0"/>
              </a:spcBef>
              <a:spcAft>
                <a:spcPts val="0"/>
              </a:spcAft>
            </a:pPr>
            <a:r>
              <a:rPr sz="1000">
                <a:solidFill>
                  <a:srgbClr val="4A4F57"/>
                </a:solidFill>
                <a:latin typeface="Calibri"/>
              </a:rPr>
              <a:t>A formal property checks the output. Encoding a regime, asserting equivalence, converting a format, generating probes, generating a query</a:t>
            </a:r>
          </a:p>
          <a:p>
            <a:pPr>
              <a:spcBef>
                <a:spcPts val="800"/>
              </a:spcBef>
              <a:spcAft>
                <a:spcPts val="300"/>
              </a:spcAft>
            </a:pPr>
            <a:r>
              <a:rPr sz="1150" b="1">
                <a:solidFill>
                  <a:srgbClr val="A51C30"/>
                </a:solidFill>
                <a:latin typeface="Calibri"/>
              </a:rPr>
              <a:t>▪  </a:t>
            </a:r>
            <a:r>
              <a:rPr sz="1150" b="1">
                <a:solidFill>
                  <a:srgbClr val="1C1C1E"/>
                </a:solidFill>
                <a:latin typeface="Calibri"/>
              </a:rPr>
              <a:t>Tier B — grounded</a:t>
            </a:r>
          </a:p>
          <a:p>
            <a:pPr lvl="1">
              <a:spcBef>
                <a:spcPts val="0"/>
              </a:spcBef>
              <a:spcAft>
                <a:spcPts val="0"/>
              </a:spcAft>
            </a:pPr>
            <a:r>
              <a:rPr sz="1000">
                <a:solidFill>
                  <a:srgbClr val="4A4F57"/>
                </a:solidFill>
                <a:latin typeface="Calibri"/>
              </a:rPr>
              <a:t>Every claim cites evidence; the citation is verified; a human attests. Documentation drafting, discovery, validation assistance</a:t>
            </a:r>
          </a:p>
          <a:p>
            <a:pPr>
              <a:lnSpc>
                <a:spcPct val="126000"/>
              </a:lnSpc>
              <a:spcBef>
                <a:spcPts val="0"/>
              </a:spcBef>
              <a:spcAft>
                <a:spcPts val="800"/>
              </a:spcAft>
            </a:pPr>
            <a:r>
              <a:rPr sz="1100" b="0" i="0">
                <a:solidFill>
                  <a:srgbClr val="4A4F57"/>
                </a:solidFill>
                <a:latin typeface="Calibri"/>
              </a:rPr>
              <a:t>The criterion is not the model's capability, nor the task's sensitivity. It is whether the structure supplies a decision procedure.</a:t>
            </a:r>
          </a:p>
          <a:p>
            <a:pPr>
              <a:lnSpc>
                <a:spcPct val="126000"/>
              </a:lnSpc>
              <a:spcBef>
                <a:spcPts val="0"/>
              </a:spcBef>
              <a:spcAft>
                <a:spcPts val="600"/>
              </a:spcAft>
            </a:pPr>
            <a:r>
              <a:rPr sz="1100" b="1" i="0">
                <a:solidFill>
                  <a:srgbClr val="A51C30"/>
                </a:solidFill>
                <a:latin typeface="Calibri"/>
              </a:rPr>
              <a:t>Both rules are enforced at registration, not at use. </a:t>
            </a:r>
            <a:r>
              <a:rPr sz="1100" b="0" i="0">
                <a:solidFill>
                  <a:srgbClr val="1C1C1E"/>
                </a:solidFill>
                <a:latin typeface="Calibri"/>
              </a:rPr>
              <a:t>A capability that claims its output is mechanically checkable must name the check; “we validate the output” without naming what validates it is the sentence that precedes every AI incident.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CITATION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grounding gate — claims are removed, not marked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92</a:t>
            </a:r>
          </a:p>
        </p:txBody>
      </p:sp>
      <p:sp>
        <p:nvSpPr>
          <p:cNvPr id="10" name="Rectangle 9"/>
          <p:cNvSpPr/>
          <p:nvPr/>
        </p:nvSpPr>
        <p:spPr>
          <a:xfrm>
            <a:off x="777240" y="1353312"/>
            <a:ext cx="5956840"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core/assist/grounding.py</a:t>
            </a:r>
          </a:p>
        </p:txBody>
      </p:sp>
      <p:sp>
        <p:nvSpPr>
          <p:cNvPr id="13" name="TextBox 12"/>
          <p:cNvSpPr txBox="1"/>
          <p:nvPr/>
        </p:nvSpPr>
        <p:spPr>
          <a:xfrm>
            <a:off x="978408" y="1746504"/>
            <a:ext cx="5591080"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gate(claims, known_evidence):</a:t>
            </a:r>
          </a:p>
          <a:p>
            <a:pPr>
              <a:lnSpc>
                <a:spcPct val="134000"/>
              </a:lnSpc>
              <a:spcBef>
                <a:spcPts val="0"/>
              </a:spcBef>
              <a:spcAft>
                <a:spcPts val="0"/>
              </a:spcAft>
            </a:pPr>
            <a:r>
              <a:rPr sz="950" b="0" i="0">
                <a:solidFill>
                  <a:srgbClr val="1C1C1E"/>
                </a:solidFill>
                <a:latin typeface="Consolas"/>
              </a:rPr>
              <a:t>    """(kept, rejected). Rejected claims never reach the output."""</a:t>
            </a:r>
          </a:p>
          <a:p>
            <a:pPr>
              <a:lnSpc>
                <a:spcPct val="134000"/>
              </a:lnSpc>
              <a:spcBef>
                <a:spcPts val="0"/>
              </a:spcBef>
              <a:spcAft>
                <a:spcPts val="0"/>
              </a:spcAft>
            </a:pPr>
            <a:r>
              <a:rPr sz="950" b="0" i="0">
                <a:solidFill>
                  <a:srgbClr val="1C1C1E"/>
                </a:solidFill>
                <a:latin typeface="Consolas"/>
              </a:rPr>
              <a:t>    known = set(known_evidence)</a:t>
            </a:r>
          </a:p>
          <a:p>
            <a:pPr>
              <a:lnSpc>
                <a:spcPct val="134000"/>
              </a:lnSpc>
              <a:spcBef>
                <a:spcPts val="0"/>
              </a:spcBef>
              <a:spcAft>
                <a:spcPts val="0"/>
              </a:spcAft>
            </a:pPr>
            <a:r>
              <a:rPr sz="950" b="0" i="0">
                <a:solidFill>
                  <a:srgbClr val="1C1C1E"/>
                </a:solidFill>
                <a:latin typeface="Consolas"/>
              </a:rPr>
              <a:t>    checked  = [verify_claim(c, known) for c in claims]</a:t>
            </a:r>
          </a:p>
          <a:p>
            <a:pPr>
              <a:lnSpc>
                <a:spcPct val="134000"/>
              </a:lnSpc>
              <a:spcBef>
                <a:spcPts val="0"/>
              </a:spcBef>
              <a:spcAft>
                <a:spcPts val="0"/>
              </a:spcAft>
            </a:pPr>
            <a:r>
              <a:rPr sz="950" b="0" i="0">
                <a:solidFill>
                  <a:srgbClr val="1C1C1E"/>
                </a:solidFill>
                <a:latin typeface="Consolas"/>
              </a:rPr>
              <a:t>    kept     = [c for c in checked if c["verified"]]</a:t>
            </a:r>
          </a:p>
          <a:p>
            <a:pPr>
              <a:lnSpc>
                <a:spcPct val="134000"/>
              </a:lnSpc>
              <a:spcBef>
                <a:spcPts val="0"/>
              </a:spcBef>
              <a:spcAft>
                <a:spcPts val="0"/>
              </a:spcAft>
            </a:pPr>
            <a:r>
              <a:rPr sz="950" b="0" i="0">
                <a:solidFill>
                  <a:srgbClr val="1C1C1E"/>
                </a:solidFill>
                <a:latin typeface="Consolas"/>
              </a:rPr>
              <a:t>    rejected = [c for c in checked if not c["verified"]]</a:t>
            </a:r>
          </a:p>
          <a:p>
            <a:pPr>
              <a:lnSpc>
                <a:spcPct val="134000"/>
              </a:lnSpc>
              <a:spcBef>
                <a:spcPts val="0"/>
              </a:spcBef>
              <a:spcAft>
                <a:spcPts val="0"/>
              </a:spcAft>
            </a:pPr>
            <a:r>
              <a:rPr sz="950" b="0" i="0">
                <a:solidFill>
                  <a:srgbClr val="1C1C1E"/>
                </a:solidFill>
                <a:latin typeface="Consolas"/>
              </a:rPr>
              <a:t>    return kept, rejected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assemble(kept):</a:t>
            </a:r>
          </a:p>
          <a:p>
            <a:pPr>
              <a:lnSpc>
                <a:spcPct val="134000"/>
              </a:lnSpc>
              <a:spcBef>
                <a:spcPts val="0"/>
              </a:spcBef>
              <a:spcAft>
                <a:spcPts val="0"/>
              </a:spcAft>
            </a:pPr>
            <a:r>
              <a:rPr sz="950" b="0" i="0">
                <a:solidFill>
                  <a:srgbClr val="1C1C1E"/>
                </a:solidFill>
                <a:latin typeface="Consolas"/>
              </a:rPr>
              <a:t>    """The published text: the surviving claims, and nothing else."""</a:t>
            </a:r>
          </a:p>
          <a:p>
            <a:pPr>
              <a:lnSpc>
                <a:spcPct val="134000"/>
              </a:lnSpc>
              <a:spcBef>
                <a:spcPts val="0"/>
              </a:spcBef>
              <a:spcAft>
                <a:spcPts val="0"/>
              </a:spcAft>
            </a:pPr>
            <a:r>
              <a:rPr sz="950" b="0" i="0">
                <a:solidFill>
                  <a:srgbClr val="1C1C1E"/>
                </a:solidFill>
                <a:latin typeface="Consolas"/>
              </a:rPr>
              <a:t>    return "\n\n".join(c["text"] for c in kept if c.get("text"))</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Why removal and not a flag</a:t>
            </a:r>
          </a:p>
          <a:p>
            <a:pPr>
              <a:lnSpc>
                <a:spcPct val="126000"/>
              </a:lnSpc>
              <a:spcBef>
                <a:spcPts val="0"/>
              </a:spcBef>
              <a:spcAft>
                <a:spcPts val="900"/>
              </a:spcAft>
            </a:pPr>
            <a:r>
              <a:rPr sz="1100" b="0" i="0">
                <a:solidFill>
                  <a:srgbClr val="4A4F57"/>
                </a:solidFill>
                <a:latin typeface="Calibri"/>
              </a:rPr>
              <a:t>A document whose unsupported sentences are marked is a document where the marks are what gets skimmed past — and the sentence still reads as though the platform said it. A claim citing nothing is not grounded, however true it happens to be.</a:t>
            </a:r>
          </a:p>
          <a:p>
            <a:pPr>
              <a:lnSpc>
                <a:spcPct val="126000"/>
              </a:lnSpc>
              <a:spcBef>
                <a:spcPts val="0"/>
              </a:spcBef>
              <a:spcAft>
                <a:spcPts val="900"/>
              </a:spcAft>
            </a:pPr>
            <a:r>
              <a:rPr sz="1100" b="1" i="0">
                <a:solidFill>
                  <a:srgbClr val="A51C30"/>
                </a:solidFill>
                <a:latin typeface="Calibri"/>
              </a:rPr>
              <a:t>The rejected claims are kept, separately. </a:t>
            </a:r>
            <a:r>
              <a:rPr sz="1100" b="0" i="0">
                <a:solidFill>
                  <a:srgbClr val="1C1C1E"/>
                </a:solidFill>
                <a:latin typeface="Calibri"/>
              </a:rPr>
              <a:t>ai_generation.rejected_claims is a column. A reviewer sees what the model tried to assert and could not support, which is a more useful artifact than an annotated draft: it is the list of places it was making things up.</a:t>
            </a:r>
          </a:p>
          <a:p>
            <a:pPr>
              <a:lnSpc>
                <a:spcPct val="126000"/>
              </a:lnSpc>
              <a:spcBef>
                <a:spcPts val="0"/>
              </a:spcBef>
              <a:spcAft>
                <a:spcPts val="600"/>
              </a:spcAft>
            </a:pPr>
            <a:r>
              <a:rPr sz="1100" b="1" i="0">
                <a:solidFill>
                  <a:srgbClr val="A51C30"/>
                </a:solidFill>
                <a:latin typeface="Calibri"/>
              </a:rPr>
              <a:t>What it may cite is fixed before it is asked. </a:t>
            </a:r>
            <a:r>
              <a:rPr sz="1100" b="0" i="0">
                <a:solidFill>
                  <a:srgbClr val="1C1C1E"/>
                </a:solidFill>
                <a:latin typeface="Calibri"/>
              </a:rPr>
              <a:t>The evidence is gathered from the register first, capped at forty nodes, and the prompt is assembled from that — so a citation the model invents has nowhere to land.</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THE BOUNDARY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Tier C is refused in code — and the schema does not help</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93</a:t>
            </a:r>
          </a:p>
        </p:txBody>
      </p:sp>
      <p:sp>
        <p:nvSpPr>
          <p:cNvPr id="10" name="Rectangle 9"/>
          <p:cNvSpPr/>
          <p:nvPr/>
        </p:nvSpPr>
        <p:spPr>
          <a:xfrm>
            <a:off x="777240" y="1764792"/>
            <a:ext cx="5531351"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91781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WHERE TIER C IS ACTUALLY REFUSED</a:t>
            </a:r>
          </a:p>
        </p:txBody>
      </p:sp>
      <p:sp>
        <p:nvSpPr>
          <p:cNvPr id="13" name="TextBox 12"/>
          <p:cNvSpPr txBox="1"/>
          <p:nvPr/>
        </p:nvSpPr>
        <p:spPr>
          <a:xfrm>
            <a:off x="978408" y="2157984"/>
            <a:ext cx="5165591" cy="1442328"/>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 db/schema/sqlite.sql</a:t>
            </a:r>
          </a:p>
          <a:p>
            <a:pPr>
              <a:lnSpc>
                <a:spcPct val="134000"/>
              </a:lnSpc>
              <a:spcBef>
                <a:spcPts val="0"/>
              </a:spcBef>
              <a:spcAft>
                <a:spcPts val="0"/>
              </a:spcAft>
            </a:pPr>
            <a:r>
              <a:rPr sz="1050" b="0" i="0">
                <a:solidFill>
                  <a:srgbClr val="1C1C1E"/>
                </a:solidFill>
                <a:latin typeface="Consolas"/>
              </a:rPr>
              <a:t>tier  TEXT NOT NULL      -- unconstrained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core/assist/capabilities.py</a:t>
            </a:r>
          </a:p>
          <a:p>
            <a:pPr>
              <a:lnSpc>
                <a:spcPct val="134000"/>
              </a:lnSpc>
              <a:spcBef>
                <a:spcPts val="0"/>
              </a:spcBef>
              <a:spcAft>
                <a:spcPts val="0"/>
              </a:spcAft>
            </a:pPr>
            <a:r>
              <a:rPr sz="1050" b="0" i="0">
                <a:solidFill>
                  <a:srgbClr val="1C1C1E"/>
                </a:solidFill>
                <a:latin typeface="Consolas"/>
              </a:rPr>
              <a:t>if tier == "C":</a:t>
            </a:r>
          </a:p>
          <a:p>
            <a:pPr>
              <a:lnSpc>
                <a:spcPct val="134000"/>
              </a:lnSpc>
              <a:spcBef>
                <a:spcPts val="0"/>
              </a:spcBef>
              <a:spcAft>
                <a:spcPts val="0"/>
              </a:spcAft>
            </a:pPr>
            <a:r>
              <a:rPr sz="1050" b="0" i="0">
                <a:solidFill>
                  <a:srgbClr val="1C1C1E"/>
                </a:solidFill>
                <a:latin typeface="Consolas"/>
              </a:rPr>
              <a:t>    raise AssistError("advisory_not_registrable", ...)</a:t>
            </a:r>
          </a:p>
        </p:txBody>
      </p:sp>
      <p:sp>
        <p:nvSpPr>
          <p:cNvPr id="14" name="TextBox 13"/>
          <p:cNvSpPr txBox="1"/>
          <p:nvPr/>
        </p:nvSpPr>
        <p:spPr>
          <a:xfrm>
            <a:off x="777240" y="3920352"/>
            <a:ext cx="5531351" cy="2286000"/>
          </a:xfrm>
          <a:prstGeom prst="rect">
            <a:avLst/>
          </a:prstGeom>
          <a:noFill/>
        </p:spPr>
        <p:txBody>
          <a:bodyPr wrap="square" lIns="0" rIns="0" tIns="0" bIns="0" anchor="t">
            <a:spAutoFit/>
          </a:bodyPr>
          <a:lstStyle/>
          <a:p>
            <a:pPr algn="l">
              <a:lnSpc>
                <a:spcPct val="126000"/>
              </a:lnSpc>
              <a:spcBef>
                <a:spcPts val="0"/>
              </a:spcBef>
              <a:spcAft>
                <a:spcPts val="1000"/>
              </a:spcAft>
            </a:pPr>
            <a:r>
              <a:rPr sz="1100" b="1" i="0">
                <a:solidFill>
                  <a:srgbClr val="A51C30"/>
                </a:solidFill>
                <a:latin typeface="Calibri"/>
              </a:rPr>
              <a:t>The schema does not prohibit it. </a:t>
            </a:r>
            <a:r>
              <a:rPr sz="1100" b="0" i="0">
                <a:solidFill>
                  <a:srgbClr val="1C1C1E"/>
                </a:solidFill>
                <a:latin typeface="Calibri"/>
              </a:rPr>
              <a:t>There are no CHECK constraints in either dialect and ai_capability.tier is unconstrained TEXT, so the prohibition is application code at one call site. That is a weaker claim than “unrepresentable”, and it is the true one: anything writing that table directly is stopped by nothing.</a:t>
            </a:r>
          </a:p>
          <a:p>
            <a:pPr>
              <a:lnSpc>
                <a:spcPct val="126000"/>
              </a:lnSpc>
              <a:spcBef>
                <a:spcPts val="0"/>
              </a:spcBef>
              <a:spcAft>
                <a:spcPts val="600"/>
              </a:spcAft>
            </a:pPr>
            <a:r>
              <a:rPr sz="1100" b="1" i="0">
                <a:solidFill>
                  <a:srgbClr val="A51C30"/>
                </a:solidFill>
                <a:latin typeface="Calibri"/>
              </a:rPr>
              <a:t>A capability holds no credential at all. </a:t>
            </a:r>
            <a:r>
              <a:rPr sz="1100" b="0" i="0">
                <a:solidFill>
                  <a:srgbClr val="1C1C1E"/>
                </a:solidFill>
                <a:latin typeface="Calibri"/>
              </a:rPr>
              <a:t>It is not a principal. Every generation is attributed to the person who asked for it, lands drafted, and carries no weight anywhere until somebody else attests it — self-attestation is refused by name.</a:t>
            </a:r>
          </a:p>
        </p:txBody>
      </p:sp>
      <p:sp>
        <p:nvSpPr>
          <p:cNvPr id="15" name="TextBox 14"/>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What a machine may never do here</a:t>
            </a:r>
          </a:p>
        </p:txBody>
      </p:sp>
      <p:graphicFrame>
        <p:nvGraphicFramePr>
          <p:cNvPr id="16" name="Table 15"/>
          <p:cNvGraphicFramePr>
            <a:graphicFrameLocks noGrp="1"/>
          </p:cNvGraphicFramePr>
          <p:nvPr/>
        </p:nvGraphicFramePr>
        <p:xfrm>
          <a:off x="6734080" y="2130552"/>
          <a:ext cx="4680374" cy="3398520"/>
        </p:xfrm>
        <a:graphic>
          <a:graphicData uri="http://schemas.openxmlformats.org/drawingml/2006/table">
            <a:tbl>
              <a:tblPr firstRow="1">
                <a:tableStyleId>{5C22544A-7EE6-4342-B048-85BDC9FD1C3A}</a:tableStyleId>
              </a:tblPr>
              <a:tblGrid>
                <a:gridCol w="1838718"/>
                <a:gridCol w="2841656"/>
              </a:tblGrid>
              <a:tr h="329184">
                <a:tc>
                  <a:txBody>
                    <a:bodyPr wrap="square"/>
                    <a:lstStyle/>
                    <a:p>
                      <a:pPr algn="l"/>
                      <a:r>
                        <a:rPr sz="1000" b="1">
                          <a:solidFill>
                            <a:srgbClr val="FFFFFF"/>
                          </a:solidFill>
                          <a:latin typeface="Calibri"/>
                        </a:rPr>
                        <a:t>Decision</a:t>
                      </a:r>
                    </a:p>
                  </a:txBody>
                  <a:tcPr marL="82296" marR="64008" marT="32004" marB="32004" anchor="ctr">
                    <a:solidFill>
                      <a:srgbClr val="A51C30"/>
                    </a:solidFill>
                  </a:tcPr>
                </a:tc>
                <a:tc>
                  <a:txBody>
                    <a:bodyPr wrap="square"/>
                    <a:lstStyle/>
                    <a:p>
                      <a:pPr algn="l"/>
                      <a:r>
                        <a:rPr sz="1000" b="1">
                          <a:solidFill>
                            <a:srgbClr val="FFFFFF"/>
                          </a:solidFill>
                          <a:latin typeface="Calibri"/>
                        </a:rPr>
                        <a:t>Why no oracle exists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Conclude a validation</a:t>
                      </a:r>
                    </a:p>
                  </a:txBody>
                  <a:tcPr marL="82296" marR="64008" marT="32004" marB="32004" anchor="ctr">
                    <a:solidFill>
                      <a:srgbClr val="FFFFFF"/>
                    </a:solidFill>
                  </a:tcPr>
                </a:tc>
                <a:tc>
                  <a:txBody>
                    <a:bodyPr wrap="square"/>
                    <a:lstStyle/>
                    <a:p>
                      <a:pPr algn="l"/>
                      <a:r>
                        <a:rPr sz="1000" b="0">
                          <a:solidFill>
                            <a:srgbClr val="1C1C1E"/>
                          </a:solidFill>
                          <a:latin typeface="Calibri"/>
                        </a:rPr>
                        <a:t>Defined by standing and accountability, which a model has not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Assign or override a tier</a:t>
                      </a:r>
                    </a:p>
                  </a:txBody>
                  <a:tcPr marL="82296" marR="64008" marT="32004" marB="32004" anchor="ctr">
                    <a:solidFill>
                      <a:srgbClr val="F6F3EF"/>
                    </a:solidFill>
                  </a:tcPr>
                </a:tc>
                <a:tc>
                  <a:txBody>
                    <a:bodyPr wrap="square"/>
                    <a:lstStyle/>
                    <a:p>
                      <a:pPr algn="l"/>
                      <a:r>
                        <a:rPr sz="1000" b="0">
                          <a:solidFill>
                            <a:srgbClr val="1C1C1E"/>
                          </a:solidFill>
                          <a:latin typeface="Calibri"/>
                        </a:rPr>
                        <a:t>The rule constitutes the standard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Make a scope determination</a:t>
                      </a:r>
                    </a:p>
                  </a:txBody>
                  <a:tcPr marL="82296" marR="64008" marT="32004" marB="32004" anchor="ctr">
                    <a:solidFill>
                      <a:srgbClr val="FFFFFF"/>
                    </a:solidFill>
                  </a:tcPr>
                </a:tc>
                <a:tc>
                  <a:txBody>
                    <a:bodyPr wrap="square"/>
                    <a:lstStyle/>
                    <a:p>
                      <a:pPr algn="l"/>
                      <a:r>
                        <a:rPr sz="1000" b="0">
                          <a:solidFill>
                            <a:srgbClr val="1C1C1E"/>
                          </a:solidFill>
                          <a:latin typeface="Calibri"/>
                        </a:rPr>
                        <a:t>Discards the derivation that is the point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Approve anything</a:t>
                      </a:r>
                    </a:p>
                  </a:txBody>
                  <a:tcPr marL="82296" marR="64008" marT="32004" marB="32004" anchor="ctr">
                    <a:solidFill>
                      <a:srgbClr val="F6F3EF"/>
                    </a:solidFill>
                  </a:tcPr>
                </a:tc>
                <a:tc>
                  <a:txBody>
                    <a:bodyPr wrap="square"/>
                    <a:lstStyle/>
                    <a:p>
                      <a:pPr algn="l"/>
                      <a:r>
                        <a:rPr sz="1000" b="0">
                          <a:solidFill>
                            <a:srgbClr val="1C1C1E"/>
                          </a:solidFill>
                          <a:latin typeface="Calibri"/>
                        </a:rPr>
                        <a:t>An accountable act with a signature behind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Accept residual risk</a:t>
                      </a:r>
                    </a:p>
                  </a:txBody>
                  <a:tcPr marL="82296" marR="64008" marT="32004" marB="32004" anchor="ctr">
                    <a:solidFill>
                      <a:srgbClr val="FFFFFF"/>
                    </a:solidFill>
                  </a:tcPr>
                </a:tc>
                <a:tc>
                  <a:txBody>
                    <a:bodyPr wrap="square"/>
                    <a:lstStyle/>
                    <a:p>
                      <a:pPr algn="l"/>
                      <a:r>
                        <a:rPr sz="1000" b="0">
                          <a:solidFill>
                            <a:srgbClr val="1C1C1E"/>
                          </a:solidFill>
                          <a:latin typeface="Calibri"/>
                        </a:rPr>
                        <a:t>Requires authority</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Close a finding</a:t>
                      </a:r>
                    </a:p>
                  </a:txBody>
                  <a:tcPr marL="82296" marR="64008" marT="32004" marB="32004" anchor="ctr">
                    <a:solidFill>
                      <a:srgbClr val="F6F3EF"/>
                    </a:solidFill>
                  </a:tcPr>
                </a:tc>
                <a:tc>
                  <a:txBody>
                    <a:bodyPr wrap="square"/>
                    <a:lstStyle/>
                    <a:p>
                      <a:pPr algn="l"/>
                      <a:r>
                        <a:rPr sz="1000" b="0">
                          <a:solidFill>
                            <a:srgbClr val="1C1C1E"/>
                          </a:solidFill>
                          <a:latin typeface="Calibri"/>
                        </a:rPr>
                        <a:t>Independent verification by someone who did not raise it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Compute a metric</a:t>
                      </a:r>
                    </a:p>
                  </a:txBody>
                  <a:tcPr marL="82296" marR="64008" marT="32004" marB="32004" anchor="ctr">
                    <a:solidFill>
                      <a:srgbClr val="FFFFFF"/>
                    </a:solidFill>
                  </a:tcPr>
                </a:tc>
                <a:tc>
                  <a:txBody>
                    <a:bodyPr wrap="square"/>
                    <a:lstStyle/>
                    <a:p>
                      <a:pPr algn="l"/>
                      <a:r>
                        <a:rPr sz="1000" b="0">
                          <a:solidFill>
                            <a:srgbClr val="1C1C1E"/>
                          </a:solidFill>
                          <a:latin typeface="Calibri"/>
                        </a:rPr>
                        <a:t>Compute it, then let the model describe it</a:t>
                      </a:r>
                    </a:p>
                  </a:txBody>
                  <a:tcPr marL="82296" marR="64008" marT="32004" marB="32004" anchor="ctr">
                    <a:solidFill>
                      <a:srgbClr val="FFFFFF"/>
                    </a:solidFill>
                  </a:tcPr>
                </a:tc>
              </a:tr>
            </a:tbl>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API conventions — and which of them exist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94</a:t>
            </a:r>
          </a:p>
        </p:txBody>
      </p:sp>
      <p:graphicFrame>
        <p:nvGraphicFramePr>
          <p:cNvPr id="10" name="Table 9"/>
          <p:cNvGraphicFramePr>
            <a:graphicFrameLocks noGrp="1"/>
          </p:cNvGraphicFramePr>
          <p:nvPr/>
        </p:nvGraphicFramePr>
        <p:xfrm>
          <a:off x="777240" y="1353312"/>
          <a:ext cx="10637214" cy="3766384"/>
        </p:xfrm>
        <a:graphic>
          <a:graphicData uri="http://schemas.openxmlformats.org/drawingml/2006/table">
            <a:tbl>
              <a:tblPr firstRow="1">
                <a:tableStyleId>{5C22544A-7EE6-4342-B048-85BDC9FD1C3A}</a:tableStyleId>
              </a:tblPr>
              <a:tblGrid>
                <a:gridCol w="1375501"/>
                <a:gridCol w="4951807"/>
                <a:gridCol w="4309906"/>
              </a:tblGrid>
              <a:tr h="329184">
                <a:tc>
                  <a:txBody>
                    <a:bodyPr wrap="square"/>
                    <a:lstStyle/>
                    <a:p>
                      <a:pPr algn="l"/>
                      <a:r>
                        <a:rPr sz="1000" b="1">
                          <a:solidFill>
                            <a:srgbClr val="FFFFFF"/>
                          </a:solidFill>
                          <a:latin typeface="Calibri"/>
                        </a:rPr>
                        <a:t>Concern</a:t>
                      </a:r>
                    </a:p>
                  </a:txBody>
                  <a:tcPr marL="82296" marR="64008" marT="32004" marB="32004" anchor="ctr">
                    <a:solidFill>
                      <a:srgbClr val="A51C30"/>
                    </a:solidFill>
                  </a:tcPr>
                </a:tc>
                <a:tc>
                  <a:txBody>
                    <a:bodyPr wrap="square"/>
                    <a:lstStyle/>
                    <a:p>
                      <a:pPr algn="l"/>
                      <a:r>
                        <a:rPr sz="1000" b="1">
                          <a:solidFill>
                            <a:srgbClr val="FFFFFF"/>
                          </a:solidFill>
                          <a:latin typeface="Calibri"/>
                        </a:rPr>
                        <a:t>Today</a:t>
                      </a:r>
                    </a:p>
                  </a:txBody>
                  <a:tcPr marL="82296" marR="64008" marT="32004" marB="32004" anchor="ctr">
                    <a:solidFill>
                      <a:srgbClr val="A51C30"/>
                    </a:solidFill>
                  </a:tcPr>
                </a:tc>
                <a:tc>
                  <a:txBody>
                    <a:bodyPr wrap="square"/>
                    <a:lstStyle/>
                    <a:p>
                      <a:pPr algn="l"/>
                      <a:r>
                        <a:rPr sz="1000" b="1">
                          <a:solidFill>
                            <a:srgbClr val="FFFFFF"/>
                          </a:solidFill>
                          <a:latin typeface="Calibri"/>
                        </a:rPr>
                        <a:t>Why, or why not yet</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Base path</a:t>
                      </a:r>
                    </a:p>
                  </a:txBody>
                  <a:tcPr marL="82296" marR="64008" marT="32004" marB="32004" anchor="ctr">
                    <a:solidFill>
                      <a:srgbClr val="FFFFFF"/>
                    </a:solidFill>
                  </a:tcPr>
                </a:tc>
                <a:tc>
                  <a:txBody>
                    <a:bodyPr wrap="square"/>
                    <a:lstStyle/>
                    <a:p>
                      <a:pPr algn="l"/>
                      <a:r>
                        <a:rPr sz="950" b="0">
                          <a:solidFill>
                            <a:srgbClr val="1C1C1E"/>
                          </a:solidFill>
                          <a:latin typeface="Calibri"/>
                        </a:rPr>
                        <a:t>/api/v1, defined once in routes/base.py::API</a:t>
                      </a:r>
                    </a:p>
                  </a:txBody>
                  <a:tcPr marL="82296" marR="64008" marT="32004" marB="32004" anchor="ctr">
                    <a:solidFill>
                      <a:srgbClr val="FFFFFF"/>
                    </a:solidFill>
                  </a:tcPr>
                </a:tc>
                <a:tc>
                  <a:txBody>
                    <a:bodyPr wrap="square"/>
                    <a:lstStyle/>
                    <a:p>
                      <a:pPr algn="l"/>
                      <a:r>
                        <a:rPr sz="950" b="0">
                          <a:solidFill>
                            <a:srgbClr val="1C1C1E"/>
                          </a:solidFill>
                          <a:latin typeface="Calibri"/>
                        </a:rPr>
                        <a:t>One versioned contract; the interface has no privileged path</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Spec</a:t>
                      </a:r>
                    </a:p>
                  </a:txBody>
                  <a:tcPr marL="82296" marR="64008" marT="32004" marB="32004" anchor="ctr">
                    <a:solidFill>
                      <a:srgbClr val="F6F3EF"/>
                    </a:solidFill>
                  </a:tcPr>
                </a:tc>
                <a:tc>
                  <a:txBody>
                    <a:bodyPr wrap="square"/>
                    <a:lstStyle/>
                    <a:p>
                      <a:pPr algn="l"/>
                      <a:r>
                        <a:rPr sz="950" b="0">
                          <a:solidFill>
                            <a:srgbClr val="1C1C1E"/>
                          </a:solidFill>
                          <a:latin typeface="Calibri"/>
                        </a:rPr>
                        <a:t>OpenAPI, generated by FastAPI at /api/v1/openapi.json</a:t>
                      </a:r>
                    </a:p>
                  </a:txBody>
                  <a:tcPr marL="82296" marR="64008" marT="32004" marB="32004" anchor="ctr">
                    <a:solidFill>
                      <a:srgbClr val="F6F3EF"/>
                    </a:solidFill>
                  </a:tcPr>
                </a:tc>
                <a:tc>
                  <a:txBody>
                    <a:bodyPr wrap="square"/>
                    <a:lstStyle/>
                    <a:p>
                      <a:pPr algn="l"/>
                      <a:r>
                        <a:rPr sz="950" b="0">
                          <a:solidFill>
                            <a:srgbClr val="1C1C1E"/>
                          </a:solidFill>
                          <a:latin typeface="Calibri"/>
                        </a:rPr>
                        <a:t>Generated from the routes, so it cannot describe a surface that is not there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Authentication</a:t>
                      </a:r>
                    </a:p>
                  </a:txBody>
                  <a:tcPr marL="82296" marR="64008" marT="32004" marB="32004" anchor="ctr">
                    <a:solidFill>
                      <a:srgbClr val="FFFFFF"/>
                    </a:solidFill>
                  </a:tcPr>
                </a:tc>
                <a:tc>
                  <a:txBody>
                    <a:bodyPr wrap="square"/>
                    <a:lstStyle/>
                    <a:p>
                      <a:pPr algn="l"/>
                      <a:r>
                        <a:rPr sz="950" b="0">
                          <a:solidFill>
                            <a:srgbClr val="1C1C1E"/>
                          </a:solidFill>
                          <a:latin typeface="Calibri"/>
                        </a:rPr>
                        <a:t>Session cookie for the interface; HTTP Basic against the same principal register for services</a:t>
                      </a:r>
                    </a:p>
                  </a:txBody>
                  <a:tcPr marL="82296" marR="64008" marT="32004" marB="32004" anchor="ctr">
                    <a:solidFill>
                      <a:srgbClr val="FFFFFF"/>
                    </a:solidFill>
                  </a:tcPr>
                </a:tc>
                <a:tc>
                  <a:txBody>
                    <a:bodyPr wrap="square"/>
                    <a:lstStyle/>
                    <a:p>
                      <a:pPr algn="l"/>
                      <a:r>
                        <a:rPr sz="950" b="0">
                          <a:solidFill>
                            <a:srgbClr val="1C1C1E"/>
                          </a:solidFill>
                          <a:latin typeface="Calibri"/>
                        </a:rPr>
                        <a:t>One identity store, not two</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CSRF</a:t>
                      </a:r>
                    </a:p>
                  </a:txBody>
                  <a:tcPr marL="82296" marR="64008" marT="32004" marB="32004" anchor="ctr">
                    <a:solidFill>
                      <a:srgbClr val="F6F3EF"/>
                    </a:solidFill>
                  </a:tcPr>
                </a:tc>
                <a:tc>
                  <a:txBody>
                    <a:bodyPr wrap="square"/>
                    <a:lstStyle/>
                    <a:p>
                      <a:pPr algn="l"/>
                      <a:r>
                        <a:rPr sz="950" b="0">
                          <a:solidFill>
                            <a:srgbClr val="1C1C1E"/>
                          </a:solidFill>
                          <a:latin typeface="Calibri"/>
                        </a:rPr>
                        <a:t>A token on any state-changing method whose authority came from the cookie, enforced in middleware</a:t>
                      </a:r>
                    </a:p>
                  </a:txBody>
                  <a:tcPr marL="82296" marR="64008" marT="32004" marB="32004" anchor="ctr">
                    <a:solidFill>
                      <a:srgbClr val="F6F3EF"/>
                    </a:solidFill>
                  </a:tcPr>
                </a:tc>
                <a:tc>
                  <a:txBody>
                    <a:bodyPr wrap="square"/>
                    <a:lstStyle/>
                    <a:p>
                      <a:pPr algn="l"/>
                      <a:r>
                        <a:rPr sz="950" b="0">
                          <a:solidFill>
                            <a:srgbClr val="1C1C1E"/>
                          </a:solidFill>
                          <a:latin typeface="Calibri"/>
                        </a:rPr>
                        <a:t>223 mutating endpoints is 126 chances to forget one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Refusals</a:t>
                      </a:r>
                    </a:p>
                  </a:txBody>
                  <a:tcPr marL="82296" marR="64008" marT="32004" marB="32004" anchor="ctr">
                    <a:solidFill>
                      <a:srgbClr val="FFFFFF"/>
                    </a:solidFill>
                  </a:tcPr>
                </a:tc>
                <a:tc>
                  <a:txBody>
                    <a:bodyPr wrap="square"/>
                    <a:lstStyle/>
                    <a:p>
                      <a:pPr algn="l"/>
                      <a:r>
                        <a:rPr sz="950" b="0">
                          <a:solidFill>
                            <a:srgbClr val="1C1C1E"/>
                          </a:solidFill>
                          <a:latin typeface="Calibri"/>
                        </a:rPr>
                        <a:t>error / detail / remediation at the top level, 312 codes mapped onto 14 statuses in ONE table</a:t>
                      </a:r>
                    </a:p>
                  </a:txBody>
                  <a:tcPr marL="82296" marR="64008" marT="32004" marB="32004" anchor="ctr">
                    <a:solidFill>
                      <a:srgbClr val="FFFFFF"/>
                    </a:solidFill>
                  </a:tcPr>
                </a:tc>
                <a:tc>
                  <a:txBody>
                    <a:bodyPr wrap="square"/>
                    <a:lstStyle/>
                    <a:p>
                      <a:pPr algn="l"/>
                      <a:r>
                        <a:rPr sz="950" b="0">
                          <a:solidFill>
                            <a:srgbClr val="1C1C1E"/>
                          </a:solidFill>
                          <a:latin typeface="Calibri"/>
                        </a:rPr>
                        <a:t>DR-6 and DR-7 — blocking must always explain</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Pagination</a:t>
                      </a:r>
                    </a:p>
                  </a:txBody>
                  <a:tcPr marL="82296" marR="64008" marT="32004" marB="32004" anchor="ctr">
                    <a:solidFill>
                      <a:srgbClr val="F6F3EF"/>
                    </a:solidFill>
                  </a:tcPr>
                </a:tc>
                <a:tc>
                  <a:txBody>
                    <a:bodyPr wrap="square"/>
                    <a:lstStyle/>
                    <a:p>
                      <a:pPr algn="l"/>
                      <a:r>
                        <a:rPr sz="950" b="0">
                          <a:solidFill>
                            <a:srgbClr val="1C1C1E"/>
                          </a:solidFill>
                          <a:latin typeface="Calibri"/>
                        </a:rPr>
                        <a:t>?limit= and ?offset=, applied AFTER scope filtering</a:t>
                      </a:r>
                    </a:p>
                  </a:txBody>
                  <a:tcPr marL="82296" marR="64008" marT="32004" marB="32004" anchor="ctr">
                    <a:solidFill>
                      <a:srgbClr val="F6F3EF"/>
                    </a:solidFill>
                  </a:tcPr>
                </a:tc>
                <a:tc>
                  <a:txBody>
                    <a:bodyPr wrap="square"/>
                    <a:lstStyle/>
                    <a:p>
                      <a:pPr algn="l"/>
                      <a:r>
                        <a:rPr sz="950" b="0">
                          <a:solidFill>
                            <a:srgbClr val="1C1C1E"/>
                          </a:solidFill>
                          <a:latin typeface="Calibri"/>
                        </a:rPr>
                        <a:t>Page two of a filtered list must not be page two of the unfiltered one with holes in it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Time travel</a:t>
                      </a:r>
                    </a:p>
                  </a:txBody>
                  <a:tcPr marL="82296" marR="64008" marT="32004" marB="32004" anchor="ctr">
                    <a:solidFill>
                      <a:srgbClr val="FFFFFF"/>
                    </a:solidFill>
                  </a:tcPr>
                </a:tc>
                <a:tc>
                  <a:txBody>
                    <a:bodyPr wrap="square"/>
                    <a:lstStyle/>
                    <a:p>
                      <a:pPr algn="l"/>
                      <a:r>
                        <a:rPr sz="950" b="0">
                          <a:solidFill>
                            <a:srgbClr val="1C1C1E"/>
                          </a:solidFill>
                          <a:latin typeface="Calibri"/>
                        </a:rPr>
                        <a:t>?as_of= on the feature and warrant surfaces</a:t>
                      </a:r>
                    </a:p>
                  </a:txBody>
                  <a:tcPr marL="82296" marR="64008" marT="32004" marB="32004" anchor="ctr">
                    <a:solidFill>
                      <a:srgbClr val="FFFFFF"/>
                    </a:solidFill>
                  </a:tcPr>
                </a:tc>
                <a:tc>
                  <a:txBody>
                    <a:bodyPr wrap="square"/>
                    <a:lstStyle/>
                    <a:p>
                      <a:pPr algn="l"/>
                      <a:r>
                        <a:rPr sz="950" b="0">
                          <a:solidFill>
                            <a:srgbClr val="1C1C1E"/>
                          </a:solidFill>
                          <a:latin typeface="Calibri"/>
                        </a:rPr>
                        <a:t>Examiner questions about a past date</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NOT BUILT</a:t>
                      </a:r>
                    </a:p>
                  </a:txBody>
                  <a:tcPr marL="82296" marR="64008" marT="32004" marB="32004" anchor="ctr">
                    <a:solidFill>
                      <a:srgbClr val="F6F3EF"/>
                    </a:solidFill>
                  </a:tcPr>
                </a:tc>
                <a:tc>
                  <a:txBody>
                    <a:bodyPr wrap="square"/>
                    <a:lstStyle/>
                    <a:p>
                      <a:pPr algn="l"/>
                      <a:r>
                        <a:rPr sz="950" b="0">
                          <a:solidFill>
                            <a:srgbClr val="1C1C1E"/>
                          </a:solidFill>
                          <a:latin typeface="Calibri"/>
                        </a:rPr>
                        <a:t>ETag / If-Match · Idempotency-Key · ?expand= · ?fields= · keyset cursors · SSE on /events · Sunset headers · /derivations/{id}</a:t>
                      </a:r>
                    </a:p>
                  </a:txBody>
                  <a:tcPr marL="82296" marR="64008" marT="32004" marB="32004" anchor="ctr">
                    <a:solidFill>
                      <a:srgbClr val="F6F3EF"/>
                    </a:solidFill>
                  </a:tcPr>
                </a:tc>
                <a:tc>
                  <a:txBody>
                    <a:bodyPr wrap="square"/>
                    <a:lstStyle/>
                    <a:p>
                      <a:pPr algn="l"/>
                      <a:r>
                        <a:rPr sz="950" b="0">
                          <a:solidFill>
                            <a:srgbClr val="1C1C1E"/>
                          </a:solidFill>
                          <a:latin typeface="Calibri"/>
                        </a:rPr>
                        <a:t>Each is designed in docs/14 §28 and none of it runs. Listings return whole; a retry is not idempotent</a:t>
                      </a:r>
                    </a:p>
                  </a:txBody>
                  <a:tcPr marL="82296" marR="64008" marT="32004" marB="32004" anchor="ctr">
                    <a:solidFill>
                      <a:srgbClr val="F6F3EF"/>
                    </a:solidFill>
                  </a:tcPr>
                </a:tc>
              </a:tr>
            </a:tbl>
          </a:graphicData>
        </a:graphic>
      </p:graphicFrame>
      <p:sp>
        <p:nvSpPr>
          <p:cNvPr id="11" name="TextBox 10"/>
          <p:cNvSpPr txBox="1"/>
          <p:nvPr/>
        </p:nvSpPr>
        <p:spPr>
          <a:xfrm>
            <a:off x="777240" y="5302580"/>
            <a:ext cx="10637215" cy="54864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One surface, and the interface reaches it the way anybody else does. </a:t>
            </a:r>
            <a:r>
              <a:rPr sz="1050" b="0" i="0">
                <a:solidFill>
                  <a:srgbClr val="1C1C1E"/>
                </a:solidFill>
                <a:latin typeface="Calibri"/>
              </a:rPr>
              <a:t>Models · versions · aliases · risk · features · runs · validation · overlays · monitoring · warrants · documents · policy · assistance · admin — all behind /api/v1, in one FastAPI process that also renders the pages. The two-process, generated-client front end is an accepted design and is not built.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IDENTITY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Single sign-on — and the part of it that is not mechanical</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95</a:t>
            </a:r>
          </a:p>
        </p:txBody>
      </p:sp>
      <p:sp>
        <p:nvSpPr>
          <p:cNvPr id="10" name="TextBox 9"/>
          <p:cNvSpPr txBox="1"/>
          <p:nvPr/>
        </p:nvSpPr>
        <p:spPr>
          <a:xfrm>
            <a:off x="777240" y="1764792"/>
            <a:ext cx="553135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mechanical half</a:t>
            </a:r>
          </a:p>
        </p:txBody>
      </p:sp>
      <p:sp>
        <p:nvSpPr>
          <p:cNvPr id="11" name="Rectangle 10"/>
          <p:cNvSpPr/>
          <p:nvPr/>
        </p:nvSpPr>
        <p:spPr>
          <a:xfrm>
            <a:off x="777240" y="2130552"/>
            <a:ext cx="5531351"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130552"/>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22199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core/authz/jws.py — standard library only</a:t>
            </a:r>
          </a:p>
        </p:txBody>
      </p:sp>
      <p:sp>
        <p:nvSpPr>
          <p:cNvPr id="14" name="TextBox 13"/>
          <p:cNvSpPr txBox="1"/>
          <p:nvPr/>
        </p:nvSpPr>
        <p:spPr>
          <a:xfrm>
            <a:off x="978408" y="2523744"/>
            <a:ext cx="5165591"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authorisation code + PKCE + state + nonce</a:t>
            </a:r>
          </a:p>
          <a:p>
            <a:pPr>
              <a:lnSpc>
                <a:spcPct val="134000"/>
              </a:lnSpc>
              <a:spcBef>
                <a:spcPts val="0"/>
              </a:spcBef>
              <a:spcAft>
                <a:spcPts val="0"/>
              </a:spcAft>
            </a:pPr>
            <a:r>
              <a:rPr sz="900" b="0" i="0">
                <a:solidFill>
                  <a:srgbClr val="1C1C1E"/>
                </a:solidFill>
                <a:latin typeface="Consolas"/>
              </a:rPr>
              <a:t>recovered = pow(sig, e, n)</a:t>
            </a:r>
          </a:p>
          <a:p>
            <a:pPr>
              <a:lnSpc>
                <a:spcPct val="134000"/>
              </a:lnSpc>
              <a:spcBef>
                <a:spcPts val="0"/>
              </a:spcBef>
              <a:spcAft>
                <a:spcPts val="0"/>
              </a:spcAft>
            </a:pPr>
            <a:r>
              <a:rPr sz="900" b="0" i="0">
                <a:solidFill>
                  <a:srgbClr val="1C1C1E"/>
                </a:solidFill>
                <a:latin typeface="Consolas"/>
              </a:rPr>
              <a:t>expected  = b"\x00\x01" + b"\xff" * pad + b"\x00" \</a:t>
            </a:r>
          </a:p>
          <a:p>
            <a:pPr>
              <a:lnSpc>
                <a:spcPct val="134000"/>
              </a:lnSpc>
              <a:spcBef>
                <a:spcPts val="0"/>
              </a:spcBef>
              <a:spcAft>
                <a:spcPts val="0"/>
              </a:spcAft>
            </a:pPr>
            <a:r>
              <a:rPr sz="900" b="0" i="0">
                <a:solidFill>
                  <a:srgbClr val="1C1C1E"/>
                </a:solidFill>
                <a:latin typeface="Consolas"/>
              </a:rPr>
              <a:t>          + SHA256_DIGEST_INFO + digest</a:t>
            </a:r>
          </a:p>
          <a:p>
            <a:pPr>
              <a:lnSpc>
                <a:spcPct val="134000"/>
              </a:lnSpc>
              <a:spcBef>
                <a:spcPts val="0"/>
              </a:spcBef>
              <a:spcAft>
                <a:spcPts val="0"/>
              </a:spcAft>
            </a:pPr>
            <a:r>
              <a:rPr sz="900" b="0" i="0">
                <a:solidFill>
                  <a:srgbClr val="1C1C1E"/>
                </a:solidFill>
                <a:latin typeface="Consolas"/>
              </a:rPr>
              <a:t>return hmac.compare_digest(recovered, expected)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and the algorithm is DECIDED, never read:</a:t>
            </a:r>
          </a:p>
          <a:p>
            <a:pPr>
              <a:lnSpc>
                <a:spcPct val="134000"/>
              </a:lnSpc>
              <a:spcBef>
                <a:spcPts val="0"/>
              </a:spcBef>
              <a:spcAft>
                <a:spcPts val="0"/>
              </a:spcAft>
            </a:pPr>
            <a:r>
              <a:rPr sz="900" b="0" i="0">
                <a:solidFill>
                  <a:srgbClr val="1C1C1E"/>
                </a:solidFill>
                <a:latin typeface="Consolas"/>
              </a:rPr>
              <a:t>if header["alg"] != "RS256": raise unsupported</a:t>
            </a:r>
          </a:p>
        </p:txBody>
      </p:sp>
      <p:sp>
        <p:nvSpPr>
          <p:cNvPr id="15" name="TextBox 14"/>
          <p:cNvSpPr txBox="1"/>
          <p:nvPr/>
        </p:nvSpPr>
        <p:spPr>
          <a:xfrm>
            <a:off x="777240" y="4460808"/>
            <a:ext cx="5531351" cy="1371600"/>
          </a:xfrm>
          <a:prstGeom prst="rect">
            <a:avLst/>
          </a:prstGeom>
          <a:noFill/>
        </p:spPr>
        <p:txBody>
          <a:bodyPr wrap="square" lIns="0" rIns="0" tIns="0" bIns="0" anchor="t">
            <a:spAutoFit/>
          </a:bodyPr>
          <a:lstStyle/>
          <a:p>
            <a:pPr algn="l">
              <a:lnSpc>
                <a:spcPct val="126000"/>
              </a:lnSpc>
              <a:spcBef>
                <a:spcPts val="0"/>
              </a:spcBef>
              <a:spcAft>
                <a:spcPts val="0"/>
              </a:spcAft>
            </a:pPr>
            <a:r>
              <a:rPr sz="1050" b="1" i="0">
                <a:solidFill>
                  <a:srgbClr val="A51C30"/>
                </a:solidFill>
                <a:latin typeface="Calibri"/>
              </a:rPr>
              <a:t>Standard library only, so MAYA deploys air-gapped. </a:t>
            </a:r>
            <a:r>
              <a:rPr sz="1050" b="0" i="0">
                <a:solidFill>
                  <a:srgbClr val="1C1C1E"/>
                </a:solidFill>
                <a:latin typeface="Calibri"/>
              </a:rPr>
              <a:t>The padded block is CONSTRUCTED and compared rather than parsed, and the algorithm is decided rather than read from the token — the two ways signature verification is classically defeated.</a:t>
            </a:r>
          </a:p>
        </p:txBody>
      </p:sp>
      <p:sp>
        <p:nvSpPr>
          <p:cNvPr id="16" name="TextBox 15"/>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The half that is not</a:t>
            </a:r>
          </a:p>
        </p:txBody>
      </p:sp>
      <p:sp>
        <p:nvSpPr>
          <p:cNvPr id="17" name="TextBox 16"/>
          <p:cNvSpPr txBox="1"/>
          <p:nvPr/>
        </p:nvSpPr>
        <p:spPr>
          <a:xfrm>
            <a:off x="6734080" y="2148840"/>
            <a:ext cx="4680374" cy="1051560"/>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1C1C1E"/>
                </a:solidFill>
                <a:latin typeface="Calibri"/>
              </a:rPr>
              <a:t>An identity provider that grants MAYA roles is one that </a:t>
            </a:r>
            <a:r>
              <a:rPr sz="1150" b="1" i="0">
                <a:solidFill>
                  <a:srgbClr val="A51C30"/>
                </a:solidFill>
                <a:latin typeface="Calibri"/>
              </a:rPr>
              <a:t>decides segregation of duties</a:t>
            </a:r>
            <a:r>
              <a:rPr sz="1150" b="0" i="0">
                <a:solidFill>
                  <a:srgbClr val="1C1C1E"/>
                </a:solidFill>
                <a:latin typeface="Calibri"/>
              </a:rPr>
              <a:t> — and the person administering it is very often the person whose duties are being segregated.</a:t>
            </a:r>
          </a:p>
        </p:txBody>
      </p:sp>
      <p:graphicFrame>
        <p:nvGraphicFramePr>
          <p:cNvPr id="18" name="Table 17"/>
          <p:cNvGraphicFramePr>
            <a:graphicFrameLocks noGrp="1"/>
          </p:cNvGraphicFramePr>
          <p:nvPr/>
        </p:nvGraphicFramePr>
        <p:xfrm>
          <a:off x="6734080" y="3182112"/>
          <a:ext cx="4680374" cy="1948203"/>
        </p:xfrm>
        <a:graphic>
          <a:graphicData uri="http://schemas.openxmlformats.org/drawingml/2006/table">
            <a:tbl>
              <a:tblPr firstRow="1">
                <a:tableStyleId>{5C22544A-7EE6-4342-B048-85BDC9FD1C3A}</a:tableStyleId>
              </a:tblPr>
              <a:tblGrid>
                <a:gridCol w="1942797"/>
                <a:gridCol w="2737577"/>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310896">
                <a:tc>
                  <a:txBody>
                    <a:bodyPr wrap="square"/>
                    <a:lstStyle/>
                    <a:p>
                      <a:pPr algn="l"/>
                      <a:r>
                        <a:rPr sz="850" b="1">
                          <a:solidFill>
                            <a:srgbClr val="A51C30"/>
                          </a:solidFill>
                          <a:latin typeface="Calibri"/>
                        </a:rPr>
                        <a:t>Groups are MAPPED, never obeyed</a:t>
                      </a:r>
                    </a:p>
                  </a:txBody>
                  <a:tcPr marL="82296" marR="64008" marT="32004" marB="32004" anchor="ctr">
                    <a:solidFill>
                      <a:srgbClr val="FFFFFF"/>
                    </a:solidFill>
                  </a:tcPr>
                </a:tc>
                <a:tc>
                  <a:txBody>
                    <a:bodyPr wrap="square"/>
                    <a:lstStyle/>
                    <a:p>
                      <a:pPr algn="l"/>
                      <a:r>
                        <a:rPr sz="850" b="0">
                          <a:solidFill>
                            <a:srgbClr val="1C1C1E"/>
                          </a:solidFill>
                          <a:latin typeface="Calibri"/>
                        </a:rPr>
                        <a:t>An unmapped group grants nothing</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Identity binds to (issuer, subject)</a:t>
                      </a:r>
                    </a:p>
                  </a:txBody>
                  <a:tcPr marL="82296" marR="64008" marT="32004" marB="32004" anchor="ctr">
                    <a:solidFill>
                      <a:srgbClr val="F6F3EF"/>
                    </a:solidFill>
                  </a:tcPr>
                </a:tc>
                <a:tc>
                  <a:txBody>
                    <a:bodyPr wrap="square"/>
                    <a:lstStyle/>
                    <a:p>
                      <a:pPr algn="l"/>
                      <a:r>
                        <a:rPr sz="850" b="0">
                          <a:solidFill>
                            <a:srgbClr val="1C1C1E"/>
                          </a:solidFill>
                          <a:latin typeface="Calibri"/>
                        </a:rPr>
                        <a:t>A username is not an identity: claiming to be called admin once made you one</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Incompatible roles refuse the LOGIN</a:t>
                      </a:r>
                    </a:p>
                  </a:txBody>
                  <a:tcPr marL="82296" marR="64008" marT="32004" marB="32004" anchor="ctr">
                    <a:solidFill>
                      <a:srgbClr val="FFFFFF"/>
                    </a:solidFill>
                  </a:tcPr>
                </a:tc>
                <a:tc>
                  <a:txBody>
                    <a:bodyPr wrap="square"/>
                    <a:lstStyle/>
                    <a:p>
                      <a:pPr algn="l"/>
                      <a:r>
                        <a:rPr sz="850" b="0">
                          <a:solidFill>
                            <a:srgbClr val="1C1C1E"/>
                          </a:solidFill>
                          <a:latin typeface="Calibri"/>
                        </a:rPr>
                        <a:t>Checked before provisioning, so the lesser problem cannot hide the greater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Issuer, subject and groups recorded</a:t>
                      </a:r>
                    </a:p>
                  </a:txBody>
                  <a:tcPr marL="82296" marR="64008" marT="32004" marB="32004" anchor="ctr">
                    <a:solidFill>
                      <a:srgbClr val="F6F3EF"/>
                    </a:solidFill>
                  </a:tcPr>
                </a:tc>
                <a:tc>
                  <a:txBody>
                    <a:bodyPr wrap="square"/>
                    <a:lstStyle/>
                    <a:p>
                      <a:pPr algn="l"/>
                      <a:r>
                        <a:rPr sz="850" b="0">
                          <a:solidFill>
                            <a:srgbClr val="1C1C1E"/>
                          </a:solidFill>
                          <a:latin typeface="Calibri"/>
                        </a:rPr>
                        <a:t>“Why did they hold that role in March” survives the directory moving on</a:t>
                      </a:r>
                    </a:p>
                  </a:txBody>
                  <a:tcPr marL="82296" marR="64008" marT="32004" marB="32004" anchor="ctr">
                    <a:solidFill>
                      <a:srgbClr val="F6F3EF"/>
                    </a:solidFill>
                  </a:tcPr>
                </a:tc>
              </a:tr>
            </a:tbl>
          </a:graphicData>
        </a:graphic>
      </p:graphicFrame>
      <p:sp>
        <p:nvSpPr>
          <p:cNvPr id="19" name="Rectangle 18"/>
          <p:cNvSpPr/>
          <p:nvPr/>
        </p:nvSpPr>
        <p:spPr>
          <a:xfrm>
            <a:off x="777240" y="5313197"/>
            <a:ext cx="10637215" cy="56692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313197"/>
            <a:ext cx="41148"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51560" y="5404637"/>
            <a:ext cx="10088575" cy="4572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No SAML and no SCIM. </a:t>
            </a:r>
            <a:r>
              <a:rPr sz="1100" b="0" i="0">
                <a:solidFill>
                  <a:srgbClr val="1C1C1E"/>
                </a:solidFill>
                <a:latin typeface="Calibri"/>
              </a:rPr>
              <a:t>OIDC is supported; a SAML-only directory and automatic deprovisioning are not, so </a:t>
            </a:r>
            <a:r>
              <a:rPr sz="1100" b="1" i="0">
                <a:solidFill>
                  <a:srgbClr val="1C1C1E"/>
                </a:solidFill>
                <a:latin typeface="Calibri"/>
              </a:rPr>
              <a:t>a leaver is suspended by hand</a:t>
            </a:r>
            <a:r>
              <a:rPr sz="1100" b="0" i="0">
                <a:solidFill>
                  <a:srgbClr val="1C1C1E"/>
                </a:solidFill>
                <a:latin typeface="Calibri"/>
              </a:rPr>
              <a:t> — which is an operational obligation worth stating here rather than discovering in an access review.</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CLIENTS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Front end and SDK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96</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interface — one process, not two</a:t>
            </a:r>
          </a:p>
        </p:txBody>
      </p:sp>
      <p:graphicFrame>
        <p:nvGraphicFramePr>
          <p:cNvPr id="11" name="Table 10"/>
          <p:cNvGraphicFramePr>
            <a:graphicFrameLocks noGrp="1"/>
          </p:cNvGraphicFramePr>
          <p:nvPr/>
        </p:nvGraphicFramePr>
        <p:xfrm>
          <a:off x="777240" y="1719072"/>
          <a:ext cx="4999491" cy="3507864"/>
        </p:xfrm>
        <a:graphic>
          <a:graphicData uri="http://schemas.openxmlformats.org/drawingml/2006/table">
            <a:tbl>
              <a:tblPr firstRow="1">
                <a:tableStyleId>{5C22544A-7EE6-4342-B048-85BDC9FD1C3A}</a:tableStyleId>
              </a:tblPr>
              <a:tblGrid>
                <a:gridCol w="964814"/>
                <a:gridCol w="4034677"/>
              </a:tblGrid>
              <a:tr h="329184">
                <a:tc>
                  <a:txBody>
                    <a:bodyPr wrap="square"/>
                    <a:lstStyle/>
                    <a:p>
                      <a:pPr algn="l"/>
                      <a:r>
                        <a:rPr sz="1000" b="1">
                          <a:solidFill>
                            <a:srgbClr val="FFFFFF"/>
                          </a:solidFill>
                          <a:latin typeface="Calibri"/>
                        </a:rPr>
                        <a:t>Concern</a:t>
                      </a:r>
                    </a:p>
                  </a:txBody>
                  <a:tcPr marL="82296" marR="64008" marT="32004" marB="32004" anchor="ctr">
                    <a:solidFill>
                      <a:srgbClr val="A51C30"/>
                    </a:solidFill>
                  </a:tcPr>
                </a:tc>
                <a:tc>
                  <a:txBody>
                    <a:bodyPr wrap="square"/>
                    <a:lstStyle/>
                    <a:p>
                      <a:pPr algn="l"/>
                      <a:r>
                        <a:rPr sz="1000" b="1">
                          <a:solidFill>
                            <a:srgbClr val="FFFFFF"/>
                          </a:solidFill>
                          <a:latin typeface="Calibri"/>
                        </a:rPr>
                        <a:t>Today</a:t>
                      </a:r>
                    </a:p>
                  </a:txBody>
                  <a:tcPr marL="82296" marR="64008" marT="32004" marB="32004" anchor="ctr">
                    <a:solidFill>
                      <a:srgbClr val="A51C30"/>
                    </a:solidFill>
                  </a:tcPr>
                </a:tc>
              </a:tr>
              <a:tr h="606475">
                <a:tc>
                  <a:txBody>
                    <a:bodyPr wrap="square"/>
                    <a:lstStyle/>
                    <a:p>
                      <a:pPr algn="l"/>
                      <a:r>
                        <a:rPr sz="900" b="1">
                          <a:solidFill>
                            <a:srgbClr val="A51C30"/>
                          </a:solidFill>
                          <a:latin typeface="Calibri"/>
                        </a:rPr>
                        <a:t>Process</a:t>
                      </a:r>
                    </a:p>
                  </a:txBody>
                  <a:tcPr marL="82296" marR="64008" marT="32004" marB="32004" anchor="ctr">
                    <a:solidFill>
                      <a:srgbClr val="FFFFFF"/>
                    </a:solidFill>
                  </a:tcPr>
                </a:tc>
                <a:tc>
                  <a:txBody>
                    <a:bodyPr wrap="square"/>
                    <a:lstStyle/>
                    <a:p>
                      <a:pPr algn="l"/>
                      <a:r>
                        <a:rPr sz="900" b="0">
                          <a:solidFill>
                            <a:srgbClr val="1C1C1E"/>
                          </a:solidFill>
                          <a:latin typeface="Calibri"/>
                        </a:rPr>
                        <a:t>One FastAPI application serves /api/v1 and renders the pages. The decoupled two-origin front end is ADR-011, accepted and not built — there is no CORS middleware anywhere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Auth</a:t>
                      </a:r>
                    </a:p>
                  </a:txBody>
                  <a:tcPr marL="82296" marR="64008" marT="32004" marB="32004" anchor="ctr">
                    <a:solidFill>
                      <a:srgbClr val="F6F3EF"/>
                    </a:solidFill>
                  </a:tcPr>
                </a:tc>
                <a:tc>
                  <a:txBody>
                    <a:bodyPr wrap="square"/>
                    <a:lstStyle/>
                    <a:p>
                      <a:pPr algn="l"/>
                      <a:r>
                        <a:rPr sz="900" b="0">
                          <a:solidFill>
                            <a:srgbClr val="1C1C1E"/>
                          </a:solidFill>
                          <a:latin typeface="Calibri"/>
                        </a:rPr>
                        <a:t>Session cookie, SameSite=Strict, plus a CSRF token on cookie-authorised mutations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Logic</a:t>
                      </a:r>
                    </a:p>
                  </a:txBody>
                  <a:tcPr marL="82296" marR="64008" marT="32004" marB="32004" anchor="ctr">
                    <a:solidFill>
                      <a:srgbClr val="FFFFFF"/>
                    </a:solidFill>
                  </a:tcPr>
                </a:tc>
                <a:tc>
                  <a:txBody>
                    <a:bodyPr wrap="square"/>
                    <a:lstStyle/>
                    <a:p>
                      <a:pPr algn="l"/>
                      <a:r>
                        <a:rPr sz="900" b="0">
                          <a:solidFill>
                            <a:srgbClr val="1C1C1E"/>
                          </a:solidFill>
                          <a:latin typeface="Calibri"/>
                        </a:rPr>
                        <a:t>The server renders decisions; the page never derives them</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Client</a:t>
                      </a:r>
                    </a:p>
                  </a:txBody>
                  <a:tcPr marL="82296" marR="64008" marT="32004" marB="32004" anchor="ctr">
                    <a:solidFill>
                      <a:srgbClr val="F6F3EF"/>
                    </a:solidFill>
                  </a:tcPr>
                </a:tc>
                <a:tc>
                  <a:txBody>
                    <a:bodyPr wrap="square"/>
                    <a:lstStyle/>
                    <a:p>
                      <a:pPr algn="l"/>
                      <a:r>
                        <a:rPr sz="900" b="0">
                          <a:solidFill>
                            <a:srgbClr val="1C1C1E"/>
                          </a:solidFill>
                          <a:latin typeface="Calibri"/>
                        </a:rPr>
                        <a:t>The Python SDK is hand-written against the same /api/v1. There is no generated client and no openapi.lock.json, so nothing detects spec drift — CI runs the suite, not a contract check</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Documents</a:t>
                      </a:r>
                    </a:p>
                  </a:txBody>
                  <a:tcPr marL="82296" marR="64008" marT="32004" marB="32004" anchor="ctr">
                    <a:solidFill>
                      <a:srgbClr val="FFFFFF"/>
                    </a:solidFill>
                  </a:tcPr>
                </a:tc>
                <a:tc>
                  <a:txBody>
                    <a:bodyPr wrap="square"/>
                    <a:lstStyle/>
                    <a:p>
                      <a:pPr algn="l"/>
                      <a:r>
                        <a:rPr sz="900" b="0">
                          <a:solidFill>
                            <a:srgbClr val="1C1C1E"/>
                          </a:solidFill>
                          <a:latin typeface="Calibri"/>
                        </a:rPr>
                        <a:t>Compiled server-side to markdown and rendered through the help pipeline; PDF and DOCX are not built</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Legibility</a:t>
                      </a:r>
                    </a:p>
                  </a:txBody>
                  <a:tcPr marL="82296" marR="64008" marT="32004" marB="32004" anchor="ctr">
                    <a:solidFill>
                      <a:srgbClr val="F6F3EF"/>
                    </a:solidFill>
                  </a:tcPr>
                </a:tc>
                <a:tc>
                  <a:txBody>
                    <a:bodyPr wrap="square"/>
                    <a:lstStyle/>
                    <a:p>
                      <a:pPr algn="l"/>
                      <a:r>
                        <a:rPr sz="900" b="0">
                          <a:solidFill>
                            <a:srgbClr val="1C1C1E"/>
                          </a:solidFill>
                          <a:latin typeface="Calibri"/>
                        </a:rPr>
                        <a:t>Theme and a five-step text scale, both applied before the first paint. 31 assertions hold WCAG AA contrast in both themes, a focus ring on every focusable kind, and no template pinning a colour or a pixel size</a:t>
                      </a:r>
                    </a:p>
                  </a:txBody>
                  <a:tcPr marL="82296" marR="64008" marT="32004" marB="32004" anchor="ctr">
                    <a:solidFill>
                      <a:srgbClr val="F6F3E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SDK — the compliant path must be the shortest</a:t>
            </a:r>
          </a:p>
        </p:txBody>
      </p:sp>
      <p:sp>
        <p:nvSpPr>
          <p:cNvPr id="13" name="TextBox 12"/>
          <p:cNvSpPr txBox="1"/>
          <p:nvPr/>
        </p:nvSpPr>
        <p:spPr>
          <a:xfrm>
            <a:off x="6414964" y="1737360"/>
            <a:ext cx="4999491" cy="1828800"/>
          </a:xfrm>
          <a:prstGeom prst="rect">
            <a:avLst/>
          </a:prstGeom>
          <a:noFill/>
        </p:spPr>
        <p:txBody>
          <a:bodyPr wrap="square" lIns="0" rIns="0" tIns="0" bIns="0" anchor="t">
            <a:spAutoFit/>
          </a:bodyPr>
          <a:lstStyle/>
          <a:p>
            <a:pPr algn="l"/>
          </a:p>
          <a:p>
            <a:pPr>
              <a:spcBef>
                <a:spcPts val="0"/>
              </a:spcBef>
              <a:spcAft>
                <a:spcPts val="600"/>
              </a:spcAft>
            </a:pPr>
            <a:r>
              <a:rPr sz="1000" b="1">
                <a:solidFill>
                  <a:srgbClr val="A51C30"/>
                </a:solidFill>
                <a:latin typeface="Calibri"/>
              </a:rPr>
              <a:t>▪  </a:t>
            </a:r>
            <a:r>
              <a:rPr sz="1000">
                <a:solidFill>
                  <a:srgbClr val="1C1C1E"/>
                </a:solidFill>
                <a:latin typeface="Calibri"/>
              </a:rPr>
              <a:t>resolve() returns the descriptor; execute() sends the inputs and never hands the caller one to keep</a:t>
            </a:r>
          </a:p>
          <a:p>
            <a:pPr>
              <a:spcBef>
                <a:spcPts val="0"/>
              </a:spcBef>
              <a:spcAft>
                <a:spcPts val="600"/>
              </a:spcAft>
            </a:pPr>
            <a:r>
              <a:rPr sz="1000" b="1">
                <a:solidFill>
                  <a:srgbClr val="A51C30"/>
                </a:solidFill>
                <a:latin typeface="Calibri"/>
              </a:rPr>
              <a:t>▪  </a:t>
            </a:r>
            <a:r>
              <a:rPr sz="1000">
                <a:solidFill>
                  <a:srgbClr val="1C1C1E"/>
                </a:solidFill>
                <a:latin typeface="Calibri"/>
              </a:rPr>
              <a:t>It deliberately does NOT re-validate a warrant — a second check could only disagree with the first, on a stale copy of the vocabulary</a:t>
            </a:r>
          </a:p>
          <a:p>
            <a:pPr>
              <a:spcBef>
                <a:spcPts val="0"/>
              </a:spcBef>
              <a:spcAft>
                <a:spcPts val="600"/>
              </a:spcAft>
            </a:pPr>
            <a:r>
              <a:rPr sz="1000" b="1">
                <a:solidFill>
                  <a:srgbClr val="A51C30"/>
                </a:solidFill>
                <a:latin typeface="Calibri"/>
              </a:rPr>
              <a:t>▪  </a:t>
            </a:r>
            <a:r>
              <a:rPr sz="1000">
                <a:solidFill>
                  <a:srgbClr val="1C1C1E"/>
                </a:solidFill>
                <a:latin typeface="Calibri"/>
              </a:rPr>
              <a:t>Expiry is on the document where a caller can read it, because a client that caches one has turned a revocable authorisation into a permanent one</a:t>
            </a:r>
          </a:p>
          <a:p>
            <a:pPr>
              <a:spcBef>
                <a:spcPts val="0"/>
              </a:spcBef>
              <a:spcAft>
                <a:spcPts val="600"/>
              </a:spcAft>
            </a:pPr>
            <a:r>
              <a:rPr sz="1000" b="1">
                <a:solidFill>
                  <a:srgbClr val="A51C30"/>
                </a:solidFill>
                <a:latin typeface="Calibri"/>
              </a:rPr>
              <a:t>▪  </a:t>
            </a:r>
            <a:r>
              <a:rPr sz="1000">
                <a:solidFill>
                  <a:srgbClr val="1C1C1E"/>
                </a:solidFill>
                <a:latin typeface="Calibri"/>
              </a:rPr>
              <a:t>The boundary check, the local revocation list and the signature check are in the captive engine (core/execution/engine.py), not in this client</a:t>
            </a:r>
          </a:p>
        </p:txBody>
      </p:sp>
      <p:sp>
        <p:nvSpPr>
          <p:cNvPr id="14" name="Rectangle 13"/>
          <p:cNvSpPr/>
          <p:nvPr/>
        </p:nvSpPr>
        <p:spPr>
          <a:xfrm>
            <a:off x="6414964" y="3502152"/>
            <a:ext cx="4999491"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414964" y="3502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652708" y="3630168"/>
            <a:ext cx="4542291" cy="10058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design point. </a:t>
            </a:r>
            <a:r>
              <a:rPr sz="1100" b="0" i="0">
                <a:solidFill>
                  <a:srgbClr val="1C1C1E"/>
                </a:solidFill>
                <a:latin typeface="Calibri"/>
              </a:rPr>
              <a:t>A developer who uses the SDK gets governance for free and cannot forget a step. If the compliant path is slower than the non-compliant one, the inventory rots. Python ships; the Java SDK is a written contract in sdk/java/README.md and no implementation.</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CONSISTENCY AND CONCURRENCY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transaction, one record, and the window between them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97</a:t>
            </a:r>
          </a:p>
        </p:txBody>
      </p:sp>
      <p:sp>
        <p:nvSpPr>
          <p:cNvPr id="10" name="Rectangle 9"/>
          <p:cNvSpPr/>
          <p:nvPr/>
        </p:nvSpPr>
        <p:spPr>
          <a:xfrm>
            <a:off x="777240" y="1764792"/>
            <a:ext cx="5531351"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db/database.py</a:t>
            </a:r>
          </a:p>
        </p:txBody>
      </p:sp>
      <p:sp>
        <p:nvSpPr>
          <p:cNvPr id="13" name="TextBox 12"/>
          <p:cNvSpPr txBox="1"/>
          <p:nvPr/>
        </p:nvSpPr>
        <p:spPr>
          <a:xfrm>
            <a:off x="978408" y="2157984"/>
            <a:ext cx="5165591"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with db.transaction() as tx:      # re-entrant: a nested</a:t>
            </a:r>
          </a:p>
          <a:p>
            <a:pPr>
              <a:lnSpc>
                <a:spcPct val="134000"/>
              </a:lnSpc>
              <a:spcBef>
                <a:spcPts val="0"/>
              </a:spcBef>
              <a:spcAft>
                <a:spcPts val="0"/>
              </a:spcAft>
            </a:pPr>
            <a:r>
              <a:rPr sz="1000" b="0" i="0">
                <a:solidFill>
                  <a:srgbClr val="1C1C1E"/>
                </a:solidFill>
                <a:latin typeface="Consolas"/>
              </a:rPr>
              <a:t>    ...                           # call JOINS this one</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Called in exactly ONE place in core/ --</a:t>
            </a:r>
          </a:p>
          <a:p>
            <a:pPr>
              <a:lnSpc>
                <a:spcPct val="134000"/>
              </a:lnSpc>
              <a:spcBef>
                <a:spcPts val="0"/>
              </a:spcBef>
              <a:spcAft>
                <a:spcPts val="0"/>
              </a:spcAft>
            </a:pPr>
            <a:r>
              <a:rPr sz="1000" b="0" i="0">
                <a:solidFill>
                  <a:srgbClr val="7A7F87"/>
                </a:solidFill>
                <a:latin typeface="Consolas"/>
              </a:rPr>
              <a:t># EvidenceEngine.append -- and in no service</a:t>
            </a:r>
          </a:p>
          <a:p>
            <a:pPr>
              <a:lnSpc>
                <a:spcPct val="134000"/>
              </a:lnSpc>
              <a:spcBef>
                <a:spcPts val="0"/>
              </a:spcBef>
              <a:spcAft>
                <a:spcPts val="0"/>
              </a:spcAft>
            </a:pPr>
            <a:r>
              <a:rPr sz="1000" b="0" i="0">
                <a:solidFill>
                  <a:srgbClr val="7A7F87"/>
                </a:solidFill>
                <a:latin typeface="Consolas"/>
              </a:rPr>
              <a:t># and no route.</a:t>
            </a:r>
          </a:p>
        </p:txBody>
      </p:sp>
      <p:sp>
        <p:nvSpPr>
          <p:cNvPr id="14" name="TextBox 13"/>
          <p:cNvSpPr txBox="1"/>
          <p:nvPr/>
        </p:nvSpPr>
        <p:spPr>
          <a:xfrm>
            <a:off x="777240" y="3856024"/>
            <a:ext cx="5531351" cy="2377440"/>
          </a:xfrm>
          <a:prstGeom prst="rect">
            <a:avLst/>
          </a:prstGeom>
          <a:noFill/>
        </p:spPr>
        <p:txBody>
          <a:bodyPr wrap="square" lIns="0" rIns="0" tIns="0" bIns="0" anchor="t">
            <a:spAutoFit/>
          </a:bodyPr>
          <a:lstStyle/>
          <a:p>
            <a:pPr algn="l">
              <a:lnSpc>
                <a:spcPct val="124000"/>
              </a:lnSpc>
              <a:spcBef>
                <a:spcPts val="0"/>
              </a:spcBef>
              <a:spcAft>
                <a:spcPts val="900"/>
              </a:spcAft>
            </a:pPr>
            <a:r>
              <a:rPr sz="1050" b="1" i="0">
                <a:solidFill>
                  <a:srgbClr val="A51C30"/>
                </a:solidFill>
                <a:latin typeface="Calibri"/>
              </a:rPr>
              <a:t>That is the honest state of DR-4. </a:t>
            </a:r>
            <a:r>
              <a:rPr sz="1050" b="0" i="0">
                <a:solidFill>
                  <a:srgbClr val="1C1C1E"/>
                </a:solidFill>
                <a:latin typeface="Calibri"/>
              </a:rPr>
              <a:t>Every governance act is two commits: the state change, then the evidence node. The window between them is small and it is not zero, and what falls into it is a model that exists with no record of its registration — which matters more than a missing row, because segregation of duties is decided by reading the chain. The mechanism to close it exists and is re-entrant by construction; nothing uses it.</a:t>
            </a:r>
          </a:p>
          <a:p>
            <a:pPr>
              <a:lnSpc>
                <a:spcPct val="124000"/>
              </a:lnSpc>
              <a:spcBef>
                <a:spcPts val="0"/>
              </a:spcBef>
              <a:spcAft>
                <a:spcPts val="600"/>
              </a:spcAft>
            </a:pPr>
            <a:r>
              <a:rPr sz="1050" b="1" i="0">
                <a:solidFill>
                  <a:srgbClr val="A51C30"/>
                </a:solidFill>
                <a:latin typeface="Calibri"/>
              </a:rPr>
              <a:t>No outbox, no broker, no migrations. </a:t>
            </a:r>
            <a:r>
              <a:rPr sz="1050" b="0" i="0">
                <a:solidFill>
                  <a:srgbClr val="1C1C1E"/>
                </a:solidFill>
                <a:latin typeface="Calibri"/>
              </a:rPr>
              <a:t>No domain event leaves the process; consumers integrate by polling the API. Schema evolution is expand-and-contract from one typed schema, 51 tables, one database and one flat evidence chain — there is no separate audit database, for the reason chapter 7 gives.</a:t>
            </a:r>
          </a:p>
        </p:txBody>
      </p:sp>
      <p:sp>
        <p:nvSpPr>
          <p:cNvPr id="15" name="TextBox 14"/>
          <p:cNvSpPr txBox="1"/>
          <p:nvPr/>
        </p:nvSpPr>
        <p:spPr>
          <a:xfrm>
            <a:off x="6734080" y="1764792"/>
            <a:ext cx="4680374"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What actually holds when two things happen at once</a:t>
            </a:r>
          </a:p>
        </p:txBody>
      </p:sp>
      <p:graphicFrame>
        <p:nvGraphicFramePr>
          <p:cNvPr id="16" name="Table 15"/>
          <p:cNvGraphicFramePr>
            <a:graphicFrameLocks noGrp="1"/>
          </p:cNvGraphicFramePr>
          <p:nvPr/>
        </p:nvGraphicFramePr>
        <p:xfrm>
          <a:off x="6734080" y="2093976"/>
          <a:ext cx="4680374" cy="2945430"/>
        </p:xfrm>
        <a:graphic>
          <a:graphicData uri="http://schemas.openxmlformats.org/drawingml/2006/table">
            <a:tbl>
              <a:tblPr firstRow="1">
                <a:tableStyleId>{5C22544A-7EE6-4342-B048-85BDC9FD1C3A}</a:tableStyleId>
              </a:tblPr>
              <a:tblGrid>
                <a:gridCol w="1533226"/>
                <a:gridCol w="3147148"/>
              </a:tblGrid>
              <a:tr h="329184">
                <a:tc>
                  <a:txBody>
                    <a:bodyPr wrap="square"/>
                    <a:lstStyle/>
                    <a:p>
                      <a:pPr algn="l"/>
                      <a:r>
                        <a:rPr sz="900" b="1">
                          <a:solidFill>
                            <a:srgbClr val="FFFFFF"/>
                          </a:solidFill>
                          <a:latin typeface="Calibri"/>
                        </a:rPr>
                        <a:t>Hazard</a:t>
                      </a:r>
                    </a:p>
                  </a:txBody>
                  <a:tcPr marL="82296" marR="64008" marT="32004" marB="32004" anchor="ctr">
                    <a:solidFill>
                      <a:srgbClr val="A51C30"/>
                    </a:solidFill>
                  </a:tcPr>
                </a:tc>
                <a:tc>
                  <a:txBody>
                    <a:bodyPr wrap="square"/>
                    <a:lstStyle/>
                    <a:p>
                      <a:pPr algn="l"/>
                      <a:r>
                        <a:rPr sz="900" b="1">
                          <a:solidFill>
                            <a:srgbClr val="FFFFFF"/>
                          </a:solidFill>
                          <a:latin typeface="Calibri"/>
                        </a:rPr>
                        <a:t>What holds</a:t>
                      </a:r>
                    </a:p>
                  </a:txBody>
                  <a:tcPr marL="82296" marR="64008" marT="32004" marB="32004" anchor="ctr">
                    <a:solidFill>
                      <a:srgbClr val="A51C30"/>
                    </a:solidFill>
                  </a:tcPr>
                </a:tc>
              </a:tr>
              <a:tr h="580910">
                <a:tc>
                  <a:txBody>
                    <a:bodyPr wrap="square"/>
                    <a:lstStyle/>
                    <a:p>
                      <a:pPr algn="l"/>
                      <a:r>
                        <a:rPr sz="850" b="1">
                          <a:solidFill>
                            <a:srgbClr val="A51C30"/>
                          </a:solidFill>
                          <a:latin typeface="Calibri"/>
                        </a:rPr>
                        <a:t>Two governance acts appending evidence</a:t>
                      </a:r>
                    </a:p>
                  </a:txBody>
                  <a:tcPr marL="82296" marR="64008" marT="32004" marB="32004" anchor="ctr">
                    <a:solidFill>
                      <a:srgbClr val="FFFFFF"/>
                    </a:solidFill>
                  </a:tcPr>
                </a:tc>
                <a:tc>
                  <a:txBody>
                    <a:bodyPr wrap="square"/>
                    <a:lstStyle/>
                    <a:p>
                      <a:pPr algn="l"/>
                      <a:r>
                        <a:rPr sz="850" b="0">
                          <a:solidFill>
                            <a:srgbClr val="1C1C1E"/>
                          </a:solidFill>
                          <a:latin typeface="Calibri"/>
                        </a:rPr>
                        <a:t>Read-then-write, now inside a transaction and retried with JITTERED backoff. Measured before the fix at four threads: 7% of appends raised</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Two versions with the same semver</a:t>
                      </a:r>
                    </a:p>
                  </a:txBody>
                  <a:tcPr marL="82296" marR="64008" marT="32004" marB="32004" anchor="ctr">
                    <a:solidFill>
                      <a:srgbClr val="F6F3EF"/>
                    </a:solidFill>
                  </a:tcPr>
                </a:tc>
                <a:tc>
                  <a:txBody>
                    <a:bodyPr wrap="square"/>
                    <a:lstStyle/>
                    <a:p>
                      <a:pPr algn="l"/>
                      <a:r>
                        <a:rPr sz="850" b="0">
                          <a:solidFill>
                            <a:srgbClr val="1C1C1E"/>
                          </a:solidFill>
                          <a:latin typeface="Calibri"/>
                        </a:rPr>
                        <a:t>UNIQUE (model_id, semver), refused above it so the message is a sentence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The same artifact twice</a:t>
                      </a:r>
                    </a:p>
                  </a:txBody>
                  <a:tcPr marL="82296" marR="64008" marT="32004" marB="32004" anchor="ctr">
                    <a:solidFill>
                      <a:srgbClr val="FFFFFF"/>
                    </a:solidFill>
                  </a:tcPr>
                </a:tc>
                <a:tc>
                  <a:txBody>
                    <a:bodyPr wrap="square"/>
                    <a:lstStyle/>
                    <a:p>
                      <a:pPr algn="l"/>
                      <a:r>
                        <a:rPr sz="850" b="0">
                          <a:solidFill>
                            <a:srgbClr val="1C1C1E"/>
                          </a:solidFill>
                          <a:latin typeface="Calibri"/>
                        </a:rPr>
                        <a:t>Content addressing — the same bytes are the same name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A telemetry batch twice</a:t>
                      </a:r>
                    </a:p>
                  </a:txBody>
                  <a:tcPr marL="82296" marR="64008" marT="32004" marB="32004" anchor="ctr">
                    <a:solidFill>
                      <a:srgbClr val="F6F3EF"/>
                    </a:solidFill>
                  </a:tcPr>
                </a:tc>
                <a:tc>
                  <a:txBody>
                    <a:bodyPr wrap="square"/>
                    <a:lstStyle/>
                    <a:p>
                      <a:pPr algn="l"/>
                      <a:r>
                        <a:rPr sz="850" b="0">
                          <a:solidFill>
                            <a:srgbClr val="1C1C1E"/>
                          </a:solidFill>
                          <a:latin typeface="Calibri"/>
                        </a:rPr>
                        <a:t>UNIQUE over the digest of the batch's own rows</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A scheduler job twice</a:t>
                      </a:r>
                    </a:p>
                  </a:txBody>
                  <a:tcPr marL="82296" marR="64008" marT="32004" marB="32004" anchor="ctr">
                    <a:solidFill>
                      <a:srgbClr val="FFFFFF"/>
                    </a:solidFill>
                  </a:tcPr>
                </a:tc>
                <a:tc>
                  <a:txBody>
                    <a:bodyPr wrap="square"/>
                    <a:lstStyle/>
                    <a:p>
                      <a:pPr algn="l"/>
                      <a:r>
                        <a:rPr sz="850" b="0">
                          <a:solidFill>
                            <a:srgbClr val="1C1C1E"/>
                          </a:solidFill>
                          <a:latin typeface="Calibri"/>
                        </a:rPr>
                        <a:t>Each job re-derives its condition; two replicas raise one finding</a:t>
                      </a:r>
                    </a:p>
                  </a:txBody>
                  <a:tcPr marL="82296" marR="64008" marT="32004" marB="32004" anchor="ctr">
                    <a:solidFill>
                      <a:srgbClr val="FFFFFF"/>
                    </a:solidFill>
                  </a:tcPr>
                </a:tc>
              </a:tr>
              <a:tr h="580910">
                <a:tc>
                  <a:txBody>
                    <a:bodyPr wrap="square"/>
                    <a:lstStyle/>
                    <a:p>
                      <a:pPr algn="l"/>
                      <a:r>
                        <a:rPr sz="850" b="1">
                          <a:solidFill>
                            <a:srgbClr val="A51C30"/>
                          </a:solidFill>
                          <a:latin typeface="Calibri"/>
                        </a:rPr>
                        <a:t>A notification twice</a:t>
                      </a:r>
                    </a:p>
                  </a:txBody>
                  <a:tcPr marL="82296" marR="64008" marT="32004" marB="32004" anchor="ctr">
                    <a:solidFill>
                      <a:srgbClr val="F6F3EF"/>
                    </a:solidFill>
                  </a:tcPr>
                </a:tc>
                <a:tc>
                  <a:txBody>
                    <a:bodyPr wrap="square"/>
                    <a:lstStyle/>
                    <a:p>
                      <a:pPr algn="l"/>
                      <a:r>
                        <a:rPr sz="850" b="0">
                          <a:solidFill>
                            <a:srgbClr val="1C1C1E"/>
                          </a:solidFill>
                          <a:latin typeface="Calibri"/>
                        </a:rPr>
                        <a:t>Digest of the work described, suppressed if unchanged — and delivery is NOT transactional, which is the one genuine gap</a:t>
                      </a:r>
                    </a:p>
                  </a:txBody>
                  <a:tcPr marL="82296" marR="64008" marT="32004" marB="32004" anchor="ctr">
                    <a:solidFill>
                      <a:srgbClr val="F6F3EF"/>
                    </a:solidFill>
                  </a:tcPr>
                </a:tc>
              </a:tr>
            </a:tbl>
          </a:graphicData>
        </a:graphic>
      </p:graphicFrame>
      <p:sp>
        <p:nvSpPr>
          <p:cNvPr id="17" name="TextBox 16"/>
          <p:cNvSpPr txBox="1"/>
          <p:nvPr/>
        </p:nvSpPr>
        <p:spPr>
          <a:xfrm>
            <a:off x="6734080" y="5185714"/>
            <a:ext cx="4680374" cy="45720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Absent: </a:t>
            </a:r>
            <a:r>
              <a:rPr sz="950" b="0" i="0">
                <a:solidFill>
                  <a:srgbClr val="1C1C1E"/>
                </a:solidFill>
                <a:latin typeface="Calibri"/>
              </a:rPr>
              <a:t>Idempotency-Key, a replay window, an advisory lock, an optimistic-concurrency header, and any cache to invalidate. With one process each is cheap to add and none is there.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NEVER A BARE 500</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312 refusal codes, 14 statuses, one table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98</a:t>
            </a:r>
          </a:p>
        </p:txBody>
      </p:sp>
      <p:graphicFrame>
        <p:nvGraphicFramePr>
          <p:cNvPr id="10" name="Table 9"/>
          <p:cNvGraphicFramePr>
            <a:graphicFrameLocks noGrp="1"/>
          </p:cNvGraphicFramePr>
          <p:nvPr/>
        </p:nvGraphicFramePr>
        <p:xfrm>
          <a:off x="777240" y="1353312"/>
          <a:ext cx="10637214" cy="4027776"/>
        </p:xfrm>
        <a:graphic>
          <a:graphicData uri="http://schemas.openxmlformats.org/drawingml/2006/table">
            <a:tbl>
              <a:tblPr firstRow="1">
                <a:tableStyleId>{5C22544A-7EE6-4342-B048-85BDC9FD1C3A}</a:tableStyleId>
              </a:tblPr>
              <a:tblGrid>
                <a:gridCol w="2200803"/>
                <a:gridCol w="825301"/>
                <a:gridCol w="4493306"/>
                <a:gridCol w="3117804"/>
              </a:tblGrid>
              <a:tr h="329184">
                <a:tc>
                  <a:txBody>
                    <a:bodyPr wrap="square"/>
                    <a:lstStyle/>
                    <a:p>
                      <a:pPr algn="l"/>
                      <a:r>
                        <a:rPr sz="1000" b="1">
                          <a:solidFill>
                            <a:srgbClr val="FFFFFF"/>
                          </a:solidFill>
                          <a:latin typeface="Calibri"/>
                        </a:rPr>
                        <a:t>Code</a:t>
                      </a:r>
                    </a:p>
                  </a:txBody>
                  <a:tcPr marL="82296" marR="64008" marT="32004" marB="32004" anchor="ctr">
                    <a:solidFill>
                      <a:srgbClr val="A51C30"/>
                    </a:solidFill>
                  </a:tcPr>
                </a:tc>
                <a:tc>
                  <a:txBody>
                    <a:bodyPr wrap="square"/>
                    <a:lstStyle/>
                    <a:p>
                      <a:pPr algn="l"/>
                      <a:r>
                        <a:rPr sz="1000" b="1">
                          <a:solidFill>
                            <a:srgbClr val="FFFFFF"/>
                          </a:solidFill>
                          <a:latin typeface="Calibri"/>
                        </a:rPr>
                        <a:t>HTTP</a:t>
                      </a:r>
                    </a:p>
                  </a:txBody>
                  <a:tcPr marL="82296" marR="64008" marT="32004" marB="32004" anchor="ctr">
                    <a:solidFill>
                      <a:srgbClr val="A51C30"/>
                    </a:solidFill>
                  </a:tcPr>
                </a:tc>
                <a:tc>
                  <a:txBody>
                    <a:bodyPr wrap="square"/>
                    <a:lstStyle/>
                    <a:p>
                      <a:pPr algn="l"/>
                      <a:r>
                        <a:rPr sz="1000" b="1">
                          <a:solidFill>
                            <a:srgbClr val="FFFFFF"/>
                          </a:solidFill>
                          <a:latin typeface="Calibri"/>
                        </a:rPr>
                        <a:t>Meaning</a:t>
                      </a:r>
                    </a:p>
                  </a:txBody>
                  <a:tcPr marL="82296" marR="64008" marT="32004" marB="32004" anchor="ctr">
                    <a:solidFill>
                      <a:srgbClr val="A51C30"/>
                    </a:solidFill>
                  </a:tcPr>
                </a:tc>
                <a:tc>
                  <a:txBody>
                    <a:bodyPr wrap="square"/>
                    <a:lstStyle/>
                    <a:p>
                      <a:pPr algn="l"/>
                      <a:r>
                        <a:rPr sz="1000" b="1">
                          <a:solidFill>
                            <a:srgbClr val="FFFFFF"/>
                          </a:solidFill>
                          <a:latin typeface="Calibri"/>
                        </a:rPr>
                        <a:t>Client action</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validation_failed</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Payload or manifest invalid</a:t>
                      </a:r>
                    </a:p>
                  </a:txBody>
                  <a:tcPr marL="82296" marR="64008" marT="32004" marB="32004" anchor="ctr">
                    <a:solidFill>
                      <a:srgbClr val="FFFFFF"/>
                    </a:solidFill>
                  </a:tcPr>
                </a:tc>
                <a:tc>
                  <a:txBody>
                    <a:bodyPr wrap="square"/>
                    <a:lstStyle/>
                    <a:p>
                      <a:pPr algn="l"/>
                      <a:r>
                        <a:rPr sz="950" b="0">
                          <a:solidFill>
                            <a:srgbClr val="1C1C1E"/>
                          </a:solidFill>
                          <a:latin typeface="Calibri"/>
                        </a:rPr>
                        <a:t>Fix and retry</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grammar_violation</a:t>
                      </a:r>
                    </a:p>
                  </a:txBody>
                  <a:tcPr marL="82296" marR="64008" marT="32004" marB="32004" anchor="ctr">
                    <a:solidFill>
                      <a:srgbClr val="F6F3EF"/>
                    </a:solidFill>
                  </a:tcPr>
                </a:tc>
                <a:tc>
                  <a:txBody>
                    <a:bodyPr wrap="square"/>
                    <a:lstStyle/>
                    <a:p>
                      <a:pPr algn="l"/>
                      <a:r>
                        <a:rPr sz="950" b="0">
                          <a:solidFill>
                            <a:srgbClr val="1C1C1E"/>
                          </a:solidFill>
                          <a:latin typeface="Calibri"/>
                        </a:rPr>
                        <a:t>422</a:t>
                      </a:r>
                    </a:p>
                  </a:txBody>
                  <a:tcPr marL="82296" marR="64008" marT="32004" marB="32004" anchor="ctr">
                    <a:solidFill>
                      <a:srgbClr val="F6F3EF"/>
                    </a:solidFill>
                  </a:tcPr>
                </a:tc>
                <a:tc>
                  <a:txBody>
                    <a:bodyPr wrap="square"/>
                    <a:lstStyle/>
                    <a:p>
                      <a:pPr algn="l"/>
                      <a:r>
                        <a:rPr sz="950" b="0">
                          <a:solidFill>
                            <a:srgbClr val="1C1C1E"/>
                          </a:solidFill>
                          <a:latin typeface="Calibri"/>
                        </a:rPr>
                        <a:t>The warrant document breaks one of L-W0…L-W13</a:t>
                      </a:r>
                    </a:p>
                  </a:txBody>
                  <a:tcPr marL="82296" marR="64008" marT="32004" marB="32004" anchor="ctr">
                    <a:solidFill>
                      <a:srgbClr val="F6F3EF"/>
                    </a:solidFill>
                  </a:tcPr>
                </a:tc>
                <a:tc>
                  <a:txBody>
                    <a:bodyPr wrap="square"/>
                    <a:lstStyle/>
                    <a:p>
                      <a:pPr algn="l"/>
                      <a:r>
                        <a:rPr sz="950" b="0">
                          <a:solidFill>
                            <a:srgbClr val="1C1C1E"/>
                          </a:solidFill>
                          <a:latin typeface="Calibri"/>
                        </a:rPr>
                        <a:t>Read the named law and the field</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boundary_violation</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Inputs outside the declared operating boundary</a:t>
                      </a:r>
                    </a:p>
                  </a:txBody>
                  <a:tcPr marL="82296" marR="64008" marT="32004" marB="32004" anchor="ctr">
                    <a:solidFill>
                      <a:srgbClr val="FFFFFF"/>
                    </a:solidFill>
                  </a:tcPr>
                </a:tc>
                <a:tc>
                  <a:txBody>
                    <a:bodyPr wrap="square"/>
                    <a:lstStyle/>
                    <a:p>
                      <a:pPr algn="l"/>
                      <a:r>
                        <a:rPr sz="950" b="0">
                          <a:solidFill>
                            <a:srgbClr val="1C1C1E"/>
                          </a:solidFill>
                          <a:latin typeface="Calibri"/>
                        </a:rPr>
                        <a:t>Refer, or widen the assumption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illegal_transition</a:t>
                      </a:r>
                    </a:p>
                  </a:txBody>
                  <a:tcPr marL="82296" marR="64008" marT="32004" marB="32004" anchor="ctr">
                    <a:solidFill>
                      <a:srgbClr val="F6F3EF"/>
                    </a:solidFill>
                  </a:tcPr>
                </a:tc>
                <a:tc>
                  <a:txBody>
                    <a:bodyPr wrap="square"/>
                    <a:lstStyle/>
                    <a:p>
                      <a:pPr algn="l"/>
                      <a:r>
                        <a:rPr sz="950" b="0">
                          <a:solidFill>
                            <a:srgbClr val="1C1C1E"/>
                          </a:solidFill>
                          <a:latin typeface="Calibri"/>
                        </a:rPr>
                        <a:t>409</a:t>
                      </a:r>
                    </a:p>
                  </a:txBody>
                  <a:tcPr marL="82296" marR="64008" marT="32004" marB="32004" anchor="ctr">
                    <a:solidFill>
                      <a:srgbClr val="F6F3EF"/>
                    </a:solidFill>
                  </a:tcPr>
                </a:tc>
                <a:tc>
                  <a:txBody>
                    <a:bodyPr wrap="square"/>
                    <a:lstStyle/>
                    <a:p>
                      <a:pPr algn="l"/>
                      <a:r>
                        <a:rPr sz="950" b="0">
                          <a:solidFill>
                            <a:srgbClr val="1C1C1E"/>
                          </a:solidFill>
                          <a:latin typeface="Calibri"/>
                        </a:rPr>
                        <a:t>The lifecycle does not admit this move</a:t>
                      </a:r>
                    </a:p>
                  </a:txBody>
                  <a:tcPr marL="82296" marR="64008" marT="32004" marB="32004" anchor="ctr">
                    <a:solidFill>
                      <a:srgbClr val="F6F3EF"/>
                    </a:solidFill>
                  </a:tcPr>
                </a:tc>
                <a:tc>
                  <a:txBody>
                    <a:bodyPr wrap="square"/>
                    <a:lstStyle/>
                    <a:p>
                      <a:pPr algn="l"/>
                      <a:r>
                        <a:rPr sz="950" b="0">
                          <a:solidFill>
                            <a:srgbClr val="1C1C1E"/>
                          </a:solidFill>
                          <a:latin typeface="Calibri"/>
                        </a:rPr>
                        <a:t>Follow the remediation</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rule_unreachable</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A rule an earlier rule already covers</a:t>
                      </a:r>
                    </a:p>
                  </a:txBody>
                  <a:tcPr marL="82296" marR="64008" marT="32004" marB="32004" anchor="ctr">
                    <a:solidFill>
                      <a:srgbClr val="FFFFFF"/>
                    </a:solidFill>
                  </a:tcPr>
                </a:tc>
                <a:tc>
                  <a:txBody>
                    <a:bodyPr wrap="square"/>
                    <a:lstStyle/>
                    <a:p>
                      <a:pPr algn="l"/>
                      <a:r>
                        <a:rPr sz="950" b="0">
                          <a:solidFill>
                            <a:srgbClr val="1C1C1E"/>
                          </a:solidFill>
                          <a:latin typeface="Calibri"/>
                        </a:rPr>
                        <a:t>Reorder or delete the shadowed rule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anchor_disagreement</a:t>
                      </a:r>
                    </a:p>
                  </a:txBody>
                  <a:tcPr marL="82296" marR="64008" marT="32004" marB="32004" anchor="ctr">
                    <a:solidFill>
                      <a:srgbClr val="F6F3EF"/>
                    </a:solidFill>
                  </a:tcPr>
                </a:tc>
                <a:tc>
                  <a:txBody>
                    <a:bodyPr wrap="square"/>
                    <a:lstStyle/>
                    <a:p>
                      <a:pPr algn="l"/>
                      <a:r>
                        <a:rPr sz="950" b="0">
                          <a:solidFill>
                            <a:srgbClr val="1C1C1E"/>
                          </a:solidFill>
                          <a:latin typeface="Calibri"/>
                        </a:rPr>
                        <a:t>409</a:t>
                      </a:r>
                    </a:p>
                  </a:txBody>
                  <a:tcPr marL="82296" marR="64008" marT="32004" marB="32004" anchor="ctr">
                    <a:solidFill>
                      <a:srgbClr val="F6F3EF"/>
                    </a:solidFill>
                  </a:tcPr>
                </a:tc>
                <a:tc>
                  <a:txBody>
                    <a:bodyPr wrap="square"/>
                    <a:lstStyle/>
                    <a:p>
                      <a:pPr algn="l"/>
                      <a:r>
                        <a:rPr sz="950" b="0">
                          <a:solidFill>
                            <a:srgbClr val="1C1C1E"/>
                          </a:solidFill>
                          <a:latin typeface="Calibri"/>
                        </a:rPr>
                        <a:t>The chain and the heads written outside it no longer agree</a:t>
                      </a:r>
                    </a:p>
                  </a:txBody>
                  <a:tcPr marL="82296" marR="64008" marT="32004" marB="32004" anchor="ctr">
                    <a:solidFill>
                      <a:srgbClr val="F6F3EF"/>
                    </a:solidFill>
                  </a:tcPr>
                </a:tc>
                <a:tc>
                  <a:txBody>
                    <a:bodyPr wrap="square"/>
                    <a:lstStyle/>
                    <a:p>
                      <a:pPr algn="l"/>
                      <a:r>
                        <a:rPr sz="950" b="0">
                          <a:solidFill>
                            <a:srgbClr val="1C1C1E"/>
                          </a:solidFill>
                          <a:latin typeface="Calibri"/>
                        </a:rPr>
                        <a:t>Stop — a security event, not a bad request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no_entitlement</a:t>
                      </a:r>
                    </a:p>
                  </a:txBody>
                  <a:tcPr marL="82296" marR="64008" marT="32004" marB="32004" anchor="ctr">
                    <a:solidFill>
                      <a:srgbClr val="FFFFFF"/>
                    </a:solidFill>
                  </a:tcPr>
                </a:tc>
                <a:tc>
                  <a:txBody>
                    <a:bodyPr wrap="square"/>
                    <a:lstStyle/>
                    <a:p>
                      <a:pPr algn="l"/>
                      <a:r>
                        <a:rPr sz="950" b="0">
                          <a:solidFill>
                            <a:srgbClr val="1C1C1E"/>
                          </a:solidFill>
                          <a:latin typeface="Calibri"/>
                        </a:rPr>
                        <a:t>403</a:t>
                      </a:r>
                    </a:p>
                  </a:txBody>
                  <a:tcPr marL="82296" marR="64008" marT="32004" marB="32004" anchor="ctr">
                    <a:solidFill>
                      <a:srgbClr val="FFFFFF"/>
                    </a:solidFill>
                  </a:tcPr>
                </a:tc>
                <a:tc>
                  <a:txBody>
                    <a:bodyPr wrap="square"/>
                    <a:lstStyle/>
                    <a:p>
                      <a:pPr algn="l"/>
                      <a:r>
                        <a:rPr sz="950" b="0">
                          <a:solidFill>
                            <a:srgbClr val="1C1C1E"/>
                          </a:solidFill>
                          <a:latin typeface="Calibri"/>
                        </a:rPr>
                        <a:t>No grant for this principal and use</a:t>
                      </a:r>
                    </a:p>
                  </a:txBody>
                  <a:tcPr marL="82296" marR="64008" marT="32004" marB="32004" anchor="ctr">
                    <a:solidFill>
                      <a:srgbClr val="FFFFFF"/>
                    </a:solidFill>
                  </a:tcPr>
                </a:tc>
                <a:tc>
                  <a:txBody>
                    <a:bodyPr wrap="square"/>
                    <a:lstStyle/>
                    <a:p>
                      <a:pPr algn="l"/>
                      <a:r>
                        <a:rPr sz="950" b="0">
                          <a:solidFill>
                            <a:srgbClr val="1C1C1E"/>
                          </a:solidFill>
                          <a:latin typeface="Calibri"/>
                        </a:rPr>
                        <a:t>Request a grant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segregation_of_duties</a:t>
                      </a:r>
                    </a:p>
                  </a:txBody>
                  <a:tcPr marL="82296" marR="64008" marT="32004" marB="32004" anchor="ctr">
                    <a:solidFill>
                      <a:srgbClr val="F6F3EF"/>
                    </a:solidFill>
                  </a:tcPr>
                </a:tc>
                <a:tc>
                  <a:txBody>
                    <a:bodyPr wrap="square"/>
                    <a:lstStyle/>
                    <a:p>
                      <a:pPr algn="l"/>
                      <a:r>
                        <a:rPr sz="950" b="0">
                          <a:solidFill>
                            <a:srgbClr val="1C1C1E"/>
                          </a:solidFill>
                          <a:latin typeface="Calibri"/>
                        </a:rPr>
                        <a:t>403</a:t>
                      </a:r>
                    </a:p>
                  </a:txBody>
                  <a:tcPr marL="82296" marR="64008" marT="32004" marB="32004" anchor="ctr">
                    <a:solidFill>
                      <a:srgbClr val="F6F3EF"/>
                    </a:solidFill>
                  </a:tcPr>
                </a:tc>
                <a:tc>
                  <a:txBody>
                    <a:bodyPr wrap="square"/>
                    <a:lstStyle/>
                    <a:p>
                      <a:pPr algn="l"/>
                      <a:r>
                        <a:rPr sz="950" b="0">
                          <a:solidFill>
                            <a:srgbClr val="1C1C1E"/>
                          </a:solidFill>
                          <a:latin typeface="Calibri"/>
                        </a:rPr>
                        <a:t>You may not act twice on the same object</a:t>
                      </a:r>
                    </a:p>
                  </a:txBody>
                  <a:tcPr marL="82296" marR="64008" marT="32004" marB="32004" anchor="ctr">
                    <a:solidFill>
                      <a:srgbClr val="F6F3EF"/>
                    </a:solidFill>
                  </a:tcPr>
                </a:tc>
                <a:tc>
                  <a:txBody>
                    <a:bodyPr wrap="square"/>
                    <a:lstStyle/>
                    <a:p>
                      <a:pPr algn="l"/>
                      <a:r>
                        <a:rPr sz="950" b="0">
                          <a:solidFill>
                            <a:srgbClr val="1C1C1E"/>
                          </a:solidFill>
                          <a:latin typeface="Calibri"/>
                        </a:rPr>
                        <a:t>Somebody else acts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restricted</a:t>
                      </a:r>
                    </a:p>
                  </a:txBody>
                  <a:tcPr marL="82296" marR="64008" marT="32004" marB="32004" anchor="ctr">
                    <a:solidFill>
                      <a:srgbClr val="FFFFFF"/>
                    </a:solidFill>
                  </a:tcPr>
                </a:tc>
                <a:tc>
                  <a:txBody>
                    <a:bodyPr wrap="square"/>
                    <a:lstStyle/>
                    <a:p>
                      <a:pPr algn="l"/>
                      <a:r>
                        <a:rPr sz="950" b="0">
                          <a:solidFill>
                            <a:srgbClr val="1C1C1E"/>
                          </a:solidFill>
                          <a:latin typeface="Calibri"/>
                        </a:rPr>
                        <a:t>423</a:t>
                      </a:r>
                    </a:p>
                  </a:txBody>
                  <a:tcPr marL="82296" marR="64008" marT="32004" marB="32004" anchor="ctr">
                    <a:solidFill>
                      <a:srgbClr val="FFFFFF"/>
                    </a:solidFill>
                  </a:tcPr>
                </a:tc>
                <a:tc>
                  <a:txBody>
                    <a:bodyPr wrap="square"/>
                    <a:lstStyle/>
                    <a:p>
                      <a:pPr algn="l"/>
                      <a:r>
                        <a:rPr sz="950" b="0">
                          <a:solidFill>
                            <a:srgbClr val="1C1C1E"/>
                          </a:solidFill>
                          <a:latin typeface="Calibri"/>
                        </a:rPr>
                        <a:t>A blocking finding or a suspension</a:t>
                      </a:r>
                    </a:p>
                  </a:txBody>
                  <a:tcPr marL="82296" marR="64008" marT="32004" marB="32004" anchor="ctr">
                    <a:solidFill>
                      <a:srgbClr val="FFFFFF"/>
                    </a:solidFill>
                  </a:tcPr>
                </a:tc>
                <a:tc>
                  <a:txBody>
                    <a:bodyPr wrap="square"/>
                    <a:lstStyle/>
                    <a:p>
                      <a:pPr algn="l"/>
                      <a:r>
                        <a:rPr sz="950" b="0">
                          <a:solidFill>
                            <a:srgbClr val="1C1C1E"/>
                          </a:solidFill>
                          <a:latin typeface="Calibri"/>
                        </a:rPr>
                        <a:t>Remediate, or break-glass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revoked</a:t>
                      </a:r>
                    </a:p>
                  </a:txBody>
                  <a:tcPr marL="82296" marR="64008" marT="32004" marB="32004" anchor="ctr">
                    <a:solidFill>
                      <a:srgbClr val="F6F3EF"/>
                    </a:solidFill>
                  </a:tcPr>
                </a:tc>
                <a:tc>
                  <a:txBody>
                    <a:bodyPr wrap="square"/>
                    <a:lstStyle/>
                    <a:p>
                      <a:pPr algn="l"/>
                      <a:r>
                        <a:rPr sz="950" b="0">
                          <a:solidFill>
                            <a:srgbClr val="1C1C1E"/>
                          </a:solidFill>
                          <a:latin typeface="Calibri"/>
                        </a:rPr>
                        <a:t>410</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is revoked</a:t>
                      </a:r>
                    </a:p>
                  </a:txBody>
                  <a:tcPr marL="82296" marR="64008" marT="32004" marB="32004" anchor="ctr">
                    <a:solidFill>
                      <a:srgbClr val="F6F3EF"/>
                    </a:solidFill>
                  </a:tcPr>
                </a:tc>
                <a:tc>
                  <a:txBody>
                    <a:bodyPr wrap="square"/>
                    <a:lstStyle/>
                    <a:p>
                      <a:pPr algn="l"/>
                      <a:r>
                        <a:rPr sz="950" b="0">
                          <a:solidFill>
                            <a:srgbClr val="1C1C1E"/>
                          </a:solidFill>
                          <a:latin typeface="Calibri"/>
                        </a:rPr>
                        <a:t>Stop — do not retry</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provider_unavailable</a:t>
                      </a:r>
                    </a:p>
                  </a:txBody>
                  <a:tcPr marL="82296" marR="64008" marT="32004" marB="32004" anchor="ctr">
                    <a:solidFill>
                      <a:srgbClr val="FFFFFF"/>
                    </a:solidFill>
                  </a:tcPr>
                </a:tc>
                <a:tc>
                  <a:txBody>
                    <a:bodyPr wrap="square"/>
                    <a:lstStyle/>
                    <a:p>
                      <a:pPr algn="l"/>
                      <a:r>
                        <a:rPr sz="950" b="0">
                          <a:solidFill>
                            <a:srgbClr val="1C1C1E"/>
                          </a:solidFill>
                          <a:latin typeface="Calibri"/>
                        </a:rPr>
                        <a:t>501</a:t>
                      </a:r>
                    </a:p>
                  </a:txBody>
                  <a:tcPr marL="82296" marR="64008" marT="32004" marB="32004" anchor="ctr">
                    <a:solidFill>
                      <a:srgbClr val="FFFFFF"/>
                    </a:solidFill>
                  </a:tcPr>
                </a:tc>
                <a:tc>
                  <a:txBody>
                    <a:bodyPr wrap="square"/>
                    <a:lstStyle/>
                    <a:p>
                      <a:pPr algn="l"/>
                      <a:r>
                        <a:rPr sz="950" b="0">
                          <a:solidFill>
                            <a:srgbClr val="1C1C1E"/>
                          </a:solidFill>
                          <a:latin typeface="Calibri"/>
                        </a:rPr>
                        <a:t>This instance was never wired to a provider</a:t>
                      </a:r>
                    </a:p>
                  </a:txBody>
                  <a:tcPr marL="82296" marR="64008" marT="32004" marB="32004" anchor="ctr">
                    <a:solidFill>
                      <a:srgbClr val="FFFFFF"/>
                    </a:solidFill>
                  </a:tcPr>
                </a:tc>
                <a:tc>
                  <a:txBody>
                    <a:bodyPr wrap="square"/>
                    <a:lstStyle/>
                    <a:p>
                      <a:pPr algn="l"/>
                      <a:r>
                        <a:rPr sz="950" b="0">
                          <a:solidFill>
                            <a:srgbClr val="1C1C1E"/>
                          </a:solidFill>
                          <a:latin typeface="Calibri"/>
                        </a:rPr>
                        <a:t>A deployment decision, not a transient fault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fibration_incomplete</a:t>
                      </a:r>
                    </a:p>
                  </a:txBody>
                  <a:tcPr marL="82296" marR="64008" marT="32004" marB="32004" anchor="ctr">
                    <a:solidFill>
                      <a:srgbClr val="F6F3EF"/>
                    </a:solidFill>
                  </a:tcPr>
                </a:tc>
                <a:tc>
                  <a:txBody>
                    <a:bodyPr wrap="square"/>
                    <a:lstStyle/>
                    <a:p>
                      <a:pPr algn="l"/>
                      <a:r>
                        <a:rPr sz="950" b="0">
                          <a:solidFill>
                            <a:srgbClr val="1C1C1E"/>
                          </a:solidFill>
                          <a:latin typeface="Calibri"/>
                        </a:rPr>
                        <a:t>503</a:t>
                      </a:r>
                    </a:p>
                  </a:txBody>
                  <a:tcPr marL="82296" marR="64008" marT="32004" marB="32004" anchor="ctr">
                    <a:solidFill>
                      <a:srgbClr val="F6F3EF"/>
                    </a:solidFill>
                  </a:tcPr>
                </a:tc>
                <a:tc>
                  <a:txBody>
                    <a:bodyPr wrap="square"/>
                    <a:lstStyle/>
                    <a:p>
                      <a:pPr algn="l"/>
                      <a:r>
                        <a:rPr sz="950" b="0">
                          <a:solidFill>
                            <a:srgbClr val="1C1C1E"/>
                          </a:solidFill>
                          <a:latin typeface="Calibri"/>
                        </a:rPr>
                        <a:t>A model class with no fibre reached HTTP</a:t>
                      </a:r>
                    </a:p>
                  </a:txBody>
                  <a:tcPr marL="82296" marR="64008" marT="32004" marB="32004" anchor="ctr">
                    <a:solidFill>
                      <a:srgbClr val="F6F3EF"/>
                    </a:solidFill>
                  </a:tcPr>
                </a:tc>
                <a:tc>
                  <a:txBody>
                    <a:bodyPr wrap="square"/>
                    <a:lstStyle/>
                    <a:p>
                      <a:pPr algn="l"/>
                      <a:r>
                        <a:rPr sz="950" b="0">
                          <a:solidFill>
                            <a:srgbClr val="1C1C1E"/>
                          </a:solidFill>
                          <a:latin typeface="Calibri"/>
                        </a:rPr>
                        <a:t>This instance is not fit to answer</a:t>
                      </a:r>
                    </a:p>
                  </a:txBody>
                  <a:tcPr marL="82296" marR="64008" marT="32004" marB="32004" anchor="ctr">
                    <a:solidFill>
                      <a:srgbClr val="F6F3EF"/>
                    </a:solidFill>
                  </a:tcPr>
                </a:tc>
              </a:tr>
            </a:tbl>
          </a:graphicData>
        </a:graphic>
      </p:graphicFrame>
      <p:sp>
        <p:nvSpPr>
          <p:cNvPr id="11" name="TextBox 10"/>
          <p:cNvSpPr txBox="1"/>
          <p:nvPr/>
        </p:nvSpPr>
        <p:spPr>
          <a:xfrm>
            <a:off x="777240" y="5563971"/>
            <a:ext cx="10637215" cy="73152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Three fields, always: error, detail, remediation. </a:t>
            </a:r>
            <a:r>
              <a:rPr sz="1050" b="0" i="0">
                <a:solidFill>
                  <a:srgbClr val="1C1C1E"/>
                </a:solidFill>
                <a:latin typeface="Calibri"/>
              </a:rPr>
              <a:t>The code says what was refused, the detail says what was violated, and the remediation says what to do — not what went wrong. The status is a decision about who must act rather than about who is at fault, which is why provider_unavailable is 501 and not 503. 133 of the 312 are 422, 70 are 409, 35 are 403, 28 are 404. test_refusal_discipline.py asserts that every code maps to a status and that none is mapped twice.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 · THE HONEST INVENTORY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Operations — what is measured, and what is a target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99</a:t>
            </a:r>
          </a:p>
        </p:txBody>
      </p:sp>
      <p:sp>
        <p:nvSpPr>
          <p:cNvPr id="10" name="TextBox 9"/>
          <p:cNvSpPr txBox="1"/>
          <p:nvPr/>
        </p:nvSpPr>
        <p:spPr>
          <a:xfrm>
            <a:off x="777240" y="1353312"/>
            <a:ext cx="5105863" cy="292608"/>
          </a:xfrm>
          <a:prstGeom prst="rect">
            <a:avLst/>
          </a:prstGeom>
          <a:noFill/>
        </p:spPr>
        <p:txBody>
          <a:bodyPr wrap="square" lIns="0" rIns="0" tIns="0" bIns="0" anchor="t">
            <a:spAutoFit/>
          </a:bodyPr>
          <a:lstStyle/>
          <a:p>
            <a:pPr algn="l">
              <a:spcBef>
                <a:spcPts val="0"/>
              </a:spcBef>
              <a:spcAft>
                <a:spcPts val="0"/>
              </a:spcAft>
            </a:pPr>
            <a:r>
              <a:rPr sz="1200" b="1" i="0">
                <a:solidFill>
                  <a:srgbClr val="1C1C1E"/>
                </a:solidFill>
                <a:latin typeface="Georgia"/>
              </a:rPr>
              <a:t>Built</a:t>
            </a:r>
          </a:p>
        </p:txBody>
      </p:sp>
      <p:graphicFrame>
        <p:nvGraphicFramePr>
          <p:cNvPr id="11" name="Table 10"/>
          <p:cNvGraphicFramePr>
            <a:graphicFrameLocks noGrp="1"/>
          </p:cNvGraphicFramePr>
          <p:nvPr/>
        </p:nvGraphicFramePr>
        <p:xfrm>
          <a:off x="777240" y="1682495"/>
          <a:ext cx="5105862" cy="3507864"/>
        </p:xfrm>
        <a:graphic>
          <a:graphicData uri="http://schemas.openxmlformats.org/drawingml/2006/table">
            <a:tbl>
              <a:tblPr firstRow="1">
                <a:tableStyleId>{5C22544A-7EE6-4342-B048-85BDC9FD1C3A}</a:tableStyleId>
              </a:tblPr>
              <a:tblGrid>
                <a:gridCol w="1361563"/>
                <a:gridCol w="3744299"/>
              </a:tblGrid>
              <a:tr h="329184">
                <a:tc>
                  <a:txBody>
                    <a:bodyPr wrap="square"/>
                    <a:lstStyle/>
                    <a:p>
                      <a:pPr algn="l"/>
                      <a:r>
                        <a:rPr sz="950" b="1">
                          <a:solidFill>
                            <a:srgbClr val="FFFFFF"/>
                          </a:solidFill>
                          <a:latin typeface="Calibri"/>
                        </a:rPr>
                        <a:t>Surface</a:t>
                      </a:r>
                    </a:p>
                  </a:txBody>
                  <a:tcPr marL="82296" marR="64008" marT="32004" marB="32004" anchor="ctr">
                    <a:solidFill>
                      <a:srgbClr val="A51C30"/>
                    </a:solidFill>
                  </a:tcPr>
                </a:tc>
                <a:tc>
                  <a:txBody>
                    <a:bodyPr wrap="square"/>
                    <a:lstStyle/>
                    <a:p>
                      <a:pPr algn="l"/>
                      <a:r>
                        <a:rPr sz="950" b="1">
                          <a:solidFill>
                            <a:srgbClr val="FFFFFF"/>
                          </a:solidFill>
                          <a:latin typeface="Calibri"/>
                        </a:rPr>
                        <a:t>What it does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/health, /health/live</a:t>
                      </a:r>
                    </a:p>
                  </a:txBody>
                  <a:tcPr marL="82296" marR="64008" marT="32004" marB="32004" anchor="ctr">
                    <a:solidFill>
                      <a:srgbClr val="FFFFFF"/>
                    </a:solidFill>
                  </a:tcPr>
                </a:tc>
                <a:tc>
                  <a:txBody>
                    <a:bodyPr wrap="square"/>
                    <a:lstStyle/>
                    <a:p>
                      <a:pPr algn="l"/>
                      <a:r>
                        <a:rPr sz="900" b="0">
                          <a:solidFill>
                            <a:srgbClr val="1C1C1E"/>
                          </a:solidFill>
                          <a:latin typeface="Calibri"/>
                        </a:rPr>
                        <a:t>Trivial liveness</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/health/ready</a:t>
                      </a:r>
                    </a:p>
                  </a:txBody>
                  <a:tcPr marL="82296" marR="64008" marT="32004" marB="32004" anchor="ctr">
                    <a:solidFill>
                      <a:srgbClr val="F6F3EF"/>
                    </a:solidFill>
                  </a:tcPr>
                </a:tc>
                <a:tc>
                  <a:txBody>
                    <a:bodyPr wrap="square"/>
                    <a:lstStyle/>
                    <a:p>
                      <a:pPr algn="l"/>
                      <a:r>
                        <a:rPr sz="900" b="0">
                          <a:solidFill>
                            <a:srgbClr val="1C1C1E"/>
                          </a:solidFill>
                          <a:latin typeface="Calibri"/>
                        </a:rPr>
                        <a:t>Includes the evidence chain and its anchors — a chain that does not verify returns 503, because the assurance claims cannot be trusted</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25 scheduler jobs</a:t>
                      </a:r>
                    </a:p>
                  </a:txBody>
                  <a:tcPr marL="82296" marR="64008" marT="32004" marB="32004" anchor="ctr">
                    <a:solidFill>
                      <a:srgbClr val="FFFFFF"/>
                    </a:solidFill>
                  </a:tcPr>
                </a:tc>
                <a:tc>
                  <a:txBody>
                    <a:bodyPr wrap="square"/>
                    <a:lstStyle/>
                    <a:p>
                      <a:pPr algn="l"/>
                      <a:r>
                        <a:rPr sz="900" b="0">
                          <a:solidFill>
                            <a:srgbClr val="1C1C1E"/>
                          </a:solidFill>
                          <a:latin typeface="Calibri"/>
                        </a:rPr>
                        <a:t>Each idempotent, each re-deriving its own condition; anchoring and full chain verification are two of them</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One logger, one format</a:t>
                      </a:r>
                    </a:p>
                  </a:txBody>
                  <a:tcPr marL="82296" marR="64008" marT="32004" marB="32004" anchor="ctr">
                    <a:solidFill>
                      <a:srgbClr val="F6F3EF"/>
                    </a:solidFill>
                  </a:tcPr>
                </a:tc>
                <a:tc>
                  <a:txBody>
                    <a:bodyPr wrap="square"/>
                    <a:lstStyle/>
                    <a:p>
                      <a:pPr algn="l"/>
                      <a:r>
                        <a:rPr sz="900" b="0">
                          <a:solidFill>
                            <a:srgbClr val="1C1C1E"/>
                          </a:solidFill>
                          <a:latin typeface="Calibri"/>
                        </a:rPr>
                        <a:t>Request id and acting principal on every line; a refusal is logged at WARNING because it is a governance decision</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The scale suite</a:t>
                      </a:r>
                    </a:p>
                  </a:txBody>
                  <a:tcPr marL="82296" marR="64008" marT="32004" marB="32004" anchor="ctr">
                    <a:solidFill>
                      <a:srgbClr val="FFFFFF"/>
                    </a:solidFill>
                  </a:tcPr>
                </a:tc>
                <a:tc>
                  <a:txBody>
                    <a:bodyPr wrap="square"/>
                    <a:lstStyle/>
                    <a:p>
                      <a:pPr algn="l"/>
                      <a:r>
                        <a:rPr sz="900" b="0">
                          <a:solidFill>
                            <a:srgbClr val="1C1C1E"/>
                          </a:solidFill>
                          <a:latin typeface="Calibri"/>
                        </a:rPr>
                        <a:t>19 tests, marked scale and excluded by default. It asserts COMPLEXITY, not milliseconds — doubling the estate must not more than double the work</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test_laws.py</a:t>
                      </a:r>
                    </a:p>
                  </a:txBody>
                  <a:tcPr marL="82296" marR="64008" marT="32004" marB="32004" anchor="ctr">
                    <a:solidFill>
                      <a:srgbClr val="F6F3EF"/>
                    </a:solidFill>
                  </a:tcPr>
                </a:tc>
                <a:tc>
                  <a:txBody>
                    <a:bodyPr wrap="square"/>
                    <a:lstStyle/>
                    <a:p>
                      <a:pPr algn="l"/>
                      <a:r>
                        <a:rPr sz="900" b="0">
                          <a:solidFill>
                            <a:srgbClr val="1C1C1E"/>
                          </a:solidFill>
                          <a:latin typeface="Calibri"/>
                        </a:rPr>
                        <a:t>Eighteen of the twenty-one foundational laws are executable and run as tests; the three that do not are named with the reason. All fourteen warrant laws run before a signature</a:t>
                      </a:r>
                    </a:p>
                  </a:txBody>
                  <a:tcPr marL="82296" marR="64008" marT="32004" marB="32004" anchor="ctr">
                    <a:solidFill>
                      <a:srgbClr val="F6F3EF"/>
                    </a:solidFill>
                  </a:tcPr>
                </a:tc>
              </a:tr>
            </a:tbl>
          </a:graphicData>
        </a:graphic>
      </p:graphicFrame>
      <p:sp>
        <p:nvSpPr>
          <p:cNvPr id="12" name="TextBox 11"/>
          <p:cNvSpPr txBox="1"/>
          <p:nvPr/>
        </p:nvSpPr>
        <p:spPr>
          <a:xfrm>
            <a:off x="6308591" y="1353312"/>
            <a:ext cx="5105863"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Not built — and named rather than implied</a:t>
            </a:r>
          </a:p>
        </p:txBody>
      </p:sp>
      <p:graphicFrame>
        <p:nvGraphicFramePr>
          <p:cNvPr id="13" name="Table 12"/>
          <p:cNvGraphicFramePr>
            <a:graphicFrameLocks noGrp="1"/>
          </p:cNvGraphicFramePr>
          <p:nvPr/>
        </p:nvGraphicFramePr>
        <p:xfrm>
          <a:off x="6308591" y="1682495"/>
          <a:ext cx="5105862" cy="3061866"/>
        </p:xfrm>
        <a:graphic>
          <a:graphicData uri="http://schemas.openxmlformats.org/drawingml/2006/table">
            <a:tbl>
              <a:tblPr firstRow="1">
                <a:tableStyleId>{5C22544A-7EE6-4342-B048-85BDC9FD1C3A}</a:tableStyleId>
              </a:tblPr>
              <a:tblGrid>
                <a:gridCol w="1361563"/>
                <a:gridCol w="3744299"/>
              </a:tblGrid>
              <a:tr h="329184">
                <a:tc>
                  <a:txBody>
                    <a:bodyPr wrap="square"/>
                    <a:lstStyle/>
                    <a:p>
                      <a:pPr algn="l"/>
                      <a:r>
                        <a:rPr sz="950" b="1">
                          <a:solidFill>
                            <a:srgbClr val="FFFFFF"/>
                          </a:solidFill>
                          <a:latin typeface="Calibri"/>
                        </a:rPr>
                        <a:t>Claimed elsewhere</a:t>
                      </a:r>
                    </a:p>
                  </a:txBody>
                  <a:tcPr marL="82296" marR="64008" marT="32004" marB="32004" anchor="ctr">
                    <a:solidFill>
                      <a:srgbClr val="A51C30"/>
                    </a:solidFill>
                  </a:tcPr>
                </a:tc>
                <a:tc>
                  <a:txBody>
                    <a:bodyPr wrap="square"/>
                    <a:lstStyle/>
                    <a:p>
                      <a:pPr algn="l"/>
                      <a:r>
                        <a:rPr sz="950" b="1">
                          <a:solidFill>
                            <a:srgbClr val="FFFFFF"/>
                          </a:solidFill>
                          <a:latin typeface="Calibri"/>
                        </a:rPr>
                        <a:t>Here</a:t>
                      </a:r>
                    </a:p>
                  </a:txBody>
                  <a:tcPr marL="82296" marR="64008" marT="32004" marB="32004" anchor="ctr">
                    <a:solidFill>
                      <a:srgbClr val="A51C30"/>
                    </a:solidFill>
                  </a:tcPr>
                </a:tc>
              </a:tr>
              <a:tr h="606475">
                <a:tc>
                  <a:txBody>
                    <a:bodyPr wrap="square"/>
                    <a:lstStyle/>
                    <a:p>
                      <a:pPr algn="l"/>
                      <a:r>
                        <a:rPr sz="900" b="1">
                          <a:solidFill>
                            <a:srgbClr val="A51C30"/>
                          </a:solidFill>
                          <a:latin typeface="Calibri"/>
                        </a:rPr>
                        <a:t>SLOs and error budgets</a:t>
                      </a:r>
                    </a:p>
                  </a:txBody>
                  <a:tcPr marL="82296" marR="64008" marT="32004" marB="32004" anchor="ctr">
                    <a:solidFill>
                      <a:srgbClr val="FFFFFF"/>
                    </a:solidFill>
                  </a:tcPr>
                </a:tc>
                <a:tc>
                  <a:txBody>
                    <a:bodyPr wrap="square"/>
                    <a:lstStyle/>
                    <a:p>
                      <a:pPr algn="l"/>
                      <a:r>
                        <a:rPr sz="900" b="0">
                          <a:solidFill>
                            <a:srgbClr val="1C1C1E"/>
                          </a:solidFill>
                          <a:latin typeface="Calibri"/>
                        </a:rPr>
                        <a:t>Every performance figure in the requirements is a TARGET. No load test has been run and no p99 has been measured under concurrency</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Golden signals, dashboards</a:t>
                      </a:r>
                    </a:p>
                  </a:txBody>
                  <a:tcPr marL="82296" marR="64008" marT="32004" marB="32004" anchor="ctr">
                    <a:solidFill>
                      <a:srgbClr val="F6F3EF"/>
                    </a:solidFill>
                  </a:tcPr>
                </a:tc>
                <a:tc>
                  <a:txBody>
                    <a:bodyPr wrap="square"/>
                    <a:lstStyle/>
                    <a:p>
                      <a:pPr algn="l"/>
                      <a:r>
                        <a:rPr sz="900" b="0">
                          <a:solidFill>
                            <a:srgbClr val="1C1C1E"/>
                          </a:solidFill>
                          <a:latin typeface="Calibri"/>
                        </a:rPr>
                        <a:t>No Prometheus, no OpenTelemetry, no metrics endpoint. What exists is three health probes and a live log at /admin/logs — the last lines the process wrote, filtered by module, request or principal, with every line of one request joined by its id</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Runbooks</a:t>
                      </a:r>
                    </a:p>
                  </a:txBody>
                  <a:tcPr marL="82296" marR="64008" marT="32004" marB="32004" anchor="ctr">
                    <a:solidFill>
                      <a:srgbClr val="FFFFFF"/>
                    </a:solidFill>
                  </a:tcPr>
                </a:tc>
                <a:tc>
                  <a:txBody>
                    <a:bodyPr wrap="square"/>
                    <a:lstStyle/>
                    <a:p>
                      <a:pPr algn="l"/>
                      <a:r>
                        <a:rPr sz="900" b="0">
                          <a:solidFill>
                            <a:srgbClr val="1C1C1E"/>
                          </a:solidFill>
                          <a:latin typeface="Calibri"/>
                        </a:rPr>
                        <a:t>There are none. Of the ten the design lists, three name a subsystem or a topology that does not exist — outbox lag, cache stampede, regional failover</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A build that fails</a:t>
                      </a:r>
                    </a:p>
                  </a:txBody>
                  <a:tcPr marL="82296" marR="64008" marT="32004" marB="32004" anchor="ctr">
                    <a:solidFill>
                      <a:srgbClr val="F6F3EF"/>
                    </a:solidFill>
                  </a:tcPr>
                </a:tc>
                <a:tc>
                  <a:txBody>
                    <a:bodyPr wrap="square"/>
                    <a:lstStyle/>
                    <a:p>
                      <a:pPr algn="l"/>
                      <a:r>
                        <a:rPr sz="900" b="0">
                          <a:solidFill>
                            <a:srgbClr val="1C1C1E"/>
                          </a:solidFill>
                          <a:latin typeface="Calibri"/>
                        </a:rPr>
                        <a:t>CI runs the suite in four shards, the seven discipline walkers, the laws, both SQL dialects, ruff and a type checker gating 203 modules, on every push and pull request. Still absent: a coverage gate and any security scanning</a:t>
                      </a:r>
                    </a:p>
                  </a:txBody>
                  <a:tcPr marL="82296" marR="64008" marT="32004" marB="32004" anchor="ctr">
                    <a:solidFill>
                      <a:srgbClr val="F6F3EF"/>
                    </a:solidFill>
                  </a:tcPr>
                </a:tc>
              </a:tr>
            </a:tbl>
          </a:graphicData>
        </a:graphic>
      </p:graphicFrame>
      <p:sp>
        <p:nvSpPr>
          <p:cNvPr id="14" name="Rectangle 13"/>
          <p:cNvSpPr/>
          <p:nvPr/>
        </p:nvSpPr>
        <p:spPr>
          <a:xfrm>
            <a:off x="777240" y="5409819"/>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5409819"/>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51560" y="5528691"/>
            <a:ext cx="1008857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control asserted and not there is the failure this platform exists to prevent. </a:t>
            </a:r>
            <a:r>
              <a:rPr sz="1050" b="0" i="0">
                <a:solidFill>
                  <a:srgbClr val="1C1C1E"/>
                </a:solidFill>
                <a:latin typeface="Calibri"/>
              </a:rPr>
              <a:t>Which is why this page is a list of absences rather than a page of green targets. The capacity model — 1,500 models rising to 5,000, 25 M evidence nodes, 80 TB of Delta features — is a sizing projection and not a measurement, and full chain verification at forty thousand nodes was 2.9 seconds and 83 MB, which is measured.</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Worked Examples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Eight kinds of model against one definition — then real data, real fits, and what the platform does with them.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24 · Every kind of model</a:t>
            </a:r>
          </a:p>
          <a:p>
            <a:pPr>
              <a:lnSpc>
                <a:spcPct val="115000"/>
              </a:lnSpc>
              <a:spcBef>
                <a:spcPts val="0"/>
              </a:spcBef>
              <a:spcAft>
                <a:spcPts val="800"/>
              </a:spcAft>
            </a:pPr>
            <a:r>
              <a:rPr sz="1150" b="0" i="0">
                <a:solidFill>
                  <a:srgbClr val="E4DED6"/>
                </a:solidFill>
                <a:latin typeface="Calibri"/>
              </a:rPr>
              <a:t>25 · A worked example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Eight shapes of the same definition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101</a:t>
            </a:r>
          </a:p>
        </p:txBody>
      </p:sp>
      <p:graphicFrame>
        <p:nvGraphicFramePr>
          <p:cNvPr id="10" name="Table 9"/>
          <p:cNvGraphicFramePr>
            <a:graphicFrameLocks noGrp="1"/>
          </p:cNvGraphicFramePr>
          <p:nvPr/>
        </p:nvGraphicFramePr>
        <p:xfrm>
          <a:off x="777240" y="1353312"/>
          <a:ext cx="10637212" cy="3265040"/>
        </p:xfrm>
        <a:graphic>
          <a:graphicData uri="http://schemas.openxmlformats.org/drawingml/2006/table">
            <a:tbl>
              <a:tblPr firstRow="1">
                <a:tableStyleId>{5C22544A-7EE6-4342-B048-85BDC9FD1C3A}</a:tableStyleId>
              </a:tblPr>
              <a:tblGrid>
                <a:gridCol w="1783539"/>
                <a:gridCol w="1966467"/>
                <a:gridCol w="2515248"/>
                <a:gridCol w="2332321"/>
                <a:gridCol w="1417685"/>
                <a:gridCol w="621952"/>
              </a:tblGrid>
              <a:tr h="329184">
                <a:tc>
                  <a:txBody>
                    <a:bodyPr wrap="square"/>
                    <a:lstStyle/>
                    <a:p>
                      <a:pPr algn="l"/>
                      <a:r>
                        <a:rPr sz="950" b="1">
                          <a:solidFill>
                            <a:srgbClr val="FFFFFF"/>
                          </a:solidFill>
                          <a:latin typeface="Calibri"/>
                        </a:rPr>
                        <a:t>Model</a:t>
                      </a:r>
                    </a:p>
                  </a:txBody>
                  <a:tcPr marL="82296" marR="64008" marT="32004" marB="32004" anchor="ctr">
                    <a:solidFill>
                      <a:srgbClr val="A51C30"/>
                    </a:solidFill>
                  </a:tcPr>
                </a:tc>
                <a:tc>
                  <a:txBody>
                    <a:bodyPr wrap="square"/>
                    <a:lstStyle/>
                    <a:p>
                      <a:pPr algn="l"/>
                      <a:r>
                        <a:rPr sz="950" b="1">
                          <a:solidFill>
                            <a:srgbClr val="FFFFFF"/>
                          </a:solidFill>
                          <a:latin typeface="Calibri"/>
                        </a:rPr>
                        <a:t>P is</a:t>
                      </a:r>
                    </a:p>
                  </a:txBody>
                  <a:tcPr marL="82296" marR="64008" marT="32004" marB="32004" anchor="ctr">
                    <a:solidFill>
                      <a:srgbClr val="A51C30"/>
                    </a:solidFill>
                  </a:tcPr>
                </a:tc>
                <a:tc>
                  <a:txBody>
                    <a:bodyPr wrap="square"/>
                    <a:lstStyle/>
                    <a:p>
                      <a:pPr algn="l"/>
                      <a:r>
                        <a:rPr sz="950" b="1">
                          <a:solidFill>
                            <a:srgbClr val="FFFFFF"/>
                          </a:solidFill>
                          <a:latin typeface="Calibri"/>
                        </a:rPr>
                        <a:t>How P is filled</a:t>
                      </a:r>
                    </a:p>
                  </a:txBody>
                  <a:tcPr marL="82296" marR="64008" marT="32004" marB="32004" anchor="ctr">
                    <a:solidFill>
                      <a:srgbClr val="A51C30"/>
                    </a:solidFill>
                  </a:tcPr>
                </a:tc>
                <a:tc>
                  <a:txBody>
                    <a:bodyPr wrap="square"/>
                    <a:lstStyle/>
                    <a:p>
                      <a:pPr algn="l"/>
                      <a:r>
                        <a:rPr sz="950" b="1">
                          <a:solidFill>
                            <a:srgbClr val="FFFFFF"/>
                          </a:solidFill>
                          <a:latin typeface="Calibri"/>
                        </a:rPr>
                        <a:t>parameter_kind</a:t>
                      </a:r>
                    </a:p>
                  </a:txBody>
                  <a:tcPr marL="82296" marR="64008" marT="32004" marB="32004" anchor="ctr">
                    <a:solidFill>
                      <a:srgbClr val="A51C30"/>
                    </a:solidFill>
                  </a:tcPr>
                </a:tc>
                <a:tc>
                  <a:txBody>
                    <a:bodyPr wrap="square"/>
                    <a:lstStyle/>
                    <a:p>
                      <a:pPr algn="l"/>
                      <a:r>
                        <a:rPr sz="950" b="1">
                          <a:solidFill>
                            <a:srgbClr val="FFFFFF"/>
                          </a:solidFill>
                          <a:latin typeface="Calibri"/>
                        </a:rPr>
                        <a:t>fit_procedure</a:t>
                      </a:r>
                    </a:p>
                  </a:txBody>
                  <a:tcPr marL="82296" marR="64008" marT="32004" marB="32004" anchor="ctr">
                    <a:solidFill>
                      <a:srgbClr val="A51C30"/>
                    </a:solidFill>
                  </a:tcPr>
                </a:tc>
                <a:tc>
                  <a:txBody>
                    <a:bodyPr wrap="square"/>
                    <a:lstStyle/>
                    <a:p>
                      <a:pPr algn="l"/>
                      <a:r>
                        <a:rPr sz="950" b="1">
                          <a:solidFill>
                            <a:srgbClr val="FFFFFF"/>
                          </a:solidFill>
                          <a:latin typeface="Calibri"/>
                        </a:rPr>
                        <a:t>Class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Black-Scholes</a:t>
                      </a:r>
                    </a:p>
                  </a:txBody>
                  <a:tcPr marL="82296" marR="64008" marT="32004" marB="32004" anchor="ctr">
                    <a:solidFill>
                      <a:srgbClr val="FFFFFF"/>
                    </a:solidFill>
                  </a:tcPr>
                </a:tc>
                <a:tc>
                  <a:txBody>
                    <a:bodyPr wrap="square"/>
                    <a:lstStyle/>
                    <a:p>
                      <a:pPr algn="l"/>
                      <a:r>
                        <a:rPr sz="950" b="0">
                          <a:solidFill>
                            <a:srgbClr val="1C1C1E"/>
                          </a:solidFill>
                          <a:latin typeface="Calibri"/>
                        </a:rPr>
                        <a:t>empty</a:t>
                      </a:r>
                    </a:p>
                  </a:txBody>
                  <a:tcPr marL="82296" marR="64008" marT="32004" marB="32004" anchor="ctr">
                    <a:solidFill>
                      <a:srgbClr val="FFFFFF"/>
                    </a:solidFill>
                  </a:tcPr>
                </a:tc>
                <a:tc>
                  <a:txBody>
                    <a:bodyPr wrap="square"/>
                    <a:lstStyle/>
                    <a:p>
                      <a:pPr algn="l"/>
                      <a:r>
                        <a:rPr sz="950" b="0">
                          <a:solidFill>
                            <a:srgbClr val="1C1C1E"/>
                          </a:solidFill>
                          <a:latin typeface="Calibri"/>
                        </a:rPr>
                        <a:t>it isn't - nothing to fill</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T0</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Linear regression</a:t>
                      </a:r>
                    </a:p>
                  </a:txBody>
                  <a:tcPr marL="82296" marR="64008" marT="32004" marB="32004" anchor="ctr">
                    <a:solidFill>
                      <a:srgbClr val="F6F3EF"/>
                    </a:solidFill>
                  </a:tcPr>
                </a:tc>
                <a:tc>
                  <a:txBody>
                    <a:bodyPr wrap="square"/>
                    <a:lstStyle/>
                    <a:p>
                      <a:pPr algn="l"/>
                      <a:r>
                        <a:rPr sz="950" b="0">
                          <a:solidFill>
                            <a:srgbClr val="1C1C1E"/>
                          </a:solidFill>
                          <a:latin typeface="Calibri"/>
                        </a:rPr>
                        <a:t>coefficients</a:t>
                      </a:r>
                    </a:p>
                  </a:txBody>
                  <a:tcPr marL="82296" marR="64008" marT="32004" marB="32004" anchor="ctr">
                    <a:solidFill>
                      <a:srgbClr val="F6F3EF"/>
                    </a:solidFill>
                  </a:tcPr>
                </a:tc>
                <a:tc>
                  <a:txBody>
                    <a:bodyPr wrap="square"/>
                    <a:lstStyle/>
                    <a:p>
                      <a:pPr algn="l"/>
                      <a:r>
                        <a:rPr sz="950" b="0">
                          <a:solidFill>
                            <a:srgbClr val="1C1C1E"/>
                          </a:solidFill>
                          <a:latin typeface="Calibri"/>
                        </a:rPr>
                        <a:t>a statistical estimator</a:t>
                      </a:r>
                    </a:p>
                  </a:txBody>
                  <a:tcPr marL="82296" marR="64008" marT="32004" marB="32004" anchor="ctr">
                    <a:solidFill>
                      <a:srgbClr val="F6F3E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6F3EF"/>
                    </a:solidFill>
                  </a:tcPr>
                </a:tc>
                <a:tc>
                  <a:txBody>
                    <a:bodyPr wrap="square"/>
                    <a:lstStyle/>
                    <a:p>
                      <a:pPr algn="l"/>
                      <a:r>
                        <a:rPr sz="950" b="0">
                          <a:solidFill>
                            <a:srgbClr val="1C1C1E"/>
                          </a:solidFill>
                          <a:latin typeface="Calibri"/>
                        </a:rPr>
                        <a:t>estimate</a:t>
                      </a:r>
                    </a:p>
                  </a:txBody>
                  <a:tcPr marL="82296" marR="64008" marT="32004" marB="32004" anchor="ctr">
                    <a:solidFill>
                      <a:srgbClr val="F6F3EF"/>
                    </a:solidFill>
                  </a:tcPr>
                </a:tc>
                <a:tc>
                  <a:txBody>
                    <a:bodyPr wrap="square"/>
                    <a:lstStyle/>
                    <a:p>
                      <a:pPr algn="l"/>
                      <a:r>
                        <a:rPr sz="950" b="0">
                          <a:solidFill>
                            <a:srgbClr val="1C1C1E"/>
                          </a:solidFill>
                          <a:latin typeface="Calibri"/>
                        </a:rPr>
                        <a:t>T2</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GARCH / ARIMA</a:t>
                      </a:r>
                    </a:p>
                  </a:txBody>
                  <a:tcPr marL="82296" marR="64008" marT="32004" marB="32004" anchor="ctr">
                    <a:solidFill>
                      <a:srgbClr val="FFFFFF"/>
                    </a:solidFill>
                  </a:tcPr>
                </a:tc>
                <a:tc>
                  <a:txBody>
                    <a:bodyPr wrap="square"/>
                    <a:lstStyle/>
                    <a:p>
                      <a:pPr algn="l"/>
                      <a:r>
                        <a:rPr sz="950" b="0">
                          <a:solidFill>
                            <a:srgbClr val="1C1C1E"/>
                          </a:solidFill>
                          <a:latin typeface="Calibri"/>
                        </a:rPr>
                        <a:t>omega, alpha, beta</a:t>
                      </a:r>
                    </a:p>
                  </a:txBody>
                  <a:tcPr marL="82296" marR="64008" marT="32004" marB="32004" anchor="ctr">
                    <a:solidFill>
                      <a:srgbClr val="FFFFFF"/>
                    </a:solidFill>
                  </a:tcPr>
                </a:tc>
                <a:tc>
                  <a:txBody>
                    <a:bodyPr wrap="square"/>
                    <a:lstStyle/>
                    <a:p>
                      <a:pPr algn="l"/>
                      <a:r>
                        <a:rPr sz="950" b="0">
                          <a:solidFill>
                            <a:srgbClr val="1C1C1E"/>
                          </a:solidFill>
                          <a:latin typeface="Calibri"/>
                        </a:rPr>
                        <a:t>maximum likelihood</a:t>
                      </a:r>
                    </a:p>
                  </a:txBody>
                  <a:tcPr marL="82296" marR="64008" marT="32004" marB="32004" anchor="ctr">
                    <a:solidFill>
                      <a:srgbClr val="FFFFF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FFFFF"/>
                    </a:solidFill>
                  </a:tcPr>
                </a:tc>
                <a:tc>
                  <a:txBody>
                    <a:bodyPr wrap="square"/>
                    <a:lstStyle/>
                    <a:p>
                      <a:pPr algn="l"/>
                      <a:r>
                        <a:rPr sz="950" b="0">
                          <a:solidFill>
                            <a:srgbClr val="1C1C1E"/>
                          </a:solidFill>
                          <a:latin typeface="Calibri"/>
                        </a:rPr>
                        <a:t>estimate</a:t>
                      </a:r>
                    </a:p>
                  </a:txBody>
                  <a:tcPr marL="82296" marR="64008" marT="32004" marB="32004" anchor="ctr">
                    <a:solidFill>
                      <a:srgbClr val="FFFFFF"/>
                    </a:solidFill>
                  </a:tcPr>
                </a:tc>
                <a:tc>
                  <a:txBody>
                    <a:bodyPr wrap="square"/>
                    <a:lstStyle/>
                    <a:p>
                      <a:pPr algn="l"/>
                      <a:r>
                        <a:rPr sz="950" b="0">
                          <a:solidFill>
                            <a:srgbClr val="1C1C1E"/>
                          </a:solidFill>
                          <a:latin typeface="Calibri"/>
                        </a:rPr>
                        <a:t>T2</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Hull-White</a:t>
                      </a:r>
                    </a:p>
                  </a:txBody>
                  <a:tcPr marL="82296" marR="64008" marT="32004" marB="32004" anchor="ctr">
                    <a:solidFill>
                      <a:srgbClr val="F6F3EF"/>
                    </a:solidFill>
                  </a:tcPr>
                </a:tc>
                <a:tc>
                  <a:txBody>
                    <a:bodyPr wrap="square"/>
                    <a:lstStyle/>
                    <a:p>
                      <a:pPr algn="l"/>
                      <a:r>
                        <a:rPr sz="950" b="0">
                          <a:solidFill>
                            <a:srgbClr val="1C1C1E"/>
                          </a:solidFill>
                          <a:latin typeface="Calibri"/>
                        </a:rPr>
                        <a:t>mean reversion, vol</a:t>
                      </a:r>
                    </a:p>
                  </a:txBody>
                  <a:tcPr marL="82296" marR="64008" marT="32004" marB="32004" anchor="ctr">
                    <a:solidFill>
                      <a:srgbClr val="F6F3EF"/>
                    </a:solidFill>
                  </a:tcPr>
                </a:tc>
                <a:tc>
                  <a:txBody>
                    <a:bodyPr wrap="square"/>
                    <a:lstStyle/>
                    <a:p>
                      <a:pPr algn="l"/>
                      <a:r>
                        <a:rPr sz="950" b="0">
                          <a:solidFill>
                            <a:srgbClr val="1C1C1E"/>
                          </a:solidFill>
                          <a:latin typeface="Calibri"/>
                        </a:rPr>
                        <a:t>a solver, against market quotes</a:t>
                      </a:r>
                    </a:p>
                  </a:txBody>
                  <a:tcPr marL="82296" marR="64008" marT="32004" marB="32004" anchor="ctr">
                    <a:solidFill>
                      <a:srgbClr val="F6F3EF"/>
                    </a:solidFill>
                  </a:tcPr>
                </a:tc>
                <a:tc>
                  <a:txBody>
                    <a:bodyPr wrap="square"/>
                    <a:lstStyle/>
                    <a:p>
                      <a:pPr algn="l"/>
                      <a:r>
                        <a:rPr sz="950" b="0">
                          <a:solidFill>
                            <a:srgbClr val="1C1C1E"/>
                          </a:solidFill>
                          <a:latin typeface="Calibri"/>
                        </a:rPr>
                        <a:t>calibration_set</a:t>
                      </a:r>
                    </a:p>
                  </a:txBody>
                  <a:tcPr marL="82296" marR="64008" marT="32004" marB="32004" anchor="ctr">
                    <a:solidFill>
                      <a:srgbClr val="F6F3EF"/>
                    </a:solidFill>
                  </a:tcPr>
                </a:tc>
                <a:tc>
                  <a:txBody>
                    <a:bodyPr wrap="square"/>
                    <a:lstStyle/>
                    <a:p>
                      <a:pPr algn="l"/>
                      <a:r>
                        <a:rPr sz="950" b="0">
                          <a:solidFill>
                            <a:srgbClr val="1C1C1E"/>
                          </a:solidFill>
                          <a:latin typeface="Calibri"/>
                        </a:rPr>
                        <a:t>calibrate</a:t>
                      </a:r>
                    </a:p>
                  </a:txBody>
                  <a:tcPr marL="82296" marR="64008" marT="32004" marB="32004" anchor="ctr">
                    <a:solidFill>
                      <a:srgbClr val="F6F3EF"/>
                    </a:solidFill>
                  </a:tcPr>
                </a:tc>
                <a:tc>
                  <a:txBody>
                    <a:bodyPr wrap="square"/>
                    <a:lstStyle/>
                    <a:p>
                      <a:pPr algn="l"/>
                      <a:r>
                        <a:rPr sz="950" b="0">
                          <a:solidFill>
                            <a:srgbClr val="1C1C1E"/>
                          </a:solidFill>
                          <a:latin typeface="Calibri"/>
                        </a:rPr>
                        <a:t>T1</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Monte Carlo XVA</a:t>
                      </a:r>
                    </a:p>
                  </a:txBody>
                  <a:tcPr marL="82296" marR="64008" marT="32004" marB="32004" anchor="ctr">
                    <a:solidFill>
                      <a:srgbClr val="FFFFFF"/>
                    </a:solidFill>
                  </a:tcPr>
                </a:tc>
                <a:tc>
                  <a:txBody>
                    <a:bodyPr wrap="square"/>
                    <a:lstStyle/>
                    <a:p>
                      <a:pPr algn="l"/>
                      <a:r>
                        <a:rPr sz="950" b="0">
                          <a:solidFill>
                            <a:srgbClr val="1C1C1E"/>
                          </a:solidFill>
                          <a:latin typeface="Calibri"/>
                        </a:rPr>
                        <a:t>parameters + seed + paths</a:t>
                      </a:r>
                    </a:p>
                  </a:txBody>
                  <a:tcPr marL="82296" marR="64008" marT="32004" marB="32004" anchor="ctr">
                    <a:solidFill>
                      <a:srgbClr val="FFFFFF"/>
                    </a:solidFill>
                  </a:tcPr>
                </a:tc>
                <a:tc>
                  <a:txBody>
                    <a:bodyPr wrap="square"/>
                    <a:lstStyle/>
                    <a:p>
                      <a:pPr algn="l"/>
                      <a:r>
                        <a:rPr sz="950" b="0">
                          <a:solidFill>
                            <a:srgbClr val="1C1C1E"/>
                          </a:solidFill>
                          <a:latin typeface="Calibri"/>
                        </a:rPr>
                        <a:t>calibration plus 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calibration_set</a:t>
                      </a:r>
                    </a:p>
                  </a:txBody>
                  <a:tcPr marL="82296" marR="64008" marT="32004" marB="32004" anchor="ctr">
                    <a:solidFill>
                      <a:srgbClr val="FFFFFF"/>
                    </a:solidFill>
                  </a:tcPr>
                </a:tc>
                <a:tc>
                  <a:txBody>
                    <a:bodyPr wrap="square"/>
                    <a:lstStyle/>
                    <a:p>
                      <a:pPr algn="l"/>
                      <a:r>
                        <a:rPr sz="950" b="0">
                          <a:solidFill>
                            <a:srgbClr val="1C1C1E"/>
                          </a:solidFill>
                          <a:latin typeface="Calibri"/>
                        </a:rPr>
                        <a:t>calibrate</a:t>
                      </a:r>
                    </a:p>
                  </a:txBody>
                  <a:tcPr marL="82296" marR="64008" marT="32004" marB="32004" anchor="ctr">
                    <a:solidFill>
                      <a:srgbClr val="FFFFFF"/>
                    </a:solidFill>
                  </a:tcPr>
                </a:tc>
                <a:tc>
                  <a:txBody>
                    <a:bodyPr wrap="square"/>
                    <a:lstStyle/>
                    <a:p>
                      <a:pPr algn="l"/>
                      <a:r>
                        <a:rPr sz="950" b="0">
                          <a:solidFill>
                            <a:srgbClr val="1C1C1E"/>
                          </a:solidFill>
                          <a:latin typeface="Calibri"/>
                        </a:rPr>
                        <a:t>T1</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Neural network</a:t>
                      </a:r>
                    </a:p>
                  </a:txBody>
                  <a:tcPr marL="82296" marR="64008" marT="32004" marB="32004" anchor="ctr">
                    <a:solidFill>
                      <a:srgbClr val="F6F3EF"/>
                    </a:solidFill>
                  </a:tcPr>
                </a:tc>
                <a:tc>
                  <a:txBody>
                    <a:bodyPr wrap="square"/>
                    <a:lstStyle/>
                    <a:p>
                      <a:pPr algn="l"/>
                      <a:r>
                        <a:rPr sz="950" b="0">
                          <a:solidFill>
                            <a:srgbClr val="1C1C1E"/>
                          </a:solidFill>
                          <a:latin typeface="Calibri"/>
                        </a:rPr>
                        <a:t>weights - millions</a:t>
                      </a:r>
                    </a:p>
                  </a:txBody>
                  <a:tcPr marL="82296" marR="64008" marT="32004" marB="32004" anchor="ctr">
                    <a:solidFill>
                      <a:srgbClr val="F6F3EF"/>
                    </a:solidFill>
                  </a:tcPr>
                </a:tc>
                <a:tc>
                  <a:txBody>
                    <a:bodyPr wrap="square"/>
                    <a:lstStyle/>
                    <a:p>
                      <a:pPr algn="l"/>
                      <a:r>
                        <a:rPr sz="950" b="0">
                          <a:solidFill>
                            <a:srgbClr val="1C1C1E"/>
                          </a:solidFill>
                          <a:latin typeface="Calibri"/>
                        </a:rPr>
                        <a:t>a training run</a:t>
                      </a:r>
                    </a:p>
                  </a:txBody>
                  <a:tcPr marL="82296" marR="64008" marT="32004" marB="32004" anchor="ctr">
                    <a:solidFill>
                      <a:srgbClr val="F6F3EF"/>
                    </a:solidFill>
                  </a:tcPr>
                </a:tc>
                <a:tc>
                  <a:txBody>
                    <a:bodyPr wrap="square"/>
                    <a:lstStyle/>
                    <a:p>
                      <a:pPr algn="l"/>
                      <a:r>
                        <a:rPr sz="950" b="0">
                          <a:solidFill>
                            <a:srgbClr val="1C1C1E"/>
                          </a:solidFill>
                          <a:latin typeface="Calibri"/>
                        </a:rPr>
                        <a:t>learned_weights</a:t>
                      </a:r>
                    </a:p>
                  </a:txBody>
                  <a:tcPr marL="82296" marR="64008" marT="32004" marB="32004" anchor="ctr">
                    <a:solidFill>
                      <a:srgbClr val="F6F3EF"/>
                    </a:solidFill>
                  </a:tcPr>
                </a:tc>
                <a:tc>
                  <a:txBody>
                    <a:bodyPr wrap="square"/>
                    <a:lstStyle/>
                    <a:p>
                      <a:pPr algn="l"/>
                      <a:r>
                        <a:rPr sz="950" b="0">
                          <a:solidFill>
                            <a:srgbClr val="1C1C1E"/>
                          </a:solidFill>
                          <a:latin typeface="Calibri"/>
                        </a:rPr>
                        <a:t>train</a:t>
                      </a:r>
                    </a:p>
                  </a:txBody>
                  <a:tcPr marL="82296" marR="64008" marT="32004" marB="32004" anchor="ctr">
                    <a:solidFill>
                      <a:srgbClr val="F6F3EF"/>
                    </a:solidFill>
                  </a:tcPr>
                </a:tc>
                <a:tc>
                  <a:txBody>
                    <a:bodyPr wrap="square"/>
                    <a:lstStyle/>
                    <a:p>
                      <a:pPr algn="l"/>
                      <a:r>
                        <a:rPr sz="950" b="0">
                          <a:solidFill>
                            <a:srgbClr val="1C1C1E"/>
                          </a:solidFill>
                          <a:latin typeface="Calibri"/>
                        </a:rPr>
                        <a:t>T3</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LLM application</a:t>
                      </a:r>
                    </a:p>
                  </a:txBody>
                  <a:tcPr marL="82296" marR="64008" marT="32004" marB="32004" anchor="ctr">
                    <a:solidFill>
                      <a:srgbClr val="FFFFFF"/>
                    </a:solidFill>
                  </a:tcPr>
                </a:tc>
                <a:tc>
                  <a:txBody>
                    <a:bodyPr wrap="square"/>
                    <a:lstStyle/>
                    <a:p>
                      <a:pPr algn="l"/>
                      <a:r>
                        <a:rPr sz="950" b="0">
                          <a:solidFill>
                            <a:srgbClr val="1C1C1E"/>
                          </a:solidFill>
                          <a:latin typeface="Calibri"/>
                        </a:rPr>
                        <a:t>base model + prompt + corpus</a:t>
                      </a:r>
                    </a:p>
                  </a:txBody>
                  <a:tcPr marL="82296" marR="64008" marT="32004" marB="32004" anchor="ctr">
                    <a:solidFill>
                      <a:srgbClr val="FFFFFF"/>
                    </a:solidFill>
                  </a:tcPr>
                </a:tc>
                <a:tc>
                  <a:txBody>
                    <a:bodyPr wrap="square"/>
                    <a:lstStyle/>
                    <a:p>
                      <a:pPr algn="l"/>
                      <a:r>
                        <a:rPr sz="950" b="0">
                          <a:solidFill>
                            <a:srgbClr val="1C1C1E"/>
                          </a:solidFill>
                          <a:latin typeface="Calibri"/>
                        </a:rPr>
                        <a:t>configuration and retrieval</a:t>
                      </a:r>
                    </a:p>
                  </a:txBody>
                  <a:tcPr marL="82296" marR="64008" marT="32004" marB="32004" anchor="ctr">
                    <a:solidFill>
                      <a:srgbClr val="FFFFFF"/>
                    </a:solidFill>
                  </a:tcPr>
                </a:tc>
                <a:tc>
                  <a:txBody>
                    <a:bodyPr wrap="square"/>
                    <a:lstStyle/>
                    <a:p>
                      <a:pPr algn="l"/>
                      <a:r>
                        <a:rPr sz="950" b="0">
                          <a:solidFill>
                            <a:srgbClr val="1C1C1E"/>
                          </a:solidFill>
                          <a:latin typeface="Calibri"/>
                        </a:rPr>
                        <a:t>llm_configuration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configure</a:t>
                      </a:r>
                    </a:p>
                  </a:txBody>
                  <a:tcPr marL="82296" marR="64008" marT="32004" marB="32004" anchor="ctr">
                    <a:solidFill>
                      <a:srgbClr val="FFFFFF"/>
                    </a:solidFill>
                  </a:tcPr>
                </a:tc>
                <a:tc>
                  <a:txBody>
                    <a:bodyPr wrap="square"/>
                    <a:lstStyle/>
                    <a:p>
                      <a:pPr algn="l"/>
                      <a:r>
                        <a:rPr sz="950" b="0">
                          <a:solidFill>
                            <a:srgbClr val="1C1C1E"/>
                          </a:solidFill>
                          <a:latin typeface="Calibri"/>
                        </a:rPr>
                        <a:t>T5</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Rule set</a:t>
                      </a:r>
                    </a:p>
                  </a:txBody>
                  <a:tcPr marL="82296" marR="64008" marT="32004" marB="32004" anchor="ctr">
                    <a:solidFill>
                      <a:srgbClr val="F6F3EF"/>
                    </a:solidFill>
                  </a:tcPr>
                </a:tc>
                <a:tc>
                  <a:txBody>
                    <a:bodyPr wrap="square"/>
                    <a:lstStyle/>
                    <a:p>
                      <a:pPr algn="l"/>
                      <a:r>
                        <a:rPr sz="950" b="0">
                          <a:solidFill>
                            <a:srgbClr val="1C1C1E"/>
                          </a:solidFill>
                          <a:latin typeface="Calibri"/>
                        </a:rPr>
                        <a:t>ordered rules, first match wins</a:t>
                      </a:r>
                    </a:p>
                  </a:txBody>
                  <a:tcPr marL="82296" marR="64008" marT="32004" marB="32004" anchor="ctr">
                    <a:solidFill>
                      <a:srgbClr val="F6F3EF"/>
                    </a:solidFill>
                  </a:tcPr>
                </a:tc>
                <a:tc>
                  <a:txBody>
                    <a:bodyPr wrap="square"/>
                    <a:lstStyle/>
                    <a:p>
                      <a:pPr algn="l"/>
                      <a:r>
                        <a:rPr sz="950" b="0">
                          <a:solidFill>
                            <a:srgbClr val="1C1C1E"/>
                          </a:solidFill>
                          <a:latin typeface="Calibri"/>
                        </a:rPr>
                        <a:t>somebody wrote them down</a:t>
                      </a:r>
                    </a:p>
                  </a:txBody>
                  <a:tcPr marL="82296" marR="64008" marT="32004" marB="32004" anchor="ctr">
                    <a:solidFill>
                      <a:srgbClr val="F6F3EF"/>
                    </a:solidFill>
                  </a:tcPr>
                </a:tc>
                <a:tc>
                  <a:txBody>
                    <a:bodyPr wrap="square"/>
                    <a:lstStyle/>
                    <a:p>
                      <a:pPr algn="l"/>
                      <a:r>
                        <a:rPr sz="950" b="0">
                          <a:solidFill>
                            <a:srgbClr val="1C1C1E"/>
                          </a:solidFill>
                          <a:latin typeface="Calibri"/>
                        </a:rPr>
                        <a:t>rule_set</a:t>
                      </a:r>
                    </a:p>
                  </a:txBody>
                  <a:tcPr marL="82296" marR="64008" marT="32004" marB="32004" anchor="ctr">
                    <a:solidFill>
                      <a:srgbClr val="F6F3EF"/>
                    </a:solidFill>
                  </a:tcPr>
                </a:tc>
                <a:tc>
                  <a:txBody>
                    <a:bodyPr wrap="square"/>
                    <a:lstStyle/>
                    <a:p>
                      <a:pPr algn="l"/>
                      <a:r>
                        <a:rPr sz="950" b="0">
                          <a:solidFill>
                            <a:srgbClr val="1C1C1E"/>
                          </a:solidFill>
                          <a:latin typeface="Calibri"/>
                        </a:rPr>
                        <a:t>author</a:t>
                      </a:r>
                    </a:p>
                  </a:txBody>
                  <a:tcPr marL="82296" marR="64008" marT="32004" marB="32004" anchor="ctr">
                    <a:solidFill>
                      <a:srgbClr val="F6F3EF"/>
                    </a:solidFill>
                  </a:tcPr>
                </a:tc>
                <a:tc>
                  <a:txBody>
                    <a:bodyPr wrap="square"/>
                    <a:lstStyle/>
                    <a:p>
                      <a:pPr algn="l"/>
                      <a:r>
                        <a:rPr sz="950" b="0">
                          <a:solidFill>
                            <a:srgbClr val="1C1C1E"/>
                          </a:solidFill>
                          <a:latin typeface="Calibri"/>
                        </a:rPr>
                        <a:t>T8</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Vendor score</a:t>
                      </a:r>
                    </a:p>
                  </a:txBody>
                  <a:tcPr marL="82296" marR="64008" marT="32004" marB="32004" anchor="ctr">
                    <a:solidFill>
                      <a:srgbClr val="FFFFFF"/>
                    </a:solidFill>
                  </a:tcPr>
                </a:tc>
                <a:tc>
                  <a:txBody>
                    <a:bodyPr wrap="square"/>
                    <a:lstStyle/>
                    <a:p>
                      <a:pPr algn="l"/>
                      <a:r>
                        <a:rPr sz="950" b="0">
                          <a:solidFill>
                            <a:srgbClr val="1C1C1E"/>
                          </a:solidFill>
                          <a:latin typeface="Calibri"/>
                        </a:rPr>
                        <a:t>exists, unreachable</a:t>
                      </a:r>
                    </a:p>
                  </a:txBody>
                  <a:tcPr marL="82296" marR="64008" marT="32004" marB="32004" anchor="ctr">
                    <a:solidFill>
                      <a:srgbClr val="FFFFFF"/>
                    </a:solidFill>
                  </a:tcPr>
                </a:tc>
                <a:tc>
                  <a:txBody>
                    <a:bodyPr wrap="square"/>
                    <a:lstStyle/>
                    <a:p>
                      <a:pPr algn="l"/>
                      <a:r>
                        <a:rPr sz="950" b="0">
                          <a:solidFill>
                            <a:srgbClr val="1C1C1E"/>
                          </a:solidFill>
                          <a:latin typeface="Calibri"/>
                        </a:rPr>
                        <a:t>somebody else's problem</a:t>
                      </a:r>
                    </a:p>
                  </a:txBody>
                  <a:tcPr marL="82296" marR="64008" marT="32004" marB="32004" anchor="ctr">
                    <a:solidFill>
                      <a:srgbClr val="FFFFFF"/>
                    </a:solidFill>
                  </a:tcPr>
                </a:tc>
                <a:tc>
                  <a:txBody>
                    <a:bodyPr wrap="square"/>
                    <a:lstStyle/>
                    <a:p>
                      <a:pPr algn="l"/>
                      <a:r>
                        <a:rPr sz="950" b="0">
                          <a:solidFill>
                            <a:srgbClr val="1C1C1E"/>
                          </a:solidFill>
                          <a:latin typeface="Calibri"/>
                        </a:rPr>
                        <a:t>opaque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T6</a:t>
                      </a:r>
                    </a:p>
                  </a:txBody>
                  <a:tcPr marL="82296" marR="64008" marT="32004" marB="32004" anchor="ctr">
                    <a:solidFill>
                      <a:srgbClr val="FFFFFF"/>
                    </a:solidFill>
                  </a:tcPr>
                </a:tc>
              </a:tr>
            </a:tbl>
          </a:graphicData>
        </a:graphic>
      </p:graphicFrame>
      <p:sp>
        <p:nvSpPr>
          <p:cNvPr id="11" name="Rectangle 10"/>
          <p:cNvSpPr/>
          <p:nvPr/>
        </p:nvSpPr>
        <p:spPr>
          <a:xfrm>
            <a:off x="777240" y="4874387"/>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874387"/>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993259"/>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never declared. </a:t>
            </a:r>
            <a:r>
              <a:rPr sz="1050" b="0" i="0">
                <a:solidFill>
                  <a:srgbClr val="1C1C1E"/>
                </a:solidFill>
                <a:latin typeface="Calibri"/>
              </a:rPr>
              <a:t>It is derived from the two columns before it, so asking a closed-form pricer for its training set is a type error rather than an empty field, and a rule set is not a second-class citizen squeezed into a schema designed for gradient descent. Everything that follows in this chapter is the same three questions -- how it is saved, managed and served -- asked of each row.</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only thing that actually differs: the medium of 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102</a:t>
            </a:r>
          </a:p>
        </p:txBody>
      </p:sp>
      <p:graphicFrame>
        <p:nvGraphicFramePr>
          <p:cNvPr id="10" name="Table 9"/>
          <p:cNvGraphicFramePr>
            <a:graphicFrameLocks noGrp="1"/>
          </p:cNvGraphicFramePr>
          <p:nvPr/>
        </p:nvGraphicFramePr>
        <p:xfrm>
          <a:off x="777240" y="1353312"/>
          <a:ext cx="10637213" cy="2594610"/>
        </p:xfrm>
        <a:graphic>
          <a:graphicData uri="http://schemas.openxmlformats.org/drawingml/2006/table">
            <a:tbl>
              <a:tblPr firstRow="1">
                <a:tableStyleId>{5C22544A-7EE6-4342-B048-85BDC9FD1C3A}</a:tableStyleId>
              </a:tblPr>
              <a:tblGrid>
                <a:gridCol w="1692076"/>
                <a:gridCol w="1875003"/>
                <a:gridCol w="3246957"/>
                <a:gridCol w="1966467"/>
                <a:gridCol w="1856710"/>
              </a:tblGrid>
              <a:tr h="329184">
                <a:tc>
                  <a:txBody>
                    <a:bodyPr wrap="square"/>
                    <a:lstStyle/>
                    <a:p>
                      <a:pPr algn="l"/>
                      <a:r>
                        <a:rPr sz="1000" b="1">
                          <a:solidFill>
                            <a:srgbClr val="FFFFFF"/>
                          </a:solidFill>
                          <a:latin typeface="Calibri"/>
                        </a:rPr>
                        <a:t>Medium</a:t>
                      </a:r>
                    </a:p>
                  </a:txBody>
                  <a:tcPr marL="82296" marR="64008" marT="32004" marB="32004" anchor="ctr">
                    <a:solidFill>
                      <a:srgbClr val="A51C30"/>
                    </a:solidFill>
                  </a:tcPr>
                </a:tc>
                <a:tc>
                  <a:txBody>
                    <a:bodyPr wrap="square"/>
                    <a:lstStyle/>
                    <a:p>
                      <a:pPr algn="l"/>
                      <a:r>
                        <a:rPr sz="1000" b="1">
                          <a:solidFill>
                            <a:srgbClr val="FFFFFF"/>
                          </a:solidFill>
                          <a:latin typeface="Calibri"/>
                        </a:rPr>
                        <a:t>Size of P</a:t>
                      </a:r>
                    </a:p>
                  </a:txBody>
                  <a:tcPr marL="82296" marR="64008" marT="32004" marB="32004" anchor="ctr">
                    <a:solidFill>
                      <a:srgbClr val="A51C30"/>
                    </a:solidFill>
                  </a:tcPr>
                </a:tc>
                <a:tc>
                  <a:txBody>
                    <a:bodyPr wrap="square"/>
                    <a:lstStyle/>
                    <a:p>
                      <a:pPr algn="l"/>
                      <a:r>
                        <a:rPr sz="1000" b="1">
                          <a:solidFill>
                            <a:srgbClr val="FFFFFF"/>
                          </a:solidFill>
                          <a:latin typeface="Calibri"/>
                        </a:rPr>
                        <a:t>Lives in</a:t>
                      </a:r>
                    </a:p>
                  </a:txBody>
                  <a:tcPr marL="82296" marR="64008" marT="32004" marB="32004" anchor="ctr">
                    <a:solidFill>
                      <a:srgbClr val="A51C30"/>
                    </a:solidFill>
                  </a:tcPr>
                </a:tc>
                <a:tc>
                  <a:txBody>
                    <a:bodyPr wrap="square"/>
                    <a:lstStyle/>
                    <a:p>
                      <a:pPr algn="l"/>
                      <a:r>
                        <a:rPr sz="1000" b="1">
                          <a:solidFill>
                            <a:srgbClr val="FFFFFF"/>
                          </a:solidFill>
                          <a:latin typeface="Calibri"/>
                        </a:rPr>
                        <a:t>A refit is</a:t>
                      </a:r>
                    </a:p>
                  </a:txBody>
                  <a:tcPr marL="82296" marR="64008" marT="32004" marB="32004" anchor="ctr">
                    <a:solidFill>
                      <a:srgbClr val="A51C30"/>
                    </a:solidFill>
                  </a:tcPr>
                </a:tc>
                <a:tc>
                  <a:txBody>
                    <a:bodyPr wrap="square"/>
                    <a:lstStyle/>
                    <a:p>
                      <a:pPr algn="l"/>
                      <a:r>
                        <a:rPr sz="1000" b="1">
                          <a:solidFill>
                            <a:srgbClr val="FFFFFF"/>
                          </a:solidFill>
                          <a:latin typeface="Calibri"/>
                        </a:rPr>
                        <a:t>What replay compares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record</a:t>
                      </a:r>
                    </a:p>
                  </a:txBody>
                  <a:tcPr marL="82296" marR="64008" marT="32004" marB="32004" anchor="ctr">
                    <a:solidFill>
                      <a:srgbClr val="FFFFFF"/>
                    </a:solidFill>
                  </a:tcPr>
                </a:tc>
                <a:tc>
                  <a:txBody>
                    <a:bodyPr wrap="square"/>
                    <a:lstStyle/>
                    <a:p>
                      <a:pPr algn="l"/>
                      <a:r>
                        <a:rPr sz="1000" b="0">
                          <a:solidFill>
                            <a:srgbClr val="1C1C1E"/>
                          </a:solidFill>
                          <a:latin typeface="Calibri"/>
                        </a:rPr>
                        <a:t>tens of numbers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values, re-digested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An artifact</a:t>
                      </a:r>
                    </a:p>
                  </a:txBody>
                  <a:tcPr marL="82296" marR="64008" marT="32004" marB="32004" anchor="ctr">
                    <a:solidFill>
                      <a:srgbClr val="F6F3EF"/>
                    </a:solidFill>
                  </a:tcPr>
                </a:tc>
                <a:tc>
                  <a:txBody>
                    <a:bodyPr wrap="square"/>
                    <a:lstStyle/>
                    <a:p>
                      <a:pPr algn="l"/>
                      <a:r>
                        <a:rPr sz="1000" b="0">
                          <a:solidFill>
                            <a:srgbClr val="1C1C1E"/>
                          </a:solidFill>
                          <a:latin typeface="Calibri"/>
                        </a:rPr>
                        <a:t>megabytes to gigabytes</a:t>
                      </a:r>
                    </a:p>
                  </a:txBody>
                  <a:tcPr marL="82296" marR="64008" marT="32004" marB="32004" anchor="ctr">
                    <a:solidFill>
                      <a:srgbClr val="F6F3EF"/>
                    </a:solidFill>
                  </a:tcPr>
                </a:tc>
                <a:tc>
                  <a:txBody>
                    <a:bodyPr wrap="square"/>
                    <a:lstStyle/>
                    <a:p>
                      <a:pPr algn="l"/>
                      <a:r>
                        <a:rPr sz="1000" b="0">
                          <a:solidFill>
                            <a:srgbClr val="1C1C1E"/>
                          </a:solidFill>
                          <a:latin typeface="Calibri"/>
                        </a:rPr>
                        <a:t>the content-addressed store, under data/artifacts</a:t>
                      </a:r>
                    </a:p>
                  </a:txBody>
                  <a:tcPr marL="82296" marR="64008" marT="32004" marB="32004" anchor="ctr">
                    <a:solidFill>
                      <a:srgbClr val="F6F3EF"/>
                    </a:solidFill>
                  </a:tcPr>
                </a:tc>
                <a:tc>
                  <a:txBody>
                    <a:bodyPr wrap="square"/>
                    <a:lstStyle/>
                    <a:p>
                      <a:pPr algn="l"/>
                      <a:r>
                        <a:rPr sz="1000" b="0">
                          <a:solidFill>
                            <a:srgbClr val="1C1C1E"/>
                          </a:solidFill>
                          <a:latin typeface="Calibri"/>
                        </a:rPr>
                        <a:t>a new model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bytes, re-hashed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 configuration</a:t>
                      </a:r>
                    </a:p>
                  </a:txBody>
                  <a:tcPr marL="82296" marR="64008" marT="32004" marB="32004" anchor="ctr">
                    <a:solidFill>
                      <a:srgbClr val="FFFFFF"/>
                    </a:solidFill>
                  </a:tcPr>
                </a:tc>
                <a:tc>
                  <a:txBody>
                    <a:bodyPr wrap="square"/>
                    <a:lstStyle/>
                    <a:p>
                      <a:pPr algn="l"/>
                      <a:r>
                        <a:rPr sz="1000" b="0">
                          <a:solidFill>
                            <a:srgbClr val="1C1C1E"/>
                          </a:solidFill>
                          <a:latin typeface="Calibri"/>
                        </a:rPr>
                        <a:t>a page of settings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the prompt and corpus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assembly, field by field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 document</a:t>
                      </a:r>
                    </a:p>
                  </a:txBody>
                  <a:tcPr marL="82296" marR="64008" marT="32004" marB="32004" anchor="ctr">
                    <a:solidFill>
                      <a:srgbClr val="F6F3EF"/>
                    </a:solidFill>
                  </a:tcPr>
                </a:tc>
                <a:tc>
                  <a:txBody>
                    <a:bodyPr wrap="square"/>
                    <a:lstStyle/>
                    <a:p>
                      <a:pPr algn="l"/>
                      <a:r>
                        <a:rPr sz="1000" b="0">
                          <a:solidFill>
                            <a:srgbClr val="1C1C1E"/>
                          </a:solidFill>
                          <a:latin typeface="Calibri"/>
                        </a:rPr>
                        <a:t>tens of rules</a:t>
                      </a:r>
                    </a:p>
                  </a:txBody>
                  <a:tcPr marL="82296" marR="64008" marT="32004" marB="32004" anchor="ctr">
                    <a:solidFill>
                      <a:srgbClr val="F6F3EF"/>
                    </a:solidFill>
                  </a:tcPr>
                </a:tc>
                <a:tc>
                  <a:txBody>
                    <a:bodyPr wrap="square"/>
                    <a:lstStyle/>
                    <a:p>
                      <a:pPr algn="l"/>
                      <a:r>
                        <a:rPr sz="1000" b="0">
                          <a:solidFill>
                            <a:srgbClr val="1C1C1E"/>
                          </a:solidFill>
                          <a:latin typeface="Calibri"/>
                        </a:rPr>
                        <a:t>the register, as a parsed tree</a:t>
                      </a:r>
                    </a:p>
                  </a:txBody>
                  <a:tcPr marL="82296" marR="64008" marT="32004" marB="32004" anchor="ctr">
                    <a:solidFill>
                      <a:srgbClr val="F6F3E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6F3EF"/>
                    </a:solidFill>
                  </a:tcPr>
                </a:tc>
                <a:tc>
                  <a:txBody>
                    <a:bodyPr wrap="square"/>
                    <a:lstStyle/>
                    <a:p>
                      <a:pPr algn="l"/>
                      <a:r>
                        <a:rPr sz="1000" b="0">
                          <a:solidFill>
                            <a:srgbClr val="1C1C1E"/>
                          </a:solidFill>
                          <a:latin typeface="Calibri"/>
                        </a:rPr>
                        <a:t>the canonical form, re-digested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zero</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not a thing that happens</a:t>
                      </a:r>
                    </a:p>
                  </a:txBody>
                  <a:tcPr marL="82296" marR="64008" marT="32004" marB="32004" anchor="ctr">
                    <a:solidFill>
                      <a:srgbClr val="FFFFFF"/>
                    </a:solidFill>
                  </a:tcPr>
                </a:tc>
                <a:tc>
                  <a:txBody>
                    <a:bodyPr wrap="square"/>
                    <a:lstStyle/>
                    <a:p>
                      <a:pPr algn="l"/>
                      <a:r>
                        <a:rPr sz="1000" b="0">
                          <a:solidFill>
                            <a:srgbClr val="1C1C1E"/>
                          </a:solidFill>
                          <a:latin typeface="Calibri"/>
                        </a:rPr>
                        <a:t>the inputs and the library version</a:t>
                      </a:r>
                    </a:p>
                  </a:txBody>
                  <a:tcPr marL="82296" marR="64008" marT="32004" marB="32004" anchor="ctr">
                    <a:solidFill>
                      <a:srgbClr val="FFFFFF"/>
                    </a:solidFill>
                  </a:tcPr>
                </a:tc>
              </a:tr>
            </a:tbl>
          </a:graphicData>
        </a:graphic>
      </p:graphicFrame>
      <p:sp>
        <p:nvSpPr>
          <p:cNvPr id="11" name="Rectangle 10"/>
          <p:cNvSpPr/>
          <p:nvPr/>
        </p:nvSpPr>
        <p:spPr>
          <a:xfrm>
            <a:off x="777240" y="422224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22242"/>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4111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the medium decides the unit of change. </a:t>
            </a:r>
            <a:r>
              <a:rPr sz="1050" b="0" i="0">
                <a:solidFill>
                  <a:srgbClr val="1C1C1E"/>
                </a:solidFill>
                <a:latin typeface="Calibri"/>
              </a:rPr>
              <a:t>For a regression the kernel is the equation and the coefficients are a point of P, so refitting moves the point. For a network the artifact IS P and is inseparably also the computation graph -- so retraining creates a new VERSION, not because it is more dangerous, but because the medium does not let the two be told apart, and pretending it does would let a graph change arrive labelled as a recalibration.</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closed-form pricer - where P is empty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103</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empty. P = I, the terminal object</a:t>
                      </a:r>
                    </a:p>
                  </a:txBody>
                  <a:tcPr marL="82296" marR="64008" marT="32004" marB="32004" anchor="ctr">
                    <a:solidFill>
                      <a:srgbClr val="FFFFFF"/>
                    </a:solidFill>
                  </a:tcPr>
                </a:tc>
                <a:tc>
                  <a:txBody>
                    <a:bodyPr wrap="square"/>
                    <a:lstStyle/>
                    <a:p>
                      <a:pPr algn="l"/>
                      <a:r>
                        <a:rPr sz="1000" b="0">
                          <a:solidFill>
                            <a:srgbClr val="1C1C1E"/>
                          </a:solidFill>
                          <a:latin typeface="Calibri"/>
                        </a:rPr>
                        <a:t>nothing is stored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it isn't</a:t>
                      </a:r>
                    </a:p>
                  </a:txBody>
                  <a:tcPr marL="82296" marR="64008" marT="32004" marB="32004" anchor="ctr">
                    <a:solidFill>
                      <a:srgbClr val="F6F3EF"/>
                    </a:solidFill>
                  </a:tcPr>
                </a:tc>
                <a:tc>
                  <a:txBody>
                    <a:bodyPr wrap="square"/>
                    <a:lstStyle/>
                    <a:p>
                      <a:pPr algn="l"/>
                      <a:r>
                        <a:rPr sz="1000" b="0">
                          <a:solidFill>
                            <a:srgbClr val="1C1C1E"/>
                          </a:solidFill>
                          <a:latin typeface="Calibri"/>
                        </a:rPr>
                        <a:t>a fit warrant is refused: nothing_to_fit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none / none</a:t>
                      </a:r>
                    </a:p>
                  </a:txBody>
                  <a:tcPr marL="82296" marR="64008" marT="32004" marB="32004" anchor="ctr">
                    <a:solidFill>
                      <a:srgbClr val="FFFFFF"/>
                    </a:solidFill>
                  </a:tcPr>
                </a:tc>
                <a:tc>
                  <a:txBody>
                    <a:bodyPr wrap="square"/>
                    <a:lstStyle/>
                    <a:p>
                      <a:pPr algn="l"/>
                      <a:r>
                        <a:rPr sz="1000" b="0">
                          <a:solidFill>
                            <a:srgbClr val="1C1C1E"/>
                          </a:solidFill>
                          <a:latin typeface="Calibri"/>
                        </a:rPr>
                        <a:t>class T0,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quantlib</a:t>
                      </a:r>
                    </a:p>
                  </a:txBody>
                  <a:tcPr marL="82296" marR="64008" marT="32004" marB="32004" anchor="ctr">
                    <a:solidFill>
                      <a:srgbClr val="F6F3EF"/>
                    </a:solidFill>
                  </a:tcPr>
                </a:tc>
                <a:tc>
                  <a:txBody>
                    <a:bodyPr wrap="square"/>
                    <a:lstStyle/>
                    <a:p>
                      <a:pPr algn="l"/>
                      <a:r>
                        <a:rPr sz="1000" b="0">
                          <a:solidFill>
                            <a:srgbClr val="1C1C1E"/>
                          </a:solidFill>
                          <a:latin typeface="Calibri"/>
                        </a:rPr>
                        <a:t>entry names instrument and pricing engine</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Conventions, not numbers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Day count, calendar and settlement days live in the kernel entry, immutable in the version. The library version is recorded per run.</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Validated by benchmark</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Against an independent implementation across the strike and tenor grid. Backtesting has no meaning where nothing was fitted.</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Inputs are the governed thing</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curve, the volatility and the valuation date are pinned in the warrant. A date defaulted to the wall clock is refused.</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risk moved from the model to its domain of applicability. </a:t>
            </a:r>
            <a:r>
              <a:rPr sz="1050" b="0" i="0">
                <a:solidFill>
                  <a:srgbClr val="1C1C1E"/>
                </a:solidFill>
                <a:latin typeface="Calibri"/>
              </a:rPr>
              <a:t>There is no performance to decay, because nothing was fitted. What can go wrong is use outside the envelope it was benchmarked in -- so the monitor watches the inputs, and a breach is a finding against the USE rather than against the mathematics.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P is a record — an estimate, a calibration, and a seed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104</a:t>
            </a:r>
          </a:p>
        </p:txBody>
      </p:sp>
      <p:graphicFrame>
        <p:nvGraphicFramePr>
          <p:cNvPr id="10" name="Table 9"/>
          <p:cNvGraphicFramePr>
            <a:graphicFrameLocks noGrp="1"/>
          </p:cNvGraphicFramePr>
          <p:nvPr/>
        </p:nvGraphicFramePr>
        <p:xfrm>
          <a:off x="777240" y="1764792"/>
          <a:ext cx="10637212" cy="2073348"/>
        </p:xfrm>
        <a:graphic>
          <a:graphicData uri="http://schemas.openxmlformats.org/drawingml/2006/table">
            <a:tbl>
              <a:tblPr firstRow="1">
                <a:tableStyleId>{5C22544A-7EE6-4342-B048-85BDC9FD1C3A}</a:tableStyleId>
              </a:tblPr>
              <a:tblGrid>
                <a:gridCol w="1506938"/>
                <a:gridCol w="2127443"/>
                <a:gridCol w="2836590"/>
                <a:gridCol w="1861512"/>
                <a:gridCol w="2304729"/>
              </a:tblGrid>
              <a:tr h="329184">
                <a:tc>
                  <a:txBody>
                    <a:bodyPr wrap="square"/>
                    <a:lstStyle/>
                    <a:p>
                      <a:pPr algn="l"/>
                      <a:r>
                        <a:rPr sz="900" b="1">
                          <a:solidFill>
                            <a:srgbClr val="FFFFFF"/>
                          </a:solidFill>
                          <a:latin typeface="Calibri"/>
                        </a:rPr>
                        <a:t>Model</a:t>
                      </a:r>
                    </a:p>
                  </a:txBody>
                  <a:tcPr marL="82296" marR="64008" marT="32004" marB="32004" anchor="ctr">
                    <a:solidFill>
                      <a:srgbClr val="A51C30"/>
                    </a:solidFill>
                  </a:tcPr>
                </a:tc>
                <a:tc>
                  <a:txBody>
                    <a:bodyPr wrap="square"/>
                    <a:lstStyle/>
                    <a:p>
                      <a:pPr algn="l"/>
                      <a:r>
                        <a:rPr sz="900" b="1">
                          <a:solidFill>
                            <a:srgbClr val="FFFFFF"/>
                          </a:solidFill>
                          <a:latin typeface="Calibri"/>
                        </a:rPr>
                        <a:t>P is</a:t>
                      </a:r>
                    </a:p>
                  </a:txBody>
                  <a:tcPr marL="82296" marR="64008" marT="32004" marB="32004" anchor="ctr">
                    <a:solidFill>
                      <a:srgbClr val="A51C30"/>
                    </a:solidFill>
                  </a:tcPr>
                </a:tc>
                <a:tc>
                  <a:txBody>
                    <a:bodyPr wrap="square"/>
                    <a:lstStyle/>
                    <a:p>
                      <a:pPr algn="l"/>
                      <a:r>
                        <a:rPr sz="900" b="1">
                          <a:solidFill>
                            <a:srgbClr val="FFFFFF"/>
                          </a:solidFill>
                          <a:latin typeface="Calibri"/>
                        </a:rPr>
                        <a:t>Filled by</a:t>
                      </a:r>
                    </a:p>
                  </a:txBody>
                  <a:tcPr marL="82296" marR="64008" marT="32004" marB="32004" anchor="ctr">
                    <a:solidFill>
                      <a:srgbClr val="A51C30"/>
                    </a:solidFill>
                  </a:tcPr>
                </a:tc>
                <a:tc>
                  <a:txBody>
                    <a:bodyPr wrap="square"/>
                    <a:lstStyle/>
                    <a:p>
                      <a:pPr algn="l"/>
                      <a:r>
                        <a:rPr sz="900" b="1">
                          <a:solidFill>
                            <a:srgbClr val="FFFFFF"/>
                          </a:solidFill>
                          <a:latin typeface="Calibri"/>
                        </a:rPr>
                        <a:t>Kind · class</a:t>
                      </a:r>
                    </a:p>
                  </a:txBody>
                  <a:tcPr marL="82296" marR="64008" marT="32004" marB="32004" anchor="ctr">
                    <a:solidFill>
                      <a:srgbClr val="A51C30"/>
                    </a:solidFill>
                  </a:tcPr>
                </a:tc>
                <a:tc>
                  <a:txBody>
                    <a:bodyPr wrap="square"/>
                    <a:lstStyle/>
                    <a:p>
                      <a:pPr algn="l"/>
                      <a:r>
                        <a:rPr sz="900" b="1">
                          <a:solidFill>
                            <a:srgbClr val="FFFFFF"/>
                          </a:solidFill>
                          <a:latin typeface="Calibri"/>
                        </a:rPr>
                        <a:t>What review reads first</a:t>
                      </a:r>
                    </a:p>
                  </a:txBody>
                  <a:tcPr marL="82296" marR="64008" marT="32004" marB="32004" anchor="ctr">
                    <a:solidFill>
                      <a:srgbClr val="A51C30"/>
                    </a:solidFill>
                  </a:tcPr>
                </a:tc>
              </a:tr>
              <a:tr h="436041">
                <a:tc>
                  <a:txBody>
                    <a:bodyPr wrap="square"/>
                    <a:lstStyle/>
                    <a:p>
                      <a:pPr algn="l"/>
                      <a:r>
                        <a:rPr sz="850" b="1">
                          <a:solidFill>
                            <a:srgbClr val="A51C30"/>
                          </a:solidFill>
                          <a:latin typeface="Calibri"/>
                        </a:rPr>
                        <a:t>Linear regression</a:t>
                      </a:r>
                    </a:p>
                  </a:txBody>
                  <a:tcPr marL="82296" marR="64008" marT="32004" marB="32004" anchor="ctr">
                    <a:solidFill>
                      <a:srgbClr val="FFFFFF"/>
                    </a:solidFill>
                  </a:tcPr>
                </a:tc>
                <a:tc>
                  <a:txBody>
                    <a:bodyPr wrap="square"/>
                    <a:lstStyle/>
                    <a:p>
                      <a:pPr algn="l"/>
                      <a:r>
                        <a:rPr sz="850" b="0">
                          <a:solidFill>
                            <a:srgbClr val="1C1C1E"/>
                          </a:solidFill>
                          <a:latin typeface="Calibri"/>
                        </a:rPr>
                        <a:t>an intercept and two slopes</a:t>
                      </a:r>
                    </a:p>
                  </a:txBody>
                  <a:tcPr marL="82296" marR="64008" marT="32004" marB="32004" anchor="ctr">
                    <a:solidFill>
                      <a:srgbClr val="FFFFFF"/>
                    </a:solidFill>
                  </a:tcPr>
                </a:tc>
                <a:tc>
                  <a:txBody>
                    <a:bodyPr wrap="square"/>
                    <a:lstStyle/>
                    <a:p>
                      <a:pPr algn="l"/>
                      <a:r>
                        <a:rPr sz="850" b="0">
                          <a:solidFill>
                            <a:srgbClr val="1C1C1E"/>
                          </a:solidFill>
                          <a:latin typeface="Calibri"/>
                        </a:rPr>
                        <a:t>ordinary least squares, in MAYA's estimator</a:t>
                      </a:r>
                    </a:p>
                  </a:txBody>
                  <a:tcPr marL="82296" marR="64008" marT="32004" marB="32004" anchor="ctr">
                    <a:solidFill>
                      <a:srgbClr val="FFFFFF"/>
                    </a:solidFill>
                  </a:tcPr>
                </a:tc>
                <a:tc>
                  <a:txBody>
                    <a:bodyPr wrap="square"/>
                    <a:lstStyle/>
                    <a:p>
                      <a:pPr algn="l"/>
                      <a:r>
                        <a:rPr sz="850" b="0">
                          <a:solidFill>
                            <a:srgbClr val="1C1C1E"/>
                          </a:solidFill>
                          <a:latin typeface="Calibri"/>
                        </a:rPr>
                        <a:t>estimated_coefficients · T2</a:t>
                      </a:r>
                    </a:p>
                  </a:txBody>
                  <a:tcPr marL="82296" marR="64008" marT="32004" marB="32004" anchor="ctr">
                    <a:solidFill>
                      <a:srgbClr val="FFFFFF"/>
                    </a:solidFill>
                  </a:tcPr>
                </a:tc>
                <a:tc>
                  <a:txBody>
                    <a:bodyPr wrap="square"/>
                    <a:lstStyle/>
                    <a:p>
                      <a:pPr algn="l"/>
                      <a:r>
                        <a:rPr sz="850" b="0">
                          <a:solidFill>
                            <a:srgbClr val="1C1C1E"/>
                          </a:solidFill>
                          <a:latin typeface="Calibri"/>
                        </a:rPr>
                        <a:t>the condition number, before the R-squared</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GARCH / ARIMA</a:t>
                      </a:r>
                    </a:p>
                  </a:txBody>
                  <a:tcPr marL="82296" marR="64008" marT="32004" marB="32004" anchor="ctr">
                    <a:solidFill>
                      <a:srgbClr val="F6F3EF"/>
                    </a:solidFill>
                  </a:tcPr>
                </a:tc>
                <a:tc>
                  <a:txBody>
                    <a:bodyPr wrap="square"/>
                    <a:lstStyle/>
                    <a:p>
                      <a:pPr algn="l"/>
                      <a:r>
                        <a:rPr sz="850" b="0">
                          <a:solidFill>
                            <a:srgbClr val="1C1C1E"/>
                          </a:solidFill>
                          <a:latin typeface="Calibri"/>
                        </a:rPr>
                        <a:t>omega, alpha, beta</a:t>
                      </a:r>
                    </a:p>
                  </a:txBody>
                  <a:tcPr marL="82296" marR="64008" marT="32004" marB="32004" anchor="ctr">
                    <a:solidFill>
                      <a:srgbClr val="F6F3EF"/>
                    </a:solidFill>
                  </a:tcPr>
                </a:tc>
                <a:tc>
                  <a:txBody>
                    <a:bodyPr wrap="square"/>
                    <a:lstStyle/>
                    <a:p>
                      <a:pPr algn="l"/>
                      <a:r>
                        <a:rPr sz="850" b="0">
                          <a:solidFill>
                            <a:srgbClr val="1C1C1E"/>
                          </a:solidFill>
                          <a:latin typeface="Calibri"/>
                        </a:rPr>
                        <a:t>maximum likelihood; an unconverged fit is refused</a:t>
                      </a:r>
                    </a:p>
                  </a:txBody>
                  <a:tcPr marL="82296" marR="64008" marT="32004" marB="32004" anchor="ctr">
                    <a:solidFill>
                      <a:srgbClr val="F6F3EF"/>
                    </a:solidFill>
                  </a:tcPr>
                </a:tc>
                <a:tc>
                  <a:txBody>
                    <a:bodyPr wrap="square"/>
                    <a:lstStyle/>
                    <a:p>
                      <a:pPr algn="l"/>
                      <a:r>
                        <a:rPr sz="850" b="0">
                          <a:solidFill>
                            <a:srgbClr val="1C1C1E"/>
                          </a:solidFill>
                          <a:latin typeface="Calibri"/>
                        </a:rPr>
                        <a:t>estimated_coefficients · T2</a:t>
                      </a:r>
                    </a:p>
                  </a:txBody>
                  <a:tcPr marL="82296" marR="64008" marT="32004" marB="32004" anchor="ctr">
                    <a:solidFill>
                      <a:srgbClr val="F6F3EF"/>
                    </a:solidFill>
                  </a:tcPr>
                </a:tc>
                <a:tc>
                  <a:txBody>
                    <a:bodyPr wrap="square"/>
                    <a:lstStyle/>
                    <a:p>
                      <a:pPr algn="l"/>
                      <a:r>
                        <a:rPr sz="850" b="0">
                          <a:solidFill>
                            <a:srgbClr val="1C1C1E"/>
                          </a:solidFill>
                          <a:latin typeface="Calibri"/>
                        </a:rPr>
                        <a:t>convergence, and alpha + beta &lt; 1, enforced while solving</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Hull-White</a:t>
                      </a:r>
                    </a:p>
                  </a:txBody>
                  <a:tcPr marL="82296" marR="64008" marT="32004" marB="32004" anchor="ctr">
                    <a:solidFill>
                      <a:srgbClr val="FFFFFF"/>
                    </a:solidFill>
                  </a:tcPr>
                </a:tc>
                <a:tc>
                  <a:txBody>
                    <a:bodyPr wrap="square"/>
                    <a:lstStyle/>
                    <a:p>
                      <a:pPr algn="l"/>
                      <a:r>
                        <a:rPr sz="850" b="0">
                          <a:solidFill>
                            <a:srgbClr val="1C1C1E"/>
                          </a:solidFill>
                          <a:latin typeface="Calibri"/>
                        </a:rPr>
                        <a:t>mean reversion, a term structure of sigma</a:t>
                      </a:r>
                    </a:p>
                  </a:txBody>
                  <a:tcPr marL="82296" marR="64008" marT="32004" marB="32004" anchor="ctr">
                    <a:solidFill>
                      <a:srgbClr val="FFFFFF"/>
                    </a:solidFill>
                  </a:tcPr>
                </a:tc>
                <a:tc>
                  <a:txBody>
                    <a:bodyPr wrap="square"/>
                    <a:lstStyle/>
                    <a:p>
                      <a:pPr algn="l"/>
                      <a:r>
                        <a:rPr sz="850" b="0">
                          <a:solidFill>
                            <a:srgbClr val="1C1C1E"/>
                          </a:solidFill>
                          <a:latin typeface="Calibri"/>
                        </a:rPr>
                        <a:t>a solver against the swaption grid, one set a morning</a:t>
                      </a:r>
                    </a:p>
                  </a:txBody>
                  <a:tcPr marL="82296" marR="64008" marT="32004" marB="32004" anchor="ctr">
                    <a:solidFill>
                      <a:srgbClr val="FFFFFF"/>
                    </a:solidFill>
                  </a:tcPr>
                </a:tc>
                <a:tc>
                  <a:txBody>
                    <a:bodyPr wrap="square"/>
                    <a:lstStyle/>
                    <a:p>
                      <a:pPr algn="l"/>
                      <a:r>
                        <a:rPr sz="850" b="0">
                          <a:solidFill>
                            <a:srgbClr val="1C1C1E"/>
                          </a:solidFill>
                          <a:latin typeface="Calibri"/>
                        </a:rPr>
                        <a:t>calibration_set · T1</a:t>
                      </a:r>
                    </a:p>
                  </a:txBody>
                  <a:tcPr marL="82296" marR="64008" marT="32004" marB="32004" anchor="ctr">
                    <a:solidFill>
                      <a:srgbClr val="FFFFFF"/>
                    </a:solidFill>
                  </a:tcPr>
                </a:tc>
                <a:tc>
                  <a:txBody>
                    <a:bodyPr wrap="square"/>
                    <a:lstStyle/>
                    <a:p>
                      <a:pPr algn="l"/>
                      <a:r>
                        <a:rPr sz="850" b="0">
                          <a:solidFill>
                            <a:srgbClr val="1C1C1E"/>
                          </a:solidFill>
                          <a:latin typeface="Calibri"/>
                        </a:rPr>
                        <a:t>the residuals - there is no label to wait for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Monte Carlo XVA</a:t>
                      </a:r>
                    </a:p>
                  </a:txBody>
                  <a:tcPr marL="82296" marR="64008" marT="32004" marB="32004" anchor="ctr">
                    <a:solidFill>
                      <a:srgbClr val="F6F3EF"/>
                    </a:solidFill>
                  </a:tcPr>
                </a:tc>
                <a:tc>
                  <a:txBody>
                    <a:bodyPr wrap="square"/>
                    <a:lstStyle/>
                    <a:p>
                      <a:pPr algn="l"/>
                      <a:r>
                        <a:rPr sz="850" b="0">
                          <a:solidFill>
                            <a:srgbClr val="1C1C1E"/>
                          </a:solidFill>
                          <a:latin typeface="Calibri"/>
                        </a:rPr>
                        <a:t>parameters, seed, paths, scheme, antithetic</a:t>
                      </a:r>
                    </a:p>
                  </a:txBody>
                  <a:tcPr marL="82296" marR="64008" marT="32004" marB="32004" anchor="ctr">
                    <a:solidFill>
                      <a:srgbClr val="F6F3EF"/>
                    </a:solidFill>
                  </a:tcPr>
                </a:tc>
                <a:tc>
                  <a:txBody>
                    <a:bodyPr wrap="square"/>
                    <a:lstStyle/>
                    <a:p>
                      <a:pPr algn="l"/>
                      <a:r>
                        <a:rPr sz="850" b="0">
                          <a:solidFill>
                            <a:srgbClr val="1C1C1E"/>
                          </a:solidFill>
                          <a:latin typeface="Calibri"/>
                        </a:rPr>
                        <a:t>calibration plus deliberate configuration</a:t>
                      </a:r>
                    </a:p>
                  </a:txBody>
                  <a:tcPr marL="82296" marR="64008" marT="32004" marB="32004" anchor="ctr">
                    <a:solidFill>
                      <a:srgbClr val="F6F3EF"/>
                    </a:solidFill>
                  </a:tcPr>
                </a:tc>
                <a:tc>
                  <a:txBody>
                    <a:bodyPr wrap="square"/>
                    <a:lstStyle/>
                    <a:p>
                      <a:pPr algn="l"/>
                      <a:r>
                        <a:rPr sz="850" b="0">
                          <a:solidFill>
                            <a:srgbClr val="1C1C1E"/>
                          </a:solidFill>
                          <a:latin typeface="Calibri"/>
                        </a:rPr>
                        <a:t>calibration_set · T1</a:t>
                      </a:r>
                    </a:p>
                  </a:txBody>
                  <a:tcPr marL="82296" marR="64008" marT="32004" marB="32004" anchor="ctr">
                    <a:solidFill>
                      <a:srgbClr val="F6F3EF"/>
                    </a:solidFill>
                  </a:tcPr>
                </a:tc>
                <a:tc>
                  <a:txBody>
                    <a:bodyPr wrap="square"/>
                    <a:lstStyle/>
                    <a:p>
                      <a:pPr algn="l"/>
                      <a:r>
                        <a:rPr sz="850" b="0">
                          <a:solidFill>
                            <a:srgbClr val="1C1C1E"/>
                          </a:solidFill>
                          <a:latin typeface="Calibri"/>
                        </a:rPr>
                        <a:t>the standard error, and any determinism claim</a:t>
                      </a:r>
                    </a:p>
                  </a:txBody>
                  <a:tcPr marL="82296" marR="64008" marT="32004" marB="32004" anchor="ctr">
                    <a:solidFill>
                      <a:srgbClr val="F6F3EF"/>
                    </a:solidFill>
                  </a:tcPr>
                </a:tc>
              </a:tr>
            </a:tbl>
          </a:graphicData>
        </a:graphic>
      </p:graphicFrame>
      <p:sp>
        <p:nvSpPr>
          <p:cNvPr id="11" name="Rectangle 10"/>
          <p:cNvSpPr/>
          <p:nvPr/>
        </p:nvSpPr>
        <p:spPr>
          <a:xfrm>
            <a:off x="777240"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Values, digested</a:t>
            </a:r>
          </a:p>
        </p:txBody>
      </p:sp>
      <p:sp>
        <p:nvSpPr>
          <p:cNvPr id="15" name="TextBox 14"/>
          <p:cNvSpPr txBox="1"/>
          <p:nvPr/>
        </p:nvSpPr>
        <p:spPr>
          <a:xfrm>
            <a:off x="996695"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Rows in the parameter register. The digest is re-derived from the values at resolve time, never compared against a stored copy of itself.</a:t>
            </a:r>
          </a:p>
        </p:txBody>
      </p:sp>
      <p:sp>
        <p:nvSpPr>
          <p:cNvPr id="16" name="Rectangle 15"/>
          <p:cNvSpPr/>
          <p:nvPr/>
        </p:nvSpPr>
        <p:spPr>
          <a:xfrm>
            <a:off x="4408322"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One review, or one envelope</a:t>
            </a:r>
          </a:p>
        </p:txBody>
      </p:sp>
      <p:sp>
        <p:nvSpPr>
          <p:cNvPr id="20" name="TextBox 19"/>
          <p:cNvSpPr txBox="1"/>
          <p:nvPr/>
        </p:nvSpPr>
        <p:spPr>
          <a:xfrm>
            <a:off x="4627778"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Where sets are rare, each is approved by somebody who did not record it. Where there are 250 a year, a versioned, case-tested envelope accepts what fits and holds what does not - and a gate with no refusing case is refused at publication.</a:t>
            </a:r>
          </a:p>
        </p:txBody>
      </p:sp>
      <p:sp>
        <p:nvSpPr>
          <p:cNvPr id="21" name="Rectangle 20"/>
          <p:cNvSpPr/>
          <p:nvPr/>
        </p:nvSpPr>
        <p:spPr>
          <a:xfrm>
            <a:off x="8039404"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The warrant names the set</a:t>
            </a:r>
          </a:p>
        </p:txBody>
      </p:sp>
      <p:sp>
        <p:nvSpPr>
          <p:cNvPr id="25" name="TextBox 24"/>
          <p:cNvSpPr txBox="1"/>
          <p:nvPr/>
        </p:nvSpPr>
        <p:spPr>
          <a:xfrm>
            <a:off x="8258860"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The descriptor carries the parameter set id and digest. An artifact binding would be a false statement, since there is no artifact.</a:t>
            </a:r>
          </a:p>
        </p:txBody>
      </p:sp>
      <p:sp>
        <p:nvSpPr>
          <p:cNvPr id="26" name="Rectangle 25"/>
          <p:cNvSpPr/>
          <p:nvPr/>
        </p:nvSpPr>
        <p:spPr>
          <a:xfrm>
            <a:off x="777240" y="5648655"/>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648655"/>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767527"/>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An estimate and a calibration differ in what the numbers are for, not in the mathematics. </a:t>
            </a:r>
            <a:r>
              <a:rPr sz="850" b="0" i="0">
                <a:solidFill>
                  <a:srgbClr val="1C1C1E"/>
                </a:solidFill>
                <a:latin typeface="Calibri"/>
              </a:rPr>
              <a:t>An estimate summarises a history; a calibration reproduces a market, and provenance says which - so calibrated is its own class rather than a kind of training, and nobody approves 250 calibrations a year. The captive engine implements ols and garch11 only: fit the rest in your own engine, deliver the parameters back under the warrant, and none of the governance changes.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neural network - where P becomes an artifact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105</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about 20 million weights</a:t>
                      </a:r>
                    </a:p>
                  </a:txBody>
                  <a:tcPr marL="82296" marR="64008" marT="32004" marB="32004" anchor="ctr">
                    <a:solidFill>
                      <a:srgbClr val="FFFFFF"/>
                    </a:solidFill>
                  </a:tcPr>
                </a:tc>
                <a:tc>
                  <a:txBody>
                    <a:bodyPr wrap="square"/>
                    <a:lstStyle/>
                    <a:p>
                      <a:pPr algn="l"/>
                      <a:r>
                        <a:rPr sz="1000" b="0">
                          <a:solidFill>
                            <a:srgbClr val="1C1C1E"/>
                          </a:solidFill>
                          <a:latin typeface="Calibri"/>
                        </a:rPr>
                        <a:t>data/artifacts/9f/2c/9f2c... - the file's name IS its sha256</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 outside MAYA</a:t>
                      </a:r>
                    </a:p>
                  </a:txBody>
                  <a:tcPr marL="82296" marR="64008" marT="32004" marB="32004" anchor="ctr">
                    <a:solidFill>
                      <a:srgbClr val="F6F3EF"/>
                    </a:solidFill>
                  </a:tcPr>
                </a:tc>
                <a:tc>
                  <a:txBody>
                    <a:bodyPr wrap="square"/>
                    <a:lstStyle/>
                    <a:p>
                      <a:pPr algn="l"/>
                      <a:r>
                        <a:rPr sz="1000" b="0">
                          <a:solidFill>
                            <a:srgbClr val="1C1C1E"/>
                          </a:solidFill>
                          <a:latin typeface="Calibri"/>
                        </a:rPr>
                        <a:t>exported to onnx or safetensors, then uploaded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learned_weights / train</a:t>
                      </a:r>
                    </a:p>
                  </a:txBody>
                  <a:tcPr marL="82296" marR="64008" marT="32004" marB="32004" anchor="ctr">
                    <a:solidFill>
                      <a:srgbClr val="FFFFFF"/>
                    </a:solidFill>
                  </a:tcPr>
                </a:tc>
                <a:tc>
                  <a:txBody>
                    <a:bodyPr wrap="square"/>
                    <a:lstStyle/>
                    <a:p>
                      <a:pPr algn="l"/>
                      <a:r>
                        <a:rPr sz="1000" b="0">
                          <a:solidFill>
                            <a:srgbClr val="1C1C1E"/>
                          </a:solidFill>
                          <a:latin typeface="Calibri"/>
                        </a:rPr>
                        <a:t>class T3,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onnx</a:t>
                      </a:r>
                    </a:p>
                  </a:txBody>
                  <a:tcPr marL="82296" marR="64008" marT="32004" marB="32004" anchor="ctr">
                    <a:solidFill>
                      <a:srgbClr val="F6F3EF"/>
                    </a:solidFill>
                  </a:tcPr>
                </a:tc>
                <a:tc>
                  <a:txBody>
                    <a:bodyPr wrap="square"/>
                    <a:lstStyle/>
                    <a:p>
                      <a:pPr algn="l"/>
                      <a:r>
                        <a:rPr sz="1000" b="0">
                          <a:solidFill>
                            <a:srgbClr val="1C1C1E"/>
                          </a:solidFill>
                          <a:latin typeface="Calibri"/>
                        </a:rPr>
                        <a:t>digest verified before the graph is loaded</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Content-addressed bytes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Same weights twice stores once; an artifact cannot be edited in place, because edited bytes are a different address.</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Retraining is a new version</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artifact is P and is also the graph. The old artifact stays, so a replay of last March still finds the file that made the decision.</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warrant says what it is</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Format, size, executes_on_load, held_by_maya and a fetch path. An engine holding the warrant needs nothing else.</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formats execute code when they load. </a:t>
            </a:r>
            <a:r>
              <a:rPr sz="1050" b="0" i="0">
                <a:solidFill>
                  <a:srgbClr val="1C1C1E"/>
                </a:solidFill>
                <a:latin typeface="Calibri"/>
              </a:rPr>
              <a:t>torchscript and tar carry code, so they load in the sandbox and nowhere else; onnx, safetensors, pmml, pfa, json and gguf do not. The list is closed and there is no pickle -- 'we will work it out at load time' is how a pickle gets deserialised in a control plane.</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LLM application - where P is an assembly you configured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106</a:t>
            </a:r>
          </a:p>
        </p:txBody>
      </p:sp>
      <p:graphicFrame>
        <p:nvGraphicFramePr>
          <p:cNvPr id="10" name="Table 9"/>
          <p:cNvGraphicFramePr>
            <a:graphicFrameLocks noGrp="1"/>
          </p:cNvGraphicFramePr>
          <p:nvPr/>
        </p:nvGraphicFramePr>
        <p:xfrm>
          <a:off x="777240" y="1764792"/>
          <a:ext cx="10637214" cy="1766570"/>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base model, prompt, corpus version, tools, decoding, guardrails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prompt and corpus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configuration and retrieval, not fitting</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chose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llm_configuration / configure</a:t>
                      </a:r>
                    </a:p>
                  </a:txBody>
                  <a:tcPr marL="82296" marR="64008" marT="32004" marB="32004" anchor="ctr">
                    <a:solidFill>
                      <a:srgbClr val="FFFFFF"/>
                    </a:solidFill>
                  </a:tcPr>
                </a:tc>
                <a:tc>
                  <a:txBody>
                    <a:bodyPr wrap="square"/>
                    <a:lstStyle/>
                    <a:p>
                      <a:pPr algn="l"/>
                      <a:r>
                        <a:rPr sz="1000" b="0">
                          <a:solidFill>
                            <a:srgbClr val="1C1C1E"/>
                          </a:solidFill>
                          <a:latin typeface="Calibri"/>
                        </a:rPr>
                        <a:t>class T5,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llm.prompt, or llm.agent if it acts</a:t>
                      </a:r>
                    </a:p>
                  </a:txBody>
                  <a:tcPr marL="82296" marR="64008" marT="32004" marB="32004" anchor="ctr">
                    <a:solidFill>
                      <a:srgbClr val="F6F3EF"/>
                    </a:solidFill>
                  </a:tcPr>
                </a:tc>
                <a:tc>
                  <a:txBody>
                    <a:bodyPr wrap="square"/>
                    <a:lstStyle/>
                    <a:p>
                      <a:pPr algn="l"/>
                      <a:r>
                        <a:rPr sz="1000" b="0">
                          <a:solidFill>
                            <a:srgbClr val="1C1C1E"/>
                          </a:solidFill>
                          <a:latin typeface="Calibri"/>
                        </a:rPr>
                        <a:t>stochastic: a determinism claim is refused</a:t>
                      </a:r>
                    </a:p>
                  </a:txBody>
                  <a:tcPr marL="82296" marR="64008" marT="32004" marB="32004" anchor="ctr">
                    <a:solidFill>
                      <a:srgbClr val="F6F3EF"/>
                    </a:solidFill>
                  </a:tcPr>
                </a:tc>
              </a:tr>
            </a:tbl>
          </a:graphicData>
        </a:graphic>
      </p:graphicFrame>
      <p:sp>
        <p:nvSpPr>
          <p:cNvPr id="11" name="Rectangle 10"/>
          <p:cNvSpPr/>
          <p:nvPr/>
        </p:nvSpPr>
        <p:spPr>
          <a:xfrm>
            <a:off x="777240"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prompt is an artifact</a:t>
            </a:r>
          </a:p>
        </p:txBody>
      </p:sp>
      <p:sp>
        <p:nvSpPr>
          <p:cNvPr id="15" name="TextBox 14"/>
          <p:cNvSpPr txBox="1"/>
          <p:nvPr/>
        </p:nvSpPr>
        <p:spPr>
          <a:xfrm>
            <a:off x="996695"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Stored, hashed, named by hash. A prompt edited in a config file is a model change that left no trace, and this is where that stops.</a:t>
            </a:r>
          </a:p>
        </p:txBody>
      </p:sp>
      <p:sp>
        <p:nvSpPr>
          <p:cNvPr id="16" name="Rectangle 15"/>
          <p:cNvSpPr/>
          <p:nvPr/>
        </p:nvSpPr>
        <p:spPr>
          <a:xfrm>
            <a:off x="4408322"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base model moves</a:t>
            </a:r>
          </a:p>
        </p:txBody>
      </p:sp>
      <p:sp>
        <p:nvSpPr>
          <p:cNvPr id="20" name="TextBox 19"/>
          <p:cNvSpPr txBox="1"/>
          <p:nvPr/>
        </p:nvSpPr>
        <p:spPr>
          <a:xfrm>
            <a:off x="4627778"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Provider version is in P, so a gateway upgrade no longer matches the recorded configuration -- a finding, not a silent change.</a:t>
            </a:r>
          </a:p>
        </p:txBody>
      </p:sp>
      <p:sp>
        <p:nvSpPr>
          <p:cNvPr id="21" name="Rectangle 20"/>
          <p:cNvSpPr/>
          <p:nvPr/>
        </p:nvSpPr>
        <p:spPr>
          <a:xfrm>
            <a:off x="8039404"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Output is drafted, not decided</a:t>
            </a:r>
          </a:p>
        </p:txBody>
      </p:sp>
      <p:sp>
        <p:nvSpPr>
          <p:cNvPr id="25" name="TextBox 24"/>
          <p:cNvSpPr txBox="1"/>
          <p:nvPr/>
        </p:nvSpPr>
        <p:spPr>
          <a:xfrm>
            <a:off x="8258860"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Held until a person attests it, ungrounded claims dropped first, and a sample of accepted drafts pulled for review regardless.</a:t>
            </a:r>
          </a:p>
        </p:txBody>
      </p:sp>
      <p:sp>
        <p:nvSpPr>
          <p:cNvPr id="26" name="Rectangle 25"/>
          <p:cNvSpPr/>
          <p:nvPr/>
        </p:nvSpPr>
        <p:spPr>
          <a:xfrm>
            <a:off x="777240" y="5716777"/>
            <a:ext cx="10637215" cy="550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716777"/>
            <a:ext cx="41148" cy="550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835649"/>
            <a:ext cx="10180015" cy="331063"/>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Self-hosting turns this back into the previous slide. </a:t>
            </a:r>
            <a:r>
              <a:rPr sz="850" b="0" i="0">
                <a:solidFill>
                  <a:srgbClr val="1C1C1E"/>
                </a:solidFill>
                <a:latin typeface="Calibri"/>
              </a:rPr>
              <a:t>The checkpoint goes into the artifact store as safetensors or gguf, addressed by its hash, and held_by_maya becomes true. The 8 GiB cap is deliberate: a governance platform is not a model store of last resort. An adapter is a different matter -- a LoRA is small, and it IS the thing you trained.</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authored rule set - where P is a document somebody wrote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107</a:t>
            </a:r>
          </a:p>
        </p:txBody>
      </p:sp>
      <p:graphicFrame>
        <p:nvGraphicFramePr>
          <p:cNvPr id="10" name="Table 9"/>
          <p:cNvGraphicFramePr>
            <a:graphicFrameLocks noGrp="1"/>
          </p:cNvGraphicFramePr>
          <p:nvPr/>
        </p:nvGraphicFramePr>
        <p:xfrm>
          <a:off x="777240" y="176479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ordered rules, first match wins, a stated otherwise</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a parsed document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authorship - nothing was fitted</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wrote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rule_set / author</a:t>
                      </a:r>
                    </a:p>
                  </a:txBody>
                  <a:tcPr marL="82296" marR="64008" marT="32004" marB="32004" anchor="ctr">
                    <a:solidFill>
                      <a:srgbClr val="FFFFFF"/>
                    </a:solidFill>
                  </a:tcPr>
                </a:tc>
                <a:tc>
                  <a:txBody>
                    <a:bodyPr wrap="square"/>
                    <a:lstStyle/>
                    <a:p>
                      <a:pPr algn="l"/>
                      <a:r>
                        <a:rPr sz="1000" b="0">
                          <a:solidFill>
                            <a:srgbClr val="1C1C1E"/>
                          </a:solidFill>
                          <a:latin typeface="Calibri"/>
                        </a:rPr>
                        <a:t>class T8,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rules</a:t>
                      </a:r>
                    </a:p>
                  </a:txBody>
                  <a:tcPr marL="82296" marR="64008" marT="32004" marB="32004" anchor="ctr">
                    <a:solidFill>
                      <a:srgbClr val="F6F3EF"/>
                    </a:solidFill>
                  </a:tcPr>
                </a:tc>
                <a:tc>
                  <a:txBody>
                    <a:bodyPr wrap="square"/>
                    <a:lstStyle/>
                    <a:p>
                      <a:pPr algn="l"/>
                      <a:r>
                        <a:rPr sz="1000" b="0">
                          <a:solidFill>
                            <a:srgbClr val="1C1C1E"/>
                          </a:solidFill>
                          <a:latin typeface="Calibri"/>
                        </a:rPr>
                        <a:t>a condition is a tree, not an expression string</a:t>
                      </a:r>
                    </a:p>
                  </a:txBody>
                  <a:tcPr marL="82296" marR="64008" marT="32004" marB="32004" anchor="ctr">
                    <a:solidFill>
                      <a:srgbClr val="F6F3EF"/>
                    </a:solidFill>
                  </a:tcPr>
                </a:tc>
              </a:tr>
            </a:tbl>
          </a:graphicData>
        </a:graphic>
      </p:graphicFrame>
      <p:sp>
        <p:nvSpPr>
          <p:cNvPr id="11" name="Rectangle 10"/>
          <p:cNvSpPr/>
          <p:nvPr/>
        </p:nvSpPr>
        <p:spPr>
          <a:xfrm>
            <a:off x="777240"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parsed form is what is digested</a:t>
            </a:r>
          </a:p>
        </p:txBody>
      </p:sp>
      <p:sp>
        <p:nvSpPr>
          <p:cNvPr id="15" name="TextBox 14"/>
          <p:cNvSpPr txBox="1"/>
          <p:nvPr/>
        </p:nvSpPr>
        <p:spPr>
          <a:xfrm>
            <a:off x="996695"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Reformatting the document is not a new parameter set. Reordering the rules is, because first match wins and order is meaning.</a:t>
            </a:r>
          </a:p>
        </p:txBody>
      </p:sp>
      <p:sp>
        <p:nvSpPr>
          <p:cNvPr id="16" name="Rectangle 15"/>
          <p:cNvSpPr/>
          <p:nvPr/>
        </p:nvSpPr>
        <p:spPr>
          <a:xfrm>
            <a:off x="4408322"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Approved like any other P</a:t>
            </a:r>
          </a:p>
        </p:txBody>
      </p:sp>
      <p:sp>
        <p:nvSpPr>
          <p:cNvPr id="20" name="TextBox 19"/>
          <p:cNvSpPr txBox="1"/>
          <p:nvPr/>
        </p:nvSpPr>
        <p:spPr>
          <a:xfrm>
            <a:off x="4627778"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By somebody other than the author. Every rule carries a because - a rule with no stated reason cannot be defended, reviewed, or retired later.</a:t>
            </a:r>
          </a:p>
        </p:txBody>
      </p:sp>
      <p:sp>
        <p:nvSpPr>
          <p:cNvPr id="21" name="Rectangle 20"/>
          <p:cNvSpPr/>
          <p:nvPr/>
        </p:nvSpPr>
        <p:spPr>
          <a:xfrm>
            <a:off x="8039404"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 refusal no spreadsheet gives you</a:t>
            </a:r>
          </a:p>
        </p:txBody>
      </p:sp>
      <p:sp>
        <p:nvSpPr>
          <p:cNvPr id="25" name="TextBox 24"/>
          <p:cNvSpPr txBox="1"/>
          <p:nvPr/>
        </p:nvSpPr>
        <p:spPr>
          <a:xfrm>
            <a:off x="8258860"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A rule an earlier rule already covers can never fire. Publishing is refused: rule_unreachable, naming the rule that shadows it.</a:t>
            </a:r>
          </a:p>
        </p:txBody>
      </p:sp>
      <p:sp>
        <p:nvSpPr>
          <p:cNvPr id="26" name="Rectangle 25"/>
          <p:cNvSpPr/>
          <p:nvPr/>
        </p:nvSpPr>
        <p:spPr>
          <a:xfrm>
            <a:off x="777240" y="5546344"/>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546344"/>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665215"/>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 rule that never fires never produces a wrong answer. </a:t>
            </a:r>
            <a:r>
              <a:rPr sz="850" b="0" i="0">
                <a:solidFill>
                  <a:srgbClr val="1C1C1E"/>
                </a:solidFill>
                <a:latin typeface="Calibri"/>
              </a:rPr>
              <a:t>It appears in the model card, gets cited in a committee paper and survives every review - a control reporting success while doing nothing. The analysis is deliberately sound and incomplete: it calls a rule unreachable only when a SINGLE earlier rule covers it, because a check that cries wolf is a check somebody turns off.</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real series, on two different clocks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108</a:t>
            </a:r>
          </a:p>
        </p:txBody>
      </p:sp>
      <p:graphicFrame>
        <p:nvGraphicFramePr>
          <p:cNvPr id="10" name="Table 9"/>
          <p:cNvGraphicFramePr>
            <a:graphicFrameLocks noGrp="1"/>
          </p:cNvGraphicFramePr>
          <p:nvPr/>
        </p:nvGraphicFramePr>
        <p:xfrm>
          <a:off x="777240" y="1353312"/>
          <a:ext cx="4893117" cy="1785044"/>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px_close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7730.99</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7711.76</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7686.14</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7631.47</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7666.60</a:t>
                      </a:r>
                    </a:p>
                  </a:txBody>
                  <a:tcPr marL="82296" marR="64008" marT="32004" marB="32004" anchor="ctr">
                    <a:solidFill>
                      <a:srgbClr val="FFFFFF"/>
                    </a:solidFill>
                  </a:tcPr>
                </a:tc>
              </a:tr>
            </a:tbl>
          </a:graphicData>
        </a:graphic>
      </p:graphicFrame>
      <p:sp>
        <p:nvSpPr>
          <p:cNvPr id="11" name="TextBox 10"/>
          <p:cNvSpPr txBox="1"/>
          <p:nvPr/>
        </p:nvSpPr>
        <p:spPr>
          <a:xfrm>
            <a:off x="777240" y="3266376"/>
            <a:ext cx="4893118" cy="402336"/>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sp500_daily.csv</a:t>
            </a:r>
            <a:r>
              <a:rPr sz="880" b="0" i="0">
                <a:solidFill>
                  <a:srgbClr val="4A4F57"/>
                </a:solidFill>
                <a:latin typeface="Calibri"/>
              </a:rPr>
              <a:t>   FRED series SP500, 254 rows. The two clocks are equal: an index close is known the day it happens.</a:t>
            </a:r>
          </a:p>
        </p:txBody>
      </p:sp>
      <p:graphicFrame>
        <p:nvGraphicFramePr>
          <p:cNvPr id="12" name="Table 11"/>
          <p:cNvGraphicFramePr>
            <a:graphicFrameLocks noGrp="1"/>
          </p:cNvGraphicFramePr>
          <p:nvPr/>
        </p:nvGraphicFramePr>
        <p:xfrm>
          <a:off x="777240" y="3705288"/>
          <a:ext cx="4893117" cy="1202700"/>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u3_rate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2026-06-30</a:t>
                      </a:r>
                    </a:p>
                  </a:txBody>
                  <a:tcPr marL="82296" marR="64008" marT="32004" marB="32004" anchor="ctr">
                    <a:solidFill>
                      <a:srgbClr val="FFFFFF"/>
                    </a:solidFill>
                  </a:tcPr>
                </a:tc>
                <a:tc>
                  <a:txBody>
                    <a:bodyPr wrap="square"/>
                    <a:lstStyle/>
                    <a:p>
                      <a:pPr algn="l"/>
                      <a:r>
                        <a:rPr sz="850" b="0">
                          <a:solidFill>
                            <a:srgbClr val="1C1C1E"/>
                          </a:solidFill>
                          <a:latin typeface="Calibri"/>
                        </a:rPr>
                        <a:t>2026-07-03</a:t>
                      </a:r>
                    </a:p>
                  </a:txBody>
                  <a:tcPr marL="82296" marR="64008" marT="32004" marB="32004" anchor="ctr">
                    <a:solidFill>
                      <a:srgbClr val="FFFFFF"/>
                    </a:solidFill>
                  </a:tcPr>
                </a:tc>
                <a:tc>
                  <a:txBody>
                    <a:bodyPr wrap="square"/>
                    <a:lstStyle/>
                    <a:p>
                      <a:pPr algn="l"/>
                      <a:r>
                        <a:rPr sz="850" b="0">
                          <a:solidFill>
                            <a:srgbClr val="1C1C1E"/>
                          </a:solidFill>
                          <a:latin typeface="Calibri"/>
                        </a:rPr>
                        <a:t>4.2</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2026-07-31</a:t>
                      </a:r>
                    </a:p>
                  </a:txBody>
                  <a:tcPr marL="82296" marR="64008" marT="32004" marB="32004" anchor="ctr">
                    <a:solidFill>
                      <a:srgbClr val="F6F3EF"/>
                    </a:solidFill>
                  </a:tcPr>
                </a:tc>
                <a:tc>
                  <a:txBody>
                    <a:bodyPr wrap="square"/>
                    <a:lstStyle/>
                    <a:p>
                      <a:pPr algn="l"/>
                      <a:r>
                        <a:rPr sz="850" b="0">
                          <a:solidFill>
                            <a:srgbClr val="1C1C1E"/>
                          </a:solidFill>
                          <a:latin typeface="Calibri"/>
                        </a:rPr>
                        <a:t>2026-08-07</a:t>
                      </a:r>
                    </a:p>
                  </a:txBody>
                  <a:tcPr marL="82296" marR="64008" marT="32004" marB="32004" anchor="ctr">
                    <a:solidFill>
                      <a:srgbClr val="F6F3EF"/>
                    </a:solidFill>
                  </a:tcPr>
                </a:tc>
                <a:tc>
                  <a:txBody>
                    <a:bodyPr wrap="square"/>
                    <a:lstStyle/>
                    <a:p>
                      <a:pPr algn="l"/>
                      <a:r>
                        <a:rPr sz="850" b="0">
                          <a:solidFill>
                            <a:srgbClr val="1C1C1E"/>
                          </a:solidFill>
                          <a:latin typeface="Calibri"/>
                        </a:rPr>
                        <a:t>4.1</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2026-09-04</a:t>
                      </a:r>
                    </a:p>
                  </a:txBody>
                  <a:tcPr marL="82296" marR="64008" marT="32004" marB="32004" anchor="ctr">
                    <a:solidFill>
                      <a:srgbClr val="FFFFFF"/>
                    </a:solidFill>
                  </a:tcPr>
                </a:tc>
                <a:tc>
                  <a:txBody>
                    <a:bodyPr wrap="square"/>
                    <a:lstStyle/>
                    <a:p>
                      <a:pPr algn="l"/>
                      <a:r>
                        <a:rPr sz="850" b="0">
                          <a:solidFill>
                            <a:srgbClr val="1C1C1E"/>
                          </a:solidFill>
                          <a:latin typeface="Calibri"/>
                        </a:rPr>
                        <a:t>4.1</a:t>
                      </a:r>
                    </a:p>
                  </a:txBody>
                  <a:tcPr marL="82296" marR="64008" marT="32004" marB="32004" anchor="ctr">
                    <a:solidFill>
                      <a:srgbClr val="FFFFFF"/>
                    </a:solidFill>
                  </a:tcPr>
                </a:tc>
              </a:tr>
            </a:tbl>
          </a:graphicData>
        </a:graphic>
      </p:graphicFrame>
      <p:sp>
        <p:nvSpPr>
          <p:cNvPr id="13" name="TextBox 12"/>
          <p:cNvSpPr txBox="1"/>
          <p:nvPr/>
        </p:nvSpPr>
        <p:spPr>
          <a:xfrm>
            <a:off x="777240" y="5036007"/>
            <a:ext cx="4893118" cy="548640"/>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us_unemployment_monthly.csv</a:t>
            </a:r>
            <a:r>
              <a:rPr sz="880" b="0" i="0">
                <a:solidFill>
                  <a:srgbClr val="4A4F57"/>
                </a:solidFill>
                <a:latin typeface="Calibri"/>
              </a:rPr>
              <a:t>   FRED series UNRATE, keyed to the same entity: the index is what is being modelled and the rate is a feature of it. ingest_ts is the first Friday of the following month — the BLS release convention, computed and labelled as such rather than passed off as a fetched vintage date.</a:t>
            </a:r>
          </a:p>
        </p:txBody>
      </p:sp>
      <p:sp>
        <p:nvSpPr>
          <p:cNvPr id="14" name="TextBox 13"/>
          <p:cNvSpPr txBox="1"/>
          <p:nvPr/>
        </p:nvSpPr>
        <p:spPr>
          <a:xfrm>
            <a:off x="6095847" y="1353312"/>
            <a:ext cx="5318607" cy="310896"/>
          </a:xfrm>
          <a:prstGeom prst="rect">
            <a:avLst/>
          </a:prstGeom>
          <a:noFill/>
        </p:spPr>
        <p:txBody>
          <a:bodyPr wrap="square" lIns="0" rIns="0" tIns="0" bIns="0" anchor="t">
            <a:spAutoFit/>
          </a:bodyPr>
          <a:lstStyle/>
          <a:p>
            <a:pPr algn="l">
              <a:spcBef>
                <a:spcPts val="0"/>
              </a:spcBef>
              <a:spcAft>
                <a:spcPts val="800"/>
              </a:spcAft>
            </a:pPr>
            <a:r>
              <a:rPr sz="1300" b="1" i="0">
                <a:solidFill>
                  <a:srgbClr val="A51C30"/>
                </a:solidFill>
                <a:latin typeface="Georgia"/>
              </a:rPr>
              <a:t>August’s rate was true on the 31st and known on the 4th</a:t>
            </a:r>
          </a:p>
          <a:p>
            <a:pPr>
              <a:lnSpc>
                <a:spcPct val="125000"/>
              </a:lnSpc>
              <a:spcBef>
                <a:spcPts val="0"/>
              </a:spcBef>
              <a:spcAft>
                <a:spcPts val="1000"/>
              </a:spcAft>
            </a:pPr>
            <a:r>
              <a:rPr sz="1100" b="0" i="0">
                <a:solidFill>
                  <a:srgbClr val="1C1C1E"/>
                </a:solidFill>
                <a:latin typeface="Calibri"/>
              </a:rPr>
              <a:t>A model trained on the 1st of September using August’s figure is using a number that did not exist yet. It back-tests beautifully and disappoints in production, and no metric says why.</a:t>
            </a:r>
          </a:p>
          <a:p>
            <a:pPr>
              <a:lnSpc>
                <a:spcPct val="125000"/>
              </a:lnSpc>
              <a:spcBef>
                <a:spcPts val="0"/>
              </a:spcBef>
              <a:spcAft>
                <a:spcPts val="1000"/>
              </a:spcAft>
            </a:pPr>
            <a:r>
              <a:rPr sz="1100" b="0" i="0">
                <a:solidFill>
                  <a:srgbClr val="4A4F57"/>
                </a:solidFill>
                <a:latin typeface="Calibri"/>
              </a:rPr>
              <a:t>That is the ordinary shape of every macroeconomic series a bank uses — published late, revised afterwards — and it is why every row here carries two stamps rather than one.</a:t>
            </a:r>
          </a:p>
          <a:p>
            <a:pPr>
              <a:lnSpc>
                <a:spcPct val="125000"/>
              </a:lnSpc>
              <a:spcBef>
                <a:spcPts val="0"/>
              </a:spcBef>
              <a:spcAft>
                <a:spcPts val="0"/>
              </a:spcAft>
            </a:pPr>
            <a:r>
              <a:rPr sz="1100" b="1" i="0">
                <a:solidFill>
                  <a:srgbClr val="A51C30"/>
                </a:solidFill>
                <a:latin typeface="Calibri"/>
              </a:rPr>
              <a:t>Both are scalars, shape []. </a:t>
            </a:r>
            <a:r>
              <a:rPr sz="1100" b="0" i="0">
                <a:solidFill>
                  <a:srgbClr val="4A4F57"/>
                </a:solidFill>
                <a:latin typeface="Calibri"/>
              </a:rPr>
              <a:t>The curve earlier was a vector; these are not. The shape is declared either way, because a shape nobody states is a shape somebody assumes.</a:t>
            </a:r>
          </a:p>
        </p:txBody>
      </p:sp>
      <p:sp>
        <p:nvSpPr>
          <p:cNvPr id="15" name="Rectangle 14"/>
          <p:cNvSpPr/>
          <p:nvPr/>
        </p:nvSpPr>
        <p:spPr>
          <a:xfrm>
            <a:off x="6095847" y="4261104"/>
            <a:ext cx="5318607"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095847" y="4261104"/>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333591" y="4379976"/>
            <a:ext cx="4861407"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numbers on these slides were not invented. </a:t>
            </a:r>
            <a:r>
              <a:rPr sz="1050" b="0" i="0">
                <a:solidFill>
                  <a:srgbClr val="1C1C1E"/>
                </a:solidFill>
                <a:latin typeface="Calibri"/>
              </a:rPr>
              <a:t>Both files were pulled from FRED on 4 September 2026 and ship beside the deck in docs/examples/ — </a:t>
            </a:r>
            <a:r>
              <a:rPr sz="1050" b="1" i="0">
                <a:solidFill>
                  <a:srgbClr val="1C1C1E"/>
                </a:solidFill>
                <a:latin typeface="Calibri"/>
              </a:rPr>
              <a:t>every figure that follows was computed from them.</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gap in October is really there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109</a:t>
            </a:r>
          </a:p>
        </p:txBody>
      </p:sp>
      <p:graphicFrame>
        <p:nvGraphicFramePr>
          <p:cNvPr id="10" name="Table 9"/>
          <p:cNvGraphicFramePr>
            <a:graphicFrameLocks noGrp="1"/>
          </p:cNvGraphicFramePr>
          <p:nvPr/>
        </p:nvGraphicFramePr>
        <p:xfrm>
          <a:off x="777240" y="1353312"/>
          <a:ext cx="6382327" cy="2427042"/>
        </p:xfrm>
        <a:graphic>
          <a:graphicData uri="http://schemas.openxmlformats.org/drawingml/2006/table">
            <a:tbl>
              <a:tblPr firstRow="1">
                <a:tableStyleId>{5C22544A-7EE6-4342-B048-85BDC9FD1C3A}</a:tableStyleId>
              </a:tblPr>
              <a:tblGrid>
                <a:gridCol w="1005811"/>
                <a:gridCol w="1417279"/>
                <a:gridCol w="1051529"/>
                <a:gridCol w="1462998"/>
                <a:gridCol w="1444710"/>
              </a:tblGrid>
              <a:tr h="329184">
                <a:tc>
                  <a:txBody>
                    <a:bodyPr wrap="square"/>
                    <a:lstStyle/>
                    <a:p>
                      <a:pPr algn="l"/>
                      <a:r>
                        <a:rPr sz="900" b="1">
                          <a:solidFill>
                            <a:srgbClr val="FFFFFF"/>
                          </a:solidFill>
                          <a:latin typeface="Calibri"/>
                        </a:rPr>
                        <a:t>month</a:t>
                      </a:r>
                    </a:p>
                  </a:txBody>
                  <a:tcPr marL="82296" marR="64008" marT="32004" marB="32004" anchor="ctr">
                    <a:solidFill>
                      <a:srgbClr val="A51C30"/>
                    </a:solidFill>
                  </a:tcPr>
                </a:tc>
                <a:tc>
                  <a:txBody>
                    <a:bodyPr wrap="square"/>
                    <a:lstStyle/>
                    <a:p>
                      <a:pPr algn="l"/>
                      <a:r>
                        <a:rPr sz="900" b="1">
                          <a:solidFill>
                            <a:srgbClr val="FFFFFF"/>
                          </a:solidFill>
                          <a:latin typeface="Calibri"/>
                        </a:rPr>
                        <a:t>S&amp;P 500 close</a:t>
                      </a:r>
                    </a:p>
                  </a:txBody>
                  <a:tcPr marL="82296" marR="64008" marT="32004" marB="32004" anchor="ctr">
                    <a:solidFill>
                      <a:srgbClr val="A51C30"/>
                    </a:solidFill>
                  </a:tcPr>
                </a:tc>
                <a:tc>
                  <a:txBody>
                    <a:bodyPr wrap="square"/>
                    <a:lstStyle/>
                    <a:p>
                      <a:pPr algn="l"/>
                      <a:r>
                        <a:rPr sz="900" b="1">
                          <a:solidFill>
                            <a:srgbClr val="FFFFFF"/>
                          </a:solidFill>
                          <a:latin typeface="Calibri"/>
                        </a:rPr>
                        <a:t>return %</a:t>
                      </a:r>
                    </a:p>
                  </a:txBody>
                  <a:tcPr marL="82296" marR="64008" marT="32004" marB="32004" anchor="ctr">
                    <a:solidFill>
                      <a:srgbClr val="A51C30"/>
                    </a:solidFill>
                  </a:tcPr>
                </a:tc>
                <a:tc>
                  <a:txBody>
                    <a:bodyPr wrap="square"/>
                    <a:lstStyle/>
                    <a:p>
                      <a:pPr algn="l"/>
                      <a:r>
                        <a:rPr sz="900" b="1">
                          <a:solidFill>
                            <a:srgbClr val="FFFFFF"/>
                          </a:solidFill>
                          <a:latin typeface="Calibri"/>
                        </a:rPr>
                        <a:t>u3 rate</a:t>
                      </a:r>
                    </a:p>
                  </a:txBody>
                  <a:tcPr marL="82296" marR="64008" marT="32004" marB="32004" anchor="ctr">
                    <a:solidFill>
                      <a:srgbClr val="A51C30"/>
                    </a:solidFill>
                  </a:tcPr>
                </a:tc>
                <a:tc>
                  <a:txBody>
                    <a:bodyPr wrap="square"/>
                    <a:lstStyle/>
                    <a:p>
                      <a:pPr algn="l"/>
                      <a:r>
                        <a:rPr sz="900" b="1">
                          <a:solidFill>
                            <a:srgbClr val="FFFFFF"/>
                          </a:solidFill>
                          <a:latin typeface="Calibri"/>
                        </a:rPr>
                        <a:t>as the set reads it</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2025-09</a:t>
                      </a:r>
                    </a:p>
                  </a:txBody>
                  <a:tcPr marL="82296" marR="64008" marT="32004" marB="32004" anchor="ctr">
                    <a:solidFill>
                      <a:srgbClr val="FFFFFF"/>
                    </a:solidFill>
                  </a:tcPr>
                </a:tc>
                <a:tc>
                  <a:txBody>
                    <a:bodyPr wrap="square"/>
                    <a:lstStyle/>
                    <a:p>
                      <a:pPr algn="l"/>
                      <a:r>
                        <a:rPr sz="900" b="0">
                          <a:solidFill>
                            <a:srgbClr val="1C1C1E"/>
                          </a:solidFill>
                          <a:latin typeface="Calibri"/>
                        </a:rPr>
                        <a:t>6688.46</a:t>
                      </a:r>
                    </a:p>
                  </a:txBody>
                  <a:tcPr marL="82296" marR="64008" marT="32004" marB="32004" anchor="ctr">
                    <a:solidFill>
                      <a:srgbClr val="FFFFFF"/>
                    </a:solidFill>
                  </a:tcPr>
                </a:tc>
                <a:tc>
                  <a:txBody>
                    <a:bodyPr wrap="square"/>
                    <a:lstStyle/>
                    <a:p>
                      <a:pPr algn="l"/>
                      <a:r>
                        <a:rPr sz="900" b="0">
                          <a:solidFill>
                            <a:srgbClr val="1C1C1E"/>
                          </a:solidFill>
                          <a:latin typeface="Calibri"/>
                        </a:rPr>
                        <a:t>+3.53</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2025-10</a:t>
                      </a:r>
                    </a:p>
                  </a:txBody>
                  <a:tcPr marL="82296" marR="64008" marT="32004" marB="32004" anchor="ctr">
                    <a:solidFill>
                      <a:srgbClr val="F6F3EF"/>
                    </a:solidFill>
                  </a:tcPr>
                </a:tc>
                <a:tc>
                  <a:txBody>
                    <a:bodyPr wrap="square"/>
                    <a:lstStyle/>
                    <a:p>
                      <a:pPr algn="l"/>
                      <a:r>
                        <a:rPr sz="900" b="0">
                          <a:solidFill>
                            <a:srgbClr val="1C1C1E"/>
                          </a:solidFill>
                          <a:latin typeface="Calibri"/>
                        </a:rPr>
                        <a:t>6840.20</a:t>
                      </a:r>
                    </a:p>
                  </a:txBody>
                  <a:tcPr marL="82296" marR="64008" marT="32004" marB="32004" anchor="ctr">
                    <a:solidFill>
                      <a:srgbClr val="F6F3EF"/>
                    </a:solidFill>
                  </a:tcPr>
                </a:tc>
                <a:tc>
                  <a:txBody>
                    <a:bodyPr wrap="square"/>
                    <a:lstStyle/>
                    <a:p>
                      <a:pPr algn="l"/>
                      <a:r>
                        <a:rPr sz="900" b="0">
                          <a:solidFill>
                            <a:srgbClr val="1C1C1E"/>
                          </a:solidFill>
                          <a:latin typeface="Calibri"/>
                        </a:rPr>
                        <a:t>+2.27</a:t>
                      </a:r>
                    </a:p>
                  </a:txBody>
                  <a:tcPr marL="82296" marR="64008" marT="32004" marB="32004" anchor="ctr">
                    <a:solidFill>
                      <a:srgbClr val="F6F3EF"/>
                    </a:solidFill>
                  </a:tcPr>
                </a:tc>
                <a:tc>
                  <a:txBody>
                    <a:bodyPr wrap="square"/>
                    <a:lstStyle/>
                    <a:p>
                      <a:pPr algn="l"/>
                      <a:r>
                        <a:rPr sz="900" b="0">
                          <a:solidFill>
                            <a:srgbClr val="1C1C1E"/>
                          </a:solidFill>
                          <a:latin typeface="Calibri"/>
                        </a:rPr>
                        <a:t>—  not published</a:t>
                      </a:r>
                    </a:p>
                  </a:txBody>
                  <a:tcPr marL="82296" marR="64008" marT="32004" marB="32004" anchor="ctr">
                    <a:solidFill>
                      <a:srgbClr val="F6F3EF"/>
                    </a:solidFill>
                  </a:tcPr>
                </a:tc>
                <a:tc>
                  <a:txBody>
                    <a:bodyPr wrap="square"/>
                    <a:lstStyle/>
                    <a:p>
                      <a:pPr algn="l"/>
                      <a:r>
                        <a:rPr sz="900" b="0">
                          <a:solidFill>
                            <a:srgbClr val="1C1C1E"/>
                          </a:solidFill>
                          <a:latin typeface="Calibri"/>
                        </a:rPr>
                        <a:t>4.4   carried forward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2025-11</a:t>
                      </a:r>
                    </a:p>
                  </a:txBody>
                  <a:tcPr marL="82296" marR="64008" marT="32004" marB="32004" anchor="ctr">
                    <a:solidFill>
                      <a:srgbClr val="FFFFFF"/>
                    </a:solidFill>
                  </a:tcPr>
                </a:tc>
                <a:tc>
                  <a:txBody>
                    <a:bodyPr wrap="square"/>
                    <a:lstStyle/>
                    <a:p>
                      <a:pPr algn="l"/>
                      <a:r>
                        <a:rPr sz="900" b="0">
                          <a:solidFill>
                            <a:srgbClr val="1C1C1E"/>
                          </a:solidFill>
                          <a:latin typeface="Calibri"/>
                        </a:rPr>
                        <a:t>6849.09</a:t>
                      </a:r>
                    </a:p>
                  </a:txBody>
                  <a:tcPr marL="82296" marR="64008" marT="32004" marB="32004" anchor="ctr">
                    <a:solidFill>
                      <a:srgbClr val="FFFFFF"/>
                    </a:solidFill>
                  </a:tcPr>
                </a:tc>
                <a:tc>
                  <a:txBody>
                    <a:bodyPr wrap="square"/>
                    <a:lstStyle/>
                    <a:p>
                      <a:pPr algn="l"/>
                      <a:r>
                        <a:rPr sz="900" b="0">
                          <a:solidFill>
                            <a:srgbClr val="1C1C1E"/>
                          </a:solidFill>
                          <a:latin typeface="Calibri"/>
                        </a:rPr>
                        <a:t>+0.13</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2025-12</a:t>
                      </a:r>
                    </a:p>
                  </a:txBody>
                  <a:tcPr marL="82296" marR="64008" marT="32004" marB="32004" anchor="ctr">
                    <a:solidFill>
                      <a:srgbClr val="F6F3EF"/>
                    </a:solidFill>
                  </a:tcPr>
                </a:tc>
                <a:tc>
                  <a:txBody>
                    <a:bodyPr wrap="square"/>
                    <a:lstStyle/>
                    <a:p>
                      <a:pPr algn="l"/>
                      <a:r>
                        <a:rPr sz="900" b="0">
                          <a:solidFill>
                            <a:srgbClr val="1C1C1E"/>
                          </a:solidFill>
                          <a:latin typeface="Calibri"/>
                        </a:rPr>
                        <a:t>6845.50</a:t>
                      </a:r>
                    </a:p>
                  </a:txBody>
                  <a:tcPr marL="82296" marR="64008" marT="32004" marB="32004" anchor="ctr">
                    <a:solidFill>
                      <a:srgbClr val="F6F3EF"/>
                    </a:solidFill>
                  </a:tcPr>
                </a:tc>
                <a:tc>
                  <a:txBody>
                    <a:bodyPr wrap="square"/>
                    <a:lstStyle/>
                    <a:p>
                      <a:pPr algn="l"/>
                      <a:r>
                        <a:rPr sz="900" b="0">
                          <a:solidFill>
                            <a:srgbClr val="1C1C1E"/>
                          </a:solidFill>
                          <a:latin typeface="Calibri"/>
                        </a:rPr>
                        <a:t>−0.05</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2026-03</a:t>
                      </a:r>
                    </a:p>
                  </a:txBody>
                  <a:tcPr marL="82296" marR="64008" marT="32004" marB="32004" anchor="ctr">
                    <a:solidFill>
                      <a:srgbClr val="FFFFFF"/>
                    </a:solidFill>
                  </a:tcPr>
                </a:tc>
                <a:tc>
                  <a:txBody>
                    <a:bodyPr wrap="square"/>
                    <a:lstStyle/>
                    <a:p>
                      <a:pPr algn="l"/>
                      <a:r>
                        <a:rPr sz="900" b="0">
                          <a:solidFill>
                            <a:srgbClr val="1C1C1E"/>
                          </a:solidFill>
                          <a:latin typeface="Calibri"/>
                        </a:rPr>
                        <a:t>6528.52</a:t>
                      </a:r>
                    </a:p>
                  </a:txBody>
                  <a:tcPr marL="82296" marR="64008" marT="32004" marB="32004" anchor="ctr">
                    <a:solidFill>
                      <a:srgbClr val="FFFFFF"/>
                    </a:solidFill>
                  </a:tcPr>
                </a:tc>
                <a:tc>
                  <a:txBody>
                    <a:bodyPr wrap="square"/>
                    <a:lstStyle/>
                    <a:p>
                      <a:pPr algn="l"/>
                      <a:r>
                        <a:rPr sz="900" b="0">
                          <a:solidFill>
                            <a:srgbClr val="1C1C1E"/>
                          </a:solidFill>
                          <a:latin typeface="Calibri"/>
                        </a:rPr>
                        <a:t>−5.09</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2026-04</a:t>
                      </a:r>
                    </a:p>
                  </a:txBody>
                  <a:tcPr marL="82296" marR="64008" marT="32004" marB="32004" anchor="ctr">
                    <a:solidFill>
                      <a:srgbClr val="F6F3EF"/>
                    </a:solidFill>
                  </a:tcPr>
                </a:tc>
                <a:tc>
                  <a:txBody>
                    <a:bodyPr wrap="square"/>
                    <a:lstStyle/>
                    <a:p>
                      <a:pPr algn="l"/>
                      <a:r>
                        <a:rPr sz="900" b="0">
                          <a:solidFill>
                            <a:srgbClr val="1C1C1E"/>
                          </a:solidFill>
                          <a:latin typeface="Calibri"/>
                        </a:rPr>
                        <a:t>7209.01</a:t>
                      </a:r>
                    </a:p>
                  </a:txBody>
                  <a:tcPr marL="82296" marR="64008" marT="32004" marB="32004" anchor="ctr">
                    <a:solidFill>
                      <a:srgbClr val="F6F3EF"/>
                    </a:solidFill>
                  </a:tcPr>
                </a:tc>
                <a:tc>
                  <a:txBody>
                    <a:bodyPr wrap="square"/>
                    <a:lstStyle/>
                    <a:p>
                      <a:pPr algn="l"/>
                      <a:r>
                        <a:rPr sz="900" b="0">
                          <a:solidFill>
                            <a:srgbClr val="1C1C1E"/>
                          </a:solidFill>
                          <a:latin typeface="Calibri"/>
                        </a:rPr>
                        <a:t>+10.42</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2026-08</a:t>
                      </a:r>
                    </a:p>
                  </a:txBody>
                  <a:tcPr marL="82296" marR="64008" marT="32004" marB="32004" anchor="ctr">
                    <a:solidFill>
                      <a:srgbClr val="FFFFFF"/>
                    </a:solidFill>
                  </a:tcPr>
                </a:tc>
                <a:tc>
                  <a:txBody>
                    <a:bodyPr wrap="square"/>
                    <a:lstStyle/>
                    <a:p>
                      <a:pPr algn="l"/>
                      <a:r>
                        <a:rPr sz="900" b="0">
                          <a:solidFill>
                            <a:srgbClr val="1C1C1E"/>
                          </a:solidFill>
                          <a:latin typeface="Calibri"/>
                        </a:rPr>
                        <a:t>7686.14</a:t>
                      </a:r>
                    </a:p>
                  </a:txBody>
                  <a:tcPr marL="82296" marR="64008" marT="32004" marB="32004" anchor="ctr">
                    <a:solidFill>
                      <a:srgbClr val="FFFFFF"/>
                    </a:solidFill>
                  </a:tcPr>
                </a:tc>
                <a:tc>
                  <a:txBody>
                    <a:bodyPr wrap="square"/>
                    <a:lstStyle/>
                    <a:p>
                      <a:pPr algn="l"/>
                      <a:r>
                        <a:rPr sz="900" b="0">
                          <a:solidFill>
                            <a:srgbClr val="1C1C1E"/>
                          </a:solidFill>
                          <a:latin typeface="Calibri"/>
                        </a:rPr>
                        <a:t>+2.62</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r>
            </a:tbl>
          </a:graphicData>
        </a:graphic>
      </p:graphicFrame>
      <p:sp>
        <p:nvSpPr>
          <p:cNvPr id="11" name="TextBox 10"/>
          <p:cNvSpPr txBox="1"/>
          <p:nvPr/>
        </p:nvSpPr>
        <p:spPr>
          <a:xfrm>
            <a:off x="777240" y="3944950"/>
            <a:ext cx="6382329"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Twelve months, one of them missing. </a:t>
            </a:r>
            <a:r>
              <a:rPr sz="1000" b="0" i="0">
                <a:solidFill>
                  <a:srgbClr val="4A4F57"/>
                </a:solidFill>
                <a:latin typeface="Calibri"/>
              </a:rPr>
              <a:t>FRED publishes no unemployment rate for October 2025 — the hole is in the series, not in the example.</a:t>
            </a:r>
          </a:p>
        </p:txBody>
      </p:sp>
      <p:sp>
        <p:nvSpPr>
          <p:cNvPr id="12" name="Rectangle 11"/>
          <p:cNvSpPr/>
          <p:nvPr/>
        </p:nvSpPr>
        <p:spPr>
          <a:xfrm>
            <a:off x="7585057" y="1353312"/>
            <a:ext cx="3829397" cy="173242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585057" y="1353312"/>
            <a:ext cx="41148" cy="173242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86225" y="1453896"/>
            <a:ext cx="3463637" cy="1549542"/>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defaults:</a:t>
            </a:r>
          </a:p>
          <a:p>
            <a:pPr>
              <a:lnSpc>
                <a:spcPct val="134000"/>
              </a:lnSpc>
              <a:spcBef>
                <a:spcPts val="0"/>
              </a:spcBef>
              <a:spcAft>
                <a:spcPts val="0"/>
              </a:spcAft>
            </a:pPr>
            <a:r>
              <a:rPr sz="850" b="0" i="0">
                <a:solidFill>
                  <a:srgbClr val="1C1C1E"/>
                </a:solidFill>
                <a:latin typeface="Consolas"/>
              </a:rPr>
              <a:t>  align: {axis: event_ts,</a:t>
            </a:r>
          </a:p>
          <a:p>
            <a:pPr>
              <a:lnSpc>
                <a:spcPct val="134000"/>
              </a:lnSpc>
              <a:spcBef>
                <a:spcPts val="0"/>
              </a:spcBef>
              <a:spcAft>
                <a:spcPts val="0"/>
              </a:spcAft>
            </a:pPr>
            <a:r>
              <a:rPr sz="850" b="0" i="0">
                <a:solidFill>
                  <a:srgbClr val="1C1C1E"/>
                </a:solidFill>
                <a:latin typeface="Consolas"/>
              </a:rPr>
              <a:t>          rule:  flat_forward}</a:t>
            </a:r>
          </a:p>
          <a:p>
            <a:pPr>
              <a:lnSpc>
                <a:spcPct val="134000"/>
              </a:lnSpc>
              <a:spcBef>
                <a:spcPts val="0"/>
              </a:spcBef>
              <a:spcAft>
                <a:spcPts val="0"/>
              </a:spcAft>
            </a:pPr>
            <a:r>
              <a:rPr sz="850" b="0" i="0">
                <a:solidFill>
                  <a:srgbClr val="1C1C1E"/>
                </a:solidFill>
                <a:latin typeface="Consolas"/>
              </a:rPr>
              <a:t>  fill:  {u3_rate: keep}</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7A7F87"/>
                </a:solidFill>
                <a:latin typeface="Consolas"/>
              </a:rPr>
              <a:t># filled: 1 of 12 (8.3%)</a:t>
            </a:r>
          </a:p>
          <a:p>
            <a:pPr>
              <a:lnSpc>
                <a:spcPct val="134000"/>
              </a:lnSpc>
              <a:spcBef>
                <a:spcPts val="0"/>
              </a:spcBef>
              <a:spcAft>
                <a:spcPts val="0"/>
              </a:spcAft>
            </a:pPr>
            <a:r>
              <a:rPr sz="850" b="0" i="0">
                <a:solidFill>
                  <a:srgbClr val="7A7F87"/>
                </a:solidFill>
                <a:latin typeface="Consolas"/>
              </a:rPr>
              <a:t># carried from 2025-09,</a:t>
            </a:r>
          </a:p>
          <a:p>
            <a:pPr>
              <a:lnSpc>
                <a:spcPct val="134000"/>
              </a:lnSpc>
              <a:spcBef>
                <a:spcPts val="0"/>
              </a:spcBef>
              <a:spcAft>
                <a:spcPts val="0"/>
              </a:spcAft>
            </a:pPr>
            <a:r>
              <a:rPr sz="850" b="0" i="0">
                <a:solidFill>
                  <a:srgbClr val="7A7F87"/>
                </a:solidFill>
                <a:latin typeface="Consolas"/>
              </a:rPr>
              <a:t>#   ingest_ts 2025-10-03</a:t>
            </a:r>
          </a:p>
        </p:txBody>
      </p:sp>
      <p:sp>
        <p:nvSpPr>
          <p:cNvPr id="15" name="TextBox 14"/>
          <p:cNvSpPr txBox="1"/>
          <p:nvPr/>
        </p:nvSpPr>
        <p:spPr>
          <a:xfrm>
            <a:off x="7585057" y="3286902"/>
            <a:ext cx="3829397" cy="2194560"/>
          </a:xfrm>
          <a:prstGeom prst="rect">
            <a:avLst/>
          </a:prstGeom>
          <a:noFill/>
        </p:spPr>
        <p:txBody>
          <a:bodyPr wrap="square" lIns="0" rIns="0" tIns="0" bIns="0" anchor="t">
            <a:spAutoFit/>
          </a:bodyPr>
          <a:lstStyle/>
          <a:p>
            <a:pPr algn="l">
              <a:spcBef>
                <a:spcPts val="0"/>
              </a:spcBef>
              <a:spcAft>
                <a:spcPts val="700"/>
              </a:spcAft>
            </a:pPr>
            <a:r>
              <a:rPr sz="1200" b="1" i="0">
                <a:solidFill>
                  <a:srgbClr val="A51C30"/>
                </a:solidFill>
                <a:latin typeface="Georgia"/>
              </a:rPr>
              <a:t>Forward, and only forward</a:t>
            </a:r>
          </a:p>
          <a:p>
            <a:pPr>
              <a:lnSpc>
                <a:spcPct val="122000"/>
              </a:lnSpc>
              <a:spcBef>
                <a:spcPts val="0"/>
              </a:spcBef>
              <a:spcAft>
                <a:spcPts val="800"/>
              </a:spcAft>
            </a:pPr>
            <a:r>
              <a:rPr sz="1000" b="0" i="0">
                <a:solidFill>
                  <a:srgbClr val="1C1C1E"/>
                </a:solidFill>
                <a:latin typeface="Calibri"/>
              </a:rPr>
              <a:t>Interpolating October between September and November would use November’s 4.5 — published on the 5th of December — to fill a row dated the 31st of October.</a:t>
            </a:r>
          </a:p>
          <a:p>
            <a:pPr>
              <a:lnSpc>
                <a:spcPct val="122000"/>
              </a:lnSpc>
              <a:spcBef>
                <a:spcPts val="0"/>
              </a:spcBef>
              <a:spcAft>
                <a:spcPts val="800"/>
              </a:spcAft>
            </a:pPr>
            <a:r>
              <a:rPr sz="1000" b="0" i="0">
                <a:solidFill>
                  <a:srgbClr val="4A4F57"/>
                </a:solidFill>
                <a:latin typeface="Calibri"/>
              </a:rPr>
              <a:t>The platform allows that and stamps it honestly: the filled value would carry December’s ingest clock, so a point-in-time read in October excludes it. The leakage is not forbidden, it is made impossible to hide.</a:t>
            </a:r>
          </a:p>
          <a:p>
            <a:pPr>
              <a:lnSpc>
                <a:spcPct val="122000"/>
              </a:lnSpc>
              <a:spcBef>
                <a:spcPts val="0"/>
              </a:spcBef>
              <a:spcAft>
                <a:spcPts val="0"/>
              </a:spcAft>
            </a:pPr>
            <a:r>
              <a:rPr sz="1000" b="1" i="0">
                <a:solidFill>
                  <a:srgbClr val="A51C30"/>
                </a:solidFill>
                <a:latin typeface="Calibri"/>
              </a:rPr>
              <a:t>And the fill rate is part of the answer. </a:t>
            </a:r>
            <a:r>
              <a:rPr sz="1000" b="0" i="0">
                <a:solidFill>
                  <a:srgbClr val="4A4F57"/>
                </a:solidFill>
                <a:latin typeface="Calibri"/>
              </a:rPr>
              <a:t>One month in twelve is 8%, which is fine. Past a fifth, the report says so loudly.</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models, one featureset, both fitted to these twelve months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110</a:t>
            </a:r>
          </a:p>
        </p:txBody>
      </p:sp>
      <p:sp>
        <p:nvSpPr>
          <p:cNvPr id="10" name="Rectangle 9"/>
          <p:cNvSpPr/>
          <p:nvPr/>
        </p:nvSpPr>
        <p:spPr>
          <a:xfrm>
            <a:off x="777240"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multiple linear regression   —  fitted, n = 10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next_return  =   43.314</a:t>
            </a:r>
          </a:p>
          <a:p>
            <a:pPr>
              <a:lnSpc>
                <a:spcPct val="134000"/>
              </a:lnSpc>
              <a:spcBef>
                <a:spcPts val="0"/>
              </a:spcBef>
              <a:spcAft>
                <a:spcPts val="0"/>
              </a:spcAft>
            </a:pPr>
            <a:r>
              <a:rPr sz="900" b="0" i="0">
                <a:solidFill>
                  <a:srgbClr val="1C1C1E"/>
                </a:solidFill>
                <a:latin typeface="Consolas"/>
              </a:rPr>
              <a:t>               −  9.708 × u3_rate</a:t>
            </a:r>
          </a:p>
          <a:p>
            <a:pPr>
              <a:lnSpc>
                <a:spcPct val="134000"/>
              </a:lnSpc>
              <a:spcBef>
                <a:spcPts val="0"/>
              </a:spcBef>
              <a:spcAft>
                <a:spcPts val="0"/>
              </a:spcAft>
            </a:pPr>
            <a:r>
              <a:rPr sz="900" b="0" i="0">
                <a:solidFill>
                  <a:srgbClr val="1C1C1E"/>
                </a:solidFill>
                <a:latin typeface="Consolas"/>
              </a:rPr>
              <a:t>               −  0.105 × prev_return</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point_estimate</a:t>
            </a:r>
          </a:p>
          <a:p>
            <a:pPr>
              <a:lnSpc>
                <a:spcPct val="134000"/>
              </a:lnSpc>
              <a:spcBef>
                <a:spcPts val="0"/>
              </a:spcBef>
              <a:spcAft>
                <a:spcPts val="0"/>
              </a:spcAft>
            </a:pPr>
            <a:r>
              <a:rPr sz="900" b="0" i="0">
                <a:solidFill>
                  <a:srgbClr val="1C1C1E"/>
                </a:solidFill>
                <a:latin typeface="Consolas"/>
              </a:rPr>
              <a:t>R² = 0.082      residual sd = 4.53 %</a:t>
            </a:r>
          </a:p>
        </p:txBody>
      </p:sp>
      <p:sp>
        <p:nvSpPr>
          <p:cNvPr id="13" name="TextBox 12"/>
          <p:cNvSpPr txBox="1"/>
          <p:nvPr/>
        </p:nvSpPr>
        <p:spPr>
          <a:xfrm>
            <a:off x="777240"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An R² of 0.08 is a bad model. </a:t>
            </a:r>
            <a:r>
              <a:rPr sz="1000" b="0" i="0">
                <a:solidFill>
                  <a:srgbClr val="4A4F57"/>
                </a:solidFill>
                <a:latin typeface="Calibri"/>
              </a:rPr>
              <a:t>Ten monthly observations cannot support three parameters, and the register stores that verdict beside the coefficients rather than leaving it in a notebook. A platform that only recorded the coefficients would make this look like a result.</a:t>
            </a:r>
          </a:p>
        </p:txBody>
      </p:sp>
      <p:sp>
        <p:nvSpPr>
          <p:cNvPr id="14" name="Rectangle 13"/>
          <p:cNvSpPr/>
          <p:nvPr/>
        </p:nvSpPr>
        <p:spPr>
          <a:xfrm>
            <a:off x="6278727"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278727"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479895"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GARCH(1,1)   —  maximum likelihood, same returns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σ²ₜ  =  3.7684</a:t>
            </a:r>
          </a:p>
          <a:p>
            <a:pPr>
              <a:lnSpc>
                <a:spcPct val="134000"/>
              </a:lnSpc>
              <a:spcBef>
                <a:spcPts val="0"/>
              </a:spcBef>
              <a:spcAft>
                <a:spcPts val="0"/>
              </a:spcAft>
            </a:pPr>
            <a:r>
              <a:rPr sz="900" b="0" i="0">
                <a:solidFill>
                  <a:srgbClr val="1C1C1E"/>
                </a:solidFill>
                <a:latin typeface="Consolas"/>
              </a:rPr>
              <a:t>      + 0.320 × ε²ₜ₋₁</a:t>
            </a:r>
          </a:p>
          <a:p>
            <a:pPr>
              <a:lnSpc>
                <a:spcPct val="134000"/>
              </a:lnSpc>
              <a:spcBef>
                <a:spcPts val="0"/>
              </a:spcBef>
              <a:spcAft>
                <a:spcPts val="0"/>
              </a:spcAft>
            </a:pPr>
            <a:r>
              <a:rPr sz="900" b="0" i="0">
                <a:solidFill>
                  <a:srgbClr val="1C1C1E"/>
                </a:solidFill>
                <a:latin typeface="Consolas"/>
              </a:rPr>
              <a:t>      + 0.400 × σ²ₜ₋₁</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predictive_distribution</a:t>
            </a:r>
          </a:p>
          <a:p>
            <a:pPr>
              <a:lnSpc>
                <a:spcPct val="134000"/>
              </a:lnSpc>
              <a:spcBef>
                <a:spcPts val="0"/>
              </a:spcBef>
              <a:spcAft>
                <a:spcPts val="0"/>
              </a:spcAft>
            </a:pPr>
            <a:r>
              <a:rPr sz="900" b="0" i="0">
                <a:solidFill>
                  <a:srgbClr val="1C1C1E"/>
                </a:solidFill>
                <a:latin typeface="Consolas"/>
              </a:rPr>
              <a:t>log-likelihood −31.90   long-run sd = 3.67 %</a:t>
            </a:r>
          </a:p>
        </p:txBody>
      </p:sp>
      <p:sp>
        <p:nvSpPr>
          <p:cNvPr id="17" name="TextBox 16"/>
          <p:cNvSpPr txBox="1"/>
          <p:nvPr/>
        </p:nvSpPr>
        <p:spPr>
          <a:xfrm>
            <a:off x="6278727"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Persistence α+β = 0.72. </a:t>
            </a:r>
            <a:r>
              <a:rPr sz="1000" b="0" i="0">
                <a:solidFill>
                  <a:srgbClr val="4A4F57"/>
                </a:solidFill>
                <a:latin typeface="Calibri"/>
              </a:rPr>
              <a:t>Low for a monthly series, which is what twelve observations buy you. Same features, same entity, same grain — a different kernel, a different P, and an output that is a distribution rather than a number.</a:t>
            </a:r>
          </a:p>
        </p:txBody>
      </p:sp>
      <p:sp>
        <p:nvSpPr>
          <p:cNvPr id="18" name="Rectangle 17"/>
          <p:cNvSpPr/>
          <p:nvPr/>
        </p:nvSpPr>
        <p:spPr>
          <a:xfrm>
            <a:off x="777240" y="5129281"/>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129281"/>
            <a:ext cx="41148"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248153"/>
            <a:ext cx="1018001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warrants, two parameter sets, one featureset version. </a:t>
            </a:r>
            <a:r>
              <a:rPr sz="1050" b="0" i="0">
                <a:solidFill>
                  <a:srgbClr val="1C1C1E"/>
                </a:solidFill>
                <a:latin typeface="Calibri"/>
              </a:rPr>
              <a:t>Each fit warrant names macro_core@v1 and its own model version; each returns a parameter set recording which featureset version produced it. Nothing about the data was duplicated to serve two models, and neither model had to know the other existed — </a:t>
            </a:r>
            <a:r>
              <a:rPr sz="1050" b="1" i="0">
                <a:solidFill>
                  <a:srgbClr val="1C1C1E"/>
                </a:solidFill>
                <a:latin typeface="Calibri"/>
              </a:rPr>
              <a:t>which is what a named presentation of X buys.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Extending the featureset, and what that forces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111</a:t>
            </a:r>
          </a:p>
        </p:txBody>
      </p:sp>
      <p:sp>
        <p:nvSpPr>
          <p:cNvPr id="10" name="Rectangle 9"/>
          <p:cNvSpPr/>
          <p:nvPr/>
        </p:nvSpPr>
        <p:spPr>
          <a:xfrm>
            <a:off x="777240" y="1353312"/>
            <a:ext cx="4999491" cy="143222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3222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633731" cy="1249344"/>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featureset: macro_plus</a:t>
            </a:r>
          </a:p>
          <a:p>
            <a:pPr>
              <a:lnSpc>
                <a:spcPct val="134000"/>
              </a:lnSpc>
              <a:spcBef>
                <a:spcPts val="0"/>
              </a:spcBef>
              <a:spcAft>
                <a:spcPts val="0"/>
              </a:spcAft>
            </a:pPr>
            <a:r>
              <a:rPr sz="900" b="0" i="0">
                <a:solidFill>
                  <a:srgbClr val="1C1C1E"/>
                </a:solidFill>
                <a:latin typeface="Consolas"/>
              </a:rPr>
              <a:t>composes:   [macro_core]</a:t>
            </a:r>
          </a:p>
          <a:p>
            <a:pPr>
              <a:lnSpc>
                <a:spcPct val="134000"/>
              </a:lnSpc>
              <a:spcBef>
                <a:spcPts val="0"/>
              </a:spcBef>
              <a:spcAft>
                <a:spcPts val="0"/>
              </a:spcAft>
            </a:pPr>
            <a:r>
              <a:rPr sz="900" b="0" i="0">
                <a:solidFill>
                  <a:srgbClr val="1C1C1E"/>
                </a:solidFill>
                <a:latin typeface="Consolas"/>
              </a:rPr>
              <a:t>operations: [{op: add, name: term_spread}]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macro_plus resolves to FOUR slots</a:t>
            </a:r>
          </a:p>
          <a:p>
            <a:pPr>
              <a:lnSpc>
                <a:spcPct val="134000"/>
              </a:lnSpc>
              <a:spcBef>
                <a:spcPts val="0"/>
              </a:spcBef>
              <a:spcAft>
                <a:spcPts val="0"/>
              </a:spcAft>
            </a:pPr>
            <a:r>
              <a:rPr sz="900" b="0" i="0">
                <a:solidFill>
                  <a:srgbClr val="1C1C1E"/>
                </a:solidFill>
                <a:latin typeface="Consolas"/>
              </a:rPr>
              <a:t>  px_close  u3_rate  prev_return  term_spread</a:t>
            </a:r>
          </a:p>
        </p:txBody>
      </p:sp>
      <p:sp>
        <p:nvSpPr>
          <p:cNvPr id="13" name="TextBox 12"/>
          <p:cNvSpPr txBox="1"/>
          <p:nvPr/>
        </p:nvSpPr>
        <p:spPr>
          <a:xfrm>
            <a:off x="777240" y="2968416"/>
            <a:ext cx="4999491" cy="12801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Not a new version of macro_core. </a:t>
            </a:r>
            <a:r>
              <a:rPr sz="1000" b="0" i="0">
                <a:solidFill>
                  <a:srgbClr val="4A4F57"/>
                </a:solidFill>
                <a:latin typeface="Calibri"/>
              </a:rPr>
              <a:t>Adding a slot changes the schema, and the schema is what a kernel is defined over — so it is a new featureset composed from the old, and macro_core@v1 is untouched for whoever is already using it.</a:t>
            </a:r>
          </a:p>
        </p:txBody>
      </p:sp>
      <p:sp>
        <p:nvSpPr>
          <p:cNvPr id="14" name="Rectangle 13"/>
          <p:cNvSpPr/>
          <p:nvPr/>
        </p:nvSpPr>
        <p:spPr>
          <a:xfrm>
            <a:off x="777240" y="4303440"/>
            <a:ext cx="4999491" cy="117043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303440"/>
            <a:ext cx="41148" cy="1170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422312"/>
            <a:ext cx="4542291" cy="95097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refusal is the feature. </a:t>
            </a:r>
            <a:r>
              <a:rPr sz="1050" b="0" i="0">
                <a:solidFill>
                  <a:srgbClr val="1C1C1E"/>
                </a:solidFill>
                <a:latin typeface="Calibri"/>
              </a:rPr>
              <a:t>Widening a featureset under a model never defined over it is the failure all of this exists to make visible, and it lands at the warrant — </a:t>
            </a:r>
            <a:r>
              <a:rPr sz="1050" b="1" i="0">
                <a:solidFill>
                  <a:srgbClr val="1C1C1E"/>
                </a:solidFill>
                <a:latin typeface="Calibri"/>
              </a:rPr>
              <a:t>before anything is fitted, rather than when somebody notices a coefficient vector has four entries.</a:t>
            </a:r>
          </a:p>
        </p:txBody>
      </p:sp>
      <p:sp>
        <p:nvSpPr>
          <p:cNvPr id="17" name="Rectangle 16"/>
          <p:cNvSpPr/>
          <p:nvPr/>
        </p:nvSpPr>
        <p:spPr>
          <a:xfrm>
            <a:off x="6202219" y="1353312"/>
            <a:ext cx="5212235" cy="20969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202219" y="1353312"/>
            <a:ext cx="41148" cy="20969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03387" y="1453896"/>
            <a:ext cx="4846475" cy="1914067"/>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POST /api/v1/fit-warrants</a:t>
            </a:r>
          </a:p>
          <a:p>
            <a:pPr>
              <a:lnSpc>
                <a:spcPct val="134000"/>
              </a:lnSpc>
              <a:spcBef>
                <a:spcPts val="0"/>
              </a:spcBef>
              <a:spcAft>
                <a:spcPts val="0"/>
              </a:spcAft>
            </a:pPr>
            <a:r>
              <a:rPr sz="850" b="0" i="0">
                <a:solidFill>
                  <a:srgbClr val="1C1C1E"/>
                </a:solidFill>
                <a:latin typeface="Consolas"/>
              </a:rPr>
              <a:t>  { model: mlr@1.0.0, featureset: macro_plus }</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1C1C1E"/>
                </a:solidFill>
                <a:latin typeface="Consolas"/>
              </a:rPr>
              <a:t>409 schema_not_satisfied</a:t>
            </a:r>
          </a:p>
          <a:p>
            <a:pPr>
              <a:lnSpc>
                <a:spcPct val="134000"/>
              </a:lnSpc>
              <a:spcBef>
                <a:spcPts val="0"/>
              </a:spcBef>
              <a:spcAft>
                <a:spcPts val="0"/>
              </a:spcAft>
            </a:pPr>
            <a:r>
              <a:rPr sz="850" b="0" i="0">
                <a:solidFill>
                  <a:srgbClr val="1C1C1E"/>
                </a:solidFill>
                <a:latin typeface="Consolas"/>
              </a:rPr>
              <a:t>    'macro_plus' provides term_spread, which this</a:t>
            </a:r>
          </a:p>
          <a:p>
            <a:pPr>
              <a:lnSpc>
                <a:spcPct val="134000"/>
              </a:lnSpc>
              <a:spcBef>
                <a:spcPts val="0"/>
              </a:spcBef>
              <a:spcAft>
                <a:spcPts val="0"/>
              </a:spcAft>
            </a:pPr>
            <a:r>
              <a:rPr sz="850" b="0" i="0">
                <a:solidFill>
                  <a:srgbClr val="1C1C1E"/>
                </a:solidFill>
                <a:latin typeface="Consolas"/>
              </a:rPr>
              <a:t>    version does not declare in its input schema.</a:t>
            </a:r>
          </a:p>
          <a:p>
            <a:pPr>
              <a:lnSpc>
                <a:spcPct val="134000"/>
              </a:lnSpc>
              <a:spcBef>
                <a:spcPts val="0"/>
              </a:spcBef>
              <a:spcAft>
                <a:spcPts val="0"/>
              </a:spcAft>
            </a:pPr>
            <a:r>
              <a:rPr sz="850" b="0" i="0">
                <a:solidFill>
                  <a:srgbClr val="1C1C1E"/>
                </a:solidFill>
                <a:latin typeface="Consolas"/>
              </a:rPr>
              <a:t>    Bind a featureset whose schema covers the</a:t>
            </a:r>
          </a:p>
          <a:p>
            <a:pPr>
              <a:lnSpc>
                <a:spcPct val="134000"/>
              </a:lnSpc>
              <a:spcBef>
                <a:spcPts val="0"/>
              </a:spcBef>
              <a:spcAft>
                <a:spcPts val="0"/>
              </a:spcAft>
            </a:pPr>
            <a:r>
              <a:rPr sz="850" b="0" i="0">
                <a:solidFill>
                  <a:srgbClr val="1C1C1E"/>
                </a:solidFill>
                <a:latin typeface="Consolas"/>
              </a:rPr>
              <a:t>    kernel's inputs, or create a model version</a:t>
            </a:r>
          </a:p>
          <a:p>
            <a:pPr>
              <a:lnSpc>
                <a:spcPct val="134000"/>
              </a:lnSpc>
              <a:spcBef>
                <a:spcPts val="0"/>
              </a:spcBef>
              <a:spcAft>
                <a:spcPts val="0"/>
              </a:spcAft>
            </a:pPr>
            <a:r>
              <a:rPr sz="850" b="0" i="0">
                <a:solidFill>
                  <a:srgbClr val="1C1C1E"/>
                </a:solidFill>
                <a:latin typeface="Consolas"/>
              </a:rPr>
              <a:t>    whose input schema matches this set — adding</a:t>
            </a:r>
          </a:p>
          <a:p>
            <a:pPr>
              <a:lnSpc>
                <a:spcPct val="134000"/>
              </a:lnSpc>
              <a:spcBef>
                <a:spcPts val="0"/>
              </a:spcBef>
              <a:spcAft>
                <a:spcPts val="0"/>
              </a:spcAft>
            </a:pPr>
            <a:r>
              <a:rPr sz="850" b="0" i="0">
                <a:solidFill>
                  <a:srgbClr val="1C1C1E"/>
                </a:solidFill>
                <a:latin typeface="Consolas"/>
              </a:rPr>
              <a:t>    a regressor is a MODEL change, not a data one.</a:t>
            </a:r>
          </a:p>
        </p:txBody>
      </p:sp>
      <p:sp>
        <p:nvSpPr>
          <p:cNvPr id="20" name="TextBox 19"/>
          <p:cNvSpPr txBox="1"/>
          <p:nvPr/>
        </p:nvSpPr>
        <p:spPr>
          <a:xfrm>
            <a:off x="6202219" y="3633139"/>
            <a:ext cx="5212235" cy="384048"/>
          </a:xfrm>
          <a:prstGeom prst="rect">
            <a:avLst/>
          </a:prstGeom>
          <a:noFill/>
        </p:spPr>
        <p:txBody>
          <a:bodyPr wrap="square" lIns="0" rIns="0" tIns="0" bIns="0" anchor="t">
            <a:spAutoFit/>
          </a:bodyPr>
          <a:lstStyle/>
          <a:p>
            <a:pPr algn="l">
              <a:spcBef>
                <a:spcPts val="0"/>
              </a:spcBef>
              <a:spcAft>
                <a:spcPts val="0"/>
              </a:spcAft>
            </a:pPr>
            <a:r>
              <a:rPr sz="1050" b="1" i="0">
                <a:solidFill>
                  <a:srgbClr val="1C1C1E"/>
                </a:solidFill>
                <a:latin typeface="Calibri"/>
              </a:rPr>
              <a:t>So a third model goes over the wider X:</a:t>
            </a:r>
          </a:p>
        </p:txBody>
      </p:sp>
      <p:graphicFrame>
        <p:nvGraphicFramePr>
          <p:cNvPr id="21" name="Table 20"/>
          <p:cNvGraphicFramePr>
            <a:graphicFrameLocks noGrp="1"/>
          </p:cNvGraphicFramePr>
          <p:nvPr/>
        </p:nvGraphicFramePr>
        <p:xfrm>
          <a:off x="6202219" y="4053763"/>
          <a:ext cx="5212234" cy="1798164"/>
        </p:xfrm>
        <a:graphic>
          <a:graphicData uri="http://schemas.openxmlformats.org/drawingml/2006/table">
            <a:tbl>
              <a:tblPr>
                <a:tableStyleId>{5C22544A-7EE6-4342-B048-85BDC9FD1C3A}</a:tableStyleId>
              </a:tblPr>
              <a:tblGrid>
                <a:gridCol w="868705"/>
                <a:gridCol w="4343529"/>
              </a:tblGrid>
              <a:tr h="299694">
                <a:tc>
                  <a:txBody>
                    <a:bodyPr wrap="square"/>
                    <a:lstStyle/>
                    <a:p>
                      <a:pPr algn="l"/>
                      <a:r>
                        <a:rPr sz="900" b="1">
                          <a:solidFill>
                            <a:srgbClr val="A51C30"/>
                          </a:solidFill>
                          <a:latin typeface="Calibri"/>
                        </a:rPr>
                        <a:t/>
                      </a:r>
                    </a:p>
                  </a:txBody>
                  <a:tcPr marL="82296" marR="64008" marT="32004" marB="32004" anchor="ctr">
                    <a:solidFill>
                      <a:srgbClr val="F6F3EF"/>
                    </a:solidFill>
                  </a:tcPr>
                </a:tc>
                <a:tc>
                  <a:txBody>
                    <a:bodyPr wrap="square"/>
                    <a:lstStyle/>
                    <a:p>
                      <a:pPr algn="l"/>
                      <a:r>
                        <a:rPr sz="900" b="0">
                          <a:solidFill>
                            <a:srgbClr val="1C1C1E"/>
                          </a:solidFill>
                          <a:latin typeface="Calibri"/>
                        </a:rPr>
                        <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what</a:t>
                      </a:r>
                    </a:p>
                  </a:txBody>
                  <a:tcPr marL="82296" marR="64008" marT="32004" marB="32004" anchor="ctr">
                    <a:solidFill>
                      <a:srgbClr val="FFFFFF"/>
                    </a:solidFill>
                  </a:tcPr>
                </a:tc>
                <a:tc>
                  <a:txBody>
                    <a:bodyPr wrap="square"/>
                    <a:lstStyle/>
                    <a:p>
                      <a:pPr algn="l"/>
                      <a:r>
                        <a:rPr sz="900" b="0">
                          <a:solidFill>
                            <a:srgbClr val="1C1C1E"/>
                          </a:solidFill>
                          <a:latin typeface="Calibri"/>
                        </a:rPr>
                        <a:t>gradient-boosted classifier: drawdown next month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kind</a:t>
                      </a:r>
                    </a:p>
                  </a:txBody>
                  <a:tcPr marL="82296" marR="64008" marT="32004" marB="32004" anchor="ctr">
                    <a:solidFill>
                      <a:srgbClr val="F6F3EF"/>
                    </a:solidFill>
                  </a:tcPr>
                </a:tc>
                <a:tc>
                  <a:txBody>
                    <a:bodyPr wrap="square"/>
                    <a:lstStyle/>
                    <a:p>
                      <a:pPr algn="l"/>
                      <a:r>
                        <a:rPr sz="900" b="0">
                          <a:solidFill>
                            <a:srgbClr val="1C1C1E"/>
                          </a:solidFill>
                          <a:latin typeface="Calibri"/>
                        </a:rPr>
                        <a:t>learned_weights  —  T3, not T2</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fit</a:t>
                      </a:r>
                    </a:p>
                  </a:txBody>
                  <a:tcPr marL="82296" marR="64008" marT="32004" marB="32004" anchor="ctr">
                    <a:solidFill>
                      <a:srgbClr val="FFFFFF"/>
                    </a:solidFill>
                  </a:tcPr>
                </a:tc>
                <a:tc>
                  <a:txBody>
                    <a:bodyPr wrap="square"/>
                    <a:lstStyle/>
                    <a:p>
                      <a:pPr algn="l"/>
                      <a:r>
                        <a:rPr sz="900" b="0">
                          <a:solidFill>
                            <a:srgbClr val="1C1C1E"/>
                          </a:solidFill>
                          <a:latin typeface="Calibri"/>
                        </a:rPr>
                        <a:t>train, not estimate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D(Y)</a:t>
                      </a:r>
                    </a:p>
                  </a:txBody>
                  <a:tcPr marL="82296" marR="64008" marT="32004" marB="32004" anchor="ctr">
                    <a:solidFill>
                      <a:srgbClr val="F6F3EF"/>
                    </a:solidFill>
                  </a:tcPr>
                </a:tc>
                <a:tc>
                  <a:txBody>
                    <a:bodyPr wrap="square"/>
                    <a:lstStyle/>
                    <a:p>
                      <a:pPr algn="l"/>
                      <a:r>
                        <a:rPr sz="900" b="0">
                          <a:solidFill>
                            <a:srgbClr val="1C1C1E"/>
                          </a:solidFill>
                          <a:latin typeface="Calibri"/>
                        </a:rPr>
                        <a:t>class_probabilities, not a point estimate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reads</a:t>
                      </a:r>
                    </a:p>
                  </a:txBody>
                  <a:tcPr marL="82296" marR="64008" marT="32004" marB="32004" anchor="ctr">
                    <a:solidFill>
                      <a:srgbClr val="FFFFFF"/>
                    </a:solidFill>
                  </a:tcPr>
                </a:tc>
                <a:tc>
                  <a:txBody>
                    <a:bodyPr wrap="square"/>
                    <a:lstStyle/>
                    <a:p>
                      <a:pPr algn="l"/>
                      <a:r>
                        <a:rPr sz="900" b="0">
                          <a:solidFill>
                            <a:srgbClr val="1C1C1E"/>
                          </a:solidFill>
                          <a:latin typeface="Calibri"/>
                        </a:rPr>
                        <a:t>macro_plus@v1, all four slots</a:t>
                      </a:r>
                    </a:p>
                  </a:txBody>
                  <a:tcPr marL="82296" marR="64008" marT="32004" marB="32004" anchor="ctr">
                    <a:solidFill>
                      <a:srgbClr val="FFFFFF"/>
                    </a:solidFill>
                  </a:tcPr>
                </a:tc>
              </a:tr>
            </a:tbl>
          </a:graphicData>
        </a:graphic>
      </p:graphicFrame>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data itself</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112</a:t>
            </a:r>
          </a:p>
        </p:txBody>
      </p:sp>
      <p:sp>
        <p:nvSpPr>
          <p:cNvPr id="10" name="TextBox 9"/>
          <p:cNvSpPr txBox="1"/>
          <p:nvPr/>
        </p:nvSpPr>
        <p:spPr>
          <a:xfrm>
            <a:off x="777240" y="1353312"/>
            <a:ext cx="5531351" cy="23774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Both files are inside this deck.</a:t>
            </a:r>
          </a:p>
          <a:p>
            <a:pPr>
              <a:lnSpc>
                <a:spcPct val="125000"/>
              </a:lnSpc>
              <a:spcBef>
                <a:spcPts val="0"/>
              </a:spcBef>
              <a:spcAft>
                <a:spcPts val="1000"/>
              </a:spcAft>
            </a:pPr>
            <a:r>
              <a:rPr sz="1100" b="0" i="0">
                <a:solidFill>
                  <a:srgbClr val="1C1C1E"/>
                </a:solidFill>
                <a:latin typeface="Calibri"/>
              </a:rPr>
              <a:t>Double-click either icon and it opens in Excel: the data every number in this chapter was computed from, with its provenance in the header — which series, from where, retrieved when, what each column means.</a:t>
            </a:r>
          </a:p>
          <a:p>
            <a:pPr>
              <a:lnSpc>
                <a:spcPct val="125000"/>
              </a:lnSpc>
              <a:spcBef>
                <a:spcPts val="0"/>
              </a:spcBef>
              <a:spcAft>
                <a:spcPts val="1000"/>
              </a:spcAft>
            </a:pPr>
            <a:r>
              <a:rPr sz="1100" b="1" i="0">
                <a:solidFill>
                  <a:srgbClr val="A51C30"/>
                </a:solidFill>
                <a:latin typeface="Calibri"/>
              </a:rPr>
              <a:t>Including what is not certain. </a:t>
            </a:r>
            <a:r>
              <a:rPr sz="1100" b="0" i="0">
                <a:solidFill>
                  <a:srgbClr val="4A4F57"/>
                </a:solidFill>
                <a:latin typeface="Calibri"/>
              </a:rPr>
              <a:t>The unemployment file says plainly that its ingest_ts is the BLS release CONVENTION computed from the calendar, not a fetched vintage date. The lag is real and material; the exact day may be a day or two out.</a:t>
            </a:r>
          </a:p>
          <a:p>
            <a:pPr>
              <a:lnSpc>
                <a:spcPct val="125000"/>
              </a:lnSpc>
              <a:spcBef>
                <a:spcPts val="0"/>
              </a:spcBef>
              <a:spcAft>
                <a:spcPts val="0"/>
              </a:spcAft>
            </a:pPr>
            <a:r>
              <a:rPr sz="1100" b="1" i="0">
                <a:solidFill>
                  <a:srgbClr val="1C1C1E"/>
                </a:solidFill>
                <a:latin typeface="Calibri"/>
              </a:rPr>
              <a:t>A deck that quotes figures nobody can check is a deck that has to be believed. These can be checked.</a:t>
            </a:r>
          </a:p>
        </p:txBody>
      </p:sp>
      <p:sp>
        <p:nvSpPr>
          <p:cNvPr id="11" name="Rectangle 10"/>
          <p:cNvSpPr/>
          <p:nvPr/>
        </p:nvSpPr>
        <p:spPr>
          <a:xfrm>
            <a:off x="6734080" y="1408176"/>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408176"/>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3" name="Object 12"/>
          <p:cNvGraphicFramePr>
            <a:graphicFrameLocks noGrp="1"/>
          </p:cNvGraphicFramePr>
          <p:nvPr/>
        </p:nvGraphicFramePr>
        <p:xfrm>
          <a:off x="6916960" y="1645920"/>
          <a:ext cx="566928" cy="566928"/>
        </p:xfrm>
        <a:graphic>
          <a:graphicData uri="http://schemas.openxmlformats.org/presentationml/2006/ole">
            <p:oleObj showAsIcon="1" r:id="rId2" imgW="965200" imgH="609600" progId="Excel.Sheet.12">
              <p:embed/>
              <p:pic>
                <p:nvPicPr>
                  <p:cNvPr id="0" name=""/>
                  <p:cNvPicPr/>
                  <p:nvPr/>
                </p:nvPicPr>
                <p:blipFill>
                  <a:blip r:embed="rId3"/>
                  <a:stretch>
                    <a:fillRect/>
                  </a:stretch>
                </p:blipFill>
                <p:spPr>
                  <a:xfrm>
                    <a:off x="6916960" y="1645920"/>
                    <a:ext cx="566928" cy="566928"/>
                  </a:xfrm>
                  <a:prstGeom prst="rect">
                    <a:avLst/>
                  </a:prstGeom>
                </p:spPr>
              </p:pic>
            </p:oleObj>
          </a:graphicData>
        </a:graphic>
      </p:graphicFrame>
      <p:sp>
        <p:nvSpPr>
          <p:cNvPr id="14" name="TextBox 13"/>
          <p:cNvSpPr txBox="1"/>
          <p:nvPr/>
        </p:nvSpPr>
        <p:spPr>
          <a:xfrm>
            <a:off x="7611904" y="1609344"/>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S&amp;P 500, daily close</a:t>
            </a:r>
          </a:p>
          <a:p>
            <a:pPr>
              <a:lnSpc>
                <a:spcPct val="118000"/>
              </a:lnSpc>
              <a:spcBef>
                <a:spcPts val="0"/>
              </a:spcBef>
              <a:spcAft>
                <a:spcPts val="300"/>
              </a:spcAft>
            </a:pPr>
            <a:r>
              <a:rPr sz="900" b="0" i="0">
                <a:solidFill>
                  <a:srgbClr val="4A4F57"/>
                </a:solidFill>
                <a:latin typeface="Calibri"/>
              </a:rPr>
              <a:t>FRED series SP500  ·  254 rows  ·  Sep 2025 – Sep 2026</a:t>
            </a:r>
          </a:p>
          <a:p>
            <a:pPr>
              <a:spcBef>
                <a:spcPts val="0"/>
              </a:spcBef>
              <a:spcAft>
                <a:spcPts val="0"/>
              </a:spcAft>
            </a:pPr>
            <a:r>
              <a:rPr sz="850" b="0" i="0">
                <a:solidFill>
                  <a:srgbClr val="A51C30"/>
                </a:solidFill>
                <a:latin typeface="Calibri"/>
              </a:rPr>
              <a:t>sp500_daily.xlsx</a:t>
            </a:r>
          </a:p>
        </p:txBody>
      </p:sp>
      <p:sp>
        <p:nvSpPr>
          <p:cNvPr id="15" name="Rectangle 14"/>
          <p:cNvSpPr/>
          <p:nvPr/>
        </p:nvSpPr>
        <p:spPr>
          <a:xfrm>
            <a:off x="6734080" y="2798064"/>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2798064"/>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7" name="Object 16"/>
          <p:cNvGraphicFramePr>
            <a:graphicFrameLocks noGrp="1"/>
          </p:cNvGraphicFramePr>
          <p:nvPr/>
        </p:nvGraphicFramePr>
        <p:xfrm>
          <a:off x="6916960" y="3035808"/>
          <a:ext cx="566928" cy="566928"/>
        </p:xfrm>
        <a:graphic>
          <a:graphicData uri="http://schemas.openxmlformats.org/presentationml/2006/ole">
            <p:oleObj showAsIcon="1" r:id="rId4" imgW="965200" imgH="609600" progId="Excel.Sheet.12">
              <p:embed/>
              <p:pic>
                <p:nvPicPr>
                  <p:cNvPr id="0" name=""/>
                  <p:cNvPicPr/>
                  <p:nvPr/>
                </p:nvPicPr>
                <p:blipFill>
                  <a:blip r:embed="rId3"/>
                  <a:stretch>
                    <a:fillRect/>
                  </a:stretch>
                </p:blipFill>
                <p:spPr>
                  <a:xfrm>
                    <a:off x="6916960" y="3035808"/>
                    <a:ext cx="566928" cy="566928"/>
                  </a:xfrm>
                  <a:prstGeom prst="rect">
                    <a:avLst/>
                  </a:prstGeom>
                </p:spPr>
              </p:pic>
            </p:oleObj>
          </a:graphicData>
        </a:graphic>
      </p:graphicFrame>
      <p:sp>
        <p:nvSpPr>
          <p:cNvPr id="18" name="TextBox 17"/>
          <p:cNvSpPr txBox="1"/>
          <p:nvPr/>
        </p:nvSpPr>
        <p:spPr>
          <a:xfrm>
            <a:off x="7611904" y="2999232"/>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US unemployment rate (U-3)</a:t>
            </a:r>
          </a:p>
          <a:p>
            <a:pPr>
              <a:lnSpc>
                <a:spcPct val="118000"/>
              </a:lnSpc>
              <a:spcBef>
                <a:spcPts val="0"/>
              </a:spcBef>
              <a:spcAft>
                <a:spcPts val="300"/>
              </a:spcAft>
            </a:pPr>
            <a:r>
              <a:rPr sz="900" b="0" i="0">
                <a:solidFill>
                  <a:srgbClr val="4A4F57"/>
                </a:solidFill>
                <a:latin typeface="Calibri"/>
              </a:rPr>
              <a:t>FRED series UNRATE  ·  12 months  ·  one of them empty</a:t>
            </a:r>
          </a:p>
          <a:p>
            <a:pPr>
              <a:spcBef>
                <a:spcPts val="0"/>
              </a:spcBef>
              <a:spcAft>
                <a:spcPts val="0"/>
              </a:spcAft>
            </a:pPr>
            <a:r>
              <a:rPr sz="850" b="0" i="0">
                <a:solidFill>
                  <a:srgbClr val="A51C30"/>
                </a:solidFill>
                <a:latin typeface="Calibri"/>
              </a:rPr>
              <a:t>us_unemployment_monthly.xlsx</a:t>
            </a:r>
          </a:p>
        </p:txBody>
      </p:sp>
      <p:sp>
        <p:nvSpPr>
          <p:cNvPr id="19" name="Rectangle 18"/>
          <p:cNvSpPr/>
          <p:nvPr/>
        </p:nvSpPr>
        <p:spPr>
          <a:xfrm>
            <a:off x="777240" y="4297680"/>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4297680"/>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4416552"/>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They also ship as CSV, at docs/examples/. </a:t>
            </a:r>
            <a:r>
              <a:rPr sz="1050" b="0" i="0">
                <a:solidFill>
                  <a:srgbClr val="1C1C1E"/>
                </a:solidFill>
                <a:latin typeface="Calibri"/>
              </a:rPr>
              <a:t>The generator reads those same two files when it draws these slides, so the figures and the data </a:t>
            </a:r>
            <a:r>
              <a:rPr sz="1050" b="1" i="0">
                <a:solidFill>
                  <a:srgbClr val="1C1C1E"/>
                </a:solidFill>
                <a:latin typeface="Calibri"/>
              </a:rPr>
              <a:t>cannot drift apart.</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874519"/>
            <a:ext cx="10637215" cy="457200"/>
          </a:xfrm>
          <a:prstGeom prst="rect">
            <a:avLst/>
          </a:prstGeom>
          <a:noFill/>
        </p:spPr>
        <p:txBody>
          <a:bodyPr wrap="square" lIns="0" rIns="0" tIns="0" bIns="0" anchor="t">
            <a:spAutoFit/>
          </a:bodyPr>
          <a:lstStyle/>
          <a:p>
            <a:pPr algn="l">
              <a:spcBef>
                <a:spcPts val="0"/>
              </a:spcBef>
              <a:spcAft>
                <a:spcPts val="0"/>
              </a:spcAft>
            </a:pPr>
            <a:r>
              <a:rPr sz="1200" b="1" i="0">
                <a:solidFill>
                  <a:srgbClr val="E8B8C0"/>
                </a:solidFill>
                <a:latin typeface="Calibri"/>
              </a:rPr>
              <a:t>CHAPTER 26</a:t>
            </a:r>
          </a:p>
        </p:txBody>
      </p:sp>
      <p:sp>
        <p:nvSpPr>
          <p:cNvPr id="5" name="TextBox 4"/>
          <p:cNvSpPr txBox="1"/>
          <p:nvPr/>
        </p:nvSpPr>
        <p:spPr>
          <a:xfrm>
            <a:off x="1005840" y="2463393"/>
            <a:ext cx="6169584" cy="1188720"/>
          </a:xfrm>
          <a:prstGeom prst="rect">
            <a:avLst/>
          </a:prstGeom>
          <a:noFill/>
        </p:spPr>
        <p:txBody>
          <a:bodyPr wrap="square" lIns="0" rIns="0" tIns="0" bIns="0" anchor="t">
            <a:spAutoFit/>
          </a:bodyPr>
          <a:lstStyle/>
          <a:p>
            <a:pPr algn="l">
              <a:spcBef>
                <a:spcPts val="0"/>
              </a:spcBef>
              <a:spcAft>
                <a:spcPts val="0"/>
              </a:spcAft>
            </a:pPr>
            <a:r>
              <a:rPr sz="2800" b="0" i="0">
                <a:solidFill>
                  <a:srgbClr val="FFFFFF"/>
                </a:solidFill>
                <a:latin typeface="Georgia"/>
              </a:rPr>
              <a:t>Thirteen Worked Case Studies</a:t>
            </a:r>
          </a:p>
        </p:txBody>
      </p:sp>
      <p:sp>
        <p:nvSpPr>
          <p:cNvPr id="6" name="Rectangle 5"/>
          <p:cNvSpPr/>
          <p:nvPr/>
        </p:nvSpPr>
        <p:spPr>
          <a:xfrm>
            <a:off x="1005840" y="370332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977639"/>
            <a:ext cx="6595073" cy="73152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2D8DC"/>
                </a:solidFill>
                <a:latin typeface="Calibri"/>
              </a:rPr>
              <a:t>Thirteen real models across seven industries, registered end to end — fitted outside MAYA, governed inside it.</a:t>
            </a:r>
          </a:p>
        </p:txBody>
      </p:sp>
      <p:sp>
        <p:nvSpPr>
          <p:cNvPr id="8" name="TextBox 7"/>
          <p:cNvSpPr txBox="1"/>
          <p:nvPr/>
        </p:nvSpPr>
        <p:spPr>
          <a:xfrm>
            <a:off x="7797802" y="1874519"/>
            <a:ext cx="3616653" cy="3108960"/>
          </a:xfrm>
          <a:prstGeom prst="rect">
            <a:avLst/>
          </a:prstGeom>
          <a:noFill/>
        </p:spPr>
        <p:txBody>
          <a:bodyPr wrap="square" lIns="0" rIns="0" tIns="0" bIns="0" anchor="t">
            <a:spAutoFit/>
          </a:bodyPr>
          <a:lstStyle/>
          <a:p>
            <a:pPr algn="l">
              <a:spcBef>
                <a:spcPts val="0"/>
              </a:spcBef>
              <a:spcAft>
                <a:spcPts val="1000"/>
              </a:spcAft>
            </a:pPr>
            <a:r>
              <a:rPr sz="950" b="1" i="0">
                <a:solidFill>
                  <a:srgbClr val="E0A8B2"/>
                </a:solidFill>
                <a:latin typeface="Calibri"/>
              </a:rPr>
              <a:t>IN THIS CHAPTER</a:t>
            </a:r>
          </a:p>
          <a:p>
            <a:pPr>
              <a:lnSpc>
                <a:spcPct val="115000"/>
              </a:lnSpc>
              <a:spcBef>
                <a:spcPts val="0"/>
              </a:spcBef>
              <a:spcAft>
                <a:spcPts val="700"/>
              </a:spcAft>
            </a:pPr>
            <a:r>
              <a:rPr sz="1150" b="0" i="0">
                <a:solidFill>
                  <a:srgbClr val="F6E6E9"/>
                </a:solidFill>
                <a:latin typeface="Calibri"/>
              </a:rPr>
              <a:t>What they are</a:t>
            </a:r>
          </a:p>
          <a:p>
            <a:pPr>
              <a:lnSpc>
                <a:spcPct val="115000"/>
              </a:lnSpc>
              <a:spcBef>
                <a:spcPts val="0"/>
              </a:spcBef>
              <a:spcAft>
                <a:spcPts val="700"/>
              </a:spcAft>
            </a:pPr>
            <a:r>
              <a:rPr sz="1150" b="0" i="0">
                <a:solidFill>
                  <a:srgbClr val="F6E6E9"/>
                </a:solidFill>
                <a:latin typeface="Calibri"/>
              </a:rPr>
              <a:t>The boundary they draw</a:t>
            </a:r>
          </a:p>
          <a:p>
            <a:pPr>
              <a:lnSpc>
                <a:spcPct val="115000"/>
              </a:lnSpc>
              <a:spcBef>
                <a:spcPts val="0"/>
              </a:spcBef>
              <a:spcAft>
                <a:spcPts val="700"/>
              </a:spcAft>
            </a:pPr>
            <a:r>
              <a:rPr sz="1150" b="0" i="0">
                <a:solidFill>
                  <a:srgbClr val="F6E6E9"/>
                </a:solidFill>
                <a:latin typeface="Calibri"/>
              </a:rPr>
              <a:t>Each one, and its point</a:t>
            </a:r>
          </a:p>
          <a:p>
            <a:pPr>
              <a:lnSpc>
                <a:spcPct val="115000"/>
              </a:lnSpc>
              <a:spcBef>
                <a:spcPts val="0"/>
              </a:spcBef>
              <a:spcAft>
                <a:spcPts val="700"/>
              </a:spcAft>
            </a:pPr>
            <a:r>
              <a:rPr sz="1150" b="0" i="0">
                <a:solidFill>
                  <a:srgbClr val="F6E6E9"/>
                </a:solidFill>
                <a:latin typeface="Calibri"/>
              </a:rPr>
              <a:t>What the platform refused</a:t>
            </a:r>
          </a:p>
          <a:p>
            <a:pPr>
              <a:lnSpc>
                <a:spcPct val="115000"/>
              </a:lnSpc>
              <a:spcBef>
                <a:spcPts val="0"/>
              </a:spcBef>
              <a:spcAft>
                <a:spcPts val="700"/>
              </a:spcAft>
            </a:pPr>
            <a:r>
              <a:rPr sz="1150" b="0" i="0">
                <a:solidFill>
                  <a:srgbClr val="F6E6E9"/>
                </a:solidFill>
                <a:latin typeface="Calibri"/>
              </a:rPr>
              <a:t>What they do not cover</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SET (1 OF 2)</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Six banking models, chosen to cover the taxonomy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114</a:t>
            </a:r>
          </a:p>
        </p:txBody>
      </p:sp>
      <p:graphicFrame>
        <p:nvGraphicFramePr>
          <p:cNvPr id="10" name="Table 9"/>
          <p:cNvGraphicFramePr>
            <a:graphicFrameLocks noGrp="1"/>
          </p:cNvGraphicFramePr>
          <p:nvPr/>
        </p:nvGraphicFramePr>
        <p:xfrm>
          <a:off x="777240" y="1353312"/>
          <a:ext cx="10637213" cy="3081782"/>
        </p:xfrm>
        <a:graphic>
          <a:graphicData uri="http://schemas.openxmlformats.org/drawingml/2006/table">
            <a:tbl>
              <a:tblPr firstRow="1">
                <a:tableStyleId>{5C22544A-7EE6-4342-B048-85BDC9FD1C3A}</a:tableStyleId>
              </a:tblPr>
              <a:tblGrid>
                <a:gridCol w="320950"/>
                <a:gridCol w="2292503"/>
                <a:gridCol w="550200"/>
                <a:gridCol w="1467202"/>
                <a:gridCol w="6006358"/>
              </a:tblGrid>
              <a:tr h="329184">
                <a:tc>
                  <a:txBody>
                    <a:bodyPr wrap="square"/>
                    <a:lstStyle/>
                    <a:p>
                      <a:pPr algn="l"/>
                      <a:r>
                        <a:rPr sz="1000" b="1">
                          <a:solidFill>
                            <a:srgbClr val="FFFFFF"/>
                          </a:solidFill>
                          <a:latin typeface="Calibri"/>
                        </a:rPr>
                        <a:t>#</a:t>
                      </a:r>
                    </a:p>
                  </a:txBody>
                  <a:tcPr marL="82296" marR="64008" marT="32004" marB="32004" anchor="ctr">
                    <a:solidFill>
                      <a:srgbClr val="A51C30"/>
                    </a:solidFill>
                  </a:tcPr>
                </a:tc>
                <a:tc>
                  <a:txBody>
                    <a:bodyPr wrap="square"/>
                    <a:lstStyle/>
                    <a:p>
                      <a:pPr algn="l"/>
                      <a:r>
                        <a:rPr sz="1000" b="1">
                          <a:solidFill>
                            <a:srgbClr val="FFFFFF"/>
                          </a:solidFill>
                          <a:latin typeface="Calibri"/>
                        </a:rPr>
                        <a:t>Model</a:t>
                      </a:r>
                    </a:p>
                  </a:txBody>
                  <a:tcPr marL="82296" marR="64008" marT="32004" marB="32004" anchor="ctr">
                    <a:solidFill>
                      <a:srgbClr val="A51C30"/>
                    </a:solidFill>
                  </a:tcPr>
                </a:tc>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Domain</a:t>
                      </a:r>
                    </a:p>
                  </a:txBody>
                  <a:tcPr marL="82296" marR="64008" marT="32004" marB="32004" anchor="ctr">
                    <a:solidFill>
                      <a:srgbClr val="A51C30"/>
                    </a:solidFill>
                  </a:tcPr>
                </a:tc>
                <a:tc>
                  <a:txBody>
                    <a:bodyPr wrap="square"/>
                    <a:lstStyle/>
                    <a:p>
                      <a:pPr algn="l"/>
                      <a:r>
                        <a:rPr sz="1000" b="1">
                          <a:solidFill>
                            <a:srgbClr val="FFFFFF"/>
                          </a:solidFill>
                          <a:latin typeface="Calibri"/>
                        </a:rPr>
                        <a:t>Why this one</a:t>
                      </a:r>
                    </a:p>
                  </a:txBody>
                  <a:tcPr marL="82296" marR="64008" marT="32004" marB="32004" anchor="ctr">
                    <a:solidFill>
                      <a:srgbClr val="A51C30"/>
                    </a:solidFill>
                  </a:tcPr>
                </a:tc>
              </a:tr>
              <a:tr h="487172">
                <a:tc>
                  <a:txBody>
                    <a:bodyPr wrap="square"/>
                    <a:lstStyle/>
                    <a:p>
                      <a:pPr algn="l"/>
                      <a:r>
                        <a:rPr sz="1000" b="0">
                          <a:solidFill>
                            <a:srgbClr val="1C1C1E"/>
                          </a:solidFill>
                          <a:latin typeface="Calibri"/>
                        </a:rPr>
                        <a:t>1</a:t>
                      </a:r>
                    </a:p>
                  </a:txBody>
                  <a:tcPr marL="82296" marR="64008" marT="32004" marB="32004" anchor="ctr">
                    <a:solidFill>
                      <a:srgbClr val="FFFFFF"/>
                    </a:solidFill>
                  </a:tcPr>
                </a:tc>
                <a:tc>
                  <a:txBody>
                    <a:bodyPr wrap="square"/>
                    <a:lstStyle/>
                    <a:p>
                      <a:pPr algn="l"/>
                      <a:r>
                        <a:rPr sz="1000" b="0">
                          <a:solidFill>
                            <a:srgbClr val="1C1C1E"/>
                          </a:solidFill>
                          <a:latin typeface="Calibri"/>
                        </a:rPr>
                        <a:t>Black–Scholes European call</a:t>
                      </a:r>
                    </a:p>
                  </a:txBody>
                  <a:tcPr marL="82296" marR="64008" marT="32004" marB="32004" anchor="ctr">
                    <a:solidFill>
                      <a:srgbClr val="FFFFFF"/>
                    </a:solidFill>
                  </a:tcPr>
                </a:tc>
                <a:tc>
                  <a:txBody>
                    <a:bodyPr wrap="square"/>
                    <a:lstStyle/>
                    <a:p>
                      <a:pPr algn="l"/>
                      <a:r>
                        <a:rPr sz="1000" b="0">
                          <a:solidFill>
                            <a:srgbClr val="1C1C1E"/>
                          </a:solidFill>
                          <a:latin typeface="Calibri"/>
                        </a:rPr>
                        <a:t>T1</a:t>
                      </a:r>
                    </a:p>
                  </a:txBody>
                  <a:tcPr marL="82296" marR="64008" marT="32004" marB="32004" anchor="ctr">
                    <a:solidFill>
                      <a:srgbClr val="FFFFFF"/>
                    </a:solidFill>
                  </a:tcPr>
                </a:tc>
                <a:tc>
                  <a:txBody>
                    <a:bodyPr wrap="square"/>
                    <a:lstStyle/>
                    <a:p>
                      <a:pPr algn="l"/>
                      <a:r>
                        <a:rPr sz="1000" b="0">
                          <a:solidFill>
                            <a:srgbClr val="1C1C1E"/>
                          </a:solidFill>
                          <a:latin typeface="Calibri"/>
                        </a:rPr>
                        <a:t>Markets</a:t>
                      </a:r>
                    </a:p>
                  </a:txBody>
                  <a:tcPr marL="82296" marR="64008" marT="32004" marB="32004" anchor="ctr">
                    <a:solidFill>
                      <a:srgbClr val="FFFFFF"/>
                    </a:solidFill>
                  </a:tcPr>
                </a:tc>
                <a:tc>
                  <a:txBody>
                    <a:bodyPr wrap="square"/>
                    <a:lstStyle/>
                    <a:p>
                      <a:pPr algn="l"/>
                      <a:r>
                        <a:rPr sz="1000" b="0">
                          <a:solidFill>
                            <a:srgbClr val="1C1C1E"/>
                          </a:solidFill>
                          <a:latin typeface="Calibri"/>
                        </a:rPr>
                        <a:t>A model with NO training data. The whole pricer — normal CDF included — is one expression in the register</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2</a:t>
                      </a:r>
                    </a:p>
                  </a:txBody>
                  <a:tcPr marL="82296" marR="64008" marT="32004" marB="32004" anchor="ctr">
                    <a:solidFill>
                      <a:srgbClr val="F6F3EF"/>
                    </a:solidFill>
                  </a:tcPr>
                </a:tc>
                <a:tc>
                  <a:txBody>
                    <a:bodyPr wrap="square"/>
                    <a:lstStyle/>
                    <a:p>
                      <a:pPr algn="l"/>
                      <a:r>
                        <a:rPr sz="1000" b="0">
                          <a:solidFill>
                            <a:srgbClr val="1C1C1E"/>
                          </a:solidFill>
                          <a:latin typeface="Calibri"/>
                        </a:rPr>
                        <a:t>Home price regression (Ames)</a:t>
                      </a:r>
                    </a:p>
                  </a:txBody>
                  <a:tcPr marL="82296" marR="64008" marT="32004" marB="32004" anchor="ctr">
                    <a:solidFill>
                      <a:srgbClr val="F6F3EF"/>
                    </a:solidFill>
                  </a:tcPr>
                </a:tc>
                <a:tc>
                  <a:txBody>
                    <a:bodyPr wrap="square"/>
                    <a:lstStyle/>
                    <a:p>
                      <a:pPr algn="l"/>
                      <a:r>
                        <a:rPr sz="1000" b="0">
                          <a:solidFill>
                            <a:srgbClr val="1C1C1E"/>
                          </a:solidFill>
                          <a:latin typeface="Calibri"/>
                        </a:rPr>
                        <a:t>T2</a:t>
                      </a:r>
                    </a:p>
                  </a:txBody>
                  <a:tcPr marL="82296" marR="64008" marT="32004" marB="32004" anchor="ctr">
                    <a:solidFill>
                      <a:srgbClr val="F6F3EF"/>
                    </a:solidFill>
                  </a:tcPr>
                </a:tc>
                <a:tc>
                  <a:txBody>
                    <a:bodyPr wrap="square"/>
                    <a:lstStyle/>
                    <a:p>
                      <a:pPr algn="l"/>
                      <a:r>
                        <a:rPr sz="1000" b="0">
                          <a:solidFill>
                            <a:srgbClr val="1C1C1E"/>
                          </a:solidFill>
                          <a:latin typeface="Calibri"/>
                        </a:rPr>
                        <a:t>Retail collateral</a:t>
                      </a:r>
                    </a:p>
                  </a:txBody>
                  <a:tcPr marL="82296" marR="64008" marT="32004" marB="32004" anchor="ctr">
                    <a:solidFill>
                      <a:srgbClr val="F6F3EF"/>
                    </a:solidFill>
                  </a:tcPr>
                </a:tc>
                <a:tc>
                  <a:txBody>
                    <a:bodyPr wrap="square"/>
                    <a:lstStyle/>
                    <a:p>
                      <a:pPr algn="l"/>
                      <a:r>
                        <a:rPr sz="1000" b="0">
                          <a:solidFill>
                            <a:srgbClr val="1C1C1E"/>
                          </a:solidFill>
                          <a:latin typeface="Calibri"/>
                        </a:rPr>
                        <a:t>REAL public data from its authoritative source, and the second clock the source did not have</a:t>
                      </a:r>
                    </a:p>
                  </a:txBody>
                  <a:tcPr marL="82296" marR="64008" marT="32004" marB="32004" anchor="ctr">
                    <a:solidFill>
                      <a:srgbClr val="F6F3EF"/>
                    </a:solidFill>
                  </a:tcPr>
                </a:tc>
              </a:tr>
              <a:tr h="316738">
                <a:tc>
                  <a:txBody>
                    <a:bodyPr wrap="square"/>
                    <a:lstStyle/>
                    <a:p>
                      <a:pPr algn="l"/>
                      <a:r>
                        <a:rPr sz="1000" b="0">
                          <a:solidFill>
                            <a:srgbClr val="1C1C1E"/>
                          </a:solidFill>
                          <a:latin typeface="Calibri"/>
                        </a:rPr>
                        <a:t>3</a:t>
                      </a:r>
                    </a:p>
                  </a:txBody>
                  <a:tcPr marL="82296" marR="64008" marT="32004" marB="32004" anchor="ctr">
                    <a:solidFill>
                      <a:srgbClr val="FFFFFF"/>
                    </a:solidFill>
                  </a:tcPr>
                </a:tc>
                <a:tc>
                  <a:txBody>
                    <a:bodyPr wrap="square"/>
                    <a:lstStyle/>
                    <a:p>
                      <a:pPr algn="l"/>
                      <a:r>
                        <a:rPr sz="1000" b="0">
                          <a:solidFill>
                            <a:srgbClr val="1C1C1E"/>
                          </a:solidFill>
                          <a:latin typeface="Calibri"/>
                        </a:rPr>
                        <a:t>Mortgage prepayment (CPR)</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Treasury / ALM</a:t>
                      </a:r>
                    </a:p>
                  </a:txBody>
                  <a:tcPr marL="82296" marR="64008" marT="32004" marB="32004" anchor="ctr">
                    <a:solidFill>
                      <a:srgbClr val="FFFFFF"/>
                    </a:solidFill>
                  </a:tcPr>
                </a:tc>
                <a:tc>
                  <a:txBody>
                    <a:bodyPr wrap="square"/>
                    <a:lstStyle/>
                    <a:p>
                      <a:pPr algn="l"/>
                      <a:r>
                        <a:rPr sz="1000" b="0">
                          <a:solidFill>
                            <a:srgbClr val="1C1C1E"/>
                          </a:solidFill>
                          <a:latin typeface="Calibri"/>
                        </a:rPr>
                        <a:t>Non-linear in the inputs, linear in the parameters: exponential ramp plus a cubic S-curve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4</a:t>
                      </a:r>
                    </a:p>
                  </a:txBody>
                  <a:tcPr marL="82296" marR="64008" marT="32004" marB="32004" anchor="ctr">
                    <a:solidFill>
                      <a:srgbClr val="F6F3EF"/>
                    </a:solidFill>
                  </a:tcPr>
                </a:tc>
                <a:tc>
                  <a:txBody>
                    <a:bodyPr wrap="square"/>
                    <a:lstStyle/>
                    <a:p>
                      <a:pPr algn="l"/>
                      <a:r>
                        <a:rPr sz="1000" b="0">
                          <a:solidFill>
                            <a:srgbClr val="1C1C1E"/>
                          </a:solidFill>
                          <a:latin typeface="Calibri"/>
                        </a:rPr>
                        <a:t>Merton distance to default</a:t>
                      </a:r>
                    </a:p>
                  </a:txBody>
                  <a:tcPr marL="82296" marR="64008" marT="32004" marB="32004" anchor="ctr">
                    <a:solidFill>
                      <a:srgbClr val="F6F3EF"/>
                    </a:solidFill>
                  </a:tcPr>
                </a:tc>
                <a:tc>
                  <a:txBody>
                    <a:bodyPr wrap="square"/>
                    <a:lstStyle/>
                    <a:p>
                      <a:pPr algn="l"/>
                      <a:r>
                        <a:rPr sz="1000" b="0">
                          <a:solidFill>
                            <a:srgbClr val="1C1C1E"/>
                          </a:solidFill>
                          <a:latin typeface="Calibri"/>
                        </a:rPr>
                        <a:t>T0</a:t>
                      </a:r>
                    </a:p>
                  </a:txBody>
                  <a:tcPr marL="82296" marR="64008" marT="32004" marB="32004" anchor="ctr">
                    <a:solidFill>
                      <a:srgbClr val="F6F3EF"/>
                    </a:solidFill>
                  </a:tcPr>
                </a:tc>
                <a:tc>
                  <a:txBody>
                    <a:bodyPr wrap="square"/>
                    <a:lstStyle/>
                    <a:p>
                      <a:pPr algn="l"/>
                      <a:r>
                        <a:rPr sz="1000" b="0">
                          <a:solidFill>
                            <a:srgbClr val="1C1C1E"/>
                          </a:solidFill>
                          <a:latin typeface="Calibri"/>
                        </a:rPr>
                        <a:t>Wholesale credit</a:t>
                      </a:r>
                    </a:p>
                  </a:txBody>
                  <a:tcPr marL="82296" marR="64008" marT="32004" marB="32004" anchor="ctr">
                    <a:solidFill>
                      <a:srgbClr val="F6F3EF"/>
                    </a:solidFill>
                  </a:tcPr>
                </a:tc>
                <a:tc>
                  <a:txBody>
                    <a:bodyPr wrap="square"/>
                    <a:lstStyle/>
                    <a:p>
                      <a:pPr algn="l"/>
                      <a:r>
                        <a:rPr sz="1000" b="0">
                          <a:solidFill>
                            <a:srgbClr val="1C1C1E"/>
                          </a:solidFill>
                          <a:latin typeface="Calibri"/>
                        </a:rPr>
                        <a:t>NO parameters at all. Asking to train it is a type error, refused twice by two independent layers</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5</a:t>
                      </a:r>
                    </a:p>
                  </a:txBody>
                  <a:tcPr marL="82296" marR="64008" marT="32004" marB="32004" anchor="ctr">
                    <a:solidFill>
                      <a:srgbClr val="FFFFFF"/>
                    </a:solidFill>
                  </a:tcPr>
                </a:tc>
                <a:tc>
                  <a:txBody>
                    <a:bodyPr wrap="square"/>
                    <a:lstStyle/>
                    <a:p>
                      <a:pPr algn="l"/>
                      <a:r>
                        <a:rPr sz="1000" b="0">
                          <a:solidFill>
                            <a:srgbClr val="1C1C1E"/>
                          </a:solidFill>
                          <a:latin typeface="Calibri"/>
                        </a:rPr>
                        <a:t>IFRS 9 expected credit loss</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Impairment</a:t>
                      </a:r>
                    </a:p>
                  </a:txBody>
                  <a:tcPr marL="82296" marR="64008" marT="32004" marB="32004" anchor="ctr">
                    <a:solidFill>
                      <a:srgbClr val="FFFFFF"/>
                    </a:solidFill>
                  </a:tcPr>
                </a:tc>
                <a:tc>
                  <a:txBody>
                    <a:bodyPr wrap="square"/>
                    <a:lstStyle/>
                    <a:p>
                      <a:pPr algn="l"/>
                      <a:r>
                        <a:rPr sz="1000" b="0">
                          <a:solidFill>
                            <a:srgbClr val="1C1C1E"/>
                          </a:solidFill>
                          <a:latin typeface="Calibri"/>
                        </a:rPr>
                        <a:t>REUSE: five features it did not define, a composed featureset, and a type-checked dependency edge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6</a:t>
                      </a:r>
                    </a:p>
                  </a:txBody>
                  <a:tcPr marL="82296" marR="64008" marT="32004" marB="32004" anchor="ctr">
                    <a:solidFill>
                      <a:srgbClr val="F6F3EF"/>
                    </a:solidFill>
                  </a:tcPr>
                </a:tc>
                <a:tc>
                  <a:txBody>
                    <a:bodyPr wrap="square"/>
                    <a:lstStyle/>
                    <a:p>
                      <a:pPr algn="l"/>
                      <a:r>
                        <a:rPr sz="1000" b="0">
                          <a:solidFill>
                            <a:srgbClr val="1C1C1E"/>
                          </a:solidFill>
                          <a:latin typeface="Calibri"/>
                        </a:rPr>
                        <a:t>HELOC origination eligibility</a:t>
                      </a:r>
                    </a:p>
                  </a:txBody>
                  <a:tcPr marL="82296" marR="64008" marT="32004" marB="32004" anchor="ctr">
                    <a:solidFill>
                      <a:srgbClr val="F6F3EF"/>
                    </a:solidFill>
                  </a:tcPr>
                </a:tc>
                <a:tc>
                  <a:txBody>
                    <a:bodyPr wrap="square"/>
                    <a:lstStyle/>
                    <a:p>
                      <a:pPr algn="l"/>
                      <a:r>
                        <a:rPr sz="1000" b="0">
                          <a:solidFill>
                            <a:srgbClr val="1C1C1E"/>
                          </a:solidFill>
                          <a:latin typeface="Calibri"/>
                        </a:rPr>
                        <a:t>T8</a:t>
                      </a:r>
                    </a:p>
                  </a:txBody>
                  <a:tcPr marL="82296" marR="64008" marT="32004" marB="32004" anchor="ctr">
                    <a:solidFill>
                      <a:srgbClr val="F6F3EF"/>
                    </a:solidFill>
                  </a:tcPr>
                </a:tc>
                <a:tc>
                  <a:txBody>
                    <a:bodyPr wrap="square"/>
                    <a:lstStyle/>
                    <a:p>
                      <a:pPr algn="l"/>
                      <a:r>
                        <a:rPr sz="1000" b="0">
                          <a:solidFill>
                            <a:srgbClr val="1C1C1E"/>
                          </a:solidFill>
                          <a:latin typeface="Calibri"/>
                        </a:rPr>
                        <a:t>Retail credit</a:t>
                      </a:r>
                    </a:p>
                  </a:txBody>
                  <a:tcPr marL="82296" marR="64008" marT="32004" marB="32004" anchor="ctr">
                    <a:solidFill>
                      <a:srgbClr val="F6F3EF"/>
                    </a:solidFill>
                  </a:tcPr>
                </a:tc>
                <a:tc>
                  <a:txBody>
                    <a:bodyPr wrap="square"/>
                    <a:lstStyle/>
                    <a:p>
                      <a:pPr algn="l"/>
                      <a:r>
                        <a:rPr sz="1000" b="0">
                          <a:solidFill>
                            <a:srgbClr val="1C1C1E"/>
                          </a:solidFill>
                          <a:latin typeface="Calibri"/>
                        </a:rPr>
                        <a:t>A policy RULEBOOK governed as a model — checked, trialled, published, approved by a second person</a:t>
                      </a:r>
                    </a:p>
                  </a:txBody>
                  <a:tcPr marL="82296" marR="64008" marT="32004" marB="32004" anchor="ctr">
                    <a:solidFill>
                      <a:srgbClr val="F6F3EF"/>
                    </a:solidFill>
                  </a:tcPr>
                </a:tc>
              </a:tr>
            </a:tbl>
          </a:graphicData>
        </a:graphic>
      </p:graphicFrame>
      <p:sp>
        <p:nvSpPr>
          <p:cNvPr id="11" name="TextBox 10"/>
          <p:cNvSpPr txBox="1"/>
          <p:nvPr/>
        </p:nvSpPr>
        <p:spPr>
          <a:xfrm>
            <a:off x="777240" y="4636262"/>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The trainability class is derived, never declared. </a:t>
            </a:r>
            <a:r>
              <a:rPr sz="1150" b="0" i="0">
                <a:solidFill>
                  <a:srgbClr val="1C1C1E"/>
                </a:solidFill>
                <a:latin typeface="Calibri"/>
              </a:rPr>
              <a:t>These six span T0 (parameters from theory), T1 (calibrated to market), T2 (estimated from a sample) and T8 (authored as rules) — and the class decides which operations the platform will admit.</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SET (2 OF 2)</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more: the opaque, the generative, the elicited, the trained, and four other industries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115</a:t>
            </a:r>
          </a:p>
        </p:txBody>
      </p:sp>
      <p:graphicFrame>
        <p:nvGraphicFramePr>
          <p:cNvPr id="10" name="Table 9"/>
          <p:cNvGraphicFramePr>
            <a:graphicFrameLocks noGrp="1"/>
          </p:cNvGraphicFramePr>
          <p:nvPr/>
        </p:nvGraphicFramePr>
        <p:xfrm>
          <a:off x="777240" y="1764792"/>
          <a:ext cx="10637213" cy="3040606"/>
        </p:xfrm>
        <a:graphic>
          <a:graphicData uri="http://schemas.openxmlformats.org/drawingml/2006/table">
            <a:tbl>
              <a:tblPr firstRow="1">
                <a:tableStyleId>{5C22544A-7EE6-4342-B048-85BDC9FD1C3A}</a:tableStyleId>
              </a:tblPr>
              <a:tblGrid>
                <a:gridCol w="320950"/>
                <a:gridCol w="2292503"/>
                <a:gridCol w="550200"/>
                <a:gridCol w="1467202"/>
                <a:gridCol w="6006358"/>
              </a:tblGrid>
              <a:tr h="329184">
                <a:tc>
                  <a:txBody>
                    <a:bodyPr wrap="square"/>
                    <a:lstStyle/>
                    <a:p>
                      <a:pPr algn="l"/>
                      <a:r>
                        <a:rPr sz="900" b="1">
                          <a:solidFill>
                            <a:srgbClr val="FFFFFF"/>
                          </a:solidFill>
                          <a:latin typeface="Calibri"/>
                        </a:rPr>
                        <a:t>#</a:t>
                      </a:r>
                    </a:p>
                  </a:txBody>
                  <a:tcPr marL="82296" marR="64008" marT="32004" marB="32004" anchor="ctr">
                    <a:solidFill>
                      <a:srgbClr val="A51C30"/>
                    </a:solidFill>
                  </a:tcPr>
                </a:tc>
                <a:tc>
                  <a:txBody>
                    <a:bodyPr wrap="square"/>
                    <a:lstStyle/>
                    <a:p>
                      <a:pPr algn="l"/>
                      <a:r>
                        <a:rPr sz="900" b="1">
                          <a:solidFill>
                            <a:srgbClr val="FFFFFF"/>
                          </a:solidFill>
                          <a:latin typeface="Calibri"/>
                        </a:rPr>
                        <a:t>Model</a:t>
                      </a:r>
                    </a:p>
                  </a:txBody>
                  <a:tcPr marL="82296" marR="64008" marT="32004" marB="32004" anchor="ctr">
                    <a:solidFill>
                      <a:srgbClr val="A51C30"/>
                    </a:solidFill>
                  </a:tcPr>
                </a:tc>
                <a:tc>
                  <a:txBody>
                    <a:bodyPr wrap="square"/>
                    <a:lstStyle/>
                    <a:p>
                      <a:pPr algn="l"/>
                      <a:r>
                        <a:rPr sz="900" b="1">
                          <a:solidFill>
                            <a:srgbClr val="FFFFFF"/>
                          </a:solidFill>
                          <a:latin typeface="Calibri"/>
                        </a:rPr>
                        <a:t>Class</a:t>
                      </a:r>
                    </a:p>
                  </a:txBody>
                  <a:tcPr marL="82296" marR="64008" marT="32004" marB="32004" anchor="ctr">
                    <a:solidFill>
                      <a:srgbClr val="A51C30"/>
                    </a:solidFill>
                  </a:tcPr>
                </a:tc>
                <a:tc>
                  <a:txBody>
                    <a:bodyPr wrap="square"/>
                    <a:lstStyle/>
                    <a:p>
                      <a:pPr algn="l"/>
                      <a:r>
                        <a:rPr sz="900" b="1">
                          <a:solidFill>
                            <a:srgbClr val="FFFFFF"/>
                          </a:solidFill>
                          <a:latin typeface="Calibri"/>
                        </a:rPr>
                        <a:t>Domain</a:t>
                      </a:r>
                    </a:p>
                  </a:txBody>
                  <a:tcPr marL="82296" marR="64008" marT="32004" marB="32004" anchor="ctr">
                    <a:solidFill>
                      <a:srgbClr val="A51C30"/>
                    </a:solidFill>
                  </a:tcPr>
                </a:tc>
                <a:tc>
                  <a:txBody>
                    <a:bodyPr wrap="square"/>
                    <a:lstStyle/>
                    <a:p>
                      <a:pPr algn="l"/>
                      <a:r>
                        <a:rPr sz="900" b="1">
                          <a:solidFill>
                            <a:srgbClr val="FFFFFF"/>
                          </a:solidFill>
                          <a:latin typeface="Calibri"/>
                        </a:rPr>
                        <a:t>Why this one</a:t>
                      </a:r>
                    </a:p>
                  </a:txBody>
                  <a:tcPr marL="82296" marR="64008" marT="32004" marB="32004" anchor="ctr">
                    <a:solidFill>
                      <a:srgbClr val="A51C30"/>
                    </a:solidFill>
                  </a:tcPr>
                </a:tc>
              </a:tr>
              <a:tr h="299694">
                <a:tc>
                  <a:txBody>
                    <a:bodyPr wrap="square"/>
                    <a:lstStyle/>
                    <a:p>
                      <a:pPr algn="l"/>
                      <a:r>
                        <a:rPr sz="900" b="0">
                          <a:solidFill>
                            <a:srgbClr val="1C1C1E"/>
                          </a:solidFill>
                          <a:latin typeface="Calibri"/>
                        </a:rPr>
                        <a:t>7</a:t>
                      </a:r>
                    </a:p>
                  </a:txBody>
                  <a:tcPr marL="82296" marR="64008" marT="32004" marB="32004" anchor="ctr">
                    <a:solidFill>
                      <a:srgbClr val="FFFFFF"/>
                    </a:solidFill>
                  </a:tcPr>
                </a:tc>
                <a:tc>
                  <a:txBody>
                    <a:bodyPr wrap="square"/>
                    <a:lstStyle/>
                    <a:p>
                      <a:pPr algn="l"/>
                      <a:r>
                        <a:rPr sz="900" b="0">
                          <a:solidFill>
                            <a:srgbClr val="1C1C1E"/>
                          </a:solidFill>
                          <a:latin typeface="Calibri"/>
                        </a:rPr>
                        <a:t>LLM model documentation</a:t>
                      </a:r>
                    </a:p>
                  </a:txBody>
                  <a:tcPr marL="82296" marR="64008" marT="32004" marB="32004" anchor="ctr">
                    <a:solidFill>
                      <a:srgbClr val="FFFFFF"/>
                    </a:solidFill>
                  </a:tcPr>
                </a:tc>
                <a:tc>
                  <a:txBody>
                    <a:bodyPr wrap="square"/>
                    <a:lstStyle/>
                    <a:p>
                      <a:pPr algn="l"/>
                      <a:r>
                        <a:rPr sz="900" b="0">
                          <a:solidFill>
                            <a:srgbClr val="1C1C1E"/>
                          </a:solidFill>
                          <a:latin typeface="Calibri"/>
                        </a:rPr>
                        <a:t>Tier B</a:t>
                      </a:r>
                    </a:p>
                  </a:txBody>
                  <a:tcPr marL="82296" marR="64008" marT="32004" marB="32004" anchor="ctr">
                    <a:solidFill>
                      <a:srgbClr val="FFFFFF"/>
                    </a:solidFill>
                  </a:tcPr>
                </a:tc>
                <a:tc>
                  <a:txBody>
                    <a:bodyPr wrap="square"/>
                    <a:lstStyle/>
                    <a:p>
                      <a:pPr algn="l"/>
                      <a:r>
                        <a:rPr sz="900" b="0">
                          <a:solidFill>
                            <a:srgbClr val="1C1C1E"/>
                          </a:solidFill>
                          <a:latin typeface="Calibri"/>
                        </a:rPr>
                        <a:t>Model risk (AI)</a:t>
                      </a:r>
                    </a:p>
                  </a:txBody>
                  <a:tcPr marL="82296" marR="64008" marT="32004" marB="32004" anchor="ctr">
                    <a:solidFill>
                      <a:srgbClr val="FFFFFF"/>
                    </a:solidFill>
                  </a:tcPr>
                </a:tc>
                <a:tc>
                  <a:txBody>
                    <a:bodyPr wrap="square"/>
                    <a:lstStyle/>
                    <a:p>
                      <a:pPr algn="l"/>
                      <a:r>
                        <a:rPr sz="900" b="0">
                          <a:solidFill>
                            <a:srgbClr val="1C1C1E"/>
                          </a:solidFill>
                          <a:latin typeface="Calibri"/>
                        </a:rPr>
                        <a:t>The platform REMOVES the claim citing evidence it does not hold, and refuses a self-attestation</a:t>
                      </a:r>
                    </a:p>
                  </a:txBody>
                  <a:tcPr marL="82296" marR="64008" marT="32004" marB="32004" anchor="ctr">
                    <a:solidFill>
                      <a:srgbClr val="FFFFFF"/>
                    </a:solidFill>
                  </a:tcPr>
                </a:tc>
              </a:tr>
              <a:tr h="453085">
                <a:tc>
                  <a:txBody>
                    <a:bodyPr wrap="square"/>
                    <a:lstStyle/>
                    <a:p>
                      <a:pPr algn="l"/>
                      <a:r>
                        <a:rPr sz="900" b="0">
                          <a:solidFill>
                            <a:srgbClr val="1C1C1E"/>
                          </a:solidFill>
                          <a:latin typeface="Calibri"/>
                        </a:rPr>
                        <a:t>8</a:t>
                      </a:r>
                    </a:p>
                  </a:txBody>
                  <a:tcPr marL="82296" marR="64008" marT="32004" marB="32004" anchor="ctr">
                    <a:solidFill>
                      <a:srgbClr val="F6F3EF"/>
                    </a:solidFill>
                  </a:tcPr>
                </a:tc>
                <a:tc>
                  <a:txBody>
                    <a:bodyPr wrap="square"/>
                    <a:lstStyle/>
                    <a:p>
                      <a:pPr algn="l"/>
                      <a:r>
                        <a:rPr sz="900" b="0">
                          <a:solidFill>
                            <a:srgbClr val="1C1C1E"/>
                          </a:solidFill>
                          <a:latin typeface="Calibri"/>
                        </a:rPr>
                        <a:t>Vendor bureau score</a:t>
                      </a:r>
                    </a:p>
                  </a:txBody>
                  <a:tcPr marL="82296" marR="64008" marT="32004" marB="32004" anchor="ctr">
                    <a:solidFill>
                      <a:srgbClr val="F6F3EF"/>
                    </a:solidFill>
                  </a:tcPr>
                </a:tc>
                <a:tc>
                  <a:txBody>
                    <a:bodyPr wrap="square"/>
                    <a:lstStyle/>
                    <a:p>
                      <a:pPr algn="l"/>
                      <a:r>
                        <a:rPr sz="900" b="0">
                          <a:solidFill>
                            <a:srgbClr val="1C1C1E"/>
                          </a:solidFill>
                          <a:latin typeface="Calibri"/>
                        </a:rPr>
                        <a:t>T6</a:t>
                      </a:r>
                    </a:p>
                  </a:txBody>
                  <a:tcPr marL="82296" marR="64008" marT="32004" marB="32004" anchor="ctr">
                    <a:solidFill>
                      <a:srgbClr val="F6F3EF"/>
                    </a:solidFill>
                  </a:tcPr>
                </a:tc>
                <a:tc>
                  <a:txBody>
                    <a:bodyPr wrap="square"/>
                    <a:lstStyle/>
                    <a:p>
                      <a:pPr algn="l"/>
                      <a:r>
                        <a:rPr sz="900" b="0">
                          <a:solidFill>
                            <a:srgbClr val="1C1C1E"/>
                          </a:solidFill>
                          <a:latin typeface="Calibri"/>
                        </a:rPr>
                        <a:t>Retail credit</a:t>
                      </a:r>
                    </a:p>
                  </a:txBody>
                  <a:tcPr marL="82296" marR="64008" marT="32004" marB="32004" anchor="ctr">
                    <a:solidFill>
                      <a:srgbClr val="F6F3EF"/>
                    </a:solidFill>
                  </a:tcPr>
                </a:tc>
                <a:tc>
                  <a:txBody>
                    <a:bodyPr wrap="square"/>
                    <a:lstStyle/>
                    <a:p>
                      <a:pPr algn="l"/>
                      <a:r>
                        <a:rPr sz="900" b="0">
                          <a:solidFill>
                            <a:srgbClr val="1C1C1E"/>
                          </a:solidFill>
                          <a:latin typeface="Calibri"/>
                        </a:rPr>
                        <a:t>Governing what nobody here can inspect. A fit refused for three reasons at once; reverse-engineered coefficients refused</a:t>
                      </a:r>
                    </a:p>
                  </a:txBody>
                  <a:tcPr marL="82296" marR="64008" marT="32004" marB="32004" anchor="ctr">
                    <a:solidFill>
                      <a:srgbClr val="F6F3EF"/>
                    </a:solidFill>
                  </a:tcPr>
                </a:tc>
              </a:tr>
              <a:tr h="453085">
                <a:tc>
                  <a:txBody>
                    <a:bodyPr wrap="square"/>
                    <a:lstStyle/>
                    <a:p>
                      <a:pPr algn="l"/>
                      <a:r>
                        <a:rPr sz="900" b="0">
                          <a:solidFill>
                            <a:srgbClr val="1C1C1E"/>
                          </a:solidFill>
                          <a:latin typeface="Calibri"/>
                        </a:rPr>
                        <a:t>9</a:t>
                      </a:r>
                    </a:p>
                  </a:txBody>
                  <a:tcPr marL="82296" marR="64008" marT="32004" marB="32004" anchor="ctr">
                    <a:solidFill>
                      <a:srgbClr val="FFFFFF"/>
                    </a:solidFill>
                  </a:tcPr>
                </a:tc>
                <a:tc>
                  <a:txBody>
                    <a:bodyPr wrap="square"/>
                    <a:lstStyle/>
                    <a:p>
                      <a:pPr algn="l"/>
                      <a:r>
                        <a:rPr sz="900" b="0">
                          <a:solidFill>
                            <a:srgbClr val="1C1C1E"/>
                          </a:solidFill>
                          <a:latin typeface="Calibri"/>
                        </a:rPr>
                        <a:t>Polygenic risk score</a:t>
                      </a:r>
                    </a:p>
                  </a:txBody>
                  <a:tcPr marL="82296" marR="64008" marT="32004" marB="32004" anchor="ctr">
                    <a:solidFill>
                      <a:srgbClr val="FFFFFF"/>
                    </a:solidFill>
                  </a:tcPr>
                </a:tc>
                <a:tc>
                  <a:txBody>
                    <a:bodyPr wrap="square"/>
                    <a:lstStyle/>
                    <a:p>
                      <a:pPr algn="l"/>
                      <a:r>
                        <a:rPr sz="900" b="0">
                          <a:solidFill>
                            <a:srgbClr val="1C1C1E"/>
                          </a:solidFill>
                          <a:latin typeface="Calibri"/>
                        </a:rPr>
                        <a:t>T2</a:t>
                      </a:r>
                    </a:p>
                  </a:txBody>
                  <a:tcPr marL="82296" marR="64008" marT="32004" marB="32004" anchor="ctr">
                    <a:solidFill>
                      <a:srgbClr val="FFFFFF"/>
                    </a:solidFill>
                  </a:tcPr>
                </a:tc>
                <a:tc>
                  <a:txBody>
                    <a:bodyPr wrap="square"/>
                    <a:lstStyle/>
                    <a:p>
                      <a:pPr algn="l"/>
                      <a:r>
                        <a:rPr sz="900" b="0">
                          <a:solidFill>
                            <a:srgbClr val="1C1C1E"/>
                          </a:solidFill>
                          <a:latin typeface="Calibri"/>
                        </a:rPr>
                        <a:t>Genomics</a:t>
                      </a:r>
                    </a:p>
                  </a:txBody>
                  <a:tcPr marL="82296" marR="64008" marT="32004" marB="32004" anchor="ctr">
                    <a:solidFill>
                      <a:srgbClr val="FFFFFF"/>
                    </a:solidFill>
                  </a:tcPr>
                </a:tc>
                <a:tc>
                  <a:txBody>
                    <a:bodyPr wrap="square"/>
                    <a:lstStyle/>
                    <a:p>
                      <a:pPr algn="l"/>
                      <a:r>
                        <a:rPr sz="900" b="0">
                          <a:solidFill>
                            <a:srgbClr val="1C1C1E"/>
                          </a:solidFill>
                          <a:latin typeface="Calibri"/>
                        </a:rPr>
                        <a:t>Works far less well in some ancestries — QUANTIFIED on the parameter set, read at the same moment as the numbers</a:t>
                      </a:r>
                    </a:p>
                  </a:txBody>
                  <a:tcPr marL="82296" marR="64008" marT="32004" marB="32004" anchor="ctr">
                    <a:solidFill>
                      <a:srgbClr val="FFFFFF"/>
                    </a:solidFill>
                  </a:tcPr>
                </a:tc>
              </a:tr>
              <a:tr h="299694">
                <a:tc>
                  <a:txBody>
                    <a:bodyPr wrap="square"/>
                    <a:lstStyle/>
                    <a:p>
                      <a:pPr algn="l"/>
                      <a:r>
                        <a:rPr sz="900" b="0">
                          <a:solidFill>
                            <a:srgbClr val="1C1C1E"/>
                          </a:solidFill>
                          <a:latin typeface="Calibri"/>
                        </a:rPr>
                        <a:t>10</a:t>
                      </a:r>
                    </a:p>
                  </a:txBody>
                  <a:tcPr marL="82296" marR="64008" marT="32004" marB="32004" anchor="ctr">
                    <a:solidFill>
                      <a:srgbClr val="F6F3EF"/>
                    </a:solidFill>
                  </a:tcPr>
                </a:tc>
                <a:tc>
                  <a:txBody>
                    <a:bodyPr wrap="square"/>
                    <a:lstStyle/>
                    <a:p>
                      <a:pPr algn="l"/>
                      <a:r>
                        <a:rPr sz="900" b="0">
                          <a:solidFill>
                            <a:srgbClr val="1C1C1E"/>
                          </a:solidFill>
                          <a:latin typeface="Calibri"/>
                        </a:rPr>
                        <a:t>SEIR epidemic model</a:t>
                      </a:r>
                    </a:p>
                  </a:txBody>
                  <a:tcPr marL="82296" marR="64008" marT="32004" marB="32004" anchor="ctr">
                    <a:solidFill>
                      <a:srgbClr val="F6F3EF"/>
                    </a:solidFill>
                  </a:tcPr>
                </a:tc>
                <a:tc>
                  <a:txBody>
                    <a:bodyPr wrap="square"/>
                    <a:lstStyle/>
                    <a:p>
                      <a:pPr algn="l"/>
                      <a:r>
                        <a:rPr sz="900" b="0">
                          <a:solidFill>
                            <a:srgbClr val="1C1C1E"/>
                          </a:solidFill>
                          <a:latin typeface="Calibri"/>
                        </a:rPr>
                        <a:t>T1</a:t>
                      </a:r>
                    </a:p>
                  </a:txBody>
                  <a:tcPr marL="82296" marR="64008" marT="32004" marB="32004" anchor="ctr">
                    <a:solidFill>
                      <a:srgbClr val="F6F3EF"/>
                    </a:solidFill>
                  </a:tcPr>
                </a:tc>
                <a:tc>
                  <a:txBody>
                    <a:bodyPr wrap="square"/>
                    <a:lstStyle/>
                    <a:p>
                      <a:pPr algn="l"/>
                      <a:r>
                        <a:rPr sz="900" b="0">
                          <a:solidFill>
                            <a:srgbClr val="1C1C1E"/>
                          </a:solidFill>
                          <a:latin typeface="Calibri"/>
                        </a:rPr>
                        <a:t>Public health</a:t>
                      </a:r>
                    </a:p>
                  </a:txBody>
                  <a:tcPr marL="82296" marR="64008" marT="32004" marB="32004" anchor="ctr">
                    <a:solidFill>
                      <a:srgbClr val="F6F3EF"/>
                    </a:solidFill>
                  </a:tcPr>
                </a:tc>
                <a:tc>
                  <a:txBody>
                    <a:bodyPr wrap="square"/>
                    <a:lstStyle/>
                    <a:p>
                      <a:pPr algn="l"/>
                      <a:r>
                        <a:rPr sz="900" b="0">
                          <a:solidFill>
                            <a:srgbClr val="1C1C1E"/>
                          </a:solidFill>
                          <a:latin typeface="Calibri"/>
                        </a:rPr>
                        <a:t>One reporting delay moves R0 from 2.04 to 2.34 on the same data. Both numbers are on the record</a:t>
                      </a:r>
                    </a:p>
                  </a:txBody>
                  <a:tcPr marL="82296" marR="64008" marT="32004" marB="32004" anchor="ctr">
                    <a:solidFill>
                      <a:srgbClr val="F6F3EF"/>
                    </a:solidFill>
                  </a:tcPr>
                </a:tc>
              </a:tr>
              <a:tr h="453085">
                <a:tc>
                  <a:txBody>
                    <a:bodyPr wrap="square"/>
                    <a:lstStyle/>
                    <a:p>
                      <a:pPr algn="l"/>
                      <a:r>
                        <a:rPr sz="900" b="0">
                          <a:solidFill>
                            <a:srgbClr val="1C1C1E"/>
                          </a:solidFill>
                          <a:latin typeface="Calibri"/>
                        </a:rPr>
                        <a:t>11</a:t>
                      </a:r>
                    </a:p>
                  </a:txBody>
                  <a:tcPr marL="82296" marR="64008" marT="32004" marB="32004" anchor="ctr">
                    <a:solidFill>
                      <a:srgbClr val="FFFFFF"/>
                    </a:solidFill>
                  </a:tcPr>
                </a:tc>
                <a:tc>
                  <a:txBody>
                    <a:bodyPr wrap="square"/>
                    <a:lstStyle/>
                    <a:p>
                      <a:pPr algn="l"/>
                      <a:r>
                        <a:rPr sz="900" b="0">
                          <a:solidFill>
                            <a:srgbClr val="1C1C1E"/>
                          </a:solidFill>
                          <a:latin typeface="Calibri"/>
                        </a:rPr>
                        <a:t>RAG customer assistant</a:t>
                      </a:r>
                    </a:p>
                  </a:txBody>
                  <a:tcPr marL="82296" marR="64008" marT="32004" marB="32004" anchor="ctr">
                    <a:solidFill>
                      <a:srgbClr val="FFFFFF"/>
                    </a:solidFill>
                  </a:tcPr>
                </a:tc>
                <a:tc>
                  <a:txBody>
                    <a:bodyPr wrap="square"/>
                    <a:lstStyle/>
                    <a:p>
                      <a:pPr algn="l"/>
                      <a:r>
                        <a:rPr sz="900" b="0">
                          <a:solidFill>
                            <a:srgbClr val="1C1C1E"/>
                          </a:solidFill>
                          <a:latin typeface="Calibri"/>
                        </a:rPr>
                        <a:t>T5</a:t>
                      </a:r>
                    </a:p>
                  </a:txBody>
                  <a:tcPr marL="82296" marR="64008" marT="32004" marB="32004" anchor="ctr">
                    <a:solidFill>
                      <a:srgbClr val="FFFFFF"/>
                    </a:solidFill>
                  </a:tcPr>
                </a:tc>
                <a:tc>
                  <a:txBody>
                    <a:bodyPr wrap="square"/>
                    <a:lstStyle/>
                    <a:p>
                      <a:pPr algn="l"/>
                      <a:r>
                        <a:rPr sz="900" b="0">
                          <a:solidFill>
                            <a:srgbClr val="1C1C1E"/>
                          </a:solidFill>
                          <a:latin typeface="Calibri"/>
                        </a:rPr>
                        <a:t>Customer service</a:t>
                      </a:r>
                    </a:p>
                  </a:txBody>
                  <a:tcPr marL="82296" marR="64008" marT="32004" marB="32004" anchor="ctr">
                    <a:solidFill>
                      <a:srgbClr val="FFFFFF"/>
                    </a:solidFill>
                  </a:tcPr>
                </a:tc>
                <a:tc>
                  <a:txBody>
                    <a:bodyPr wrap="square"/>
                    <a:lstStyle/>
                    <a:p>
                      <a:pPr algn="l"/>
                      <a:r>
                        <a:rPr sz="900" b="0">
                          <a:solidFill>
                            <a:srgbClr val="1C1C1E"/>
                          </a:solidFill>
                          <a:latin typeface="Calibri"/>
                        </a:rPr>
                        <a:t>The prompt is a parameter. The vendor reversions, the bank changes nothing, and guardrails fall 100% to 57%</a:t>
                      </a:r>
                    </a:p>
                  </a:txBody>
                  <a:tcPr marL="82296" marR="64008" marT="32004" marB="32004" anchor="ctr">
                    <a:solidFill>
                      <a:srgbClr val="FFFFFF"/>
                    </a:solidFill>
                  </a:tcPr>
                </a:tc>
              </a:tr>
              <a:tr h="453085">
                <a:tc>
                  <a:txBody>
                    <a:bodyPr wrap="square"/>
                    <a:lstStyle/>
                    <a:p>
                      <a:pPr algn="l"/>
                      <a:r>
                        <a:rPr sz="900" b="0">
                          <a:solidFill>
                            <a:srgbClr val="1C1C1E"/>
                          </a:solidFill>
                          <a:latin typeface="Calibri"/>
                        </a:rPr>
                        <a:t>12</a:t>
                      </a:r>
                    </a:p>
                  </a:txBody>
                  <a:tcPr marL="82296" marR="64008" marT="32004" marB="32004" anchor="ctr">
                    <a:solidFill>
                      <a:srgbClr val="F6F3EF"/>
                    </a:solidFill>
                  </a:tcPr>
                </a:tc>
                <a:tc>
                  <a:txBody>
                    <a:bodyPr wrap="square"/>
                    <a:lstStyle/>
                    <a:p>
                      <a:pPr algn="l"/>
                      <a:r>
                        <a:rPr sz="900" b="0">
                          <a:solidFill>
                            <a:srgbClr val="1C1C1E"/>
                          </a:solidFill>
                          <a:latin typeface="Calibri"/>
                        </a:rPr>
                        <a:t>Climate transition scorecard</a:t>
                      </a:r>
                    </a:p>
                  </a:txBody>
                  <a:tcPr marL="82296" marR="64008" marT="32004" marB="32004" anchor="ctr">
                    <a:solidFill>
                      <a:srgbClr val="F6F3EF"/>
                    </a:solidFill>
                  </a:tcPr>
                </a:tc>
                <a:tc>
                  <a:txBody>
                    <a:bodyPr wrap="square"/>
                    <a:lstStyle/>
                    <a:p>
                      <a:pPr algn="l"/>
                      <a:r>
                        <a:rPr sz="900" b="0">
                          <a:solidFill>
                            <a:srgbClr val="1C1C1E"/>
                          </a:solidFill>
                          <a:latin typeface="Calibri"/>
                        </a:rPr>
                        <a:t>T7</a:t>
                      </a:r>
                    </a:p>
                  </a:txBody>
                  <a:tcPr marL="82296" marR="64008" marT="32004" marB="32004" anchor="ctr">
                    <a:solidFill>
                      <a:srgbClr val="F6F3EF"/>
                    </a:solidFill>
                  </a:tcPr>
                </a:tc>
                <a:tc>
                  <a:txBody>
                    <a:bodyPr wrap="square"/>
                    <a:lstStyle/>
                    <a:p>
                      <a:pPr algn="l"/>
                      <a:r>
                        <a:rPr sz="900" b="0">
                          <a:solidFill>
                            <a:srgbClr val="1C1C1E"/>
                          </a:solidFill>
                          <a:latin typeface="Calibri"/>
                        </a:rPr>
                        <a:t>Climate risk</a:t>
                      </a:r>
                    </a:p>
                  </a:txBody>
                  <a:tcPr marL="82296" marR="64008" marT="32004" marB="32004" anchor="ctr">
                    <a:solidFill>
                      <a:srgbClr val="F6F3EF"/>
                    </a:solidFill>
                  </a:tcPr>
                </a:tc>
                <a:tc>
                  <a:txBody>
                    <a:bodyPr wrap="square"/>
                    <a:lstStyle/>
                    <a:p>
                      <a:pPr algn="l"/>
                      <a:r>
                        <a:rPr sz="900" b="0">
                          <a:solidFill>
                            <a:srgbClr val="1C1C1E"/>
                          </a:solidFill>
                          <a:latin typeface="Calibri"/>
                        </a:rPr>
                        <a:t>Weights from a PANEL, because the transition has not happened. The dissent is on the parameter set, priced</a:t>
                      </a:r>
                    </a:p>
                  </a:txBody>
                  <a:tcPr marL="82296" marR="64008" marT="32004" marB="32004" anchor="ctr">
                    <a:solidFill>
                      <a:srgbClr val="F6F3EF"/>
                    </a:solidFill>
                  </a:tcPr>
                </a:tc>
              </a:tr>
              <a:tr h="299694">
                <a:tc>
                  <a:txBody>
                    <a:bodyPr wrap="square"/>
                    <a:lstStyle/>
                    <a:p>
                      <a:pPr algn="l"/>
                      <a:r>
                        <a:rPr sz="900" b="0">
                          <a:solidFill>
                            <a:srgbClr val="1C1C1E"/>
                          </a:solidFill>
                          <a:latin typeface="Calibri"/>
                        </a:rPr>
                        <a:t>13</a:t>
                      </a:r>
                    </a:p>
                  </a:txBody>
                  <a:tcPr marL="82296" marR="64008" marT="32004" marB="32004" anchor="ctr">
                    <a:solidFill>
                      <a:srgbClr val="FFFFFF"/>
                    </a:solidFill>
                  </a:tcPr>
                </a:tc>
                <a:tc>
                  <a:txBody>
                    <a:bodyPr wrap="square"/>
                    <a:lstStyle/>
                    <a:p>
                      <a:pPr algn="l"/>
                      <a:r>
                        <a:rPr sz="900" b="0">
                          <a:solidFill>
                            <a:srgbClr val="1C1C1E"/>
                          </a:solidFill>
                          <a:latin typeface="Calibri"/>
                        </a:rPr>
                        <a:t>Hourly load forecast network</a:t>
                      </a:r>
                    </a:p>
                  </a:txBody>
                  <a:tcPr marL="82296" marR="64008" marT="32004" marB="32004" anchor="ctr">
                    <a:solidFill>
                      <a:srgbClr val="FFFFFF"/>
                    </a:solidFill>
                  </a:tcPr>
                </a:tc>
                <a:tc>
                  <a:txBody>
                    <a:bodyPr wrap="square"/>
                    <a:lstStyle/>
                    <a:p>
                      <a:pPr algn="l"/>
                      <a:r>
                        <a:rPr sz="900" b="0">
                          <a:solidFill>
                            <a:srgbClr val="1C1C1E"/>
                          </a:solidFill>
                          <a:latin typeface="Calibri"/>
                        </a:rPr>
                        <a:t>T3</a:t>
                      </a:r>
                    </a:p>
                  </a:txBody>
                  <a:tcPr marL="82296" marR="64008" marT="32004" marB="32004" anchor="ctr">
                    <a:solidFill>
                      <a:srgbClr val="FFFFFF"/>
                    </a:solidFill>
                  </a:tcPr>
                </a:tc>
                <a:tc>
                  <a:txBody>
                    <a:bodyPr wrap="square"/>
                    <a:lstStyle/>
                    <a:p>
                      <a:pPr algn="l"/>
                      <a:r>
                        <a:rPr sz="900" b="0">
                          <a:solidFill>
                            <a:srgbClr val="1C1C1E"/>
                          </a:solidFill>
                          <a:latin typeface="Calibri"/>
                        </a:rPr>
                        <a:t>Energy</a:t>
                      </a:r>
                    </a:p>
                  </a:txBody>
                  <a:tcPr marL="82296" marR="64008" marT="32004" marB="32004" anchor="ctr">
                    <a:solidFill>
                      <a:srgbClr val="FFFFFF"/>
                    </a:solidFill>
                  </a:tcPr>
                </a:tc>
                <a:tc>
                  <a:txBody>
                    <a:bodyPr wrap="square"/>
                    <a:lstStyle/>
                    <a:p>
                      <a:pPr algn="l"/>
                      <a:r>
                        <a:rPr sz="900" b="0">
                          <a:solidFill>
                            <a:srgbClr val="1C1C1E"/>
                          </a:solidFill>
                          <a:latin typeface="Calibri"/>
                        </a:rPr>
                        <a:t>The opacity must be EARNED against a registered incumbent. The digest is the identity</a:t>
                      </a:r>
                    </a:p>
                  </a:txBody>
                  <a:tcPr marL="82296" marR="64008" marT="32004" marB="32004" anchor="ctr">
                    <a:solidFill>
                      <a:srgbClr val="FFFFFF"/>
                    </a:solidFill>
                  </a:tcPr>
                </a:tc>
              </a:tr>
            </a:tbl>
          </a:graphicData>
        </a:graphic>
      </p:graphicFrame>
      <p:sp>
        <p:nvSpPr>
          <p:cNvPr id="11" name="TextBox 10"/>
          <p:cNvSpPr txBox="1"/>
          <p:nvPr/>
        </p:nvSpPr>
        <p:spPr>
          <a:xfrm>
            <a:off x="777240" y="5006568"/>
            <a:ext cx="10637215" cy="7772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Thirteen case studies now span eight of the nine classes and seven industries. </a:t>
            </a:r>
            <a:r>
              <a:rPr sz="1150" b="0" i="0">
                <a:solidFill>
                  <a:srgbClr val="1C1C1E"/>
                </a:solidFill>
                <a:latin typeface="Calibri"/>
              </a:rPr>
              <a:t>The three outside financial services are the argument that the controls are not banking controls: change the vocabulary and it is the same two clocks, the same pinned training set, the same parameters somebody delivered and somebody else approved. Case 10 is the sharpest — a reporting lag is a reporting lag whether the decision is a prepayment forecast or a school closure.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BOUNDARY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scripts do, and what MAYA does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116</a:t>
            </a:r>
          </a:p>
        </p:txBody>
      </p:sp>
      <p:sp>
        <p:nvSpPr>
          <p:cNvPr id="10" name="TextBox 9"/>
          <p:cNvSpPr txBox="1"/>
          <p:nvPr/>
        </p:nvSpPr>
        <p:spPr>
          <a:xfrm>
            <a:off x="777240" y="1353312"/>
            <a:ext cx="10637215" cy="640080"/>
          </a:xfrm>
          <a:prstGeom prst="rect">
            <a:avLst/>
          </a:prstGeom>
          <a:noFill/>
        </p:spPr>
        <p:txBody>
          <a:bodyPr wrap="square" lIns="0" rIns="0" tIns="0" bIns="0" anchor="t">
            <a:spAutoFit/>
          </a:bodyPr>
          <a:lstStyle/>
          <a:p>
            <a:pPr algn="l">
              <a:lnSpc>
                <a:spcPct val="128000"/>
              </a:lnSpc>
              <a:spcBef>
                <a:spcPts val="0"/>
              </a:spcBef>
              <a:spcAft>
                <a:spcPts val="0"/>
              </a:spcAft>
            </a:pPr>
            <a:r>
              <a:rPr sz="1250" b="1" i="0">
                <a:solidFill>
                  <a:srgbClr val="A51C30"/>
                </a:solidFill>
                <a:latin typeface="Calibri"/>
              </a:rPr>
              <a:t>MAYA is a register. It does not train models and it does not run them. </a:t>
            </a:r>
            <a:r>
              <a:rPr sz="1250" b="0" i="0">
                <a:solidFill>
                  <a:srgbClr val="1C1C1E"/>
                </a:solidFill>
                <a:latin typeface="Calibri"/>
              </a:rPr>
              <a:t>Each script plays the bank's own modelling engine: it fits in its own process, with its own arithmetic, and talks to MAYA only to ask permission and to record what it did. The console marks every line as one or the other.</a:t>
            </a:r>
          </a:p>
        </p:txBody>
      </p:sp>
      <p:sp>
        <p:nvSpPr>
          <p:cNvPr id="11" name="Rectangle 10"/>
          <p:cNvSpPr/>
          <p:nvPr/>
        </p:nvSpPr>
        <p:spPr>
          <a:xfrm>
            <a:off x="777240"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Ask</a:t>
            </a:r>
          </a:p>
          <a:p>
            <a:pPr>
              <a:lnSpc>
                <a:spcPct val="115000"/>
              </a:lnSpc>
              <a:spcBef>
                <a:spcPts val="0"/>
              </a:spcBef>
              <a:spcAft>
                <a:spcPts val="600"/>
              </a:spcAft>
            </a:pPr>
            <a:r>
              <a:rPr sz="850" b="0" i="0">
                <a:solidFill>
                  <a:srgbClr val="4A4F57"/>
                </a:solidFill>
                <a:latin typeface="Calibri"/>
              </a:rPr>
              <a:t>a TRAINING warrant from MAYA — authority before any data is read</a:t>
            </a:r>
          </a:p>
        </p:txBody>
      </p:sp>
      <p:sp>
        <p:nvSpPr>
          <p:cNvPr id="14" name="Rectangle 13"/>
          <p:cNvSpPr/>
          <p:nvPr/>
        </p:nvSpPr>
        <p:spPr>
          <a:xfrm>
            <a:off x="2941259"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2941259"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087563"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LOCALLY, outside MAYA, in the bank's own environment</a:t>
            </a:r>
          </a:p>
        </p:txBody>
      </p:sp>
      <p:sp>
        <p:nvSpPr>
          <p:cNvPr id="17" name="Rectangle 16"/>
          <p:cNvSpPr/>
          <p:nvPr/>
        </p:nvSpPr>
        <p:spPr>
          <a:xfrm>
            <a:off x="5105278"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5105278"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5251582"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Deliver</a:t>
            </a:r>
          </a:p>
          <a:p>
            <a:pPr>
              <a:lnSpc>
                <a:spcPct val="115000"/>
              </a:lnSpc>
              <a:spcBef>
                <a:spcPts val="0"/>
              </a:spcBef>
              <a:spcAft>
                <a:spcPts val="600"/>
              </a:spcAft>
            </a:pPr>
            <a:r>
              <a:rPr sz="850" b="0" i="0">
                <a:solidFill>
                  <a:srgbClr val="4A4F57"/>
                </a:solidFill>
                <a:latin typeface="Calibri"/>
              </a:rPr>
              <a:t>the parameters back under that warrant. They land PROPOSED</a:t>
            </a:r>
          </a:p>
        </p:txBody>
      </p:sp>
      <p:sp>
        <p:nvSpPr>
          <p:cNvPr id="20" name="Rectangle 19"/>
          <p:cNvSpPr/>
          <p:nvPr/>
        </p:nvSpPr>
        <p:spPr>
          <a:xfrm>
            <a:off x="7269297"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269297"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7415601"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Approve</a:t>
            </a:r>
          </a:p>
          <a:p>
            <a:pPr>
              <a:lnSpc>
                <a:spcPct val="115000"/>
              </a:lnSpc>
              <a:spcBef>
                <a:spcPts val="0"/>
              </a:spcBef>
              <a:spcAft>
                <a:spcPts val="600"/>
              </a:spcAft>
            </a:pPr>
            <a:r>
              <a:rPr sz="850" b="0" i="0">
                <a:solidFill>
                  <a:srgbClr val="4A4F57"/>
                </a:solidFill>
                <a:latin typeface="Calibri"/>
              </a:rPr>
              <a:t>by somebody who is not the author. Self-approval is refused</a:t>
            </a:r>
          </a:p>
        </p:txBody>
      </p:sp>
      <p:sp>
        <p:nvSpPr>
          <p:cNvPr id="23" name="Rectangle 22"/>
          <p:cNvSpPr/>
          <p:nvPr/>
        </p:nvSpPr>
        <p:spPr>
          <a:xfrm>
            <a:off x="9433316" y="2221991"/>
            <a:ext cx="1981139" cy="14173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9433316" y="2221991"/>
            <a:ext cx="1981139"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579620" y="2368296"/>
            <a:ext cx="1688531" cy="11430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5</a:t>
            </a:r>
          </a:p>
          <a:p>
            <a:pPr>
              <a:spcBef>
                <a:spcPts val="0"/>
              </a:spcBef>
              <a:spcAft>
                <a:spcPts val="400"/>
              </a:spcAft>
            </a:pPr>
            <a:r>
              <a:rPr sz="1100" b="1" i="0">
                <a:solidFill>
                  <a:srgbClr val="1C1C1E"/>
                </a:solidFill>
                <a:latin typeface="Calibri"/>
              </a:rPr>
              <a:t>Run</a:t>
            </a:r>
          </a:p>
          <a:p>
            <a:pPr>
              <a:lnSpc>
                <a:spcPct val="115000"/>
              </a:lnSpc>
              <a:spcBef>
                <a:spcPts val="0"/>
              </a:spcBef>
              <a:spcAft>
                <a:spcPts val="600"/>
              </a:spcAft>
            </a:pPr>
            <a:r>
              <a:rPr sz="850" b="0" i="0">
                <a:solidFill>
                  <a:srgbClr val="4A4F57"/>
                </a:solidFill>
                <a:latin typeface="Calibri"/>
              </a:rPr>
              <a:t>under an EXECUTION warrant — locally again. MAYA is not in the loop</a:t>
            </a:r>
          </a:p>
        </p:txBody>
      </p:sp>
      <p:sp>
        <p:nvSpPr>
          <p:cNvPr id="26" name="TextBox 25"/>
          <p:cNvSpPr txBox="1"/>
          <p:nvPr/>
        </p:nvSpPr>
        <p:spPr>
          <a:xfrm>
            <a:off x="777240" y="3877055"/>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Nothing calls the captive engine or the captive estimator. </a:t>
            </a:r>
            <a:r>
              <a:rPr sz="1150" b="0" i="0">
                <a:solidFill>
                  <a:srgbClr val="1C1C1E"/>
                </a:solidFill>
                <a:latin typeface="Calibri"/>
              </a:rPr>
              <a:t>MAYA ships both for demonstrations, and using either in a case study would teach the opposite of the boundary these exist to draw.</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1 AND 4</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two extremes: a calibrated pricer and a model with no parameters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117</a:t>
            </a:r>
          </a:p>
        </p:txBody>
      </p:sp>
      <p:sp>
        <p:nvSpPr>
          <p:cNvPr id="10" name="Rectangle 9"/>
          <p:cNvSpPr/>
          <p:nvPr/>
        </p:nvSpPr>
        <p:spPr>
          <a:xfrm>
            <a:off x="777240" y="176479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9842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1 · T1 · CALIBRATED</a:t>
            </a:r>
          </a:p>
        </p:txBody>
      </p:sp>
      <p:sp>
        <p:nvSpPr>
          <p:cNvPr id="13" name="TextBox 12"/>
          <p:cNvSpPr txBox="1"/>
          <p:nvPr/>
        </p:nvSpPr>
        <p:spPr>
          <a:xfrm>
            <a:off x="996695" y="22585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Black–Scholes European call</a:t>
            </a:r>
          </a:p>
        </p:txBody>
      </p:sp>
      <p:sp>
        <p:nvSpPr>
          <p:cNvPr id="14" name="TextBox 13"/>
          <p:cNvSpPr txBox="1"/>
          <p:nvPr/>
        </p:nvSpPr>
        <p:spPr>
          <a:xfrm>
            <a:off x="996695" y="2569463"/>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training data exists for an option pricer, and none is needed. One number is calibrated to market: implied volatility.
The whole model — including an Abramowitz–Stegun approximation of the normal CDF — is ONE EXPRESSION in the register, checked against math.erf to 4.8e-06 before anything is registered. No artifact to lose, no library version to disagree with.
Calibrating one flat vol to the at-the-money quote reprices the wings badly. That RMSE is recorded as a STATED LIMITATION on the parameter set, so the reviewer reads it before approving.</a:t>
            </a:r>
          </a:p>
        </p:txBody>
      </p:sp>
      <p:sp>
        <p:nvSpPr>
          <p:cNvPr id="15" name="Rectangle 14"/>
          <p:cNvSpPr/>
          <p:nvPr/>
        </p:nvSpPr>
        <p:spPr>
          <a:xfrm>
            <a:off x="6251295" y="176479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51295" y="176479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70751" y="198424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4 · T0 · NOTHING TO FIT</a:t>
            </a:r>
          </a:p>
        </p:txBody>
      </p:sp>
      <p:sp>
        <p:nvSpPr>
          <p:cNvPr id="18" name="TextBox 17"/>
          <p:cNvSpPr txBox="1"/>
          <p:nvPr/>
        </p:nvSpPr>
        <p:spPr>
          <a:xfrm>
            <a:off x="6470751" y="225856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Merton distance to default</a:t>
            </a:r>
          </a:p>
        </p:txBody>
      </p:sp>
      <p:sp>
        <p:nvSpPr>
          <p:cNvPr id="19" name="TextBox 18"/>
          <p:cNvSpPr txBox="1"/>
          <p:nvPr/>
        </p:nvSpPr>
        <p:spPr>
          <a:xfrm>
            <a:off x="6470751" y="2569463"/>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Five observables, a closed form, no parameter object at all. P is the terminal object.
Asking for a training warrant is not a permissions problem — it is a TYPE ERROR, and two independent layers say so differently:
grammar: "a T0 model cannot be fitted: its parameters come from theory, not from data"
register: "nothing a fit could have produced — record them with provenance 'declared'", which points at the honest alternative rather than only saying no.</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2 AND 3</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Real public data, and a curve a bank actually uses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118</a:t>
            </a:r>
          </a:p>
        </p:txBody>
      </p:sp>
      <p:sp>
        <p:nvSpPr>
          <p:cNvPr id="10" name="Rectangle 9"/>
          <p:cNvSpPr/>
          <p:nvPr/>
        </p:nvSpPr>
        <p:spPr>
          <a:xfrm>
            <a:off x="777240" y="135331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2 · T2 · ESTIMATED</a:t>
            </a:r>
          </a:p>
        </p:txBody>
      </p:sp>
      <p:sp>
        <p:nvSpPr>
          <p:cNvPr id="13" name="TextBox 12"/>
          <p:cNvSpPr txBox="1"/>
          <p:nvPr/>
        </p:nvSpPr>
        <p:spPr>
          <a:xfrm>
            <a:off x="996695"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Home price regression, on public data</a:t>
            </a:r>
          </a:p>
        </p:txBody>
      </p:sp>
      <p:sp>
        <p:nvSpPr>
          <p:cNvPr id="14" name="TextBox 13"/>
          <p:cNvSpPr txBox="1"/>
          <p:nvPr/>
        </p:nvSpPr>
        <p:spPr>
          <a:xfrm>
            <a:off x="996695" y="2157984"/>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2,928 real sales from Dean De Cock's own file at jse.amstat.org — the authoritative source, not a mirror. No synthetic fallback: if the download fails the script stops.
The regression is unremarkable and is not the point. The SOURCE CARRIES ONE CLOCK and MAYA requires two, so a 45-day recording lag is an assumption somebody has to own — written on the feature view, on the parameter set and in the specification.
Condition number 229,832, reported beside R². It is the number that says whether the coefficients mean anything individually.</a:t>
            </a:r>
          </a:p>
        </p:txBody>
      </p:sp>
      <p:sp>
        <p:nvSpPr>
          <p:cNvPr id="15" name="Rectangle 14"/>
          <p:cNvSpPr/>
          <p:nvPr/>
        </p:nvSpPr>
        <p:spPr>
          <a:xfrm>
            <a:off x="6251295" y="1353312"/>
            <a:ext cx="5163159" cy="278892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51295" y="1353312"/>
            <a:ext cx="516315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70751" y="1572768"/>
            <a:ext cx="4724247"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CASE 3 · T2 · ESTIMATED</a:t>
            </a:r>
          </a:p>
        </p:txBody>
      </p:sp>
      <p:sp>
        <p:nvSpPr>
          <p:cNvPr id="18" name="TextBox 17"/>
          <p:cNvSpPr txBox="1"/>
          <p:nvPr/>
        </p:nvSpPr>
        <p:spPr>
          <a:xfrm>
            <a:off x="6470751" y="1847088"/>
            <a:ext cx="4724247"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Mortgage prepayment curve</a:t>
            </a:r>
          </a:p>
        </p:txBody>
      </p:sp>
      <p:sp>
        <p:nvSpPr>
          <p:cNvPr id="19" name="TextBox 18"/>
          <p:cNvSpPr txBox="1"/>
          <p:nvPr/>
        </p:nvSpPr>
        <p:spPr>
          <a:xfrm>
            <a:off x="6470751" y="2157984"/>
            <a:ext cx="4724247" cy="180136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CPR rises along an exponential seasoning ramp and responds to refinancing incentive along a cubic S-curve.
NON-LINEAR IN THE INPUTS, LINEAR IN THE PARAMETERS — so least squares fits it, the fit is deterministic and reproducible, and every coefficient keeps a standard error and an interpretation.
The curve is INSIDE the registered expression rather than in a feature pipeline beside it. Otherwise the model is linear on paper and non-linear in reality, and the part a supervisor asks about lives somewhere nobody governs.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5</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Reuse: what happens when two models share ground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119</a:t>
            </a:r>
          </a:p>
        </p:txBody>
      </p:sp>
      <p:sp>
        <p:nvSpPr>
          <p:cNvPr id="10" name="TextBox 9"/>
          <p:cNvSpPr txBox="1"/>
          <p:nvPr/>
        </p:nvSpPr>
        <p:spPr>
          <a:xfrm>
            <a:off x="777240" y="1353312"/>
            <a:ext cx="10637215" cy="50292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Case study 5 — IFRS 9 expected credit loss. </a:t>
            </a:r>
            <a:r>
              <a:rPr sz="1200" b="0" i="0">
                <a:solidFill>
                  <a:srgbClr val="1C1C1E"/>
                </a:solidFill>
                <a:latin typeface="Calibri"/>
              </a:rPr>
              <a:t>Three kinds of reuse, and they are different things. This is where model risk actually lives: not in any single model, but in what depends on what.</a:t>
            </a:r>
          </a:p>
        </p:txBody>
      </p:sp>
      <p:graphicFrame>
        <p:nvGraphicFramePr>
          <p:cNvPr id="11" name="Table 10"/>
          <p:cNvGraphicFramePr>
            <a:graphicFrameLocks noGrp="1"/>
          </p:cNvGraphicFramePr>
          <p:nvPr/>
        </p:nvGraphicFramePr>
        <p:xfrm>
          <a:off x="777240" y="2011680"/>
          <a:ext cx="10637214" cy="2378697"/>
        </p:xfrm>
        <a:graphic>
          <a:graphicData uri="http://schemas.openxmlformats.org/drawingml/2006/table">
            <a:tbl>
              <a:tblPr firstRow="1">
                <a:tableStyleId>{5C22544A-7EE6-4342-B048-85BDC9FD1C3A}</a:tableStyleId>
              </a:tblPr>
              <a:tblGrid>
                <a:gridCol w="2384203"/>
                <a:gridCol w="3851405"/>
                <a:gridCol w="4401606"/>
              </a:tblGrid>
              <a:tr h="329184">
                <a:tc>
                  <a:txBody>
                    <a:bodyPr wrap="square"/>
                    <a:lstStyle/>
                    <a:p>
                      <a:pPr algn="l"/>
                      <a:r>
                        <a:rPr sz="1050" b="1">
                          <a:solidFill>
                            <a:srgbClr val="FFFFFF"/>
                          </a:solidFill>
                          <a:latin typeface="Calibri"/>
                        </a:rPr>
                        <a:t>Kind of reuse</a:t>
                      </a:r>
                    </a:p>
                  </a:txBody>
                  <a:tcPr marL="82296" marR="64008" marT="32004" marB="32004" anchor="ctr">
                    <a:solidFill>
                      <a:srgbClr val="A51C30"/>
                    </a:solidFill>
                  </a:tcPr>
                </a:tc>
                <a:tc>
                  <a:txBody>
                    <a:bodyPr wrap="square"/>
                    <a:lstStyle/>
                    <a:p>
                      <a:pPr algn="l"/>
                      <a:r>
                        <a:rPr sz="1050" b="1">
                          <a:solidFill>
                            <a:srgbClr val="FFFFFF"/>
                          </a:solidFill>
                          <a:latin typeface="Calibri"/>
                        </a:rPr>
                        <a:t>What it means</a:t>
                      </a:r>
                    </a:p>
                  </a:txBody>
                  <a:tcPr marL="82296" marR="64008" marT="32004" marB="32004" anchor="ctr">
                    <a:solidFill>
                      <a:srgbClr val="A51C30"/>
                    </a:solidFill>
                  </a:tcPr>
                </a:tc>
                <a:tc>
                  <a:txBody>
                    <a:bodyPr wrap="square"/>
                    <a:lstStyle/>
                    <a:p>
                      <a:pPr algn="l"/>
                      <a:r>
                        <a:rPr sz="1050" b="1">
                          <a:solidFill>
                            <a:srgbClr val="FFFFFF"/>
                          </a:solidFill>
                          <a:latin typeface="Calibri"/>
                        </a:rPr>
                        <a:t>What the platform does about it</a:t>
                      </a:r>
                    </a:p>
                  </a:txBody>
                  <a:tcPr marL="82296" marR="64008" marT="32004" marB="32004" anchor="ctr">
                    <a:solidFill>
                      <a:srgbClr val="A51C30"/>
                    </a:solidFill>
                  </a:tcPr>
                </a:tc>
              </a:tr>
              <a:tr h="683171">
                <a:tc>
                  <a:txBody>
                    <a:bodyPr wrap="square"/>
                    <a:lstStyle/>
                    <a:p>
                      <a:pPr algn="l"/>
                      <a:r>
                        <a:rPr sz="1050" b="0">
                          <a:solidFill>
                            <a:srgbClr val="1C1C1E"/>
                          </a:solidFill>
                          <a:latin typeface="Calibri"/>
                        </a:rPr>
                        <a:t>Features, shared not copied</a:t>
                      </a:r>
                    </a:p>
                  </a:txBody>
                  <a:tcPr marL="82296" marR="64008" marT="32004" marB="32004" anchor="ctr">
                    <a:solidFill>
                      <a:srgbClr val="FFFFFF"/>
                    </a:solidFill>
                  </a:tcPr>
                </a:tc>
                <a:tc>
                  <a:txBody>
                    <a:bodyPr wrap="square"/>
                    <a:lstStyle/>
                    <a:p>
                      <a:pPr algn="l"/>
                      <a:r>
                        <a:rPr sz="1050" b="0">
                          <a:solidFill>
                            <a:srgbClr val="1C1C1E"/>
                          </a:solidFill>
                          <a:latin typeface="Calibri"/>
                        </a:rPr>
                        <a:t>Five features already existed against the obligor entity; this model finds them rather than redefining them</a:t>
                      </a:r>
                    </a:p>
                  </a:txBody>
                  <a:tcPr marL="82296" marR="64008" marT="32004" marB="32004" anchor="ctr">
                    <a:solidFill>
                      <a:srgbClr val="FFFFFF"/>
                    </a:solidFill>
                  </a:tcPr>
                </a:tc>
                <a:tc>
                  <a:txBody>
                    <a:bodyPr wrap="square"/>
                    <a:lstStyle/>
                    <a:p>
                      <a:pPr algn="l"/>
                      <a:r>
                        <a:rPr sz="1050" b="0">
                          <a:solidFill>
                            <a:srgbClr val="1C1C1E"/>
                          </a:solidFill>
                          <a:latin typeface="Calibri"/>
                        </a:rPr>
                        <a:t>A second definition of asset_vol would be a second answer to one question, and the two would drift invisibly</a:t>
                      </a:r>
                    </a:p>
                  </a:txBody>
                  <a:tcPr marL="82296" marR="64008" marT="32004" marB="32004" anchor="ctr">
                    <a:solidFill>
                      <a:srgbClr val="FFFFFF"/>
                    </a:solidFill>
                  </a:tcPr>
                </a:tc>
              </a:tr>
              <a:tr h="683171">
                <a:tc>
                  <a:txBody>
                    <a:bodyPr wrap="square"/>
                    <a:lstStyle/>
                    <a:p>
                      <a:pPr algn="l"/>
                      <a:r>
                        <a:rPr sz="1050" b="0">
                          <a:solidFill>
                            <a:srgbClr val="1C1C1E"/>
                          </a:solidFill>
                          <a:latin typeface="Calibri"/>
                        </a:rPr>
                        <a:t>The featureset is COMPOSED</a:t>
                      </a:r>
                    </a:p>
                  </a:txBody>
                  <a:tcPr marL="82296" marR="64008" marT="32004" marB="32004" anchor="ctr">
                    <a:solidFill>
                      <a:srgbClr val="F6F3EF"/>
                    </a:solidFill>
                  </a:tcPr>
                </a:tc>
                <a:tc>
                  <a:txBody>
                    <a:bodyPr wrap="square"/>
                    <a:lstStyle/>
                    <a:p>
                      <a:pPr algn="l"/>
                      <a:r>
                        <a:rPr sz="1050" b="0">
                          <a:solidFill>
                            <a:srgbClr val="1C1C1E"/>
                          </a:solidFill>
                          <a:latin typeface="Calibri"/>
                        </a:rPr>
                        <a:t>ecl_inputs folds merton_inputs and adds four slots, resolving to nine — five never typed out</a:t>
                      </a:r>
                    </a:p>
                  </a:txBody>
                  <a:tcPr marL="82296" marR="64008" marT="32004" marB="32004" anchor="ctr">
                    <a:solidFill>
                      <a:srgbClr val="F6F3EF"/>
                    </a:solidFill>
                  </a:tcPr>
                </a:tc>
                <a:tc>
                  <a:txBody>
                    <a:bodyPr wrap="square"/>
                    <a:lstStyle/>
                    <a:p>
                      <a:pPr algn="l"/>
                      <a:r>
                        <a:rPr sz="1050" b="0">
                          <a:solidFill>
                            <a:srgbClr val="1C1C1E"/>
                          </a:solidFill>
                          <a:latin typeface="Calibri"/>
                        </a:rPr>
                        <a:t>Operations are total: an `add` of a slot a parent already has is refused, because an operation that silently did nothing is one somebody believes happened</a:t>
                      </a:r>
                    </a:p>
                  </a:txBody>
                  <a:tcPr marL="82296" marR="64008" marT="32004" marB="32004" anchor="ctr">
                    <a:solidFill>
                      <a:srgbClr val="F6F3EF"/>
                    </a:solidFill>
                  </a:tcPr>
                </a:tc>
              </a:tr>
              <a:tr h="683171">
                <a:tc>
                  <a:txBody>
                    <a:bodyPr wrap="square"/>
                    <a:lstStyle/>
                    <a:p>
                      <a:pPr algn="l"/>
                      <a:r>
                        <a:rPr sz="1050" b="0">
                          <a:solidFill>
                            <a:srgbClr val="1C1C1E"/>
                          </a:solidFill>
                          <a:latin typeface="Calibri"/>
                        </a:rPr>
                        <a:t>The models are RELATED</a:t>
                      </a:r>
                    </a:p>
                  </a:txBody>
                  <a:tcPr marL="82296" marR="64008" marT="32004" marB="32004" anchor="ctr">
                    <a:solidFill>
                      <a:srgbClr val="FFFFFF"/>
                    </a:solidFill>
                  </a:tcPr>
                </a:tc>
                <a:tc>
                  <a:txBody>
                    <a:bodyPr wrap="square"/>
                    <a:lstStyle/>
                    <a:p>
                      <a:pPr algn="l"/>
                      <a:r>
                        <a:rPr sz="1050" b="0">
                          <a:solidFill>
                            <a:srgbClr val="1C1C1E"/>
                          </a:solidFill>
                          <a:latin typeface="Calibri"/>
                        </a:rPr>
                        <a:t>The Merton PD is written back as a feature and read here, so the input_to edge carries something</a:t>
                      </a:r>
                    </a:p>
                  </a:txBody>
                  <a:tcPr marL="82296" marR="64008" marT="32004" marB="32004" anchor="ctr">
                    <a:solidFill>
                      <a:srgbClr val="FFFFFF"/>
                    </a:solidFill>
                  </a:tcPr>
                </a:tc>
                <a:tc>
                  <a:txBody>
                    <a:bodyPr wrap="square"/>
                    <a:lstStyle/>
                    <a:p>
                      <a:pPr algn="l"/>
                      <a:r>
                        <a:rPr sz="1050" b="0">
                          <a:solidFill>
                            <a:srgbClr val="1C1C1E"/>
                          </a:solidFill>
                          <a:latin typeface="Calibri"/>
                        </a:rPr>
                        <a:t>MAYA TYPE-CHECKS THE EDGE. The first attempt was refused: an edge supplying no field the target reads is “a wire to nowhere, and the blast radius would follow it”</a:t>
                      </a:r>
                    </a:p>
                  </a:txBody>
                  <a:tcPr marL="82296" marR="64008" marT="32004" marB="32004" anchor="ctr">
                    <a:solidFill>
                      <a:srgbClr val="FFFFFF"/>
                    </a:solidFill>
                  </a:tcPr>
                </a:tc>
              </a:tr>
            </a:tbl>
          </a:graphicData>
        </a:graphic>
      </p:graphicFrame>
      <p:sp>
        <p:nvSpPr>
          <p:cNvPr id="12" name="TextBox 11"/>
          <p:cNvSpPr txBox="1"/>
          <p:nvPr/>
        </p:nvSpPr>
        <p:spPr>
          <a:xfrm>
            <a:off x="777240" y="4609833"/>
            <a:ext cx="10637215" cy="54864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And then the blast radius is an answer rather than a recollection. </a:t>
            </a:r>
            <a:r>
              <a:rPr sz="1150" b="0" i="0">
                <a:solidFill>
                  <a:srgbClr val="1C1C1E"/>
                </a:solidFill>
                <a:latin typeface="Calibri"/>
              </a:rPr>
              <a:t>A change to the Merton model reaches one model, at tier 2, distance 1 — computed from the graph. `input_to` propagates; `challenger_of` deliberately does not, because a challenger counted as a dependency would inflate every blast radius it appeared in.</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6</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credit policy is a model, and this is what governing one looks like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120</a:t>
            </a:r>
          </a:p>
        </p:txBody>
      </p:sp>
      <p:sp>
        <p:nvSpPr>
          <p:cNvPr id="10" name="TextBox 9"/>
          <p:cNvSpPr txBox="1"/>
          <p:nvPr/>
        </p:nvSpPr>
        <p:spPr>
          <a:xfrm>
            <a:off x="777240" y="1764792"/>
            <a:ext cx="10637215" cy="50292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Case study 6 — HELOC origination eligibility, class T8. </a:t>
            </a:r>
            <a:r>
              <a:rPr sz="1200" b="0" i="0">
                <a:solidFill>
                  <a:srgbClr val="1C1C1E"/>
                </a:solidFill>
                <a:latin typeface="Calibri"/>
              </a:rPr>
              <a:t>Parameters that are AUTHORED rather than fitted. A rulebook that declines an application and has to be explained to the person it refused is doing exactly what a scorecard does — and a register that governs the scorecard but not the rulebook is governing the easier half.</a:t>
            </a:r>
          </a:p>
        </p:txBody>
      </p:sp>
      <p:sp>
        <p:nvSpPr>
          <p:cNvPr id="11" name="Rectangle 10"/>
          <p:cNvSpPr/>
          <p:nvPr/>
        </p:nvSpPr>
        <p:spPr>
          <a:xfrm>
            <a:off x="777240"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23544"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CHECK</a:t>
            </a:r>
          </a:p>
          <a:p>
            <a:pPr>
              <a:spcBef>
                <a:spcPts val="0"/>
              </a:spcBef>
              <a:spcAft>
                <a:spcPts val="400"/>
              </a:spcAft>
            </a:pPr>
            <a:r>
              <a:rPr sz="1100" b="1" i="0">
                <a:solidFill>
                  <a:srgbClr val="1C1C1E"/>
                </a:solidFill>
                <a:latin typeface="Calibri"/>
              </a:rPr>
              <a:t>against the schema</a:t>
            </a:r>
          </a:p>
          <a:p>
            <a:pPr>
              <a:lnSpc>
                <a:spcPct val="115000"/>
              </a:lnSpc>
              <a:spcBef>
                <a:spcPts val="0"/>
              </a:spcBef>
              <a:spcAft>
                <a:spcPts val="600"/>
              </a:spcAft>
            </a:pPr>
            <a:r>
              <a:rPr sz="850" b="0" i="0">
                <a:solidFill>
                  <a:srgbClr val="4A4F57"/>
                </a:solidFill>
                <a:latin typeface="Calibri"/>
              </a:rPr>
              <a:t>a rule reading a field the version does not declare is REFUSED, before anybody can approve it</a:t>
            </a:r>
          </a:p>
        </p:txBody>
      </p:sp>
      <p:sp>
        <p:nvSpPr>
          <p:cNvPr id="14" name="Rectangle 13"/>
          <p:cNvSpPr/>
          <p:nvPr/>
        </p:nvSpPr>
        <p:spPr>
          <a:xfrm>
            <a:off x="3482263"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3482263"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3628567"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TRIAL</a:t>
            </a:r>
          </a:p>
          <a:p>
            <a:pPr>
              <a:spcBef>
                <a:spcPts val="0"/>
              </a:spcBef>
              <a:spcAft>
                <a:spcPts val="400"/>
              </a:spcAft>
            </a:pPr>
            <a:r>
              <a:rPr sz="1100" b="1" i="0">
                <a:solidFill>
                  <a:srgbClr val="1C1C1E"/>
                </a:solidFill>
                <a:latin typeface="Calibri"/>
              </a:rPr>
              <a:t>over sample rows</a:t>
            </a:r>
          </a:p>
          <a:p>
            <a:pPr>
              <a:lnSpc>
                <a:spcPct val="115000"/>
              </a:lnSpc>
              <a:spcBef>
                <a:spcPts val="0"/>
              </a:spcBef>
              <a:spcAft>
                <a:spcPts val="600"/>
              </a:spcAft>
            </a:pPr>
            <a:r>
              <a:rPr sz="850" b="0" i="0">
                <a:solidFill>
                  <a:srgbClr val="4A4F57"/>
                </a:solidFill>
                <a:latin typeface="Calibri"/>
              </a:rPr>
              <a:t>no warrant, no record — an author reading their own draft back. Reports which rules never fired</a:t>
            </a:r>
          </a:p>
        </p:txBody>
      </p:sp>
      <p:sp>
        <p:nvSpPr>
          <p:cNvPr id="17" name="Rectangle 16"/>
          <p:cNvSpPr/>
          <p:nvPr/>
        </p:nvSpPr>
        <p:spPr>
          <a:xfrm>
            <a:off x="6187287"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187287"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333591"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PUBLISH</a:t>
            </a:r>
          </a:p>
          <a:p>
            <a:pPr>
              <a:spcBef>
                <a:spcPts val="0"/>
              </a:spcBef>
              <a:spcAft>
                <a:spcPts val="400"/>
              </a:spcAft>
            </a:pPr>
            <a:r>
              <a:rPr sz="1100" b="1" i="0">
                <a:solidFill>
                  <a:srgbClr val="1C1C1E"/>
                </a:solidFill>
                <a:latin typeface="Calibri"/>
              </a:rPr>
              <a:t>as a parameter set</a:t>
            </a:r>
          </a:p>
          <a:p>
            <a:pPr>
              <a:lnSpc>
                <a:spcPct val="115000"/>
              </a:lnSpc>
              <a:spcBef>
                <a:spcPts val="0"/>
              </a:spcBef>
              <a:spcAft>
                <a:spcPts val="600"/>
              </a:spcAft>
            </a:pPr>
            <a:r>
              <a:rPr sz="850" b="0" i="0">
                <a:solidFill>
                  <a:srgbClr val="4A4F57"/>
                </a:solidFill>
                <a:latin typeface="Calibri"/>
              </a:rPr>
              <a:t>lands PROPOSED. A change to a threshold is a new parameter set, not a new model version</a:t>
            </a:r>
          </a:p>
        </p:txBody>
      </p:sp>
      <p:sp>
        <p:nvSpPr>
          <p:cNvPr id="20" name="Rectangle 19"/>
          <p:cNvSpPr/>
          <p:nvPr/>
        </p:nvSpPr>
        <p:spPr>
          <a:xfrm>
            <a:off x="8892311" y="2496312"/>
            <a:ext cx="2522143" cy="146304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892311" y="2496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038615" y="2642616"/>
            <a:ext cx="2229535" cy="118872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EXPLAIN</a:t>
            </a:r>
          </a:p>
          <a:p>
            <a:pPr>
              <a:spcBef>
                <a:spcPts val="0"/>
              </a:spcBef>
              <a:spcAft>
                <a:spcPts val="400"/>
              </a:spcAft>
            </a:pPr>
            <a:r>
              <a:rPr sz="1100" b="1" i="0">
                <a:solidFill>
                  <a:srgbClr val="1C1C1E"/>
                </a:solidFill>
                <a:latin typeface="Calibri"/>
              </a:rPr>
              <a:t>in English</a:t>
            </a:r>
          </a:p>
          <a:p>
            <a:pPr>
              <a:lnSpc>
                <a:spcPct val="115000"/>
              </a:lnSpc>
              <a:spcBef>
                <a:spcPts val="0"/>
              </a:spcBef>
              <a:spcAft>
                <a:spcPts val="600"/>
              </a:spcAft>
            </a:pPr>
            <a:r>
              <a:rPr sz="850" b="0" i="0">
                <a:solidFill>
                  <a:srgbClr val="4A4F57"/>
                </a:solidFill>
                <a:latin typeface="Calibri"/>
              </a:rPr>
              <a:t>ONE rendering, so the model card, the committee paper and the export pack cannot differ</a:t>
            </a:r>
          </a:p>
        </p:txBody>
      </p:sp>
      <p:sp>
        <p:nvSpPr>
          <p:cNvPr id="23" name="TextBox 22"/>
          <p:cNvSpPr txBox="1"/>
          <p:nvPr/>
        </p:nvSpPr>
        <p:spPr>
          <a:xfrm>
            <a:off x="777240" y="4178808"/>
            <a:ext cx="10637215" cy="82296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Two things MAYA requires, and both are load-bearing. </a:t>
            </a:r>
            <a:r>
              <a:rPr sz="1150" b="0" i="0">
                <a:solidFill>
                  <a:srgbClr val="1C1C1E"/>
                </a:solidFill>
                <a:latin typeface="Calibri"/>
              </a:rPr>
              <a:t>An `otherwise` clause, so no application falls through to a behaviour nobody wrote down. And a `because` on every rule — without one a rule cannot be defended to a supervisor, reviewed by whoever owns the policy, or retired later, because nobody knows what it was for. Every decision carries the rule that fired and that rule's reason, which under most consumer-credit regimes is the obligation rather than the decision itself.</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platform refused, on purpose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121</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A control nobody has watched refuse is a control nobody has tested. </a:t>
            </a:r>
            <a:r>
              <a:rPr sz="1200" b="0" i="0">
                <a:solidFill>
                  <a:srgbClr val="1C1C1E"/>
                </a:solidFill>
                <a:latin typeface="Calibri"/>
              </a:rPr>
              <a:t>Every case study deliberately asks for something it should not get, and prints the refusal with its remediation.</a:t>
            </a:r>
          </a:p>
        </p:txBody>
      </p:sp>
      <p:graphicFrame>
        <p:nvGraphicFramePr>
          <p:cNvPr id="11" name="Table 10"/>
          <p:cNvGraphicFramePr>
            <a:graphicFrameLocks noGrp="1"/>
          </p:cNvGraphicFramePr>
          <p:nvPr/>
        </p:nvGraphicFramePr>
        <p:xfrm>
          <a:off x="777240" y="1975104"/>
          <a:ext cx="10637213" cy="2911348"/>
        </p:xfrm>
        <a:graphic>
          <a:graphicData uri="http://schemas.openxmlformats.org/drawingml/2006/table">
            <a:tbl>
              <a:tblPr firstRow="1">
                <a:tableStyleId>{5C22544A-7EE6-4342-B048-85BDC9FD1C3A}</a:tableStyleId>
              </a:tblPr>
              <a:tblGrid>
                <a:gridCol w="550200"/>
                <a:gridCol w="4493306"/>
                <a:gridCol w="5593707"/>
              </a:tblGrid>
              <a:tr h="329184">
                <a:tc>
                  <a:txBody>
                    <a:bodyPr wrap="square"/>
                    <a:lstStyle/>
                    <a:p>
                      <a:pPr algn="l"/>
                      <a:r>
                        <a:rPr sz="1000" b="1">
                          <a:solidFill>
                            <a:srgbClr val="FFFFFF"/>
                          </a:solidFill>
                          <a:latin typeface="Calibri"/>
                        </a:rPr>
                        <a:t>Case</a:t>
                      </a:r>
                    </a:p>
                  </a:txBody>
                  <a:tcPr marL="82296" marR="64008" marT="32004" marB="32004" anchor="ctr">
                    <a:solidFill>
                      <a:srgbClr val="A51C30"/>
                    </a:solidFill>
                  </a:tcPr>
                </a:tc>
                <a:tc>
                  <a:txBody>
                    <a:bodyPr wrap="square"/>
                    <a:lstStyle/>
                    <a:p>
                      <a:pPr algn="l"/>
                      <a:r>
                        <a:rPr sz="1000" b="1">
                          <a:solidFill>
                            <a:srgbClr val="FFFFFF"/>
                          </a:solidFill>
                          <a:latin typeface="Calibri"/>
                        </a:rPr>
                        <a:t>What was attempted</a:t>
                      </a:r>
                    </a:p>
                  </a:txBody>
                  <a:tcPr marL="82296" marR="64008" marT="32004" marB="32004" anchor="ctr">
                    <a:solidFill>
                      <a:srgbClr val="A51C30"/>
                    </a:solidFill>
                  </a:tcPr>
                </a:tc>
                <a:tc>
                  <a:txBody>
                    <a:bodyPr wrap="square"/>
                    <a:lstStyle/>
                    <a:p>
                      <a:pPr algn="l"/>
                      <a:r>
                        <a:rPr sz="1000" b="1">
                          <a:solidFill>
                            <a:srgbClr val="FFFFFF"/>
                          </a:solidFill>
                          <a:latin typeface="Calibri"/>
                        </a:rPr>
                        <a:t>What MAYA said</a:t>
                      </a:r>
                    </a:p>
                  </a:txBody>
                  <a:tcPr marL="82296" marR="64008" marT="32004" marB="32004" anchor="ctr">
                    <a:solidFill>
                      <a:srgbClr val="A51C30"/>
                    </a:solidFill>
                  </a:tcPr>
                </a:tc>
              </a:tr>
              <a:tr h="487172">
                <a:tc>
                  <a:txBody>
                    <a:bodyPr wrap="square"/>
                    <a:lstStyle/>
                    <a:p>
                      <a:pPr algn="l"/>
                      <a:r>
                        <a:rPr sz="1000" b="0">
                          <a:solidFill>
                            <a:srgbClr val="1C1C1E"/>
                          </a:solidFill>
                          <a:latin typeface="Calibri"/>
                        </a:rPr>
                        <a:t>1</a:t>
                      </a:r>
                    </a:p>
                  </a:txBody>
                  <a:tcPr marL="82296" marR="64008" marT="32004" marB="32004" anchor="ctr">
                    <a:solidFill>
                      <a:srgbClr val="FFFFFF"/>
                    </a:solidFill>
                  </a:tcPr>
                </a:tc>
                <a:tc>
                  <a:txBody>
                    <a:bodyPr wrap="square"/>
                    <a:lstStyle/>
                    <a:p>
                      <a:pPr algn="l"/>
                      <a:r>
                        <a:rPr sz="1000" b="0">
                          <a:solidFill>
                            <a:srgbClr val="1C1C1E"/>
                          </a:solidFill>
                          <a:latin typeface="Calibri"/>
                        </a:rPr>
                        <a:t>A calibration warrant naming a featureset that does not exist; then the author of a parameter set approving their own numbers</a:t>
                      </a:r>
                    </a:p>
                  </a:txBody>
                  <a:tcPr marL="82296" marR="64008" marT="32004" marB="32004" anchor="ctr">
                    <a:solidFill>
                      <a:srgbClr val="FFFFFF"/>
                    </a:solidFill>
                  </a:tcPr>
                </a:tc>
                <a:tc>
                  <a:txBody>
                    <a:bodyPr wrap="square"/>
                    <a:lstStyle/>
                    <a:p>
                      <a:pPr algn="l"/>
                      <a:r>
                        <a:rPr sz="1000" b="0">
                          <a:solidFill>
                            <a:srgbClr val="1C1C1E"/>
                          </a:solidFill>
                          <a:latin typeface="Calibri"/>
                        </a:rPr>
                        <a:t>no featureset '…'; and a number one person can both produce and bless is a preference, not an estimate</a:t>
                      </a:r>
                    </a:p>
                  </a:txBody>
                  <a:tcPr marL="82296" marR="64008" marT="32004" marB="32004" anchor="ctr">
                    <a:solidFill>
                      <a:srgbClr val="FFFFFF"/>
                    </a:solidFill>
                  </a:tcPr>
                </a:tc>
              </a:tr>
              <a:tr h="316738">
                <a:tc>
                  <a:txBody>
                    <a:bodyPr wrap="square"/>
                    <a:lstStyle/>
                    <a:p>
                      <a:pPr algn="l"/>
                      <a:r>
                        <a:rPr sz="1000" b="0">
                          <a:solidFill>
                            <a:srgbClr val="1C1C1E"/>
                          </a:solidFill>
                          <a:latin typeface="Calibri"/>
                        </a:rPr>
                        <a:t>2</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read bounded in only one clock</a:t>
                      </a:r>
                    </a:p>
                  </a:txBody>
                  <a:tcPr marL="82296" marR="64008" marT="32004" marB="32004" anchor="ctr">
                    <a:solidFill>
                      <a:srgbClr val="F6F3EF"/>
                    </a:solidFill>
                  </a:tcPr>
                </a:tc>
                <a:tc>
                  <a:txBody>
                    <a:bodyPr wrap="square"/>
                    <a:lstStyle/>
                    <a:p>
                      <a:pPr algn="l"/>
                      <a:r>
                        <a:rPr sz="1000" b="0">
                          <a:solidFill>
                            <a:srgbClr val="1C1C1E"/>
                          </a:solidFill>
                          <a:latin typeface="Calibri"/>
                        </a:rPr>
                        <a:t>L-W9 — a featureset read for fitting must bound the period it covers</a:t>
                      </a:r>
                    </a:p>
                  </a:txBody>
                  <a:tcPr marL="82296" marR="64008" marT="32004" marB="32004" anchor="ctr">
                    <a:solidFill>
                      <a:srgbClr val="F6F3EF"/>
                    </a:solidFill>
                  </a:tcPr>
                </a:tc>
              </a:tr>
              <a:tr h="316738">
                <a:tc>
                  <a:txBody>
                    <a:bodyPr wrap="square"/>
                    <a:lstStyle/>
                    <a:p>
                      <a:pPr algn="l"/>
                      <a:r>
                        <a:rPr sz="1000" b="0">
                          <a:solidFill>
                            <a:srgbClr val="1C1C1E"/>
                          </a:solidFill>
                          <a:latin typeface="Calibri"/>
                        </a:rPr>
                        <a:t>3</a:t>
                      </a:r>
                    </a:p>
                  </a:txBody>
                  <a:tcPr marL="82296" marR="64008" marT="32004" marB="32004" anchor="ctr">
                    <a:solidFill>
                      <a:srgbClr val="FFFFFF"/>
                    </a:solidFill>
                  </a:tcPr>
                </a:tc>
                <a:tc>
                  <a:txBody>
                    <a:bodyPr wrap="square"/>
                    <a:lstStyle/>
                    <a:p>
                      <a:pPr algn="l"/>
                      <a:r>
                        <a:rPr sz="1000" b="0">
                          <a:solidFill>
                            <a:srgbClr val="1C1C1E"/>
                          </a:solidFill>
                          <a:latin typeface="Calibri"/>
                        </a:rPr>
                        <a:t>A training warrant against a featureset lacking a regressor</a:t>
                      </a:r>
                    </a:p>
                  </a:txBody>
                  <a:tcPr marL="82296" marR="64008" marT="32004" marB="32004" anchor="ctr">
                    <a:solidFill>
                      <a:srgbClr val="FFFFFF"/>
                    </a:solidFill>
                  </a:tcPr>
                </a:tc>
                <a:tc>
                  <a:txBody>
                    <a:bodyPr wrap="square"/>
                    <a:lstStyle/>
                    <a:p>
                      <a:pPr algn="l"/>
                      <a:r>
                        <a:rPr sz="1000" b="0">
                          <a:solidFill>
                            <a:srgbClr val="1C1C1E"/>
                          </a:solidFill>
                          <a:latin typeface="Calibri"/>
                        </a:rPr>
                        <a:t>L-W10 — adding a regressor is a model change, not a data change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4</a:t>
                      </a:r>
                    </a:p>
                  </a:txBody>
                  <a:tcPr marL="82296" marR="64008" marT="32004" marB="32004" anchor="ctr">
                    <a:solidFill>
                      <a:srgbClr val="F6F3EF"/>
                    </a:solidFill>
                  </a:tcPr>
                </a:tc>
                <a:tc>
                  <a:txBody>
                    <a:bodyPr wrap="square"/>
                    <a:lstStyle/>
                    <a:p>
                      <a:pPr algn="l"/>
                      <a:r>
                        <a:rPr sz="1000" b="0">
                          <a:solidFill>
                            <a:srgbClr val="1C1C1E"/>
                          </a:solidFill>
                          <a:latin typeface="Calibri"/>
                        </a:rPr>
                        <a:t>A fit on a model with no parameters; then writing the numbers in anyway</a:t>
                      </a:r>
                    </a:p>
                  </a:txBody>
                  <a:tcPr marL="82296" marR="64008" marT="32004" marB="32004" anchor="ctr">
                    <a:solidFill>
                      <a:srgbClr val="F6F3EF"/>
                    </a:solidFill>
                  </a:tcPr>
                </a:tc>
                <a:tc>
                  <a:txBody>
                    <a:bodyPr wrap="square"/>
                    <a:lstStyle/>
                    <a:p>
                      <a:pPr algn="l"/>
                      <a:r>
                        <a:rPr sz="1000" b="0">
                          <a:solidFill>
                            <a:srgbClr val="1C1C1E"/>
                          </a:solidFill>
                          <a:latin typeface="Calibri"/>
                        </a:rPr>
                        <a:t>a T0 model cannot be fitted; and there is nothing a fit could have produced — use provenance 'declared'</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5</a:t>
                      </a:r>
                    </a:p>
                  </a:txBody>
                  <a:tcPr marL="82296" marR="64008" marT="32004" marB="32004" anchor="ctr">
                    <a:solidFill>
                      <a:srgbClr val="FFFFFF"/>
                    </a:solidFill>
                  </a:tcPr>
                </a:tc>
                <a:tc>
                  <a:txBody>
                    <a:bodyPr wrap="square"/>
                    <a:lstStyle/>
                    <a:p>
                      <a:pPr algn="l"/>
                      <a:r>
                        <a:rPr sz="1000" b="0">
                          <a:solidFill>
                            <a:srgbClr val="1C1C1E"/>
                          </a:solidFill>
                          <a:latin typeface="Calibri"/>
                        </a:rPr>
                        <a:t>Adding a featureset slot a parent already has; and an input_to edge carrying nothing</a:t>
                      </a:r>
                    </a:p>
                  </a:txBody>
                  <a:tcPr marL="82296" marR="64008" marT="32004" marB="32004" anchor="ctr">
                    <a:solidFill>
                      <a:srgbClr val="FFFFFF"/>
                    </a:solidFill>
                  </a:tcPr>
                </a:tc>
                <a:tc>
                  <a:txBody>
                    <a:bodyPr wrap="square"/>
                    <a:lstStyle/>
                    <a:p>
                      <a:pPr algn="l"/>
                      <a:r>
                        <a:rPr sz="1000" b="0">
                          <a:solidFill>
                            <a:srgbClr val="1C1C1E"/>
                          </a:solidFill>
                          <a:latin typeface="Calibri"/>
                        </a:rPr>
                        <a:t>say 'override' if replacing it is what is meant; and an edge that supplies no field the target reads is a wire to nowhere</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6</a:t>
                      </a:r>
                    </a:p>
                  </a:txBody>
                  <a:tcPr marL="82296" marR="64008" marT="32004" marB="32004" anchor="ctr">
                    <a:solidFill>
                      <a:srgbClr val="F6F3EF"/>
                    </a:solidFill>
                  </a:tcPr>
                </a:tc>
                <a:tc>
                  <a:txBody>
                    <a:bodyPr wrap="square"/>
                    <a:lstStyle/>
                    <a:p>
                      <a:pPr algn="l"/>
                      <a:r>
                        <a:rPr sz="1000" b="0">
                          <a:solidFill>
                            <a:srgbClr val="1C1C1E"/>
                          </a:solidFill>
                          <a:latin typeface="Calibri"/>
                        </a:rPr>
                        <a:t>A rule reading a field the version does not declare</a:t>
                      </a:r>
                    </a:p>
                  </a:txBody>
                  <a:tcPr marL="82296" marR="64008" marT="32004" marB="32004" anchor="ctr">
                    <a:solidFill>
                      <a:srgbClr val="F6F3EF"/>
                    </a:solidFill>
                  </a:tcPr>
                </a:tc>
                <a:tc>
                  <a:txBody>
                    <a:bodyPr wrap="square"/>
                    <a:lstStyle/>
                    <a:p>
                      <a:pPr algn="l"/>
                      <a:r>
                        <a:rPr sz="1000" b="0">
                          <a:solidFill>
                            <a:srgbClr val="1C1C1E"/>
                          </a:solidFill>
                          <a:latin typeface="Calibri"/>
                        </a:rPr>
                        <a:t>refused at check — a rule that never fires still appears in the model card and nobody reading it can tell</a:t>
                      </a:r>
                    </a:p>
                  </a:txBody>
                  <a:tcPr marL="82296" marR="64008" marT="32004" marB="32004" anchor="ctr">
                    <a:solidFill>
                      <a:srgbClr val="F6F3EF"/>
                    </a:solidFill>
                  </a:tcPr>
                </a:tc>
              </a:tr>
            </a:tbl>
          </a:graphicData>
        </a:graphic>
      </p:graphicFrame>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platform refused, on purpose (continued)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122</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The later case studies refuse different things, </a:t>
            </a:r>
            <a:r>
              <a:rPr sz="1200" b="0" i="0">
                <a:solidFill>
                  <a:srgbClr val="1C1C1E"/>
                </a:solidFill>
                <a:latin typeface="Calibri"/>
              </a:rPr>
              <a:t>because a different class owes different evidence. A T6 cannot reach its parameters; a T5 cannot answer a calibration question; a T7's parameters were never produced by data at all.</a:t>
            </a:r>
          </a:p>
        </p:txBody>
      </p:sp>
      <p:graphicFrame>
        <p:nvGraphicFramePr>
          <p:cNvPr id="11" name="Table 10"/>
          <p:cNvGraphicFramePr>
            <a:graphicFrameLocks noGrp="1"/>
          </p:cNvGraphicFramePr>
          <p:nvPr/>
        </p:nvGraphicFramePr>
        <p:xfrm>
          <a:off x="777240" y="1975104"/>
          <a:ext cx="10637213" cy="2765044"/>
        </p:xfrm>
        <a:graphic>
          <a:graphicData uri="http://schemas.openxmlformats.org/drawingml/2006/table">
            <a:tbl>
              <a:tblPr firstRow="1">
                <a:tableStyleId>{5C22544A-7EE6-4342-B048-85BDC9FD1C3A}</a:tableStyleId>
              </a:tblPr>
              <a:tblGrid>
                <a:gridCol w="550200"/>
                <a:gridCol w="4493306"/>
                <a:gridCol w="5593707"/>
              </a:tblGrid>
              <a:tr h="329184">
                <a:tc>
                  <a:txBody>
                    <a:bodyPr wrap="square"/>
                    <a:lstStyle/>
                    <a:p>
                      <a:pPr algn="l"/>
                      <a:r>
                        <a:rPr sz="1000" b="1">
                          <a:solidFill>
                            <a:srgbClr val="FFFFFF"/>
                          </a:solidFill>
                          <a:latin typeface="Calibri"/>
                        </a:rPr>
                        <a:t>Case</a:t>
                      </a:r>
                    </a:p>
                  </a:txBody>
                  <a:tcPr marL="82296" marR="64008" marT="32004" marB="32004" anchor="ctr">
                    <a:solidFill>
                      <a:srgbClr val="A51C30"/>
                    </a:solidFill>
                  </a:tcPr>
                </a:tc>
                <a:tc>
                  <a:txBody>
                    <a:bodyPr wrap="square"/>
                    <a:lstStyle/>
                    <a:p>
                      <a:pPr algn="l"/>
                      <a:r>
                        <a:rPr sz="1000" b="1">
                          <a:solidFill>
                            <a:srgbClr val="FFFFFF"/>
                          </a:solidFill>
                          <a:latin typeface="Calibri"/>
                        </a:rPr>
                        <a:t>What was attempted</a:t>
                      </a:r>
                    </a:p>
                  </a:txBody>
                  <a:tcPr marL="82296" marR="64008" marT="32004" marB="32004" anchor="ctr">
                    <a:solidFill>
                      <a:srgbClr val="A51C30"/>
                    </a:solidFill>
                  </a:tcPr>
                </a:tc>
                <a:tc>
                  <a:txBody>
                    <a:bodyPr wrap="square"/>
                    <a:lstStyle/>
                    <a:p>
                      <a:pPr algn="l"/>
                      <a:r>
                        <a:rPr sz="1000" b="1">
                          <a:solidFill>
                            <a:srgbClr val="FFFFFF"/>
                          </a:solidFill>
                          <a:latin typeface="Calibri"/>
                        </a:rPr>
                        <a:t>What MAYA said</a:t>
                      </a:r>
                    </a:p>
                  </a:txBody>
                  <a:tcPr marL="82296" marR="64008" marT="32004" marB="32004" anchor="ctr">
                    <a:solidFill>
                      <a:srgbClr val="A51C30"/>
                    </a:solidFill>
                  </a:tcPr>
                </a:tc>
              </a:tr>
              <a:tr h="487172">
                <a:tc>
                  <a:txBody>
                    <a:bodyPr wrap="square"/>
                    <a:lstStyle/>
                    <a:p>
                      <a:pPr algn="l"/>
                      <a:r>
                        <a:rPr sz="1000" b="0">
                          <a:solidFill>
                            <a:srgbClr val="1C1C1E"/>
                          </a:solidFill>
                          <a:latin typeface="Calibri"/>
                        </a:rPr>
                        <a:t>7</a:t>
                      </a:r>
                    </a:p>
                  </a:txBody>
                  <a:tcPr marL="82296" marR="64008" marT="32004" marB="32004" anchor="ctr">
                    <a:solidFill>
                      <a:srgbClr val="FFFFFF"/>
                    </a:solidFill>
                  </a:tcPr>
                </a:tc>
                <a:tc>
                  <a:txBody>
                    <a:bodyPr wrap="square"/>
                    <a:lstStyle/>
                    <a:p>
                      <a:pPr algn="l"/>
                      <a:r>
                        <a:rPr sz="1000" b="0">
                          <a:solidFill>
                            <a:srgbClr val="1C1C1E"/>
                          </a:solidFill>
                          <a:latin typeface="Calibri"/>
                        </a:rPr>
                        <a:t>Registering a Tier C capability; then the requester attesting their own draft</a:t>
                      </a:r>
                    </a:p>
                  </a:txBody>
                  <a:tcPr marL="82296" marR="64008" marT="32004" marB="32004" anchor="ctr">
                    <a:solidFill>
                      <a:srgbClr val="FFFFFF"/>
                    </a:solidFill>
                  </a:tcPr>
                </a:tc>
                <a:tc>
                  <a:txBody>
                    <a:bodyPr wrap="square"/>
                    <a:lstStyle/>
                    <a:p>
                      <a:pPr algn="l"/>
                      <a:r>
                        <a:rPr sz="1000" b="0">
                          <a:solidFill>
                            <a:srgbClr val="1C1C1E"/>
                          </a:solidFill>
                          <a:latin typeface="Calibri"/>
                        </a:rPr>
                        <a:t>Tier C is deliberately not registrable; and a self-attestation is not an attestation</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8</a:t>
                      </a:r>
                    </a:p>
                  </a:txBody>
                  <a:tcPr marL="82296" marR="64008" marT="32004" marB="32004" anchor="ctr">
                    <a:solidFill>
                      <a:srgbClr val="F6F3EF"/>
                    </a:solidFill>
                  </a:tcPr>
                </a:tc>
                <a:tc>
                  <a:txBody>
                    <a:bodyPr wrap="square"/>
                    <a:lstStyle/>
                    <a:p>
                      <a:pPr algn="l"/>
                      <a:r>
                        <a:rPr sz="1000" b="0">
                          <a:solidFill>
                            <a:srgbClr val="1C1C1E"/>
                          </a:solidFill>
                          <a:latin typeface="Calibri"/>
                        </a:rPr>
                        <a:t>A fit on a vendor black box; then filing reverse-engineered coefficients as its parameters</a:t>
                      </a:r>
                    </a:p>
                  </a:txBody>
                  <a:tcPr marL="82296" marR="64008" marT="32004" marB="32004" anchor="ctr">
                    <a:solidFill>
                      <a:srgbClr val="F6F3EF"/>
                    </a:solidFill>
                  </a:tcPr>
                </a:tc>
                <a:tc>
                  <a:txBody>
                    <a:bodyPr wrap="square"/>
                    <a:lstStyle/>
                    <a:p>
                      <a:pPr algn="l"/>
                      <a:r>
                        <a:rPr sz="1000" b="0">
                          <a:solidFill>
                            <a:srgbClr val="1C1C1E"/>
                          </a:solidFill>
                          <a:latin typeface="Calibri"/>
                        </a:rPr>
                        <a:t>refused for THREE reasons at once; and those coefficients are a different model that happens to correlate</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11</a:t>
                      </a:r>
                    </a:p>
                  </a:txBody>
                  <a:tcPr marL="82296" marR="64008" marT="32004" marB="32004" anchor="ctr">
                    <a:solidFill>
                      <a:srgbClr val="FFFFFF"/>
                    </a:solidFill>
                  </a:tcPr>
                </a:tc>
                <a:tc>
                  <a:txBody>
                    <a:bodyPr wrap="square"/>
                    <a:lstStyle/>
                    <a:p>
                      <a:pPr algn="l"/>
                      <a:r>
                        <a:rPr sz="1000" b="0">
                          <a:solidFill>
                            <a:srgbClr val="1C1C1E"/>
                          </a:solidFill>
                          <a:latin typeface="Calibri"/>
                        </a:rPr>
                        <a:t>A calibration monitor on a generative assembly; then an execution warrant against a rejected configuration</a:t>
                      </a:r>
                    </a:p>
                  </a:txBody>
                  <a:tcPr marL="82296" marR="64008" marT="32004" marB="32004" anchor="ctr">
                    <a:solidFill>
                      <a:srgbClr val="FFFFFF"/>
                    </a:solidFill>
                  </a:tcPr>
                </a:tc>
                <a:tc>
                  <a:txBody>
                    <a:bodyPr wrap="square"/>
                    <a:lstStyle/>
                    <a:p>
                      <a:pPr algn="l"/>
                      <a:r>
                        <a:rPr sz="1000" b="0">
                          <a:solidFill>
                            <a:srgbClr val="1C1C1E"/>
                          </a:solidFill>
                          <a:latin typeface="Calibri"/>
                        </a:rPr>
                        <a:t>a Brier score over text answers nothing about a T5; and no approved parameter set inhabits this version</a:t>
                      </a:r>
                    </a:p>
                  </a:txBody>
                  <a:tcPr marL="82296" marR="64008" marT="32004" marB="32004" anchor="ctr">
                    <a:solidFill>
                      <a:srgbClr val="FFFFFF"/>
                    </a:solidFill>
                  </a:tcPr>
                </a:tc>
              </a:tr>
              <a:tr h="487172">
                <a:tc>
                  <a:txBody>
                    <a:bodyPr wrap="square"/>
                    <a:lstStyle/>
                    <a:p>
                      <a:pPr algn="l"/>
                      <a:r>
                        <a:rPr sz="1000" b="0">
                          <a:solidFill>
                            <a:srgbClr val="1C1C1E"/>
                          </a:solidFill>
                          <a:latin typeface="Calibri"/>
                        </a:rPr>
                        <a:t>12</a:t>
                      </a:r>
                    </a:p>
                  </a:txBody>
                  <a:tcPr marL="82296" marR="64008" marT="32004" marB="32004" anchor="ctr">
                    <a:solidFill>
                      <a:srgbClr val="F6F3EF"/>
                    </a:solidFill>
                  </a:tcPr>
                </a:tc>
                <a:tc>
                  <a:txBody>
                    <a:bodyPr wrap="square"/>
                    <a:lstStyle/>
                    <a:p>
                      <a:pPr algn="l"/>
                      <a:r>
                        <a:rPr sz="1000" b="0">
                          <a:solidFill>
                            <a:srgbClr val="1C1C1E"/>
                          </a:solidFill>
                          <a:latin typeface="Calibri"/>
                        </a:rPr>
                        <a:t>A panel's elicited weights, recorded as though they had been fitted from data</a:t>
                      </a:r>
                    </a:p>
                  </a:txBody>
                  <a:tcPr marL="82296" marR="64008" marT="32004" marB="32004" anchor="ctr">
                    <a:solidFill>
                      <a:srgbClr val="F6F3EF"/>
                    </a:solidFill>
                  </a:tcPr>
                </a:tc>
                <a:tc>
                  <a:txBody>
                    <a:bodyPr wrap="square"/>
                    <a:lstStyle/>
                    <a:p>
                      <a:pPr algn="l"/>
                      <a:r>
                        <a:rPr sz="1000" b="0">
                          <a:solidFill>
                            <a:srgbClr val="1C1C1E"/>
                          </a:solidFill>
                          <a:latin typeface="Calibri"/>
                        </a:rPr>
                        <a:t>'elicited_weights' is not a quantity data produces, so it cannot have been fitted — record it as 'declared' and put the panel in the diagnostics</a:t>
                      </a:r>
                    </a:p>
                  </a:txBody>
                  <a:tcPr marL="82296" marR="64008" marT="32004" marB="32004" anchor="ctr">
                    <a:solidFill>
                      <a:srgbClr val="F6F3EF"/>
                    </a:solidFill>
                  </a:tcPr>
                </a:tc>
              </a:tr>
              <a:tr h="487172">
                <a:tc>
                  <a:txBody>
                    <a:bodyPr wrap="square"/>
                    <a:lstStyle/>
                    <a:p>
                      <a:pPr algn="l"/>
                      <a:r>
                        <a:rPr sz="1000" b="0">
                          <a:solidFill>
                            <a:srgbClr val="1C1C1E"/>
                          </a:solidFill>
                          <a:latin typeface="Calibri"/>
                        </a:rPr>
                        <a:t>13</a:t>
                      </a:r>
                    </a:p>
                  </a:txBody>
                  <a:tcPr marL="82296" marR="64008" marT="32004" marB="32004" anchor="ctr">
                    <a:solidFill>
                      <a:srgbClr val="FFFFFF"/>
                    </a:solidFill>
                  </a:tcPr>
                </a:tc>
                <a:tc>
                  <a:txBody>
                    <a:bodyPr wrap="square"/>
                    <a:lstStyle/>
                    <a:p>
                      <a:pPr algn="l"/>
                      <a:r>
                        <a:rPr sz="1000" b="0">
                          <a:solidFill>
                            <a:srgbClr val="1C1C1E"/>
                          </a:solidFill>
                          <a:latin typeface="Calibri"/>
                        </a:rPr>
                        <a:t>New weights uploaded without a new version, then the approved version resolved again</a:t>
                      </a:r>
                    </a:p>
                  </a:txBody>
                  <a:tcPr marL="82296" marR="64008" marT="32004" marB="32004" anchor="ctr">
                    <a:solidFill>
                      <a:srgbClr val="FFFFFF"/>
                    </a:solidFill>
                  </a:tcPr>
                </a:tc>
                <a:tc>
                  <a:txBody>
                    <a:bodyPr wrap="square"/>
                    <a:lstStyle/>
                    <a:p>
                      <a:pPr algn="l"/>
                      <a:r>
                        <a:rPr sz="1000" b="0">
                          <a:solidFill>
                            <a:srgbClr val="1C1C1E"/>
                          </a:solidFill>
                          <a:latin typeface="Calibri"/>
                        </a:rPr>
                        <a:t>not a refusal but a control: the warrant still fetches the digest that was approved. A T3's weights cannot be swapped under its approval</a:t>
                      </a:r>
                    </a:p>
                  </a:txBody>
                  <a:tcPr marL="82296" marR="64008" marT="32004" marB="32004" anchor="ctr">
                    <a:solidFill>
                      <a:srgbClr val="FFFFFF"/>
                    </a:solidFill>
                  </a:tcPr>
                </a:tc>
              </a:tr>
            </a:tbl>
          </a:graphicData>
        </a:graphic>
      </p:graphicFrame>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CASE STUDIES · THE LIMITS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case studies do not show</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26 · Thirteen Worked Case Studies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123</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50" b="0" i="0">
                <a:solidFill>
                  <a:srgbClr val="1C1C1E"/>
                </a:solidFill>
                <a:latin typeface="Calibri"/>
              </a:rPr>
              <a:t>Stated, because a demonstration that only shows what works is a sales pitch.</a:t>
            </a:r>
          </a:p>
        </p:txBody>
      </p:sp>
      <p:sp>
        <p:nvSpPr>
          <p:cNvPr id="11" name="TextBox 10"/>
          <p:cNvSpPr txBox="1"/>
          <p:nvPr/>
        </p:nvSpPr>
        <p:spPr>
          <a:xfrm>
            <a:off x="777240" y="1956816"/>
            <a:ext cx="10637215" cy="3200400"/>
          </a:xfrm>
          <a:prstGeom prst="rect">
            <a:avLst/>
          </a:prstGeom>
          <a:noFill/>
        </p:spPr>
        <p:txBody>
          <a:bodyPr wrap="square" lIns="0" rIns="0" tIns="0" bIns="0" anchor="t">
            <a:spAutoFit/>
          </a:bodyPr>
          <a:lstStyle/>
          <a:p>
            <a:pPr algn="l"/>
          </a:p>
          <a:p>
            <a:pPr>
              <a:spcBef>
                <a:spcPts val="0"/>
              </a:spcBef>
              <a:spcAft>
                <a:spcPts val="1100"/>
              </a:spcAft>
            </a:pPr>
            <a:r>
              <a:rPr sz="1200" b="1">
                <a:solidFill>
                  <a:srgbClr val="A51C30"/>
                </a:solidFill>
                <a:latin typeface="Calibri"/>
              </a:rPr>
              <a:t>▪  </a:t>
            </a:r>
            <a:r>
              <a:rPr sz="1200">
                <a:solidFill>
                  <a:srgbClr val="1C1C1E"/>
                </a:solidFill>
                <a:latin typeface="Calibri"/>
              </a:rPr>
              <a:t>No monitoring, validation or findings. These build a model up to its first approved parameter set; what happens over its life — drift, breaches, revalidation, the worklist — is a separate demonstration.</a:t>
            </a:r>
          </a:p>
          <a:p>
            <a:pPr>
              <a:spcBef>
                <a:spcPts val="0"/>
              </a:spcBef>
              <a:spcAft>
                <a:spcPts val="1100"/>
              </a:spcAft>
            </a:pPr>
            <a:r>
              <a:rPr sz="1200" b="1">
                <a:solidFill>
                  <a:srgbClr val="A51C30"/>
                </a:solidFill>
                <a:latin typeface="Calibri"/>
              </a:rPr>
              <a:t>▪  </a:t>
            </a:r>
            <a:r>
              <a:rPr sz="1200">
                <a:solidFill>
                  <a:srgbClr val="1C1C1E"/>
                </a:solidFill>
                <a:latin typeface="Calibri"/>
              </a:rPr>
              <a:t>Only case study 2 uses real public data. The rest are synthetic from data-generating processes stated in the scripts — and each says so in the first paragraph of its data section. Case 9 uses REAL published variant identifiers with illustrative effect sizes, and says which is which.</a:t>
            </a:r>
          </a:p>
          <a:p>
            <a:pPr>
              <a:spcBef>
                <a:spcPts val="0"/>
              </a:spcBef>
              <a:spcAft>
                <a:spcPts val="1100"/>
              </a:spcAft>
            </a:pPr>
            <a:r>
              <a:rPr sz="1200" b="1">
                <a:solidFill>
                  <a:srgbClr val="A51C30"/>
                </a:solidFill>
                <a:latin typeface="Calibri"/>
              </a:rPr>
              <a:t>▪  </a:t>
            </a:r>
            <a:r>
              <a:rPr sz="1200">
                <a:solidFill>
                  <a:srgbClr val="1C1C1E"/>
                </a:solidFill>
                <a:latin typeface="Calibri"/>
              </a:rPr>
              <a:t>Nothing is deployed. A version is approved and a warrant is issued; no engine is wired to anything.</a:t>
            </a:r>
          </a:p>
          <a:p>
            <a:pPr>
              <a:spcBef>
                <a:spcPts val="0"/>
              </a:spcBef>
              <a:spcAft>
                <a:spcPts val="1100"/>
              </a:spcAft>
            </a:pPr>
            <a:r>
              <a:rPr sz="1200" b="1">
                <a:solidFill>
                  <a:srgbClr val="A51C30"/>
                </a:solidFill>
                <a:latin typeface="Calibri"/>
              </a:rPr>
              <a:t>▪  </a:t>
            </a:r>
            <a:r>
              <a:rPr sz="1200">
                <a:solidFill>
                  <a:srgbClr val="1C1C1E"/>
                </a:solidFill>
                <a:latin typeface="Calibri"/>
              </a:rPr>
              <a:t>Case 6 records an honest finding rather than hiding it: MAYA ISSUES a fit warrant for a T8 rule set. The grammar refuses a fit only for T0 and T6, so the refusal lives one layer down in the runtime. The control holds because the fit cannot execute — but the grammar is the layer that should have said no.</a:t>
            </a:r>
          </a:p>
          <a:p>
            <a:pPr>
              <a:spcBef>
                <a:spcPts val="0"/>
              </a:spcBef>
              <a:spcAft>
                <a:spcPts val="1100"/>
              </a:spcAft>
            </a:pPr>
            <a:r>
              <a:rPr sz="1200" b="1">
                <a:solidFill>
                  <a:srgbClr val="A51C30"/>
                </a:solidFill>
                <a:latin typeface="Calibri"/>
              </a:rPr>
              <a:t>▪  </a:t>
            </a:r>
            <a:r>
              <a:rPr sz="1200">
                <a:solidFill>
                  <a:srgbClr val="1C1C1E"/>
                </a:solidFill>
                <a:latin typeface="Calibri"/>
              </a:rPr>
              <a:t>Eight of the nine classes are covered. T4 — a model that adapts in production — is left uncovered deliberately, because nothing in this repository adapts and a case study for it would demonstrate the documentation rather than the platform.</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commits to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124</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model is a representation, and error is a quantity</a:t>
            </a:r>
          </a:p>
        </p:txBody>
      </p:sp>
      <p:sp>
        <p:nvSpPr>
          <p:cNvPr id="14" name="TextBox 13"/>
          <p:cNvSpPr txBox="1"/>
          <p:nvPr/>
        </p:nvSpPr>
        <p:spPr>
          <a:xfrm>
            <a:off x="996695"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Not a defect to be eliminated. Every version carries an operating boundary, and a warrant outside it is refused rather than answered — which is the mark, drawn as a control.</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Governance is never in the serving path</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MAYA issues a warrant; an engine acts on it. If MAYA is down, authorised scoring continues and only new issuance stops. Governance must not be the bank's single point of failure.</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Nobody is asked to believe anything</a:t>
            </a:r>
          </a:p>
        </p:txBody>
      </p:sp>
      <p:sp>
        <p:nvSpPr>
          <p:cNvPr id="24" name="TextBox 23"/>
          <p:cNvSpPr txBox="1"/>
          <p:nvPr/>
        </p:nvSpPr>
        <p:spPr>
          <a:xfrm>
            <a:off x="8271052"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Every claim is bound to the artefact it rests on, in one append-only record — which is also the record segregation of duties is decided from, because two accounts of who did what can disagree.</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Nothing derivable is stored</a:t>
            </a:r>
          </a:p>
        </p:txBody>
      </p:sp>
      <p:sp>
        <p:nvSpPr>
          <p:cNvPr id="29" name="TextBox 28"/>
          <p:cNvSpPr txBox="1"/>
          <p:nvPr/>
        </p:nvSpPr>
        <p:spPr>
          <a:xfrm>
            <a:off x="996695"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Tier, worklist, estate summary, documentation, dossier, board pack: computed. A stored derivation is one that can go stale, and the stale one is what somebody reads.</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laws are the acceptance criteria</a:t>
            </a:r>
          </a:p>
        </p:txBody>
      </p:sp>
      <p:sp>
        <p:nvSpPr>
          <p:cNvPr id="34" name="TextBox 33"/>
          <p:cNvSpPr txBox="1"/>
          <p:nvPr/>
        </p:nvSpPr>
        <p:spPr>
          <a:xfrm>
            <a:off x="4633874"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Eighteen of twenty-one foundational laws run, and all fourteen warrant laws run before a signature. The three that do not are named with the reason, because a law stated but not executed prevented nothing.</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compliant path is the fast path</a:t>
            </a:r>
          </a:p>
        </p:txBody>
      </p:sp>
      <p:sp>
        <p:nvSpPr>
          <p:cNvPr id="39" name="TextBox 38"/>
          <p:cNvSpPr txBox="1"/>
          <p:nvPr/>
        </p:nvSpPr>
        <p:spPr>
          <a:xfrm>
            <a:off x="8271052"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registering a model properly took forty lines of plumbing and getting it wrong took four, the register would fill with models nobody registered properly.</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 · THE HONEST HALF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is not built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125</a:t>
            </a:r>
          </a:p>
        </p:txBody>
      </p:sp>
      <p:graphicFrame>
        <p:nvGraphicFramePr>
          <p:cNvPr id="10" name="Table 9"/>
          <p:cNvGraphicFramePr>
            <a:graphicFrameLocks noGrp="1"/>
          </p:cNvGraphicFramePr>
          <p:nvPr/>
        </p:nvGraphicFramePr>
        <p:xfrm>
          <a:off x="777240" y="1353312"/>
          <a:ext cx="10637215" cy="1901480"/>
        </p:xfrm>
        <a:graphic>
          <a:graphicData uri="http://schemas.openxmlformats.org/drawingml/2006/table">
            <a:tbl>
              <a:tblPr firstRow="1">
                <a:tableStyleId>{5C22544A-7EE6-4342-B048-85BDC9FD1C3A}</a:tableStyleId>
              </a:tblPr>
              <a:tblGrid>
                <a:gridCol w="3291557"/>
                <a:gridCol w="7345658"/>
              </a:tblGrid>
              <a:tr h="329184">
                <a:tc>
                  <a:txBody>
                    <a:bodyPr wrap="square"/>
                    <a:lstStyle/>
                    <a:p>
                      <a:pPr algn="l"/>
                      <a:r>
                        <a:rPr sz="950" b="1">
                          <a:solidFill>
                            <a:srgbClr val="FFFFFF"/>
                          </a:solidFill>
                          <a:latin typeface="Calibri"/>
                        </a:rPr>
                        <a:t>Not built</a:t>
                      </a:r>
                    </a:p>
                  </a:txBody>
                  <a:tcPr marL="82296" marR="64008" marT="32004" marB="32004" anchor="ctr">
                    <a:solidFill>
                      <a:srgbClr val="A51C30"/>
                    </a:solidFill>
                  </a:tcPr>
                </a:tc>
                <a:tc>
                  <a:txBody>
                    <a:bodyPr wrap="square"/>
                    <a:lstStyle/>
                    <a:p>
                      <a:pPr algn="l"/>
                      <a:r>
                        <a:rPr sz="950" b="1">
                          <a:solidFill>
                            <a:srgbClr val="FFFFFF"/>
                          </a:solidFill>
                          <a:latin typeface="Calibri"/>
                        </a:rPr>
                        <a:t>What that means today</a:t>
                      </a:r>
                    </a:p>
                  </a:txBody>
                  <a:tcPr marL="82296" marR="64008" marT="32004" marB="32004" anchor="ctr">
                    <a:solidFill>
                      <a:srgbClr val="A51C30"/>
                    </a:solidFill>
                  </a:tcPr>
                </a:tc>
              </a:tr>
              <a:tr h="632040">
                <a:tc>
                  <a:txBody>
                    <a:bodyPr wrap="square"/>
                    <a:lstStyle/>
                    <a:p>
                      <a:pPr algn="l"/>
                      <a:r>
                        <a:rPr sz="950" b="1">
                          <a:solidFill>
                            <a:srgbClr val="A51C30"/>
                          </a:solidFill>
                          <a:latin typeface="Calibri"/>
                        </a:rPr>
                        <a:t>An EUC scanner</a:t>
                      </a:r>
                    </a:p>
                  </a:txBody>
                  <a:tcPr marL="82296" marR="64008" marT="32004" marB="32004" anchor="ctr">
                    <a:solidFill>
                      <a:srgbClr val="FFFFFF"/>
                    </a:solidFill>
                  </a:tcPr>
                </a:tc>
                <a:tc>
                  <a:txBody>
                    <a:bodyPr wrap="square"/>
                    <a:lstStyle/>
                    <a:p>
                      <a:pPr algn="l"/>
                      <a:r>
                        <a:rPr sz="950" b="0">
                          <a:solidFill>
                            <a:srgbClr val="1C1C1E"/>
                          </a:solidFill>
                          <a:latin typeface="Calibri"/>
                        </a:rPr>
                        <a:t>MAYA does not crawl the bank’s drives and should not — a sweep needs credentials to every repository, notebook server and shared drive in the institution. The receiving half is built and the CONTRACT a scanner must meet is published; running one is somebody else’s job, and nobody has</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Three foundational laws</a:t>
                      </a:r>
                    </a:p>
                  </a:txBody>
                  <a:tcPr marL="82296" marR="64008" marT="32004" marB="32004" anchor="ctr">
                    <a:solidFill>
                      <a:srgbClr val="F6F3EF"/>
                    </a:solidFill>
                  </a:tcPr>
                </a:tc>
                <a:tc>
                  <a:txBody>
                    <a:bodyPr wrap="square"/>
                    <a:lstStyle/>
                    <a:p>
                      <a:pPr algn="l"/>
                      <a:r>
                        <a:rPr sz="950" b="0">
                          <a:solidFill>
                            <a:srgbClr val="1C1C1E"/>
                          </a:solidFill>
                          <a:latin typeface="Calibri"/>
                        </a:rPr>
                        <a:t>L-6, L-11, L-13 — each named in chapter 8 with the reason. L-14 and L-17 were on this list and now run. The three that remain are honest refusals: building a document `put` to satisfy the lens laws would be building the wrong thing</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The infrastructure Part IV assumes</a:t>
                      </a:r>
                    </a:p>
                  </a:txBody>
                  <a:tcPr marL="82296" marR="64008" marT="32004" marB="32004" anchor="ctr">
                    <a:solidFill>
                      <a:srgbClr val="FFFFFF"/>
                    </a:solidFill>
                  </a:tcPr>
                </a:tc>
                <a:tc>
                  <a:txBody>
                    <a:bodyPr wrap="square"/>
                    <a:lstStyle/>
                    <a:p>
                      <a:pPr algn="l"/>
                      <a:r>
                        <a:rPr sz="950" b="0">
                          <a:solidFill>
                            <a:srgbClr val="1C1C1E"/>
                          </a:solidFill>
                          <a:latin typeface="Calibri"/>
                        </a:rPr>
                        <a:t>no cache, no broker, no outbox, no read replica, no row-level security, no metrics endpoint — docs/14 §27 and §28 hold the list, and every performance figure here is a target, not a measurement</a:t>
                      </a:r>
                    </a:p>
                  </a:txBody>
                  <a:tcPr marL="82296" marR="64008" marT="32004" marB="32004" anchor="ctr">
                    <a:solidFill>
                      <a:srgbClr val="FFFFFF"/>
                    </a:solidFill>
                  </a:tcPr>
                </a:tc>
              </a:tr>
            </a:tbl>
          </a:graphicData>
        </a:graphic>
      </p:graphicFrame>
      <p:sp>
        <p:nvSpPr>
          <p:cNvPr id="11" name="Rectangle 10"/>
          <p:cNvSpPr/>
          <p:nvPr/>
        </p:nvSpPr>
        <p:spPr>
          <a:xfrm>
            <a:off x="777240" y="3455962"/>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455962"/>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574834"/>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Three rows, and one of them is not code. </a:t>
            </a:r>
            <a:r>
              <a:rPr sz="1050" b="0" i="0">
                <a:solidFill>
                  <a:srgbClr val="1C1C1E"/>
                </a:solidFill>
                <a:latin typeface="Calibri"/>
              </a:rPr>
              <a:t>The sweep is a job somebody with the credentials has to run, and it is deliberately last: a sweep against a register that is not yet good produces a queue nobody triages, </a:t>
            </a:r>
            <a:r>
              <a:rPr sz="1050" b="1" i="0">
                <a:solidFill>
                  <a:srgbClr val="1C1C1E"/>
                </a:solidFill>
                <a:latin typeface="Calibri"/>
              </a:rPr>
              <a:t>which is how every discovery programme that fails, fails.</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 · THE HONEST HALF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what will not be built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126</a:t>
            </a:r>
          </a:p>
        </p:txBody>
      </p:sp>
      <p:graphicFrame>
        <p:nvGraphicFramePr>
          <p:cNvPr id="10" name="Table 9"/>
          <p:cNvGraphicFramePr>
            <a:graphicFrameLocks noGrp="1"/>
          </p:cNvGraphicFramePr>
          <p:nvPr/>
        </p:nvGraphicFramePr>
        <p:xfrm>
          <a:off x="777240" y="1353312"/>
          <a:ext cx="10637215" cy="2901389"/>
        </p:xfrm>
        <a:graphic>
          <a:graphicData uri="http://schemas.openxmlformats.org/drawingml/2006/table">
            <a:tbl>
              <a:tblPr firstRow="1">
                <a:tableStyleId>{5C22544A-7EE6-4342-B048-85BDC9FD1C3A}</a:tableStyleId>
              </a:tblPr>
              <a:tblGrid>
                <a:gridCol w="3291557"/>
                <a:gridCol w="7345658"/>
              </a:tblGrid>
              <a:tr h="329184">
                <a:tc>
                  <a:txBody>
                    <a:bodyPr wrap="square"/>
                    <a:lstStyle/>
                    <a:p>
                      <a:pPr algn="l"/>
                      <a:r>
                        <a:rPr sz="900" b="1">
                          <a:solidFill>
                            <a:srgbClr val="FFFFFF"/>
                          </a:solidFill>
                          <a:latin typeface="Calibri"/>
                        </a:rPr>
                        <a:t>Refused</a:t>
                      </a:r>
                    </a:p>
                  </a:txBody>
                  <a:tcPr marL="82296" marR="64008" marT="32004" marB="32004" anchor="ctr">
                    <a:solidFill>
                      <a:srgbClr val="A51C30"/>
                    </a:solidFill>
                  </a:tcPr>
                </a:tc>
                <a:tc>
                  <a:txBody>
                    <a:bodyPr wrap="square"/>
                    <a:lstStyle/>
                    <a:p>
                      <a:pPr algn="l"/>
                      <a:r>
                        <a:rPr sz="900" b="1">
                          <a:solidFill>
                            <a:srgbClr val="FFFFFF"/>
                          </a:solidFill>
                          <a:latin typeface="Calibri"/>
                        </a:rPr>
                        <a:t>What closing it would cost</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The interaction premium</a:t>
                      </a:r>
                    </a:p>
                  </a:txBody>
                  <a:tcPr marL="82296" marR="64008" marT="32004" marB="32004" anchor="ctr">
                    <a:solidFill>
                      <a:srgbClr val="FFFFFF"/>
                    </a:solidFill>
                  </a:tcPr>
                </a:tc>
                <a:tc>
                  <a:txBody>
                    <a:bodyPr wrap="square"/>
                    <a:lstStyle/>
                    <a:p>
                      <a:pPr algn="l"/>
                      <a:r>
                        <a:rPr sz="900" b="0">
                          <a:solidFill>
                            <a:srgbClr val="1C1C1E"/>
                          </a:solidFill>
                          <a:latin typeface="Calibri"/>
                        </a:rPr>
                        <a:t>L-14 says the copy map is the obstruction, so any single figure over the component ratings is blind to exactly what it would exist to find. What composes is the ORDER — the worst tier at stake — and not a magnitude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An examiner portal</a:t>
                      </a:r>
                    </a:p>
                  </a:txBody>
                  <a:tcPr marL="82296" marR="64008" marT="32004" marB="32004" anchor="ctr">
                    <a:solidFill>
                      <a:srgbClr val="F6F3EF"/>
                    </a:solidFill>
                  </a:tcPr>
                </a:tc>
                <a:tc>
                  <a:txBody>
                    <a:bodyPr wrap="square"/>
                    <a:lstStyle/>
                    <a:p>
                      <a:pPr algn="l"/>
                      <a:r>
                        <a:rPr sz="900" b="0">
                          <a:solidFill>
                            <a:srgbClr val="1C1C1E"/>
                          </a:solidFill>
                          <a:latin typeface="Calibri"/>
                        </a:rPr>
                        <a:t>handing a pack over IS built: a time-boxed link to a content digest, revocable, recording every read including the refused ones. A portal authenticates a third party INTO the register, and whatever that session reaches, they reach</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An online feature store</a:t>
                      </a:r>
                    </a:p>
                  </a:txBody>
                  <a:tcPr marL="82296" marR="64008" marT="32004" marB="32004" anchor="ctr">
                    <a:solidFill>
                      <a:srgbClr val="FFFFFF"/>
                    </a:solidFill>
                  </a:tcPr>
                </a:tc>
                <a:tc>
                  <a:txBody>
                    <a:bodyPr wrap="square"/>
                    <a:lstStyle/>
                    <a:p>
                      <a:pPr algn="l"/>
                      <a:r>
                        <a:rPr sz="900" b="0">
                          <a:solidFill>
                            <a:srgbClr val="1C1C1E"/>
                          </a:solidFill>
                          <a:latin typeface="Calibri"/>
                        </a:rPr>
                        <a:t>§7 says MAYA will not sit on the serving path. L-17 is no longer blocked on it — the engine attests which namespaces it read and MAYA compares. A store would buy OBSERVATION rather than attestation, a smaller claim than this row used to make</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Non-repudiation to a third party</a:t>
                      </a:r>
                    </a:p>
                  </a:txBody>
                  <a:tcPr marL="82296" marR="64008" marT="32004" marB="32004" anchor="ctr">
                    <a:solidFill>
                      <a:srgbClr val="F6F3EF"/>
                    </a:solidFill>
                  </a:tcPr>
                </a:tc>
                <a:tc>
                  <a:txBody>
                    <a:bodyPr wrap="square"/>
                    <a:lstStyle/>
                    <a:p>
                      <a:pPr algn="l"/>
                      <a:r>
                        <a:rPr sz="900" b="0">
                          <a:solidFill>
                            <a:srgbClr val="1C1C1E"/>
                          </a:solidFill>
                          <a:latin typeface="Calibri"/>
                        </a:rPr>
                        <a:t>a warrant is signed with a key DERIVED from the audience, so a compromised engine forges warrants for itself and nobody else. What asymmetry would add is proof of authorship to somebody outside the bank, which nobody has asked for. Published at GET /warrant-signing</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Spark inside MAYA</a:t>
                      </a:r>
                    </a:p>
                  </a:txBody>
                  <a:tcPr marL="82296" marR="64008" marT="32004" marB="32004" anchor="ctr">
                    <a:solidFill>
                      <a:srgbClr val="FFFFFF"/>
                    </a:solidFill>
                  </a:tcPr>
                </a:tc>
                <a:tc>
                  <a:txBody>
                    <a:bodyPr wrap="square"/>
                    <a:lstStyle/>
                    <a:p>
                      <a:pPr algn="l"/>
                      <a:r>
                        <a:rPr sz="900" b="0">
                          <a:solidFill>
                            <a:srgbClr val="1C1C1E"/>
                          </a:solidFill>
                          <a:latin typeface="Calibri"/>
                        </a:rPr>
                        <a:t>monitoring at estate scale moves the SCAN to whatever the firm already runs — PSI, AUC and KS are functions of sufficient statistics, which add across partitions — while MAYA computes the metric and compares it. Unlike an external observation, that one can be replayed</a:t>
                      </a:r>
                    </a:p>
                  </a:txBody>
                  <a:tcPr marL="82296" marR="64008" marT="32004" marB="32004" anchor="ctr">
                    <a:solidFill>
                      <a:srgbClr val="FFFFFF"/>
                    </a:solidFill>
                  </a:tcPr>
                </a:tc>
              </a:tr>
            </a:tbl>
          </a:graphicData>
        </a:graphic>
      </p:graphicFrame>
      <p:sp>
        <p:nvSpPr>
          <p:cNvPr id="11" name="Rectangle 10"/>
          <p:cNvSpPr/>
          <p:nvPr/>
        </p:nvSpPr>
        <p:spPr>
          <a:xfrm>
            <a:off x="777240" y="4455871"/>
            <a:ext cx="10637215" cy="7315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55871"/>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74743"/>
            <a:ext cx="10180015" cy="5120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deck that ends on what it built has told you half of it. </a:t>
            </a:r>
            <a:r>
              <a:rPr sz="1050" b="0" i="0">
                <a:solidFill>
                  <a:srgbClr val="1C1C1E"/>
                </a:solidFill>
                <a:latin typeface="Calibri"/>
              </a:rPr>
              <a:t>These five are not a backlog. Each would close only by making something else untrue — a theorem, an architecture principle, or a sentence this platform has been telling people. </a:t>
            </a:r>
            <a:r>
              <a:rPr sz="1050" b="1" i="0">
                <a:solidFill>
                  <a:srgbClr val="1C1C1E"/>
                </a:solidFill>
                <a:latin typeface="Calibri"/>
              </a:rPr>
              <a:t>That distinction is what a reader most needs without asking.</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1874519"/>
            <a:ext cx="7658794" cy="1828800"/>
          </a:xfrm>
          <a:prstGeom prst="rect">
            <a:avLst/>
          </a:prstGeom>
          <a:noFill/>
        </p:spPr>
        <p:txBody>
          <a:bodyPr wrap="square" lIns="0" rIns="0" tIns="0" bIns="0" anchor="t">
            <a:spAutoFit/>
          </a:bodyPr>
          <a:lstStyle/>
          <a:p>
            <a:pPr algn="l">
              <a:lnSpc>
                <a:spcPct val="120000"/>
              </a:lnSpc>
              <a:spcBef>
                <a:spcPts val="0"/>
              </a:spcBef>
              <a:spcAft>
                <a:spcPts val="600"/>
              </a:spcAft>
            </a:pPr>
            <a:r>
              <a:rPr sz="3000" b="0" i="0">
                <a:solidFill>
                  <a:srgbClr val="FFFFFF"/>
                </a:solidFill>
                <a:latin typeface="Georgia"/>
              </a:rPr>
              <a:t>A model is a representation of the world.</a:t>
            </a:r>
          </a:p>
          <a:p>
            <a:pPr>
              <a:lnSpc>
                <a:spcPct val="120000"/>
              </a:lnSpc>
              <a:spcBef>
                <a:spcPts val="0"/>
              </a:spcBef>
              <a:spcAft>
                <a:spcPts val="0"/>
              </a:spcAft>
            </a:pPr>
            <a:r>
              <a:rPr sz="3000" b="0" i="0">
                <a:solidFill>
                  <a:srgbClr val="F2D8DC"/>
                </a:solidFill>
                <a:latin typeface="Georgia"/>
              </a:rPr>
              <a:t>Governance is knowing the difference.</a:t>
            </a:r>
          </a:p>
        </p:txBody>
      </p:sp>
      <p:sp>
        <p:nvSpPr>
          <p:cNvPr id="5" name="Rectangle 4"/>
          <p:cNvSpPr/>
          <p:nvPr/>
        </p:nvSpPr>
        <p:spPr>
          <a:xfrm>
            <a:off x="1143000" y="416052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143000" y="4434840"/>
            <a:ext cx="7871539" cy="1371600"/>
          </a:xfrm>
          <a:prstGeom prst="rect">
            <a:avLst/>
          </a:prstGeom>
          <a:noFill/>
        </p:spPr>
        <p:txBody>
          <a:bodyPr wrap="square" lIns="0" rIns="0" tIns="0" bIns="0" anchor="t">
            <a:spAutoFit/>
          </a:bodyPr>
          <a:lstStyle/>
          <a:p>
            <a:pPr algn="l">
              <a:spcBef>
                <a:spcPts val="0"/>
              </a:spcBef>
              <a:spcAft>
                <a:spcPts val="400"/>
              </a:spcAft>
            </a:pPr>
            <a:r>
              <a:rPr sz="1300" b="1" i="0">
                <a:solidFill>
                  <a:srgbClr val="F4DFE3"/>
                </a:solidFill>
                <a:latin typeface="Calibri"/>
              </a:rPr>
              <a:t>MAYA  ·  Evidence, not assertion.</a:t>
            </a:r>
          </a:p>
          <a:p>
            <a:pPr>
              <a:spcBef>
                <a:spcPts val="0"/>
              </a:spcBef>
              <a:spcAft>
                <a:spcPts val="1000"/>
              </a:spcAft>
            </a:pPr>
            <a:r>
              <a:rPr sz="1100" b="0" i="0">
                <a:solidFill>
                  <a:srgbClr val="E8B8C0"/>
                </a:solidFill>
                <a:latin typeface="Calibri"/>
              </a:rPr>
              <a:t>Ashutosh Sinha  ·  Independent Researcher  ·  ajsinha@gmail.com</a:t>
            </a:r>
          </a:p>
          <a:p>
            <a:pPr>
              <a:lnSpc>
                <a:spcPct val="128000"/>
              </a:lnSpc>
              <a:spcBef>
                <a:spcPts val="0"/>
              </a:spcBef>
              <a:spcAft>
                <a:spcPts val="800"/>
              </a:spcAft>
            </a:pPr>
            <a:r>
              <a:rPr sz="950" b="0" i="0">
                <a:solidFill>
                  <a:srgbClr val="E8C4CA"/>
                </a:solidFill>
                <a:latin typeface="Calibri"/>
              </a:rPr>
              <a:t>Featuresets and parameters: docs/15-featuresets-and-parameters.md   ·   Composition and retrieval: docs/16-features-composed-and-shaped.md   ·   Feature platform: docs/07-feature-platform.md</a:t>
            </a:r>
          </a:p>
          <a:p>
            <a:pPr>
              <a:lnSpc>
                <a:spcPct val="125000"/>
              </a:lnSpc>
              <a:spcBef>
                <a:spcPts val="0"/>
              </a:spcBef>
              <a:spcAft>
                <a:spcPts val="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