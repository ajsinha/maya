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Ten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130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Ten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Twelve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Twelve real models across six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more: the opaque, the generative, the elicited, and three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113</a:t>
            </a:r>
          </a:p>
        </p:txBody>
      </p:sp>
      <p:graphicFrame>
        <p:nvGraphicFramePr>
          <p:cNvPr id="10" name="Table 9"/>
          <p:cNvGraphicFramePr>
            <a:graphicFrameLocks noGrp="1"/>
          </p:cNvGraphicFramePr>
          <p:nvPr/>
        </p:nvGraphicFramePr>
        <p:xfrm>
          <a:off x="777240" y="1764792"/>
          <a:ext cx="10637213" cy="314995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50" b="1">
                          <a:solidFill>
                            <a:srgbClr val="FFFFFF"/>
                          </a:solidFill>
                          <a:latin typeface="Calibri"/>
                        </a:rPr>
                        <a:t>#</a:t>
                      </a:r>
                    </a:p>
                  </a:txBody>
                  <a:tcPr marL="82296" marR="64008" marT="32004" marB="32004" anchor="ctr">
                    <a:solidFill>
                      <a:srgbClr val="A51C30"/>
                    </a:solidFill>
                  </a:tcPr>
                </a:tc>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Domain</a:t>
                      </a:r>
                    </a:p>
                  </a:txBody>
                  <a:tcPr marL="82296" marR="64008" marT="32004" marB="32004" anchor="ctr">
                    <a:solidFill>
                      <a:srgbClr val="A51C30"/>
                    </a:solidFill>
                  </a:tcPr>
                </a:tc>
                <a:tc>
                  <a:txBody>
                    <a:bodyPr wrap="square"/>
                    <a:lstStyle/>
                    <a:p>
                      <a:pPr algn="l"/>
                      <a:r>
                        <a:rPr sz="950" b="1">
                          <a:solidFill>
                            <a:srgbClr val="FFFFFF"/>
                          </a:solidFill>
                          <a:latin typeface="Calibri"/>
                        </a:rPr>
                        <a:t>Why this one</a:t>
                      </a:r>
                    </a:p>
                  </a:txBody>
                  <a:tcPr marL="82296" marR="64008" marT="32004" marB="32004" anchor="ctr">
                    <a:solidFill>
                      <a:srgbClr val="A51C30"/>
                    </a:solidFill>
                  </a:tcPr>
                </a:tc>
              </a:tr>
              <a:tr h="470128">
                <a:tc>
                  <a:txBody>
                    <a:bodyPr wrap="square"/>
                    <a:lstStyle/>
                    <a:p>
                      <a:pPr algn="l"/>
                      <a:r>
                        <a:rPr sz="950" b="0">
                          <a:solidFill>
                            <a:srgbClr val="1C1C1E"/>
                          </a:solidFill>
                          <a:latin typeface="Calibri"/>
                        </a:rPr>
                        <a:t>7</a:t>
                      </a:r>
                    </a:p>
                  </a:txBody>
                  <a:tcPr marL="82296" marR="64008" marT="32004" marB="32004" anchor="ctr">
                    <a:solidFill>
                      <a:srgbClr val="FFFFFF"/>
                    </a:solidFill>
                  </a:tcPr>
                </a:tc>
                <a:tc>
                  <a:txBody>
                    <a:bodyPr wrap="square"/>
                    <a:lstStyle/>
                    <a:p>
                      <a:pPr algn="l"/>
                      <a:r>
                        <a:rPr sz="95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50" b="0">
                          <a:solidFill>
                            <a:srgbClr val="1C1C1E"/>
                          </a:solidFill>
                          <a:latin typeface="Calibri"/>
                        </a:rPr>
                        <a:t>Tier B</a:t>
                      </a:r>
                    </a:p>
                  </a:txBody>
                  <a:tcPr marL="82296" marR="64008" marT="32004" marB="32004" anchor="ctr">
                    <a:solidFill>
                      <a:srgbClr val="FFFFFF"/>
                    </a:solidFill>
                  </a:tcPr>
                </a:tc>
                <a:tc>
                  <a:txBody>
                    <a:bodyPr wrap="square"/>
                    <a:lstStyle/>
                    <a:p>
                      <a:pPr algn="l"/>
                      <a:r>
                        <a:rPr sz="950" b="0">
                          <a:solidFill>
                            <a:srgbClr val="1C1C1E"/>
                          </a:solidFill>
                          <a:latin typeface="Calibri"/>
                        </a:rPr>
                        <a:t>Model risk (AI)</a:t>
                      </a:r>
                    </a:p>
                  </a:txBody>
                  <a:tcPr marL="82296" marR="64008" marT="32004" marB="32004" anchor="ctr">
                    <a:solidFill>
                      <a:srgbClr val="FFFFFF"/>
                    </a:solidFill>
                  </a:tcPr>
                </a:tc>
                <a:tc>
                  <a:txBody>
                    <a:bodyPr wrap="square"/>
                    <a:lstStyle/>
                    <a:p>
                      <a:pPr algn="l"/>
                      <a:r>
                        <a:rPr sz="950" b="0">
                          <a:solidFill>
                            <a:srgbClr val="1C1C1E"/>
                          </a:solidFill>
                          <a:latin typeface="Calibri"/>
                        </a:rPr>
                        <a:t>An LLM drafting a validation pack. The platform REMOVES the claim citing evidence it does not hold, and refuses a self-attestation</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8</a:t>
                      </a:r>
                    </a:p>
                  </a:txBody>
                  <a:tcPr marL="82296" marR="64008" marT="32004" marB="32004" anchor="ctr">
                    <a:solidFill>
                      <a:srgbClr val="F6F3EF"/>
                    </a:solidFill>
                  </a:tcPr>
                </a:tc>
                <a:tc>
                  <a:txBody>
                    <a:bodyPr wrap="square"/>
                    <a:lstStyle/>
                    <a:p>
                      <a:pPr algn="l"/>
                      <a:r>
                        <a:rPr sz="95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50" b="0">
                          <a:solidFill>
                            <a:srgbClr val="1C1C1E"/>
                          </a:solidFill>
                          <a:latin typeface="Calibri"/>
                        </a:rPr>
                        <a:t>T6</a:t>
                      </a:r>
                    </a:p>
                  </a:txBody>
                  <a:tcPr marL="82296" marR="64008" marT="32004" marB="32004" anchor="ctr">
                    <a:solidFill>
                      <a:srgbClr val="F6F3EF"/>
                    </a:solidFill>
                  </a:tcPr>
                </a:tc>
                <a:tc>
                  <a:txBody>
                    <a:bodyPr wrap="square"/>
                    <a:lstStyle/>
                    <a:p>
                      <a:pPr algn="l"/>
                      <a:r>
                        <a:rPr sz="950" b="0">
                          <a:solidFill>
                            <a:srgbClr val="1C1C1E"/>
                          </a:solidFill>
                          <a:latin typeface="Calibri"/>
                        </a:rPr>
                        <a:t>Retail credit</a:t>
                      </a:r>
                    </a:p>
                  </a:txBody>
                  <a:tcPr marL="82296" marR="64008" marT="32004" marB="32004" anchor="ctr">
                    <a:solidFill>
                      <a:srgbClr val="F6F3EF"/>
                    </a:solidFill>
                  </a:tcPr>
                </a:tc>
                <a:tc>
                  <a:txBody>
                    <a:bodyPr wrap="square"/>
                    <a:lstStyle/>
                    <a:p>
                      <a:pPr algn="l"/>
                      <a:r>
                        <a:rPr sz="950" b="0">
                          <a:solidFill>
                            <a:srgbClr val="1C1C1E"/>
                          </a:solidFill>
                          <a:latin typeface="Calibri"/>
                        </a:rPr>
                        <a:t>Governing a model nobody here can inspect. A fit refused for three reasons at once, and reverse-engineered coefficients refused</a:t>
                      </a:r>
                    </a:p>
                  </a:txBody>
                  <a:tcPr marL="82296" marR="64008" marT="32004" marB="32004" anchor="ctr">
                    <a:solidFill>
                      <a:srgbClr val="F6F3EF"/>
                    </a:solidFill>
                  </a:tcPr>
                </a:tc>
              </a:tr>
              <a:tr h="470128">
                <a:tc>
                  <a:txBody>
                    <a:bodyPr wrap="square"/>
                    <a:lstStyle/>
                    <a:p>
                      <a:pPr algn="l"/>
                      <a:r>
                        <a:rPr sz="950" b="0">
                          <a:solidFill>
                            <a:srgbClr val="1C1C1E"/>
                          </a:solidFill>
                          <a:latin typeface="Calibri"/>
                        </a:rPr>
                        <a:t>9</a:t>
                      </a:r>
                    </a:p>
                  </a:txBody>
                  <a:tcPr marL="82296" marR="64008" marT="32004" marB="32004" anchor="ctr">
                    <a:solidFill>
                      <a:srgbClr val="FFFFFF"/>
                    </a:solidFill>
                  </a:tcPr>
                </a:tc>
                <a:tc>
                  <a:txBody>
                    <a:bodyPr wrap="square"/>
                    <a:lstStyle/>
                    <a:p>
                      <a:pPr algn="l"/>
                      <a:r>
                        <a:rPr sz="95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c>
                  <a:txBody>
                    <a:bodyPr wrap="square"/>
                    <a:lstStyle/>
                    <a:p>
                      <a:pPr algn="l"/>
                      <a:r>
                        <a:rPr sz="950" b="0">
                          <a:solidFill>
                            <a:srgbClr val="1C1C1E"/>
                          </a:solidFill>
                          <a:latin typeface="Calibri"/>
                        </a:rPr>
                        <a:t>Genomics</a:t>
                      </a:r>
                    </a:p>
                  </a:txBody>
                  <a:tcPr marL="82296" marR="64008" marT="32004" marB="32004" anchor="ctr">
                    <a:solidFill>
                      <a:srgbClr val="FFFFFF"/>
                    </a:solidFill>
                  </a:tcPr>
                </a:tc>
                <a:tc>
                  <a:txBody>
                    <a:bodyPr wrap="square"/>
                    <a:lstStyle/>
                    <a:p>
                      <a:pPr algn="l"/>
                      <a:r>
                        <a:rPr sz="950" b="0">
                          <a:solidFill>
                            <a:srgbClr val="1C1C1E"/>
                          </a:solidFill>
                          <a:latin typeface="Calibri"/>
                        </a:rPr>
                        <a:t>A clinical model that works far less well in some ancestries — QUANTIFIED on the parameter set, read at the same moment as the numbers</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c>
                  <a:txBody>
                    <a:bodyPr wrap="square"/>
                    <a:lstStyle/>
                    <a:p>
                      <a:pPr algn="l"/>
                      <a:r>
                        <a:rPr sz="950" b="0">
                          <a:solidFill>
                            <a:srgbClr val="1C1C1E"/>
                          </a:solidFill>
                          <a:latin typeface="Calibri"/>
                        </a:rPr>
                        <a:t>Public health</a:t>
                      </a:r>
                    </a:p>
                  </a:txBody>
                  <a:tcPr marL="82296" marR="64008" marT="32004" marB="32004" anchor="ctr">
                    <a:solidFill>
                      <a:srgbClr val="F6F3EF"/>
                    </a:solidFill>
                  </a:tcPr>
                </a:tc>
                <a:tc>
                  <a:txBody>
                    <a:bodyPr wrap="square"/>
                    <a:lstStyle/>
                    <a:p>
                      <a:pPr algn="l"/>
                      <a:r>
                        <a:rPr sz="950" b="0">
                          <a:solidFill>
                            <a:srgbClr val="1C1C1E"/>
                          </a:solidFill>
                          <a:latin typeface="Calibri"/>
                        </a:rPr>
                        <a:t>The same outbreak data on the same day gives R0 = 2.04 or 2.34, depending on how a REPORTING DELAY is treated. Both are on the record</a:t>
                      </a:r>
                    </a:p>
                  </a:txBody>
                  <a:tcPr marL="82296" marR="64008" marT="32004" marB="32004" anchor="ctr">
                    <a:solidFill>
                      <a:srgbClr val="F6F3EF"/>
                    </a:solidFill>
                  </a:tcPr>
                </a:tc>
              </a:tr>
              <a:tr h="470128">
                <a:tc>
                  <a:txBody>
                    <a:bodyPr wrap="square"/>
                    <a:lstStyle/>
                    <a:p>
                      <a:pPr algn="l"/>
                      <a:r>
                        <a:rPr sz="950" b="0">
                          <a:solidFill>
                            <a:srgbClr val="1C1C1E"/>
                          </a:solidFill>
                          <a:latin typeface="Calibri"/>
                        </a:rPr>
                        <a:t>11</a:t>
                      </a:r>
                    </a:p>
                  </a:txBody>
                  <a:tcPr marL="82296" marR="64008" marT="32004" marB="32004" anchor="ctr">
                    <a:solidFill>
                      <a:srgbClr val="FFFFFF"/>
                    </a:solidFill>
                  </a:tcPr>
                </a:tc>
                <a:tc>
                  <a:txBody>
                    <a:bodyPr wrap="square"/>
                    <a:lstStyle/>
                    <a:p>
                      <a:pPr algn="l"/>
                      <a:r>
                        <a:rPr sz="95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c>
                  <a:txBody>
                    <a:bodyPr wrap="square"/>
                    <a:lstStyle/>
                    <a:p>
                      <a:pPr algn="l"/>
                      <a:r>
                        <a:rPr sz="95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50" b="0">
                          <a:solidFill>
                            <a:srgbClr val="1C1C1E"/>
                          </a:solidFill>
                          <a:latin typeface="Calibri"/>
                        </a:rPr>
                        <a:t>The system prompt is a parameter. Then the vendor reversions, the bank changes nothing, and the guardrail pass rate falls from 100% to 57%</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12</a:t>
                      </a:r>
                    </a:p>
                  </a:txBody>
                  <a:tcPr marL="82296" marR="64008" marT="32004" marB="32004" anchor="ctr">
                    <a:solidFill>
                      <a:srgbClr val="F6F3EF"/>
                    </a:solidFill>
                  </a:tcPr>
                </a:tc>
                <a:tc>
                  <a:txBody>
                    <a:bodyPr wrap="square"/>
                    <a:lstStyle/>
                    <a:p>
                      <a:pPr algn="l"/>
                      <a:r>
                        <a:rPr sz="95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50" b="0">
                          <a:solidFill>
                            <a:srgbClr val="1C1C1E"/>
                          </a:solidFill>
                          <a:latin typeface="Calibri"/>
                        </a:rPr>
                        <a:t>T7</a:t>
                      </a:r>
                    </a:p>
                  </a:txBody>
                  <a:tcPr marL="82296" marR="64008" marT="32004" marB="32004" anchor="ctr">
                    <a:solidFill>
                      <a:srgbClr val="F6F3EF"/>
                    </a:solidFill>
                  </a:tcPr>
                </a:tc>
                <a:tc>
                  <a:txBody>
                    <a:bodyPr wrap="square"/>
                    <a:lstStyle/>
                    <a:p>
                      <a:pPr algn="l"/>
                      <a:r>
                        <a:rPr sz="950" b="0">
                          <a:solidFill>
                            <a:srgbClr val="1C1C1E"/>
                          </a:solidFill>
                          <a:latin typeface="Calibri"/>
                        </a:rPr>
                        <a:t>Climate risk</a:t>
                      </a:r>
                    </a:p>
                  </a:txBody>
                  <a:tcPr marL="82296" marR="64008" marT="32004" marB="32004" anchor="ctr">
                    <a:solidFill>
                      <a:srgbClr val="F6F3EF"/>
                    </a:solidFill>
                  </a:tcPr>
                </a:tc>
                <a:tc>
                  <a:txBody>
                    <a:bodyPr wrap="square"/>
                    <a:lstStyle/>
                    <a:p>
                      <a:pPr algn="l"/>
                      <a:r>
                        <a:rPr sz="950" b="0">
                          <a:solidFill>
                            <a:srgbClr val="1C1C1E"/>
                          </a:solidFill>
                          <a:latin typeface="Calibri"/>
                        </a:rPr>
                        <a:t>Weights from a PANEL, because the transition has not happened and there is nothing to estimate from. The dissent is on the parameter set, priced</a:t>
                      </a:r>
                    </a:p>
                  </a:txBody>
                  <a:tcPr marL="82296" marR="64008" marT="32004" marB="32004" anchor="ctr">
                    <a:solidFill>
                      <a:srgbClr val="F6F3EF"/>
                    </a:solidFill>
                  </a:tcPr>
                </a:tc>
              </a:tr>
            </a:tbl>
          </a:graphicData>
        </a:graphic>
      </p:graphicFrame>
      <p:sp>
        <p:nvSpPr>
          <p:cNvPr id="11" name="TextBox 10"/>
          <p:cNvSpPr txBox="1"/>
          <p:nvPr/>
        </p:nvSpPr>
        <p:spPr>
          <a:xfrm>
            <a:off x="777240" y="5115915"/>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Twelve case studies now span eight of the nine classes and six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4706640"/>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950" b="1">
                          <a:solidFill>
                            <a:srgbClr val="FFFFFF"/>
                          </a:solidFill>
                          <a:latin typeface="Calibri"/>
                        </a:rPr>
                        <a:t>Case</a:t>
                      </a:r>
                    </a:p>
                  </a:txBody>
                  <a:tcPr marL="82296" marR="64008" marT="32004" marB="32004" anchor="ctr">
                    <a:solidFill>
                      <a:srgbClr val="A51C30"/>
                    </a:solidFill>
                  </a:tcPr>
                </a:tc>
                <a:tc>
                  <a:txBody>
                    <a:bodyPr wrap="square"/>
                    <a:lstStyle/>
                    <a:p>
                      <a:pPr algn="l"/>
                      <a:r>
                        <a:rPr sz="95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950" b="1">
                          <a:solidFill>
                            <a:srgbClr val="FFFFFF"/>
                          </a:solidFill>
                          <a:latin typeface="Calibri"/>
                        </a:rPr>
                        <a:t>What MAYA said</a:t>
                      </a:r>
                    </a:p>
                  </a:txBody>
                  <a:tcPr marL="82296" marR="64008" marT="32004" marB="32004" anchor="ctr">
                    <a:solidFill>
                      <a:srgbClr val="A51C30"/>
                    </a:solidFill>
                  </a:tcPr>
                </a:tc>
              </a:tr>
              <a:tr h="470128">
                <a:tc>
                  <a:txBody>
                    <a:bodyPr wrap="square"/>
                    <a:lstStyle/>
                    <a:p>
                      <a:pPr algn="l"/>
                      <a:r>
                        <a:rPr sz="950" b="0">
                          <a:solidFill>
                            <a:srgbClr val="1C1C1E"/>
                          </a:solidFill>
                          <a:latin typeface="Calibri"/>
                        </a:rPr>
                        <a:t>1</a:t>
                      </a:r>
                    </a:p>
                  </a:txBody>
                  <a:tcPr marL="82296" marR="64008" marT="32004" marB="32004" anchor="ctr">
                    <a:solidFill>
                      <a:srgbClr val="FFFFFF"/>
                    </a:solidFill>
                  </a:tcPr>
                </a:tc>
                <a:tc>
                  <a:txBody>
                    <a:bodyPr wrap="square"/>
                    <a:lstStyle/>
                    <a:p>
                      <a:pPr algn="l"/>
                      <a:r>
                        <a:rPr sz="95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95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08216">
                <a:tc>
                  <a:txBody>
                    <a:bodyPr wrap="square"/>
                    <a:lstStyle/>
                    <a:p>
                      <a:pPr algn="l"/>
                      <a:r>
                        <a:rPr sz="950" b="0">
                          <a:solidFill>
                            <a:srgbClr val="1C1C1E"/>
                          </a:solidFill>
                          <a:latin typeface="Calibri"/>
                        </a:rPr>
                        <a:t>2</a:t>
                      </a:r>
                    </a:p>
                  </a:txBody>
                  <a:tcPr marL="82296" marR="64008" marT="32004" marB="32004" anchor="ctr">
                    <a:solidFill>
                      <a:srgbClr val="F6F3EF"/>
                    </a:solidFill>
                  </a:tcPr>
                </a:tc>
                <a:tc>
                  <a:txBody>
                    <a:bodyPr wrap="square"/>
                    <a:lstStyle/>
                    <a:p>
                      <a:pPr algn="l"/>
                      <a:r>
                        <a:rPr sz="95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950" b="0">
                          <a:solidFill>
                            <a:srgbClr val="1C1C1E"/>
                          </a:solidFill>
                          <a:latin typeface="Calibri"/>
                        </a:rPr>
                        <a:t>L-W9 — a featureset read for fitting must bound the period it covers</a:t>
                      </a:r>
                    </a:p>
                  </a:txBody>
                  <a:tcPr marL="82296" marR="64008" marT="32004" marB="32004" anchor="ctr">
                    <a:solidFill>
                      <a:srgbClr val="F6F3EF"/>
                    </a:solidFill>
                  </a:tcPr>
                </a:tc>
              </a:tr>
              <a:tr h="308216">
                <a:tc>
                  <a:txBody>
                    <a:bodyPr wrap="square"/>
                    <a:lstStyle/>
                    <a:p>
                      <a:pPr algn="l"/>
                      <a:r>
                        <a:rPr sz="950" b="0">
                          <a:solidFill>
                            <a:srgbClr val="1C1C1E"/>
                          </a:solidFill>
                          <a:latin typeface="Calibri"/>
                        </a:rPr>
                        <a:t>3</a:t>
                      </a:r>
                    </a:p>
                  </a:txBody>
                  <a:tcPr marL="82296" marR="64008" marT="32004" marB="32004" anchor="ctr">
                    <a:solidFill>
                      <a:srgbClr val="FFFFFF"/>
                    </a:solidFill>
                  </a:tcPr>
                </a:tc>
                <a:tc>
                  <a:txBody>
                    <a:bodyPr wrap="square"/>
                    <a:lstStyle/>
                    <a:p>
                      <a:pPr algn="l"/>
                      <a:r>
                        <a:rPr sz="95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950" b="0">
                          <a:solidFill>
                            <a:srgbClr val="1C1C1E"/>
                          </a:solidFill>
                          <a:latin typeface="Calibri"/>
                        </a:rPr>
                        <a:t>L-W10 — adding a regressor is a model change, not a data change</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4</a:t>
                      </a:r>
                    </a:p>
                  </a:txBody>
                  <a:tcPr marL="82296" marR="64008" marT="32004" marB="32004" anchor="ctr">
                    <a:solidFill>
                      <a:srgbClr val="F6F3EF"/>
                    </a:solidFill>
                  </a:tcPr>
                </a:tc>
                <a:tc>
                  <a:txBody>
                    <a:bodyPr wrap="square"/>
                    <a:lstStyle/>
                    <a:p>
                      <a:pPr algn="l"/>
                      <a:r>
                        <a:rPr sz="95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95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70128">
                <a:tc>
                  <a:txBody>
                    <a:bodyPr wrap="square"/>
                    <a:lstStyle/>
                    <a:p>
                      <a:pPr algn="l"/>
                      <a:r>
                        <a:rPr sz="950" b="0">
                          <a:solidFill>
                            <a:srgbClr val="1C1C1E"/>
                          </a:solidFill>
                          <a:latin typeface="Calibri"/>
                        </a:rPr>
                        <a:t>5</a:t>
                      </a:r>
                    </a:p>
                  </a:txBody>
                  <a:tcPr marL="82296" marR="64008" marT="32004" marB="32004" anchor="ctr">
                    <a:solidFill>
                      <a:srgbClr val="FFFFFF"/>
                    </a:solidFill>
                  </a:tcPr>
                </a:tc>
                <a:tc>
                  <a:txBody>
                    <a:bodyPr wrap="square"/>
                    <a:lstStyle/>
                    <a:p>
                      <a:pPr algn="l"/>
                      <a:r>
                        <a:rPr sz="95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95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6</a:t>
                      </a:r>
                    </a:p>
                  </a:txBody>
                  <a:tcPr marL="82296" marR="64008" marT="32004" marB="32004" anchor="ctr">
                    <a:solidFill>
                      <a:srgbClr val="F6F3EF"/>
                    </a:solidFill>
                  </a:tcPr>
                </a:tc>
                <a:tc>
                  <a:txBody>
                    <a:bodyPr wrap="square"/>
                    <a:lstStyle/>
                    <a:p>
                      <a:pPr algn="l"/>
                      <a:r>
                        <a:rPr sz="95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95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r h="470128">
                <a:tc>
                  <a:txBody>
                    <a:bodyPr wrap="square"/>
                    <a:lstStyle/>
                    <a:p>
                      <a:pPr algn="l"/>
                      <a:r>
                        <a:rPr sz="950" b="0">
                          <a:solidFill>
                            <a:srgbClr val="1C1C1E"/>
                          </a:solidFill>
                          <a:latin typeface="Calibri"/>
                        </a:rPr>
                        <a:t>7</a:t>
                      </a:r>
                    </a:p>
                  </a:txBody>
                  <a:tcPr marL="82296" marR="64008" marT="32004" marB="32004" anchor="ctr">
                    <a:solidFill>
                      <a:srgbClr val="FFFFFF"/>
                    </a:solidFill>
                  </a:tcPr>
                </a:tc>
                <a:tc>
                  <a:txBody>
                    <a:bodyPr wrap="square"/>
                    <a:lstStyle/>
                    <a:p>
                      <a:pPr algn="l"/>
                      <a:r>
                        <a:rPr sz="95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95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8</a:t>
                      </a:r>
                    </a:p>
                  </a:txBody>
                  <a:tcPr marL="82296" marR="64008" marT="32004" marB="32004" anchor="ctr">
                    <a:solidFill>
                      <a:srgbClr val="F6F3EF"/>
                    </a:solidFill>
                  </a:tcPr>
                </a:tc>
                <a:tc>
                  <a:txBody>
                    <a:bodyPr wrap="square"/>
                    <a:lstStyle/>
                    <a:p>
                      <a:pPr algn="l"/>
                      <a:r>
                        <a:rPr sz="95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95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70128">
                <a:tc>
                  <a:txBody>
                    <a:bodyPr wrap="square"/>
                    <a:lstStyle/>
                    <a:p>
                      <a:pPr algn="l"/>
                      <a:r>
                        <a:rPr sz="950" b="0">
                          <a:solidFill>
                            <a:srgbClr val="1C1C1E"/>
                          </a:solidFill>
                          <a:latin typeface="Calibri"/>
                        </a:rPr>
                        <a:t>11</a:t>
                      </a:r>
                    </a:p>
                  </a:txBody>
                  <a:tcPr marL="82296" marR="64008" marT="32004" marB="32004" anchor="ctr">
                    <a:solidFill>
                      <a:srgbClr val="FFFFFF"/>
                    </a:solidFill>
                  </a:tcPr>
                </a:tc>
                <a:tc>
                  <a:txBody>
                    <a:bodyPr wrap="square"/>
                    <a:lstStyle/>
                    <a:p>
                      <a:pPr algn="l"/>
                      <a:r>
                        <a:rPr sz="95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70128">
                <a:tc>
                  <a:txBody>
                    <a:bodyPr wrap="square"/>
                    <a:lstStyle/>
                    <a:p>
                      <a:pPr algn="l"/>
                      <a:r>
                        <a:rPr sz="950" b="0">
                          <a:solidFill>
                            <a:srgbClr val="1C1C1E"/>
                          </a:solidFill>
                          <a:latin typeface="Calibri"/>
                        </a:rPr>
                        <a:t>12</a:t>
                      </a:r>
                    </a:p>
                  </a:txBody>
                  <a:tcPr marL="82296" marR="64008" marT="32004" marB="32004" anchor="ctr">
                    <a:solidFill>
                      <a:srgbClr val="F6F3EF"/>
                    </a:solidFill>
                  </a:tcPr>
                </a:tc>
                <a:tc>
                  <a:txBody>
                    <a:bodyPr wrap="square"/>
                    <a:lstStyle/>
                    <a:p>
                      <a:pPr algn="l"/>
                      <a:r>
                        <a:rPr sz="95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95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Twelve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One class is still uncovered: T3, iteratively trained. T4 — a model that adapts in production — is uncovered deliberately, because nothing in this repository adapts.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