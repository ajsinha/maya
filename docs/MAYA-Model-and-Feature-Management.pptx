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 keyed per audience</a:t>
            </a:r>
          </a:p>
          <a:p>
            <a:pPr lvl="1">
              <a:spcBef>
                <a:spcPts val="0"/>
              </a:spcBef>
              <a:spcAft>
                <a:spcPts val="0"/>
              </a:spcAft>
            </a:pPr>
            <a:r>
              <a:rPr sz="900">
                <a:solidFill>
                  <a:srgbClr val="4A4F57"/>
                </a:solidFill>
                <a:latin typeface="Calibri"/>
              </a:rPr>
              <a:t>The key is derived from the principal the warrant is FOR, so a compromised engine forges warrants for itself and nobody else</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221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25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4114339"/>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00" b="1">
                          <a:solidFill>
                            <a:srgbClr val="FFFFFF"/>
                          </a:solidFill>
                          <a:latin typeface="Calibri"/>
                        </a:rPr>
                        <a:t>Not built, or not ours</a:t>
                      </a:r>
                    </a:p>
                  </a:txBody>
                  <a:tcPr marL="82296" marR="64008" marT="32004" marB="32004" anchor="ctr">
                    <a:solidFill>
                      <a:srgbClr val="A51C30"/>
                    </a:solidFill>
                  </a:tcPr>
                </a:tc>
                <a:tc>
                  <a:txBody>
                    <a:bodyPr wrap="square"/>
                    <a:lstStyle/>
                    <a:p>
                      <a:pPr algn="l"/>
                      <a:r>
                        <a:rPr sz="900" b="1">
                          <a:solidFill>
                            <a:srgbClr val="FFFFFF"/>
                          </a:solidFill>
                          <a:latin typeface="Calibri"/>
                        </a:rPr>
                        <a:t>What that means 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An EUC scanner</a:t>
                      </a:r>
                    </a:p>
                  </a:txBody>
                  <a:tcPr marL="82296" marR="64008" marT="32004" marB="32004" anchor="ctr">
                    <a:solidFill>
                      <a:srgbClr val="FFFFFF"/>
                    </a:solidFill>
                  </a:tcPr>
                </a:tc>
                <a:tc>
                  <a:txBody>
                    <a:bodyPr wrap="square"/>
                    <a:lstStyle/>
                    <a:p>
                      <a:pPr algn="l"/>
                      <a:r>
                        <a:rPr sz="900" b="0">
                          <a:solidFill>
                            <a:srgbClr val="1C1C1E"/>
                          </a:solidFill>
                          <a:latin typeface="Calibri"/>
                        </a:rPr>
                        <a:t>MAYA does not crawl the bank’s drives and should not — a sweep needs credentials to every repository, notebook server and shared drive in the institution. The receiving half is built and the CONTRACT a scanner must meet is published; running one is somebody else’s job, and nobody has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An online feature store</a:t>
                      </a:r>
                    </a:p>
                  </a:txBody>
                  <a:tcPr marL="82296" marR="64008" marT="32004" marB="32004" anchor="ctr">
                    <a:solidFill>
                      <a:srgbClr val="F6F3EF"/>
                    </a:solidFill>
                  </a:tcPr>
                </a:tc>
                <a:tc>
                  <a:txBody>
                    <a:bodyPr wrap="square"/>
                    <a:lstStyle/>
                    <a:p>
                      <a:pPr algn="l"/>
                      <a:r>
                        <a:rPr sz="900" b="0">
                          <a:solidFill>
                            <a:srgbClr val="1C1C1E"/>
                          </a:solidFill>
                          <a:latin typeface="Calibri"/>
                        </a:rPr>
                        <a:t>the Delta namespace IS the serving contract, and §7 says MAYA will not sit on the serving path. L-17 is no longer blocked on it: the engine attests which namespaces it read and MAYA compares. A store would buy OBSERVATION rather than attestation — a smaller claim than this row used to make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Three foundational laws</a:t>
                      </a:r>
                    </a:p>
                  </a:txBody>
                  <a:tcPr marL="82296" marR="64008" marT="32004" marB="32004" anchor="ctr">
                    <a:solidFill>
                      <a:srgbClr val="FFFFFF"/>
                    </a:solidFill>
                  </a:tcPr>
                </a:tc>
                <a:tc>
                  <a:txBody>
                    <a:bodyPr wrap="square"/>
                    <a:lstStyle/>
                    <a:p>
                      <a:pPr algn="l"/>
                      <a:r>
                        <a:rPr sz="900" b="0">
                          <a:solidFill>
                            <a:srgbClr val="1C1C1E"/>
                          </a:solidFill>
                          <a:latin typeface="Calibri"/>
                        </a:rPr>
                        <a:t>L-6, L-11, L-13 — each named in chapter 8 with the reason. L-14 and L-17 were on this list and now run. The three that remain are honest refusals: building a document `put` to satisfy the lens laws would be building the wrong thing</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The interaction premium</a:t>
                      </a:r>
                    </a:p>
                  </a:txBody>
                  <a:tcPr marL="82296" marR="64008" marT="32004" marB="32004" anchor="ctr">
                    <a:solidFill>
                      <a:srgbClr val="F6F3EF"/>
                    </a:solidFill>
                  </a:tcPr>
                </a:tc>
                <a:tc>
                  <a:txBody>
                    <a:bodyPr wrap="square"/>
                    <a:lstStyle/>
                    <a:p>
                      <a:pPr algn="l"/>
                      <a:r>
                        <a:rPr sz="900" b="0">
                          <a:solidFill>
                            <a:srgbClr val="1C1C1E"/>
                          </a:solidFill>
                          <a:latin typeface="Calibri"/>
                        </a:rPr>
                        <a:t>REFUSED rather than pending. L-14 says the copy map is the obstruction, so any single figure over the component ratings is blind to exactly what it would exist to find. What composes is the ORDER — the worst tier at stake — and not a magnitude</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An examiner portal</a:t>
                      </a:r>
                    </a:p>
                  </a:txBody>
                  <a:tcPr marL="82296" marR="64008" marT="32004" marB="32004" anchor="ctr">
                    <a:solidFill>
                      <a:srgbClr val="FFFFFF"/>
                    </a:solidFill>
                  </a:tcPr>
                </a:tc>
                <a:tc>
                  <a:txBody>
                    <a:bodyPr wrap="square"/>
                    <a:lstStyle/>
                    <a:p>
                      <a:pPr algn="l"/>
                      <a:r>
                        <a:rPr sz="900" b="0">
                          <a:solidFill>
                            <a:srgbClr val="1C1C1E"/>
                          </a:solidFill>
                          <a:latin typeface="Calibri"/>
                        </a:rPr>
                        <a:t>and it stays unbuilt on purpose. Handing a pack over IS built: a time-boxed link to a content digest, revocable, recording every read including the refused ones. A portal authenticates a third party INTO the register, and whatever that session reaches, they reach</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Non-repudiation to a third party</a:t>
                      </a:r>
                    </a:p>
                  </a:txBody>
                  <a:tcPr marL="82296" marR="64008" marT="32004" marB="32004" anchor="ctr">
                    <a:solidFill>
                      <a:srgbClr val="F6F3EF"/>
                    </a:solidFill>
                  </a:tcPr>
                </a:tc>
                <a:tc>
                  <a:txBody>
                    <a:bodyPr wrap="square"/>
                    <a:lstStyle/>
                    <a:p>
                      <a:pPr algn="l"/>
                      <a:r>
                        <a:rPr sz="900" b="0">
                          <a:solidFill>
                            <a:srgbClr val="1C1C1E"/>
                          </a:solidFill>
                          <a:latin typeface="Calibri"/>
                        </a:rPr>
                        <a:t>a warrant is signed with a key DERIVED from the audience, so a compromised engine forges warrants for itself and nobody else. What that does not do is prove authorship to somebody outside the bank — a verifier holds the key it verifies with. Published at GET /warrant-signing rather than left to be assumed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900" b="0">
                          <a:solidFill>
                            <a:srgbClr val="1C1C1E"/>
                          </a:solidFill>
                          <a:latin typeface="Calibri"/>
                        </a:rPr>
                        <a:t>no cache, no broker, no outbox, no read replica, no row-level security, no metrics endpoint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668822"/>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668822"/>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787694"/>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Four of these are refusals rather than gaps, and the difference matters: a gap closes with effort, and a refusal closes only by making something else untrue. </a:t>
            </a:r>
            <a:r>
              <a:rPr sz="1050" b="1" i="0">
                <a:solidFill>
                  <a:srgbClr val="1C1C1E"/>
                </a:solidFill>
                <a:latin typeface="Calibri"/>
              </a:rPr>
              <a:t>The distinction is the part a reader most needs without asking.</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