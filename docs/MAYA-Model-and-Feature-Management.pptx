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eight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609925"/>
        </p:xfrm>
        <a:graphic>
          <a:graphicData uri="http://schemas.openxmlformats.org/drawingml/2006/table">
            <a:tbl>
              <a:tblPr firstRow="1">
                <a:tableStyleId>{5C22544A-7EE6-4342-B048-85BDC9FD1C3A}</a:tableStyleId>
              </a:tblPr>
              <a:tblGrid>
                <a:gridCol w="2925828"/>
                <a:gridCol w="5120199"/>
                <a:gridCol w="2591186"/>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The last chapter you need</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the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25 — the end of it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then chapter 24 for the evidence each kind of model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24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chapter 25, and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answers a question the rest of the deck assumes. </a:t>
            </a:r>
            <a:r>
              <a:rPr sz="1050" b="0" i="0">
                <a:solidFill>
                  <a:srgbClr val="1C1C1E"/>
                </a:solidFill>
                <a:latin typeface="Calibri"/>
              </a:rPr>
              <a:t>If you read nothing else, read that: the whole design is downstream of one sentence about what a model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29643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a worked example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bl>
          </a:graphicData>
        </a:graphic>
      </p:graphicFrame>
      <p:sp>
        <p:nvSpPr>
          <p:cNvPr id="11" name="Rectangle 10"/>
          <p:cNvSpPr/>
          <p:nvPr/>
        </p:nvSpPr>
        <p:spPr>
          <a:xfrm>
            <a:off x="777240" y="3924071"/>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24071"/>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42943"/>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Parts I to III should leave a practitioner able to register a model and authorise a run without guessing; Part IV should leave an engineer able to open a component and start. Where that is not true it is a gap in 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Thirteen terms, defined before they are 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5469376"/>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50" b="1">
                          <a:solidFill>
                            <a:srgbClr val="FFFFFF"/>
                          </a:solidFill>
                          <a:latin typeface="Calibri"/>
                        </a:rPr>
                        <a:t>Term</a:t>
                      </a:r>
                    </a:p>
                  </a:txBody>
                  <a:tcPr marL="82296" marR="64008" marT="32004" marB="32004" anchor="ctr">
                    <a:solidFill>
                      <a:srgbClr val="A51C30"/>
                    </a:solidFill>
                  </a:tcPr>
                </a:tc>
                <a:tc>
                  <a:txBody>
                    <a:bodyPr wrap="square"/>
                    <a:lstStyle/>
                    <a:p>
                      <a:pPr algn="l"/>
                      <a:r>
                        <a:rPr sz="950" b="1">
                          <a:solidFill>
                            <a:srgbClr val="FFFFFF"/>
                          </a:solidFill>
                          <a:latin typeface="Calibri"/>
                        </a:rPr>
                        <a:t>What it means in this deck</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Model (parametric kernel)</a:t>
                      </a:r>
                    </a:p>
                  </a:txBody>
                  <a:tcPr marL="82296" marR="64008" marT="32004" marB="32004" anchor="ctr">
                    <a:solidFill>
                      <a:srgbClr val="FFFFFF"/>
                    </a:solidFill>
                  </a:tcPr>
                </a:tc>
                <a:tc>
                  <a:txBody>
                    <a:bodyPr wrap="square"/>
                    <a:lstStyle/>
                    <a:p>
                      <a:pPr algn="l"/>
                      <a:r>
                        <a:rPr sz="950" b="0">
                          <a:solidFill>
                            <a:srgbClr val="1C1C1E"/>
                          </a:solidFill>
                          <a:latin typeface="Calibri"/>
                        </a:rPr>
                        <a:t>f : P ⊗ X → D(Y). Parameters P, inputs X, a distribution over outputs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 the parameter object</a:t>
                      </a:r>
                    </a:p>
                  </a:txBody>
                  <a:tcPr marL="82296" marR="64008" marT="32004" marB="32004" anchor="ctr">
                    <a:solidFill>
                      <a:srgbClr val="F6F3EF"/>
                    </a:solidFill>
                  </a:tcPr>
                </a:tc>
                <a:tc>
                  <a:txBody>
                    <a:bodyPr wrap="square"/>
                    <a:lstStyle/>
                    <a:p>
                      <a:pPr algn="l"/>
                      <a:r>
                        <a:rPr sz="950" b="0">
                          <a:solidFill>
                            <a:srgbClr val="1C1C1E"/>
                          </a:solidFill>
                          <a:latin typeface="Calibri"/>
                        </a:rPr>
                        <a:t>The numbers or rules that decide what the model does. Empty for an analytical pricer; weights for a network; a rule set for a policy.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Trainability class, T0–T8</a:t>
                      </a:r>
                    </a:p>
                  </a:txBody>
                  <a:tcPr marL="82296" marR="64008" marT="32004" marB="32004" anchor="ctr">
                    <a:solidFill>
                      <a:srgbClr val="FFFFFF"/>
                    </a:solidFill>
                  </a:tcPr>
                </a:tc>
                <a:tc>
                  <a:txBody>
                    <a:bodyPr wrap="square"/>
                    <a:lstStyle/>
                    <a:p>
                      <a:pPr algn="l"/>
                      <a:r>
                        <a:rPr sz="950" b="0">
                          <a:solidFill>
                            <a:srgbClr val="1C1C1E"/>
                          </a:solidFill>
                          <a:latin typeface="Calibri"/>
                        </a:rPr>
                        <a:t>Derived from how P is inhabited, never declared. T0 nothing to fit · T1 calibrated · T2 estimated · T3 trained · T4 still training · T5 configured · T6 opaque · T7 elicited · T8 authored.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Fibre</a:t>
                      </a:r>
                    </a:p>
                  </a:txBody>
                  <a:tcPr marL="82296" marR="64008" marT="32004" marB="32004" anchor="ctr">
                    <a:solidFill>
                      <a:srgbClr val="F6F3EF"/>
                    </a:solidFill>
                  </a:tcPr>
                </a:tc>
                <a:tc>
                  <a:txBody>
                    <a:bodyPr wrap="square"/>
                    <a:lstStyle/>
                    <a:p>
                      <a:pPr algn="l"/>
                      <a:r>
                        <a:rPr sz="950" b="0">
                          <a:solidFill>
                            <a:srgbClr val="1C1C1E"/>
                          </a:solidFill>
                          <a:latin typeface="Calibri"/>
                        </a:rPr>
                        <a:t>What one trainability class is given: an evidence schema, a lifecycle, a metric set and a template set. No fibre may be empty (L-15), so a new kind of model is a fibre and nothing else.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Alias</a:t>
                      </a:r>
                    </a:p>
                  </a:txBody>
                  <a:tcPr marL="82296" marR="64008" marT="32004" marB="32004" anchor="ctr">
                    <a:solidFill>
                      <a:srgbClr val="FFFFFF"/>
                    </a:solidFill>
                  </a:tcPr>
                </a:tc>
                <a:tc>
                  <a:txBody>
                    <a:bodyPr wrap="square"/>
                    <a:lstStyle/>
                    <a:p>
                      <a:pPr algn="l"/>
                      <a:r>
                        <a:rPr sz="950" b="0">
                          <a:solidFill>
                            <a:srgbClr val="1C1C1E"/>
                          </a:solidFill>
                          <a:latin typeface="Calibri"/>
                        </a:rPr>
                        <a:t>A governed name — #champion — that points at whichever version is approved today. A consumer holds the alias; it never holds a version.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Operating contract</a:t>
                      </a:r>
                    </a:p>
                  </a:txBody>
                  <a:tcPr marL="82296" marR="64008" marT="32004" marB="32004" anchor="ctr">
                    <a:solidFill>
                      <a:srgbClr val="F6F3EF"/>
                    </a:solidFill>
                  </a:tcPr>
                </a:tc>
                <a:tc>
                  <a:txBody>
                    <a:bodyPr wrap="square"/>
                    <a:lstStyle/>
                    <a:p>
                      <a:pPr algn="l"/>
                      <a:r>
                        <a:rPr sz="950" b="0">
                          <a:solidFill>
                            <a:srgbClr val="1C1C1E"/>
                          </a:solidFill>
                          <a:latin typeface="Calibri"/>
                        </a:rPr>
                        <a:t>The boundary a version was validated inside. A replacement must REFINE it, and a run outside it is refused rather than answered.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Grant, and entitlement</a:t>
                      </a:r>
                    </a:p>
                  </a:txBody>
                  <a:tcPr marL="82296" marR="64008" marT="32004" marB="32004" anchor="ctr">
                    <a:solidFill>
                      <a:srgbClr val="FFFFFF"/>
                    </a:solidFill>
                  </a:tcPr>
                </a:tc>
                <a:tc>
                  <a:txBody>
                    <a:bodyPr wrap="square"/>
                    <a:lstStyle/>
                    <a:p>
                      <a:pPr algn="l"/>
                      <a:r>
                        <a:rPr sz="950" b="0">
                          <a:solidFill>
                            <a:srgbClr val="1C1C1E"/>
                          </a:solidFill>
                          <a:latin typeface="Calibri"/>
                        </a:rPr>
                        <a:t>A grant is the standing entitlement: this principal, this environment, this declared use. A warrant is a short-lived credential minted against one, so revocation has something to bite.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Warrant</a:t>
                      </a:r>
                    </a:p>
                  </a:txBody>
                  <a:tcPr marL="82296" marR="64008" marT="32004" marB="32004" anchor="ctr">
                    <a:solidFill>
                      <a:srgbClr val="F6F3EF"/>
                    </a:solidFill>
                  </a:tcPr>
                </a:tc>
                <a:tc>
                  <a:txBody>
                    <a:bodyPr wrap="square"/>
                    <a:lstStyle/>
                    <a:p>
                      <a:pPr algn="l"/>
                      <a:r>
                        <a:rPr sz="950" b="0">
                          <a:solidFill>
                            <a:srgbClr val="1C1C1E"/>
                          </a:solidFill>
                          <a:latin typeface="Calibri"/>
                        </a:rPr>
                        <a:t>A signed, expiring instruction authorising one act, on one model version, by one principal, for a stated use.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Overlay</a:t>
                      </a:r>
                    </a:p>
                  </a:txBody>
                  <a:tcPr marL="82296" marR="64008" marT="32004" marB="32004" anchor="ctr">
                    <a:solidFill>
                      <a:srgbClr val="FFFFFF"/>
                    </a:solidFill>
                  </a:tcPr>
                </a:tc>
                <a:tc>
                  <a:txBody>
                    <a:bodyPr wrap="square"/>
                    <a:lstStyle/>
                    <a:p>
                      <a:pPr algn="l"/>
                      <a:r>
                        <a:rPr sz="950" b="0">
                          <a:solidFill>
                            <a:srgbClr val="1C1C1E"/>
                          </a:solidFill>
                          <a:latin typeface="Calibri"/>
                        </a:rPr>
                        <a:t>A post-model adjustment to an output. Legitimate briefly; an overlay renewed past its limit is an unversioned model change, and is raised as a finding.</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Lens</a:t>
                      </a:r>
                    </a:p>
                  </a:txBody>
                  <a:tcPr marL="82296" marR="64008" marT="32004" marB="32004" anchor="ctr">
                    <a:solidFill>
                      <a:srgbClr val="F6F3EF"/>
                    </a:solidFill>
                  </a:tcPr>
                </a:tc>
                <a:tc>
                  <a:txBody>
                    <a:bodyPr wrap="square"/>
                    <a:lstStyle/>
                    <a:p>
                      <a:pPr algn="l"/>
                      <a:r>
                        <a:rPr sz="950" b="0">
                          <a:solidFill>
                            <a:srgbClr val="1C1C1E"/>
                          </a:solidFill>
                          <a:latin typeface="Calibri"/>
                        </a:rPr>
                        <a:t>A function from platform state to prose PLUS the evidence it rested on. Documentation sections are lenses rather than templates, so a section cannot describe a state that no longer holds.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Refusal</a:t>
                      </a:r>
                    </a:p>
                  </a:txBody>
                  <a:tcPr marL="82296" marR="64008" marT="32004" marB="32004" anchor="ctr">
                    <a:solidFill>
                      <a:srgbClr val="FFFFFF"/>
                    </a:solidFill>
                  </a:tcPr>
                </a:tc>
                <a:tc>
                  <a:txBody>
                    <a:bodyPr wrap="square"/>
                    <a:lstStyle/>
                    <a:p>
                      <a:pPr algn="l"/>
                      <a:r>
                        <a:rPr sz="950" b="0">
                          <a:solidFill>
                            <a:srgbClr val="1C1C1E"/>
                          </a:solidFill>
                          <a:latin typeface="Calibri"/>
                        </a:rPr>
                        <a:t>A machine-readable “no”: a code, what failed, and what to do about it. Never a bare error.</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Law (L-1…L-21, L-W0…L-W13)</a:t>
                      </a:r>
                    </a:p>
                  </a:txBody>
                  <a:tcPr marL="82296" marR="64008" marT="32004" marB="32004" anchor="ctr">
                    <a:solidFill>
                      <a:srgbClr val="F6F3EF"/>
                    </a:solidFill>
                  </a:tcPr>
                </a:tc>
                <a:tc>
                  <a:txBody>
                    <a:bodyPr wrap="square"/>
                    <a:lstStyle/>
                    <a:p>
                      <a:pPr algn="l"/>
                      <a:r>
                        <a:rPr sz="950" b="0">
                          <a:solidFill>
                            <a:srgbClr val="1C1C1E"/>
                          </a:solidFill>
                          <a:latin typeface="Calibri"/>
                        </a:rPr>
                        <a:t>A stated property with a test that runs. The L-W family are warrant-admissibility 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Semiring</a:t>
                      </a:r>
                    </a:p>
                  </a:txBody>
                  <a:tcPr marL="82296" marR="64008" marT="32004" marB="32004" anchor="ctr">
                    <a:solidFill>
                      <a:srgbClr val="FFFFFF"/>
                    </a:solidFill>
                  </a:tcPr>
                </a:tc>
                <a:tc>
                  <a:txBody>
                    <a:bodyPr wrap="square"/>
                    <a:lstStyle/>
                    <a:p>
                      <a:pPr algn="l"/>
                      <a:r>
                        <a:rPr sz="950" b="0">
                          <a:solidFill>
                            <a:srgbClr val="1C1C1E"/>
                          </a:solidFill>
                          <a:latin typeface="Calibri"/>
                        </a:rPr>
                        <a:t>An algebra with an “add” and a “multiply”. Swapping the pair lets ONE graph traversal answer different questions.</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 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Which is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The argument it makes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
        <p:nvSpPr>
          <p:cNvPr id="15" name="Rectangle 14"/>
          <p:cNvSpPr/>
          <p:nvPr/>
        </p:nvSpPr>
        <p:spPr>
          <a:xfrm>
            <a:off x="6734080" y="4692650"/>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692650"/>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811522"/>
            <a:ext cx="4223174"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naming it that commits the platform to. </a:t>
            </a:r>
            <a:r>
              <a:rPr sz="1050" b="0" i="0">
                <a:solidFill>
                  <a:srgbClr val="1C1C1E"/>
                </a:solidFill>
                <a:latin typeface="Calibri"/>
              </a:rPr>
              <a:t>A rendering gets replaced, so versions are immutable and a governed alias — #champion, pointing at whichever version is approved today — carries the name instead. And it applies to MAYA itself: the platform is a representation of an estate, so its own documentation is compiled from the register rather than written, and the map of the maps cannot drift 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graphicFrame>
        <p:nvGraphicFramePr>
          <p:cNvPr id="10" name="Table 9"/>
          <p:cNvGraphicFramePr>
            <a:graphicFrameLocks noGrp="1"/>
          </p:cNvGraphicFramePr>
          <p:nvPr/>
        </p:nvGraphicFramePr>
        <p:xfrm>
          <a:off x="777240" y="1353312"/>
          <a:ext cx="10637214" cy="3179826"/>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fraud model refitted nightly on its own outcomes</a:t>
                      </a:r>
                    </a:p>
                  </a:txBody>
                  <a:tcPr marL="82296" marR="64008" marT="32004" marB="32004" anchor="ctr">
                    <a:solidFill>
                      <a:srgbClr val="FFFFFF"/>
                    </a:solidFill>
                  </a:tcPr>
                </a:tc>
                <a:tc>
                  <a:txBody>
                    <a:bodyPr wrap="square"/>
                    <a:lstStyle/>
                    <a:p>
                      <a:pPr algn="l"/>
                      <a:r>
                        <a:rPr sz="1000" b="0">
                          <a:solidFill>
                            <a:srgbClr val="1C1C1E"/>
                          </a:solidFill>
                          <a:latin typeface="Calibri"/>
                        </a:rPr>
                        <a:t>a training run that never stops</a:t>
                      </a:r>
                    </a:p>
                  </a:txBody>
                  <a:tcPr marL="82296" marR="64008" marT="32004" marB="32004" anchor="ctr">
                    <a:solidFill>
                      <a:srgbClr val="FFFFFF"/>
                    </a:solidFill>
                  </a:tcPr>
                </a:tc>
                <a:tc>
                  <a:txBody>
                    <a:bodyPr wrap="square"/>
                    <a:lstStyle/>
                    <a:p>
                      <a:pPr algn="l"/>
                      <a:r>
                        <a:rPr sz="1000" b="0">
                          <a:solidFill>
                            <a:srgbClr val="1C1C1E"/>
                          </a:solidFill>
                          <a:latin typeface="Calibri"/>
                        </a:rPr>
                        <a:t>yes, continuously</a:t>
                      </a:r>
                    </a:p>
                  </a:txBody>
                  <a:tcPr marL="82296" marR="64008" marT="32004" marB="32004" anchor="ctr">
                    <a:solidFill>
                      <a:srgbClr val="FFFFFF"/>
                    </a:solidFill>
                  </a:tcPr>
                </a:tc>
                <a:tc>
                  <a:txBody>
                    <a:bodyPr wrap="square"/>
                    <a:lstStyle/>
                    <a:p>
                      <a:pPr algn="l"/>
                      <a:r>
                        <a:rPr sz="1000" b="0">
                          <a:solidFill>
                            <a:srgbClr val="1C1C1E"/>
                          </a:solidFill>
                          <a:latin typeface="Calibri"/>
                        </a:rPr>
                        <a:t>a handful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6F3EF"/>
                    </a:solidFill>
                  </a:tcPr>
                </a:tc>
                <a:tc>
                  <a:txBody>
                    <a:bodyPr wrap="square"/>
                    <a:lstStyle/>
                    <a:p>
                      <a:pPr algn="l"/>
                      <a:r>
                        <a:rPr sz="1000" b="0">
                          <a:solidFill>
                            <a:srgbClr val="1C1C1E"/>
                          </a:solidFill>
                          <a:latin typeface="Calibri"/>
                        </a:rPr>
                        <a:t>a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growing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FFFF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FFFFF"/>
                    </a:solidFill>
                  </a:tcPr>
                </a:tc>
                <a:tc>
                  <a:txBody>
                    <a:bodyPr wrap="square"/>
                    <a:lstStyle/>
                    <a:p>
                      <a:pPr algn="l"/>
                      <a:r>
                        <a:rPr sz="1000" b="0">
                          <a:solidFill>
                            <a:srgbClr val="1C1C1E"/>
                          </a:solidFill>
                          <a:latin typeface="Calibri"/>
                        </a:rPr>
                        <a:t>unknowable</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6F3E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FFFFF"/>
                    </a:solidFill>
                  </a:tcPr>
                </a:tc>
                <a:tc>
                  <a:txBody>
                    <a:bodyPr wrap="square"/>
                    <a:lstStyle/>
                    <a:p>
                      <a:pPr algn="l"/>
                      <a:r>
                        <a:rPr sz="1000" b="0">
                          <a:solidFill>
                            <a:srgbClr val="1C1C1E"/>
                          </a:solidFill>
                          <a:latin typeface="Calibri"/>
                        </a:rPr>
                        <a:t>cells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thousands</a:t>
                      </a:r>
                    </a:p>
                  </a:txBody>
                  <a:tcPr marL="82296" marR="64008" marT="32004" marB="32004" anchor="ctr">
                    <a:solidFill>
                      <a:srgbClr val="FFFFFF"/>
                    </a:solidFill>
                  </a:tcPr>
                </a:tc>
              </a:tr>
            </a:tbl>
          </a:graphicData>
        </a:graphic>
      </p:graphicFrame>
      <p:sp>
        <p:nvSpPr>
          <p:cNvPr id="11" name="Rectangle 10"/>
          <p:cNvSpPr/>
          <p:nvPr/>
        </p:nvSpPr>
        <p:spPr>
          <a:xfrm>
            <a:off x="777240" y="4789170"/>
            <a:ext cx="10637215"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89170"/>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08042"/>
            <a:ext cx="10180015"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“Is it AI?” cuts across this list rather than along it. </a:t>
            </a:r>
            <a:r>
              <a:rPr sz="1050" b="0" i="0">
                <a:solidFill>
                  <a:srgbClr val="1C1C1E"/>
                </a:solidFill>
                <a:latin typeface="Calibri"/>
              </a:rPr>
              <a:t>Black–Scholes and a linear regression land in different buckets, though both have a closed form and only one of them has parameters at all; a linear regression and a language model land in the same one, though one is fitted from eight thousand rows you own and the other is configured around weights somebody else replaces on a Tuesday. One process is then expected to cover all of it, and a checklist with fields that make no sense for half the estate is one people answer “N/A” to until they stop reading the fields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graphicFrame>
        <p:nvGraphicFramePr>
          <p:cNvPr id="10" name="Table 9"/>
          <p:cNvGraphicFramePr>
            <a:graphicFrameLocks noGrp="1"/>
          </p:cNvGraphicFramePr>
          <p:nvPr/>
        </p:nvGraphicFramePr>
        <p:xfrm>
          <a:off x="777240" y="1353312"/>
          <a:ext cx="10637213" cy="3179826"/>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training run that continues after release</a:t>
                      </a:r>
                    </a:p>
                  </a:txBody>
                  <a:tcPr marL="82296" marR="64008" marT="32004" marB="32004" anchor="ctr">
                    <a:solidFill>
                      <a:srgbClr val="FFFFFF"/>
                    </a:solidFill>
                  </a:tcPr>
                </a:tc>
                <a:tc>
                  <a:txBody>
                    <a:bodyPr wrap="square"/>
                    <a:lstStyle/>
                    <a:p>
                      <a:pPr algn="l"/>
                      <a:r>
                        <a:rPr sz="1000" b="0">
                          <a:solidFill>
                            <a:srgbClr val="1C1C1E"/>
                          </a:solidFill>
                          <a:latin typeface="Calibri"/>
                        </a:rPr>
                        <a:t>an adaptive fraud model</a:t>
                      </a:r>
                    </a:p>
                  </a:txBody>
                  <a:tcPr marL="82296" marR="64008" marT="32004" marB="32004" anchor="ctr">
                    <a:solidFill>
                      <a:srgbClr val="FFFFFF"/>
                    </a:solidFill>
                  </a:tcPr>
                </a:tc>
                <a:tc>
                  <a:txBody>
                    <a:bodyPr wrap="square"/>
                    <a:lstStyle/>
                    <a:p>
                      <a:pPr algn="l"/>
                      <a:r>
                        <a:rPr sz="1000" b="0">
                          <a:solidFill>
                            <a:srgbClr val="1C1C1E"/>
                          </a:solidFill>
                          <a:latin typeface="Calibri"/>
                        </a:rPr>
                        <a:t>T4</a:t>
                      </a:r>
                    </a:p>
                  </a:txBody>
                  <a:tcPr marL="82296" marR="64008" marT="32004" marB="32004" anchor="ctr">
                    <a:solidFill>
                      <a:srgbClr val="FFFFFF"/>
                    </a:solidFill>
                  </a:tcPr>
                </a:tc>
                <a:tc>
                  <a:txBody>
                    <a:bodyPr wrap="square"/>
                    <a:lstStyle/>
                    <a:p>
                      <a:pPr algn="l"/>
                      <a:r>
                        <a:rPr sz="1000" b="0">
                          <a:solidFill>
                            <a:srgbClr val="1C1C1E"/>
                          </a:solidFill>
                          <a:latin typeface="Calibri"/>
                        </a:rPr>
                        <a:t>yes — and it never stops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6F3E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6F3EF"/>
                    </a:solidFill>
                  </a:tcPr>
                </a:tc>
                <a:tc>
                  <a:txBody>
                    <a:bodyPr wrap="square"/>
                    <a:lstStyle/>
                    <a:p>
                      <a:pPr algn="l"/>
                      <a:r>
                        <a:rPr sz="1000" b="0">
                          <a:solidFill>
                            <a:srgbClr val="1C1C1E"/>
                          </a:solidFill>
                          <a:latin typeface="Calibri"/>
                        </a:rPr>
                        <a:t>T5</a:t>
                      </a:r>
                    </a:p>
                  </a:txBody>
                  <a:tcPr marL="82296" marR="64008" marT="32004" marB="32004" anchor="ctr">
                    <a:solidFill>
                      <a:srgbClr val="F6F3EF"/>
                    </a:solidFill>
                  </a:tcPr>
                </a:tc>
                <a:tc>
                  <a:txBody>
                    <a:bodyPr wrap="square"/>
                    <a:lstStyle/>
                    <a:p>
                      <a:pPr algn="l"/>
                      <a:r>
                        <a:rPr sz="1000" b="0">
                          <a:solidFill>
                            <a:srgbClr val="1C1C1E"/>
                          </a:solidFill>
                          <a:latin typeface="Calibri"/>
                        </a:rPr>
                        <a:t>configured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rules somebody wrote down</a:t>
                      </a:r>
                    </a:p>
                  </a:txBody>
                  <a:tcPr marL="82296" marR="64008" marT="32004" marB="32004" anchor="ctr">
                    <a:solidFill>
                      <a:srgbClr val="FFFFFF"/>
                    </a:solidFill>
                  </a:tcPr>
                </a:tc>
                <a:tc>
                  <a:txBody>
                    <a:bodyPr wrap="square"/>
                    <a:lstStyle/>
                    <a:p>
                      <a:pPr algn="l"/>
                      <a:r>
                        <a:rPr sz="1000" b="0">
                          <a:solidFill>
                            <a:srgbClr val="1C1C1E"/>
                          </a:solidFill>
                          <a:latin typeface="Calibri"/>
                        </a:rPr>
                        <a:t>an underwriting policy</a:t>
                      </a:r>
                    </a:p>
                  </a:txBody>
                  <a:tcPr marL="82296" marR="64008" marT="32004" marB="32004" anchor="ctr">
                    <a:solidFill>
                      <a:srgbClr val="FFFFFF"/>
                    </a:solidFill>
                  </a:tcPr>
                </a:tc>
                <a:tc>
                  <a:txBody>
                    <a:bodyPr wrap="square"/>
                    <a:lstStyle/>
                    <a:p>
                      <a:pPr algn="l"/>
                      <a:r>
                        <a:rPr sz="1000" b="0">
                          <a:solidFill>
                            <a:srgbClr val="1C1C1E"/>
                          </a:solidFill>
                          <a:latin typeface="Calibri"/>
                        </a:rPr>
                        <a:t>T8</a:t>
                      </a:r>
                    </a:p>
                  </a:txBody>
                  <a:tcPr marL="82296" marR="64008" marT="32004" marB="32004" anchor="ctr">
                    <a:solidFill>
                      <a:srgbClr val="FFFFFF"/>
                    </a:solidFill>
                  </a:tcPr>
                </a:tc>
                <a:tc>
                  <a:txBody>
                    <a:bodyPr wrap="square"/>
                    <a:lstStyle/>
                    <a:p>
                      <a:pPr algn="l"/>
                      <a:r>
                        <a:rPr sz="1000" b="0">
                          <a:solidFill>
                            <a:srgbClr val="1C1C1E"/>
                          </a:solidFill>
                          <a:latin typeface="Calibri"/>
                        </a:rPr>
                        <a:t>authored</a:t>
                      </a:r>
                    </a:p>
                  </a:txBody>
                  <a:tcPr marL="82296" marR="64008" marT="32004" marB="32004" anchor="ctr">
                    <a:solidFill>
                      <a:srgbClr val="FFFFFF"/>
                    </a:solidFill>
                  </a:tcPr>
                </a:tc>
              </a:tr>
            </a:tbl>
          </a:graphicData>
        </a:graphic>
      </p:graphicFrame>
      <p:sp>
        <p:nvSpPr>
          <p:cNvPr id="11" name="Rectangle 10"/>
          <p:cNvSpPr/>
          <p:nvPr/>
        </p:nvSpPr>
        <p:spPr>
          <a:xfrm>
            <a:off x="777240" y="477088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7088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8975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Two facts about the kernel go in — the kind of P and the procedure that inhabits it — and the order of the derivation is the whole of it: opaque is T6 before anything else is asked, a terminal P is T0, and train with adaptive set is T4 rather than T3.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the second line is in the same position as the regulator, reading assertions it cannot check against artefacts it cannot reach. Every design decision in the rest of this deck is downstream of refusing that arrangement.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 and what each one costs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hash-linked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record can only be as good as what was written to it;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of which eighteen are executable and run in the ordinary test suite</a:t>
                      </a:r>
                    </a:p>
                  </a:txBody>
                  <a:tcPr marL="82296" marR="64008" marT="32004" marB="32004" anchor="ctr">
                    <a:solidFill>
                      <a:srgbClr val="F6F3EF"/>
                    </a:solidFill>
                  </a:tcPr>
                </a:tc>
                <a:tc>
                  <a:txBody>
                    <a:bodyPr wrap="square"/>
                    <a:lstStyle/>
                    <a:p>
                      <a:pPr algn="l"/>
                      <a:r>
                        <a:rPr sz="1000" b="0">
                          <a:solidFill>
                            <a:srgbClr val="1C1C1E"/>
                          </a:solidFill>
                          <a:latin typeface="Calibri"/>
                        </a:rPr>
                        <a:t>three do not run; the rest run on every push and a failing one fails the build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risk 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 Two of the five are worked out on their own slide next — the first, because it decides the whole architecture, and the third, because it is the one people find strange. The other three are argued where they bite, in chapters 7, 8 and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REFUSALS ARE LOAD-BEARING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Nine things it will not build, and what each one protects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764792"/>
          <a:ext cx="10637214" cy="3415741"/>
        </p:xfrm>
        <a:graphic>
          <a:graphicData uri="http://schemas.openxmlformats.org/drawingml/2006/table">
            <a:tbl>
              <a:tblPr firstRow="1">
                <a:tableStyleId>{5C22544A-7EE6-4342-B048-85BDC9FD1C3A}</a:tableStyleId>
              </a:tblPr>
              <a:tblGrid>
                <a:gridCol w="2102939"/>
                <a:gridCol w="4205878"/>
                <a:gridCol w="4328397"/>
              </a:tblGrid>
              <a:tr h="329184">
                <a:tc>
                  <a:txBody>
                    <a:bodyPr wrap="square"/>
                    <a:lstStyle/>
                    <a:p>
                      <a:pPr algn="l"/>
                      <a:r>
                        <a:rPr sz="950" b="1">
                          <a:solidFill>
                            <a:srgbClr val="FFFFFF"/>
                          </a:solidFill>
                          <a:latin typeface="Calibri"/>
                        </a:rPr>
                        <a:t>Asked for</a:t>
                      </a:r>
                    </a:p>
                  </a:txBody>
                  <a:tcPr marL="82296" marR="64008" marT="32004" marB="32004" anchor="ctr">
                    <a:solidFill>
                      <a:srgbClr val="A51C30"/>
                    </a:solidFill>
                  </a:tcPr>
                </a:tc>
                <a:tc>
                  <a:txBody>
                    <a:bodyPr wrap="square"/>
                    <a:lstStyle/>
                    <a:p>
                      <a:pPr algn="l"/>
                      <a:r>
                        <a:rPr sz="950" b="1">
                          <a:solidFill>
                            <a:srgbClr val="FFFFFF"/>
                          </a:solidFill>
                          <a:latin typeface="Calibri"/>
                        </a:rPr>
                        <a:t>Refused because</a:t>
                      </a:r>
                    </a:p>
                  </a:txBody>
                  <a:tcPr marL="82296" marR="64008" marT="32004" marB="32004" anchor="ctr">
                    <a:solidFill>
                      <a:srgbClr val="A51C30"/>
                    </a:solidFill>
                  </a:tcPr>
                </a:tc>
                <a:tc>
                  <a:txBody>
                    <a:bodyPr wrap="square"/>
                    <a:lstStyle/>
                    <a:p>
                      <a:pPr algn="l"/>
                      <a:r>
                        <a:rPr sz="950" b="1">
                          <a:solidFill>
                            <a:srgbClr val="FFFFFF"/>
                          </a:solidFill>
                          <a:latin typeface="Calibri"/>
                        </a:rPr>
                        <a:t>What would stop meaning anything</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Managed serving</a:t>
                      </a:r>
                    </a:p>
                  </a:txBody>
                  <a:tcPr marL="82296" marR="64008" marT="32004" marB="32004" anchor="ctr">
                    <a:solidFill>
                      <a:srgbClr val="FFFFFF"/>
                    </a:solidFill>
                  </a:tcPr>
                </a:tc>
                <a:tc>
                  <a:txBody>
                    <a:bodyPr wrap="square"/>
                    <a:lstStyle/>
                    <a:p>
                      <a:pPr algn="l"/>
                      <a:r>
                        <a:rPr sz="900" b="0">
                          <a:solidFill>
                            <a:srgbClr val="1C1C1E"/>
                          </a:solidFill>
                          <a:latin typeface="Calibri"/>
                        </a:rPr>
                        <a:t>the register and the runtime would be one process — and one that argues a warrant survives its own unavailability</a:t>
                      </a:r>
                    </a:p>
                  </a:txBody>
                  <a:tcPr marL="82296" marR="64008" marT="32004" marB="32004" anchor="ctr">
                    <a:solidFill>
                      <a:srgbClr val="FFFFFF"/>
                    </a:solidFill>
                  </a:tcPr>
                </a:tc>
                <a:tc>
                  <a:txBody>
                    <a:bodyPr wrap="square"/>
                    <a:lstStyle/>
                    <a:p>
                      <a:pPr algn="l"/>
                      <a:r>
                        <a:rPr sz="900" b="0">
                          <a:solidFill>
                            <a:srgbClr val="1C1C1E"/>
                          </a:solidFill>
                          <a:latin typeface="Calibri"/>
                        </a:rPr>
                        <a:t>every claim to be an independent record of execution</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Convert an artifact</a:t>
                      </a:r>
                    </a:p>
                  </a:txBody>
                  <a:tcPr marL="82296" marR="64008" marT="32004" marB="32004" anchor="ctr">
                    <a:solidFill>
                      <a:srgbClr val="F6F3EF"/>
                    </a:solidFill>
                  </a:tcPr>
                </a:tc>
                <a:tc>
                  <a:txBody>
                    <a:bodyPr wrap="square"/>
                    <a:lstStyle/>
                    <a:p>
                      <a:pPr algn="l"/>
                      <a:r>
                        <a:rPr sz="900" b="0">
                          <a:solidFill>
                            <a:srgbClr val="1C1C1E"/>
                          </a:solidFill>
                          <a:latin typeface="Calibri"/>
                        </a:rPr>
                        <a:t>converting means loading and running a model</a:t>
                      </a:r>
                    </a:p>
                  </a:txBody>
                  <a:tcPr marL="82296" marR="64008" marT="32004" marB="32004" anchor="ctr">
                    <a:solidFill>
                      <a:srgbClr val="F6F3EF"/>
                    </a:solidFill>
                  </a:tcPr>
                </a:tc>
                <a:tc>
                  <a:txBody>
                    <a:bodyPr wrap="square"/>
                    <a:lstStyle/>
                    <a:p>
                      <a:pPr algn="l"/>
                      <a:r>
                        <a:rPr sz="900" b="0">
                          <a:solidFill>
                            <a:srgbClr val="1C1C1E"/>
                          </a:solidFill>
                          <a:latin typeface="Calibri"/>
                        </a:rPr>
                        <a:t>the equivalence claim it holds to a standard</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Submit training jobs</a:t>
                      </a:r>
                    </a:p>
                  </a:txBody>
                  <a:tcPr marL="82296" marR="64008" marT="32004" marB="32004" anchor="ctr">
                    <a:solidFill>
                      <a:srgbClr val="FFFFFF"/>
                    </a:solidFill>
                  </a:tcPr>
                </a:tc>
                <a:tc>
                  <a:txBody>
                    <a:bodyPr wrap="square"/>
                    <a:lstStyle/>
                    <a:p>
                      <a:pPr algn="l"/>
                      <a:r>
                        <a:rPr sz="900" b="0">
                          <a:solidFill>
                            <a:srgbClr val="1C1C1E"/>
                          </a:solidFill>
                          <a:latin typeface="Calibri"/>
                        </a:rPr>
                        <a:t>the register would be on the failure path of what it observes</a:t>
                      </a:r>
                    </a:p>
                  </a:txBody>
                  <a:tcPr marL="82296" marR="64008" marT="32004" marB="32004" anchor="ctr">
                    <a:solidFill>
                      <a:srgbClr val="FFFFFF"/>
                    </a:solidFill>
                  </a:tcPr>
                </a:tc>
                <a:tc>
                  <a:txBody>
                    <a:bodyPr wrap="square"/>
                    <a:lstStyle/>
                    <a:p>
                      <a:pPr algn="l"/>
                      <a:r>
                        <a:rPr sz="900" b="0">
                          <a:solidFill>
                            <a:srgbClr val="1C1C1E"/>
                          </a:solidFill>
                          <a:latin typeface="Calibri"/>
                        </a:rPr>
                        <a:t>the run register as an account of somebody else's work</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Accept a `passed` flag</a:t>
                      </a:r>
                    </a:p>
                  </a:txBody>
                  <a:tcPr marL="82296" marR="64008" marT="32004" marB="32004" anchor="ctr">
                    <a:solidFill>
                      <a:srgbClr val="F6F3EF"/>
                    </a:solidFill>
                  </a:tcPr>
                </a:tc>
                <a:tc>
                  <a:txBody>
                    <a:bodyPr wrap="square"/>
                    <a:lstStyle/>
                    <a:p>
                      <a:pPr algn="l"/>
                      <a:r>
                        <a:rPr sz="900" b="0">
                          <a:solidFill>
                            <a:srgbClr val="1C1C1E"/>
                          </a:solidFill>
                          <a:latin typeface="Calibri"/>
                        </a:rPr>
                        <a:t>whoever computed the number would set the pass mark</a:t>
                      </a:r>
                    </a:p>
                  </a:txBody>
                  <a:tcPr marL="82296" marR="64008" marT="32004" marB="32004" anchor="ctr">
                    <a:solidFill>
                      <a:srgbClr val="F6F3EF"/>
                    </a:solidFill>
                  </a:tcPr>
                </a:tc>
                <a:tc>
                  <a:txBody>
                    <a:bodyPr wrap="square"/>
                    <a:lstStyle/>
                    <a:p>
                      <a:pPr algn="l"/>
                      <a:r>
                        <a:rPr sz="900" b="0">
                          <a:solidFill>
                            <a:srgbClr val="1C1C1E"/>
                          </a:solidFill>
                          <a:latin typeface="Calibri"/>
                        </a:rPr>
                        <a:t>the threshold this firm's second line set</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Recommend promotion</a:t>
                      </a:r>
                    </a:p>
                  </a:txBody>
                  <a:tcPr marL="82296" marR="64008" marT="32004" marB="32004" anchor="ctr">
                    <a:solidFill>
                      <a:srgbClr val="FFFFFF"/>
                    </a:solidFill>
                  </a:tcPr>
                </a:tc>
                <a:tc>
                  <a:txBody>
                    <a:bodyPr wrap="square"/>
                    <a:lstStyle/>
                    <a:p>
                      <a:pPr algn="l"/>
                      <a:r>
                        <a:rPr sz="900" b="0">
                          <a:solidFill>
                            <a:srgbClr val="1C1C1E"/>
                          </a:solidFill>
                          <a:latin typeface="Calibri"/>
                        </a:rPr>
                        <a:t>it would pre-empt the approval it is evidence for</a:t>
                      </a:r>
                    </a:p>
                  </a:txBody>
                  <a:tcPr marL="82296" marR="64008" marT="32004" marB="32004" anchor="ctr">
                    <a:solidFill>
                      <a:srgbClr val="FFFFFF"/>
                    </a:solidFill>
                  </a:tcPr>
                </a:tc>
                <a:tc>
                  <a:txBody>
                    <a:bodyPr wrap="square"/>
                    <a:lstStyle/>
                    <a:p>
                      <a:pPr algn="l"/>
                      <a:r>
                        <a:rPr sz="900" b="0">
                          <a:solidFill>
                            <a:srgbClr val="1C1C1E"/>
                          </a:solidFill>
                          <a:latin typeface="Calibri"/>
                        </a:rPr>
                        <a:t>the second-line approval itself</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Edit a compiled document</a:t>
                      </a:r>
                    </a:p>
                  </a:txBody>
                  <a:tcPr marL="82296" marR="64008" marT="32004" marB="32004" anchor="ctr">
                    <a:solidFill>
                      <a:srgbClr val="F6F3EF"/>
                    </a:solidFill>
                  </a:tcPr>
                </a:tc>
                <a:tc>
                  <a:txBody>
                    <a:bodyPr wrap="square"/>
                    <a:lstStyle/>
                    <a:p>
                      <a:pPr algn="l"/>
                      <a:r>
                        <a:rPr sz="900" b="0">
                          <a:solidFill>
                            <a:srgbClr val="1C1C1E"/>
                          </a:solidFill>
                          <a:latin typeface="Calibri"/>
                        </a:rPr>
                        <a:t>every sentence cites a node; the prose would outlive the citation</a:t>
                      </a:r>
                    </a:p>
                  </a:txBody>
                  <a:tcPr marL="82296" marR="64008" marT="32004" marB="32004" anchor="ctr">
                    <a:solidFill>
                      <a:srgbClr val="F6F3EF"/>
                    </a:solidFill>
                  </a:tcPr>
                </a:tc>
                <a:tc>
                  <a:txBody>
                    <a:bodyPr wrap="square"/>
                    <a:lstStyle/>
                    <a:p>
                      <a:pPr algn="l"/>
                      <a:r>
                        <a:rPr sz="900" b="0">
                          <a:solidFill>
                            <a:srgbClr val="1C1C1E"/>
                          </a:solidFill>
                          <a:latin typeface="Calibri"/>
                        </a:rPr>
                        <a:t>traceability of every sentence in it</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Configure the state graph</a:t>
                      </a:r>
                    </a:p>
                  </a:txBody>
                  <a:tcPr marL="82296" marR="64008" marT="32004" marB="32004" anchor="ctr">
                    <a:solidFill>
                      <a:srgbClr val="FFFFFF"/>
                    </a:solidFill>
                  </a:tcPr>
                </a:tc>
                <a:tc>
                  <a:txBody>
                    <a:bodyPr wrap="square"/>
                    <a:lstStyle/>
                    <a:p>
                      <a:pPr algn="l"/>
                      <a:r>
                        <a:rPr sz="900" b="0">
                          <a:solidFill>
                            <a:srgbClr val="1C1C1E"/>
                          </a:solidFill>
                          <a:latin typeface="Calibri"/>
                        </a:rPr>
                        <a:t>a firm could add a transition that skips approval</a:t>
                      </a:r>
                    </a:p>
                  </a:txBody>
                  <a:tcPr marL="82296" marR="64008" marT="32004" marB="32004" anchor="ctr">
                    <a:solidFill>
                      <a:srgbClr val="FFFFFF"/>
                    </a:solidFill>
                  </a:tcPr>
                </a:tc>
                <a:tc>
                  <a:txBody>
                    <a:bodyPr wrap="square"/>
                    <a:lstStyle/>
                    <a:p>
                      <a:pPr algn="l"/>
                      <a:r>
                        <a:rPr sz="900" b="0">
                          <a:solidFill>
                            <a:srgbClr val="1C1C1E"/>
                          </a:solidFill>
                          <a:latin typeface="Calibri"/>
                        </a:rPr>
                        <a:t>'approved' meaning the same in two institutions</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Sign artifacts</a:t>
                      </a:r>
                    </a:p>
                  </a:txBody>
                  <a:tcPr marL="82296" marR="64008" marT="32004" marB="32004" anchor="ctr">
                    <a:solidFill>
                      <a:srgbClr val="F6F3EF"/>
                    </a:solidFill>
                  </a:tcPr>
                </a:tc>
                <a:tc>
                  <a:txBody>
                    <a:bodyPr wrap="square"/>
                    <a:lstStyle/>
                    <a:p>
                      <a:pPr algn="l"/>
                      <a:r>
                        <a:rPr sz="900" b="0">
                          <a:solidFill>
                            <a:srgbClr val="1C1C1E"/>
                          </a:solidFill>
                          <a:latin typeface="Calibri"/>
                        </a:rPr>
                        <a:t>the platform would hold the key that could forge one</a:t>
                      </a:r>
                    </a:p>
                  </a:txBody>
                  <a:tcPr marL="82296" marR="64008" marT="32004" marB="32004" anchor="ctr">
                    <a:solidFill>
                      <a:srgbClr val="F6F3EF"/>
                    </a:solidFill>
                  </a:tcPr>
                </a:tc>
                <a:tc>
                  <a:txBody>
                    <a:bodyPr wrap="square"/>
                    <a:lstStyle/>
                    <a:p>
                      <a:pPr algn="l"/>
                      <a:r>
                        <a:rPr sz="900" b="0">
                          <a:solidFill>
                            <a:srgbClr val="1C1C1E"/>
                          </a:solidFill>
                          <a:latin typeface="Calibri"/>
                        </a:rPr>
                        <a:t>the provenance check, verifying its own signature</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Hide the cheap remediation</a:t>
                      </a:r>
                    </a:p>
                  </a:txBody>
                  <a:tcPr marL="82296" marR="64008" marT="32004" marB="32004" anchor="ctr">
                    <a:solidFill>
                      <a:srgbClr val="FFFFFF"/>
                    </a:solidFill>
                  </a:tcPr>
                </a:tc>
                <a:tc>
                  <a:txBody>
                    <a:bodyPr wrap="square"/>
                    <a:lstStyle/>
                    <a:p>
                      <a:pPr algn="l"/>
                      <a:r>
                        <a:rPr sz="900" b="0">
                          <a:solidFill>
                            <a:srgbClr val="1C1C1E"/>
                          </a:solidFill>
                          <a:latin typeface="Calibri"/>
                        </a:rPr>
                        <a:t>a solver with no view on KIND recommends the waiver every time</a:t>
                      </a:r>
                    </a:p>
                  </a:txBody>
                  <a:tcPr marL="82296" marR="64008" marT="32004" marB="32004" anchor="ctr">
                    <a:solidFill>
                      <a:srgbClr val="FFFFFF"/>
                    </a:solidFill>
                  </a:tcPr>
                </a:tc>
                <a:tc>
                  <a:txBody>
                    <a:bodyPr wrap="square"/>
                    <a:lstStyle/>
                    <a:p>
                      <a:pPr algn="l"/>
                      <a:r>
                        <a:rPr sz="900" b="0">
                          <a:solidFill>
                            <a:srgbClr val="1C1C1E"/>
                          </a:solidFill>
                          <a:latin typeface="Calibri"/>
                        </a:rPr>
                        <a:t>the difference between safe and looking compliant</a:t>
                      </a:r>
                    </a:p>
                  </a:txBody>
                  <a:tcPr marL="82296" marR="64008" marT="32004" marB="32004" anchor="ctr">
                    <a:solidFill>
                      <a:srgbClr val="FFFFFF"/>
                    </a:solidFill>
                  </a:tcPr>
                </a:tc>
              </a:tr>
            </a:tbl>
          </a:graphicData>
        </a:graphic>
      </p:graphicFrame>
      <p:sp>
        <p:nvSpPr>
          <p:cNvPr id="11" name="Rectangle 10"/>
          <p:cNvSpPr/>
          <p:nvPr/>
        </p:nvSpPr>
        <p:spPr>
          <a:xfrm>
            <a:off x="777240" y="5363413"/>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63413"/>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482285"/>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sentence underneath all nine. </a:t>
            </a:r>
            <a:r>
              <a:rPr sz="1050" b="0" i="0">
                <a:solidFill>
                  <a:srgbClr val="1C1C1E"/>
                </a:solidFill>
                <a:latin typeface="Calibri"/>
              </a:rPr>
              <a:t>A platform that both authorises an act and performs it is the only witness to its own execution. Every row above is that sentence applied to a different request — and the useful question when evaluating a governance platform is not what it can do, but what it declines to do and whether the answer is about architecture or about a roadmap.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SERVING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name</a:t>
            </a:r>
          </a:p>
          <a:p>
            <a:pPr>
              <a:lnSpc>
                <a:spcPct val="115000"/>
              </a:lnSpc>
              <a:spcBef>
                <a:spcPts val="0"/>
              </a:spcBef>
              <a:spcAft>
                <a:spcPts val="600"/>
              </a:spcAft>
            </a:pPr>
            <a:r>
              <a:rPr sz="850" b="0" i="0">
                <a:solidFill>
                  <a:srgbClr val="4A4F57"/>
                </a:solidFill>
                <a:latin typeface="Calibri"/>
              </a:rPr>
              <a:t>maya://model/credit.pd.smallbiz#champion — an alias,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The name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the caller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already-authorised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Nobody redeploys to promote a version, because no consumer ever held one. </a:t>
            </a:r>
            <a:r>
              <a:rPr sz="1050" b="0" i="0">
                <a:solidFill>
                  <a:srgbClr val="1C1C1E"/>
                </a:solidFill>
                <a:latin typeface="Calibri"/>
              </a:rPr>
              <a:t>Revocation bites when the current warrant expires — sixty seconds for a Tier 1 model. And an open blocking finding stops the name resolving at all, so a validation finding stops the model rather than generating an email somebody files.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595684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 has no</a:t>
            </a:r>
          </a:p>
          <a:p>
            <a:pPr>
              <a:lnSpc>
                <a:spcPct val="134000"/>
              </a:lnSpc>
              <a:spcBef>
                <a:spcPts val="0"/>
              </a:spcBef>
              <a:spcAft>
                <a:spcPts val="0"/>
              </a:spcAft>
            </a:pPr>
            <a:r>
              <a:rPr sz="950" b="0" i="0">
                <a:solidFill>
                  <a:srgbClr val="1C1C1E"/>
                </a:solidFill>
                <a:latin typeface="Consolas"/>
              </a:rPr>
              <a:t>                 parameters, so there is no point of P to move to",</a:t>
            </a:r>
          </a:p>
          <a:p>
            <a:pPr>
              <a:lnSpc>
                <a:spcPct val="134000"/>
              </a:lnSpc>
              <a:spcBef>
                <a:spcPts val="0"/>
              </a:spcBef>
              <a:spcAft>
                <a:spcPts val="0"/>
              </a:spcAft>
            </a:pPr>
            <a:r>
              <a:rPr sz="950" b="0" i="0">
                <a:solidFill>
                  <a:srgbClr val="1C1C1E"/>
                </a:solidFill>
                <a:latin typeface="Consolas"/>
              </a:rPr>
              <a:t> "remediation": "if this model does have parameters, the version</a:t>
            </a:r>
          </a:p>
          <a:p>
            <a:pPr>
              <a:lnSpc>
                <a:spcPct val="134000"/>
              </a:lnSpc>
              <a:spcBef>
                <a:spcPts val="0"/>
              </a:spcBef>
              <a:spcAft>
                <a:spcPts val="0"/>
              </a:spcAft>
            </a:pPr>
            <a:r>
              <a:rPr sz="950" b="0" i="0">
                <a:solidFill>
                  <a:srgbClr val="1C1C1E"/>
                </a:solidFill>
                <a:latin typeface="Consolas"/>
              </a:rPr>
              <a:t>                 declares the wrong parameter 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and it says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it does not say: “no”. It names the fact that made the request meaningless, and points at the version rather than the request — because that is where the error is.</a:t>
            </a:r>
          </a:p>
        </p:txBody>
      </p:sp>
      <p:sp>
        <p:nvSpPr>
          <p:cNvPr id="15" name="Rectangle 14"/>
          <p:cNvSpPr/>
          <p:nvPr/>
        </p:nvSpPr>
        <p:spPr>
          <a:xfrm>
            <a:off x="777240" y="3416792"/>
            <a:ext cx="5956840"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4167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535664"/>
            <a:ext cx="5499640"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Chapter 15 collects every refusal it can issue; they are the clearest statement of what the design believes.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BASELINE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model risk costs before anybody buys anything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6–15%</a:t>
            </a:r>
          </a:p>
        </p:txBody>
      </p:sp>
      <p:sp>
        <p:nvSpPr>
          <p:cNvPr id="13" name="TextBox 12"/>
          <p:cNvSpPr txBox="1"/>
          <p:nvPr/>
        </p:nvSpPr>
        <p:spPr>
          <a:xfrm>
            <a:off x="978408"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large bank's operational risk capital is model risk, and it is the fastest-growing component</a:t>
            </a:r>
          </a:p>
        </p:txBody>
      </p:sp>
      <p:sp>
        <p:nvSpPr>
          <p:cNvPr id="14" name="Rectangle 13"/>
          <p:cNvSpPr/>
          <p:nvPr/>
        </p:nvSpPr>
        <p:spPr>
          <a:xfrm>
            <a:off x="4390034"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4390034"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4591202"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30–60</a:t>
            </a:r>
          </a:p>
        </p:txBody>
      </p:sp>
      <p:sp>
        <p:nvSpPr>
          <p:cNvPr id="17" name="TextBox 16"/>
          <p:cNvSpPr txBox="1"/>
          <p:nvPr/>
        </p:nvSpPr>
        <p:spPr>
          <a:xfrm>
            <a:off x="4591202"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FTE in a mid-size bank's model risk function, most of it clerical: chasing evidence, reformatting it, chasing it again</a:t>
            </a:r>
          </a:p>
        </p:txBody>
      </p:sp>
      <p:sp>
        <p:nvSpPr>
          <p:cNvPr id="18" name="Rectangle 17"/>
          <p:cNvSpPr/>
          <p:nvPr/>
        </p:nvSpPr>
        <p:spPr>
          <a:xfrm>
            <a:off x="8002828"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8002828"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8203996"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2–5</a:t>
            </a:r>
          </a:p>
        </p:txBody>
      </p:sp>
      <p:sp>
        <p:nvSpPr>
          <p:cNvPr id="21" name="TextBox 20"/>
          <p:cNvSpPr txBox="1"/>
          <p:nvPr/>
        </p:nvSpPr>
        <p:spPr>
          <a:xfrm>
            <a:off x="8203996"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separate inventories at most banks — GRC, MLOps, and a spreadsheet — which disagree, and the disagreement is the finding</a:t>
            </a:r>
          </a:p>
        </p:txBody>
      </p:sp>
      <p:sp>
        <p:nvSpPr>
          <p:cNvPr id="22" name="Rectangle 21"/>
          <p:cNvSpPr/>
          <p:nvPr/>
        </p:nvSpPr>
        <p:spPr>
          <a:xfrm>
            <a:off x="777240" y="267919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267919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279806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these is MAYA's number. </a:t>
            </a:r>
            <a:r>
              <a:rPr sz="1050" b="0" i="0">
                <a:solidFill>
                  <a:srgbClr val="1C1C1E"/>
                </a:solidFill>
                <a:latin typeface="Calibri"/>
              </a:rPr>
              <a:t>They are the industry's, sourced in chapter 2, and they are the baseline any option is measured against — including doing nothing. The honest form of this slide is that the expensive thing is already happening: a validator spending sixty per cent of their week assembling evidence is a cost the bank pays whether or not it buys a platform, and it does not appear in anybody's software budget.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BUILD OR BUY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option costs, and what it leaves you holding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764792"/>
          <a:ext cx="10637214" cy="3474720"/>
        </p:xfrm>
        <a:graphic>
          <a:graphicData uri="http://schemas.openxmlformats.org/drawingml/2006/table">
            <a:tbl>
              <a:tblPr firstRow="1">
                <a:tableStyleId>{5C22544A-7EE6-4342-B048-85BDC9FD1C3A}</a:tableStyleId>
              </a:tblPr>
              <a:tblGrid>
                <a:gridCol w="2742964"/>
                <a:gridCol w="2742964"/>
                <a:gridCol w="5151286"/>
              </a:tblGrid>
              <a:tr h="329184">
                <a:tc>
                  <a:txBody>
                    <a:bodyPr wrap="square"/>
                    <a:lstStyle/>
                    <a:p>
                      <a:pPr algn="l"/>
                      <a:r>
                        <a:rPr sz="1000" b="1">
                          <a:solidFill>
                            <a:srgbClr val="FFFFFF"/>
                          </a:solidFill>
                          <a:latin typeface="Calibri"/>
                        </a:rPr>
                        <a:t>Option</a:t>
                      </a:r>
                    </a:p>
                  </a:txBody>
                  <a:tcPr marL="82296" marR="64008" marT="32004" marB="32004" anchor="ctr">
                    <a:solidFill>
                      <a:srgbClr val="A51C30"/>
                    </a:solidFill>
                  </a:tcPr>
                </a:tc>
                <a:tc>
                  <a:txBody>
                    <a:bodyPr wrap="square"/>
                    <a:lstStyle/>
                    <a:p>
                      <a:pPr algn="l"/>
                      <a:r>
                        <a:rPr sz="1000" b="1">
                          <a:solidFill>
                            <a:srgbClr val="FFFFFF"/>
                          </a:solidFill>
                          <a:latin typeface="Calibri"/>
                        </a:rPr>
                        <a:t>Order of cost</a:t>
                      </a:r>
                    </a:p>
                  </a:txBody>
                  <a:tcPr marL="82296" marR="64008" marT="32004" marB="32004" anchor="ctr">
                    <a:solidFill>
                      <a:srgbClr val="A51C30"/>
                    </a:solidFill>
                  </a:tcPr>
                </a:tc>
                <a:tc>
                  <a:txBody>
                    <a:bodyPr wrap="square"/>
                    <a:lstStyle/>
                    <a:p>
                      <a:pPr algn="l"/>
                      <a:r>
                        <a:rPr sz="1000" b="1">
                          <a:solidFill>
                            <a:srgbClr val="FFFFFF"/>
                          </a:solidFill>
                          <a:latin typeface="Calibri"/>
                        </a:rPr>
                        <a:t>What you still do not have</a:t>
                      </a:r>
                    </a:p>
                  </a:txBody>
                  <a:tcPr marL="82296" marR="64008" marT="32004" marB="32004" anchor="ctr">
                    <a:solidFill>
                      <a:srgbClr val="A51C30"/>
                    </a:solidFill>
                  </a:tcPr>
                </a:tc>
              </a:tr>
              <a:tr h="786384">
                <a:tc>
                  <a:txBody>
                    <a:bodyPr wrap="square"/>
                    <a:lstStyle/>
                    <a:p>
                      <a:pPr algn="l"/>
                      <a:r>
                        <a:rPr sz="950" b="1">
                          <a:solidFill>
                            <a:srgbClr val="A51C30"/>
                          </a:solidFill>
                          <a:latin typeface="Calibri"/>
                        </a:rPr>
                        <a:t>Buy a GRC/MRM platform
OpenPages, SAS MRM,
ValidMind, ModelOp</a:t>
                      </a:r>
                    </a:p>
                  </a:txBody>
                  <a:tcPr marL="82296" marR="64008" marT="32004" marB="32004" anchor="ctr">
                    <a:solidFill>
                      <a:srgbClr val="FFFFFF"/>
                    </a:solidFill>
                  </a:tcPr>
                </a:tc>
                <a:tc>
                  <a:txBody>
                    <a:bodyPr wrap="square"/>
                    <a:lstStyle/>
                    <a:p>
                      <a:pPr algn="l"/>
                      <a:r>
                        <a:rPr sz="950" b="0">
                          <a:solidFill>
                            <a:srgbClr val="1C1C1E"/>
                          </a:solidFill>
                          <a:latin typeface="Calibri"/>
                        </a:rPr>
                        <a:t>£0.4–1.2m licence a year,
plus 6–18 months of
implementation</a:t>
                      </a:r>
                    </a:p>
                  </a:txBody>
                  <a:tcPr marL="82296" marR="64008" marT="32004" marB="32004" anchor="ctr">
                    <a:solidFill>
                      <a:srgbClr val="FFFFFF"/>
                    </a:solidFill>
                  </a:tcPr>
                </a:tc>
                <a:tc>
                  <a:txBody>
                    <a:bodyPr wrap="square"/>
                    <a:lstStyle/>
                    <a:p>
                      <a:pPr algn="l"/>
                      <a:r>
                        <a:rPr sz="950" b="0">
                          <a:solidFill>
                            <a:srgbClr val="1C1C1E"/>
                          </a:solidFill>
                          <a:latin typeface="Calibri"/>
                        </a:rPr>
                        <a:t>No artifact binding, no feature management, no warrants, no coverage of the quant or EUC estate. A second and third system alongside it</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Buy an MLOps platform
Databricks, Domino,
DataRobot</a:t>
                      </a:r>
                    </a:p>
                  </a:txBody>
                  <a:tcPr marL="82296" marR="64008" marT="32004" marB="32004" anchor="ctr">
                    <a:solidFill>
                      <a:srgbClr val="F6F3EF"/>
                    </a:solidFill>
                  </a:tcPr>
                </a:tc>
                <a:tc>
                  <a:txBody>
                    <a:bodyPr wrap="square"/>
                    <a:lstStyle/>
                    <a:p>
                      <a:pPr algn="l"/>
                      <a:r>
                        <a:rPr sz="950" b="0">
                          <a:solidFill>
                            <a:srgbClr val="1C1C1E"/>
                          </a:solidFill>
                          <a:latin typeface="Calibri"/>
                        </a:rPr>
                        <a:t>£0.5–2m a year, usually
already being paid for
other reasons</a:t>
                      </a:r>
                    </a:p>
                  </a:txBody>
                  <a:tcPr marL="82296" marR="64008" marT="32004" marB="32004" anchor="ctr">
                    <a:solidFill>
                      <a:srgbClr val="F6F3EF"/>
                    </a:solidFill>
                  </a:tcPr>
                </a:tc>
                <a:tc>
                  <a:txBody>
                    <a:bodyPr wrap="square"/>
                    <a:lstStyle/>
                    <a:p>
                      <a:pPr algn="l"/>
                      <a:r>
                        <a:rPr sz="950" b="0">
                          <a:solidFill>
                            <a:srgbClr val="1C1C1E"/>
                          </a:solidFill>
                          <a:latin typeface="Calibri"/>
                        </a:rPr>
                        <a:t>No MRM domain objects, no multi-regime scoping, no overlays, no findings. The ML subset is a minority of the estate</a:t>
                      </a:r>
                    </a:p>
                  </a:txBody>
                  <a:tcPr marL="82296" marR="64008" marT="32004" marB="32004" anchor="ctr">
                    <a:solidFill>
                      <a:srgbClr val="F6F3EF"/>
                    </a:solidFill>
                  </a:tcPr>
                </a:tc>
              </a:tr>
              <a:tr h="786384">
                <a:tc>
                  <a:txBody>
                    <a:bodyPr wrap="square"/>
                    <a:lstStyle/>
                    <a:p>
                      <a:pPr algn="l"/>
                      <a:r>
                        <a:rPr sz="950" b="1">
                          <a:solidFill>
                            <a:srgbClr val="A51C30"/>
                          </a:solidFill>
                          <a:latin typeface="Calibri"/>
                        </a:rPr>
                        <a:t>Buy both and integrate</a:t>
                      </a:r>
                    </a:p>
                  </a:txBody>
                  <a:tcPr marL="82296" marR="64008" marT="32004" marB="32004" anchor="ctr">
                    <a:solidFill>
                      <a:srgbClr val="FFFFFF"/>
                    </a:solidFill>
                  </a:tcPr>
                </a:tc>
                <a:tc>
                  <a:txBody>
                    <a:bodyPr wrap="square"/>
                    <a:lstStyle/>
                    <a:p>
                      <a:pPr algn="l"/>
                      <a:r>
                        <a:rPr sz="950" b="0">
                          <a:solidFill>
                            <a:srgbClr val="1C1C1E"/>
                          </a:solidFill>
                          <a:latin typeface="Calibri"/>
                        </a:rPr>
                        <a:t>The sum of the two, plus
an integration nobody owns</a:t>
                      </a:r>
                    </a:p>
                  </a:txBody>
                  <a:tcPr marL="82296" marR="64008" marT="32004" marB="32004" anchor="ctr">
                    <a:solidFill>
                      <a:srgbClr val="FFFFFF"/>
                    </a:solidFill>
                  </a:tcPr>
                </a:tc>
                <a:tc>
                  <a:txBody>
                    <a:bodyPr wrap="square"/>
                    <a:lstStyle/>
                    <a:p>
                      <a:pPr algn="l"/>
                      <a:r>
                        <a:rPr sz="950" b="0">
                          <a:solidFill>
                            <a:srgbClr val="1C1C1E"/>
                          </a:solidFill>
                          <a:latin typeface="Calibri"/>
                        </a:rPr>
                        <a:t>Two inventories that disagree. The status quo at most large banks, and the disagreement is itself an audit finding</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Build</a:t>
                      </a:r>
                    </a:p>
                  </a:txBody>
                  <a:tcPr marL="82296" marR="64008" marT="32004" marB="32004" anchor="ctr">
                    <a:solidFill>
                      <a:srgbClr val="F6F3EF"/>
                    </a:solidFill>
                  </a:tcPr>
                </a:tc>
                <a:tc>
                  <a:txBody>
                    <a:bodyPr wrap="square"/>
                    <a:lstStyle/>
                    <a:p>
                      <a:pPr algn="l"/>
                      <a:r>
                        <a:rPr sz="950" b="0">
                          <a:solidFill>
                            <a:srgbClr val="1C1C1E"/>
                          </a:solidFill>
                          <a:latin typeface="Calibri"/>
                        </a:rPr>
                        <a:t>Higher up front; no
licence, no per-seat, no
vendor roadmap risk</a:t>
                      </a:r>
                    </a:p>
                  </a:txBody>
                  <a:tcPr marL="82296" marR="64008" marT="32004" marB="32004" anchor="ctr">
                    <a:solidFill>
                      <a:srgbClr val="F6F3EF"/>
                    </a:solidFill>
                  </a:tcPr>
                </a:tc>
                <a:tc>
                  <a:txBody>
                    <a:bodyPr wrap="square"/>
                    <a:lstStyle/>
                    <a:p>
                      <a:pPr algn="l"/>
                      <a:r>
                        <a:rPr sz="950" b="0">
                          <a:solidFill>
                            <a:srgbClr val="1C1C1E"/>
                          </a:solidFill>
                          <a:latin typeface="Calibri"/>
                        </a:rPr>
                        <a:t>The build itself, and the operational work in chapter 23 — which is a real cost and is named rather than folded into a total</a:t>
                      </a:r>
                    </a:p>
                  </a:txBody>
                  <a:tcPr marL="82296" marR="64008" marT="32004" marB="32004" anchor="ctr">
                    <a:solidFill>
                      <a:srgbClr val="F6F3EF"/>
                    </a:solidFill>
                  </a:tcPr>
                </a:tc>
              </a:tr>
            </a:tbl>
          </a:graphicData>
        </a:graphic>
      </p:graphicFrame>
      <p:sp>
        <p:nvSpPr>
          <p:cNvPr id="11" name="Rectangle 10"/>
          <p:cNvSpPr/>
          <p:nvPr/>
        </p:nvSpPr>
        <p:spPr>
          <a:xfrm>
            <a:off x="777240" y="5440679"/>
            <a:ext cx="10637215"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4067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9551"/>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ranges are indicative and public. </a:t>
            </a:r>
            <a:r>
              <a:rPr sz="1050" b="0" i="0">
                <a:solidFill>
                  <a:srgbClr val="1C1C1E"/>
                </a:solidFill>
                <a:latin typeface="Calibri"/>
              </a:rPr>
              <a:t>A bank's own numbers will differ and should replace these before this slide is shown to a committee — the point of the column is that the comparison is between totals rather than between licence fees, and the third row is what most banks are paying today without having decided to.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QUESTION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CIO is actually deciding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graphicFrame>
        <p:nvGraphicFramePr>
          <p:cNvPr id="10" name="Table 9"/>
          <p:cNvGraphicFramePr>
            <a:graphicFrameLocks noGrp="1"/>
          </p:cNvGraphicFramePr>
          <p:nvPr/>
        </p:nvGraphicFramePr>
        <p:xfrm>
          <a:off x="777240" y="1353312"/>
          <a:ext cx="10637214" cy="2980944"/>
        </p:xfrm>
        <a:graphic>
          <a:graphicData uri="http://schemas.openxmlformats.org/drawingml/2006/table">
            <a:tbl>
              <a:tblPr firstRow="1">
                <a:tableStyleId>{5C22544A-7EE6-4342-B048-85BDC9FD1C3A}</a:tableStyleId>
              </a:tblPr>
              <a:tblGrid>
                <a:gridCol w="4205878"/>
                <a:gridCol w="6431336"/>
              </a:tblGrid>
              <a:tr h="329184">
                <a:tc>
                  <a:txBody>
                    <a:bodyPr wrap="square"/>
                    <a:lstStyle/>
                    <a:p>
                      <a:pPr algn="l"/>
                      <a:r>
                        <a:rPr sz="1050" b="1">
                          <a:solidFill>
                            <a:srgbClr val="FFFFFF"/>
                          </a:solidFill>
                          <a:latin typeface="Calibri"/>
                        </a:rPr>
                        <a:t>The question</a:t>
                      </a:r>
                    </a:p>
                  </a:txBody>
                  <a:tcPr marL="82296" marR="64008" marT="32004" marB="32004" anchor="ctr">
                    <a:solidFill>
                      <a:srgbClr val="A51C30"/>
                    </a:solidFill>
                  </a:tcPr>
                </a:tc>
                <a:tc>
                  <a:txBody>
                    <a:bodyPr wrap="square"/>
                    <a:lstStyle/>
                    <a:p>
                      <a:pPr algn="l"/>
                      <a:r>
                        <a:rPr sz="1050" b="1">
                          <a:solidFill>
                            <a:srgbClr val="FFFFFF"/>
                          </a:solidFill>
                          <a:latin typeface="Calibri"/>
                        </a:rPr>
                        <a:t>The answer this platform gives</a:t>
                      </a:r>
                    </a:p>
                  </a:txBody>
                  <a:tcPr marL="82296" marR="64008" marT="32004" marB="32004" anchor="ctr">
                    <a:solidFill>
                      <a:srgbClr val="A51C30"/>
                    </a:solidFill>
                  </a:tcPr>
                </a:tc>
              </a:tr>
              <a:tr h="530352">
                <a:tc>
                  <a:txBody>
                    <a:bodyPr wrap="square"/>
                    <a:lstStyle/>
                    <a:p>
                      <a:pPr algn="l"/>
                      <a:r>
                        <a:rPr sz="1000" b="1">
                          <a:solidFill>
                            <a:srgbClr val="A51C30"/>
                          </a:solidFill>
                          <a:latin typeface="Calibri"/>
                        </a:rPr>
                        <a:t>Can I evidence the estate to a supervisor without a project?</a:t>
                      </a:r>
                    </a:p>
                  </a:txBody>
                  <a:tcPr marL="82296" marR="64008" marT="32004" marB="32004" anchor="ctr">
                    <a:solidFill>
                      <a:srgbClr val="FFFFFF"/>
                    </a:solidFill>
                  </a:tcPr>
                </a:tc>
                <a:tc>
                  <a:txBody>
                    <a:bodyPr wrap="square"/>
                    <a:lstStyle/>
                    <a:p>
                      <a:pPr algn="l"/>
                      <a:r>
                        <a:rPr sz="1000" b="0">
                          <a:solidFill>
                            <a:srgbClr val="1C1C1E"/>
                          </a:solidFill>
                          <a:latin typeface="Calibri"/>
                        </a:rPr>
                        <a:t>An export pack is cut from the register on demand, self-contained and digested, with its gaps named rather than omitted</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Will it tell me what I do not want to hear?</a:t>
                      </a:r>
                    </a:p>
                  </a:txBody>
                  <a:tcPr marL="82296" marR="64008" marT="32004" marB="32004" anchor="ctr">
                    <a:solidFill>
                      <a:srgbClr val="F6F3EF"/>
                    </a:solidFill>
                  </a:tcPr>
                </a:tc>
                <a:tc>
                  <a:txBody>
                    <a:bodyPr wrap="square"/>
                    <a:lstStyle/>
                    <a:p>
                      <a:pPr algn="l"/>
                      <a:r>
                        <a:rPr sz="1000" b="0">
                          <a:solidFill>
                            <a:srgbClr val="1C1C1E"/>
                          </a:solidFill>
                          <a:latin typeface="Calibri"/>
                        </a:rPr>
                        <a:t>Refusals are the product. An unattested estate reports as unattested, and 'not measured' is never rendered as zero</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happens when the next regulation arrives?</a:t>
                      </a:r>
                    </a:p>
                  </a:txBody>
                  <a:tcPr marL="82296" marR="64008" marT="32004" marB="32004" anchor="ctr">
                    <a:solidFill>
                      <a:srgbClr val="FFFFFF"/>
                    </a:solidFill>
                  </a:tcPr>
                </a:tc>
                <a:tc>
                  <a:txBody>
                    <a:bodyPr wrap="square"/>
                    <a:lstStyle/>
                    <a:p>
                      <a:pPr algn="l"/>
                      <a:r>
                        <a:rPr sz="1000" b="0">
                          <a:solidFill>
                            <a:srgbClr val="1C1C1E"/>
                          </a:solidFill>
                          <a:latin typeface="Calibri"/>
                        </a:rPr>
                        <a:t>A regime is encoded as sentences over its own vocabulary and activated if — and only if — its encoding survives translation. Three ship</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What happens when the next model paradigm arrives?</a:t>
                      </a:r>
                    </a:p>
                  </a:txBody>
                  <a:tcPr marL="82296" marR="64008" marT="32004" marB="32004" anchor="ctr">
                    <a:solidFill>
                      <a:srgbClr val="F6F3EF"/>
                    </a:solidFill>
                  </a:tcPr>
                </a:tc>
                <a:tc>
                  <a:txBody>
                    <a:bodyPr wrap="square"/>
                    <a:lstStyle/>
                    <a:p>
                      <a:pPr algn="l"/>
                      <a:r>
                        <a:rPr sz="1000" b="0">
                          <a:solidFill>
                            <a:srgbClr val="1C1C1E"/>
                          </a:solidFill>
                          <a:latin typeface="Calibri"/>
                        </a:rPr>
                        <a:t>A trainability class is DERIVED from how the parameters were obtained, so an LLM and a scorecard are the same object with different fibres</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am I exposed to if this is wrong?</a:t>
                      </a:r>
                    </a:p>
                  </a:txBody>
                  <a:tcPr marL="82296" marR="64008" marT="32004" marB="32004" anchor="ctr">
                    <a:solidFill>
                      <a:srgbClr val="FFFFFF"/>
                    </a:solidFill>
                  </a:tcPr>
                </a:tc>
                <a:tc>
                  <a:txBody>
                    <a:bodyPr wrap="square"/>
                    <a:lstStyle/>
                    <a:p>
                      <a:pPr algn="l"/>
                      <a:r>
                        <a:rPr sz="1000" b="0">
                          <a:solidFill>
                            <a:srgbClr val="1C1C1E"/>
                          </a:solidFill>
                          <a:latin typeface="Calibri"/>
                        </a:rPr>
                        <a:t>Eighteen of twenty-one foundational laws execute on every push. The three that do not are named, with the reason, in the same table</a:t>
                      </a:r>
                    </a:p>
                  </a:txBody>
                  <a:tcPr marL="82296" marR="64008" marT="32004" marB="32004" anchor="ctr">
                    <a:solidFill>
                      <a:srgbClr val="FFFFFF"/>
                    </a:solidFill>
                  </a:tcPr>
                </a:tc>
              </a:tr>
            </a:tbl>
          </a:graphicData>
        </a:graphic>
      </p:graphicFrame>
      <p:sp>
        <p:nvSpPr>
          <p:cNvPr id="11" name="Rectangle 10"/>
          <p:cNvSpPr/>
          <p:nvPr/>
        </p:nvSpPr>
        <p:spPr>
          <a:xfrm>
            <a:off x="777240" y="455371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55371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67258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the one that decides it. </a:t>
            </a:r>
            <a:r>
              <a:rPr sz="1050" b="0" i="0">
                <a:solidFill>
                  <a:srgbClr val="1C1C1E"/>
                </a:solidFill>
                <a:latin typeface="Calibri"/>
              </a:rPr>
              <a:t>Every platform in this market will tell a committee that it works. What a CIO can ask for is the list of things it does NOT do, written by the people who built it, in the same document — and then check that the list is honest by running the tests. Chapter 23 is that list.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a distribution over {default, not}. Treat it as a number and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reporting the mean of a distribution has done something the record can name.</a:t>
            </a:r>
          </a:p>
        </p:txBody>
      </p:sp>
      <p:sp>
        <p:nvSpPr>
          <p:cNvPr id="14" name="Rectangle 13"/>
          <p:cNvSpPr/>
          <p:nvPr/>
        </p:nvSpPr>
        <p:spPr>
          <a:xfrm>
            <a:off x="6946824" y="318211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18211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30098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checked before a warrant is signed. Asserted with no pinned seed, from a runtime MAYA cannot read, it is refused rather than believed — L-W5.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531351"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learned_weights    ×  train+adaptive  ⟹  T4  training that continues</a:t>
            </a:r>
          </a:p>
          <a:p>
            <a:pPr>
              <a:lnSpc>
                <a:spcPct val="134000"/>
              </a:lnSpc>
              <a:spcBef>
                <a:spcPts val="0"/>
              </a:spcBef>
              <a:spcAft>
                <a:spcPts val="0"/>
              </a:spcAft>
            </a:pPr>
            <a:r>
              <a:rPr sz="950" b="0" i="0">
                <a:solidFill>
                  <a:srgbClr val="1C1C1E"/>
                </a:solidFill>
                <a:latin typeface="Consolas"/>
              </a:rPr>
              <a:t>llm_configuration  ×  configure       ⟹  T5  somebody else's model</a:t>
            </a:r>
          </a:p>
          <a:p>
            <a:pPr>
              <a:lnSpc>
                <a:spcPct val="134000"/>
              </a:lnSpc>
              <a:spcBef>
                <a:spcPts val="0"/>
              </a:spcBef>
              <a:spcAft>
                <a:spcPts val="0"/>
              </a:spcAft>
            </a:pPr>
            <a:r>
              <a:rPr sz="950" b="0" i="0">
                <a:solidFill>
                  <a:srgbClr val="1C1C1E"/>
                </a:solidFill>
                <a:latin typeface="Consolas"/>
              </a:rPr>
              <a:t>opaque             ×  anything        ⟹  T6  inside a vendor binary</a:t>
            </a:r>
          </a:p>
          <a:p>
            <a:pPr>
              <a:lnSpc>
                <a:spcPct val="134000"/>
              </a:lnSpc>
              <a:spcBef>
                <a:spcPts val="0"/>
              </a:spcBef>
              <a:spcAft>
                <a:spcPts val="0"/>
              </a:spcAft>
            </a:pPr>
            <a:r>
              <a:rPr sz="950" b="0" i="0">
                <a:solidFill>
                  <a:srgbClr val="1C1C1E"/>
                </a:solidFill>
                <a:latin typeface="Consolas"/>
              </a:rPr>
              <a:t>elicited_weights   ×  elicit          ⟹  T7  a room full of people</a:t>
            </a:r>
          </a:p>
          <a:p>
            <a:pPr>
              <a:lnSpc>
                <a:spcPct val="134000"/>
              </a:lnSpc>
              <a:spcBef>
                <a:spcPts val="0"/>
              </a:spcBef>
              <a:spcAft>
                <a:spcPts val="0"/>
              </a:spcAft>
            </a:pPr>
            <a:r>
              <a:rPr sz="950" b="0" i="0">
                <a:solidFill>
                  <a:srgbClr val="1C1C1E"/>
                </a:solidFill>
                <a:latin typeface="Consolas"/>
              </a:rPr>
              <a:t>rule_set           ×  author          ⟹  T8  rules, written down</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is a fact about the artefact rather than an opinion about it: two facts go in, and both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 T0 is benchmarked against an independent implementation, a T3 is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author ⟹ T8, governed like anything else rather than kept in a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is not answered with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 L-W10.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 AND WHAT IT UNIFIED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implementations of one relation, and what replaced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graphicFrame>
        <p:nvGraphicFramePr>
          <p:cNvPr id="10" name="Table 9"/>
          <p:cNvGraphicFramePr>
            <a:graphicFrameLocks noGrp="1"/>
          </p:cNvGraphicFramePr>
          <p:nvPr/>
        </p:nvGraphicFramePr>
        <p:xfrm>
          <a:off x="777240" y="1764792"/>
          <a:ext cx="10637215" cy="2605997"/>
        </p:xfrm>
        <a:graphic>
          <a:graphicData uri="http://schemas.openxmlformats.org/drawingml/2006/table">
            <a:tbl>
              <a:tblPr firstRow="1">
                <a:tableStyleId>{5C22544A-7EE6-4342-B048-85BDC9FD1C3A}</a:tableStyleId>
              </a:tblPr>
              <a:tblGrid>
                <a:gridCol w="4571607"/>
                <a:gridCol w="3291557"/>
                <a:gridCol w="2774051"/>
              </a:tblGrid>
              <a:tr h="329184">
                <a:tc>
                  <a:txBody>
                    <a:bodyPr wrap="square"/>
                    <a:lstStyle/>
                    <a:p>
                      <a:pPr algn="l"/>
                      <a:r>
                        <a:rPr sz="1050" b="1">
                          <a:solidFill>
                            <a:srgbClr val="FFFFFF"/>
                          </a:solidFill>
                          <a:latin typeface="Calibri"/>
                        </a:rPr>
                        <a:t>The question somebody was asking</a:t>
                      </a:r>
                    </a:p>
                  </a:txBody>
                  <a:tcPr marL="82296" marR="64008" marT="32004" marB="32004" anchor="ctr">
                    <a:solidFill>
                      <a:srgbClr val="A51C30"/>
                    </a:solidFill>
                  </a:tcPr>
                </a:tc>
                <a:tc>
                  <a:txBody>
                    <a:bodyPr wrap="square"/>
                    <a:lstStyle/>
                    <a:p>
                      <a:pPr algn="l"/>
                      <a:r>
                        <a:rPr sz="1050" b="1">
                          <a:solidFill>
                            <a:srgbClr val="FFFFFF"/>
                          </a:solidFill>
                          <a:latin typeface="Calibri"/>
                        </a:rPr>
                        <a:t>How it used to be answered</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Is the replacement version substitutable?  (L-12)</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c>
                  <a:txBody>
                    <a:bodyPr wrap="square"/>
                    <a:lstStyle/>
                    <a:p>
                      <a:pPr algn="l"/>
                      <a:r>
                        <a:rPr sz="1050" b="0">
                          <a:solidFill>
                            <a:srgbClr val="1C1C1E"/>
                          </a:solidFill>
                          <a:latin typeface="Calibri"/>
                        </a:rPr>
                        <a:t>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featureset provide what the kernel reads?  (L-W10)</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loop over the fields</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Does the new operating boundary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source's output arrive where the target reads?  (L-21)</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c>
                  <a:txBody>
                    <a:bodyPr wrap="square"/>
                    <a:lstStyle/>
                    <a:p>
                      <a:pPr algn="l"/>
                      <a:r>
                        <a:rPr sz="1050" b="0">
                          <a:solidFill>
                            <a:srgbClr val="1C1C1E"/>
                          </a:solidFill>
                          <a:latin typeface="Calibri"/>
                        </a:rPr>
                        <a:t>A ⊑ B</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A ⊑ B     new</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 models?</a:t>
                      </a:r>
                    </a:p>
                  </a:txBody>
                  <a:tcPr marL="82296" marR="64008" marT="32004" marB="32004" anchor="ctr">
                    <a:solidFill>
                      <a:srgbClr val="F6F3E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6F3EF"/>
                    </a:solidFill>
                  </a:tcPr>
                </a:tc>
                <a:tc>
                  <a:txBody>
                    <a:bodyPr wrap="square"/>
                    <a:lstStyle/>
                    <a:p>
                      <a:pPr algn="l"/>
                      <a:r>
                        <a:rPr sz="1050" b="0">
                          <a:solidFill>
                            <a:srgbClr val="1C1C1E"/>
                          </a:solidFill>
                          <a:latin typeface="Calibri"/>
                        </a:rPr>
                        <a:t>their meet     new</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their join     new</a:t>
                      </a:r>
                    </a:p>
                  </a:txBody>
                  <a:tcPr marL="82296" marR="64008" marT="32004" marB="32004" anchor="ctr">
                    <a:solidFill>
                      <a:srgbClr val="FFFFFF"/>
                    </a:solidFill>
                  </a:tcPr>
                </a:tc>
              </a:tr>
            </a:tbl>
          </a:graphicData>
        </a:graphic>
      </p:graphicFrame>
      <p:sp>
        <p:nvSpPr>
          <p:cNvPr id="11" name="Rectangle 10"/>
          <p:cNvSpPr/>
          <p:nvPr/>
        </p:nvSpPr>
        <p:spPr>
          <a:xfrm>
            <a:off x="777240" y="4645113"/>
            <a:ext cx="10637215"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45113"/>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763985"/>
            <a:ext cx="10180015"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and the direction is predictable: toward PERMITTING MORE, because that is the direction in which nobody files a bug. </a:t>
            </a:r>
            <a:r>
              <a:rPr sz="1050" b="0" i="0">
                <a:solidFill>
                  <a:srgbClr val="1C1C1E"/>
                </a:solidFill>
                <a:latin typeface="Calibri"/>
              </a:rPr>
              <a:t>The fourth row was the worst — a dependency graph whose edges were never checked. L-20 states the structure the one relation has, and the test asserts it over generated schemas: the order — a preorder, and a partial order on canonical form — meet below both, join above both, idempotence, commutativity, associativity, absorption, and the link A ⊑ B ⟺ A ⊓ B = A that makes it a lattice ORDER rather than an order and two unrelated operations. The three marked new are questions a practitioner asks out loud in a meeting and nothing could answer.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744096" cy="25932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5932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2117773"/>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a slot is one named field of a schema</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reflexive and transitive. A ⊑ B and B ⊑ A gives the same fields</a:t>
            </a:r>
          </a:p>
          <a:p>
            <a:pPr>
              <a:lnSpc>
                <a:spcPct val="134000"/>
              </a:lnSpc>
              <a:spcBef>
                <a:spcPts val="0"/>
              </a:spcBef>
              <a:spcAft>
                <a:spcPts val="0"/>
              </a:spcAft>
            </a:pPr>
            <a:r>
              <a:rPr sz="1050" b="0" i="0">
                <a:solidFill>
                  <a:srgbClr val="7A7F87"/>
                </a:solidFill>
                <a:latin typeface="Consolas"/>
              </a:rPr>
              <a:t># as a SET, so it is a preorder — and a partial order on the</a:t>
            </a:r>
          </a:p>
          <a:p>
            <a:pPr>
              <a:lnSpc>
                <a:spcPct val="134000"/>
              </a:lnSpc>
              <a:spcBef>
                <a:spcPts val="0"/>
              </a:spcBef>
              <a:spcAft>
                <a:spcPts val="0"/>
              </a:spcAft>
            </a:pPr>
            <a:r>
              <a:rPr sz="1050" b="0" i="0">
                <a:solidFill>
                  <a:srgbClr val="7A7F87"/>
                </a:solidFill>
                <a:latin typeface="Consolas"/>
              </a:rPr>
              <a:t># name-sorted canonical form every constructor here produces</a:t>
            </a:r>
          </a:p>
        </p:txBody>
      </p:sp>
      <p:sp>
        <p:nvSpPr>
          <p:cNvPr id="14" name="Rectangle 13"/>
          <p:cNvSpPr/>
          <p:nvPr/>
        </p:nvSpPr>
        <p:spPr>
          <a:xfrm>
            <a:off x="777240" y="4202605"/>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202605"/>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321477"/>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direction surprises people. </a:t>
            </a:r>
            <a:r>
              <a:rPr sz="1050" b="0" i="0">
                <a:solidFill>
                  <a:srgbClr val="1C1C1E"/>
                </a:solidFill>
                <a:latin typeface="Calibri"/>
              </a:rPr>
              <a:t>A subtype is usually the NARROWER thing, so “A refines B” sounds as though A should accept less. It is the other way round: to stand in for B, A must accept everything B accepted.</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Join always; meet when it can</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So it is a join-semilattice with PARTIAL meets, </a:t>
            </a:r>
            <a:r>
              <a:rPr sz="1050" b="0" i="0">
                <a:solidFill>
                  <a:srgbClr val="1C1C1E"/>
                </a:solidFill>
                <a:latin typeface="Calibri"/>
              </a:rPr>
              <a:t>rather than a lattice outright — and the partiality is informative. Two schemas whose shared field carries two different types have no meet at all. The honest answer to “can one featureset serve both these models” is then no, with the field named.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child's own add / drop / override</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 monoid: an identity, and grouping that does not matter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becomes a statement about the fold, which is why features and featuresets share one mechanism.</a:t>
            </a:r>
          </a:p>
        </p:txBody>
      </p:sp>
      <p:graphicFrame>
        <p:nvGraphicFramePr>
          <p:cNvPr id="15" name="Table 14"/>
          <p:cNvGraphicFramePr>
            <a:graphicFrameLocks noGrp="1"/>
          </p:cNvGraphicFramePr>
          <p:nvPr/>
        </p:nvGraphicFramePr>
        <p:xfrm>
          <a:off x="7159569" y="1353312"/>
          <a:ext cx="4254885" cy="1437386"/>
        </p:xfrm>
        <a:graphic>
          <a:graphicData uri="http://schemas.openxmlformats.org/drawingml/2006/table">
            <a:tbl>
              <a:tblPr firstRow="1">
                <a:tableStyleId>{5C22544A-7EE6-4342-B048-85BDC9FD1C3A}</a:tableStyleId>
              </a:tblPr>
              <a:tblGrid>
                <a:gridCol w="1513910"/>
                <a:gridCol w="2740975"/>
              </a:tblGrid>
              <a:tr h="487172">
                <a:tc>
                  <a:txBody>
                    <a:bodyPr wrap="square"/>
                    <a:lstStyle/>
                    <a:p>
                      <a:pPr algn="l"/>
                      <a:r>
                        <a:rPr sz="1000" b="1">
                          <a:solidFill>
                            <a:srgbClr val="FFFFFF"/>
                          </a:solidFill>
                          <a:latin typeface="Calibri"/>
                        </a:rPr>
                        <a:t>Edit a child may make</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3046730"/>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0467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165602"/>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 three is idempotent, deliberately. </a:t>
            </a:r>
            <a:r>
              <a:rPr sz="1050" b="0" i="0">
                <a:solidFill>
                  <a:srgbClr val="1C1C1E"/>
                </a:solidFill>
                <a:latin typeface="Calibri"/>
              </a:rPr>
              <a:t>An operation that silently did nothing is one somebody believes happened, and the child then differs from what its author wrote with nothing to show for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TWO EDITORS RELY 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That is the difference between a merge and a conflict whose resolution is itself a decision nobody recorded — and it is not a property one edit at a time can demonstrate.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field is not drop then override — the second order is refused outright. A law stated more widely than it holds is a law somebody will rely on where it does not.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graphicFrame>
        <p:nvGraphicFramePr>
          <p:cNvPr id="10" name="Table 9"/>
          <p:cNvGraphicFramePr>
            <a:graphicFrameLocks noGrp="1"/>
          </p:cNvGraphicFramePr>
          <p:nvPr/>
        </p:nvGraphicFramePr>
        <p:xfrm>
          <a:off x="777240" y="1764792"/>
          <a:ext cx="10637215" cy="1630220"/>
        </p:xfrm>
        <a:graphic>
          <a:graphicData uri="http://schemas.openxmlformats.org/drawingml/2006/table">
            <a:tbl>
              <a:tblPr firstRow="1">
                <a:tableStyleId>{5C22544A-7EE6-4342-B048-85BDC9FD1C3A}</a:tableStyleId>
              </a:tblPr>
              <a:tblGrid>
                <a:gridCol w="2651532"/>
                <a:gridCol w="3931582"/>
                <a:gridCol w="4054101"/>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 — event time</a:t>
                      </a:r>
                    </a:p>
                  </a:txBody>
                  <a:tcPr marL="82296" marR="64008" marT="32004" marB="32004" anchor="ctr">
                    <a:solidFill>
                      <a:srgbClr val="A51C30"/>
                    </a:solidFill>
                  </a:tcPr>
                </a:tc>
                <a:tc>
                  <a:txBody>
                    <a:bodyPr wrap="square"/>
                    <a:lstStyle/>
                    <a:p>
                      <a:pPr algn="l"/>
                      <a:r>
                        <a:rPr sz="1050" b="1">
                          <a:solidFill>
                            <a:srgbClr val="FFFFFF"/>
                          </a:solidFill>
                          <a:latin typeface="Calibri"/>
                        </a:rPr>
                        <a:t>ingest_ts — ingest time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A borrower's Q1 accounts</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quarter they describe</a:t>
                      </a:r>
                    </a:p>
                  </a:txBody>
                  <a:tcPr marL="82296" marR="64008" marT="32004" marB="32004" anchor="ctr">
                    <a:solidFill>
                      <a:srgbClr val="F6F3EF"/>
                    </a:solidFill>
                  </a:tcPr>
                </a:tc>
                <a:tc>
                  <a:txBody>
                    <a:bodyPr wrap="square"/>
                    <a:lstStyle/>
                    <a:p>
                      <a:pPr algn="l"/>
                      <a:r>
                        <a:rPr sz="1050" b="0">
                          <a:solidFill>
                            <a:srgbClr val="1C1C1E"/>
                          </a:solidFill>
                          <a:latin typeface="Calibri"/>
                        </a:rPr>
                        <a:t>20 May — the day the borrower filed them</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 of those accounts</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31 March</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dscr — debt service coverage, from the borrower's Q1 accounts</a:t>
            </a:r>
          </a:p>
          <a:p>
            <a:pPr>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2196571"/>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21965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977115"/>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 AND THE ONE PROPERTY THAT CARRIES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moment the decision was made — what the model could have known</a:t>
            </a:r>
          </a:p>
          <a:p>
            <a:pPr>
              <a:lnSpc>
                <a:spcPct val="134000"/>
              </a:lnSpc>
              <a:spcBef>
                <a:spcPts val="0"/>
              </a:spcBef>
              <a:spcAft>
                <a:spcPts val="0"/>
              </a:spcAft>
            </a:pPr>
            <a:r>
              <a:rPr sz="1000" b="0" i="0">
                <a:solidFill>
                  <a:srgbClr val="7A7F87"/>
                </a:solidFill>
                <a:latin typeface="Consolas"/>
              </a:rPr>
              <a:t>#  a  the assembly's as-of — what the PLATFORM could have known</a:t>
            </a:r>
          </a:p>
        </p:txBody>
      </p:sp>
      <p:sp>
        <p:nvSpPr>
          <p:cNvPr id="14" name="Rectangle 13"/>
          <p:cNvSpPr/>
          <p:nvPr/>
        </p:nvSpPr>
        <p:spPr>
          <a:xfrm>
            <a:off x="777240" y="346283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Without a, a restatement arriving after assembly creeps into a re-run. Dropping either admits a different leak, and a is the one people drop.</a:t>
            </a:r>
          </a:p>
        </p:txBody>
      </p:sp>
      <p:sp>
        <p:nvSpPr>
          <p:cNvPr id="17" name="Rectangle 16"/>
          <p:cNvSpPr/>
          <p:nvPr/>
        </p:nvSpPr>
        <p:spPr>
          <a:xfrm>
            <a:off x="777240" y="488015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4880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499902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other three properties L-10 states are packaging. </a:t>
            </a:r>
            <a:r>
              <a:rPr sz="1050" b="0" i="0">
                <a:solidFill>
                  <a:srgbClr val="1C1C1E"/>
                </a:solidFill>
                <a:latin typeface="Calibri"/>
              </a:rPr>
              <a:t>Idempotence is type-incorrect as written: the operator returns a row, not a relation. Projection-commutation is trivial, the predicate naming only the clocks. Monotonicity is real, but its test recomputes the admissible set rather than calling the read.</a:t>
            </a:r>
          </a:p>
        </p:txBody>
      </p:sp>
      <p:sp>
        <p:nvSpPr>
          <p:cNvPr id="20" name="TextBox 19"/>
          <p:cNvSpPr txBox="1"/>
          <p:nvPr/>
        </p:nvSpPr>
        <p:spPr>
          <a:xfrm>
            <a:off x="7159569" y="1353312"/>
            <a:ext cx="4254886" cy="42062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Saturation is the whole of the guarantee</a:t>
            </a:r>
          </a:p>
          <a:p>
            <a:pPr>
              <a:lnSpc>
                <a:spcPct val="126000"/>
              </a:lnSpc>
              <a:spcBef>
                <a:spcPts val="0"/>
              </a:spcBef>
              <a:spcAft>
                <a:spcPts val="800"/>
              </a:spcAft>
            </a:pPr>
            <a:r>
              <a:rPr sz="1100" b="0" i="0">
                <a:solidFill>
                  <a:srgbClr val="1C1C1E"/>
                </a:solidFill>
                <a:latin typeface="Calibri"/>
              </a:rPr>
              <a:t>The ingest bound is min(ℓ, a), so every as-of at or after the decision gives the SAME ANSWER.</a:t>
            </a:r>
          </a:p>
          <a:p>
            <a:pPr>
              <a:lnSpc>
                <a:spcPct val="126000"/>
              </a:lnSpc>
              <a:spcBef>
                <a:spcPts val="0"/>
              </a:spcBef>
              <a:spcAft>
                <a:spcPts val="800"/>
              </a:spcAft>
            </a:pPr>
            <a:r>
              <a:rPr sz="1100" b="0" i="0">
                <a:solidFill>
                  <a:srgbClr val="1C1C1E"/>
                </a:solidFill>
                <a:latin typeface="Calibri"/>
              </a:rPr>
              <a:t>Assemble in May and the row reads dscr = 1.20. August's restatement to 0.40 arrives; both rows are true and both stay. Re-assemble a year later and the answer is still 1.20 — however many restatements landed in between.</a:t>
            </a:r>
          </a:p>
          <a:p>
            <a:pPr>
              <a:lnSpc>
                <a:spcPct val="126000"/>
              </a:lnSpc>
              <a:spcBef>
                <a:spcPts val="0"/>
              </a:spcBef>
              <a:spcAft>
                <a:spcPts val="800"/>
              </a:spcAft>
            </a:pPr>
            <a:r>
              <a:rPr sz="1100" b="0" i="0">
                <a:solidFill>
                  <a:srgbClr val="4A4F57"/>
                </a:solidFill>
                <a:latin typeface="Calibri"/>
              </a:rPr>
              <a:t>Without the min, a re-run quietly IMPROVES on the original. That is the least useful kind of reproducibility: a validator replaying a decision gets a better answer than the one that was made, cannot tell that is what happened, and reports agreement.</a:t>
            </a:r>
          </a:p>
          <a:p>
            <a:pPr>
              <a:lnSpc>
                <a:spcPct val="126000"/>
              </a:lnSpc>
              <a:spcBef>
                <a:spcPts val="0"/>
              </a:spcBef>
              <a:spcAft>
                <a:spcPts val="0"/>
              </a:spcAft>
            </a:pPr>
            <a:r>
              <a:rPr sz="1150" b="1" i="0">
                <a:solidFill>
                  <a:srgbClr val="A51C30"/>
                </a:solidFill>
                <a:latin typeface="Calibri"/>
              </a:rPr>
              <a:t>One function call, and it is the reproducibility guarantee.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Alignment rule</a:t>
                      </a:r>
                    </a:p>
                  </a:txBody>
                  <a:tcPr marL="82296" marR="64008" marT="32004" marB="32004" anchor="ctr">
                    <a:solidFill>
                      <a:srgbClr val="A51C30"/>
                    </a:solidFill>
                  </a:tcPr>
                </a:tc>
                <a:tc>
                  <a:txBody>
                    <a:bodyPr wrap="square"/>
                    <a:lstStyle/>
                    <a:p>
                      <a:pPr algn="l"/>
                      <a:r>
                        <a:rPr sz="1000" b="1">
                          <a:solidFill>
                            <a:srgbClr val="FFFFFF"/>
                          </a:solidFill>
                          <a:latin typeface="Calibri"/>
                        </a:rPr>
                        <a:t>Fills a gap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Alignment fills a moment the source never observed.</a:t>
            </a:r>
          </a:p>
          <a:p>
            <a:pPr>
              <a:lnSpc>
                <a:spcPct val="126000"/>
              </a:lnSpc>
              <a:spcBef>
                <a:spcPts val="0"/>
              </a:spcBef>
              <a:spcAft>
                <a:spcPts val="900"/>
              </a:spcAft>
            </a:pPr>
            <a:r>
              <a:rPr sz="1100" b="0" i="0">
                <a:solidFill>
                  <a:srgbClr val="1C1C1E"/>
                </a:solidFill>
                <a:latin typeface="Calibri"/>
              </a:rPr>
              <a:t>Three of the five rules do it by reaching forward in time. They are not refused. They are stamped.</a:t>
            </a:r>
          </a:p>
          <a:p>
            <a:pPr>
              <a:lnSpc>
                <a:spcPct val="126000"/>
              </a:lnSpc>
              <a:spcBef>
                <a:spcPts val="0"/>
              </a:spcBef>
              <a:spcAft>
                <a:spcPts val="900"/>
              </a:spcAft>
            </a:pPr>
            <a:r>
              <a:rPr sz="1100" b="0" i="0">
                <a:solidFill>
                  <a:srgbClr val="1C1C1E"/>
                </a:solidFill>
                <a:latin typeface="Calibri"/>
              </a:rPr>
              <a:t>Back-filling is right for drawing a curve or a retrospective backtest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 the append-only, hash-linked record of every act — IS the audit log. The consolidation is load-bearing: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node names its parents, and the parents say what supports what. </a:t>
            </a:r>
            <a:r>
              <a:rPr sz="1050" b="0" i="0">
                <a:solidFill>
                  <a:srgbClr val="1C1C1E"/>
                </a:solidFill>
                <a:latin typeface="Calibri"/>
              </a:rPr>
              <a:t>The seq / prev_hash chain is separate and linear: it says what order things happened in, which is what makes deleting a node or inserting into the past detectable.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WHAT VERIFICATION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the one that is easy to get wrong. </a:t>
            </a:r>
            <a:r>
              <a:rPr sz="1050" b="0" i="0">
                <a:solidFill>
                  <a:srgbClr val="1C1C1E"/>
                </a:solidFill>
                <a:latin typeface="Calibri"/>
              </a:rPr>
              <a:t>Re-linking the STORED content hash proves the links are intact and says nothing about whether what was linked is still what was recorded: an edited payload leaves a chain that verifies and a record that lies.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its “add”</a:t>
                      </a:r>
                    </a:p>
                  </a:txBody>
                  <a:tcPr marL="82296" marR="64008" marT="32004" marB="32004" anchor="ctr">
                    <a:solidFill>
                      <a:srgbClr val="A51C30"/>
                    </a:solidFill>
                  </a:tcPr>
                </a:tc>
                <a:tc>
                  <a:txBody>
                    <a:bodyPr wrap="square"/>
                    <a:lstStyle/>
                    <a:p>
                      <a:pPr algn="l"/>
                      <a:r>
                        <a:rPr sz="1000" b="1">
                          <a:solidFill>
                            <a:srgbClr val="FFFFFF"/>
                          </a:solidFill>
                          <a:latin typeface="Calibri"/>
                        </a:rPr>
                        <a:t>its “multiply”</a:t>
                      </a:r>
                    </a:p>
                  </a:txBody>
                  <a:tcPr marL="82296" marR="64008" marT="32004" marB="32004" anchor="ctr">
                    <a:solidFill>
                      <a:srgbClr val="A51C30"/>
                    </a:solidFill>
                  </a:tcPr>
                </a:tc>
                <a:tc>
                  <a:txBody>
                    <a:bodyPr wrap="square"/>
                    <a:lstStyle/>
                    <a:p>
                      <a:pPr algn="l"/>
                      <a:r>
                        <a:rPr sz="1000" b="1">
                          <a:solidFill>
                            <a:srgbClr val="FFFFFF"/>
                          </a:solidFill>
                          <a:latin typeface="Calibri"/>
                        </a:rPr>
                        <a:t>The question it 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says so. </a:t>
            </a:r>
            <a:r>
              <a:rPr sz="1050" b="0" i="0">
                <a:solidFill>
                  <a:srgbClr val="1C1C1E"/>
                </a:solidFill>
                <a:latin typeface="Calibri"/>
              </a:rPr>
              <a:t>(max, max) has no annihilating zero — max(0, 5) is 5, not 0 — so it is a “take the newest” used twice rather than an algebra. The consequence: a claim resting on a MISSING fact reports the freshness of the facts that are present rather than reporting that it has none.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OBJECT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Evaluate once, then substitute — ℕ[X]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keeping the facts as symbols</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009621"/>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009621"/>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128493"/>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graphs against five semirings. </a:t>
            </a:r>
            <a:r>
              <a:rPr sz="1050" b="0" i="0">
                <a:solidFill>
                  <a:srgbClr val="1C1C1E"/>
                </a:solidFill>
                <a:latin typeface="Calibri"/>
              </a:rPr>
              <a:t>That turns “the same traversal answers a different question for each” from a design intention into a theorem the suite runs.</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so it cannot tell a claim resting on one document from a claim resting on four — and “how corroborated is this” is what a reviewer is asking.</a:t>
            </a:r>
          </a:p>
          <a:p>
            <a:pPr>
              <a:lnSpc>
                <a:spcPct val="126000"/>
              </a:lnSpc>
              <a:spcBef>
                <a:spcPts val="0"/>
              </a:spcBef>
              <a:spcAft>
                <a:spcPts val="0"/>
              </a:spcAft>
            </a:pPr>
            <a:r>
              <a:rPr sz="1100" b="0" i="0">
                <a:solidFill>
                  <a:srgbClr val="1C1C1E"/>
                </a:solidFill>
                <a:latin typeface="Calibri"/>
              </a:rPr>
              <a:t>The same construction annotates DERIVED FEATURES, where the ingest clock obeys the algebra rather than a rule somebody could forget.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16</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Eighteen of twenty-one is the honest number. </a:t>
            </a:r>
            <a:r>
              <a:rPr sz="1050" b="0" i="0">
                <a:solidFill>
                  <a:srgbClr val="1C1C1E"/>
                </a:solidFill>
                <a:latin typeface="Calibri"/>
              </a:rPr>
              <a:t>The strongest claim this design makes is that the laws are the acceptance criteria, and a claim only partly true reads as wholly true to everybody who does not check. The count is computed from the table's own rows.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Eighteen of the twenty-one run; three do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graphicFrame>
        <p:nvGraphicFramePr>
          <p:cNvPr id="10" name="Table 9"/>
          <p:cNvGraphicFramePr>
            <a:graphicFrameLocks noGrp="1"/>
          </p:cNvGraphicFramePr>
          <p:nvPr/>
        </p:nvGraphicFramePr>
        <p:xfrm>
          <a:off x="777240"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a:t>
                      </a:r>
                    </a:p>
                  </a:txBody>
                  <a:tcPr marL="82296" marR="64008" marT="32004" marB="32004" anchor="ctr">
                    <a:solidFill>
                      <a:srgbClr val="FFFFFF"/>
                    </a:solidFill>
                  </a:tcPr>
                </a:tc>
                <a:tc>
                  <a:txBody>
                    <a:bodyPr wrap="square"/>
                    <a:lstStyle/>
                    <a:p>
                      <a:pPr algn="l"/>
                      <a:r>
                        <a:rPr sz="900" b="0">
                          <a:solidFill>
                            <a:srgbClr val="1C1C1E"/>
                          </a:solidFill>
                          <a:latin typeface="Calibri"/>
                        </a:rPr>
                        <a:t>no state is reachable except along declared transitions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a:t>
                      </a:r>
                    </a:p>
                  </a:txBody>
                  <a:tcPr marL="82296" marR="64008" marT="32004" marB="32004" anchor="ctr">
                    <a:solidFill>
                      <a:srgbClr val="F6F3EF"/>
                    </a:solidFill>
                  </a:tcPr>
                </a:tc>
                <a:tc>
                  <a:txBody>
                    <a:bodyPr wrap="square"/>
                    <a:lstStyle/>
                    <a:p>
                      <a:pPr algn="l"/>
                      <a:r>
                        <a:rPr sz="900" b="0">
                          <a:solidFill>
                            <a:srgbClr val="1C1C1E"/>
                          </a:solidFill>
                          <a:latin typeface="Calibri"/>
                        </a:rPr>
                        <a:t>a version's content hash never moves over its lifetime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L-3</a:t>
                      </a:r>
                    </a:p>
                  </a:txBody>
                  <a:tcPr marL="82296" marR="64008" marT="32004" marB="32004" anchor="ctr">
                    <a:solidFill>
                      <a:srgbClr val="FFFFFF"/>
                    </a:solidFill>
                  </a:tcPr>
                </a:tc>
                <a:tc>
                  <a:txBody>
                    <a:bodyPr wrap="square"/>
                    <a:lstStyle/>
                    <a:p>
                      <a:pPr algn="l"/>
                      <a:r>
                        <a:rPr sz="900" b="0">
                          <a:solidFill>
                            <a:srgbClr val="1C1C1E"/>
                          </a:solidFill>
                          <a:latin typeface="Calibri"/>
                        </a:rPr>
                        <a:t>a determinism claim is checked by executing twice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L-4</a:t>
                      </a:r>
                    </a:p>
                  </a:txBody>
                  <a:tcPr marL="82296" marR="64008" marT="32004" marB="32004" anchor="ctr">
                    <a:solidFill>
                      <a:srgbClr val="F6F3EF"/>
                    </a:solidFill>
                  </a:tcPr>
                </a:tc>
                <a:tc>
                  <a:txBody>
                    <a:bodyPr wrap="square"/>
                    <a:lstStyle/>
                    <a:p>
                      <a:pPr algn="l"/>
                      <a:r>
                        <a:rPr sz="900" b="0">
                          <a:solidFill>
                            <a:srgbClr val="1C1C1E"/>
                          </a:solidFill>
                          <a:latin typeface="Calibri"/>
                        </a:rPr>
                        <a:t>tiering is monotone in materiality and complexity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L-5</a:t>
                      </a:r>
                    </a:p>
                  </a:txBody>
                  <a:tcPr marL="82296" marR="64008" marT="32004" marB="32004" anchor="ctr">
                    <a:solidFill>
                      <a:srgbClr val="FFFFFF"/>
                    </a:solidFill>
                  </a:tcPr>
                </a:tc>
                <a:tc>
                  <a:txBody>
                    <a:bodyPr wrap="square"/>
                    <a:lstStyle/>
                    <a:p>
                      <a:pPr algn="l"/>
                      <a:r>
                        <a:rPr sz="900" b="0">
                          <a:solidFill>
                            <a:srgbClr val="1C1C1E"/>
                          </a:solidFill>
                          <a:latin typeface="Calibri"/>
                        </a:rPr>
                        <a:t>the required controls and the tier determine each other</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L-7</a:t>
                      </a:r>
                    </a:p>
                  </a:txBody>
                  <a:tcPr marL="82296" marR="64008" marT="32004" marB="32004" anchor="ctr">
                    <a:solidFill>
                      <a:srgbClr val="F6F3EF"/>
                    </a:solidFill>
                  </a:tcPr>
                </a:tc>
                <a:tc>
                  <a:txBody>
                    <a:bodyPr wrap="square"/>
                    <a:lstStyle/>
                    <a:p>
                      <a:pPr algn="l"/>
                      <a:r>
                        <a:rPr sz="900" b="0">
                          <a:solidFill>
                            <a:srgbClr val="1C1C1E"/>
                          </a:solidFill>
                          <a:latin typeface="Calibri"/>
                        </a:rPr>
                        <a:t>an alias move requires the new contract to refine the old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L-8</a:t>
                      </a:r>
                    </a:p>
                  </a:txBody>
                  <a:tcPr marL="82296" marR="64008" marT="32004" marB="32004" anchor="ctr">
                    <a:solidFill>
                      <a:srgbClr val="FFFFFF"/>
                    </a:solidFill>
                  </a:tcPr>
                </a:tc>
                <a:tc>
                  <a:txBody>
                    <a:bodyPr wrap="square"/>
                    <a:lstStyle/>
                    <a:p>
                      <a:pPr algn="l"/>
                      <a:r>
                        <a:rPr sz="900" b="0">
                          <a:solidFill>
                            <a:srgbClr val="1C1C1E"/>
                          </a:solidFill>
                          <a:latin typeface="Calibri"/>
                        </a:rPr>
                        <a:t>a regulatory regime's translation preserves truth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L-9</a:t>
                      </a:r>
                    </a:p>
                  </a:txBody>
                  <a:tcPr marL="82296" marR="64008" marT="32004" marB="32004" anchor="ctr">
                    <a:solidFill>
                      <a:srgbClr val="F6F3EF"/>
                    </a:solidFill>
                  </a:tcPr>
                </a:tc>
                <a:tc>
                  <a:txBody>
                    <a:bodyPr wrap="square"/>
                    <a:lstStyle/>
                    <a:p>
                      <a:pPr algn="l"/>
                      <a:r>
                        <a:rPr sz="900" b="0">
                          <a:solidFill>
                            <a:srgbClr val="1C1C1E"/>
                          </a:solidFill>
                          <a:latin typeface="Calibri"/>
                        </a:rPr>
                        <a:t>one traversal answers every provenance question</a:t>
                      </a:r>
                    </a:p>
                  </a:txBody>
                  <a:tcPr marL="82296" marR="64008" marT="32004" marB="32004" anchor="ctr">
                    <a:solidFill>
                      <a:srgbClr val="F6F3EF"/>
                    </a:solidFill>
                  </a:tcPr>
                </a:tc>
              </a:tr>
            </a:tbl>
          </a:graphicData>
        </a:graphic>
      </p:graphicFrame>
      <p:graphicFrame>
        <p:nvGraphicFramePr>
          <p:cNvPr id="11" name="Table 10"/>
          <p:cNvGraphicFramePr>
            <a:graphicFrameLocks noGrp="1"/>
          </p:cNvGraphicFramePr>
          <p:nvPr/>
        </p:nvGraphicFramePr>
        <p:xfrm>
          <a:off x="6202219"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L-10</a:t>
                      </a:r>
                    </a:p>
                  </a:txBody>
                  <a:tcPr marL="82296" marR="64008" marT="32004" marB="32004" anchor="ctr">
                    <a:solidFill>
                      <a:srgbClr val="FFFFFF"/>
                    </a:solidFill>
                  </a:tcPr>
                </a:tc>
                <a:tc>
                  <a:txBody>
                    <a:bodyPr wrap="square"/>
                    <a:lstStyle/>
                    <a:p>
                      <a:pPr algn="l"/>
                      <a:r>
                        <a:rPr sz="900" b="0">
                          <a:solidFill>
                            <a:srgbClr val="1C1C1E"/>
                          </a:solidFill>
                          <a:latin typeface="Calibri"/>
                        </a:rPr>
                        <a:t>the as-of read saturates at the moment of the decision</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L-12</a:t>
                      </a:r>
                    </a:p>
                  </a:txBody>
                  <a:tcPr marL="82296" marR="64008" marT="32004" marB="32004" anchor="ctr">
                    <a:solidFill>
                      <a:srgbClr val="F6F3EF"/>
                    </a:solidFill>
                  </a:tcPr>
                </a:tc>
                <a:tc>
                  <a:txBody>
                    <a:bodyPr wrap="square"/>
                    <a:lstStyle/>
                    <a:p>
                      <a:pPr algn="l"/>
                      <a:r>
                        <a:rPr sz="900" b="0">
                          <a:solidFill>
                            <a:srgbClr val="1C1C1E"/>
                          </a:solidFill>
                          <a:latin typeface="Calibri"/>
                        </a:rPr>
                        <a:t>a replacement accepts at least what it replaced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L-15</a:t>
                      </a:r>
                    </a:p>
                  </a:txBody>
                  <a:tcPr marL="82296" marR="64008" marT="32004" marB="32004" anchor="ctr">
                    <a:solidFill>
                      <a:srgbClr val="FFFFFF"/>
                    </a:solidFill>
                  </a:tcPr>
                </a:tc>
                <a:tc>
                  <a:txBody>
                    <a:bodyPr wrap="square"/>
                    <a:lstStyle/>
                    <a:p>
                      <a:pPr algn="l"/>
                      <a:r>
                        <a:rPr sz="900" b="0">
                          <a:solidFill>
                            <a:srgbClr val="1C1C1E"/>
                          </a:solidFill>
                          <a:latin typeface="Calibri"/>
                        </a:rPr>
                        <a:t>every trainability class has a complete fibre — and none is empty</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L-16</a:t>
                      </a:r>
                    </a:p>
                  </a:txBody>
                  <a:tcPr marL="82296" marR="64008" marT="32004" marB="32004" anchor="ctr">
                    <a:solidFill>
                      <a:srgbClr val="F6F3EF"/>
                    </a:solidFill>
                  </a:tcPr>
                </a:tc>
                <a:tc>
                  <a:txBody>
                    <a:bodyPr wrap="square"/>
                    <a:lstStyle/>
                    <a:p>
                      <a:pPr algn="l"/>
                      <a:r>
                        <a:rPr sz="900" b="0">
                          <a:solidFill>
                            <a:srgbClr val="1C1C1E"/>
                          </a:solidFill>
                          <a:latin typeface="Calibri"/>
                        </a:rPr>
                        <a:t>no regulatory regime obliges and forbids one term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L-18</a:t>
                      </a:r>
                    </a:p>
                  </a:txBody>
                  <a:tcPr marL="82296" marR="64008" marT="32004" marB="32004" anchor="ctr">
                    <a:solidFill>
                      <a:srgbClr val="FFFFFF"/>
                    </a:solidFill>
                  </a:tcPr>
                </a:tc>
                <a:tc>
                  <a:txBody>
                    <a:bodyPr wrap="square"/>
                    <a:lstStyle/>
                    <a:p>
                      <a:pPr algn="l"/>
                      <a:r>
                        <a:rPr sz="900" b="0">
                          <a:solidFill>
                            <a:srgbClr val="1C1C1E"/>
                          </a:solidFill>
                          <a:latin typeface="Calibri"/>
                        </a:rPr>
                        <a:t>no personal data inside an evidence node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L-19</a:t>
                      </a:r>
                    </a:p>
                  </a:txBody>
                  <a:tcPr marL="82296" marR="64008" marT="32004" marB="32004" anchor="ctr">
                    <a:solidFill>
                      <a:srgbClr val="F6F3EF"/>
                    </a:solidFill>
                  </a:tcPr>
                </a:tc>
                <a:tc>
                  <a:txBody>
                    <a:bodyPr wrap="square"/>
                    <a:lstStyle/>
                    <a:p>
                      <a:pPr algn="l"/>
                      <a:r>
                        <a:rPr sz="900" b="0">
                          <a:solidFill>
                            <a:srgbClr val="1C1C1E"/>
                          </a:solidFill>
                          <a:latin typeface="Calibri"/>
                        </a:rPr>
                        <a:t>composition is associative, with an identity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L-20</a:t>
                      </a:r>
                    </a:p>
                  </a:txBody>
                  <a:tcPr marL="82296" marR="64008" marT="32004" marB="32004" anchor="ctr">
                    <a:solidFill>
                      <a:srgbClr val="FFFFFF"/>
                    </a:solidFill>
                  </a:tcPr>
                </a:tc>
                <a:tc>
                  <a:txBody>
                    <a:bodyPr wrap="square"/>
                    <a:lstStyle/>
                    <a:p>
                      <a:pPr algn="l"/>
                      <a:r>
                        <a:rPr sz="900" b="0">
                          <a:solidFill>
                            <a:srgbClr val="1C1C1E"/>
                          </a:solidFill>
                          <a:latin typeface="Calibri"/>
                        </a:rPr>
                        <a:t>schemas form a lattice; independent edits commute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L-21</a:t>
                      </a:r>
                    </a:p>
                  </a:txBody>
                  <a:tcPr marL="82296" marR="64008" marT="32004" marB="32004" anchor="ctr">
                    <a:solidFill>
                      <a:srgbClr val="F6F3EF"/>
                    </a:solidFill>
                  </a:tcPr>
                </a:tc>
                <a:tc>
                  <a:txBody>
                    <a:bodyPr wrap="square"/>
                    <a:lstStyle/>
                    <a:p>
                      <a:pPr algn="l"/>
                      <a:r>
                        <a:rPr sz="900" b="0">
                          <a:solidFill>
                            <a:srgbClr val="1C1C1E"/>
                          </a:solidFill>
                          <a:latin typeface="Calibri"/>
                        </a:rPr>
                        <a:t>a dependency edge type-checks or does not exist</a:t>
                      </a:r>
                    </a:p>
                  </a:txBody>
                  <a:tcPr marL="82296" marR="64008" marT="32004" marB="32004" anchor="ctr">
                    <a:solidFill>
                      <a:srgbClr val="F6F3EF"/>
                    </a:solidFill>
                  </a:tcPr>
                </a:tc>
              </a:tr>
            </a:tbl>
          </a:graphicData>
        </a:graphic>
      </p:graphicFrame>
      <p:graphicFrame>
        <p:nvGraphicFramePr>
          <p:cNvPr id="12" name="Table 11"/>
          <p:cNvGraphicFramePr>
            <a:graphicFrameLocks noGrp="1"/>
          </p:cNvGraphicFramePr>
          <p:nvPr/>
        </p:nvGraphicFramePr>
        <p:xfrm>
          <a:off x="777240" y="4317796"/>
          <a:ext cx="10637214" cy="1527960"/>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00" b="1">
                          <a:solidFill>
                            <a:srgbClr val="FFFFFF"/>
                          </a:solidFill>
                          <a:latin typeface="Calibri"/>
                        </a:rPr>
                        <a:t>Not built</a:t>
                      </a:r>
                    </a:p>
                  </a:txBody>
                  <a:tcPr marL="82296" marR="64008" marT="32004" marB="32004" anchor="ctr">
                    <a:solidFill>
                      <a:srgbClr val="4A4F57"/>
                    </a:solidFill>
                  </a:tcPr>
                </a:tc>
                <a:tc>
                  <a:txBody>
                    <a:bodyPr wrap="square"/>
                    <a:lstStyle/>
                    <a:p>
                      <a:pPr algn="l"/>
                      <a:r>
                        <a:rPr sz="900" b="1">
                          <a:solidFill>
                            <a:srgbClr val="FFFFFF"/>
                          </a:solidFill>
                          <a:latin typeface="Calibri"/>
                        </a:rPr>
                        <a:t>Why not</a:t>
                      </a:r>
                    </a:p>
                  </a:txBody>
                  <a:tcPr marL="82296" marR="64008" marT="32004" marB="32004" anchor="ctr">
                    <a:solidFill>
                      <a:srgbClr val="4A4F57"/>
                    </a:solidFill>
                  </a:tcPr>
                </a:tc>
              </a:tr>
              <a:tr h="299694">
                <a:tc>
                  <a:txBody>
                    <a:bodyPr wrap="square"/>
                    <a:lstStyle/>
                    <a:p>
                      <a:pPr algn="l"/>
                      <a:r>
                        <a:rPr sz="9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900" b="0">
                          <a:solidFill>
                            <a:srgbClr val="1C1C1E"/>
                          </a:solidFill>
                          <a:latin typeface="Calibri"/>
                        </a:rPr>
                        <a:t>nothing compares a generated summary with what it summarises; the replay that could exists for validation episodes, not documents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L-11  lens laws</a:t>
                      </a:r>
                    </a:p>
                  </a:txBody>
                  <a:tcPr marL="82296" marR="64008" marT="32004" marB="32004" anchor="ctr">
                    <a:solidFill>
                      <a:srgbClr val="F6F3EF"/>
                    </a:solidFill>
                  </a:tcPr>
                </a:tc>
                <a:tc>
                  <a:txBody>
                    <a:bodyPr wrap="square"/>
                    <a:lstStyle/>
                    <a:p>
                      <a:pPr algn="l"/>
                      <a:r>
                        <a:rPr sz="900" b="0">
                          <a:solidFill>
                            <a:srgbClr val="1C1C1E"/>
                          </a:solidFill>
                          <a:latin typeface="Calibri"/>
                        </a:rPr>
                        <a:t>documentation is regenerated whole rather than edited back, so there is no round trip to test</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900" b="0">
                          <a:solidFill>
                            <a:srgbClr val="1C1C1E"/>
                          </a:solidFill>
                          <a:latin typeface="Calibri"/>
                        </a:rPr>
                        <a:t>no consistency radius is computed anywhere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900" b="0">
                          <a:solidFill>
                            <a:srgbClr val="1C1C1E"/>
                          </a:solidFill>
                          <a:latin typeface="Calibri"/>
                        </a:rPr>
                        <a:t>there is no aggregate risk measure over composed models, and no interaction premium</a:t>
                      </a:r>
                    </a:p>
                  </a:txBody>
                  <a:tcPr marL="82296" marR="64008" marT="32004" marB="32004" anchor="ctr">
                    <a:solidFill>
                      <a:srgbClr val="F6F3E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THEY CATCH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laws refuse — and one thing they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run that will not say which numbers it used  ·  L-W8</a:t>
            </a:r>
          </a:p>
        </p:txBody>
      </p:sp>
      <p:sp>
        <p:nvSpPr>
          <p:cNvPr id="14" name="TextBox 13"/>
          <p:cNvSpPr txBox="1"/>
          <p:nvPr/>
        </p:nvSpPr>
        <p:spPr>
          <a:xfrm>
            <a:off x="996695" y="2350008"/>
            <a:ext cx="4742535"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Fitting does not change the kernel, so a run declining to name the point of P it runs at produces a number attributable to nothing. Three of the shipped warrant examples were under-specified this way until the law ran.</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calibration with no as-of moment  ·  L-W11</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calibration reproduces a market rather than summarising a history, so the moment it was solved for is part of what it means. Without the stamp, staleness is silent: yesterday's fit prices today's book and nothing says which market it came from.</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generative model named by family, not by build  ·  L-W13</a:t>
            </a:r>
          </a:p>
        </p:txBody>
      </p:sp>
      <p:sp>
        <p:nvSpPr>
          <p:cNvPr id="24" name="TextBox 23"/>
          <p:cNvSpPr txBox="1"/>
          <p:nvPr/>
        </p:nvSpPr>
        <p:spPr>
          <a:xfrm>
            <a:off x="996695" y="4498848"/>
            <a:ext cx="4742535"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family name covers weights the host replaces on its own schedule, unannounced. A warrant carrying only the family describes a model that can change between two runs while every field of the document stays identical.</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one law whose name oversells it  ·  L-15</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Every class gets a complete fibre — evidence schema, lifecycle, metrics, templates — and the gate runs at start-up, so a partial fibre is refused before anything is served. It is a dictionary over T0–T8 with a totality check rather than a fibration. What closed it was moving the base off the free-text model_class onto the DERIVED class: a totality gate over free text is defeated by typing a word nobody registered.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seven objects, and what each one answers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graphicFrame>
        <p:nvGraphicFramePr>
          <p:cNvPr id="10" name="Table 9"/>
          <p:cNvGraphicFramePr>
            <a:graphicFrameLocks noGrp="1"/>
          </p:cNvGraphicFramePr>
          <p:nvPr/>
        </p:nvGraphicFramePr>
        <p:xfrm>
          <a:off x="777240" y="1353312"/>
          <a:ext cx="10637214" cy="2716784"/>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stored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authorisation for ONE act — what may be run, by whom, on what data, until when. A FIT warrant to estimate; a SCORING warrant to use</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numbers a fit produced — one point in P</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28955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55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42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why </a:t>
            </a:r>
            <a:r>
              <a:rPr sz="1050" b="1" i="0">
                <a:solidFill>
                  <a:srgbClr val="1C1C1E"/>
                </a:solidFill>
                <a:latin typeface="Calibri"/>
              </a:rPr>
              <a:t>the same identifier resolves to the same bytes a year later.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stored version that cannot move</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risk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a moving name such as ‘production’; the move is 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the fitted numbers come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to one append-only, hash-linked chain</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When MAYA resolves a feature it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5318607"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 -- each</a:t>
            </a:r>
          </a:p>
          <a:p>
            <a:pPr>
              <a:lnSpc>
                <a:spcPct val="134000"/>
              </a:lnSpc>
              <a:spcBef>
                <a:spcPts val="0"/>
              </a:spcBef>
              <a:spcAft>
                <a:spcPts val="0"/>
              </a:spcAft>
            </a:pPr>
            <a:r>
              <a:rPr sz="900" b="0" i="0">
                <a:solidFill>
                  <a:srgbClr val="7A7F87"/>
                </a:solidFill>
                <a:latin typeface="Consolas"/>
              </a:rPr>
              <a:t># defined for every input -- and the row's own clock.</a:t>
            </a:r>
          </a:p>
          <a:p>
            <a:pPr>
              <a:lnSpc>
                <a:spcPct val="134000"/>
              </a:lnSpc>
              <a:spcBef>
                <a:spcPts val="0"/>
              </a:spcBef>
              <a:spcAft>
                <a:spcPts val="0"/>
              </a:spcAft>
            </a:pPr>
            <a:r>
              <a:rPr sz="900" b="0" i="0">
                <a:solidFill>
                  <a:srgbClr val="7A7F87"/>
                </a:solidFill>
                <a:latin typeface="Consolas"/>
              </a:rPr>
              <a:t># Checked against a whitelist as the text is parsed, so</a:t>
            </a:r>
          </a:p>
          <a:p>
            <a:pPr>
              <a:lnSpc>
                <a:spcPct val="134000"/>
              </a:lnSpc>
              <a:spcBef>
                <a:spcPts val="0"/>
              </a:spcBef>
              <a:spcAft>
                <a:spcPts val="0"/>
              </a:spcAft>
            </a:pPr>
            <a:r>
              <a:rPr sz="900" b="0" i="0">
                <a:solidFill>
                  <a:srgbClr val="7A7F87"/>
                </a:solidFill>
                <a:latin typeface="Consolas"/>
              </a:rPr>
              <a:t># what cannot be expressed cannot be smuggled in.</a:t>
            </a:r>
          </a:p>
        </p:txBody>
      </p:sp>
      <p:sp>
        <p:nvSpPr>
          <p:cNvPr id="13" name="Rectangle 12"/>
          <p:cNvSpPr/>
          <p:nvPr/>
        </p:nvSpPr>
        <p:spPr>
          <a:xfrm>
            <a:off x="777240" y="3409248"/>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409248"/>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528120"/>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601696"/>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every ancestor, not just the immediate inputs</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Certification is the meet, recomputed on every read — the weakest input wins, and deprecated is the weakest rank of all</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 — and a derivation still claiming certified after an input was deprecated</a:t>
                      </a:r>
                    </a:p>
                  </a:txBody>
                  <a:tcPr marL="82296" marR="64008" marT="32004" marB="32004" anchor="ctr">
                    <a:solidFill>
                      <a:srgbClr val="F6F3E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5744096"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LABEL: what the model</a:t>
            </a:r>
          </a:p>
          <a:p>
            <a:pPr>
              <a:lnSpc>
                <a:spcPct val="134000"/>
              </a:lnSpc>
              <a:spcBef>
                <a:spcPts val="0"/>
              </a:spcBef>
              <a:spcAft>
                <a:spcPts val="0"/>
              </a:spcAft>
            </a:pPr>
            <a:r>
              <a:rPr sz="900" b="0" i="0">
                <a:solidFill>
                  <a:srgbClr val="7A7F87"/>
                </a:solidFill>
                <a:latin typeface="Consolas"/>
              </a:rPr>
              <a:t>         # is being trained to predict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620521"/>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 the date a read is answered as of. One idea, applied four times.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A parent that cannot move is a parent worth building on.</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5956840" cy="231137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1137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us_index   daily_index      all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slot          →  feature         @ view_version</a:t>
            </a:r>
          </a:p>
          <a:p>
            <a:pPr>
              <a:lnSpc>
                <a:spcPct val="134000"/>
              </a:lnSpc>
              <a:spcBef>
                <a:spcPts val="0"/>
              </a:spcBef>
              <a:spcAft>
                <a:spcPts val="0"/>
              </a:spcAft>
            </a:pPr>
            <a:r>
              <a:rPr sz="950" b="0" i="0">
                <a:solidFill>
                  <a:srgbClr val="1C1C1E"/>
                </a:solidFill>
                <a:latin typeface="Consolas"/>
              </a:rPr>
              <a:t>@v1    gb_index      →  UKRPI           @ 2025-02</a:t>
            </a:r>
          </a:p>
          <a:p>
            <a:pPr>
              <a:lnSpc>
                <a:spcPct val="134000"/>
              </a:lnSpc>
              <a:spcBef>
                <a:spcPts val="0"/>
              </a:spcBef>
              <a:spcAft>
                <a:spcPts val="0"/>
              </a:spcAft>
            </a:pPr>
            <a:r>
              <a:rPr sz="950" b="0" i="0">
                <a:solidFill>
                  <a:srgbClr val="1C1C1E"/>
                </a:solidFill>
                <a:latin typeface="Consolas"/>
              </a:rPr>
              <a:t>       us_index      →  USCPI           @ 2025-02</a:t>
            </a:r>
          </a:p>
          <a:p>
            <a:pPr>
              <a:lnSpc>
                <a:spcPct val="134000"/>
              </a:lnSpc>
              <a:spcBef>
                <a:spcPts val="0"/>
              </a:spcBef>
              <a:spcAft>
                <a:spcPts val="0"/>
              </a:spcAft>
            </a:pPr>
            <a:r>
              <a:rPr sz="950" b="0" i="0">
                <a:solidFill>
                  <a:srgbClr val="1C1C1E"/>
                </a:solidFill>
                <a:latin typeface="Consolas"/>
              </a:rPr>
              <a:t>       daily_index   →  RPI_DAILY_MKT   @ 2025-02</a:t>
            </a:r>
          </a:p>
          <a:p>
            <a:pPr>
              <a:lnSpc>
                <a:spcPct val="134000"/>
              </a:lnSpc>
              <a:spcBef>
                <a:spcPts val="0"/>
              </a:spcBef>
              <a:spcAft>
                <a:spcPts val="0"/>
              </a:spcAft>
            </a:pPr>
            <a:r>
              <a:rPr sz="950" b="0" i="0">
                <a:solidFill>
                  <a:srgbClr val="1C1C1E"/>
                </a:solidFill>
                <a:latin typeface="Consolas"/>
              </a:rPr>
              <a:t>@v2    gb_index      →  UKRPI           @ 2025-06</a:t>
            </a:r>
          </a:p>
          <a:p>
            <a:pPr>
              <a:lnSpc>
                <a:spcPct val="134000"/>
              </a:lnSpc>
              <a:spcBef>
                <a:spcPts val="0"/>
              </a:spcBef>
              <a:spcAft>
                <a:spcPts val="0"/>
              </a:spcAft>
            </a:pPr>
            <a:r>
              <a:rPr sz="950" b="0" i="0">
                <a:solidFill>
                  <a:srgbClr val="1C1C1E"/>
                </a:solidFill>
                <a:latin typeface="Consolas"/>
              </a:rPr>
              <a:t>       us_index      →  USCPI           @ 2025-06</a:t>
            </a:r>
          </a:p>
          <a:p>
            <a:pPr>
              <a:lnSpc>
                <a:spcPct val="134000"/>
              </a:lnSpc>
              <a:spcBef>
                <a:spcPts val="0"/>
              </a:spcBef>
              <a:spcAft>
                <a:spcPts val="0"/>
              </a:spcAft>
            </a:pPr>
            <a:r>
              <a:rPr sz="950" b="0" i="0">
                <a:solidFill>
                  <a:srgbClr val="1C1C1E"/>
                </a:solidFill>
                <a:latin typeface="Consolas"/>
              </a:rPr>
              <a:t>       daily_index   →  RPI_DAILY_DMO   @ 2025-06</a:t>
            </a:r>
          </a:p>
        </p:txBody>
      </p:sp>
      <p:sp>
        <p:nvSpPr>
          <p:cNvPr id="13" name="TextBox 12"/>
          <p:cNvSpPr txBox="1"/>
          <p:nvPr/>
        </p:nvSpPr>
        <p:spPr>
          <a:xfrm>
            <a:off x="777240" y="3902430"/>
            <a:ext cx="5956840" cy="2011680"/>
          </a:xfrm>
          <a:prstGeom prst="rect">
            <a:avLst/>
          </a:prstGeom>
          <a:noFill/>
        </p:spPr>
        <p:txBody>
          <a:bodyPr wrap="square" lIns="0" rIns="0" tIns="0" bIns="0" anchor="t">
            <a:spAutoFit/>
          </a:bodyPr>
          <a:lstStyle/>
          <a:p>
            <a:pPr algn="l">
              <a:lnSpc>
                <a:spcPct val="125000"/>
              </a:lnSpc>
              <a:spcBef>
                <a:spcPts val="0"/>
              </a:spcBef>
              <a:spcAft>
                <a:spcPts val="900"/>
              </a:spcAft>
            </a:pPr>
            <a:r>
              <a:rPr sz="1100" b="1" i="0">
                <a:solidFill>
                  <a:srgbClr val="A51C30"/>
                </a:solidFill>
                <a:latin typeface="Calibri"/>
              </a:rPr>
              <a:t>Like for like. </a:t>
            </a:r>
            <a:r>
              <a:rPr sz="1100" b="0" i="0">
                <a:solidFill>
                  <a:srgbClr val="1C1C1E"/>
                </a:solidFill>
                <a:latin typeface="Calibri"/>
              </a:rPr>
              <a:t>@v2 binds daily_index to a different daily RPI reference — the same signal at the same frequency for the same entity, published by somebody else.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a different featureset, or it is a model change, and the register decides which. Rolling forward mints a version re-resolved to the newest view versions, with a diff naming every slot that moved.</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 what fills a slot, and from where —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location in storage</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22529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22529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10058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naming views without pinning them would resolve to different bytes next month, with its digest — the hash that names its contents — unchanged: </a:t>
            </a:r>
            <a:r>
              <a:rPr sz="1050" b="1" i="0">
                <a:solidFill>
                  <a:srgbClr val="1C1C1E"/>
                </a:solidFill>
                <a:latin typeface="Calibri"/>
              </a:rPr>
              <a:t>a stable name over moving contents.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Rectangle 39"/>
          <p:cNvSpPr/>
          <p:nvPr/>
        </p:nvSpPr>
        <p:spPr>
          <a:xfrm>
            <a:off x="777240" y="4256532"/>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4256532"/>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1014983" y="4375404"/>
            <a:ext cx="10180015" cy="804672"/>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a:t>
            </a:r>
          </a:p>
        </p:txBody>
      </p:sp>
      <p:sp>
        <p:nvSpPr>
          <p:cNvPr id="43" name="TextBox 42"/>
          <p:cNvSpPr txBox="1"/>
          <p:nvPr/>
        </p:nvSpPr>
        <p:spPr>
          <a:xfrm>
            <a:off x="777240" y="5390388"/>
            <a:ext cx="10637215" cy="31089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 sealed parent cannot drift </a:t>
            </a:r>
            <a:r>
              <a:rPr sz="1000" b="0" i="0">
                <a:solidFill>
                  <a:srgbClr val="4A4F57"/>
                </a:solidFill>
                <a:latin typeface="Calibri"/>
              </a:rPr>
              <a:t>— the amendment that would move it is refused, so sealing turns a promise about stability into a property of the object.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800"/>
              </a:spcAft>
            </a:pPr>
            <a:r>
              <a:rPr sz="1000" b="0" i="0">
                <a:solidFill>
                  <a:srgbClr val="4A4F57"/>
                </a:solidFill>
                <a:latin typeface="Calibri"/>
              </a:rPr>
              <a:t>If a parent could beat a child, naming a parent would be an act of surrender; if order did not matter, ‘combine these two’ would be ambiguous whenever they disagreed.</a:t>
            </a:r>
          </a:p>
          <a:p>
            <a:pPr>
              <a:lnSpc>
                <a:spcPct val="124000"/>
              </a:lnSpc>
              <a:spcBef>
                <a:spcPts val="0"/>
              </a:spcBef>
              <a:spcAft>
                <a:spcPts val="80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a:p>
            <a:pPr>
              <a:lnSpc>
                <a:spcPct val="124000"/>
              </a:lnSpc>
              <a:spcBef>
                <a:spcPts val="0"/>
              </a:spcBef>
              <a:spcAft>
                <a:spcPts val="800"/>
              </a:spcAft>
            </a:pPr>
            <a:r>
              <a:rPr sz="1000" b="1" i="0">
                <a:solidFill>
                  <a:srgbClr val="A51C30"/>
                </a:solidFill>
                <a:latin typeface="Calibri"/>
              </a:rPr>
              <a:t>A composed set satisfies a kernel exactly as a declared one does</a:t>
            </a:r>
            <a:r>
              <a:rPr sz="1000" b="0" i="0">
                <a:solidFill>
                  <a:srgbClr val="4A4F57"/>
                </a:solidFill>
                <a:latin typeface="Calibri"/>
              </a:rPr>
              <a:t> — the schema L-W10 checks is the RESOLVED one, the same slots the data fills. Inheriting every slot is the ordinary case, not an exotic one.</a:t>
            </a:r>
          </a:p>
          <a:p>
            <a:pPr>
              <a:lnSpc>
                <a:spcPct val="124000"/>
              </a:lnSpc>
              <a:spcBef>
                <a:spcPts val="0"/>
              </a:spcBef>
              <a:spcAft>
                <a:spcPts val="0"/>
              </a:spcAft>
            </a:pPr>
            <a:r>
              <a:rPr sz="1000" b="1" i="0">
                <a:solidFill>
                  <a:srgbClr val="A51C30"/>
                </a:solidFill>
                <a:latin typeface="Calibri"/>
              </a:rPr>
              <a:t>Two compositions are refused outright:</a:t>
            </a:r>
            <a:r>
              <a:rPr sz="1000" b="0" i="0">
                <a:solidFill>
                  <a:srgbClr val="4A4F57"/>
                </a:solidFill>
                <a:latin typeface="Calibri"/>
              </a:rPr>
              <a:t> a cycle, which has no fixed point to resolve to; and an ephemeral parent, which resolves today and dangles tomorrow.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353312"/>
            <a:ext cx="5744096" cy="239714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9714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214265"/>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BINDING names where something comes from, or goes</a:t>
            </a:r>
          </a:p>
          <a:p>
            <a:pPr>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969913"/>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969913"/>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4088785"/>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point in P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 the parameter kind, the source binding, the runtime — never on a category anybody attached to the model. L-W12 bites hardest on a neural network, yet is not written in terms of the class, because a PMML scorecard is T2 and carries the same exposure: </a:t>
            </a:r>
            <a:r>
              <a:rPr sz="1050" b="1" i="0">
                <a:solidFill>
                  <a:srgbClr val="1C1C1E"/>
                </a:solidFill>
                <a:latin typeface="Calibri"/>
              </a:rPr>
              <a:t>keying it on the class would have missed that, and looked like coverage.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483917"/>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policy gate at warrant resolution</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 — authority given to one principal for one stated use</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never inherited</a:t>
                      </a:r>
                    </a:p>
                  </a:txBody>
                  <a:tcPr marL="82296" marR="64008" marT="32004" marB="32004" anchor="ctr">
                    <a:solidFill>
                      <a:srgbClr val="FFFFFF"/>
                    </a:solidFill>
                  </a:tcPr>
                </a:tc>
              </a:tr>
            </a:tbl>
          </a:graphicData>
        </a:graphic>
      </p:graphicFrame>
      <p:sp>
        <p:nvSpPr>
          <p:cNvPr id="23" name="Rectangle 22"/>
          <p:cNvSpPr/>
          <p:nvPr/>
        </p:nvSpPr>
        <p:spPr>
          <a:xfrm>
            <a:off x="777240" y="4885486"/>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885486"/>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5004358"/>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time to live and binding kind are refused AT CREATION, </a:t>
            </a:r>
            <a:r>
              <a:rPr sz="1050" b="0" i="0">
                <a:solidFill>
                  <a:srgbClr val="1C1C1E"/>
                </a:solidFill>
                <a:latin typeface="Calibri"/>
              </a:rPr>
              <a:t>not defended at use: a check performed when the profile is written is one nobody can forget later. </a:t>
            </a:r>
            <a:r>
              <a:rPr sz="1050" b="1" i="0">
                <a:solidFill>
                  <a:srgbClr val="1C1C1E"/>
                </a:solidFill>
                <a:latin typeface="Calibri"/>
              </a:rPr>
              <a:t>A template able to widen authority is an authority mechanism in a convenience mechanism's clothes.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graphicFrame>
        <p:nvGraphicFramePr>
          <p:cNvPr id="10" name="Table 9"/>
          <p:cNvGraphicFramePr>
            <a:graphicFrameLocks noGrp="1"/>
          </p:cNvGraphicFramePr>
          <p:nvPr/>
        </p:nvGraphicFramePr>
        <p:xfrm>
          <a:off x="777240" y="1353312"/>
          <a:ext cx="10637213" cy="2133092"/>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 — or flagged unchecked</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742436"/>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4243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61308"/>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 the set of models a change reaches — it appears in; a variant counted as one makes a change to the parent look like a change to a book it never touched.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ONE THAT COMPOSES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edge between models is type-checked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Rectangle 9"/>
          <p:cNvSpPr/>
          <p:nvPr/>
        </p:nvSpPr>
        <p:spPr>
          <a:xfrm>
            <a:off x="777240" y="13533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3" name="TextBox 12"/>
          <p:cNvSpPr txBox="1"/>
          <p:nvPr/>
        </p:nvSpPr>
        <p:spPr>
          <a:xfrm>
            <a:off x="978408" y="174650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shared = the names output(A) and input(B) have in common</a:t>
            </a:r>
          </a:p>
          <a:p>
            <a:pPr>
              <a:lnSpc>
                <a:spcPct val="134000"/>
              </a:lnSpc>
              <a:spcBef>
                <a:spcPts val="0"/>
              </a:spcBef>
              <a:spcAft>
                <a:spcPts val="0"/>
              </a:spcAft>
            </a:pPr>
            <a:r>
              <a:rPr sz="950" b="0" i="0">
                <a:solidFill>
                  <a:srgbClr val="1C1C1E"/>
                </a:solidFill>
                <a:latin typeface="Consolas"/>
              </a:rPr>
              <a:t>refines( output(A),  input(B) restricted to shared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shared is empty        → a wire to nowhere: refused</a:t>
            </a:r>
          </a:p>
          <a:p>
            <a:pPr>
              <a:lnSpc>
                <a:spcPct val="134000"/>
              </a:lnSpc>
              <a:spcBef>
                <a:spcPts val="0"/>
              </a:spcBef>
              <a:spcAft>
                <a:spcPts val="0"/>
              </a:spcAft>
            </a:pPr>
            <a:r>
              <a:rPr sz="950" b="0" i="0">
                <a:solidFill>
                  <a:srgbClr val="7A7F87"/>
                </a:solidFill>
                <a:latin typeface="Consolas"/>
              </a:rPr>
              <a:t># a shared field clashes → refused, and it names the field</a:t>
            </a:r>
          </a:p>
          <a:p>
            <a:pPr>
              <a:lnSpc>
                <a:spcPct val="134000"/>
              </a:lnSpc>
              <a:spcBef>
                <a:spcPts val="0"/>
              </a:spcBef>
              <a:spcAft>
                <a:spcPts val="0"/>
              </a:spcAft>
            </a:pPr>
            <a:r>
              <a:rPr sz="950" b="0" i="0">
                <a:solidFill>
                  <a:srgbClr val="7A7F87"/>
                </a:solidFill>
                <a:latin typeface="Consolas"/>
              </a:rPr>
              <a:t># B reads more besides   → fine: another edge carries it,</a:t>
            </a:r>
          </a:p>
          <a:p>
            <a:pPr>
              <a:lnSpc>
                <a:spcPct val="134000"/>
              </a:lnSpc>
              <a:spcBef>
                <a:spcPts val="0"/>
              </a:spcBef>
              <a:spcAft>
                <a:spcPts val="0"/>
              </a:spcAft>
            </a:pPr>
            <a:r>
              <a:rPr sz="950" b="0" i="0">
                <a:solidFill>
                  <a:srgbClr val="7A7F87"/>
                </a:solidFill>
                <a:latin typeface="Consolas"/>
              </a:rPr>
              <a:t>#                          or the caller supplies it</a:t>
            </a:r>
          </a:p>
          <a:p>
            <a:pPr>
              <a:lnSpc>
                <a:spcPct val="134000"/>
              </a:lnSpc>
              <a:spcBef>
                <a:spcPts val="0"/>
              </a:spcBef>
              <a:spcAft>
                <a:spcPts val="0"/>
              </a:spcAft>
            </a:pPr>
            <a:r>
              <a:rPr sz="950" b="0" i="0">
                <a:solidFill>
                  <a:srgbClr val="7A7F87"/>
                </a:solidFill>
                <a:latin typeface="Consolas"/>
              </a:rPr>
              <a:t># either end unversioned → recorded, type_checked = 0</a:t>
            </a:r>
          </a:p>
        </p:txBody>
      </p:sp>
      <p:sp>
        <p:nvSpPr>
          <p:cNvPr id="14" name="Rectangle 13"/>
          <p:cNvSpPr/>
          <p:nvPr/>
        </p:nvSpPr>
        <p:spPr>
          <a:xfrm>
            <a:off x="777240" y="3805915"/>
            <a:ext cx="5744096" cy="12984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805915"/>
            <a:ext cx="41148" cy="12984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924787"/>
            <a:ext cx="5286896" cy="10789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least one shared field, and every shared field type-checks. </a:t>
            </a:r>
            <a:r>
              <a:rPr sz="1050" b="0" i="0">
                <a:solidFill>
                  <a:srgbClr val="1C1C1E"/>
                </a:solidFill>
                <a:latin typeface="Calibri"/>
              </a:rPr>
              <a:t>Asking the source to satisfy the whole of the target’s input refused the ordinary shape of a model network and admitted only the degenerate case where a model reads nothing but its predecessor. What B reads from elsewhere is not this edge’s business — </a:t>
            </a:r>
            <a:r>
              <a:rPr sz="1050" b="1" i="0">
                <a:solidFill>
                  <a:srgbClr val="1C1C1E"/>
                </a:solidFill>
                <a:latin typeface="Calibri"/>
              </a:rPr>
              <a:t>and the composite’s schema now says what the caller must still supply.</a:t>
            </a:r>
          </a:p>
        </p:txBody>
      </p:sp>
      <p:sp>
        <p:nvSpPr>
          <p:cNvPr id="17" name="TextBox 16"/>
          <p:cNvSpPr txBox="1"/>
          <p:nvPr/>
        </p:nvSpPr>
        <p:spPr>
          <a:xfrm>
            <a:off x="6946824" y="1353312"/>
            <a:ext cx="4467630" cy="365760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input_to is a claim about types.</a:t>
            </a:r>
          </a:p>
          <a:p>
            <a:pPr>
              <a:lnSpc>
                <a:spcPct val="126000"/>
              </a:lnSpc>
              <a:spcBef>
                <a:spcPts val="0"/>
              </a:spcBef>
              <a:spcAft>
                <a:spcPts val="900"/>
              </a:spcAft>
            </a:pPr>
            <a:r>
              <a:rPr sz="1100" b="0" i="0">
                <a:solidFill>
                  <a:srgbClr val="1C1C1E"/>
                </a:solidFill>
                <a:latin typeface="Calibri"/>
              </a:rPr>
              <a:t>A’s output is read as an input by B — a discount curve into a pricer, a PD model into an ECL stack. MAYA moves no data and runs no model: the edge is a statement about two entries in the REGISTER, which is exactly why it can be checked at all.</a:t>
            </a:r>
          </a:p>
          <a:p>
            <a:pPr>
              <a:spcBef>
                <a:spcPts val="0"/>
              </a:spcBef>
              <a:spcAft>
                <a:spcPts val="800"/>
              </a:spcAft>
            </a:pPr>
            <a:r>
              <a:rPr sz="1200" b="1" i="0">
                <a:solidFill>
                  <a:srgbClr val="A51C30"/>
                </a:solidFill>
                <a:latin typeface="Georgia"/>
              </a:rPr>
              <a:t>And where it could not be checked, it says so.</a:t>
            </a:r>
          </a:p>
          <a:p>
            <a:pPr>
              <a:lnSpc>
                <a:spcPct val="126000"/>
              </a:lnSpc>
              <a:spcBef>
                <a:spcPts val="0"/>
              </a:spcBef>
              <a:spcAft>
                <a:spcPts val="900"/>
              </a:spcAft>
            </a:pPr>
            <a:r>
              <a:rPr sz="1100" b="0" i="0">
                <a:solidFill>
                  <a:srgbClr val="1C1C1E"/>
                </a:solidFill>
                <a:latin typeface="Calibri"/>
              </a:rPr>
              <a:t>An edge either end of which has no version yet is recorded with the type check SKIPPED — you cannot always add models in dependency order — and carries type_checked = 0 to say which kind it is.</a:t>
            </a:r>
          </a:p>
          <a:p>
            <a:pPr>
              <a:lnSpc>
                <a:spcPct val="126000"/>
              </a:lnSpc>
              <a:spcBef>
                <a:spcPts val="0"/>
              </a:spcBef>
              <a:spcAft>
                <a:spcPts val="0"/>
              </a:spcAft>
            </a:pPr>
            <a:r>
              <a:rPr sz="1050" b="0" i="0">
                <a:solidFill>
                  <a:srgbClr val="4A4F57"/>
                </a:solidFill>
                <a:latin typeface="Calibri"/>
              </a:rPr>
              <a:t>Until that flag it was indistinguishable from a checked edge, and travelled through blast radius as though somebody had validated it: a control reporting success it had not performed. So “a dependency edge type-checks or does not exist” is overstated, and the flag is what makes the exception visible.</a:t>
            </a:r>
          </a:p>
        </p:txBody>
      </p:sp>
      <p:sp>
        <p:nvSpPr>
          <p:cNvPr id="18" name="Rectangle 17"/>
          <p:cNvSpPr/>
          <p:nvPr/>
        </p:nvSpPr>
        <p:spPr>
          <a:xfrm>
            <a:off x="777240" y="5342107"/>
            <a:ext cx="10637215" cy="80467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342107"/>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460979"/>
            <a:ext cx="10180015" cy="58521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the edge makes answerable. </a:t>
            </a:r>
            <a:r>
              <a:rPr sz="1050" b="0" i="0">
                <a:solidFill>
                  <a:srgbClr val="1C1C1E"/>
                </a:solidFill>
                <a:latin typeface="Calibri"/>
              </a:rPr>
              <a:t>A blast radius follows only the propagating edges and returns each model with its DISTANCE, so the immediately affected are separable from those two hops away, and with the worst TIER reached — one Tier 1 model is not five Tier 4s. A cycle is refused at the edge that would close it, naming the path that already exists.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TWO NETWORKS, IDENTICAL PARTS</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copying a dependency is not duplicating it, and no rule that reads models one at a time can tell.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800"/>
              </a:spcAft>
            </a:pPr>
            <a:r>
              <a:rPr sz="1100" b="1" i="0">
                <a:solidFill>
                  <a:srgbClr val="A51C30"/>
                </a:solidFill>
                <a:latin typeface="Calibri"/>
              </a:rPr>
              <a:t>What it does answer is the supervisor’s actual question</a:t>
            </a:r>
            <a:r>
              <a:rPr sz="1100" b="0" i="0">
                <a:solidFill>
                  <a:srgbClr val="4A4F57"/>
                </a:solidFill>
                <a:latin typeface="Calibri"/>
              </a:rPr>
              <a:t> — “common dependencies and shared assumptions” — model by model, as a list rather than a paragraph.</a:t>
            </a:r>
          </a:p>
          <a:p>
            <a:pPr>
              <a:lnSpc>
                <a:spcPct val="126000"/>
              </a:lnSpc>
              <a:spcBef>
                <a:spcPts val="0"/>
              </a:spcBef>
              <a:spcAft>
                <a:spcPts val="0"/>
              </a:spcAft>
            </a:pPr>
            <a:r>
              <a:rPr sz="1100" b="0" i="0">
                <a:solidFill>
                  <a:srgbClr val="1C1C1E"/>
                </a:solidFill>
                <a:latin typeface="Calibri"/>
              </a:rPr>
              <a:t>A theorem arriving as a product decision rather than a footnote.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have no document to be filed against,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calibration is a governed act, two hundred and fifty times a year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In most estates none of them has a record anybody can read, and the note explaining the one morning it went wrong lives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It has no answer to “which data produced these numbers”, and that is worth saying out loud rather than leaving a heading with nothing under it.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353312"/>
            <a:ext cx="5956840"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a:t>
            </a:r>
          </a:p>
          <a:p>
            <a:pPr>
              <a:lnSpc>
                <a:spcPct val="134000"/>
              </a:lnSpc>
              <a:spcBef>
                <a:spcPts val="0"/>
              </a:spcBef>
              <a:spcAft>
                <a:spcPts val="0"/>
              </a:spcAft>
            </a:pPr>
            <a:r>
              <a:rPr sz="900" b="0" i="0">
                <a:solidFill>
                  <a:srgbClr val="1C1C1E"/>
                </a:solidFill>
                <a:latin typeface="Consolas"/>
              </a:rPr>
              <a:t> │               EU AI Act Annex IV technical file</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documents are rendered, not compiled, so cutting a pack monthly does not silently author four documents a month. And it does not re-materialise personal data — a flagged node carries its erasable pointer into the pack, because resolving it would put personal data where an erasure request cannot reach.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60</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engine shipped with it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a:t>
            </a:r>
            <a:r>
              <a:rPr sz="1050" b="1" i="0">
                <a:solidFill>
                  <a:srgbClr val="1C1C1E"/>
                </a:solidFill>
                <a:latin typeface="Calibri"/>
              </a:rPr>
              <a:t>the rest of it worth relying 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Refusing at the edge of what it can see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graphicFrame>
        <p:nvGraphicFramePr>
          <p:cNvPr id="10" name="Table 9"/>
          <p:cNvGraphicFramePr>
            <a:graphicFrameLocks noGrp="1"/>
          </p:cNvGraphicFramePr>
          <p:nvPr/>
        </p:nvGraphicFramePr>
        <p:xfrm>
          <a:off x="777240" y="1353312"/>
          <a:ext cx="10637213" cy="2517912"/>
        </p:xfrm>
        <a:graphic>
          <a:graphicData uri="http://schemas.openxmlformats.org/drawingml/2006/table">
            <a:tbl>
              <a:tblPr firstRow="1">
                <a:tableStyleId>{5C22544A-7EE6-4342-B048-85BDC9FD1C3A}</a:tableStyleId>
              </a:tblPr>
              <a:tblGrid>
                <a:gridCol w="3117804"/>
                <a:gridCol w="2751003"/>
                <a:gridCol w="4768406"/>
              </a:tblGrid>
              <a:tr h="329184">
                <a:tc>
                  <a:txBody>
                    <a:bodyPr wrap="square"/>
                    <a:lstStyle/>
                    <a:p>
                      <a:pPr algn="l"/>
                      <a:r>
                        <a:rPr sz="950" b="1">
                          <a:solidFill>
                            <a:srgbClr val="FFFFFF"/>
                          </a:solidFill>
                          <a:latin typeface="Calibri"/>
                        </a:rPr>
                        <a:t>At this boundary</a:t>
                      </a:r>
                    </a:p>
                  </a:txBody>
                  <a:tcPr marL="82296" marR="64008" marT="32004" marB="32004" anchor="ctr">
                    <a:solidFill>
                      <a:srgbClr val="A51C30"/>
                    </a:solidFill>
                  </a:tcPr>
                </a:tc>
                <a:tc>
                  <a:txBody>
                    <a:bodyPr wrap="square"/>
                    <a:lstStyle/>
                    <a:p>
                      <a:pPr algn="l"/>
                      <a:r>
                        <a:rPr sz="950" b="1">
                          <a:solidFill>
                            <a:srgbClr val="FFFFFF"/>
                          </a:solidFill>
                          <a:latin typeface="Calibri"/>
                        </a:rPr>
                        <a:t>The convenient answer</a:t>
                      </a:r>
                    </a:p>
                  </a:txBody>
                  <a:tcPr marL="82296" marR="64008" marT="32004" marB="32004" anchor="ctr">
                    <a:solidFill>
                      <a:srgbClr val="A51C30"/>
                    </a:solidFill>
                  </a:tcPr>
                </a:tc>
                <a:tc>
                  <a:txBody>
                    <a:bodyPr wrap="square"/>
                    <a:lstStyle/>
                    <a:p>
                      <a:pPr algn="l"/>
                      <a:r>
                        <a:rPr sz="950" b="1">
                          <a:solidFill>
                            <a:srgbClr val="FFFFFF"/>
                          </a:solidFill>
                          <a:latin typeface="Calibri"/>
                        </a:rPr>
                        <a:t>What it reports instead</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a timestamp token nobody has verified</a:t>
                      </a:r>
                    </a:p>
                  </a:txBody>
                  <a:tcPr marL="82296" marR="64008" marT="32004" marB="32004" anchor="ctr">
                    <a:solidFill>
                      <a:srgbClr val="FFFFFF"/>
                    </a:solidFill>
                  </a:tcPr>
                </a:tc>
                <a:tc>
                  <a:txBody>
                    <a:bodyPr wrap="square"/>
                    <a:lstStyle/>
                    <a:p>
                      <a:pPr algn="l"/>
                      <a:r>
                        <a:rPr sz="950" b="0">
                          <a:solidFill>
                            <a:srgbClr val="1C1C1E"/>
                          </a:solidFill>
                          <a:latin typeface="Calibri"/>
                        </a:rPr>
                        <a:t>“verified” — or “no token”</a:t>
                      </a:r>
                    </a:p>
                  </a:txBody>
                  <a:tcPr marL="82296" marR="64008" marT="32004" marB="32004" anchor="ctr">
                    <a:solidFill>
                      <a:srgbClr val="FFFFFF"/>
                    </a:solidFill>
                  </a:tcPr>
                </a:tc>
                <a:tc>
                  <a:txBody>
                    <a:bodyPr wrap="square"/>
                    <a:lstStyle/>
                    <a:p>
                      <a:pPr algn="l"/>
                      <a:r>
                        <a:rPr sz="950" b="0">
                          <a:solidFill>
                            <a:srgbClr val="1C1C1E"/>
                          </a:solidFill>
                          <a:latin typeface="Calibri"/>
                        </a:rPr>
                        <a:t>a third state. Checking one means holding a certificate chain and choosing which roots to trust, which the firm's security function decided once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an export from another model registry</a:t>
                      </a:r>
                    </a:p>
                  </a:txBody>
                  <a:tcPr marL="82296" marR="64008" marT="32004" marB="32004" anchor="ctr">
                    <a:solidFill>
                      <a:srgbClr val="F6F3EF"/>
                    </a:solidFill>
                  </a:tcPr>
                </a:tc>
                <a:tc>
                  <a:txBody>
                    <a:bodyPr wrap="square"/>
                    <a:lstStyle/>
                    <a:p>
                      <a:pPr algn="l"/>
                      <a:r>
                        <a:rPr sz="950" b="0">
                          <a:solidFill>
                            <a:srgbClr val="1C1C1E"/>
                          </a:solidFill>
                          <a:latin typeface="Calibri"/>
                        </a:rPr>
                        <a:t>registrations, at import scale</a:t>
                      </a:r>
                    </a:p>
                  </a:txBody>
                  <a:tcPr marL="82296" marR="64008" marT="32004" marB="32004" anchor="ctr">
                    <a:solidFill>
                      <a:srgbClr val="F6F3EF"/>
                    </a:solidFill>
                  </a:tcPr>
                </a:tc>
                <a:tc>
                  <a:txBody>
                    <a:bodyPr wrap="square"/>
                    <a:lstStyle/>
                    <a:p>
                      <a:pPr algn="l"/>
                      <a:r>
                        <a:rPr sz="950" b="0">
                          <a:solidFill>
                            <a:srgbClr val="1C1C1E"/>
                          </a:solidFill>
                          <a:latin typeface="Calibri"/>
                        </a:rPr>
                        <a:t>candidates for triage. Owner, purpose, entity, materiality and ‘is it a model at all’ are in no ML platform anywhere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 discovery sweep with malformed rows</a:t>
                      </a:r>
                    </a:p>
                  </a:txBody>
                  <a:tcPr marL="82296" marR="64008" marT="32004" marB="32004" anchor="ctr">
                    <a:solidFill>
                      <a:srgbClr val="FFFFFF"/>
                    </a:solidFill>
                  </a:tcPr>
                </a:tc>
                <a:tc>
                  <a:txBody>
                    <a:bodyPr wrap="square"/>
                    <a:lstStyle/>
                    <a:p>
                      <a:pPr algn="l"/>
                      <a:r>
                        <a:rPr sz="950" b="0">
                          <a:solidFill>
                            <a:srgbClr val="1C1C1E"/>
                          </a:solidFill>
                          <a:latin typeface="Calibri"/>
                        </a:rPr>
                        <a:t>keep the good ones</a:t>
                      </a:r>
                    </a:p>
                  </a:txBody>
                  <a:tcPr marL="82296" marR="64008" marT="32004" marB="32004" anchor="ctr">
                    <a:solidFill>
                      <a:srgbClr val="FFFFFF"/>
                    </a:solidFill>
                  </a:tcPr>
                </a:tc>
                <a:tc>
                  <a:txBody>
                    <a:bodyPr wrap="square"/>
                    <a:lstStyle/>
                    <a:p>
                      <a:pPr algn="l"/>
                      <a:r>
                        <a:rPr sz="950" b="0">
                          <a:solidFill>
                            <a:srgbClr val="1C1C1E"/>
                          </a:solidFill>
                          <a:latin typeface="Calibri"/>
                        </a:rPr>
                        <a:t>refused whole. A partial ingest grades the rows MAYA kept, not the scanner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an extension that is installed</a:t>
                      </a:r>
                    </a:p>
                  </a:txBody>
                  <a:tcPr marL="82296" marR="64008" marT="32004" marB="32004" anchor="ctr">
                    <a:solidFill>
                      <a:srgbClr val="F6F3EF"/>
                    </a:solidFill>
                  </a:tcPr>
                </a:tc>
                <a:tc>
                  <a:txBody>
                    <a:bodyPr wrap="square"/>
                    <a:lstStyle/>
                    <a:p>
                      <a:pPr algn="l"/>
                      <a:r>
                        <a:rPr sz="950" b="0">
                          <a:solidFill>
                            <a:srgbClr val="1C1C1E"/>
                          </a:solidFill>
                          <a:latin typeface="Calibri"/>
                        </a:rPr>
                        <a:t>load it</a:t>
                      </a:r>
                    </a:p>
                  </a:txBody>
                  <a:tcPr marL="82296" marR="64008" marT="32004" marB="32004" anchor="ctr">
                    <a:solidFill>
                      <a:srgbClr val="F6F3EF"/>
                    </a:solidFill>
                  </a:tcPr>
                </a:tc>
                <a:tc>
                  <a:txBody>
                    <a:bodyPr wrap="square"/>
                    <a:lstStyle/>
                    <a:p>
                      <a:pPr algn="l"/>
                      <a:r>
                        <a:rPr sz="950" b="0">
                          <a:solidFill>
                            <a:srgbClr val="1C1C1E"/>
                          </a:solidFill>
                          <a:latin typeface="Calibri"/>
                        </a:rPr>
                        <a:t>seen, not enabled. A control switched on by a dependency bump is a control nobody turned on</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pack sent to a supervisor</a:t>
                      </a:r>
                    </a:p>
                  </a:txBody>
                  <a:tcPr marL="82296" marR="64008" marT="32004" marB="32004" anchor="ctr">
                    <a:solidFill>
                      <a:srgbClr val="FFFFFF"/>
                    </a:solidFill>
                  </a:tcPr>
                </a:tc>
                <a:tc>
                  <a:txBody>
                    <a:bodyPr wrap="square"/>
                    <a:lstStyle/>
                    <a:p>
                      <a:pPr algn="l"/>
                      <a:r>
                        <a:rPr sz="950" b="0">
                          <a:solidFill>
                            <a:srgbClr val="1C1C1E"/>
                          </a:solidFill>
                          <a:latin typeface="Calibri"/>
                        </a:rPr>
                        <a:t>an examiner portal</a:t>
                      </a:r>
                    </a:p>
                  </a:txBody>
                  <a:tcPr marL="82296" marR="64008" marT="32004" marB="32004" anchor="ctr">
                    <a:solidFill>
                      <a:srgbClr val="FFFFFF"/>
                    </a:solidFill>
                  </a:tcPr>
                </a:tc>
                <a:tc>
                  <a:txBody>
                    <a:bodyPr wrap="square"/>
                    <a:lstStyle/>
                    <a:p>
                      <a:pPr algn="l"/>
                      <a:r>
                        <a:rPr sz="950" b="0">
                          <a:solidFill>
                            <a:srgbClr val="1C1C1E"/>
                          </a:solidFill>
                          <a:latin typeface="Calibri"/>
                        </a:rPr>
                        <a:t>a time-boxed link to a content digest. It establishes no identity, and says so</a:t>
                      </a:r>
                    </a:p>
                  </a:txBody>
                  <a:tcPr marL="82296" marR="64008" marT="32004" marB="32004" anchor="ctr">
                    <a:solidFill>
                      <a:srgbClr val="FFFFFF"/>
                    </a:solidFill>
                  </a:tcPr>
                </a:tc>
              </a:tr>
            </a:tbl>
          </a:graphicData>
        </a:graphic>
      </p:graphicFrame>
      <p:sp>
        <p:nvSpPr>
          <p:cNvPr id="11" name="Rectangle 10"/>
          <p:cNvSpPr/>
          <p:nvPr/>
        </p:nvSpPr>
        <p:spPr>
          <a:xfrm>
            <a:off x="777240" y="4072394"/>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72394"/>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91266"/>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a boundary the natural report is the answer you wish you had — </a:t>
            </a:r>
            <a:r>
              <a:rPr sz="1050" b="0" i="0">
                <a:solidFill>
                  <a:srgbClr val="1C1C1E"/>
                </a:solidFill>
                <a:latin typeface="Calibri"/>
              </a:rPr>
              <a:t>and the overstatement is invisible precisely because nobody can see past the boundary to check it. </a:t>
            </a:r>
            <a:r>
              <a:rPr sz="1050" b="1" i="0">
                <a:solidFill>
                  <a:srgbClr val="1C1C1E"/>
                </a:solidFill>
                <a:latin typeface="Calibri"/>
              </a:rPr>
              <a:t>Each of these widens a type rather than adding a warning.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routes/ (Flask UI)</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Python 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notify (outbound)</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lattice</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(schema + repos)</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core/log</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core/ports.py</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scheduler</a:t>
            </a:r>
          </a:p>
        </p:txBody>
      </p:sp>
      <p:sp>
        <p:nvSpPr>
          <p:cNvPr id="77" name="TextBox 76"/>
          <p:cNvSpPr txBox="1"/>
          <p:nvPr/>
        </p:nvSpPr>
        <p:spPr>
          <a:xfrm>
            <a:off x="777240" y="5020055"/>
            <a:ext cx="10637215" cy="5029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dependency rule, and what actually holds it. </a:t>
            </a:r>
            <a:r>
              <a:rPr sz="1100" b="0" i="0">
                <a:solidFill>
                  <a:srgbClr val="1C1C1E"/>
                </a:solidFill>
                <a:latin typeface="Calibri"/>
              </a:rPr>
              <a:t>Arrows point downward only: the core domain imports nothing from MAYA, interfaces import everything and are imported by nothing. </a:t>
            </a:r>
            <a:r>
              <a:rPr sz="1100" b="0" i="0">
                <a:solidFill>
                  <a:srgbClr val="1C1C1E"/>
                </a:solidFill>
                <a:latin typeface="Consolas"/>
              </a:rPr>
              <a:t>tests/test_import_discipline.py</a:t>
            </a:r>
            <a:r>
              <a:rPr sz="1100" b="0" i="0">
                <a:solidFill>
                  <a:srgbClr val="1C1C1E"/>
                </a:solidFill>
                <a:latin typeface="Calibri"/>
              </a:rPr>
              <a:t> walks every import and fails the suite on a crossing. It is a test, not a pipeline — this repository has no CI, no linter and no type checker, so the rule holds for as long as somebody runs pytest.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The append-only chain, semiring evaluation, provenance</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The two lattices, tier derivation, control adequacy,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Regimes as institutions, their translations, versioned gates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 and what enforces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is consumed through a Protocol in core/ports.py, never through another component's internals.</a:t>
            </a:r>
          </a:p>
        </p:txBody>
      </p:sp>
      <p:sp>
        <p:nvSpPr>
          <p:cNvPr id="15" name="Rectangle 14"/>
          <p:cNvSpPr/>
          <p:nvPr/>
        </p:nvSpPr>
        <p:spPr>
          <a:xfrm>
            <a:off x="349597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edge. The one rule with a test.</a:t>
            </a:r>
          </a:p>
        </p:txBody>
      </p:sp>
      <p:sp>
        <p:nvSpPr>
          <p:cNvPr id="20" name="Rectangle 19"/>
          <p:cNvSpPr/>
          <p:nvPr/>
        </p:nvSpPr>
        <p:spPr>
          <a:xfrm>
            <a:off x="621471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where claimed</a:t>
            </a:r>
          </a:p>
        </p:txBody>
      </p:sp>
      <p:sp>
        <p:nvSpPr>
          <p:cNvPr id="24" name="TextBox 23"/>
          <p:cNvSpPr txBox="1"/>
          <p:nvPr/>
        </p:nvSpPr>
        <p:spPr>
          <a:xfrm>
            <a:off x="643417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There is no Idempotency-Key header. Idempotency is per path, from a natural key: a redelivered telemetry batch and a re-run anchor write nothing.</a:t>
            </a:r>
          </a:p>
        </p:txBody>
      </p:sp>
      <p:sp>
        <p:nvSpPr>
          <p:cNvPr id="25" name="Rectangle 24"/>
          <p:cNvSpPr/>
          <p:nvPr/>
        </p:nvSpPr>
        <p:spPr>
          <a:xfrm>
            <a:off x="893345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derived value is persisted with its derivation record — the tier rationale, the alias proof, the PIT report.</a:t>
            </a:r>
          </a:p>
        </p:txBody>
      </p:sp>
      <p:sp>
        <p:nvSpPr>
          <p:cNvPr id="30" name="Rectangle 29"/>
          <p:cNvSpPr/>
          <p:nvPr/>
        </p:nvSpPr>
        <p:spPr>
          <a:xfrm>
            <a:off x="777240"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db/database.py owns the only re-entrant transaction(). The evidence append is its one caller, because read-the-head-then-insert is why it exists.</a:t>
            </a:r>
          </a:p>
        </p:txBody>
      </p:sp>
      <p:sp>
        <p:nvSpPr>
          <p:cNvPr id="35" name="Rectangle 34"/>
          <p:cNvSpPr/>
          <p:nvPr/>
        </p:nvSpPr>
        <p:spPr>
          <a:xfrm>
            <a:off x="349597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50207"/>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261103"/>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Each subsystem's common.py defines its error with a code and as_problem(). Never an unmapped 500.</a:t>
            </a:r>
          </a:p>
        </p:txBody>
      </p:sp>
      <p:sp>
        <p:nvSpPr>
          <p:cNvPr id="40" name="Rectangle 39"/>
          <p:cNvSpPr/>
          <p:nvPr/>
        </p:nvSpPr>
        <p:spPr>
          <a:xfrm>
            <a:off x="621471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remediation string saying what would unblock it.</a:t>
            </a:r>
          </a:p>
        </p:txBody>
      </p:sp>
      <p:sp>
        <p:nvSpPr>
          <p:cNvPr id="45" name="Rectangle 44"/>
          <p:cNvSpPr/>
          <p:nvPr/>
        </p:nvSpPr>
        <p:spPr>
          <a:xfrm>
            <a:off x="8933459" y="3456432"/>
            <a:ext cx="2480995"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Rectangle 45"/>
          <p:cNvSpPr/>
          <p:nvPr/>
        </p:nvSpPr>
        <p:spPr>
          <a:xfrm>
            <a:off x="8933459" y="345643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7" name="TextBox 46"/>
          <p:cNvSpPr txBox="1"/>
          <p:nvPr/>
        </p:nvSpPr>
        <p:spPr>
          <a:xfrm>
            <a:off x="9171203" y="3575303"/>
            <a:ext cx="2023795"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 are conventions. </a:t>
            </a:r>
            <a:r>
              <a:rPr sz="1050" b="0" i="0">
                <a:solidFill>
                  <a:srgbClr val="1C1C1E"/>
                </a:solidFill>
                <a:latin typeface="Calibri"/>
              </a:rPr>
              <a:t>Only DR-2 is mechanised. The rest are held by review — indistinguishable from enforcement until somebody does not keep one.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DEPLOYMENT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 — one process today, five units by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graphicFrame>
        <p:nvGraphicFramePr>
          <p:cNvPr id="10" name="Table 9"/>
          <p:cNvGraphicFramePr>
            <a:graphicFrameLocks noGrp="1"/>
          </p:cNvGraphicFramePr>
          <p:nvPr/>
        </p:nvGraphicFramePr>
        <p:xfrm>
          <a:off x="777240" y="1764792"/>
          <a:ext cx="10637212" cy="2687674"/>
        </p:xfrm>
        <a:graphic>
          <a:graphicData uri="http://schemas.openxmlformats.org/drawingml/2006/table">
            <a:tbl>
              <a:tblPr firstRow="1">
                <a:tableStyleId>{5C22544A-7EE6-4342-B048-85BDC9FD1C3A}</a:tableStyleId>
              </a:tblPr>
              <a:tblGrid>
                <a:gridCol w="2092566"/>
                <a:gridCol w="2005376"/>
                <a:gridCol w="4446704"/>
                <a:gridCol w="2092566"/>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Status</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Flask app (routes/)</a:t>
                      </a:r>
                    </a:p>
                  </a:txBody>
                  <a:tcPr marL="82296" marR="64008" marT="32004" marB="32004" anchor="ctr">
                    <a:solidFill>
                      <a:srgbClr val="FFFFFF"/>
                    </a:solidFill>
                  </a:tcPr>
                </a:tc>
                <a:tc>
                  <a:txBody>
                    <a:bodyPr wrap="square"/>
                    <a:lstStyle/>
                    <a:p>
                      <a:pPr algn="l"/>
                      <a:r>
                        <a:rPr sz="1050" b="0">
                          <a:solidFill>
                            <a:srgbClr val="1C1C1E"/>
                          </a:solidFill>
                          <a:latin typeface="Calibri"/>
                        </a:rPr>
                        <a:t>Built — one process</a:t>
                      </a:r>
                    </a:p>
                  </a:txBody>
                  <a:tcPr marL="82296" marR="64008" marT="32004" marB="32004" anchor="ctr">
                    <a:solidFill>
                      <a:srgbClr val="FFFFFF"/>
                    </a:solidFill>
                  </a:tcPr>
                </a:tc>
                <a:tc>
                  <a:txBody>
                    <a:bodyPr wrap="square"/>
                    <a:lstStyle/>
                    <a:p>
                      <a:pPr algn="l"/>
                      <a:r>
                        <a:rPr sz="1050" b="0">
                          <a:solidFill>
                            <a:srgbClr val="1C1C1E"/>
                          </a:solidFill>
                          <a:latin typeface="Calibri"/>
                        </a:rPr>
                        <a:t>UI and REST API v1 are served by the same app;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Scheduler loop</a:t>
                      </a:r>
                    </a:p>
                  </a:txBody>
                  <a:tcPr marL="82296" marR="64008" marT="32004" marB="32004" anchor="ctr">
                    <a:solidFill>
                      <a:srgbClr val="F6F3EF"/>
                    </a:solidFill>
                  </a:tcPr>
                </a:tc>
                <a:tc>
                  <a:txBody>
                    <a:bodyPr wrap="square"/>
                    <a:lstStyle/>
                    <a:p>
                      <a:pPr algn="l"/>
                      <a:r>
                        <a:rPr sz="1050" b="0">
                          <a:solidFill>
                            <a:srgbClr val="1C1C1E"/>
                          </a:solidFill>
                          <a:latin typeface="Calibri"/>
                        </a:rPr>
                        <a:t>Built — in-process thread</a:t>
                      </a:r>
                    </a:p>
                  </a:txBody>
                  <a:tcPr marL="82296" marR="64008" marT="32004" marB="32004" anchor="ctr">
                    <a:solidFill>
                      <a:srgbClr val="F6F3EF"/>
                    </a:solidFill>
                  </a:tcPr>
                </a:tc>
                <a:tc>
                  <a:txBody>
                    <a:bodyPr wrap="square"/>
                    <a:lstStyle/>
                    <a:p>
                      <a:pPr algn="l"/>
                      <a:r>
                        <a:rPr sz="1050" b="0">
                          <a:solidFill>
                            <a:srgbClr val="1C1C1E"/>
                          </a:solidFill>
                          <a:latin typeface="Calibri"/>
                        </a:rPr>
                        <a:t>Fourteen jobs on a timer, off by default and enabled in config</a:t>
                      </a:r>
                    </a:p>
                  </a:txBody>
                  <a:tcPr marL="82296" marR="64008" marT="32004" marB="32004" anchor="ctr">
                    <a:solidFill>
                      <a:srgbClr val="F6F3EF"/>
                    </a:solidFill>
                  </a:tcPr>
                </a:tc>
                <a:tc>
                  <a:txBody>
                    <a:bodyPr wrap="square"/>
                    <a:lstStyle/>
                    <a:p>
                      <a:pPr algn="l"/>
                      <a:r>
                        <a:rPr sz="1050" b="0">
                          <a:solidFill>
                            <a:srgbClr val="1C1C1E"/>
                          </a:solidFill>
                          <a:latin typeface="Calibri"/>
                        </a:rPr>
                        <a:t>No — shares the process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Sandbox child</a:t>
                      </a:r>
                    </a:p>
                  </a:txBody>
                  <a:tcPr marL="82296" marR="64008" marT="32004" marB="32004" anchor="ctr">
                    <a:solidFill>
                      <a:srgbClr val="FFFFFF"/>
                    </a:solidFill>
                  </a:tcPr>
                </a:tc>
                <a:tc>
                  <a:txBody>
                    <a:bodyPr wrap="square"/>
                    <a:lstStyle/>
                    <a:p>
                      <a:pPr algn="l"/>
                      <a:r>
                        <a:rPr sz="1050" b="0">
                          <a:solidFill>
                            <a:srgbClr val="1C1C1E"/>
                          </a:solidFill>
                          <a:latin typeface="Calibri"/>
                        </a:rPr>
                        <a:t>Built — fork + rlimits</a:t>
                      </a:r>
                    </a:p>
                  </a:txBody>
                  <a:tcPr marL="82296" marR="64008" marT="32004" marB="32004" anchor="ctr">
                    <a:solidFill>
                      <a:srgbClr val="FFFFFF"/>
                    </a:solidFill>
                  </a:tcPr>
                </a:tc>
                <a:tc>
                  <a:txBody>
                    <a:bodyPr wrap="square"/>
                    <a:lstStyle/>
                    <a:p>
                      <a:pPr algn="l"/>
                      <a:r>
                        <a:rPr sz="1050" b="0">
                          <a:solidFill>
                            <a:srgbClr val="1C1C1E"/>
                          </a:solidFill>
                          <a:latin typeface="Calibri"/>
                        </a:rPr>
                        <a:t>An artifact's bugs must not become the platform's; CPU and address space bounded</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maya-warrants</a:t>
                      </a:r>
                    </a:p>
                  </a:txBody>
                  <a:tcPr marL="82296" marR="64008" marT="32004" marB="32004" anchor="ctr">
                    <a:solidFill>
                      <a:srgbClr val="F6F3E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6F3EF"/>
                    </a:solidFill>
                  </a:tcPr>
                </a:tc>
                <a:tc>
                  <a:txBody>
                    <a:bodyPr wrap="square"/>
                    <a:lstStyle/>
                    <a:p>
                      <a:pPr algn="l"/>
                      <a:r>
                        <a:rPr sz="1050" b="0">
                          <a:solidFill>
                            <a:srgbClr val="1C1C1E"/>
                          </a:solidFill>
                          <a:latin typeface="Calibri"/>
                        </a:rPr>
                        <a:t>10× tighter SLA; would read only the warrant projection</a:t>
                      </a:r>
                    </a:p>
                  </a:txBody>
                  <a:tcPr marL="82296" marR="64008" marT="32004" marB="32004" anchor="ctr">
                    <a:solidFill>
                      <a:srgbClr val="F6F3EF"/>
                    </a:solidFill>
                  </a:tcPr>
                </a:tc>
                <a:tc>
                  <a:txBody>
                    <a:bodyPr wrap="square"/>
                    <a:lstStyle/>
                    <a:p>
                      <a:pPr algn="l"/>
                      <a:r>
                        <a:rPr sz="1050" b="0">
                          <a:solidFill>
                            <a:srgbClr val="1C1C1E"/>
                          </a:solidFill>
                          <a:latin typeface="Calibri"/>
                        </a:rPr>
                        <a:t>By design, once split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Cluster data plane</a:t>
                      </a:r>
                    </a:p>
                  </a:txBody>
                  <a:tcPr marL="82296" marR="64008" marT="32004" marB="32004" anchor="ctr">
                    <a:solidFill>
                      <a:srgbClr val="FFFFF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FFFFF"/>
                    </a:solidFill>
                  </a:tcPr>
                </a:tc>
                <a:tc>
                  <a:txBody>
                    <a:bodyPr wrap="square"/>
                    <a:lstStyle/>
                    <a:p>
                      <a:pPr algn="l"/>
                      <a:r>
                        <a:rPr sz="1050" b="0">
                          <a:solidFill>
                            <a:srgbClr val="1C1C1E"/>
                          </a:solidFill>
                          <a:latin typeface="Calibri"/>
                        </a:rPr>
                        <a:t>PIT joins and materialisation run in-process on pandas + deltalake today</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bl>
          </a:graphicData>
        </a:graphic>
      </p:graphicFrame>
      <p:sp>
        <p:nvSpPr>
          <p:cNvPr id="11" name="Rectangle 10"/>
          <p:cNvSpPr/>
          <p:nvPr/>
        </p:nvSpPr>
        <p:spPr>
          <a:xfrm>
            <a:off x="777240" y="4726787"/>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26787"/>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45659"/>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one asymmetry, and it is a design not a deployment. </a:t>
            </a:r>
            <a:r>
              <a:rPr sz="1050" b="0" i="0">
                <a:solidFill>
                  <a:srgbClr val="1C1C1E"/>
                </a:solidFill>
                <a:latin typeface="Calibri"/>
              </a:rPr>
              <a:t>Governance must not become the bank's single point of failure: if the control plane is down, already-authorised production scoring should continue and only new issuance and governance changes stop. Today one process holds both, so that separation is a property of the drawing rather than of the estate. It is written here as the target, in the tense it has earned.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 and the class it derives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353312"/>
            <a:ext cx="5637724" cy="36225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6225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271964" cy="314702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a:t>
            </a:r>
          </a:p>
          <a:p>
            <a:pPr>
              <a:lnSpc>
                <a:spcPct val="134000"/>
              </a:lnSpc>
              <a:spcBef>
                <a:spcPts val="0"/>
              </a:spcBef>
              <a:spcAft>
                <a:spcPts val="0"/>
              </a:spcAft>
            </a:pPr>
            <a:r>
              <a:rPr sz="950" b="0" i="0">
                <a:solidFill>
                  <a:srgbClr val="7A7F87"/>
                </a:solidFill>
                <a:latin typeface="Consolas"/>
              </a:rPr>
              <a:t>                             #   learned_weights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 ; output: ObjectSpec</a:t>
            </a:r>
          </a:p>
          <a:p>
            <a:pPr>
              <a:lnSpc>
                <a:spcPct val="134000"/>
              </a:lnSpc>
              <a:spcBef>
                <a:spcPts val="0"/>
              </a:spcBef>
              <a:spcAft>
                <a:spcPts val="0"/>
              </a:spcAft>
            </a:pPr>
            <a:r>
              <a:rPr sz="950" b="0" i="0">
                <a:solidFill>
                  <a:srgbClr val="1C1C1E"/>
                </a:solidFill>
                <a:latin typeface="Consolas"/>
              </a:rPr>
              <a:t>    deterministic: bool          # law L-3; typed once, compiled per dialect</a:t>
            </a:r>
          </a:p>
        </p:txBody>
      </p:sp>
      <p:sp>
        <p:nvSpPr>
          <p:cNvPr id="14" name="Rectangle 13"/>
          <p:cNvSpPr/>
          <p:nvPr/>
        </p:nvSpPr>
        <p:spPr>
          <a:xfrm>
            <a:off x="6734080" y="1353312"/>
            <a:ext cx="4680374"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73408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93524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CLASS IS A FUNCTION, NOT A FIELD</a:t>
            </a:r>
          </a:p>
        </p:txBody>
      </p:sp>
      <p:sp>
        <p:nvSpPr>
          <p:cNvPr id="17" name="TextBox 16"/>
          <p:cNvSpPr txBox="1"/>
          <p:nvPr/>
        </p:nvSpPr>
        <p:spPr>
          <a:xfrm>
            <a:off x="6935248" y="1746504"/>
            <a:ext cx="4314614"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trainability_class(self, fit, adaptive) -&gt; str:</a:t>
            </a:r>
          </a:p>
          <a:p>
            <a:pPr>
              <a:lnSpc>
                <a:spcPct val="134000"/>
              </a:lnSpc>
              <a:spcBef>
                <a:spcPts val="0"/>
              </a:spcBef>
              <a:spcAft>
                <a:spcPts val="0"/>
              </a:spcAft>
            </a:pPr>
            <a:r>
              <a:rPr sz="950" b="0" i="0">
                <a:solidFill>
                  <a:srgbClr val="1C1C1E"/>
                </a:solidFill>
                <a:latin typeface="Consolas"/>
              </a:rPr>
              <a:t>    if not self.parameters.is_accessible:</a:t>
            </a:r>
          </a:p>
          <a:p>
            <a:pPr>
              <a:lnSpc>
                <a:spcPct val="134000"/>
              </a:lnSpc>
              <a:spcBef>
                <a:spcPts val="0"/>
              </a:spcBef>
              <a:spcAft>
                <a:spcPts val="0"/>
              </a:spcAft>
            </a:pPr>
            <a:r>
              <a:rPr sz="950" b="0" i="0">
                <a:solidFill>
                  <a:srgbClr val="1C1C1E"/>
                </a:solidFill>
                <a:latin typeface="Consolas"/>
              </a:rPr>
              <a:t>        return "T6"                  # vendor black box</a:t>
            </a:r>
          </a:p>
          <a:p>
            <a:pPr>
              <a:lnSpc>
                <a:spcPct val="134000"/>
              </a:lnSpc>
              <a:spcBef>
                <a:spcPts val="0"/>
              </a:spcBef>
              <a:spcAft>
                <a:spcPts val="0"/>
              </a:spcAft>
            </a:pPr>
            <a:r>
              <a:rPr sz="950" b="0" i="0">
                <a:solidFill>
                  <a:srgbClr val="1C1C1E"/>
                </a:solidFill>
                <a:latin typeface="Consolas"/>
              </a:rPr>
              <a:t>    if self.parameters.is_terminal:</a:t>
            </a:r>
          </a:p>
          <a:p>
            <a:pPr>
              <a:lnSpc>
                <a:spcPct val="134000"/>
              </a:lnSpc>
              <a:spcBef>
                <a:spcPts val="0"/>
              </a:spcBef>
              <a:spcAft>
                <a:spcPts val="0"/>
              </a:spcAft>
            </a:pPr>
            <a:r>
              <a:rPr sz="950" b="0" i="0">
                <a:solidFill>
                  <a:srgbClr val="1C1C1E"/>
                </a:solidFill>
                <a:latin typeface="Consolas"/>
              </a:rPr>
              <a:t>        return "T0"                  # analytic — P ≅ I</a:t>
            </a:r>
          </a:p>
          <a:p>
            <a:pPr>
              <a:lnSpc>
                <a:spcPct val="134000"/>
              </a:lnSpc>
              <a:spcBef>
                <a:spcPts val="0"/>
              </a:spcBef>
              <a:spcAft>
                <a:spcPts val="0"/>
              </a:spcAft>
            </a:pPr>
            <a:r>
              <a:rPr sz="950" b="0" i="0">
                <a:solidFill>
                  <a:srgbClr val="1C1C1E"/>
                </a:solidFill>
                <a:latin typeface="Consolas"/>
              </a:rPr>
              <a:t>    return {"calibrate": "T1", "estimate": "T2",</a:t>
            </a:r>
          </a:p>
          <a:p>
            <a:pPr>
              <a:lnSpc>
                <a:spcPct val="134000"/>
              </a:lnSpc>
              <a:spcBef>
                <a:spcPts val="0"/>
              </a:spcBef>
              <a:spcAft>
                <a:spcPts val="0"/>
              </a:spcAft>
            </a:pPr>
            <a:r>
              <a:rPr sz="950" b="0" i="0">
                <a:solidFill>
                  <a:srgbClr val="1C1C1E"/>
                </a:solidFill>
                <a:latin typeface="Consolas"/>
              </a:rPr>
              <a:t>            "train": "T4" if adaptive else "T3",</a:t>
            </a:r>
          </a:p>
          <a:p>
            <a:pPr>
              <a:lnSpc>
                <a:spcPct val="134000"/>
              </a:lnSpc>
              <a:spcBef>
                <a:spcPts val="0"/>
              </a:spcBef>
              <a:spcAft>
                <a:spcPts val="0"/>
              </a:spcAft>
            </a:pPr>
            <a:r>
              <a:rPr sz="950" b="0" i="0">
                <a:solidFill>
                  <a:srgbClr val="1C1C1E"/>
                </a:solidFill>
                <a:latin typeface="Consolas"/>
              </a:rPr>
              <a:t>            "configure": "T5", "elicit": "T7",</a:t>
            </a:r>
          </a:p>
          <a:p>
            <a:pPr>
              <a:lnSpc>
                <a:spcPct val="134000"/>
              </a:lnSpc>
              <a:spcBef>
                <a:spcPts val="0"/>
              </a:spcBef>
              <a:spcAft>
                <a:spcPts val="0"/>
              </a:spcAft>
            </a:pPr>
            <a:r>
              <a:rPr sz="950" b="0" i="0">
                <a:solidFill>
                  <a:srgbClr val="1C1C1E"/>
                </a:solidFill>
                <a:latin typeface="Consolas"/>
              </a:rPr>
              <a:t>            "author": "T8"}[fit]</a:t>
            </a:r>
          </a:p>
        </p:txBody>
      </p:sp>
      <p:sp>
        <p:nvSpPr>
          <p:cNvPr id="18" name="TextBox 17"/>
          <p:cNvSpPr txBox="1"/>
          <p:nvPr/>
        </p:nvSpPr>
        <p:spPr>
          <a:xfrm>
            <a:off x="6734080" y="3991333"/>
            <a:ext cx="4680374" cy="1737360"/>
          </a:xfrm>
          <a:prstGeom prst="rect">
            <a:avLst/>
          </a:prstGeom>
          <a:noFill/>
        </p:spPr>
        <p:txBody>
          <a:bodyPr wrap="square" lIns="0" rIns="0" tIns="0" bIns="0" anchor="t">
            <a:spAutoFit/>
          </a:bodyPr>
          <a:lstStyle/>
          <a:p>
            <a:pPr algn="l"/>
          </a:p>
          <a:p>
            <a:pPr>
              <a:spcBef>
                <a:spcPts val="600"/>
              </a:spcBef>
              <a:spcAft>
                <a:spcPts val="300"/>
              </a:spcAft>
            </a:pPr>
            <a:r>
              <a:rPr sz="1050" b="1">
                <a:solidFill>
                  <a:srgbClr val="A51C30"/>
                </a:solidFill>
                <a:latin typeface="Calibri"/>
              </a:rPr>
              <a:t>▪  </a:t>
            </a:r>
            <a:r>
              <a:rPr sz="1050" b="1">
                <a:solidFill>
                  <a:srgbClr val="1C1C1E"/>
                </a:solidFill>
                <a:latin typeface="Calibri"/>
              </a:rPr>
              <a:t>Parameters are an object, not a blob</a:t>
            </a:r>
          </a:p>
          <a:p>
            <a:pPr lvl="1">
              <a:spcBef>
                <a:spcPts val="0"/>
              </a:spcBef>
              <a:spcAft>
                <a:spcPts val="0"/>
              </a:spcAft>
            </a:pPr>
            <a:r>
              <a:rPr sz="950">
                <a:solidFill>
                  <a:srgbClr val="4A4F57"/>
                </a:solidFill>
                <a:latin typeface="Calibri"/>
              </a:rPr>
              <a:t>“no parameters” and “inaccessible parameters” are states, not nulls</a:t>
            </a:r>
          </a:p>
          <a:p>
            <a:pPr>
              <a:spcBef>
                <a:spcPts val="600"/>
              </a:spcBef>
              <a:spcAft>
                <a:spcPts val="300"/>
              </a:spcAft>
            </a:pPr>
            <a:r>
              <a:rPr sz="1050" b="1">
                <a:solidFill>
                  <a:srgbClr val="A51C30"/>
                </a:solidFill>
                <a:latin typeface="Calibri"/>
              </a:rPr>
              <a:t>▪  </a:t>
            </a:r>
            <a:r>
              <a:rPr sz="1050" b="1">
                <a:solidFill>
                  <a:srgbClr val="1C1C1E"/>
                </a:solidFill>
                <a:latin typeface="Calibri"/>
              </a:rPr>
              <a:t>The class is derived</a:t>
            </a:r>
          </a:p>
          <a:p>
            <a:pPr lvl="1">
              <a:spcBef>
                <a:spcPts val="0"/>
              </a:spcBef>
              <a:spcAft>
                <a:spcPts val="0"/>
              </a:spcAft>
            </a:pPr>
            <a:r>
              <a:rPr sz="950">
                <a:solidFill>
                  <a:srgbClr val="4A4F57"/>
                </a:solidFill>
                <a:latin typeface="Calibri"/>
              </a:rPr>
              <a:t>never an enum a user picks, so a mislabelled record is unreachable</a:t>
            </a:r>
          </a:p>
          <a:p>
            <a:pPr>
              <a:spcBef>
                <a:spcPts val="600"/>
              </a:spcBef>
              <a:spcAft>
                <a:spcPts val="300"/>
              </a:spcAft>
            </a:pPr>
            <a:r>
              <a:rPr sz="1050" b="1">
                <a:solidFill>
                  <a:srgbClr val="A51C30"/>
                </a:solidFill>
                <a:latin typeface="Calibri"/>
              </a:rPr>
              <a:t>▪  </a:t>
            </a:r>
            <a:r>
              <a:rPr sz="1050" b="1">
                <a:solidFill>
                  <a:srgbClr val="1C1C1E"/>
                </a:solidFill>
                <a:latin typeface="Calibri"/>
              </a:rPr>
              <a:t>No framework, no I/O</a:t>
            </a:r>
          </a:p>
          <a:p>
            <a:pPr lvl="1">
              <a:spcBef>
                <a:spcPts val="0"/>
              </a:spcBef>
              <a:spcAft>
                <a:spcPts val="0"/>
              </a:spcAft>
            </a:pPr>
            <a:r>
              <a:rPr sz="950">
                <a:solidFill>
                  <a:srgbClr val="4A4F57"/>
                </a:solidFill>
                <a:latin typeface="Calibri"/>
              </a:rPr>
              <a:t>the laws run in milliseconds over generated inputs</a:t>
            </a:r>
          </a:p>
        </p:txBody>
      </p:sp>
      <p:sp>
        <p:nvSpPr>
          <p:cNvPr id="19" name="Rectangle 18"/>
          <p:cNvSpPr/>
          <p:nvPr/>
        </p:nvSpPr>
        <p:spPr>
          <a:xfrm>
            <a:off x="777240" y="5250141"/>
            <a:ext cx="563772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25014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5369013"/>
            <a:ext cx="518052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that matters. </a:t>
            </a:r>
            <a:r>
              <a:rPr sz="10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CORE/DOMAIN/CONTRACTS.PY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 — what the code really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CODE ACTUALLY DOES</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 Law L-7."""</a:t>
            </a:r>
          </a:p>
          <a:p>
            <a:pPr>
              <a:lnSpc>
                <a:spcPct val="134000"/>
              </a:lnSpc>
              <a:spcBef>
                <a:spcPts val="0"/>
              </a:spcBef>
              <a:spcAft>
                <a:spcPts val="0"/>
              </a:spcAft>
            </a:pPr>
            <a:r>
              <a:rPr sz="950" b="0" i="0">
                <a:solidFill>
                  <a:srgbClr val="1C1C1E"/>
                </a:solidFill>
                <a:latin typeface="Consolas"/>
              </a:rPr>
              <a:t>    weak   = [k for k, b in other._a().items()</a:t>
            </a:r>
          </a:p>
          <a:p>
            <a:pPr>
              <a:lnSpc>
                <a:spcPct val="134000"/>
              </a:lnSpc>
              <a:spcBef>
                <a:spcPts val="0"/>
              </a:spcBef>
              <a:spcAft>
                <a:spcPts val="0"/>
              </a:spcAft>
            </a:pPr>
            <a:r>
              <a:rPr sz="950" b="0" i="0">
                <a:solidFill>
                  <a:srgbClr val="1C1C1E"/>
                </a:solidFill>
                <a:latin typeface="Consolas"/>
              </a:rPr>
              <a:t>              if k in self._a() and not self._a()[k].weaker_than(b)]</a:t>
            </a:r>
          </a:p>
          <a:p>
            <a:pPr>
              <a:lnSpc>
                <a:spcPct val="134000"/>
              </a:lnSpc>
              <a:spcBef>
                <a:spcPts val="0"/>
              </a:spcBef>
              <a:spcAft>
                <a:spcPts val="0"/>
              </a:spcAft>
            </a:pPr>
            <a:r>
              <a:rPr sz="950" b="0" i="0">
                <a:solidFill>
                  <a:srgbClr val="1C1C1E"/>
                </a:solidFill>
                <a:latin typeface="Consolas"/>
              </a:rPr>
              <a:t>    strong = [k for k, b in other._g().items()</a:t>
            </a:r>
          </a:p>
          <a:p>
            <a:pPr>
              <a:lnSpc>
                <a:spcPct val="134000"/>
              </a:lnSpc>
              <a:spcBef>
                <a:spcPts val="0"/>
              </a:spcBef>
              <a:spcAft>
                <a:spcPts val="0"/>
              </a:spcAft>
            </a:pPr>
            <a:r>
              <a:rPr sz="950" b="0" i="0">
                <a:solidFill>
                  <a:srgbClr val="1C1C1E"/>
                </a:solidFill>
                <a:latin typeface="Consolas"/>
              </a:rPr>
              <a:t>              if k not in self._g() or not self._g()[k].stronger_than(b)]</a:t>
            </a:r>
          </a:p>
          <a:p>
            <a:pPr>
              <a:lnSpc>
                <a:spcPct val="134000"/>
              </a:lnSpc>
              <a:spcBef>
                <a:spcPts val="0"/>
              </a:spcBef>
              <a:spcAft>
                <a:spcPts val="0"/>
              </a:spcAft>
            </a:pPr>
            <a:r>
              <a:rPr sz="950" b="0" i="0">
                <a:solidFill>
                  <a:srgbClr val="1C1C1E"/>
                </a:solidFill>
                <a:latin typeface="Consolas"/>
              </a:rPr>
              <a:t>    return RefinementResult(holds = not weak and not strong,</a:t>
            </a:r>
          </a:p>
          <a:p>
            <a:pPr>
              <a:lnSpc>
                <a:spcPct val="134000"/>
              </a:lnSpc>
              <a:spcBef>
                <a:spcPts val="0"/>
              </a:spcBef>
              <a:spcAft>
                <a:spcPts val="0"/>
              </a:spcAft>
            </a:pPr>
            <a:r>
              <a:rPr sz="950" b="0" i="0">
                <a:solidFill>
                  <a:srgbClr val="1C1C1E"/>
                </a:solidFill>
                <a:latin typeface="Consolas"/>
              </a:rPr>
              <a:t>                            assumption_failures=tuple(weak),</a:t>
            </a:r>
          </a:p>
          <a:p>
            <a:pPr>
              <a:lnSpc>
                <a:spcPct val="134000"/>
              </a:lnSpc>
              <a:spcBef>
                <a:spcPts val="0"/>
              </a:spcBef>
              <a:spcAft>
                <a:spcPts val="0"/>
              </a:spcAft>
            </a:pPr>
            <a:r>
              <a:rPr sz="950" b="0" i="0">
                <a:solidFill>
                  <a:srgbClr val="1C1C1E"/>
                </a:solidFill>
                <a:latin typeface="Consolas"/>
              </a:rPr>
              <a:t>                            guarantee_failures=tuple(strong))</a:t>
            </a:r>
          </a:p>
        </p:txBody>
      </p:sp>
      <p:sp>
        <p:nvSpPr>
          <p:cNvPr id="14" name="TextBox 13"/>
          <p:cNvSpPr txBox="1"/>
          <p:nvPr/>
        </p:nvSpPr>
        <p:spPr>
          <a:xfrm>
            <a:off x="7053196" y="1353312"/>
            <a:ext cx="4361258" cy="201168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A clause is an interval or a set, not a predicate</a:t>
            </a:r>
          </a:p>
          <a:p>
            <a:pPr>
              <a:lnSpc>
                <a:spcPct val="124000"/>
              </a:lnSpc>
              <a:spcBef>
                <a:spcPts val="0"/>
              </a:spcBef>
              <a:spcAft>
                <a:spcPts val="700"/>
              </a:spcAft>
            </a:pPr>
            <a:r>
              <a:rPr sz="1050" b="0" i="0">
                <a:solidFill>
                  <a:srgbClr val="4A4F57"/>
                </a:solidFill>
                <a:latin typeface="Calibri"/>
              </a:rPr>
              <a:t>A Bound is a key with a minimum, a maximum or an allowed set. Refinement compares bounds key by key — it does not form A ∧ G' and does not evaluate a predicate language. There is no implication solver here, and the refusal names the failing keys rather than a clause.</a:t>
            </a:r>
          </a:p>
          <a:p>
            <a:pPr>
              <a:lnSpc>
                <a:spcPct val="124000"/>
              </a:lnSpc>
              <a:spcBef>
                <a:spcPts val="0"/>
              </a:spcBef>
              <a:spcAft>
                <a:spcPts val="600"/>
              </a:spcAft>
            </a:pPr>
            <a:r>
              <a:rPr sz="1050" b="0" i="0">
                <a:solidFill>
                  <a:srgbClr val="4A4F57"/>
                </a:solidFill>
                <a:latin typeface="Calibri"/>
              </a:rPr>
              <a:t>Richer assumptions are recorded as </a:t>
            </a:r>
            <a:r>
              <a:rPr sz="1050" b="1" i="1">
                <a:solidFill>
                  <a:srgbClr val="1C1C1E"/>
                </a:solidFill>
                <a:latin typeface="Calibri"/>
              </a:rPr>
              <a:t>narrative</a:t>
            </a:r>
            <a:r>
              <a:rPr sz="1050" b="0" i="0">
                <a:solidFill>
                  <a:srgbClr val="4A4F57"/>
                </a:solidFill>
                <a:latin typeface="Calibri"/>
              </a:rPr>
              <a:t> and excluded from the check — so nobody believes a proof happened that did not.</a:t>
            </a:r>
          </a:p>
        </p:txBody>
      </p:sp>
      <p:graphicFrame>
        <p:nvGraphicFramePr>
          <p:cNvPr id="15" name="Table 14"/>
          <p:cNvGraphicFramePr>
            <a:graphicFrameLocks noGrp="1"/>
          </p:cNvGraphicFramePr>
          <p:nvPr/>
        </p:nvGraphicFramePr>
        <p:xfrm>
          <a:off x="777240" y="4064485"/>
          <a:ext cx="10637213" cy="2023364"/>
        </p:xfrm>
        <a:graphic>
          <a:graphicData uri="http://schemas.openxmlformats.org/drawingml/2006/table">
            <a:tbl>
              <a:tblPr firstRow="1">
                <a:tableStyleId>{5C22544A-7EE6-4342-B048-85BDC9FD1C3A}</a:tableStyleId>
              </a:tblPr>
              <a:tblGrid>
                <a:gridCol w="1742302"/>
                <a:gridCol w="3392904"/>
                <a:gridCol w="5502007"/>
              </a:tblGrid>
              <a:tr h="329184">
                <a:tc>
                  <a:txBody>
                    <a:bodyPr wrap="square"/>
                    <a:lstStyle/>
                    <a:p>
                      <a:pPr algn="l"/>
                      <a:r>
                        <a:rPr sz="1050" b="1">
                          <a:solidFill>
                            <a:srgbClr val="FFFFFF"/>
                          </a:solidFill>
                          <a:latin typeface="Calibri"/>
                        </a:rPr>
                        <a:t>Operation</a:t>
                      </a:r>
                    </a:p>
                  </a:txBody>
                  <a:tcPr marL="82296" marR="64008" marT="32004" marB="32004" anchor="ctr">
                    <a:solidFill>
                      <a:srgbClr val="A51C30"/>
                    </a:solidFill>
                  </a:tcPr>
                </a:tc>
                <a:tc>
                  <a:txBody>
                    <a:bodyPr wrap="square"/>
                    <a:lstStyle/>
                    <a:p>
                      <a:pPr algn="l"/>
                      <a:r>
                        <a:rPr sz="1050" b="1">
                          <a:solidFill>
                            <a:srgbClr val="FFFFFF"/>
                          </a:solidFill>
                          <a:latin typeface="Calibri"/>
                        </a:rPr>
                        <a:t>What it is meant to answer</a:t>
                      </a:r>
                    </a:p>
                  </a:txBody>
                  <a:tcPr marL="82296" marR="64008" marT="32004" marB="32004" anchor="ctr">
                    <a:solidFill>
                      <a:srgbClr val="A51C30"/>
                    </a:solidFill>
                  </a:tcPr>
                </a:tc>
                <a:tc>
                  <a:txBody>
                    <a:bodyPr wrap="square"/>
                    <a:lstStyle/>
                    <a:p>
                      <a:pPr algn="l"/>
                      <a:r>
                        <a:rPr sz="1050" b="1">
                          <a:solidFill>
                            <a:srgbClr val="FFFFFF"/>
                          </a:solidFill>
                          <a:latin typeface="Calibri"/>
                        </a:rPr>
                        <a:t>What the code does today</a:t>
                      </a:r>
                    </a:p>
                  </a:txBody>
                  <a:tcPr marL="82296" marR="64008" marT="32004" marB="32004" anchor="ctr">
                    <a:solidFill>
                      <a:srgbClr val="A51C30"/>
                    </a:solidFill>
                  </a:tcPr>
                </a:tc>
              </a:tr>
              <a:tr h="402336">
                <a:tc>
                  <a:txBody>
                    <a:bodyPr wrap="square"/>
                    <a:lstStyle/>
                    <a:p>
                      <a:pPr algn="l"/>
                      <a:r>
                        <a:rPr sz="1000" b="1">
                          <a:solidFill>
                            <a:srgbClr val="A51C30"/>
                          </a:solidFill>
                          <a:latin typeface="Calibri"/>
                        </a:rPr>
                        <a:t>Refinement  ⪯</a:t>
                      </a:r>
                    </a:p>
                  </a:txBody>
                  <a:tcPr marL="82296" marR="64008" marT="32004" marB="32004" anchor="ctr">
                    <a:solidFill>
                      <a:srgbClr val="FFFFFF"/>
                    </a:solidFill>
                  </a:tcPr>
                </a:tc>
                <a:tc>
                  <a:txBody>
                    <a:bodyPr wrap="square"/>
                    <a:lstStyle/>
                    <a:p>
                      <a:pPr algn="l"/>
                      <a:r>
                        <a:rPr sz="100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00" b="0">
                          <a:solidFill>
                            <a:srgbClr val="1C1C1E"/>
                          </a:solidFill>
                          <a:latin typeface="Calibri"/>
                        </a:rPr>
                        <a:t>Built, and enforced at every alias move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Composition  ⊗</a:t>
                      </a:r>
                    </a:p>
                  </a:txBody>
                  <a:tcPr marL="82296" marR="64008" marT="32004" marB="32004" anchor="ctr">
                    <a:solidFill>
                      <a:srgbClr val="F6F3EF"/>
                    </a:solidFill>
                  </a:tcPr>
                </a:tc>
                <a:tc>
                  <a:txBody>
                    <a:bodyPr wrap="square"/>
                    <a:lstStyle/>
                    <a:p>
                      <a:pPr algn="l"/>
                      <a:r>
                        <a:rPr sz="1000" b="0">
                          <a:solidFill>
                            <a:srgbClr val="1C1C1E"/>
                          </a:solidFill>
                          <a:latin typeface="Calibri"/>
                        </a:rPr>
                        <a:t>What does this chain promise end to end?</a:t>
                      </a:r>
                    </a:p>
                  </a:txBody>
                  <a:tcPr marL="82296" marR="64008" marT="32004" marB="32004" anchor="ctr">
                    <a:solidFill>
                      <a:srgbClr val="F6F3EF"/>
                    </a:solidFill>
                  </a:tcPr>
                </a:tc>
                <a:tc>
                  <a:txBody>
                    <a:bodyPr wrap="square"/>
                    <a:lstStyle/>
                    <a:p>
                      <a:pPr algn="l"/>
                      <a:r>
                        <a:rPr sz="1000" b="0">
                          <a:solidFill>
                            <a:srgbClr val="1C1C1E"/>
                          </a:solidFill>
                          <a:latin typeface="Calibri"/>
                        </a:rPr>
                        <a:t>Unions assumptions and guarantees — it does not discharge the downstream's assumptions against the upstream's guarantees</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Conjunction  ∧</a:t>
                      </a:r>
                    </a:p>
                  </a:txBody>
                  <a:tcPr marL="82296" marR="64008" marT="32004" marB="32004" anchor="ctr">
                    <a:solidFill>
                      <a:srgbClr val="FFFFFF"/>
                    </a:solidFill>
                  </a:tcPr>
                </a:tc>
                <a:tc>
                  <a:txBody>
                    <a:bodyPr wrap="square"/>
                    <a:lstStyle/>
                    <a:p>
                      <a:pPr algn="l"/>
                      <a:r>
                        <a:rPr sz="1000" b="0">
                          <a:solidFill>
                            <a:srgbClr val="1C1C1E"/>
                          </a:solidFill>
                          <a:latin typeface="Calibri"/>
                        </a:rPr>
                        <a:t>Performance and fairness and latency together</a:t>
                      </a:r>
                    </a:p>
                  </a:txBody>
                  <a:tcPr marL="82296" marR="64008" marT="32004" marB="32004" anchor="ctr">
                    <a:solidFill>
                      <a:srgbClr val="FFFFFF"/>
                    </a:solidFill>
                  </a:tcPr>
                </a:tc>
                <a:tc>
                  <a:txBody>
                    <a:bodyPr wrap="square"/>
                    <a:lstStyle/>
                    <a:p>
                      <a:pPr algn="l"/>
                      <a:r>
                        <a:rPr sz="1000" b="0">
                          <a:solidFill>
                            <a:srgbClr val="1C1C1E"/>
                          </a:solidFill>
                          <a:latin typeface="Calibri"/>
                        </a:rPr>
                        <a:t>The same function as composition, under a second name. Right here, wrong there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Quotient  /</a:t>
                      </a:r>
                    </a:p>
                  </a:txBody>
                  <a:tcPr marL="82296" marR="64008" marT="32004" marB="32004" anchor="ctr">
                    <a:solidFill>
                      <a:srgbClr val="F6F3EF"/>
                    </a:solidFill>
                  </a:tcPr>
                </a:tc>
                <a:tc>
                  <a:txBody>
                    <a:bodyPr wrap="square"/>
                    <a:lstStyle/>
                    <a:p>
                      <a:pPr algn="l"/>
                      <a:r>
                        <a:rPr sz="1000" b="0">
                          <a:solidFill>
                            <a:srgbClr val="1C1C1E"/>
                          </a:solidFill>
                          <a:latin typeface="Calibri"/>
                        </a:rPr>
                        <a:t>What must the missing piece guarantee?</a:t>
                      </a:r>
                    </a:p>
                  </a:txBody>
                  <a:tcPr marL="82296" marR="64008" marT="32004" marB="32004" anchor="ctr">
                    <a:solidFill>
                      <a:srgbClr val="F6F3EF"/>
                    </a:solidFill>
                  </a:tcPr>
                </a:tc>
                <a:tc>
                  <a:txBody>
                    <a:bodyPr wrap="square"/>
                    <a:lstStyle/>
                    <a:p>
                      <a:pPr algn="l"/>
                      <a:r>
                        <a:rPr sz="1000" b="0">
                          <a:solidFill>
                            <a:srgbClr val="1C1C1E"/>
                          </a:solidFill>
                          <a:latin typeface="Calibri"/>
                        </a:rPr>
                        <a:t>Drops the guarantee keys already held — a keyed difference, not a residual</a:t>
                      </a:r>
                    </a:p>
                  </a:txBody>
                  <a:tcPr marL="82296" marR="64008" marT="32004" marB="32004" anchor="ctr">
                    <a:solidFill>
                      <a:srgbClr val="F6F3EF"/>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FIBRATION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class is complete, or the platform does not start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764792"/>
            <a:ext cx="6169584"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core/fibres/registry.py</a:t>
            </a:r>
          </a:p>
        </p:txBody>
      </p:sp>
      <p:sp>
        <p:nvSpPr>
          <p:cNvPr id="13" name="TextBox 12"/>
          <p:cNvSpPr txBox="1"/>
          <p:nvPr/>
        </p:nvSpPr>
        <p:spPr>
          <a:xfrm>
            <a:off x="978408" y="2157984"/>
            <a:ext cx="5803824"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FACETS = ("evidence", "lifecycle", "metrics", "templates")</a:t>
            </a:r>
          </a:p>
          <a:p>
            <a:pPr>
              <a:lnSpc>
                <a:spcPct val="134000"/>
              </a:lnSpc>
              <a:spcBef>
                <a:spcPts val="0"/>
              </a:spcBef>
              <a:spcAft>
                <a:spcPts val="0"/>
              </a:spcAft>
            </a:pPr>
            <a:r>
              <a:rPr sz="950" b="0" i="0">
                <a:solidFill>
                  <a:srgbClr val="1C1C1E"/>
                </a:solidFill>
                <a:latin typeface="Consolas"/>
              </a:rPr>
              <a:t>BASE   = ("T0", "T1", …, "T8")        # the nine classes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register(self, fibre):              # the extension point</a:t>
            </a:r>
          </a:p>
          <a:p>
            <a:pPr>
              <a:lnSpc>
                <a:spcPct val="134000"/>
              </a:lnSpc>
              <a:spcBef>
                <a:spcPts val="0"/>
              </a:spcBef>
              <a:spcAft>
                <a:spcPts val="0"/>
              </a:spcAft>
            </a:pPr>
            <a:r>
              <a:rPr sz="950" b="0" i="0">
                <a:solidFill>
                  <a:srgbClr val="1C1C1E"/>
                </a:solidFill>
                <a:latin typeface="Consolas"/>
              </a:rPr>
              <a:t>    if missing := fibre.missing_facets():</a:t>
            </a:r>
          </a:p>
          <a:p>
            <a:pPr>
              <a:lnSpc>
                <a:spcPct val="134000"/>
              </a:lnSpc>
              <a:spcBef>
                <a:spcPts val="0"/>
              </a:spcBef>
              <a:spcAft>
                <a:spcPts val="0"/>
              </a:spcAft>
            </a:pPr>
            <a:r>
              <a:rPr sz="950" b="0" i="0">
                <a:solidFill>
                  <a:srgbClr val="1C1C1E"/>
                </a:solidFill>
                <a:latin typeface="Consolas"/>
              </a:rPr>
              <a:t>        raise FibreError("partial_fibre",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verify(self):                       # law L-15, at start-up</a:t>
            </a:r>
          </a:p>
          <a:p>
            <a:pPr>
              <a:lnSpc>
                <a:spcPct val="134000"/>
              </a:lnSpc>
              <a:spcBef>
                <a:spcPts val="0"/>
              </a:spcBef>
              <a:spcAft>
                <a:spcPts val="0"/>
              </a:spcAft>
            </a:pPr>
            <a:r>
              <a:rPr sz="950" b="0" i="0">
                <a:solidFill>
                  <a:srgbClr val="1C1C1E"/>
                </a:solidFill>
                <a:latin typeface="Consolas"/>
              </a:rPr>
              <a:t>    if gaps := self.totality():         # no fibre, or a partial one</a:t>
            </a:r>
          </a:p>
          <a:p>
            <a:pPr>
              <a:lnSpc>
                <a:spcPct val="134000"/>
              </a:lnSpc>
              <a:spcBef>
                <a:spcPts val="0"/>
              </a:spcBef>
              <a:spcAft>
                <a:spcPts val="0"/>
              </a:spcAft>
            </a:pPr>
            <a:r>
              <a:rPr sz="950" b="0" i="0">
                <a:solidFill>
                  <a:srgbClr val="1C1C1E"/>
                </a:solidFill>
                <a:latin typeface="Consolas"/>
              </a:rPr>
              <a:t>        raise FibreError("fibration_incomplete", …)</a:t>
            </a:r>
          </a:p>
        </p:txBody>
      </p:sp>
      <p:sp>
        <p:nvSpPr>
          <p:cNvPr id="14" name="TextBox 13"/>
          <p:cNvSpPr txBox="1"/>
          <p:nvPr/>
        </p:nvSpPr>
        <p:spPr>
          <a:xfrm>
            <a:off x="7372313" y="176479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fibre is what a class needs</a:t>
            </a:r>
          </a:p>
          <a:p>
            <a:pPr>
              <a:lnSpc>
                <a:spcPct val="130000"/>
              </a:lnSpc>
              <a:spcBef>
                <a:spcPts val="0"/>
              </a:spcBef>
              <a:spcAft>
                <a:spcPts val="1100"/>
              </a:spcAft>
            </a:pPr>
            <a:r>
              <a:rPr sz="1100" b="0" i="0">
                <a:solidFill>
                  <a:srgbClr val="4A4F57"/>
                </a:solidFill>
                <a:latin typeface="Calibri"/>
              </a:rPr>
              <a:t>Four facets: what evidence it must carry, which lifecycle it follows, what can be monitored on it, what compiles for it. A new kind of model supplies a fibre and nothing else changes — no migration, no new table, no new screen.</a:t>
            </a:r>
          </a:p>
          <a:p>
            <a:pPr>
              <a:spcBef>
                <a:spcPts val="0"/>
              </a:spcBef>
              <a:spcAft>
                <a:spcPts val="700"/>
              </a:spcAft>
            </a:pPr>
            <a:r>
              <a:rPr sz="1250" b="1" i="0">
                <a:solidFill>
                  <a:srgbClr val="1C1C1E"/>
                </a:solidFill>
                <a:latin typeface="Georgia"/>
              </a:rPr>
              <a:t>The base is the trainability class</a:t>
            </a:r>
          </a:p>
          <a:p>
            <a:pPr>
              <a:lnSpc>
                <a:spcPct val="130000"/>
              </a:lnSpc>
              <a:spcBef>
                <a:spcPts val="0"/>
              </a:spcBef>
              <a:spcAft>
                <a:spcPts val="1100"/>
              </a:spcAft>
            </a:pPr>
            <a:r>
              <a:rPr sz="1100" b="0" i="0">
                <a:solidFill>
                  <a:srgbClr val="4A4F57"/>
                </a:solidFill>
                <a:latin typeface="Calibri"/>
              </a:rPr>
              <a:t>Not the model class, which is free text: a totality gate over free text is defeated by typing a word nobody registered. T0–T8 is derived from how P is inhabited, so the index cannot be typed wrong.</a:t>
            </a:r>
          </a:p>
          <a:p>
            <a:pPr>
              <a:lnSpc>
                <a:spcPct val="126000"/>
              </a:lnSpc>
              <a:spcBef>
                <a:spcPts val="0"/>
              </a:spcBef>
              <a:spcAft>
                <a:spcPts val="0"/>
              </a:spcAft>
            </a:pPr>
            <a:r>
              <a:rPr sz="1050" b="1" i="0">
                <a:solidFill>
                  <a:srgbClr val="A51C30"/>
                </a:solidFill>
                <a:latin typeface="Calibri"/>
              </a:rPr>
              <a:t>The fibre is not inert. </a:t>
            </a:r>
            <a:r>
              <a:rPr sz="1050" b="0" i="0">
                <a:solidFill>
                  <a:srgbClr val="1C1C1E"/>
                </a:solidFill>
                <a:latin typeface="Calibri"/>
              </a:rPr>
              <a:t>A performance monitor on a T0 pricer, or a calibration monitor on a T5 assembly, is refused </a:t>
            </a:r>
            <a:r>
              <a:rPr sz="1050" b="0" i="0">
                <a:solidFill>
                  <a:srgbClr val="1C1C1E"/>
                </a:solidFill>
                <a:latin typeface="Consolas"/>
              </a:rPr>
              <a:t>kind_not_answerable</a:t>
            </a:r>
            <a:r>
              <a:rPr sz="1050" b="0" i="0">
                <a:solidFill>
                  <a:srgbClr val="1C1C1E"/>
                </a:solidFill>
                <a:latin typeface="Calibri"/>
              </a:rPr>
              <a:t> — the class decides what may be asked of 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what runs, and what is still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Kernel spec parsed, class derived, unexplained parameters refused</a:t>
            </a:r>
          </a:p>
        </p:txBody>
      </p:sp>
      <p:sp>
        <p:nvSpPr>
          <p:cNvPr id="13" name="Rectangle 12"/>
          <p:cNvSpPr/>
          <p:nvPr/>
        </p:nvSpPr>
        <p:spPr>
          <a:xfrm>
            <a:off x="2471728"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471728"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618032"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Resolve</a:t>
            </a:r>
          </a:p>
          <a:p>
            <a:pPr>
              <a:lnSpc>
                <a:spcPct val="115000"/>
              </a:lnSpc>
              <a:spcBef>
                <a:spcPts val="0"/>
              </a:spcBef>
              <a:spcAft>
                <a:spcPts val="600"/>
              </a:spcAft>
            </a:pPr>
            <a:r>
              <a:rPr sz="850" b="0" i="0">
                <a:solidFill>
                  <a:srgbClr val="4A4F57"/>
                </a:solidFill>
                <a:latin typeface="Calibri"/>
              </a:rPr>
              <a:t>Digest looked up in the content-addressed store; the store is the authority on its own contents</a:t>
            </a:r>
          </a:p>
        </p:txBody>
      </p:sp>
      <p:sp>
        <p:nvSpPr>
          <p:cNvPr id="16" name="Rectangle 15"/>
          <p:cNvSpPr/>
          <p:nvPr/>
        </p:nvSpPr>
        <p:spPr>
          <a:xfrm>
            <a:off x="4166216"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166216"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312520"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inserted immutable, status draft, manifest digest computed</a:t>
            </a:r>
          </a:p>
        </p:txBody>
      </p:sp>
      <p:sp>
        <p:nvSpPr>
          <p:cNvPr id="19" name="Rectangle 18"/>
          <p:cNvSpPr/>
          <p:nvPr/>
        </p:nvSpPr>
        <p:spPr>
          <a:xfrm>
            <a:off x="5860705"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860705"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6007009"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version_created appended to the chain</a:t>
            </a:r>
          </a:p>
        </p:txBody>
      </p:sp>
      <p:sp>
        <p:nvSpPr>
          <p:cNvPr id="22" name="Rectangle 21"/>
          <p:cNvSpPr/>
          <p:nvPr/>
        </p:nvSpPr>
        <p:spPr>
          <a:xfrm>
            <a:off x="7691429" y="1764792"/>
            <a:ext cx="3723025" cy="2139696"/>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691429" y="1764792"/>
            <a:ext cx="3723025"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819445" y="1883664"/>
            <a:ext cx="3466993"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Not built, and why each one is not</a:t>
            </a:r>
          </a:p>
        </p:txBody>
      </p:sp>
      <p:sp>
        <p:nvSpPr>
          <p:cNvPr id="25" name="TextBox 24"/>
          <p:cNvSpPr txBox="1"/>
          <p:nvPr/>
        </p:nvSpPr>
        <p:spPr>
          <a:xfrm>
            <a:off x="7819445" y="2130552"/>
            <a:ext cx="3466993" cy="36576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store.py hashes and stores. provenance.py verifies in three states — verified, unverified, absent — and mints none</a:t>
            </a:r>
          </a:p>
        </p:txBody>
      </p:sp>
      <p:sp>
        <p:nvSpPr>
          <p:cNvPr id="26" name="TextBox 25"/>
          <p:cNvSpPr txBox="1"/>
          <p:nvPr/>
        </p:nvSpPr>
        <p:spPr>
          <a:xfrm>
            <a:off x="7819445" y="249631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Quarantine to a no-execute store</a:t>
            </a:r>
          </a:p>
        </p:txBody>
      </p:sp>
      <p:sp>
        <p:nvSpPr>
          <p:cNvPr id="27" name="TextBox 26"/>
          <p:cNvSpPr txBox="1"/>
          <p:nvPr/>
        </p:nvSpPr>
        <p:spPr>
          <a:xfrm>
            <a:off x="7819445" y="277063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Malware, pickle-opcode, SCA and licence scans</a:t>
            </a:r>
          </a:p>
        </p:txBody>
      </p:sp>
      <p:sp>
        <p:nvSpPr>
          <p:cNvPr id="28" name="TextBox 27"/>
          <p:cNvSpPr txBox="1"/>
          <p:nvPr/>
        </p:nvSpPr>
        <p:spPr>
          <a:xfrm>
            <a:off x="7819445" y="304495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Format policy per target environment</a:t>
            </a:r>
          </a:p>
        </p:txBody>
      </p:sp>
      <p:sp>
        <p:nvSpPr>
          <p:cNvPr id="29" name="TextBox 28"/>
          <p:cNvSpPr txBox="1"/>
          <p:nvPr/>
        </p:nvSpPr>
        <p:spPr>
          <a:xfrm>
            <a:off x="7819445" y="3319271"/>
            <a:ext cx="3466993" cy="274320"/>
          </a:xfrm>
          <a:prstGeom prst="rect">
            <a:avLst/>
          </a:prstGeom>
          <a:noFill/>
        </p:spPr>
        <p:txBody>
          <a:bodyPr wrap="square" lIns="0" rIns="0" tIns="0" bIns="0" anchor="t">
            <a:spAutoFit/>
          </a:bodyPr>
          <a:lstStyle/>
          <a:p>
            <a:pPr algn="l">
              <a:spcBef>
                <a:spcPts val="0"/>
              </a:spcBef>
              <a:spcAft>
                <a:spcPts val="0"/>
              </a:spcAft>
            </a:pPr>
            <a:r>
              <a:rPr sz="880" b="1" i="0">
                <a:solidFill>
                  <a:srgbClr val="A51C30"/>
                </a:solidFill>
                <a:latin typeface="Calibri"/>
              </a:rPr>
              <a:t>SIGNING — verification is built; minting is refused</a:t>
            </a:r>
            <a:r>
              <a:rPr sz="880" b="0" i="0">
                <a:solidFill>
                  <a:srgbClr val="A51C30"/>
                </a:solidFill>
                <a:latin typeface="Calibri"/>
              </a:rPr>
              <a:t>   a platform that signed would hold the key that could forge</a:t>
            </a:r>
          </a:p>
        </p:txBody>
      </p:sp>
      <p:sp>
        <p:nvSpPr>
          <p:cNvPr id="30" name="TextBox 29"/>
          <p:cNvSpPr txBox="1"/>
          <p:nvPr/>
        </p:nvSpPr>
        <p:spPr>
          <a:xfrm>
            <a:off x="7819445" y="3593591"/>
            <a:ext cx="3466993" cy="274320"/>
          </a:xfrm>
          <a:prstGeom prst="rect">
            <a:avLst/>
          </a:prstGeom>
          <a:noFill/>
        </p:spPr>
        <p:txBody>
          <a:bodyPr wrap="square" lIns="0" rIns="0" tIns="0" bIns="0" anchor="t">
            <a:spAutoFit/>
          </a:bodyPr>
          <a:lstStyle/>
          <a:p>
            <a:pPr algn="l">
              <a:spcBef>
                <a:spcPts val="0"/>
              </a:spcBef>
              <a:spcAft>
                <a:spcPts val="0"/>
              </a:spcAft>
            </a:pPr>
            <a:r>
              <a:rPr sz="880" b="1" i="0">
                <a:solidFill>
                  <a:srgbClr val="A51C30"/>
                </a:solidFill>
                <a:latin typeface="Calibri"/>
              </a:rPr>
              <a:t>CONVERSION — the equivalence claim is held to a standard</a:t>
            </a:r>
            <a:r>
              <a:rPr sz="880" b="0" i="0">
                <a:solidFill>
                  <a:srgbClr val="A51C30"/>
                </a:solidFill>
                <a:latin typeface="Calibri"/>
              </a:rPr>
              <a:t>   converting means loading and running a model</a:t>
            </a:r>
          </a:p>
        </p:txBody>
      </p:sp>
      <p:sp>
        <p:nvSpPr>
          <p:cNvPr id="31" name="Rectangle 30"/>
          <p:cNvSpPr/>
          <p:nvPr/>
        </p:nvSpPr>
        <p:spPr>
          <a:xfrm>
            <a:off x="777240" y="3685032"/>
            <a:ext cx="6595073"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6850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14983" y="3803904"/>
            <a:ext cx="6137873"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There is no outbox. </a:t>
            </a:r>
            <a:r>
              <a:rPr sz="1050" b="0" i="0">
                <a:solidFill>
                  <a:srgbClr val="1C1C1E"/>
                </a:solidFill>
                <a:latin typeface="Calibri"/>
              </a:rPr>
              <a:t>A two-phase commit with an outbox row for the object-store promotion, and an artifact_pending state that cannot be aliased, is the design. What runs is one insert followed by one evidence append — and the append opens its own transaction, so the two are not atomic. The transaction-boundary argument is a plan, not a property.</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CORE/REGISTRY/ALIASES.PY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GOVERNED SWITCH</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m   = catalogue.require(urn)</a:t>
            </a:r>
          </a:p>
          <a:p>
            <a:pPr>
              <a:lnSpc>
                <a:spcPct val="134000"/>
              </a:lnSpc>
              <a:spcBef>
                <a:spcPts val="0"/>
              </a:spcBef>
              <a:spcAft>
                <a:spcPts val="0"/>
              </a:spcAft>
            </a:pPr>
            <a:r>
              <a:rPr sz="950" b="0" i="0">
                <a:solidFill>
                  <a:srgbClr val="1C1C1E"/>
                </a:solidFill>
                <a:latin typeface="Consolas"/>
              </a:rPr>
              <a:t>new = versions.require(urn, to_semver)</a:t>
            </a:r>
          </a:p>
          <a:p>
            <a:pPr>
              <a:lnSpc>
                <a:spcPct val="134000"/>
              </a:lnSpc>
              <a:spcBef>
                <a:spcPts val="0"/>
              </a:spcBef>
              <a:spcAft>
                <a:spcPts val="0"/>
              </a:spcAft>
            </a:pPr>
            <a:r>
              <a:rPr sz="950" b="0" i="0">
                <a:solidFill>
                  <a:srgbClr val="1C1C1E"/>
                </a:solidFill>
                <a:latin typeface="Consolas"/>
              </a:rPr>
              <a:t>if new["status"] != "approved": raise RegistryError(...)   # only approved versions</a:t>
            </a:r>
          </a:p>
          <a:p>
            <a:pPr>
              <a:lnSpc>
                <a:spcPct val="134000"/>
              </a:lnSpc>
              <a:spcBef>
                <a:spcPts val="0"/>
              </a:spcBef>
              <a:spcAft>
                <a:spcPts val="0"/>
              </a:spcAft>
            </a:pPr>
            <a:r>
              <a:rPr sz="950" b="0" i="0">
                <a:solidFill>
                  <a:srgbClr val="1C1C1E"/>
                </a:solidFill>
                <a:latin typeface="Consolas"/>
              </a:rPr>
              <a:t>self._check_not_blocked(m)                        # an open blocking finding stops it first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proof = obligations(new, incumbent)               # L-7 refinement AND L-12 variance</a:t>
            </a:r>
          </a:p>
          <a:p>
            <a:pPr>
              <a:lnSpc>
                <a:spcPct val="134000"/>
              </a:lnSpc>
              <a:spcBef>
                <a:spcPts val="0"/>
              </a:spcBef>
              <a:spcAft>
                <a:spcPts val="0"/>
              </a:spcAft>
            </a:pPr>
            <a:r>
              <a:rPr sz="950" b="0" i="0">
                <a:solidFill>
                  <a:srgbClr val="1C1C1E"/>
                </a:solidFill>
                <a:latin typeface="Consolas"/>
              </a:rPr>
              <a:t>if not (proof["refinement"]["holds"] and proof["variance"]["ok"]):</a:t>
            </a:r>
          </a:p>
          <a:p>
            <a:pPr>
              <a:lnSpc>
                <a:spcPct val="134000"/>
              </a:lnSpc>
              <a:spcBef>
                <a:spcPts val="0"/>
              </a:spcBef>
              <a:spcAft>
                <a:spcPts val="0"/>
              </a:spcAft>
            </a:pPr>
            <a:r>
              <a:rPr sz="950" b="0" i="0">
                <a:solidFill>
                  <a:srgbClr val="1C1C1E"/>
                </a:solidFill>
                <a:latin typeface="Consolas"/>
              </a:rPr>
              <a:t>    raise RegistryError(f"alias move refused: {reason}")     # the refusal names the clause</a:t>
            </a:r>
          </a:p>
          <a:p>
            <a:pPr>
              <a:lnSpc>
                <a:spcPct val="134000"/>
              </a:lnSpc>
              <a:spcBef>
                <a:spcPts val="0"/>
              </a:spcBef>
              <a:spcAft>
                <a:spcPts val="0"/>
              </a:spcAft>
            </a:pPr>
            <a:r>
              <a:rPr sz="950" b="0" i="0">
                <a:solidFill>
                  <a:srgbClr val="1C1C1E"/>
                </a:solidFill>
                <a:latin typeface="Consolas"/>
              </a:rPr>
              <a:t>policy.check("alias:move", {...})                 # policy may refuse; it may never permit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aliases.point(...); history.add({..., **proof}); evidence.append("alias_moved", ...)</a:t>
            </a:r>
          </a:p>
        </p:txBody>
      </p:sp>
      <p:sp>
        <p:nvSpPr>
          <p:cNvPr id="14" name="TextBox 13"/>
          <p:cNvSpPr txBox="1"/>
          <p:nvPr/>
        </p:nvSpPr>
        <p:spPr>
          <a:xfrm>
            <a:off x="777240" y="4417032"/>
            <a:ext cx="5850468" cy="14630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Substitutability is a proof, not a meeting. </a:t>
            </a:r>
            <a:r>
              <a:rPr sz="1100" b="0" i="0">
                <a:solidFill>
                  <a:srgbClr val="1C1C1E"/>
                </a:solidFill>
                <a:latin typeface="Calibri"/>
              </a:rPr>
              <a:t>Consumers bind to the alias, so they cannot be broken and are not redeployed. The proof is stored on the history row, which is what makes “why was this allowed” answerable a year later.</a:t>
            </a:r>
          </a:p>
        </p:txBody>
      </p:sp>
      <p:sp>
        <p:nvSpPr>
          <p:cNvPr id="15" name="Rectangle 14"/>
          <p:cNvSpPr/>
          <p:nvPr/>
        </p:nvSpPr>
        <p:spPr>
          <a:xfrm>
            <a:off x="6946824" y="441703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4417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453590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is not here. </a:t>
            </a:r>
            <a:r>
              <a:rPr sz="1050" b="0" i="0">
                <a:solidFill>
                  <a:srgbClr val="1C1C1E"/>
                </a:solidFill>
                <a:latin typeface="Calibri"/>
              </a:rPr>
              <a:t>No advisory lock serialising per (model, environment), no transaction around the three writes, no cache pre-warm and no scheduled post-move comparison. Each was described as built and none is. The three writes in the last line are the ones to fix first.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CORE/FEATURES/ASSEMBLY.PY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ASSEMBLY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gate = static_check(req)                       # LAYER 1</a:t>
            </a:r>
          </a:p>
          <a:p>
            <a:pPr>
              <a:lnSpc>
                <a:spcPct val="134000"/>
              </a:lnSpc>
              <a:spcBef>
                <a:spcPts val="0"/>
              </a:spcBef>
              <a:spcAft>
                <a:spcPts val="0"/>
              </a:spcAft>
            </a:pPr>
            <a:r>
              <a:rPr sz="950" b="0" i="0">
                <a:solidFill>
                  <a:srgbClr val="1C1C1E"/>
                </a:solidFill>
                <a:latin typeface="Consolas"/>
              </a:rPr>
              <a:t>if not gate.passed:</a:t>
            </a:r>
          </a:p>
          <a:p>
            <a:pPr>
              <a:lnSpc>
                <a:spcPct val="134000"/>
              </a:lnSpc>
              <a:spcBef>
                <a:spcPts val="0"/>
              </a:spcBef>
              <a:spcAft>
                <a:spcPts val="0"/>
              </a:spcAft>
            </a:pPr>
            <a:r>
              <a:rPr sz="950" b="0" i="0">
                <a:solidFill>
                  <a:srgbClr val="1C1C1E"/>
                </a:solidFill>
                <a:latin typeface="Consolas"/>
              </a:rPr>
              <a:t>    raise AssemblyRejected(gate.detail)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rows   = self._join(spine, views, as_of)       # per view, per row</a:t>
            </a:r>
          </a:p>
          <a:p>
            <a:pPr>
              <a:lnSpc>
                <a:spcPct val="134000"/>
              </a:lnSpc>
              <a:spcBef>
                <a:spcPts val="0"/>
              </a:spcBef>
              <a:spcAft>
                <a:spcPts val="0"/>
              </a:spcAft>
            </a:pPr>
            <a:r>
              <a:rPr sz="950" b="0" i="0">
                <a:solidFill>
                  <a:srgbClr val="1C1C1E"/>
                </a:solidFill>
                <a:latin typeface="Consolas"/>
              </a:rPr>
              <a:t>report = verify_sampled(rows, self._recompute) # LAYER 2</a:t>
            </a:r>
          </a:p>
          <a:p>
            <a:pPr>
              <a:lnSpc>
                <a:spcPct val="134000"/>
              </a:lnSpc>
              <a:spcBef>
                <a:spcPts val="0"/>
              </a:spcBef>
              <a:spcAft>
                <a:spcPts val="0"/>
              </a:spcAft>
            </a:pPr>
            <a:r>
              <a:rPr sz="950" b="0" i="0">
                <a:solidFill>
                  <a:srgbClr val="1C1C1E"/>
                </a:solidFill>
                <a:latin typeface="Consolas"/>
              </a:rPr>
              <a:t>report.leakage = detect_leakage(rows)          # purity screen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self._persist(name, rows, as_of, report, ...)  # table + evidence</a:t>
            </a:r>
          </a:p>
        </p:txBody>
      </p:sp>
      <p:sp>
        <p:nvSpPr>
          <p:cNvPr id="14" name="Rectangle 13"/>
          <p:cNvSpPr/>
          <p:nvPr/>
        </p:nvSpPr>
        <p:spPr>
          <a:xfrm>
            <a:off x="6840452" y="1353312"/>
            <a:ext cx="4574002"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840452"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041620" y="1444752"/>
            <a:ext cx="420824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POINT-IN-TIME READ</a:t>
            </a:r>
          </a:p>
        </p:txBody>
      </p:sp>
      <p:sp>
        <p:nvSpPr>
          <p:cNvPr id="17" name="TextBox 16"/>
          <p:cNvSpPr txBox="1"/>
          <p:nvPr/>
        </p:nvSpPr>
        <p:spPr>
          <a:xfrm>
            <a:off x="7041620" y="1746504"/>
            <a:ext cx="4208242"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knowable_by = min(label_ts, as_of)</a:t>
            </a:r>
          </a:p>
          <a:p>
            <a:pPr>
              <a:lnSpc>
                <a:spcPct val="134000"/>
              </a:lnSpc>
              <a:spcBef>
                <a:spcPts val="0"/>
              </a:spcBef>
              <a:spcAft>
                <a:spcPts val="0"/>
              </a:spcAft>
            </a:pPr>
            <a:r>
              <a:rPr sz="950" b="0" i="0">
                <a:solidFill>
                  <a:srgbClr val="1C1C1E"/>
                </a:solidFill>
                <a:latin typeface="Consolas"/>
              </a:rPr>
              <a:t>eligible = [r for r in records</a:t>
            </a:r>
          </a:p>
          <a:p>
            <a:pPr>
              <a:lnSpc>
                <a:spcPct val="134000"/>
              </a:lnSpc>
              <a:spcBef>
                <a:spcPts val="0"/>
              </a:spcBef>
              <a:spcAft>
                <a:spcPts val="0"/>
              </a:spcAft>
            </a:pPr>
            <a:r>
              <a:rPr sz="950" b="0" i="0">
                <a:solidFill>
                  <a:srgbClr val="1C1C1E"/>
                </a:solidFill>
                <a:latin typeface="Consolas"/>
              </a:rPr>
              <a:t>            if r[VALID_TIME]  &lt;= label_ts</a:t>
            </a:r>
          </a:p>
          <a:p>
            <a:pPr>
              <a:lnSpc>
                <a:spcPct val="134000"/>
              </a:lnSpc>
              <a:spcBef>
                <a:spcPts val="0"/>
              </a:spcBef>
              <a:spcAft>
                <a:spcPts val="0"/>
              </a:spcAft>
            </a:pPr>
            <a:r>
              <a:rPr sz="950" b="0" i="0">
                <a:solidFill>
                  <a:srgbClr val="1C1C1E"/>
                </a:solidFill>
                <a:latin typeface="Consolas"/>
              </a:rPr>
              <a:t>            and r[INGEST_TIME] &lt;= knowable_by]</a:t>
            </a:r>
          </a:p>
          <a:p>
            <a:pPr>
              <a:lnSpc>
                <a:spcPct val="134000"/>
              </a:lnSpc>
              <a:spcBef>
                <a:spcPts val="0"/>
              </a:spcBef>
              <a:spcAft>
                <a:spcPts val="0"/>
              </a:spcAft>
            </a:pPr>
            <a:r>
              <a:rPr sz="950" b="0" i="0">
                <a:solidFill>
                  <a:srgbClr val="1C1C1E"/>
                </a:solidFill>
                <a:latin typeface="Consolas"/>
              </a:rPr>
              <a:t>return max(eligible,</a:t>
            </a:r>
          </a:p>
          <a:p>
            <a:pPr>
              <a:lnSpc>
                <a:spcPct val="134000"/>
              </a:lnSpc>
              <a:spcBef>
                <a:spcPts val="0"/>
              </a:spcBef>
              <a:spcAft>
                <a:spcPts val="0"/>
              </a:spcAft>
            </a:pPr>
            <a:r>
              <a:rPr sz="950" b="0" i="0">
                <a:solidFill>
                  <a:srgbClr val="1C1C1E"/>
                </a:solidFill>
                <a:latin typeface="Consolas"/>
              </a:rPr>
              <a:t>           key=lambda r: (r[VALID_TIME],</a:t>
            </a:r>
          </a:p>
          <a:p>
            <a:pPr>
              <a:lnSpc>
                <a:spcPct val="134000"/>
              </a:lnSpc>
              <a:spcBef>
                <a:spcPts val="0"/>
              </a:spcBef>
              <a:spcAft>
                <a:spcPts val="0"/>
              </a:spcAft>
            </a:pPr>
            <a:r>
              <a:rPr sz="950" b="0" i="0">
                <a:solidFill>
                  <a:srgbClr val="1C1C1E"/>
                </a:solidFill>
                <a:latin typeface="Consolas"/>
              </a:rPr>
              <a:t>                          r[INGEST_TIME]))</a:t>
            </a:r>
          </a:p>
        </p:txBody>
      </p:sp>
      <p:sp>
        <p:nvSpPr>
          <p:cNvPr id="18" name="TextBox 17"/>
          <p:cNvSpPr txBox="1"/>
          <p:nvPr/>
        </p:nvSpPr>
        <p:spPr>
          <a:xfrm>
            <a:off x="777240" y="4009621"/>
            <a:ext cx="10637215" cy="146304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Two clocks, and the min is the reproducibility guarantee. </a:t>
            </a:r>
            <a:r>
              <a:rPr sz="1150" b="0" i="0">
                <a:solidFill>
                  <a:srgbClr val="1C1C1E"/>
                </a:solidFill>
                <a:latin typeface="Calibri"/>
              </a:rPr>
              <a:t>Valid time is what was true by the label; transaction time is what was knowable by it. Bounding ingest by </a:t>
            </a:r>
            <a:r>
              <a:rPr sz="1150" b="0" i="0">
                <a:solidFill>
                  <a:srgbClr val="1C1C1E"/>
                </a:solidFill>
                <a:latin typeface="Consolas"/>
              </a:rPr>
              <a:t>min(ℓ, a)</a:t>
            </a:r>
            <a:r>
              <a:rPr sz="1150" b="0" i="0">
                <a:solidFill>
                  <a:srgbClr val="1C1C1E"/>
                </a:solidFill>
                <a:latin typeface="Calibri"/>
              </a:rPr>
              <a:t> makes every a ≥ ℓ give the same answer: the row assembled the day the label matured and the same row re-assembled a year later are identical, however many restatements arrived in between. The table format supplies the second clock — a version pinned per view, </a:t>
            </a:r>
            <a:r>
              <a:rPr sz="1150" b="1" i="0">
                <a:solidFill>
                  <a:srgbClr val="1C1C1E"/>
                </a:solidFill>
                <a:latin typeface="Calibri"/>
              </a:rPr>
              <a:t>Delta or Iceberg</a:t>
            </a:r>
            <a:r>
              <a:rPr sz="1150" b="0" i="0">
                <a:solidFill>
                  <a:srgbClr val="1C1C1E"/>
                </a:solidFill>
                <a:latin typeface="Calibri"/>
              </a:rPr>
              <a:t> by configuration, since both answer the six questions MAYA asks and a bank should not have to keep a second copy of its features in a format its query engines cannot read. There is no Spark here: the join is a Python loop over the rows of a pinned version, which is the same operator at a smaller scale and is where a cluster engine would go.</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CORE/FEATURES/SOURCES.PY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Values are uploaded, or pulled — never read through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5531351" cy="307572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7572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DECLARE, THEN PULL</a:t>
            </a:r>
          </a:p>
        </p:txBody>
      </p:sp>
      <p:sp>
        <p:nvSpPr>
          <p:cNvPr id="13" name="TextBox 12"/>
          <p:cNvSpPr txBox="1"/>
          <p:nvPr/>
        </p:nvSpPr>
        <p:spPr>
          <a:xfrm>
            <a:off x="978408" y="1746504"/>
            <a:ext cx="5165591" cy="2600233"/>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PUT  /feature-views/{name}/source</a:t>
            </a:r>
          </a:p>
          <a:p>
            <a:pPr>
              <a:lnSpc>
                <a:spcPct val="134000"/>
              </a:lnSpc>
              <a:spcBef>
                <a:spcPts val="0"/>
              </a:spcBef>
              <a:spcAft>
                <a:spcPts val="0"/>
              </a:spcAft>
            </a:pPr>
            <a:r>
              <a:rPr sz="900" b="0" i="0">
                <a:solidFill>
                  <a:srgbClr val="1C1C1E"/>
                </a:solidFill>
                <a:latin typeface="Consolas"/>
              </a:rPr>
              <a:t>{"kind": "sql",</a:t>
            </a:r>
          </a:p>
          <a:p>
            <a:pPr>
              <a:lnSpc>
                <a:spcPct val="134000"/>
              </a:lnSpc>
              <a:spcBef>
                <a:spcPts val="0"/>
              </a:spcBef>
              <a:spcAft>
                <a:spcPts val="0"/>
              </a:spcAft>
            </a:pPr>
            <a:r>
              <a:rPr sz="900" b="0" i="0">
                <a:solidFill>
                  <a:srgbClr val="1C1C1E"/>
                </a:solidFill>
                <a:latin typeface="Consolas"/>
              </a:rPr>
              <a:t> "locator": "postgresql://reader@warehouse/risk",</a:t>
            </a:r>
          </a:p>
          <a:p>
            <a:pPr>
              <a:lnSpc>
                <a:spcPct val="134000"/>
              </a:lnSpc>
              <a:spcBef>
                <a:spcPts val="0"/>
              </a:spcBef>
              <a:spcAft>
                <a:spcPts val="0"/>
              </a:spcAft>
            </a:pPr>
            <a:r>
              <a:rPr sz="900" b="0" i="0">
                <a:solidFill>
                  <a:srgbClr val="1C1C1E"/>
                </a:solidFill>
                <a:latin typeface="Consolas"/>
              </a:rPr>
              <a:t> "statement": "SELECT customer_number, asof,",</a:t>
            </a:r>
          </a:p>
          <a:p>
            <a:pPr>
              <a:lnSpc>
                <a:spcPct val="134000"/>
              </a:lnSpc>
              <a:spcBef>
                <a:spcPts val="0"/>
              </a:spcBef>
              <a:spcAft>
                <a:spcPts val="0"/>
              </a:spcAft>
            </a:pPr>
            <a:r>
              <a:rPr sz="900" b="0" i="0">
                <a:solidFill>
                  <a:srgbClr val="1C1C1E"/>
                </a:solidFill>
                <a:latin typeface="Consolas"/>
              </a:rPr>
              <a:t>               loaded_at, dscr FROM sb_risk",</a:t>
            </a:r>
          </a:p>
          <a:p>
            <a:pPr>
              <a:lnSpc>
                <a:spcPct val="134000"/>
              </a:lnSpc>
              <a:spcBef>
                <a:spcPts val="0"/>
              </a:spcBef>
              <a:spcAft>
                <a:spcPts val="0"/>
              </a:spcAft>
            </a:pPr>
            <a:r>
              <a:rPr sz="900" b="0" i="0">
                <a:solidFill>
                  <a:srgbClr val="1C1C1E"/>
                </a:solidFill>
                <a:latin typeface="Consolas"/>
              </a:rPr>
              <a:t> "credential_ref": "warehouse-reader",</a:t>
            </a:r>
          </a:p>
          <a:p>
            <a:pPr>
              <a:lnSpc>
                <a:spcPct val="134000"/>
              </a:lnSpc>
              <a:spcBef>
                <a:spcPts val="0"/>
              </a:spcBef>
              <a:spcAft>
                <a:spcPts val="0"/>
              </a:spcAft>
            </a:pPr>
            <a:r>
              <a:rPr sz="900" b="0" i="0">
                <a:solidFill>
                  <a:srgbClr val="1C1C1E"/>
                </a:solidFill>
                <a:latin typeface="Consolas"/>
              </a:rPr>
              <a:t> "options": {"columns": {</a:t>
            </a:r>
          </a:p>
          <a:p>
            <a:pPr>
              <a:lnSpc>
                <a:spcPct val="134000"/>
              </a:lnSpc>
              <a:spcBef>
                <a:spcPts val="0"/>
              </a:spcBef>
              <a:spcAft>
                <a:spcPts val="0"/>
              </a:spcAft>
            </a:pPr>
            <a:r>
              <a:rPr sz="900" b="0" i="0">
                <a:solidFill>
                  <a:srgbClr val="1C1C1E"/>
                </a:solidFill>
                <a:latin typeface="Consolas"/>
              </a:rPr>
              <a:t>     "customer_number": "entity_id",</a:t>
            </a:r>
          </a:p>
          <a:p>
            <a:pPr>
              <a:lnSpc>
                <a:spcPct val="134000"/>
              </a:lnSpc>
              <a:spcBef>
                <a:spcPts val="0"/>
              </a:spcBef>
              <a:spcAft>
                <a:spcPts val="0"/>
              </a:spcAft>
            </a:pPr>
            <a:r>
              <a:rPr sz="900" b="0" i="0">
                <a:solidFill>
                  <a:srgbClr val="1C1C1E"/>
                </a:solidFill>
                <a:latin typeface="Consolas"/>
              </a:rPr>
              <a:t>     "asof": "event_ts",</a:t>
            </a:r>
          </a:p>
          <a:p>
            <a:pPr>
              <a:lnSpc>
                <a:spcPct val="134000"/>
              </a:lnSpc>
              <a:spcBef>
                <a:spcPts val="0"/>
              </a:spcBef>
              <a:spcAft>
                <a:spcPts val="0"/>
              </a:spcAft>
            </a:pPr>
            <a:r>
              <a:rPr sz="900" b="0" i="0">
                <a:solidFill>
                  <a:srgbClr val="1C1C1E"/>
                </a:solidFill>
                <a:latin typeface="Consolas"/>
              </a:rPr>
              <a:t>     "loaded_at": "ingest_ts"}}}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POST /feature-views/{name}/source/pull</a:t>
            </a:r>
          </a:p>
          <a:p>
            <a:pPr>
              <a:lnSpc>
                <a:spcPct val="134000"/>
              </a:lnSpc>
              <a:spcBef>
                <a:spcPts val="0"/>
              </a:spcBef>
              <a:spcAft>
                <a:spcPts val="0"/>
              </a:spcAft>
            </a:pPr>
            <a:r>
              <a:rPr sz="900" b="0" i="0">
                <a:solidFill>
                  <a:srgbClr val="1C1C1E"/>
                </a:solidFill>
                <a:latin typeface="Consolas"/>
              </a:rPr>
              <a:t>  -&gt; a NEW version. Never an update.</a:t>
            </a:r>
          </a:p>
        </p:txBody>
      </p:sp>
      <p:graphicFrame>
        <p:nvGraphicFramePr>
          <p:cNvPr id="14" name="Table 13"/>
          <p:cNvGraphicFramePr>
            <a:graphicFrameLocks noGrp="1"/>
          </p:cNvGraphicFramePr>
          <p:nvPr/>
        </p:nvGraphicFramePr>
        <p:xfrm>
          <a:off x="6627708" y="1353312"/>
          <a:ext cx="4786746" cy="2594609"/>
        </p:xfrm>
        <a:graphic>
          <a:graphicData uri="http://schemas.openxmlformats.org/drawingml/2006/table">
            <a:tbl>
              <a:tblPr firstRow="1">
                <a:tableStyleId>{5C22544A-7EE6-4342-B048-85BDC9FD1C3A}</a:tableStyleId>
              </a:tblPr>
              <a:tblGrid>
                <a:gridCol w="1535371"/>
                <a:gridCol w="3251375"/>
              </a:tblGrid>
              <a:tr h="329184">
                <a:tc>
                  <a:txBody>
                    <a:bodyPr wrap="square"/>
                    <a:lstStyle/>
                    <a:p>
                      <a:pPr algn="l"/>
                      <a:r>
                        <a:rPr sz="950" b="1">
                          <a:solidFill>
                            <a:srgbClr val="FFFFFF"/>
                          </a:solidFill>
                          <a:latin typeface="Calibri"/>
                        </a:rPr>
                        <a:t>Refused</a:t>
                      </a:r>
                    </a:p>
                  </a:txBody>
                  <a:tcPr marL="82296" marR="64008" marT="32004" marB="32004" anchor="ctr">
                    <a:solidFill>
                      <a:srgbClr val="A51C30"/>
                    </a:solidFill>
                  </a:tcPr>
                </a:tc>
                <a:tc>
                  <a:txBody>
                    <a:bodyPr wrap="square"/>
                    <a:lstStyle/>
                    <a:p>
                      <a:pPr algn="l"/>
                      <a:r>
                        <a:rPr sz="950" b="1">
                          <a:solidFill>
                            <a:srgbClr val="FFFFFF"/>
                          </a:solidFill>
                          <a:latin typeface="Calibri"/>
                        </a:rPr>
                        <a:t>Why</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a statement that writes</a:t>
                      </a:r>
                    </a:p>
                  </a:txBody>
                  <a:tcPr marL="82296" marR="64008" marT="32004" marB="32004" anchor="ctr">
                    <a:solidFill>
                      <a:srgbClr val="FFFFFF"/>
                    </a:solidFill>
                  </a:tcPr>
                </a:tc>
                <a:tc>
                  <a:txBody>
                    <a:bodyPr wrap="square"/>
                    <a:lstStyle/>
                    <a:p>
                      <a:pPr algn="l"/>
                      <a:r>
                        <a:rPr sz="900" b="0">
                          <a:solidFill>
                            <a:srgbClr val="1C1C1E"/>
                          </a:solidFill>
                          <a:latin typeface="Calibri"/>
                        </a:rPr>
                        <a:t>checked when STORED, not when run — the moment it is saved, somebody will schedule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two statements</a:t>
                      </a:r>
                    </a:p>
                  </a:txBody>
                  <a:tcPr marL="82296" marR="64008" marT="32004" marB="32004" anchor="ctr">
                    <a:solidFill>
                      <a:srgbClr val="F6F3EF"/>
                    </a:solidFill>
                  </a:tcPr>
                </a:tc>
                <a:tc>
                  <a:txBody>
                    <a:bodyPr wrap="square"/>
                    <a:lstStyle/>
                    <a:p>
                      <a:pPr algn="l"/>
                      <a:r>
                        <a:rPr sz="900" b="0">
                          <a:solidFill>
                            <a:srgbClr val="1C1C1E"/>
                          </a:solidFill>
                          <a:latin typeface="Calibri"/>
                        </a:rPr>
                        <a:t>a second appended to a read is how a read stops being one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 second source on one view</a:t>
                      </a:r>
                    </a:p>
                  </a:txBody>
                  <a:tcPr marL="82296" marR="64008" marT="32004" marB="32004" anchor="ctr">
                    <a:solidFill>
                      <a:srgbClr val="FFFFFF"/>
                    </a:solidFill>
                  </a:tcPr>
                </a:tc>
                <a:tc>
                  <a:txBody>
                    <a:bodyPr wrap="square"/>
                    <a:lstStyle/>
                    <a:p>
                      <a:pPr algn="l"/>
                      <a:r>
                        <a:rPr sz="900" b="0">
                          <a:solidFill>
                            <a:srgbClr val="1C1C1E"/>
                          </a:solidFill>
                          <a:latin typeface="Calibri"/>
                        </a:rPr>
                        <a:t>a view filled from two places has a provenance nobody can state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 pull returning nothing</a:t>
                      </a:r>
                    </a:p>
                  </a:txBody>
                  <a:tcPr marL="82296" marR="64008" marT="32004" marB="32004" anchor="ctr">
                    <a:solidFill>
                      <a:srgbClr val="F6F3EF"/>
                    </a:solidFill>
                  </a:tcPr>
                </a:tc>
                <a:tc>
                  <a:txBody>
                    <a:bodyPr wrap="square"/>
                    <a:lstStyle/>
                    <a:p>
                      <a:pPr algn="l"/>
                      <a:r>
                        <a:rPr sz="900" b="0">
                          <a:solidFill>
                            <a:srgbClr val="1C1C1E"/>
                          </a:solidFill>
                          <a:latin typeface="Calibri"/>
                        </a:rPr>
                        <a:t>a version of nothing is not a version</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storing a credential</a:t>
                      </a:r>
                    </a:p>
                  </a:txBody>
                  <a:tcPr marL="82296" marR="64008" marT="32004" marB="32004" anchor="ctr">
                    <a:solidFill>
                      <a:srgbClr val="FFFFFF"/>
                    </a:solidFill>
                  </a:tcPr>
                </a:tc>
                <a:tc>
                  <a:txBody>
                    <a:bodyPr wrap="square"/>
                    <a:lstStyle/>
                    <a:p>
                      <a:pPr algn="l"/>
                      <a:r>
                        <a:rPr sz="900" b="0">
                          <a:solidFill>
                            <a:srgbClr val="1C1C1E"/>
                          </a:solidFill>
                          <a:latin typeface="Calibri"/>
                        </a:rPr>
                        <a:t>a source names one; the deployment resolves it. The schema has nowhere to put a secret</a:t>
                      </a:r>
                    </a:p>
                  </a:txBody>
                  <a:tcPr marL="82296" marR="64008" marT="32004" marB="32004" anchor="ctr">
                    <a:solidFill>
                      <a:srgbClr val="FFFFFF"/>
                    </a:solidFill>
                  </a:tcPr>
                </a:tc>
              </a:tr>
            </a:tbl>
          </a:graphicData>
        </a:graphic>
      </p:graphicFrame>
      <p:sp>
        <p:nvSpPr>
          <p:cNvPr id="15" name="TextBox 14"/>
          <p:cNvSpPr txBox="1"/>
          <p:nvPr/>
        </p:nvSpPr>
        <p:spPr>
          <a:xfrm>
            <a:off x="777240" y="4685065"/>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Copy, do not connect. </a:t>
            </a:r>
            <a:r>
              <a:rPr sz="1150" b="0" i="0">
                <a:solidFill>
                  <a:srgbClr val="1C1C1E"/>
                </a:solidFill>
                <a:latin typeface="Calibri"/>
              </a:rPr>
              <a:t>The guarantee above holds because rows carry both clocks and are never amended in place — a restatement is a NEW row, so the earlier read stays derivable. A warehouse table has neither property: once August’s restatement lands, May’s row is gone, and no read-time rule recovers what the June decision saw. The query would not fail. It would return the restated number and say nothing. So MAYA pulls — SQL through SQLAlchemy, files and S3 and GCS through pyarrow — bitemporalises what it got, and writes it into its own store as an ordinary, immutable, pinnable version. It costs a copy. It is the only way the operator survives contact with somebody else’s warehouse.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graphicFrame>
        <p:nvGraphicFramePr>
          <p:cNvPr id="10" name="Table 9"/>
          <p:cNvGraphicFramePr>
            <a:graphicFrameLocks noGrp="1"/>
          </p:cNvGraphicFramePr>
          <p:nvPr/>
        </p:nvGraphicFramePr>
        <p:xfrm>
          <a:off x="777240" y="1353312"/>
          <a:ext cx="10637214" cy="2308885"/>
        </p:xfrm>
        <a:graphic>
          <a:graphicData uri="http://schemas.openxmlformats.org/drawingml/2006/table">
            <a:tbl>
              <a:tblPr firstRow="1">
                <a:tableStyleId>{5C22544A-7EE6-4342-B048-85BDC9FD1C3A}</a:tableStyleId>
              </a:tblPr>
              <a:tblGrid>
                <a:gridCol w="1834002"/>
                <a:gridCol w="4951807"/>
                <a:gridCol w="38514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58368">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Requires BOTH a valid-time and a transaction-time bound on the assembly. Missing either and it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658368">
                <a:tc>
                  <a:txBody>
                    <a:bodyPr wrap="square"/>
                    <a:lstStyle/>
                    <a:p>
                      <a:pPr algn="l"/>
                      <a:r>
                        <a:rPr sz="1050" b="1">
                          <a:solidFill>
                            <a:srgbClr val="A51C30"/>
                          </a:solidFill>
                          <a:latin typeface="Calibri"/>
                        </a:rPr>
                        <a:t>2 · Sampling</a:t>
                      </a:r>
                    </a:p>
                  </a:txBody>
                  <a:tcPr marL="82296" marR="64008" marT="32004" marB="32004" anchor="ctr">
                    <a:solidFill>
                      <a:srgbClr val="F6F3EF"/>
                    </a:solidFill>
                  </a:tcPr>
                </a:tc>
                <a:tc>
                  <a:txBody>
                    <a:bodyPr wrap="square"/>
                    <a:lstStyle/>
                    <a:p>
                      <a:pPr algn="l"/>
                      <a:r>
                        <a:rPr sz="1050" b="0">
                          <a:solidFill>
                            <a:srgbClr val="1C1C1E"/>
                          </a:solidFill>
                          <a:latin typeface="Calibri"/>
                        </a:rPr>
                        <a:t>One recomputation of 200 sampled rows by a second code path, compared against the assembled values. Rows are bucketed by label value only</a:t>
                      </a:r>
                    </a:p>
                  </a:txBody>
                  <a:tcPr marL="82296" marR="64008" marT="32004" marB="32004" anchor="ctr">
                    <a:solidFill>
                      <a:srgbClr val="F6F3EF"/>
                    </a:solidFill>
                  </a:tcPr>
                </a:tc>
                <a:tc>
                  <a:txBody>
                    <a:bodyPr wrap="square"/>
                    <a:lstStyle/>
                    <a:p>
                      <a:pPr algn="l"/>
                      <a:r>
                        <a:rPr sz="1050" b="0">
                          <a:solidFill>
                            <a:srgbClr val="1C1C1E"/>
                          </a:solidFill>
                          <a:latin typeface="Calibri"/>
                        </a:rPr>
                        <a:t>Implementation drift between the two paths. NOT a wrong rule: both paths would be wrong together</a:t>
                      </a:r>
                    </a:p>
                  </a:txBody>
                  <a:tcPr marL="82296" marR="64008" marT="32004" marB="32004" anchor="ctr">
                    <a:solidFill>
                      <a:srgbClr val="F6F3EF"/>
                    </a:solidFill>
                  </a:tcPr>
                </a:tc>
              </a:tr>
              <a:tr h="658368">
                <a:tc>
                  <a:txBody>
                    <a:bodyPr wrap="square"/>
                    <a:lstStyle/>
                    <a:p>
                      <a:pPr algn="l"/>
                      <a:r>
                        <a:rPr sz="1050" b="1">
                          <a:solidFill>
                            <a:srgbClr val="A51C30"/>
                          </a:solidFill>
                          <a:latin typeface="Calibri"/>
                        </a:rPr>
                        <a:t>3 · Injection</a:t>
                      </a:r>
                    </a:p>
                  </a:txBody>
                  <a:tcPr marL="82296" marR="64008" marT="32004" marB="32004" anchor="ctr">
                    <a:solidFill>
                      <a:srgbClr val="FFFFFF"/>
                    </a:solidFill>
                  </a:tcPr>
                </a:tc>
                <a:tc>
                  <a:txBody>
                    <a:bodyPr wrap="square"/>
                    <a:lstStyle/>
                    <a:p>
                      <a:pPr algn="l"/>
                      <a:r>
                        <a:rPr sz="1050" b="0">
                          <a:solidFill>
                            <a:srgbClr val="1C1C1E"/>
                          </a:solidFill>
                          <a:latin typeface="Calibri"/>
                        </a:rPr>
                        <a:t>tests/test_features.py plants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That the verifier still works — the failure mode that would otherwise be silent</a:t>
                      </a:r>
                    </a:p>
                  </a:txBody>
                  <a:tcPr marL="82296" marR="64008" marT="32004" marB="32004" anchor="ctr">
                    <a:solidFill>
                      <a:srgbClr val="FFFFFF"/>
                    </a:solidFill>
                  </a:tcPr>
                </a:tc>
              </a:tr>
            </a:tbl>
          </a:graphicData>
        </a:graphic>
      </p:graphicFrame>
      <p:sp>
        <p:nvSpPr>
          <p:cNvPr id="11" name="Rectangle 10"/>
          <p:cNvSpPr/>
          <p:nvPr/>
        </p:nvSpPr>
        <p:spPr>
          <a:xfrm>
            <a:off x="777240" y="3918229"/>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4027957"/>
            <a:ext cx="9997135" cy="1207008"/>
          </a:xfrm>
          <a:prstGeom prst="rect">
            <a:avLst/>
          </a:prstGeom>
          <a:noFill/>
        </p:spPr>
        <p:txBody>
          <a:bodyPr wrap="square" lIns="0" rIns="0" tIns="0" bIns="0" anchor="t">
            <a:spAutoFit/>
          </a:bodyPr>
          <a:lstStyle/>
          <a:p>
            <a:pPr algn="l">
              <a:spcBef>
                <a:spcPts val="0"/>
              </a:spcBef>
              <a:spcAft>
                <a:spcPts val="500"/>
              </a:spcAft>
            </a:pPr>
            <a:r>
              <a:rPr sz="1350" b="1" i="0">
                <a:solidFill>
                  <a:srgbClr val="FFFFFF"/>
                </a:solidFill>
                <a:latin typeface="Georgia"/>
              </a:rPr>
              <a:t>What layer 2 does not claim</a:t>
            </a:r>
          </a:p>
          <a:p>
            <a:pPr>
              <a:lnSpc>
                <a:spcPct val="126000"/>
              </a:lnSpc>
              <a:spcBef>
                <a:spcPts val="0"/>
              </a:spcBef>
              <a:spcAft>
                <a:spcPts val="0"/>
              </a:spcAft>
            </a:pPr>
            <a:r>
              <a:rPr sz="1100" b="1" i="0">
                <a:solidFill>
                  <a:srgbClr val="FFFFFF"/>
                </a:solidFill>
                <a:latin typeface="Calibri"/>
              </a:rPr>
              <a:t>The sample is 200, hard-coded; the stratum is the label value and nothing else; and no power computation exists anywhere in the repository. </a:t>
            </a:r>
            <a:r>
              <a:rPr sz="1100" b="0" i="0">
                <a:solidFill>
                  <a:srgbClr val="F6E0E4"/>
                </a:solidFill>
                <a:latin typeface="Calibri"/>
              </a:rPr>
              <a:t>So “detects systematic violations at a stated statistical power” was a claim about a number nobody computes. It catches the two paths disagreeing. A leak confined to a rare, high-value segment is exactly where it fails, and layer 1 remains the only one that proves something about the data.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TRAINING–SERVING SKEW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Serving must read the version the contract pinned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10637215" cy="100584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804672"/>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FFFFFF"/>
                </a:solidFill>
                <a:latin typeface="Calibri"/>
              </a:rPr>
              <a:t>The failure this prevents. </a:t>
            </a:r>
            <a:r>
              <a:rPr sz="1150" b="0" i="0">
                <a:solidFill>
                  <a:srgbClr val="F6E0E4"/>
                </a:solidFill>
                <a:latin typeface="Calibri"/>
              </a:rPr>
              <a:t>A contract pins feature view v7; an online store serving “latest” hands the model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platform that exists to prevent it.</a:t>
            </a:r>
          </a:p>
        </p:txBody>
      </p:sp>
      <p:sp>
        <p:nvSpPr>
          <p:cNvPr id="12" name="Rectangle 11"/>
          <p:cNvSpPr/>
          <p:nvPr/>
        </p:nvSpPr>
        <p:spPr>
          <a:xfrm>
            <a:off x="777240" y="258775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58775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67919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VERSION WOULD BE PART OF THE KEY</a:t>
            </a:r>
          </a:p>
        </p:txBody>
      </p:sp>
      <p:sp>
        <p:nvSpPr>
          <p:cNvPr id="15" name="TextBox 14"/>
          <p:cNvSpPr txBox="1"/>
          <p:nvPr/>
        </p:nvSpPr>
        <p:spPr>
          <a:xfrm>
            <a:off x="978408" y="298094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54203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685031"/>
            <a:ext cx="4893118" cy="16459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Law L-17 was recorded as blocked on an online store, and was blocked on the wrong thing. </a:t>
            </a:r>
            <a:r>
              <a:rPr sz="1100" b="0" i="0">
                <a:solidFill>
                  <a:srgbClr val="1C1C1E"/>
                </a:solidFill>
                <a:latin typeface="Calibri"/>
              </a:rPr>
              <a:t>A store sits on the serving path at request latency, and this platform does not go there. The engine already knows which namespaces it read, so it attests them and MAYA compares against what the contract pins — the same shape as every other claim here: the platform does not perform the act, it holds whoever did to what they said they did. </a:t>
            </a:r>
            <a:r>
              <a:rPr sz="1100" b="1" i="0">
                <a:solidFill>
                  <a:srgbClr val="A51C30"/>
                </a:solidFill>
                <a:latin typeface="Calibri"/>
              </a:rPr>
              <a:t>The same move made value-level skew detection possible, </a:t>
            </a:r>
            <a:r>
              <a:rPr sz="1100" b="0" i="0">
                <a:solidFill>
                  <a:srgbClr val="1C1C1E"/>
                </a:solidFill>
                <a:latin typeface="Calibri"/>
              </a:rPr>
              <a:t>and having two clocks is what separates a stale value from one that is correct today and was not knowable at the decision — the kind every backtest passes.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TELEMETRY AND EVALUATION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reads two streams, and the gap between them is the point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Rectangle 9"/>
          <p:cNvSpPr/>
          <p:nvPr/>
        </p:nvSpPr>
        <p:spPr>
          <a:xfrm>
            <a:off x="777240"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14983"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3" name="Rectangle 12"/>
          <p:cNvSpPr/>
          <p:nvPr/>
        </p:nvSpPr>
        <p:spPr>
          <a:xfrm>
            <a:off x="6324447"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324447" y="1764792"/>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562191"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graphicFrame>
        <p:nvGraphicFramePr>
          <p:cNvPr id="16" name="Table 15"/>
          <p:cNvGraphicFramePr>
            <a:graphicFrameLocks noGrp="1"/>
          </p:cNvGraphicFramePr>
          <p:nvPr/>
        </p:nvGraphicFramePr>
        <p:xfrm>
          <a:off x="777240" y="2862072"/>
          <a:ext cx="6382328" cy="2666896"/>
        </p:xfrm>
        <a:graphic>
          <a:graphicData uri="http://schemas.openxmlformats.org/drawingml/2006/table">
            <a:tbl>
              <a:tblPr firstRow="1">
                <a:tableStyleId>{5C22544A-7EE6-4342-B048-85BDC9FD1C3A}</a:tableStyleId>
              </a:tblPr>
              <a:tblGrid>
                <a:gridCol w="2644107"/>
                <a:gridCol w="3738221"/>
              </a:tblGrid>
              <a:tr h="329184">
                <a:tc>
                  <a:txBody>
                    <a:bodyPr wrap="square"/>
                    <a:lstStyle/>
                    <a:p>
                      <a:pPr algn="l"/>
                      <a:r>
                        <a:rPr sz="1000" b="1">
                          <a:solidFill>
                            <a:srgbClr val="FFFFFF"/>
                          </a:solidFill>
                          <a:latin typeface="Calibri"/>
                        </a:rPr>
                        <a:t>Ingestion rule</a:t>
                      </a:r>
                    </a:p>
                  </a:txBody>
                  <a:tcPr marL="82296" marR="64008" marT="32004" marB="32004" anchor="ctr">
                    <a:solidFill>
                      <a:srgbClr val="A51C30"/>
                    </a:solidFill>
                  </a:tcPr>
                </a:tc>
                <a:tc>
                  <a:txBody>
                    <a:bodyPr wrap="square"/>
                    <a:lstStyle/>
                    <a:p>
                      <a:pPr algn="l"/>
                      <a:r>
                        <a:rPr sz="100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950" b="0">
                          <a:solidFill>
                            <a:srgbClr val="1C1C1E"/>
                          </a:solidFill>
                          <a:latin typeface="Calibri"/>
                        </a:rPr>
                        <a:t>Collectors deliver at least once; double-counting a redelivered batch reports a population that never existed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95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95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950" b="0">
                          <a:solidFill>
                            <a:srgbClr val="1C1C1E"/>
                          </a:solidFill>
                          <a:latin typeface="Calibri"/>
                        </a:rPr>
                        <a:t>A statistic that cannot say what population it speaks for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Labels join at READ time, and unlabelled rows come back unlabelled</a:t>
                      </a:r>
                    </a:p>
                  </a:txBody>
                  <a:tcPr marL="82296" marR="64008" marT="32004" marB="32004" anchor="ctr">
                    <a:solidFill>
                      <a:srgbClr val="F6F3EF"/>
                    </a:solidFill>
                  </a:tcPr>
                </a:tc>
                <a:tc>
                  <a:txBody>
                    <a:bodyPr wrap="square"/>
                    <a:lstStyle/>
                    <a:p>
                      <a:pPr algn="l"/>
                      <a:r>
                        <a:rPr sz="950" b="0">
                          <a:solidFill>
                            <a:srgbClr val="1C1C1E"/>
                          </a:solidFill>
                          <a:latin typeface="Calibri"/>
                        </a:rPr>
                        <a:t>The monitor decides maturity per row; a join that dropped the unlabelled would have decided for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950" b="0">
                          <a:solidFill>
                            <a:srgbClr val="1C1C1E"/>
                          </a:solidFill>
                          <a:latin typeface="Calibri"/>
                        </a:rPr>
                        <a:t>“What is this drifting from” belonging to whoever ran it rather than to the record</a:t>
                      </a:r>
                    </a:p>
                  </a:txBody>
                  <a:tcPr marL="82296" marR="64008" marT="32004" marB="32004" anchor="ctr">
                    <a:solidFill>
                      <a:srgbClr val="FFFFFF"/>
                    </a:solidFill>
                  </a:tcPr>
                </a:tc>
              </a:tr>
            </a:tbl>
          </a:graphicData>
        </a:graphic>
      </p:graphicFrame>
      <p:sp>
        <p:nvSpPr>
          <p:cNvPr id="17" name="TextBox 16"/>
          <p:cNvSpPr txBox="1"/>
          <p:nvPr/>
        </p:nvSpPr>
        <p:spPr>
          <a:xfrm>
            <a:off x="7478685" y="2862072"/>
            <a:ext cx="3935769" cy="137160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Delayed labels are the hard part</a:t>
            </a:r>
          </a:p>
          <a:p>
            <a:pPr>
              <a:lnSpc>
                <a:spcPct val="124000"/>
              </a:lnSpc>
              <a:spcBef>
                <a:spcPts val="0"/>
              </a:spcBef>
              <a:spcAft>
                <a:spcPts val="600"/>
              </a:spcAft>
            </a:pPr>
            <a:r>
              <a:rPr sz="1050" b="0" i="0">
                <a:solidFill>
                  <a:srgbClr val="4A4F57"/>
                </a:solidFill>
                <a:latin typeface="Calibri"/>
              </a:rPr>
              <a:t>A monitor declares a label_delay; performance is computed only over the vintage cohort whose outcome window has closed, and an immature cohort is refused rather than reported.</a:t>
            </a:r>
          </a:p>
          <a:p>
            <a:pPr>
              <a:lnSpc>
                <a:spcPct val="124000"/>
              </a:lnSpc>
              <a:spcBef>
                <a:spcPts val="0"/>
              </a:spcBef>
              <a:spcAft>
                <a:spcPts val="600"/>
              </a:spcAft>
            </a:pPr>
            <a:r>
              <a:rPr sz="1050" b="1" i="0">
                <a:solidFill>
                  <a:srgbClr val="1C1C1E"/>
                </a:solidFill>
                <a:latin typeface="Calibri"/>
              </a:rPr>
              <a:t>An AUC on immature outcomes is worse than no AUC</a:t>
            </a:r>
            <a:r>
              <a:rPr sz="1050" b="0" i="0">
                <a:solidFill>
                  <a:srgbClr val="4A4F57"/>
                </a:solidFill>
                <a:latin typeface="Calibri"/>
              </a:rPr>
              <a:t> — it is confidently wrong in a direction nobody checks.</a:t>
            </a:r>
          </a:p>
        </p:txBody>
      </p:sp>
      <p:graphicFrame>
        <p:nvGraphicFramePr>
          <p:cNvPr id="18" name="Table 17"/>
          <p:cNvGraphicFramePr>
            <a:graphicFrameLocks noGrp="1"/>
          </p:cNvGraphicFramePr>
          <p:nvPr/>
        </p:nvGraphicFramePr>
        <p:xfrm>
          <a:off x="7478685" y="4553712"/>
          <a:ext cx="3935769" cy="2178480"/>
        </p:xfrm>
        <a:graphic>
          <a:graphicData uri="http://schemas.openxmlformats.org/drawingml/2006/table">
            <a:tbl>
              <a:tblPr firstRow="1">
                <a:tableStyleId>{5C22544A-7EE6-4342-B048-85BDC9FD1C3A}</a:tableStyleId>
              </a:tblPr>
              <a:tblGrid>
                <a:gridCol w="1311923"/>
                <a:gridCol w="2623846"/>
              </a:tblGrid>
              <a:tr h="329184">
                <a:tc>
                  <a:txBody>
                    <a:bodyPr wrap="square"/>
                    <a:lstStyle/>
                    <a:p>
                      <a:pPr algn="l"/>
                      <a:r>
                        <a:rPr sz="950" b="1">
                          <a:solidFill>
                            <a:srgbClr val="FFFFFF"/>
                          </a:solidFill>
                          <a:latin typeface="Calibri"/>
                        </a:rPr>
                        <a:t>Class</a:t>
                      </a:r>
                    </a:p>
                  </a:txBody>
                  <a:tcPr marL="82296" marR="64008" marT="32004" marB="32004" anchor="ctr">
                    <a:solidFill>
                      <a:srgbClr val="A51C30"/>
                    </a:solidFill>
                  </a:tcPr>
                </a:tc>
                <a:tc>
                  <a:txBody>
                    <a:bodyPr wrap="square"/>
                    <a:lstStyle/>
                    <a:p>
                      <a:pPr algn="l"/>
                      <a:r>
                        <a:rPr sz="950" b="1">
                          <a:solidFill>
                            <a:srgbClr val="FFFFFF"/>
                          </a:solidFill>
                          <a:latin typeface="Calibri"/>
                        </a:rPr>
                        <a:t>Default metrics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T1 calibrated</a:t>
                      </a:r>
                    </a:p>
                  </a:txBody>
                  <a:tcPr marL="82296" marR="64008" marT="32004" marB="32004" anchor="ctr">
                    <a:solidFill>
                      <a:srgbClr val="FFFFFF"/>
                    </a:solidFill>
                  </a:tcPr>
                </a:tc>
                <a:tc>
                  <a:txBody>
                    <a:bodyPr wrap="square"/>
                    <a:lstStyle/>
                    <a:p>
                      <a:pPr algn="l"/>
                      <a:r>
                        <a:rPr sz="950" b="0">
                          <a:solidFill>
                            <a:srgbClr val="1C1C1E"/>
                          </a:solidFill>
                          <a:latin typeface="Calibri"/>
                        </a:rPr>
                        <a:t>Calibration error, arbitrage-free checks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T2 / T3</a:t>
                      </a:r>
                    </a:p>
                  </a:txBody>
                  <a:tcPr marL="82296" marR="64008" marT="32004" marB="32004" anchor="ctr">
                    <a:solidFill>
                      <a:srgbClr val="F6F3EF"/>
                    </a:solidFill>
                  </a:tcPr>
                </a:tc>
                <a:tc>
                  <a:txBody>
                    <a:bodyPr wrap="square"/>
                    <a:lstStyle/>
                    <a:p>
                      <a:pPr algn="l"/>
                      <a:r>
                        <a:rPr sz="950" b="0">
                          <a:solidFill>
                            <a:srgbClr val="1C1C1E"/>
                          </a:solidFill>
                          <a:latin typeface="Calibri"/>
                        </a:rPr>
                        <a:t>KS, AUC, PSI, Hosmer–Lemeshow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T4 adaptive</a:t>
                      </a:r>
                    </a:p>
                  </a:txBody>
                  <a:tcPr marL="82296" marR="64008" marT="32004" marB="32004" anchor="ctr">
                    <a:solidFill>
                      <a:srgbClr val="FFFFFF"/>
                    </a:solidFill>
                  </a:tcPr>
                </a:tc>
                <a:tc>
                  <a:txBody>
                    <a:bodyPr wrap="square"/>
                    <a:lstStyle/>
                    <a:p>
                      <a:pPr algn="l"/>
                      <a:r>
                        <a:rPr sz="950" b="0">
                          <a:solidFill>
                            <a:srgbClr val="1C1C1E"/>
                          </a:solidFill>
                          <a:latin typeface="Calibri"/>
                        </a:rPr>
                        <a:t>Parameter-change magnitude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T5 foundation</a:t>
                      </a:r>
                    </a:p>
                  </a:txBody>
                  <a:tcPr marL="82296" marR="64008" marT="32004" marB="32004" anchor="ctr">
                    <a:solidFill>
                      <a:srgbClr val="F6F3EF"/>
                    </a:solidFill>
                  </a:tcPr>
                </a:tc>
                <a:tc>
                  <a:txBody>
                    <a:bodyPr wrap="square"/>
                    <a:lstStyle/>
                    <a:p>
                      <a:pPr algn="l"/>
                      <a:r>
                        <a:rPr sz="950" b="0">
                          <a:solidFill>
                            <a:srgbClr val="1C1C1E"/>
                          </a:solidFill>
                          <a:latin typeface="Calibri"/>
                        </a:rPr>
                        <a:t>Groundedness, hallucination rate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T6 opaque</a:t>
                      </a:r>
                    </a:p>
                  </a:txBody>
                  <a:tcPr marL="82296" marR="64008" marT="32004" marB="32004" anchor="ctr">
                    <a:solidFill>
                      <a:srgbClr val="FFFFFF"/>
                    </a:solidFill>
                  </a:tcPr>
                </a:tc>
                <a:tc>
                  <a:txBody>
                    <a:bodyPr wrap="square"/>
                    <a:lstStyle/>
                    <a:p>
                      <a:pPr algn="l"/>
                      <a:r>
                        <a:rPr sz="950" b="0">
                          <a:solidFill>
                            <a:srgbClr val="1C1C1E"/>
                          </a:solidFill>
                          <a:latin typeface="Calibri"/>
                        </a:rPr>
                        <a:t>Own-outcomes divergence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T8 authored</a:t>
                      </a:r>
                    </a:p>
                  </a:txBody>
                  <a:tcPr marL="82296" marR="64008" marT="32004" marB="32004" anchor="ctr">
                    <a:solidFill>
                      <a:srgbClr val="F6F3EF"/>
                    </a:solidFill>
                  </a:tcPr>
                </a:tc>
                <a:tc>
                  <a:txBody>
                    <a:bodyPr wrap="square"/>
                    <a:lstStyle/>
                    <a:p>
                      <a:pPr algn="l"/>
                      <a:r>
                        <a:rPr sz="95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CORE/EVIDENCE/ENGINE.PY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self.repo.db.transaction():        # read the head, insert head+1</a:t>
            </a:r>
          </a:p>
          <a:p>
            <a:pPr>
              <a:lnSpc>
                <a:spcPct val="134000"/>
              </a:lnSpc>
              <a:spcBef>
                <a:spcPts val="0"/>
              </a:spcBef>
              <a:spcAft>
                <a:spcPts val="0"/>
              </a:spcAft>
            </a:pPr>
            <a:r>
              <a:rPr sz="950" b="0" i="0">
                <a:solidFill>
                  <a:srgbClr val="1C1C1E"/>
                </a:solidFill>
                <a:latin typeface="Consolas"/>
              </a:rPr>
              <a:t>    prev_seq, prev_hash = self.head()</a:t>
            </a:r>
          </a:p>
          <a:p>
            <a:pPr>
              <a:lnSpc>
                <a:spcPct val="134000"/>
              </a:lnSpc>
              <a:spcBef>
                <a:spcPts val="0"/>
              </a:spcBef>
              <a:spcAft>
                <a:spcPts val="0"/>
              </a:spcAft>
            </a:pPr>
            <a:r>
              <a:rPr sz="950" b="0" i="0">
                <a:solidFill>
                  <a:srgbClr val="1C1C1E"/>
                </a:solidFill>
                <a:latin typeface="Consolas"/>
              </a:rPr>
              <a:t>    stored = {} if personal_data else payload    # law L-18</a:t>
            </a:r>
          </a:p>
          <a:p>
            <a:pPr>
              <a:lnSpc>
                <a:spcPct val="134000"/>
              </a:lnSpc>
              <a:spcBef>
                <a:spcPts val="0"/>
              </a:spcBef>
              <a:spcAft>
                <a:spcPts val="0"/>
              </a:spcAft>
            </a:pPr>
            <a:r>
              <a:rPr sz="950" b="0" i="0">
                <a:solidFill>
                  <a:srgbClr val="1C1C1E"/>
                </a:solidFill>
                <a:latin typeface="Consolas"/>
              </a:rPr>
              <a:t>    content_hash = canonical_digest(</a:t>
            </a:r>
          </a:p>
          <a:p>
            <a:pPr>
              <a:lnSpc>
                <a:spcPct val="134000"/>
              </a:lnSpc>
              <a:spcBef>
                <a:spcPts val="0"/>
              </a:spcBef>
              <a:spcAft>
                <a:spcPts val="0"/>
              </a:spcAft>
            </a:pPr>
            <a:r>
              <a:rPr sz="950" b="0" i="0">
                <a:solidFill>
                  <a:srgbClr val="1C1C1E"/>
                </a:solidFill>
                <a:latin typeface="Consolas"/>
              </a:rPr>
              <a:t>        {..., "payload": stored,</a:t>
            </a:r>
          </a:p>
          <a:p>
            <a:pPr>
              <a:lnSpc>
                <a:spcPct val="134000"/>
              </a:lnSpc>
              <a:spcBef>
                <a:spcPts val="0"/>
              </a:spcBef>
              <a:spcAft>
                <a:spcPts val="0"/>
              </a:spcAft>
            </a:pPr>
            <a:r>
              <a:rPr sz="950" b="0" i="0">
                <a:solidFill>
                  <a:srgbClr val="1C1C1E"/>
                </a:solidFill>
                <a:latin typeface="Consolas"/>
              </a:rPr>
              <a:t>         "recorded_by": actor, "trust": trust})</a:t>
            </a:r>
          </a:p>
          <a:p>
            <a:pPr>
              <a:lnSpc>
                <a:spcPct val="134000"/>
              </a:lnSpc>
              <a:spcBef>
                <a:spcPts val="0"/>
              </a:spcBef>
              <a:spcAft>
                <a:spcPts val="0"/>
              </a:spcAft>
            </a:pPr>
            <a:r>
              <a:rPr sz="950" b="0" i="0">
                <a:solidFill>
                  <a:srgbClr val="1C1C1E"/>
                </a:solidFill>
                <a:latin typeface="Consolas"/>
              </a:rPr>
              <a:t>    self.repo.add({</a:t>
            </a:r>
          </a:p>
          <a:p>
            <a:pPr>
              <a:lnSpc>
                <a:spcPct val="134000"/>
              </a:lnSpc>
              <a:spcBef>
                <a:spcPts val="0"/>
              </a:spcBef>
              <a:spcAft>
                <a:spcPts val="0"/>
              </a:spcAft>
            </a:pPr>
            <a:r>
              <a:rPr sz="950" b="0" i="0">
                <a:solidFill>
                  <a:srgbClr val="1C1C1E"/>
                </a:solidFill>
                <a:latin typeface="Consolas"/>
              </a:rPr>
              <a:t>        "seq": prev_seq + 1, "payload": stored,</a:t>
            </a:r>
          </a:p>
          <a:p>
            <a:pPr>
              <a:lnSpc>
                <a:spcPct val="134000"/>
              </a:lnSpc>
              <a:spcBef>
                <a:spcPts val="0"/>
              </a:spcBef>
              <a:spcAft>
                <a:spcPts val="0"/>
              </a:spcAft>
            </a:pPr>
            <a:r>
              <a:rPr sz="950" b="0" i="0">
                <a:solidFill>
                  <a:srgbClr val="1C1C1E"/>
                </a:solidFill>
                <a:latin typeface="Consolas"/>
              </a:rPr>
              <a:t>        "content_hash": content_hash, "prev_hash": prev_hash,</a:t>
            </a:r>
          </a:p>
          <a:p>
            <a:pPr>
              <a:lnSpc>
                <a:spcPct val="134000"/>
              </a:lnSpc>
              <a:spcBef>
                <a:spcPts val="0"/>
              </a:spcBef>
              <a:spcAft>
                <a:spcPts val="0"/>
              </a:spcAft>
            </a:pPr>
            <a:r>
              <a:rPr sz="950" b="0" i="0">
                <a:solidFill>
                  <a:srgbClr val="1C1C1E"/>
                </a:solidFill>
                <a:latin typeface="Consolas"/>
              </a:rPr>
              <a:t>        "chain_hash": canonical_digest(</a:t>
            </a:r>
          </a:p>
          <a:p>
            <a:pPr>
              <a:lnSpc>
                <a:spcPct val="134000"/>
              </a:lnSpc>
              <a:spcBef>
                <a:spcPts val="0"/>
              </a:spcBef>
              <a:spcAft>
                <a:spcPts val="0"/>
              </a:spcAft>
            </a:pPr>
            <a:r>
              <a:rPr sz="950" b="0" i="0">
                <a:solidFill>
                  <a:srgbClr val="1C1C1E"/>
                </a:solidFill>
                <a:latin typeface="Consolas"/>
              </a:rPr>
              <a:t>            [seq, prev_hash, content_hash, parents])})</a:t>
            </a:r>
          </a:p>
          <a:p>
            <a:pPr>
              <a:lnSpc>
                <a:spcPct val="134000"/>
              </a:lnSpc>
              <a:spcBef>
                <a:spcPts val="0"/>
              </a:spcBef>
              <a:spcAft>
                <a:spcPts val="0"/>
              </a:spcAft>
            </a:pPr>
            <a:r>
              <a:rPr sz="950" b="0" i="0">
                <a:solidFill>
                  <a:srgbClr val="7A7F87"/>
                </a:solidFill>
                <a:latin typeface="Consolas"/>
              </a:rPr>
              <a:t># IntegrityError → jittered back-off, re-read the head, retry</a:t>
            </a:r>
          </a:p>
        </p:txBody>
      </p:sp>
      <p:sp>
        <p:nvSpPr>
          <p:cNvPr id="14" name="TextBox 13"/>
          <p:cNvSpPr txBox="1"/>
          <p:nvPr/>
        </p:nvSpPr>
        <p:spPr>
          <a:xfrm>
            <a:off x="7585057" y="1353312"/>
            <a:ext cx="3829397"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600"/>
              </a:spcBef>
              <a:spcAft>
                <a:spcPts val="300"/>
              </a:spcAft>
            </a:pPr>
            <a:r>
              <a:rPr sz="1050" b="1">
                <a:solidFill>
                  <a:srgbClr val="A51C30"/>
                </a:solidFill>
                <a:latin typeface="Calibri"/>
              </a:rPr>
              <a:t>▪  </a:t>
            </a:r>
            <a:r>
              <a:rPr sz="105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600"/>
              </a:spcBef>
              <a:spcAft>
                <a:spcPts val="300"/>
              </a:spcAft>
            </a:pPr>
            <a:r>
              <a:rPr sz="1050" b="1">
                <a:solidFill>
                  <a:srgbClr val="A51C30"/>
                </a:solidFill>
                <a:latin typeface="Calibri"/>
              </a:rPr>
              <a:t>▪  </a:t>
            </a:r>
            <a:r>
              <a:rPr sz="1050" b="1">
                <a:solidFill>
                  <a:srgbClr val="1C1C1E"/>
                </a:solidFill>
                <a:latin typeface="Calibri"/>
              </a:rPr>
              <a:t>The chain expresses order</a:t>
            </a:r>
          </a:p>
          <a:p>
            <a:pPr lvl="1">
              <a:spcBef>
                <a:spcPts val="0"/>
              </a:spcBef>
              <a:spcAft>
                <a:spcPts val="0"/>
              </a:spcAft>
            </a:pPr>
            <a:r>
              <a:rPr sz="950">
                <a:solidFill>
                  <a:srgbClr val="4A4F57"/>
                </a:solidFill>
                <a:latin typeface="Calibri"/>
              </a:rPr>
              <a:t>so deleting a leaf or inserting into the past becomes detectable</a:t>
            </a:r>
          </a:p>
          <a:p>
            <a:pPr>
              <a:spcBef>
                <a:spcPts val="600"/>
              </a:spcBef>
              <a:spcAft>
                <a:spcPts val="300"/>
              </a:spcAft>
            </a:pPr>
            <a:r>
              <a:rPr sz="1050" b="1">
                <a:solidFill>
                  <a:srgbClr val="A51C30"/>
                </a:solidFill>
                <a:latin typeface="Calibri"/>
              </a:rPr>
              <a:t>▪  </a:t>
            </a:r>
            <a:r>
              <a:rPr sz="1050" b="1">
                <a:solidFill>
                  <a:srgbClr val="1C1C1E"/>
                </a:solidFill>
                <a:latin typeface="Calibri"/>
              </a:rPr>
              <a:t>Who, and how much, are hashed</a:t>
            </a:r>
          </a:p>
          <a:p>
            <a:pPr lvl="1">
              <a:spcBef>
                <a:spcPts val="0"/>
              </a:spcBef>
              <a:spcAft>
                <a:spcPts val="0"/>
              </a:spcAft>
            </a:pPr>
            <a:r>
              <a:rPr sz="950">
                <a:solidFill>
                  <a:srgbClr val="4A4F57"/>
                </a:solidFill>
                <a:latin typeface="Calibri"/>
              </a:rPr>
              <a:t>segregation of duties is decided by reading recorded_by off these nodes; before it was hashed, one UPDATE turned that control off silently</a:t>
            </a:r>
          </a:p>
          <a:p>
            <a:pPr>
              <a:spcBef>
                <a:spcPts val="600"/>
              </a:spcBef>
              <a:spcAft>
                <a:spcPts val="300"/>
              </a:spcAft>
            </a:pPr>
            <a:r>
              <a:rPr sz="1050" b="1">
                <a:solidFill>
                  <a:srgbClr val="A51C30"/>
                </a:solidFill>
                <a:latin typeface="Calibri"/>
              </a:rPr>
              <a:t>▪  </a:t>
            </a:r>
            <a:r>
              <a:rPr sz="1050" b="1">
                <a:solidFill>
                  <a:srgbClr val="1C1C1E"/>
                </a:solidFill>
                <a:latin typeface="Calibri"/>
              </a:rPr>
              <a:t>No lock — a retry</a:t>
            </a:r>
          </a:p>
          <a:p>
            <a:pPr lvl="1">
              <a:spcBef>
                <a:spcPts val="0"/>
              </a:spcBef>
              <a:spcAft>
                <a:spcPts val="0"/>
              </a:spcAft>
            </a:pPr>
            <a:r>
              <a:rPr sz="950">
                <a:solidFill>
                  <a:srgbClr val="4A4F57"/>
                </a:solidFill>
                <a:latin typeface="Calibri"/>
              </a:rPr>
              <a:t>the sequence race is lost, backed off with jitter, and re-run</a:t>
            </a:r>
          </a:p>
        </p:txBody>
      </p:sp>
      <p:sp>
        <p:nvSpPr>
          <p:cNvPr id="15" name="Rectangle 14"/>
          <p:cNvSpPr/>
          <p:nvPr/>
        </p:nvSpPr>
        <p:spPr>
          <a:xfrm>
            <a:off x="777240" y="4620737"/>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39609"/>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L-18: the payload is discarded, not pointed at. </a:t>
            </a:r>
            <a:r>
              <a:rPr sz="1050" b="0" i="0">
                <a:solidFill>
                  <a:srgbClr val="1C1C1E"/>
                </a:solidFill>
                <a:latin typeface="Calibri"/>
              </a:rPr>
              <a:t>There is no payload_uri column, no per-subject key and no shred path here. “An erasable pointer” described a design nobody built, and reads as though the data is still retrievable under authority. Discarding is stronger for the law as stated — nothing to erase — and weaker for anybody who expected to resolve it later.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CORE/EVIDENCE/ANCHOR.PY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anchor — because a chain that certifies itself certifies nothing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Rectangle 9"/>
          <p:cNvSpPr/>
          <p:nvPr/>
        </p:nvSpPr>
        <p:spPr>
          <a:xfrm>
            <a:off x="777240" y="1764792"/>
            <a:ext cx="6063212"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BUILT — WORMReader / WORMWriter, core/ports.py</a:t>
            </a:r>
          </a:p>
        </p:txBody>
      </p:sp>
      <p:sp>
        <p:nvSpPr>
          <p:cNvPr id="13" name="TextBox 12"/>
          <p:cNvSpPr txBox="1"/>
          <p:nvPr/>
        </p:nvSpPr>
        <p:spPr>
          <a:xfrm>
            <a:off x="978408" y="2157984"/>
            <a:ext cx="5697452"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scheduler job evidence.anchor</a:t>
            </a:r>
          </a:p>
          <a:p>
            <a:pPr>
              <a:lnSpc>
                <a:spcPct val="134000"/>
              </a:lnSpc>
              <a:spcBef>
                <a:spcPts val="0"/>
              </a:spcBef>
              <a:spcAft>
                <a:spcPts val="0"/>
              </a:spcAft>
            </a:pPr>
            <a:r>
              <a:rPr sz="950" b="0" i="0">
                <a:solidFill>
                  <a:srgbClr val="1C1C1E"/>
                </a:solidFill>
                <a:latin typeface="Consolas"/>
              </a:rPr>
              <a:t>agreement = evidence.verify_against_anchors()</a:t>
            </a:r>
          </a:p>
          <a:p>
            <a:pPr>
              <a:lnSpc>
                <a:spcPct val="134000"/>
              </a:lnSpc>
              <a:spcBef>
                <a:spcPts val="0"/>
              </a:spcBef>
              <a:spcAft>
                <a:spcPts val="0"/>
              </a:spcAft>
            </a:pPr>
            <a:r>
              <a:rPr sz="950" b="0" i="0">
                <a:solidFill>
                  <a:srgbClr val="1C1C1E"/>
                </a:solidFill>
                <a:latin typeface="Consolas"/>
              </a:rPr>
              <a:t>if not agreement["agrees"]:</a:t>
            </a:r>
          </a:p>
          <a:p>
            <a:pPr>
              <a:lnSpc>
                <a:spcPct val="134000"/>
              </a:lnSpc>
              <a:spcBef>
                <a:spcPts val="0"/>
              </a:spcBef>
              <a:spcAft>
                <a:spcPts val="0"/>
              </a:spcAft>
            </a:pPr>
            <a:r>
              <a:rPr sz="950" b="0" i="0">
                <a:solidFill>
                  <a:srgbClr val="1C1C1E"/>
                </a:solidFill>
                <a:latin typeface="Consolas"/>
              </a:rPr>
              <a:t>    return refuse(...)          # never anchor over a broken chain</a:t>
            </a:r>
          </a:p>
          <a:p>
            <a:pPr>
              <a:lnSpc>
                <a:spcPct val="134000"/>
              </a:lnSpc>
              <a:spcBef>
                <a:spcPts val="0"/>
              </a:spcBef>
              <a:spcAft>
                <a:spcPts val="0"/>
              </a:spcAft>
            </a:pPr>
            <a:r>
              <a:rPr sz="950" b="0" i="0">
                <a:solidFill>
                  <a:srgbClr val="1C1C1E"/>
                </a:solidFill>
                <a:latin typeface="Consolas"/>
              </a:rPr>
              <a:t>evidence.anchor_head(actor=ctx.actor)</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core/evidence/anchor.py — write-once, one file per head</a:t>
            </a:r>
          </a:p>
          <a:p>
            <a:pPr>
              <a:lnSpc>
                <a:spcPct val="134000"/>
              </a:lnSpc>
              <a:spcBef>
                <a:spcPts val="0"/>
              </a:spcBef>
              <a:spcAft>
                <a:spcPts val="0"/>
              </a:spcAft>
            </a:pPr>
            <a:r>
              <a:rPr sz="950" b="0" i="0">
                <a:solidFill>
                  <a:srgbClr val="1C1C1E"/>
                </a:solidFill>
                <a:latin typeface="Consolas"/>
              </a:rPr>
              <a:t>if self.store.exists(name):</a:t>
            </a:r>
          </a:p>
          <a:p>
            <a:pPr>
              <a:lnSpc>
                <a:spcPct val="134000"/>
              </a:lnSpc>
              <a:spcBef>
                <a:spcPts val="0"/>
              </a:spcBef>
              <a:spcAft>
                <a:spcPts val="0"/>
              </a:spcAft>
            </a:pPr>
            <a:r>
              <a:rPr sz="950" b="0" i="0">
                <a:solidFill>
                  <a:srgbClr val="1C1C1E"/>
                </a:solidFill>
                <a:latin typeface="Consolas"/>
              </a:rPr>
              <a:t>    if held["chain_hash"] != chain_hash:</a:t>
            </a:r>
          </a:p>
          <a:p>
            <a:pPr>
              <a:lnSpc>
                <a:spcPct val="134000"/>
              </a:lnSpc>
              <a:spcBef>
                <a:spcPts val="0"/>
              </a:spcBef>
              <a:spcAft>
                <a:spcPts val="0"/>
              </a:spcAft>
            </a:pPr>
            <a:r>
              <a:rPr sz="950" b="0" i="0">
                <a:solidFill>
                  <a:srgbClr val="1C1C1E"/>
                </a:solidFill>
                <a:latin typeface="Consolas"/>
              </a:rPr>
              <a:t>        raise AnchorError("anchor_disagreement", ...)</a:t>
            </a:r>
          </a:p>
          <a:p>
            <a:pPr>
              <a:lnSpc>
                <a:spcPct val="134000"/>
              </a:lnSpc>
              <a:spcBef>
                <a:spcPts val="0"/>
              </a:spcBef>
              <a:spcAft>
                <a:spcPts val="0"/>
              </a:spcAft>
            </a:pPr>
            <a:r>
              <a:rPr sz="950" b="0" i="0">
                <a:solidFill>
                  <a:srgbClr val="1C1C1E"/>
                </a:solidFill>
                <a:latin typeface="Consolas"/>
              </a:rPr>
              <a:t>    return {**held, "written": 0}     # idempotent re-run</a:t>
            </a:r>
          </a:p>
        </p:txBody>
      </p:sp>
      <p:sp>
        <p:nvSpPr>
          <p:cNvPr id="14" name="TextBox 13"/>
          <p:cNvSpPr txBox="1"/>
          <p:nvPr/>
        </p:nvSpPr>
        <p:spPr>
          <a:xfrm>
            <a:off x="7159569" y="1764792"/>
            <a:ext cx="4254886" cy="219456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The property worth the slide</a:t>
            </a:r>
          </a:p>
          <a:p>
            <a:pPr>
              <a:lnSpc>
                <a:spcPct val="126000"/>
              </a:lnSpc>
              <a:spcBef>
                <a:spcPts val="0"/>
              </a:spcBef>
              <a:spcAft>
                <a:spcPts val="0"/>
              </a:spcAft>
            </a:pPr>
            <a:r>
              <a:rPr sz="1050" b="0" i="0">
                <a:solidFill>
                  <a:srgbClr val="1C1C1E"/>
                </a:solidFill>
                <a:latin typeface="Calibri"/>
              </a:rPr>
              <a:t>Rewrite a node and re-link every hash after it, and </a:t>
            </a:r>
            <a:r>
              <a:rPr sz="1050" b="1" i="0">
                <a:solidFill>
                  <a:srgbClr val="1C1C1E"/>
                </a:solidFill>
                <a:latin typeface="Calibri"/>
              </a:rPr>
              <a:t>verify_chain reports the chain valid</a:t>
            </a:r>
            <a:r>
              <a:rPr sz="1050" b="0" i="0">
                <a:solidFill>
                  <a:srgbClr val="1C1C1E"/>
                </a:solidFill>
                <a:latin typeface="Calibri"/>
              </a:rPr>
              <a:t>. It is internally consistent, and that is all self-verification can ever ask. The anchor disagrees, because the head was written down before, on another medium. </a:t>
            </a:r>
            <a:r>
              <a:rPr sz="1050" b="0" i="0">
                <a:solidFill>
                  <a:srgbClr val="1C1C1E"/>
                </a:solidFill>
                <a:latin typeface="Consolas"/>
              </a:rPr>
              <a:t>tests/test_evidence_anchor.py</a:t>
            </a:r>
            <a:r>
              <a:rPr sz="1050" b="0" i="0">
                <a:solidFill>
                  <a:srgbClr val="1C1C1E"/>
                </a:solidFill>
                <a:latin typeface="Calibri"/>
              </a:rPr>
              <a:t> asserts exactly that.</a:t>
            </a:r>
          </a:p>
        </p:txBody>
      </p:sp>
      <p:sp>
        <p:nvSpPr>
          <p:cNvPr id="15" name="Rectangle 14"/>
          <p:cNvSpPr/>
          <p:nvPr/>
        </p:nvSpPr>
        <p:spPr>
          <a:xfrm>
            <a:off x="7159569" y="4142232"/>
            <a:ext cx="4254886" cy="1874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159569" y="4142232"/>
            <a:ext cx="41148"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397313" y="4261104"/>
            <a:ext cx="3797686" cy="165506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And its four limits, stated in the code. </a:t>
            </a:r>
            <a:r>
              <a:rPr sz="1050" b="0" i="0">
                <a:solidFill>
                  <a:srgbClr val="1C1C1E"/>
                </a:solidFill>
                <a:latin typeface="Calibri"/>
              </a:rPr>
              <a:t>A directory is separation of medium, not enforcement — the read-only bit stops an accident, not an adversary. The medium is a deployment choice behind two ports, so S3 Object Lock changes nothing above the seam. Nothing before the first anchor can be contradicted. And an RFC-3161 token bounds a head from ABOVE only — MAYA is not the authority and does not verify it.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716784"/>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polynomial  ℕ[X]</a:t>
                      </a:r>
                    </a:p>
                  </a:txBody>
                  <a:tcPr marL="82296" marR="64008" marT="32004" marB="32004" anchor="ctr">
                    <a:solidFill>
                      <a:srgbClr val="FFFFFF"/>
                    </a:solidFill>
                  </a:tcPr>
                </a:tc>
                <a:tc>
                  <a:txBody>
                    <a:bodyPr wrap="square"/>
                    <a:lstStyle/>
                    <a:p>
                      <a:pPr algn="l"/>
                      <a:r>
                        <a:rPr sz="1000" b="0">
                          <a:solidFill>
                            <a:srgbClr val="1C1C1E"/>
                          </a:solidFill>
                          <a:latin typeface="Calibri"/>
                        </a:rPr>
                        <a:t>The universal one — the rest substitute into it</a:t>
                      </a:r>
                    </a:p>
                  </a:txBody>
                  <a:tcPr marL="82296" marR="64008" marT="32004" marB="32004" anchor="ctr">
                    <a:solidFill>
                      <a:srgbClr val="FFFFFF"/>
                    </a:solidFill>
                  </a:tcPr>
                </a:tc>
              </a:tr>
            </a:tbl>
          </a:graphicData>
        </a:graphic>
      </p:graphicFrame>
      <p:sp>
        <p:nvSpPr>
          <p:cNvPr id="15" name="TextBox 14"/>
          <p:cNvSpPr txBox="1"/>
          <p:nvPr/>
        </p:nvSpPr>
        <p:spPr>
          <a:xfrm>
            <a:off x="7053196" y="4234687"/>
            <a:ext cx="4361258" cy="73152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Evaluate once in ℕ[X] </a:t>
            </a:r>
            <a:r>
              <a:rPr sz="1000" b="0" i="0">
                <a:solidFill>
                  <a:srgbClr val="1C1C1E"/>
                </a:solidFill>
                <a:latin typeface="Calibri"/>
              </a:rPr>
              <a:t>and every other answer is a substitution into it — law L-9. Freshness is the exception: its zero does not annihilate, so it is not a semiring, and a test says so.</a:t>
            </a:r>
          </a:p>
        </p:txBody>
      </p:sp>
      <p:sp>
        <p:nvSpPr>
          <p:cNvPr id="16" name="Rectangle 15"/>
          <p:cNvSpPr/>
          <p:nvPr/>
        </p:nvSpPr>
        <p:spPr>
          <a:xfrm>
            <a:off x="777240" y="4931633"/>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931633"/>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5050505"/>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cost of asking why, and its cap. </a:t>
            </a:r>
            <a:r>
              <a:rPr sz="105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It marks the answer partial — it does not fall back to a cheaper semiring. The marker is the control.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Risk tiering — derived, monotone, and only as good as its facts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sp>
        <p:nvSpPr>
          <p:cNvPr id="10" name="TextBox 9"/>
          <p:cNvSpPr txBox="1"/>
          <p:nvPr/>
        </p:nvSpPr>
        <p:spPr>
          <a:xfrm>
            <a:off x="777240" y="176479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risk tier is a number from 1 to 4, and nobody picks it. </a:t>
            </a:r>
            <a:r>
              <a:rPr sz="1200" b="0" i="0">
                <a:solidFill>
                  <a:srgbClr val="1C1C1E"/>
                </a:solidFill>
                <a:latin typeface="Calibri"/>
              </a:rPr>
              <a:t>It is derived from how consequential a model is (materiality) and how hard it is to reason about (complexity), and it decides how much control the model gets — approval quorum, scope of validation, cadence of monitoring.</a:t>
            </a:r>
          </a:p>
        </p:txBody>
      </p:sp>
      <p:sp>
        <p:nvSpPr>
          <p:cNvPr id="11" name="Rectangle 10"/>
          <p:cNvSpPr/>
          <p:nvPr/>
        </p:nvSpPr>
        <p:spPr>
          <a:xfrm>
            <a:off x="777240" y="2423160"/>
            <a:ext cx="5956840"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514600"/>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4" name="TextBox 13"/>
          <p:cNvSpPr txBox="1"/>
          <p:nvPr/>
        </p:nvSpPr>
        <p:spPr>
          <a:xfrm>
            <a:off x="978408" y="2816351"/>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a:t>
            </a:r>
          </a:p>
          <a:p>
            <a:pPr>
              <a:lnSpc>
                <a:spcPct val="134000"/>
              </a:lnSpc>
              <a:spcBef>
                <a:spcPts val="0"/>
              </a:spcBef>
              <a:spcAft>
                <a:spcPts val="0"/>
              </a:spcAft>
            </a:pPr>
            <a:r>
              <a:rPr sz="950" b="0" i="0">
                <a:solidFill>
                  <a:srgbClr val="1C1C1E"/>
                </a:solidFill>
                <a:latin typeface="Consolas"/>
              </a:rPr>
              <a:t>m = Materiality(quantitative=..., qualitative=...).join()</a:t>
            </a:r>
          </a:p>
          <a:p>
            <a:pPr>
              <a:lnSpc>
                <a:spcPct val="134000"/>
              </a:lnSpc>
              <a:spcBef>
                <a:spcPts val="0"/>
              </a:spcBef>
              <a:spcAft>
                <a:spcPts val="0"/>
              </a:spcAft>
            </a:pPr>
            <a:r>
              <a:rPr sz="950" b="0" i="0">
                <a:solidFill>
                  <a:srgbClr val="1C1C1E"/>
                </a:solidFill>
                <a:latin typeface="Consolas"/>
              </a:rPr>
              <a:t>c = Complexity.meet(data=..., methodology=...,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the controls it requires — law L-5</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p:txBody>
      </p:sp>
      <p:sp>
        <p:nvSpPr>
          <p:cNvPr id="15" name="TextBox 14"/>
          <p:cNvSpPr txBox="1"/>
          <p:nvPr/>
        </p:nvSpPr>
        <p:spPr>
          <a:xfrm>
            <a:off x="7159569" y="2423160"/>
            <a:ext cx="4254886" cy="219456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Two axes, never one score</a:t>
            </a:r>
          </a:p>
          <a:p>
            <a:pPr>
              <a:lnSpc>
                <a:spcPct val="124000"/>
              </a:lnSpc>
              <a:spcBef>
                <a:spcPts val="0"/>
              </a:spcBef>
              <a:spcAft>
                <a:spcPts val="800"/>
              </a:spcAft>
            </a:pPr>
            <a:r>
              <a:rPr sz="1050" b="0" i="0">
                <a:solidFill>
                  <a:srgbClr val="4A4F57"/>
                </a:solidFill>
                <a:latin typeface="Calibri"/>
              </a:rPr>
              <a:t>Materiality and complexity are separate lattices. Collapsing them into a product lets a very complex model with modest exposure land beside a simple model with enormous exposure.</a:t>
            </a:r>
          </a:p>
          <a:p>
            <a:pPr>
              <a:lnSpc>
                <a:spcPct val="124000"/>
              </a:lnSpc>
              <a:spcBef>
                <a:spcPts val="0"/>
              </a:spcBef>
              <a:spcAft>
                <a:spcPts val="600"/>
              </a:spcAft>
            </a:pPr>
            <a:r>
              <a:rPr sz="1050" b="0" i="0">
                <a:solidFill>
                  <a:srgbClr val="4A4F57"/>
                </a:solidFill>
                <a:latin typeface="Calibri"/>
              </a:rPr>
              <a:t>The map to the tier is monotone, so </a:t>
            </a:r>
            <a:r>
              <a:rPr sz="1050" b="1" i="0">
                <a:solidFill>
                  <a:srgbClr val="1C1C1E"/>
                </a:solidFill>
                <a:latin typeface="Calibri"/>
              </a:rPr>
              <a:t>nothing we can learn that makes a model more consequential or more complicated will ever move it into a lighter control regime.</a:t>
            </a:r>
            <a:r>
              <a:rPr sz="1050" b="0" i="0">
                <a:solidFill>
                  <a:srgbClr val="4A4F57"/>
                </a:solidFill>
                <a:latin typeface="Calibri"/>
              </a:rPr>
              <a:t> An unconstrained scoring formula cannot promise that, and usually cannot even be checked.</a:t>
            </a:r>
          </a:p>
        </p:txBody>
      </p:sp>
      <p:sp>
        <p:nvSpPr>
          <p:cNvPr id="16" name="Rectangle 15"/>
          <p:cNvSpPr/>
          <p:nvPr/>
        </p:nvSpPr>
        <p:spPr>
          <a:xfrm>
            <a:off x="777240" y="4875763"/>
            <a:ext cx="595684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4994635"/>
            <a:ext cx="549964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attack the obvious control misses. </a:t>
            </a:r>
            <a:r>
              <a:rPr sz="1050" b="0" i="0">
                <a:solidFill>
                  <a:srgbClr val="1C1C1E"/>
                </a:solidFill>
                <a:latin typeface="Calibri"/>
              </a:rPr>
              <a:t>Overriding a derived tier is visible — but understating an exposure lowers it through a perfectly valid, fully audited derivation. So exposure binds to a system of record where one exists, an unsourced fact is marked and peer-cohort outlier detection applies, and a purpose_class change is approved at the tier being LEFT.</a:t>
            </a:r>
          </a:p>
        </p:txBody>
      </p:sp>
      <p:sp>
        <p:nvSpPr>
          <p:cNvPr id="19" name="Rectangle 18"/>
          <p:cNvSpPr/>
          <p:nvPr/>
        </p:nvSpPr>
        <p:spPr>
          <a:xfrm>
            <a:off x="7159569" y="4875763"/>
            <a:ext cx="4254886"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159569"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397313" y="4994635"/>
            <a:ext cx="3797686"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Retrospective calibration. </a:t>
            </a:r>
            <a:r>
              <a:rPr sz="1050" b="0" i="0">
                <a:solidFill>
                  <a:srgbClr val="1C1C1E"/>
                </a:solidFill>
                <a:latin typeface="Calibri"/>
              </a:rPr>
              <a:t>Annually, tier assignments are back-tested against realised incidents, findings and losses. A tier that never predicts anything is evidence of systematic understatement — not of a quiet portfolio.</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Attesting the model </a:t>
            </a:r>
            <a:r>
              <a:rPr sz="1250" b="1" i="0">
                <a:solidFill>
                  <a:srgbClr val="1C1C1E"/>
                </a:solidFill>
                <a:latin typeface="Calibri"/>
              </a:rPr>
              <a:t>record</a:t>
            </a:r>
            <a:r>
              <a:rPr sz="1250" b="0" i="0">
                <a:solidFill>
                  <a:srgbClr val="1C1C1E"/>
                </a:solidFill>
                <a:latin typeface="Calibri"/>
              </a:rPr>
              <a:t> is not approving the </a:t>
            </a:r>
            <a:r>
              <a:rPr sz="1250" b="1" i="0">
                <a:solidFill>
                  <a:srgbClr val="1C1C1E"/>
                </a:solidFill>
                <a:latin typeface="Calibri"/>
              </a:rPr>
              <a:t>version</a:t>
            </a:r>
            <a:r>
              <a:rPr sz="1250" b="0" i="0">
                <a:solidFill>
                  <a:srgbClr val="1C1C1E"/>
                </a:solidFill>
                <a:latin typeface="Calibri"/>
              </a:rPr>
              <a:t>. The version is the thing that runs, so it carries its own quorum, and the tier sets its depth.</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rule (L-5) that decides every other control set: depth of control follows the tier</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is how a model chooses its own control depth</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68037"/>
            <a:ext cx="4542291"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cannot be a constraint and lives in the service, because it is about people rather than rows.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scope determination that can be defended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TextBox 9"/>
          <p:cNvSpPr txBox="1"/>
          <p:nvPr/>
        </p:nvSpPr>
        <p:spPr>
          <a:xfrm>
            <a:off x="777240" y="1353312"/>
            <a:ext cx="10637215" cy="420624"/>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Three regimes are encoded: SR 26-2, SS1/23, the EU AI Act. </a:t>
            </a:r>
            <a:r>
              <a:rPr sz="1200" b="0" i="0">
                <a:solidFill>
                  <a:srgbClr val="1C1C1E"/>
                </a:solidFill>
                <a:latin typeface="Calibri"/>
              </a:rPr>
              <a:t>Each is an institution — its own vocabulary, its obligations written in that vocabulary, and a translation from MAYA's facts into it. A regime activates only if the translation preserves truth.</a:t>
            </a:r>
          </a:p>
        </p:txBody>
      </p:sp>
      <p:sp>
        <p:nvSpPr>
          <p:cNvPr id="11" name="Rectangle 10"/>
          <p:cNvSpPr/>
          <p:nvPr/>
        </p:nvSpPr>
        <p:spPr>
          <a:xfrm>
            <a:off x="777240" y="1883664"/>
            <a:ext cx="10637215"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975104"/>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4" name="TextBox 13"/>
          <p:cNvSpPr txBox="1"/>
          <p:nvPr/>
        </p:nvSpPr>
        <p:spPr>
          <a:xfrm>
            <a:off x="978408" y="2276856"/>
            <a:ext cx="10271455"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local  = inst.translate(CoreFacts.for_model(model_id))   # the translation</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s.holds(local)])</a:t>
            </a:r>
          </a:p>
        </p:txBody>
      </p:sp>
      <p:sp>
        <p:nvSpPr>
          <p:cNvPr id="15" name="TextBox 14"/>
          <p:cNvSpPr txBox="1"/>
          <p:nvPr/>
        </p:nvSpPr>
        <p:spPr>
          <a:xfrm>
            <a:off x="777240" y="4743678"/>
            <a:ext cx="5531351" cy="1536192"/>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somebody who was not there.</a:t>
            </a:r>
          </a:p>
        </p:txBody>
      </p:sp>
      <p:sp>
        <p:nvSpPr>
          <p:cNvPr id="16" name="Rectangle 15"/>
          <p:cNvSpPr/>
          <p:nvPr/>
        </p:nvSpPr>
        <p:spPr>
          <a:xfrm>
            <a:off x="6734080" y="4743678"/>
            <a:ext cx="4680374"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734080" y="4743678"/>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971824" y="4862550"/>
            <a:ext cx="4223174"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L-8, and its weaker quantifier. </a:t>
            </a:r>
            <a:r>
              <a:rPr sz="1050" b="0" i="0">
                <a:solidFill>
                  <a:srgbClr val="1C1C1E"/>
                </a:solidFill>
                <a:latin typeface="Calibri"/>
              </a:rPr>
              <a:t>core/regimes/translation.py::satisfaction_condition requires evaluating natively and evaluating the translation to agree — over six probe states spanning the corners, not over generated states — and a regime that fails it cannot be activated. The quantifier is stated rather than hidden.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Each rule names the payload field carrying the identity it is about: a finding is raised against the model, while closing one concerns the finding. A rule that looks in the wrong place </a:t>
            </a:r>
            <a:r>
              <a:rPr sz="1050" b="1" i="0">
                <a:solidFill>
                  <a:srgbClr val="1C1C1E"/>
                </a:solidFill>
                <a:latin typeface="Calibri"/>
              </a:rPr>
              <a:t>finds nothing and permits everything</a:t>
            </a:r>
            <a:r>
              <a:rPr sz="1050" b="0" i="0">
                <a:solidFill>
                  <a:srgbClr val="4A4F57"/>
                </a:solidFill>
                <a:latin typeface="Calibri"/>
              </a:rPr>
              <a:t> — a control reporting success.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00984"/>
            <a:ext cx="4542291"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this exists. </a:t>
            </a:r>
            <a:r>
              <a:rPr sz="105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never rendered in the same colour as a breach.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Rectangle 9"/>
          <p:cNvSpPr/>
          <p:nvPr/>
        </p:nvSpPr>
        <p:spPr>
          <a:xfrm>
            <a:off x="777240" y="1819656"/>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819656"/>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911095"/>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3" name="TextBox 12"/>
          <p:cNvSpPr txBox="1"/>
          <p:nvPr/>
        </p:nvSpPr>
        <p:spPr>
          <a:xfrm>
            <a:off x="978408" y="2212848"/>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4" name="TextBox 13"/>
          <p:cNvSpPr txBox="1"/>
          <p:nvPr/>
        </p:nvSpPr>
        <p:spPr>
          <a:xfrm>
            <a:off x="777240" y="4131624"/>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gate is a predicate, not a program. </a:t>
            </a:r>
            <a:r>
              <a:rPr sz="1050" b="0" i="0">
                <a:solidFill>
                  <a:srgbClr val="1C1C1E"/>
                </a:solidFill>
                <a:latin typeface="Calibri"/>
              </a:rPr>
              <a:t>A control written in a general-purpose policy language has to be run to be understood, and a reviewer signing one off cannot run it.</a:t>
            </a:r>
          </a:p>
        </p:txBody>
      </p:sp>
      <p:graphicFrame>
        <p:nvGraphicFramePr>
          <p:cNvPr id="15" name="Table 14"/>
          <p:cNvGraphicFramePr>
            <a:graphicFrameLocks noGrp="1"/>
          </p:cNvGraphicFramePr>
          <p:nvPr/>
        </p:nvGraphicFramePr>
        <p:xfrm>
          <a:off x="6840452" y="1819656"/>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6" name="Rectangle 15"/>
          <p:cNvSpPr/>
          <p:nvPr/>
        </p:nvSpPr>
        <p:spPr>
          <a:xfrm>
            <a:off x="777240" y="5056632"/>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5157216"/>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82312"/>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both. </a:t>
            </a:r>
            <a:r>
              <a:rPr sz="1050" b="0" i="0">
                <a:solidFill>
                  <a:srgbClr val="1C1C1E"/>
                </a:solidFill>
                <a:latin typeface="Calibri"/>
              </a:rPr>
              <a:t>A platform that only compiles cannot hold the paper the quant actually wrote; one that only stores files is a share drive with a database in front. Held apart, the register can say which is which — and a rejected document stays on file with its reason, because the papers that did not pass are the ones a supervisor asks about.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18</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estimator · rules · python.callable · container · rest · sql · spreadsheet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document type. Six of the nineteen run inside MAYA; the rest name an engine the bank already operates, and the warrant is what MAYA hands it.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graphicFrame>
        <p:nvGraphicFramePr>
          <p:cNvPr id="10" name="Table 9"/>
          <p:cNvGraphicFramePr>
            <a:graphicFrameLocks noGrp="1"/>
          </p:cNvGraphicFramePr>
          <p:nvPr/>
        </p:nvGraphicFramePr>
        <p:xfrm>
          <a:off x="777240" y="1353312"/>
          <a:ext cx="10637213" cy="3022117"/>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Origination rule set</a:t>
                      </a:r>
                    </a:p>
                  </a:txBody>
                  <a:tcPr marL="82296" marR="64008" marT="32004" marB="32004" anchor="ctr">
                    <a:solidFill>
                      <a:srgbClr val="FFFFFF"/>
                    </a:solidFill>
                  </a:tcPr>
                </a:tc>
                <a:tc>
                  <a:txBody>
                    <a:bodyPr wrap="square"/>
                    <a:lstStyle/>
                    <a:p>
                      <a:pPr algn="l"/>
                      <a:r>
                        <a:rPr sz="1050" b="0">
                          <a:solidFill>
                            <a:srgbClr val="1C1C1E"/>
                          </a:solidFill>
                          <a:latin typeface="Calibri"/>
                        </a:rPr>
                        <a:t>rule_set  (T8)</a:t>
                      </a:r>
                    </a:p>
                  </a:txBody>
                  <a:tcPr marL="82296" marR="64008" marT="32004" marB="32004" anchor="ctr">
                    <a:solidFill>
                      <a:srgbClr val="FFFFFF"/>
                    </a:solidFill>
                  </a:tcPr>
                </a:tc>
                <a:tc>
                  <a:txBody>
                    <a:bodyPr wrap="square"/>
                    <a:lstStyle/>
                    <a:p>
                      <a:pPr algn="l"/>
                      <a:r>
                        <a:rPr sz="1050" b="0">
                          <a:solidFill>
                            <a:srgbClr val="1C1C1E"/>
                          </a:solidFill>
                          <a:latin typeface="Calibri"/>
                        </a:rPr>
                        <a:t>rules</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request</a:t>
                      </a:r>
                    </a:p>
                  </a:txBody>
                  <a:tcPr marL="82296" marR="64008" marT="32004" marB="32004" anchor="ctr">
                    <a:solidFill>
                      <a:srgbClr val="FFFFFF"/>
                    </a:solidFill>
                  </a:tcPr>
                </a:tc>
              </a:tr>
            </a:tbl>
          </a:graphicData>
        </a:graphic>
      </p:graphicFrame>
      <p:sp>
        <p:nvSpPr>
          <p:cNvPr id="11" name="Rectangle 10"/>
          <p:cNvSpPr/>
          <p:nvPr/>
        </p:nvSpPr>
        <p:spPr>
          <a:xfrm>
            <a:off x="777240" y="4613173"/>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13173"/>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22901"/>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graphicFrame>
        <p:nvGraphicFramePr>
          <p:cNvPr id="10" name="Table 9"/>
          <p:cNvGraphicFramePr>
            <a:graphicFrameLocks noGrp="1"/>
          </p:cNvGraphicFramePr>
          <p:nvPr/>
        </p:nvGraphicFramePr>
        <p:xfrm>
          <a:off x="777240" y="1353312"/>
          <a:ext cx="10637214" cy="4405592"/>
        </p:xfrm>
        <a:graphic>
          <a:graphicData uri="http://schemas.openxmlformats.org/drawingml/2006/table">
            <a:tbl>
              <a:tblPr firstRow="1">
                <a:tableStyleId>{5C22544A-7EE6-4342-B048-85BDC9FD1C3A}</a:tableStyleId>
              </a:tblPr>
              <a:tblGrid>
                <a:gridCol w="779451"/>
                <a:gridCol w="3071954"/>
                <a:gridCol w="67858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it cannot be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0.7 is not reproducible, and neither is an unseeded simulation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a number produced at an unstated point in P is attributable to nothing</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training read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misses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against the register</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L-W11</a:t>
                      </a:r>
                    </a:p>
                  </a:txBody>
                  <a:tcPr marL="82296" marR="64008" marT="32004" marB="32004" anchor="ctr">
                    <a:solidFill>
                      <a:srgbClr val="F6F3EF"/>
                    </a:solidFill>
                  </a:tcPr>
                </a:tc>
                <a:tc>
                  <a:txBody>
                    <a:bodyPr wrap="square"/>
                    <a:lstStyle/>
                    <a:p>
                      <a:pPr algn="l"/>
                      <a:r>
                        <a:rPr sz="850" b="0">
                          <a:solidFill>
                            <a:srgbClr val="1C1C1E"/>
                          </a:solidFill>
                          <a:latin typeface="Calibri"/>
                        </a:rPr>
                        <a:t>a calibration with no as-of</a:t>
                      </a:r>
                    </a:p>
                  </a:txBody>
                  <a:tcPr marL="82296" marR="64008" marT="32004" marB="32004" anchor="ctr">
                    <a:solidFill>
                      <a:srgbClr val="F6F3EF"/>
                    </a:solidFill>
                  </a:tcPr>
                </a:tc>
                <a:tc>
                  <a:txBody>
                    <a:bodyPr wrap="square"/>
                    <a:lstStyle/>
                    <a:p>
                      <a:pPr algn="l"/>
                      <a:r>
                        <a:rPr sz="850" b="0">
                          <a:solidFill>
                            <a:srgbClr val="1C1C1E"/>
                          </a:solidFill>
                          <a:latin typeface="Calibri"/>
                        </a:rPr>
                        <a:t>yesterday's numbers and this morning's are not the same run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L-W12</a:t>
                      </a:r>
                    </a:p>
                  </a:txBody>
                  <a:tcPr marL="82296" marR="64008" marT="32004" marB="32004" anchor="ctr">
                    <a:solidFill>
                      <a:srgbClr val="FFFFFF"/>
                    </a:solidFill>
                  </a:tcPr>
                </a:tc>
                <a:tc>
                  <a:txBody>
                    <a:bodyPr wrap="square"/>
                    <a:lstStyle/>
                    <a:p>
                      <a:pPr algn="l"/>
                      <a:r>
                        <a:rPr sz="850" b="0">
                          <a:solidFill>
                            <a:srgbClr val="1C1C1E"/>
                          </a:solidFill>
                          <a:latin typeface="Calibri"/>
                        </a:rPr>
                        <a:t>parameters inside an artifact with no digest</a:t>
                      </a:r>
                    </a:p>
                  </a:txBody>
                  <a:tcPr marL="82296" marR="64008" marT="32004" marB="32004" anchor="ctr">
                    <a:solidFill>
                      <a:srgbClr val="FFFFFF"/>
                    </a:solidFill>
                  </a:tcPr>
                </a:tc>
                <a:tc>
                  <a:txBody>
                    <a:bodyPr wrap="square"/>
                    <a:lstStyle/>
                    <a:p>
                      <a:pPr algn="l"/>
                      <a:r>
                        <a:rPr sz="850" b="0">
                          <a:solidFill>
                            <a:srgbClr val="1C1C1E"/>
                          </a:solidFill>
                          <a:latin typeface="Calibri"/>
                        </a:rPr>
                        <a:t>P would then be whatever that file happens to contain today</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L-W13</a:t>
                      </a:r>
                    </a:p>
                  </a:txBody>
                  <a:tcPr marL="82296" marR="64008" marT="32004" marB="32004" anchor="ctr">
                    <a:solidFill>
                      <a:srgbClr val="F6F3EF"/>
                    </a:solidFill>
                  </a:tcPr>
                </a:tc>
                <a:tc>
                  <a:txBody>
                    <a:bodyPr wrap="square"/>
                    <a:lstStyle/>
                    <a:p>
                      <a:pPr algn="l"/>
                      <a:r>
                        <a:rPr sz="850" b="0">
                          <a:solidFill>
                            <a:srgbClr val="1C1C1E"/>
                          </a:solidFill>
                          <a:latin typeface="Calibri"/>
                        </a:rPr>
                        <a:t>a generative runtime pinned to a model name</a:t>
                      </a:r>
                    </a:p>
                  </a:txBody>
                  <a:tcPr marL="82296" marR="64008" marT="32004" marB="32004" anchor="ctr">
                    <a:solidFill>
                      <a:srgbClr val="F6F3EF"/>
                    </a:solidFill>
                  </a:tcPr>
                </a:tc>
                <a:tc>
                  <a:txBody>
                    <a:bodyPr wrap="square"/>
                    <a:lstStyle/>
                    <a:p>
                      <a:pPr algn="l"/>
                      <a:r>
                        <a:rPr sz="850" b="0">
                          <a:solidFill>
                            <a:srgbClr val="1C1C1E"/>
                          </a:solidFill>
                          <a:latin typeface="Calibri"/>
                        </a:rPr>
                        <a:t>the name survives a provider's build change; the behaviour does not</a:t>
                      </a:r>
                    </a:p>
                  </a:txBody>
                  <a:tcPr marL="82296" marR="64008" marT="32004" marB="32004" anchor="ctr">
                    <a:solidFill>
                      <a:srgbClr val="F6F3EF"/>
                    </a:solidFill>
                  </a:tcPr>
                </a:tc>
              </a:tr>
            </a:tbl>
          </a:graphicData>
        </a:graphic>
      </p:graphicFrame>
      <p:sp>
        <p:nvSpPr>
          <p:cNvPr id="11" name="TextBox 10"/>
          <p:cNvSpPr txBox="1"/>
          <p:nvPr/>
        </p:nvSpPr>
        <p:spPr>
          <a:xfrm>
            <a:off x="777240" y="5850356"/>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A51C30"/>
                </a:solidFill>
                <a:latin typeface="Calibri"/>
              </a:rPr>
              <a:t>Validated before signed, never after. </a:t>
            </a:r>
            <a:r>
              <a:rPr sz="1000" b="0" i="0">
                <a:solidFill>
                  <a:srgbClr val="1C1C1E"/>
                </a:solidFill>
                <a:latin typeface="Calibri"/>
              </a:rPr>
              <a:t>A signature over a non-conforming document assures that it is authentic and not that it is usable, and an engine reads it as both.</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RESOLUTION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 — the order of the checks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6063212" cy="293634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93634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5697452" cy="2460856"/>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 resolve(urn, environment, principal, declared_use, verb="score"):</a:t>
            </a:r>
          </a:p>
          <a:p>
            <a:pPr>
              <a:lnSpc>
                <a:spcPct val="134000"/>
              </a:lnSpc>
              <a:spcBef>
                <a:spcPts val="0"/>
              </a:spcBef>
              <a:spcAft>
                <a:spcPts val="0"/>
              </a:spcAft>
            </a:pPr>
            <a:r>
              <a:rPr sz="850" b="0" i="0">
                <a:solidFill>
                  <a:srgbClr val="1C1C1E"/>
                </a:solidFill>
                <a:latin typeface="Consolas"/>
              </a:rPr>
              <a:t>    name, semver, alias = parse_urn(urn)</a:t>
            </a:r>
          </a:p>
          <a:p>
            <a:pPr>
              <a:lnSpc>
                <a:spcPct val="134000"/>
              </a:lnSpc>
              <a:spcBef>
                <a:spcPts val="0"/>
              </a:spcBef>
              <a:spcAft>
                <a:spcPts val="0"/>
              </a:spcAft>
            </a:pPr>
            <a:r>
              <a:rPr sz="850" b="0" i="0">
                <a:solidFill>
                  <a:srgbClr val="1C1C1E"/>
                </a:solidFill>
                <a:latin typeface="Consolas"/>
              </a:rPr>
              <a:t>    m = self._model(urn, model_urn(name))       # the register, by URN</a:t>
            </a:r>
          </a:p>
          <a:p>
            <a:pPr>
              <a:lnSpc>
                <a:spcPct val="134000"/>
              </a:lnSpc>
              <a:spcBef>
                <a:spcPts val="0"/>
              </a:spcBef>
              <a:spcAft>
                <a:spcPts val="0"/>
              </a:spcAft>
            </a:pPr>
            <a:r>
              <a:rPr sz="850" b="0" i="0">
                <a:solidFill>
                  <a:srgbClr val="1C1C1E"/>
                </a:solidFill>
                <a:latin typeface="Consolas"/>
              </a:rPr>
              <a:t>    self._check_not_blocked(m)                  # a blocking finding restricts</a:t>
            </a:r>
          </a:p>
          <a:p>
            <a:pPr>
              <a:lnSpc>
                <a:spcPct val="134000"/>
              </a:lnSpc>
              <a:spcBef>
                <a:spcPts val="0"/>
              </a:spcBef>
              <a:spcAft>
                <a:spcPts val="0"/>
              </a:spcAft>
            </a:pPr>
            <a:r>
              <a:rPr sz="850" b="0" i="0">
                <a:solidFill>
                  <a:srgbClr val="1C1C1E"/>
                </a:solidFill>
                <a:latin typeface="Consolas"/>
              </a:rPr>
              <a:t>    grant = self._grant(m, environment, principal, declared_use)</a:t>
            </a:r>
          </a:p>
          <a:p>
            <a:pPr>
              <a:lnSpc>
                <a:spcPct val="134000"/>
              </a:lnSpc>
              <a:spcBef>
                <a:spcPts val="0"/>
              </a:spcBef>
              <a:spcAft>
                <a:spcPts val="0"/>
              </a:spcAft>
            </a:pPr>
            <a:r>
              <a:rPr sz="850" b="0" i="0">
                <a:solidFill>
                  <a:srgbClr val="1C1C1E"/>
                </a:solidFill>
                <a:latin typeface="Consolas"/>
              </a:rPr>
              <a:t>    version = self._version(m["urn"], environment, semver,</a:t>
            </a:r>
          </a:p>
          <a:p>
            <a:pPr>
              <a:lnSpc>
                <a:spcPct val="134000"/>
              </a:lnSpc>
              <a:spcBef>
                <a:spcPts val="0"/>
              </a:spcBef>
              <a:spcAft>
                <a:spcPts val="0"/>
              </a:spcAft>
            </a:pPr>
            <a:r>
              <a:rPr sz="850" b="0" i="0">
                <a:solidFill>
                  <a:srgbClr val="1C1C1E"/>
                </a:solidFill>
                <a:latin typeface="Consolas"/>
              </a:rPr>
              <a:t>                            alias or grant["alias_name"], urn)</a:t>
            </a:r>
          </a:p>
          <a:p>
            <a:pPr>
              <a:lnSpc>
                <a:spcPct val="134000"/>
              </a:lnSpc>
              <a:spcBef>
                <a:spcPts val="0"/>
              </a:spcBef>
              <a:spcAft>
                <a:spcPts val="0"/>
              </a:spcAft>
            </a:pPr>
            <a:r>
              <a:rPr sz="850" b="0" i="0">
                <a:solidFill>
                  <a:srgbClr val="1C1C1E"/>
                </a:solidFill>
                <a:latin typeface="Consolas"/>
              </a:rPr>
              <a:t>    if self.policy is not None:        # consulted last, and only to refuse</a:t>
            </a:r>
          </a:p>
          <a:p>
            <a:pPr>
              <a:lnSpc>
                <a:spcPct val="134000"/>
              </a:lnSpc>
              <a:spcBef>
                <a:spcPts val="0"/>
              </a:spcBef>
              <a:spcAft>
                <a:spcPts val="0"/>
              </a:spcAft>
            </a:pPr>
            <a:r>
              <a:rPr sz="850" b="0" i="0">
                <a:solidFill>
                  <a:srgbClr val="1C1C1E"/>
                </a:solidFill>
                <a:latin typeface="Consolas"/>
              </a:rPr>
              <a:t>        self.policy.check("warrant:resolve", {...}, urn)</a:t>
            </a:r>
          </a:p>
          <a:p>
            <a:pPr>
              <a:lnSpc>
                <a:spcPct val="134000"/>
              </a:lnSpc>
              <a:spcBef>
                <a:spcPts val="0"/>
              </a:spcBef>
              <a:spcAft>
                <a:spcPts val="0"/>
              </a:spcAft>
            </a:pPr>
            <a:r>
              <a:rPr sz="850" b="0" i="0">
                <a:solidFill>
                  <a:srgbClr val="1C1C1E"/>
                </a:solidFill>
                <a:latin typeface="Consolas"/>
              </a:rPr>
              <a:t>    return self.builder.build(urn, m, version, grant, principal,</a:t>
            </a:r>
          </a:p>
          <a:p>
            <a:pPr>
              <a:lnSpc>
                <a:spcPct val="134000"/>
              </a:lnSpc>
              <a:spcBef>
                <a:spcPts val="0"/>
              </a:spcBef>
              <a:spcAft>
                <a:spcPts val="0"/>
              </a:spcAft>
            </a:pPr>
            <a:r>
              <a:rPr sz="850" b="0" i="0">
                <a:solidFill>
                  <a:srgbClr val="1C1C1E"/>
                </a:solidFill>
                <a:latin typeface="Consolas"/>
              </a:rPr>
              <a:t>                              declared_use, environment, self.epoch,</a:t>
            </a:r>
          </a:p>
          <a:p>
            <a:pPr>
              <a:lnSpc>
                <a:spcPct val="134000"/>
              </a:lnSpc>
              <a:spcBef>
                <a:spcPts val="0"/>
              </a:spcBef>
              <a:spcAft>
                <a:spcPts val="0"/>
              </a:spcAft>
            </a:pPr>
            <a:r>
              <a:rPr sz="850" b="0" i="0">
                <a:solidFill>
                  <a:srgbClr val="1C1C1E"/>
                </a:solidFill>
                <a:latin typeface="Consolas"/>
              </a:rPr>
              <a:t>                              verb=verb,</a:t>
            </a:r>
          </a:p>
          <a:p>
            <a:pPr>
              <a:lnSpc>
                <a:spcPct val="134000"/>
              </a:lnSpc>
              <a:spcBef>
                <a:spcPts val="0"/>
              </a:spcBef>
              <a:spcAft>
                <a:spcPts val="0"/>
              </a:spcAft>
            </a:pPr>
            <a:r>
              <a:rPr sz="850" b="0" i="0">
                <a:solidFill>
                  <a:srgbClr val="1C1C1E"/>
                </a:solidFill>
                <a:latin typeface="Consolas"/>
              </a:rPr>
              <a:t>                              parameter_set=self._point_of_p(urn, version))</a:t>
            </a:r>
          </a:p>
        </p:txBody>
      </p:sp>
      <p:sp>
        <p:nvSpPr>
          <p:cNvPr id="14" name="TextBox 13"/>
          <p:cNvSpPr txBox="1"/>
          <p:nvPr/>
        </p:nvSpPr>
        <p:spPr>
          <a:xfrm>
            <a:off x="7265941" y="1353312"/>
            <a:ext cx="4148513" cy="3108960"/>
          </a:xfrm>
          <a:prstGeom prst="rect">
            <a:avLst/>
          </a:prstGeom>
          <a:noFill/>
        </p:spPr>
        <p:txBody>
          <a:bodyPr wrap="square" lIns="0" rIns="0" tIns="0" bIns="0" anchor="t">
            <a:spAutoFit/>
          </a:bodyPr>
          <a:lstStyle/>
          <a:p>
            <a:pPr algn="l">
              <a:spcBef>
                <a:spcPts val="0"/>
              </a:spcBef>
              <a:spcAft>
                <a:spcPts val="600"/>
              </a:spcAft>
            </a:pPr>
            <a:r>
              <a:rPr sz="1250" b="1" i="0">
                <a:solidFill>
                  <a:srgbClr val="1C1C1E"/>
                </a:solidFill>
                <a:latin typeface="Georgia"/>
              </a:rPr>
              <a:t>What the order is for</a:t>
            </a:r>
          </a:p>
          <a:p>
            <a:pPr>
              <a:spcBef>
                <a:spcPts val="600"/>
              </a:spcBef>
              <a:spcAft>
                <a:spcPts val="300"/>
              </a:spcAft>
            </a:pPr>
            <a:r>
              <a:rPr sz="1050" b="1">
                <a:solidFill>
                  <a:srgbClr val="A51C30"/>
                </a:solidFill>
                <a:latin typeface="Calibri"/>
              </a:rPr>
              <a:t>▪  </a:t>
            </a:r>
            <a:r>
              <a:rPr sz="1050" b="1">
                <a:solidFill>
                  <a:srgbClr val="1C1C1E"/>
                </a:solidFill>
                <a:latin typeface="Calibri"/>
              </a:rPr>
              <a:t>Refuse before anything is loaded</a:t>
            </a:r>
          </a:p>
          <a:p>
            <a:pPr lvl="1">
              <a:spcBef>
                <a:spcPts val="0"/>
              </a:spcBef>
              <a:spcAft>
                <a:spcPts val="0"/>
              </a:spcAft>
            </a:pPr>
            <a:r>
              <a:rPr sz="900">
                <a:solidFill>
                  <a:srgbClr val="4A4F57"/>
                </a:solidFill>
                <a:latin typeface="Calibri"/>
              </a:rPr>
              <a:t>Entitlement, blocking findings and version status are all decided out of the register. No artifact is opened on this path</a:t>
            </a:r>
          </a:p>
          <a:p>
            <a:pPr>
              <a:spcBef>
                <a:spcPts val="600"/>
              </a:spcBef>
              <a:spcAft>
                <a:spcPts val="300"/>
              </a:spcAft>
            </a:pPr>
            <a:r>
              <a:rPr sz="1050" b="1">
                <a:solidFill>
                  <a:srgbClr val="A51C30"/>
                </a:solidFill>
                <a:latin typeface="Calibri"/>
              </a:rPr>
              <a:t>▪  </a:t>
            </a:r>
            <a:r>
              <a:rPr sz="1050" b="1">
                <a:solidFill>
                  <a:srgbClr val="1C1C1E"/>
                </a:solidFill>
                <a:latin typeface="Calibri"/>
              </a:rPr>
              <a:t>Policy is consulted last, and only to refuse</a:t>
            </a:r>
          </a:p>
          <a:p>
            <a:pPr lvl="1">
              <a:spcBef>
                <a:spcPts val="0"/>
              </a:spcBef>
              <a:spcAft>
                <a:spcPts val="0"/>
              </a:spcAft>
            </a:pPr>
            <a:r>
              <a:rPr sz="900">
                <a:solidFill>
                  <a:srgbClr val="4A4F57"/>
                </a:solidFill>
                <a:latin typeface="Calibri"/>
              </a:rPr>
              <a:t>A gate that can only subtract cannot grant what the checks above it withheld</a:t>
            </a:r>
          </a:p>
          <a:p>
            <a:pPr>
              <a:spcBef>
                <a:spcPts val="600"/>
              </a:spcBef>
              <a:spcAft>
                <a:spcPts val="300"/>
              </a:spcAft>
            </a:pPr>
            <a:r>
              <a:rPr sz="1050" b="1">
                <a:solidFill>
                  <a:srgbClr val="A51C30"/>
                </a:solidFill>
                <a:latin typeface="Calibri"/>
              </a:rPr>
              <a:t>▪  </a:t>
            </a:r>
            <a:r>
              <a:rPr sz="1050" b="1">
                <a:solidFill>
                  <a:srgbClr val="1C1C1E"/>
                </a:solidFill>
                <a:latin typeface="Calibri"/>
              </a:rPr>
              <a:t>Signed HMAC-SHA256, keyed per audience</a:t>
            </a:r>
          </a:p>
          <a:p>
            <a:pPr lvl="1">
              <a:spcBef>
                <a:spcPts val="0"/>
              </a:spcBef>
              <a:spcAft>
                <a:spcPts val="0"/>
              </a:spcAft>
            </a:pPr>
            <a:r>
              <a:rPr sz="900">
                <a:solidFill>
                  <a:srgbClr val="4A4F57"/>
                </a:solidFill>
                <a:latin typeface="Calibri"/>
              </a:rPr>
              <a:t>The key is derived from the principal the warrant is FOR, so a compromised engine forges warrants for itself and nobody else</a:t>
            </a:r>
          </a:p>
          <a:p>
            <a:pPr>
              <a:spcBef>
                <a:spcPts val="600"/>
              </a:spcBef>
              <a:spcAft>
                <a:spcPts val="300"/>
              </a:spcAft>
            </a:pPr>
            <a:r>
              <a:rPr sz="1050" b="1">
                <a:solidFill>
                  <a:srgbClr val="A51C30"/>
                </a:solidFill>
                <a:latin typeface="Calibri"/>
              </a:rPr>
              <a:t>▪  </a:t>
            </a:r>
            <a:r>
              <a:rPr sz="1050" b="1">
                <a:solidFill>
                  <a:srgbClr val="1C1C1E"/>
                </a:solidFill>
                <a:latin typeface="Calibri"/>
              </a:rPr>
              <a:t>TTL and grace follow the tier</a:t>
            </a:r>
          </a:p>
          <a:p>
            <a:pPr lvl="1">
              <a:spcBef>
                <a:spcPts val="0"/>
              </a:spcBef>
              <a:spcAft>
                <a:spcPts val="0"/>
              </a:spcAft>
            </a:pPr>
            <a:r>
              <a:rPr sz="900">
                <a:solidFill>
                  <a:srgbClr val="4A4F57"/>
                </a:solidFill>
                <a:latin typeface="Calibri"/>
              </a:rPr>
              <a:t>60 s and zero grace at Tier 1; the TTL is jittered ±20% so a fleet does not re-resolve in lockstep</a:t>
            </a:r>
          </a:p>
        </p:txBody>
      </p:sp>
      <p:sp>
        <p:nvSpPr>
          <p:cNvPr id="15" name="TextBox 14"/>
          <p:cNvSpPr txBox="1"/>
          <p:nvPr/>
        </p:nvSpPr>
        <p:spPr>
          <a:xfrm>
            <a:off x="777240" y="4545688"/>
            <a:ext cx="5318607"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Revocation — what actually propagates</a:t>
            </a:r>
          </a:p>
        </p:txBody>
      </p:sp>
      <p:graphicFrame>
        <p:nvGraphicFramePr>
          <p:cNvPr id="16" name="Table 15"/>
          <p:cNvGraphicFramePr>
            <a:graphicFrameLocks noGrp="1"/>
          </p:cNvGraphicFramePr>
          <p:nvPr/>
        </p:nvGraphicFramePr>
        <p:xfrm>
          <a:off x="777240" y="4856584"/>
          <a:ext cx="5318607" cy="1901480"/>
        </p:xfrm>
        <a:graphic>
          <a:graphicData uri="http://schemas.openxmlformats.org/drawingml/2006/table">
            <a:tbl>
              <a:tblPr firstRow="1">
                <a:tableStyleId>{5C22544A-7EE6-4342-B048-85BDC9FD1C3A}</a:tableStyleId>
              </a:tblPr>
              <a:tblGrid>
                <a:gridCol w="2109103"/>
                <a:gridCol w="3209504"/>
              </a:tblGrid>
              <a:tr h="329184">
                <a:tc>
                  <a:txBody>
                    <a:bodyPr wrap="square"/>
                    <a:lstStyle/>
                    <a:p>
                      <a:pPr algn="l"/>
                      <a:r>
                        <a:rPr sz="950" b="1">
                          <a:solidFill>
                            <a:srgbClr val="FFFFFF"/>
                          </a:solidFill>
                          <a:latin typeface="Calibri"/>
                        </a:rPr>
                        <a:t>Path</a:t>
                      </a:r>
                    </a:p>
                  </a:txBody>
                  <a:tcPr marL="82296" marR="64008" marT="32004" marB="32004" anchor="ctr">
                    <a:solidFill>
                      <a:srgbClr val="A51C30"/>
                    </a:solidFill>
                  </a:tcPr>
                </a:tc>
                <a:tc>
                  <a:txBody>
                    <a:bodyPr wrap="square"/>
                    <a:lstStyle/>
                    <a:p>
                      <a:pPr algn="l"/>
                      <a:r>
                        <a:rPr sz="950" b="1">
                          <a:solidFill>
                            <a:srgbClr val="FFFFFF"/>
                          </a:solidFill>
                          <a:latin typeface="Calibri"/>
                        </a:rPr>
                        <a:t>What it stops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Withdraw the grant</a:t>
                      </a:r>
                    </a:p>
                  </a:txBody>
                  <a:tcPr marL="82296" marR="64008" marT="32004" marB="32004" anchor="ctr">
                    <a:solidFill>
                      <a:srgbClr val="FFFFFF"/>
                    </a:solidFill>
                  </a:tcPr>
                </a:tc>
                <a:tc>
                  <a:txBody>
                    <a:bodyPr wrap="square"/>
                    <a:lstStyle/>
                    <a:p>
                      <a:pPr algn="l"/>
                      <a:r>
                        <a:rPr sz="950" b="0">
                          <a:solidFill>
                            <a:srgbClr val="1C1C1E"/>
                          </a:solidFill>
                          <a:latin typeface="Calibri"/>
                        </a:rPr>
                        <a:t>No further descriptor is minted for that principal</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Epoch bump on every revocation</a:t>
                      </a:r>
                    </a:p>
                  </a:txBody>
                  <a:tcPr marL="82296" marR="64008" marT="32004" marB="32004" anchor="ctr">
                    <a:solidFill>
                      <a:srgbClr val="F6F3EF"/>
                    </a:solidFill>
                  </a:tcPr>
                </a:tc>
                <a:tc>
                  <a:txBody>
                    <a:bodyPr wrap="square"/>
                    <a:lstStyle/>
                    <a:p>
                      <a:pPr algn="l"/>
                      <a:r>
                        <a:rPr sz="950" b="0">
                          <a:solidFill>
                            <a:srgbClr val="1C1C1E"/>
                          </a:solidFill>
                          <a:latin typeface="Calibri"/>
                        </a:rPr>
                        <a:t>A descriptor minted under an older epoch is stale on its face — the counter is in-process, so a restart resets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consumer's local revocation list</a:t>
                      </a:r>
                    </a:p>
                  </a:txBody>
                  <a:tcPr marL="82296" marR="64008" marT="32004" marB="32004" anchor="ctr">
                    <a:solidFill>
                      <a:srgbClr val="FFFFFF"/>
                    </a:solidFill>
                  </a:tcPr>
                </a:tc>
                <a:tc>
                  <a:txBody>
                    <a:bodyPr wrap="square"/>
                    <a:lstStyle/>
                    <a:p>
                      <a:pPr algn="l"/>
                      <a:r>
                        <a:rPr sz="950" b="0">
                          <a:solidFill>
                            <a:srgbClr val="1C1C1E"/>
                          </a:solidFill>
                          <a:latin typeface="Calibri"/>
                        </a:rPr>
                        <a:t>Refused regardless of grace — grace extends currency, never ignorance</a:t>
                      </a:r>
                    </a:p>
                  </a:txBody>
                  <a:tcPr marL="82296" marR="64008" marT="32004" marB="32004" anchor="ctr">
                    <a:solidFill>
                      <a:srgbClr val="FFFFFF"/>
                    </a:solidFill>
                  </a:tcPr>
                </a:tc>
              </a:tr>
            </a:tbl>
          </a:graphicData>
        </a:graphic>
      </p:graphicFrame>
      <p:sp>
        <p:nvSpPr>
          <p:cNvPr id="17" name="Rectangle 16"/>
          <p:cNvSpPr/>
          <p:nvPr/>
        </p:nvSpPr>
        <p:spPr>
          <a:xfrm>
            <a:off x="6521336" y="4545688"/>
            <a:ext cx="4893118" cy="17007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521336" y="4545688"/>
            <a:ext cx="41148" cy="17007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759080" y="4664560"/>
            <a:ext cx="4435918" cy="1481328"/>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There is no cache, so there is no stampede. </a:t>
            </a:r>
            <a:r>
              <a:rPr sz="1000" b="0" i="0">
                <a:solidFill>
                  <a:srgbClr val="1C1C1E"/>
                </a:solidFill>
                <a:latin typeface="Calibri"/>
              </a:rPr>
              <a:t>Resolution reads four to six tables on every call. The Redis descriptor cache, single-flight coalescing, pre-warm-before-invalidate, the warrant_projection read model and a Kafka revocation event are designed and not built — docs/14 §27 — and the 50 ms p99 in the requirements is a target that nothing here measures. TTL jitter is built, which is the one piece that matters only once a cache exists.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DESIGNED, NOT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and the use nobody has compared it with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SS1/23 asks the inventory to record intended use </a:t>
            </a:r>
            <a:r>
              <a:rPr sz="1200" b="1" i="1">
                <a:solidFill>
                  <a:srgbClr val="A51C30"/>
                </a:solidFill>
                <a:latin typeface="Calibri"/>
              </a:rPr>
              <a:t>compared to actual use</a:t>
            </a:r>
            <a:r>
              <a:rPr sz="1200" b="0" i="0">
                <a:solidFill>
                  <a:srgbClr val="1C1C1E"/>
                </a:solidFill>
                <a:latin typeface="Calibri"/>
              </a:rPr>
              <a:t>. Every input that comparison needs is recorded. The comparison itself is not written — so what follows on the right is a design, and is marked as one.</a:t>
            </a:r>
          </a:p>
        </p:txBody>
      </p:sp>
      <p:sp>
        <p:nvSpPr>
          <p:cNvPr id="11" name="TextBox 10"/>
          <p:cNvSpPr txBox="1"/>
          <p:nvPr/>
        </p:nvSpPr>
        <p:spPr>
          <a:xfrm>
            <a:off x="777240" y="1901952"/>
            <a:ext cx="4680374" cy="274320"/>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 — the inputs</a:t>
            </a:r>
          </a:p>
        </p:txBody>
      </p:sp>
      <p:graphicFrame>
        <p:nvGraphicFramePr>
          <p:cNvPr id="12" name="Table 11"/>
          <p:cNvGraphicFramePr>
            <a:graphicFrameLocks noGrp="1"/>
          </p:cNvGraphicFramePr>
          <p:nvPr/>
        </p:nvGraphicFramePr>
        <p:xfrm>
          <a:off x="777240" y="2212848"/>
          <a:ext cx="4680373" cy="2209696"/>
        </p:xfrm>
        <a:graphic>
          <a:graphicData uri="http://schemas.openxmlformats.org/drawingml/2006/table">
            <a:tbl>
              <a:tblPr firstRow="1">
                <a:tableStyleId>{5C22544A-7EE6-4342-B048-85BDC9FD1C3A}</a:tableStyleId>
              </a:tblPr>
              <a:tblGrid>
                <a:gridCol w="2674499"/>
                <a:gridCol w="2005874"/>
              </a:tblGrid>
              <a:tr h="329184">
                <a:tc>
                  <a:txBody>
                    <a:bodyPr wrap="square"/>
                    <a:lstStyle/>
                    <a:p>
                      <a:pPr algn="l"/>
                      <a:r>
                        <a:rPr sz="950" b="1">
                          <a:solidFill>
                            <a:srgbClr val="FFFFFF"/>
                          </a:solidFill>
                          <a:latin typeface="Calibri"/>
                        </a:rPr>
                        <a:t>What</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Principal, environment and declared use, per grant</a:t>
                      </a:r>
                    </a:p>
                  </a:txBody>
                  <a:tcPr marL="82296" marR="64008" marT="32004" marB="32004" anchor="ctr">
                    <a:solidFill>
                      <a:srgbClr val="FFFFFF"/>
                    </a:solidFill>
                  </a:tcPr>
                </a:tc>
                <a:tc>
                  <a:txBody>
                    <a:bodyPr wrap="square"/>
                    <a:lstStyle/>
                    <a:p>
                      <a:pPr algn="l"/>
                      <a:r>
                        <a:rPr sz="950" b="0">
                          <a:solidFill>
                            <a:srgbClr val="1C1C1E"/>
                          </a:solidFill>
                          <a:latin typeface="Calibri"/>
                        </a:rPr>
                        <a:t>warrant table, one row per entitlement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resolution whose declared use has no grant is refused</a:t>
                      </a:r>
                    </a:p>
                  </a:txBody>
                  <a:tcPr marL="82296" marR="64008" marT="32004" marB="32004" anchor="ctr">
                    <a:solidFill>
                      <a:srgbClr val="F6F3EF"/>
                    </a:solidFill>
                  </a:tcPr>
                </a:tc>
                <a:tc>
                  <a:txBody>
                    <a:bodyPr wrap="square"/>
                    <a:lstStyle/>
                    <a:p>
                      <a:pPr algn="l"/>
                      <a:r>
                        <a:rPr sz="950" b="0">
                          <a:solidFill>
                            <a:srgbClr val="1C1C1E"/>
                          </a:solidFill>
                          <a:latin typeface="Calibri"/>
                        </a:rPr>
                        <a:t>core/execution/warrants.py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Issue and revoke are evidence nodes with an actor</a:t>
                      </a:r>
                    </a:p>
                  </a:txBody>
                  <a:tcPr marL="82296" marR="64008" marT="32004" marB="32004" anchor="ctr">
                    <a:solidFill>
                      <a:srgbClr val="FFFFFF"/>
                    </a:solidFill>
                  </a:tcPr>
                </a:tc>
                <a:tc>
                  <a:txBody>
                    <a:bodyPr wrap="square"/>
                    <a:lstStyle/>
                    <a:p>
                      <a:pPr algn="l"/>
                      <a:r>
                        <a:rPr sz="950" b="0">
                          <a:solidFill>
                            <a:srgbClr val="1C1C1E"/>
                          </a:solidFill>
                          <a:latin typeface="Calibri"/>
                        </a:rPr>
                        <a:t>the chain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Scores and outcomes per version</a:t>
                      </a:r>
                    </a:p>
                  </a:txBody>
                  <a:tcPr marL="82296" marR="64008" marT="32004" marB="32004" anchor="ctr">
                    <a:solidFill>
                      <a:srgbClr val="F6F3EF"/>
                    </a:solidFill>
                  </a:tcPr>
                </a:tc>
                <a:tc>
                  <a:txBody>
                    <a:bodyPr wrap="square"/>
                    <a:lstStyle/>
                    <a:p>
                      <a:pPr algn="l"/>
                      <a:r>
                        <a:rPr sz="950" b="0">
                          <a:solidFill>
                            <a:srgbClr val="1C1C1E"/>
                          </a:solidFill>
                          <a:latin typeface="Calibri"/>
                        </a:rPr>
                        <a:t>core/telemetry/collector.py, into Delta</a:t>
                      </a:r>
                    </a:p>
                  </a:txBody>
                  <a:tcPr marL="82296" marR="64008" marT="32004" marB="32004" anchor="ctr">
                    <a:solidFill>
                      <a:srgbClr val="F6F3EF"/>
                    </a:solidFill>
                  </a:tcPr>
                </a:tc>
              </a:tr>
            </a:tbl>
          </a:graphicData>
        </a:graphic>
      </p:graphicFrame>
      <p:sp>
        <p:nvSpPr>
          <p:cNvPr id="13" name="TextBox 12"/>
          <p:cNvSpPr txBox="1"/>
          <p:nvPr/>
        </p:nvSpPr>
        <p:spPr>
          <a:xfrm>
            <a:off x="5883103" y="1901952"/>
            <a:ext cx="5531351"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Designed — the six exceptions it would raise</a:t>
            </a:r>
          </a:p>
        </p:txBody>
      </p:sp>
      <p:graphicFrame>
        <p:nvGraphicFramePr>
          <p:cNvPr id="14" name="Table 13"/>
          <p:cNvGraphicFramePr>
            <a:graphicFrameLocks noGrp="1"/>
          </p:cNvGraphicFramePr>
          <p:nvPr/>
        </p:nvGraphicFramePr>
        <p:xfrm>
          <a:off x="5883103" y="2212848"/>
          <a:ext cx="5531350" cy="2340392"/>
        </p:xfrm>
        <a:graphic>
          <a:graphicData uri="http://schemas.openxmlformats.org/drawingml/2006/table">
            <a:tbl>
              <a:tblPr firstRow="1">
                <a:tableStyleId>{5C22544A-7EE6-4342-B048-85BDC9FD1C3A}</a:tableStyleId>
              </a:tblPr>
              <a:tblGrid>
                <a:gridCol w="3457094"/>
                <a:gridCol w="2074256"/>
              </a:tblGrid>
              <a:tr h="329184">
                <a:tc>
                  <a:txBody>
                    <a:bodyPr wrap="square"/>
                    <a:lstStyle/>
                    <a:p>
                      <a:pPr algn="l"/>
                      <a:r>
                        <a:rPr sz="950" b="1">
                          <a:solidFill>
                            <a:srgbClr val="FFFFFF"/>
                          </a:solidFill>
                          <a:latin typeface="Calibri"/>
                        </a:rPr>
                        <a:t>Exception</a:t>
                      </a:r>
                    </a:p>
                  </a:txBody>
                  <a:tcPr marL="82296" marR="64008" marT="32004" marB="32004" anchor="ctr">
                    <a:solidFill>
                      <a:srgbClr val="A51C30"/>
                    </a:solidFill>
                  </a:tcPr>
                </a:tc>
                <a:tc>
                  <a:txBody>
                    <a:bodyPr wrap="square"/>
                    <a:lstStyle/>
                    <a:p>
                      <a:pPr algn="l"/>
                      <a:r>
                        <a:rPr sz="950" b="1">
                          <a:solidFill>
                            <a:srgbClr val="FFFFFF"/>
                          </a:solidFill>
                          <a:latin typeface="Calibri"/>
                        </a:rPr>
                        <a:t>Would become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 portfolio that is not an approved use</a:t>
                      </a:r>
                    </a:p>
                  </a:txBody>
                  <a:tcPr marL="82296" marR="64008" marT="32004" marB="32004" anchor="ctr">
                    <a:solidFill>
                      <a:srgbClr val="FFFFFF"/>
                    </a:solidFill>
                  </a:tcPr>
                </a:tc>
                <a:tc>
                  <a:txBody>
                    <a:bodyPr wrap="square"/>
                    <a:lstStyle/>
                    <a:p>
                      <a:pPr algn="l"/>
                      <a:r>
                        <a:rPr sz="950" b="0">
                          <a:solidFill>
                            <a:srgbClr val="1C1C1E"/>
                          </a:solidFill>
                          <a:latin typeface="Calibri"/>
                        </a:rPr>
                        <a:t>Finding, owner, due date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Calls originating outside the approval's scope</a:t>
                      </a:r>
                    </a:p>
                  </a:txBody>
                  <a:tcPr marL="82296" marR="64008" marT="32004" marB="32004" anchor="ctr">
                    <a:solidFill>
                      <a:srgbClr val="F6F3EF"/>
                    </a:solidFill>
                  </a:tcPr>
                </a:tc>
                <a:tc>
                  <a:txBody>
                    <a:bodyPr wrap="square"/>
                    <a:lstStyle/>
                    <a:p>
                      <a:pPr algn="l"/>
                      <a:r>
                        <a:rPr sz="950" b="0">
                          <a:solidFill>
                            <a:srgbClr val="1C1C1E"/>
                          </a:solidFill>
                          <a:latin typeface="Calibri"/>
                        </a:rPr>
                        <a:t>Finding + scope review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Volume far above the assessed use</a:t>
                      </a:r>
                    </a:p>
                  </a:txBody>
                  <a:tcPr marL="82296" marR="64008" marT="32004" marB="32004" anchor="ctr">
                    <a:solidFill>
                      <a:srgbClr val="FFFFFF"/>
                    </a:solidFill>
                  </a:tcPr>
                </a:tc>
                <a:tc>
                  <a:txBody>
                    <a:bodyPr wrap="square"/>
                    <a:lstStyle/>
                    <a:p>
                      <a:pPr algn="l"/>
                      <a:r>
                        <a:rPr sz="950" b="0">
                          <a:solidFill>
                            <a:srgbClr val="1C1C1E"/>
                          </a:solidFill>
                          <a:latin typeface="Calibri"/>
                        </a:rPr>
                        <a:t>Investigation task</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Inputs outside declared operating boundaries</a:t>
                      </a:r>
                    </a:p>
                  </a:txBody>
                  <a:tcPr marL="82296" marR="64008" marT="32004" marB="32004" anchor="ctr">
                    <a:solidFill>
                      <a:srgbClr val="F6F3EF"/>
                    </a:solidFill>
                  </a:tcPr>
                </a:tc>
                <a:tc>
                  <a:txBody>
                    <a:bodyPr wrap="square"/>
                    <a:lstStyle/>
                    <a:p>
                      <a:pPr algn="l"/>
                      <a:r>
                        <a:rPr sz="950" b="0">
                          <a:solidFill>
                            <a:srgbClr val="1C1C1E"/>
                          </a:solidFill>
                          <a:latin typeface="Calibri"/>
                        </a:rPr>
                        <a:t>Contract assumption A is failing</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An approved use with no calls for 180 days</a:t>
                      </a:r>
                    </a:p>
                  </a:txBody>
                  <a:tcPr marL="82296" marR="64008" marT="32004" marB="32004" anchor="ctr">
                    <a:solidFill>
                      <a:srgbClr val="FFFFFF"/>
                    </a:solidFill>
                  </a:tcPr>
                </a:tc>
                <a:tc>
                  <a:txBody>
                    <a:bodyPr wrap="square"/>
                    <a:lstStyle/>
                    <a:p>
                      <a:pPr algn="l"/>
                      <a:r>
                        <a:rPr sz="950" b="0">
                          <a:solidFill>
                            <a:srgbClr val="1C1C1E"/>
                          </a:solidFill>
                          <a:latin typeface="Calibri"/>
                        </a:rPr>
                        <a:t>Candidate for withdrawal</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 new principal resolving the warrant</a:t>
                      </a:r>
                    </a:p>
                  </a:txBody>
                  <a:tcPr marL="82296" marR="64008" marT="32004" marB="32004" anchor="ctr">
                    <a:solidFill>
                      <a:srgbClr val="F6F3EF"/>
                    </a:solidFill>
                  </a:tcPr>
                </a:tc>
                <a:tc>
                  <a:txBody>
                    <a:bodyPr wrap="square"/>
                    <a:lstStyle/>
                    <a:p>
                      <a:pPr algn="l"/>
                      <a:r>
                        <a:rPr sz="950" b="0">
                          <a:solidFill>
                            <a:srgbClr val="1C1C1E"/>
                          </a:solidFill>
                          <a:latin typeface="Calibri"/>
                        </a:rPr>
                        <a:t>Entitlement review</a:t>
                      </a:r>
                    </a:p>
                  </a:txBody>
                  <a:tcPr marL="82296" marR="64008" marT="32004" marB="32004" anchor="ctr">
                    <a:solidFill>
                      <a:srgbClr val="F6F3EF"/>
                    </a:solidFill>
                  </a:tcPr>
                </a:tc>
              </a:tr>
            </a:tbl>
          </a:graphicData>
        </a:graphic>
      </p:graphicFrame>
      <p:sp>
        <p:nvSpPr>
          <p:cNvPr id="15" name="TextBox 14"/>
          <p:cNvSpPr txBox="1"/>
          <p:nvPr/>
        </p:nvSpPr>
        <p:spPr>
          <a:xfrm>
            <a:off x="5883103" y="4717834"/>
            <a:ext cx="5531351"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None of this runs. </a:t>
            </a:r>
            <a:r>
              <a:rPr sz="1000" b="0" i="0">
                <a:solidFill>
                  <a:srgbClr val="1C1C1E"/>
                </a:solidFill>
                <a:latin typeface="Calibri"/>
              </a:rPr>
              <a:t>Use reconciliation is one of the eight screens in docs/14 §28 that are designed and not built; the boundary check on the left is the one part of it that is enforced today, at execution rather than in a report.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REGISTRATION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353312"/>
            <a:ext cx="6169584"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 — register()</a:t>
            </a:r>
          </a:p>
        </p:txBody>
      </p:sp>
      <p:sp>
        <p:nvSpPr>
          <p:cNvPr id="13" name="TextBox 12"/>
          <p:cNvSpPr txBox="1"/>
          <p:nvPr/>
        </p:nvSpPr>
        <p:spPr>
          <a:xfrm>
            <a:off x="978408" y="1746504"/>
            <a:ext cx="5803824"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register(self, capability_key, description, tier, base_model,</a:t>
            </a:r>
          </a:p>
          <a:p>
            <a:pPr>
              <a:lnSpc>
                <a:spcPct val="134000"/>
              </a:lnSpc>
              <a:spcBef>
                <a:spcPts val="0"/>
              </a:spcBef>
              <a:spcAft>
                <a:spcPts val="0"/>
              </a:spcAft>
            </a:pPr>
            <a:r>
              <a:rPr sz="950" b="0" i="0">
                <a:solidFill>
                  <a:srgbClr val="1C1C1E"/>
                </a:solidFill>
                <a:latin typeface="Consolas"/>
              </a:rPr>
              <a:t>             prompt_digest, owner, oracle_key=None, ...):</a:t>
            </a:r>
          </a:p>
          <a:p>
            <a:pPr>
              <a:lnSpc>
                <a:spcPct val="134000"/>
              </a:lnSpc>
              <a:spcBef>
                <a:spcPts val="0"/>
              </a:spcBef>
              <a:spcAft>
                <a:spcPts val="0"/>
              </a:spcAft>
            </a:pPr>
            <a:r>
              <a:rPr sz="950" b="0" i="0">
                <a:solidFill>
                  <a:srgbClr val="1C1C1E"/>
                </a:solidFill>
                <a:latin typeface="Consolas"/>
              </a:rPr>
              <a:t>    if tier == "C":</a:t>
            </a:r>
          </a:p>
          <a:p>
            <a:pPr>
              <a:lnSpc>
                <a:spcPct val="134000"/>
              </a:lnSpc>
              <a:spcBef>
                <a:spcPts val="0"/>
              </a:spcBef>
              <a:spcAft>
                <a:spcPts val="0"/>
              </a:spcAft>
            </a:pPr>
            <a:r>
              <a:rPr sz="950" b="0" i="0">
                <a:solidFill>
                  <a:srgbClr val="1C1C1E"/>
                </a:solidFill>
                <a:latin typeface="Consolas"/>
              </a:rPr>
              <a:t>        raise AssistError("advisory_not_registrable", ...)</a:t>
            </a:r>
          </a:p>
          <a:p>
            <a:pPr>
              <a:lnSpc>
                <a:spcPct val="134000"/>
              </a:lnSpc>
              <a:spcBef>
                <a:spcPts val="0"/>
              </a:spcBef>
              <a:spcAft>
                <a:spcPts val="0"/>
              </a:spcAft>
            </a:pPr>
            <a:r>
              <a:rPr sz="950" b="0" i="0">
                <a:solidFill>
                  <a:srgbClr val="1C1C1E"/>
                </a:solidFill>
                <a:latin typeface="Consolas"/>
              </a:rPr>
              <a:t>    if tier not in TIERS:</a:t>
            </a:r>
          </a:p>
          <a:p>
            <a:pPr>
              <a:lnSpc>
                <a:spcPct val="134000"/>
              </a:lnSpc>
              <a:spcBef>
                <a:spcPts val="0"/>
              </a:spcBef>
              <a:spcAft>
                <a:spcPts val="0"/>
              </a:spcAft>
            </a:pPr>
            <a:r>
              <a:rPr sz="950" b="0" i="0">
                <a:solidFill>
                  <a:srgbClr val="1C1C1E"/>
                </a:solidFill>
                <a:latin typeface="Consolas"/>
              </a:rPr>
              <a:t>        raise AssistError("unknown_tier", ...)</a:t>
            </a:r>
          </a:p>
          <a:p>
            <a:pPr>
              <a:lnSpc>
                <a:spcPct val="134000"/>
              </a:lnSpc>
              <a:spcBef>
                <a:spcPts val="0"/>
              </a:spcBef>
              <a:spcAft>
                <a:spcPts val="0"/>
              </a:spcAft>
            </a:pPr>
            <a:r>
              <a:rPr sz="950" b="0" i="0">
                <a:solidFill>
                  <a:srgbClr val="1C1C1E"/>
                </a:solidFill>
                <a:latin typeface="Consolas"/>
              </a:rPr>
              <a:t>    if tier == TIER_A and not oracle_key:</a:t>
            </a:r>
          </a:p>
          <a:p>
            <a:pPr>
              <a:lnSpc>
                <a:spcPct val="134000"/>
              </a:lnSpc>
              <a:spcBef>
                <a:spcPts val="0"/>
              </a:spcBef>
              <a:spcAft>
                <a:spcPts val="0"/>
              </a:spcAft>
            </a:pPr>
            <a:r>
              <a:rPr sz="950" b="0" i="0">
                <a:solidFill>
                  <a:srgbClr val="1C1C1E"/>
                </a:solidFill>
                <a:latin typeface="Consolas"/>
              </a:rPr>
              <a:t>        raise AssistError("oracle_required", ...)</a:t>
            </a:r>
          </a:p>
          <a:p>
            <a:pPr>
              <a:lnSpc>
                <a:spcPct val="134000"/>
              </a:lnSpc>
              <a:spcBef>
                <a:spcPts val="0"/>
              </a:spcBef>
              <a:spcAft>
                <a:spcPts val="0"/>
              </a:spcAft>
            </a:pPr>
            <a:r>
              <a:rPr sz="950" b="0" i="0">
                <a:solidFill>
                  <a:srgbClr val="1C1C1E"/>
                </a:solidFill>
                <a:latin typeface="Consolas"/>
              </a:rPr>
              <a:t>    if oracle_key and not oracles.get(oracle_key):</a:t>
            </a:r>
          </a:p>
          <a:p>
            <a:pPr>
              <a:lnSpc>
                <a:spcPct val="134000"/>
              </a:lnSpc>
              <a:spcBef>
                <a:spcPts val="0"/>
              </a:spcBef>
              <a:spcAft>
                <a:spcPts val="0"/>
              </a:spcAft>
            </a:pPr>
            <a:r>
              <a:rPr sz="950" b="0" i="0">
                <a:solidFill>
                  <a:srgbClr val="1C1C1E"/>
                </a:solidFill>
                <a:latin typeface="Consolas"/>
              </a:rPr>
              <a:t>        raise AssistError("unknown_oracle",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self.capabilities.add(row)</a:t>
            </a:r>
          </a:p>
          <a:p>
            <a:pPr>
              <a:lnSpc>
                <a:spcPct val="134000"/>
              </a:lnSpc>
              <a:spcBef>
                <a:spcPts val="0"/>
              </a:spcBef>
              <a:spcAft>
                <a:spcPts val="0"/>
              </a:spcAft>
            </a:pPr>
            <a:r>
              <a:rPr sz="950" b="0" i="0">
                <a:solidFill>
                  <a:srgbClr val="1C1C1E"/>
                </a:solidFill>
                <a:latin typeface="Consolas"/>
              </a:rPr>
              <a:t>    self.evidence.append("ai_capability_registered", ...)</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800"/>
              </a:spcAft>
            </a:pPr>
            <a:r>
              <a:rPr sz="1100" b="0" i="0">
                <a:solidFill>
                  <a:srgbClr val="4A4F57"/>
                </a:solidFill>
                <a:latin typeface="Calibri"/>
              </a:rPr>
              <a:t>The criterion is not the model's capability, nor the task's sensitivity. It is whether the structure supplies a decision procedure.</a:t>
            </a:r>
          </a:p>
          <a:p>
            <a:pPr>
              <a:lnSpc>
                <a:spcPct val="126000"/>
              </a:lnSpc>
              <a:spcBef>
                <a:spcPts val="0"/>
              </a:spcBef>
              <a:spcAft>
                <a:spcPts val="600"/>
              </a:spcAft>
            </a:pPr>
            <a:r>
              <a:rPr sz="1100" b="1" i="0">
                <a:solidFill>
                  <a:srgbClr val="A51C30"/>
                </a:solidFill>
                <a:latin typeface="Calibri"/>
              </a:rPr>
              <a:t>Both rules are enforced at registration, not at use. </a:t>
            </a:r>
            <a:r>
              <a:rPr sz="1100" b="0" i="0">
                <a:solidFill>
                  <a:srgbClr val="1C1C1E"/>
                </a:solidFill>
                <a:latin typeface="Calibri"/>
              </a:rPr>
              <a:t>A capability that claims its output is mechanically checkable must name the check; “we validate the output” without naming what validates it is the sentence that precedes every AI incident.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 — claims are removed, not marked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sp>
        <p:nvSpPr>
          <p:cNvPr id="10" name="Rectangle 9"/>
          <p:cNvSpPr/>
          <p:nvPr/>
        </p:nvSpPr>
        <p:spPr>
          <a:xfrm>
            <a:off x="777240" y="1353312"/>
            <a:ext cx="5956840"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591080"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gate(claims, known_evidence):</a:t>
            </a:r>
          </a:p>
          <a:p>
            <a:pPr>
              <a:lnSpc>
                <a:spcPct val="134000"/>
              </a:lnSpc>
              <a:spcBef>
                <a:spcPts val="0"/>
              </a:spcBef>
              <a:spcAft>
                <a:spcPts val="0"/>
              </a:spcAft>
            </a:pPr>
            <a:r>
              <a:rPr sz="950" b="0" i="0">
                <a:solidFill>
                  <a:srgbClr val="1C1C1E"/>
                </a:solidFill>
                <a:latin typeface="Consolas"/>
              </a:rPr>
              <a:t>    """(kept, rejected). Rejected claims never reach the output."""</a:t>
            </a:r>
          </a:p>
          <a:p>
            <a:pPr>
              <a:lnSpc>
                <a:spcPct val="134000"/>
              </a:lnSpc>
              <a:spcBef>
                <a:spcPts val="0"/>
              </a:spcBef>
              <a:spcAft>
                <a:spcPts val="0"/>
              </a:spcAft>
            </a:pPr>
            <a:r>
              <a:rPr sz="950" b="0" i="0">
                <a:solidFill>
                  <a:srgbClr val="1C1C1E"/>
                </a:solidFill>
                <a:latin typeface="Consolas"/>
              </a:rPr>
              <a:t>    known = set(known_evidence)</a:t>
            </a:r>
          </a:p>
          <a:p>
            <a:pPr>
              <a:lnSpc>
                <a:spcPct val="134000"/>
              </a:lnSpc>
              <a:spcBef>
                <a:spcPts val="0"/>
              </a:spcBef>
              <a:spcAft>
                <a:spcPts val="0"/>
              </a:spcAft>
            </a:pPr>
            <a:r>
              <a:rPr sz="950" b="0" i="0">
                <a:solidFill>
                  <a:srgbClr val="1C1C1E"/>
                </a:solidFill>
                <a:latin typeface="Consolas"/>
              </a:rPr>
              <a:t>    checked  = [verify_claim(c, known) for c in claims]</a:t>
            </a:r>
          </a:p>
          <a:p>
            <a:pPr>
              <a:lnSpc>
                <a:spcPct val="134000"/>
              </a:lnSpc>
              <a:spcBef>
                <a:spcPts val="0"/>
              </a:spcBef>
              <a:spcAft>
                <a:spcPts val="0"/>
              </a:spcAft>
            </a:pPr>
            <a:r>
              <a:rPr sz="950" b="0" i="0">
                <a:solidFill>
                  <a:srgbClr val="1C1C1E"/>
                </a:solidFill>
                <a:latin typeface="Consolas"/>
              </a:rPr>
              <a:t>    kept     = [c for c in checked if c["verified"]]</a:t>
            </a:r>
          </a:p>
          <a:p>
            <a:pPr>
              <a:lnSpc>
                <a:spcPct val="134000"/>
              </a:lnSpc>
              <a:spcBef>
                <a:spcPts val="0"/>
              </a:spcBef>
              <a:spcAft>
                <a:spcPts val="0"/>
              </a:spcAft>
            </a:pPr>
            <a:r>
              <a:rPr sz="950" b="0" i="0">
                <a:solidFill>
                  <a:srgbClr val="1C1C1E"/>
                </a:solidFill>
                <a:latin typeface="Consolas"/>
              </a:rPr>
              <a:t>    rejected = [c for c in checked if not c["verified"]]</a:t>
            </a:r>
          </a:p>
          <a:p>
            <a:pPr>
              <a:lnSpc>
                <a:spcPct val="134000"/>
              </a:lnSpc>
              <a:spcBef>
                <a:spcPts val="0"/>
              </a:spcBef>
              <a:spcAft>
                <a:spcPts val="0"/>
              </a:spcAft>
            </a:pPr>
            <a:r>
              <a:rPr sz="950" b="0" i="0">
                <a:solidFill>
                  <a:srgbClr val="1C1C1E"/>
                </a:solidFill>
                <a:latin typeface="Consolas"/>
              </a:rPr>
              <a:t>    return kept, rejected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assemble(kept):</a:t>
            </a:r>
          </a:p>
          <a:p>
            <a:pPr>
              <a:lnSpc>
                <a:spcPct val="134000"/>
              </a:lnSpc>
              <a:spcBef>
                <a:spcPts val="0"/>
              </a:spcBef>
              <a:spcAft>
                <a:spcPts val="0"/>
              </a:spcAft>
            </a:pPr>
            <a:r>
              <a:rPr sz="950" b="0" i="0">
                <a:solidFill>
                  <a:srgbClr val="1C1C1E"/>
                </a:solidFill>
                <a:latin typeface="Consolas"/>
              </a:rPr>
              <a:t>    """The published text: the surviving claims, and nothing else."""</a:t>
            </a:r>
          </a:p>
          <a:p>
            <a:pPr>
              <a:lnSpc>
                <a:spcPct val="134000"/>
              </a:lnSpc>
              <a:spcBef>
                <a:spcPts val="0"/>
              </a:spcBef>
              <a:spcAft>
                <a:spcPts val="0"/>
              </a:spcAft>
            </a:pPr>
            <a:r>
              <a:rPr sz="950" b="0" i="0">
                <a:solidFill>
                  <a:srgbClr val="1C1C1E"/>
                </a:solidFill>
                <a:latin typeface="Consolas"/>
              </a:rPr>
              <a:t>    return "\n\n".join(c["text"] for c in kept if c.get("text"))</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Why removal and not a flag</a:t>
            </a:r>
          </a:p>
          <a:p>
            <a:pPr>
              <a:lnSpc>
                <a:spcPct val="126000"/>
              </a:lnSpc>
              <a:spcBef>
                <a:spcPts val="0"/>
              </a:spcBef>
              <a:spcAft>
                <a:spcPts val="900"/>
              </a:spcAft>
            </a:pPr>
            <a:r>
              <a:rPr sz="1100" b="0" i="0">
                <a:solidFill>
                  <a:srgbClr val="4A4F57"/>
                </a:solidFill>
                <a:latin typeface="Calibri"/>
              </a:rPr>
              <a:t>A document whose unsupported sentences are marked is a document where the marks are what gets skimmed past — and the sentence still reads as though the platform said it. A claim citing nothing is not grounded, however true it happens to be.</a:t>
            </a:r>
          </a:p>
          <a:p>
            <a:pPr>
              <a:lnSpc>
                <a:spcPct val="126000"/>
              </a:lnSpc>
              <a:spcBef>
                <a:spcPts val="0"/>
              </a:spcBef>
              <a:spcAft>
                <a:spcPts val="900"/>
              </a:spcAft>
            </a:pPr>
            <a:r>
              <a:rPr sz="1100" b="1" i="0">
                <a:solidFill>
                  <a:srgbClr val="A51C30"/>
                </a:solidFill>
                <a:latin typeface="Calibri"/>
              </a:rPr>
              <a:t>The rejected claims are kept, separately. </a:t>
            </a:r>
            <a:r>
              <a:rPr sz="1100" b="0" i="0">
                <a:solidFill>
                  <a:srgbClr val="1C1C1E"/>
                </a:solidFill>
                <a:latin typeface="Calibri"/>
              </a:rPr>
              <a:t>ai_generation.rejected_claims is a column. A reviewer sees what the model tried to assert and could not support, which is a more useful artifact than an annotated draft: it is the list of places it was making things up.</a:t>
            </a:r>
          </a:p>
          <a:p>
            <a:pPr>
              <a:lnSpc>
                <a:spcPct val="126000"/>
              </a:lnSpc>
              <a:spcBef>
                <a:spcPts val="0"/>
              </a:spcBef>
              <a:spcAft>
                <a:spcPts val="600"/>
              </a:spcAft>
            </a:pPr>
            <a:r>
              <a:rPr sz="1100" b="1" i="0">
                <a:solidFill>
                  <a:srgbClr val="A51C30"/>
                </a:solidFill>
                <a:latin typeface="Calibri"/>
              </a:rPr>
              <a:t>What it may cite is fixed before it is asked. </a:t>
            </a:r>
            <a:r>
              <a:rPr sz="1100" b="0" i="0">
                <a:solidFill>
                  <a:srgbClr val="1C1C1E"/>
                </a:solidFill>
                <a:latin typeface="Calibri"/>
              </a:rPr>
              <a:t>The evidence is gathered from the register first, capped at forty nodes, and the prompt is assembled from that — so a citation the model invents has nowhere to land.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Tier C is refused in code — and the schema does not help</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Rectangle 9"/>
          <p:cNvSpPr/>
          <p:nvPr/>
        </p:nvSpPr>
        <p:spPr>
          <a:xfrm>
            <a:off x="777240" y="1764792"/>
            <a:ext cx="5531351"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WHERE TIER C IS ACTUALLY REFUSED</a:t>
            </a:r>
          </a:p>
        </p:txBody>
      </p:sp>
      <p:sp>
        <p:nvSpPr>
          <p:cNvPr id="13" name="TextBox 12"/>
          <p:cNvSpPr txBox="1"/>
          <p:nvPr/>
        </p:nvSpPr>
        <p:spPr>
          <a:xfrm>
            <a:off x="978408" y="2157984"/>
            <a:ext cx="5165591"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 db/schema/sqlite.sql</a:t>
            </a:r>
          </a:p>
          <a:p>
            <a:pPr>
              <a:lnSpc>
                <a:spcPct val="134000"/>
              </a:lnSpc>
              <a:spcBef>
                <a:spcPts val="0"/>
              </a:spcBef>
              <a:spcAft>
                <a:spcPts val="0"/>
              </a:spcAft>
            </a:pPr>
            <a:r>
              <a:rPr sz="1050" b="0" i="0">
                <a:solidFill>
                  <a:srgbClr val="1C1C1E"/>
                </a:solidFill>
                <a:latin typeface="Consolas"/>
              </a:rPr>
              <a:t>tier  TEXT NOT NULL      -- unconstrained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core/assist/capabilities.py</a:t>
            </a:r>
          </a:p>
          <a:p>
            <a:pPr>
              <a:lnSpc>
                <a:spcPct val="134000"/>
              </a:lnSpc>
              <a:spcBef>
                <a:spcPts val="0"/>
              </a:spcBef>
              <a:spcAft>
                <a:spcPts val="0"/>
              </a:spcAft>
            </a:pPr>
            <a:r>
              <a:rPr sz="1050" b="0" i="0">
                <a:solidFill>
                  <a:srgbClr val="1C1C1E"/>
                </a:solidFill>
                <a:latin typeface="Consolas"/>
              </a:rPr>
              <a:t>if tier == "C":</a:t>
            </a:r>
          </a:p>
          <a:p>
            <a:pPr>
              <a:lnSpc>
                <a:spcPct val="134000"/>
              </a:lnSpc>
              <a:spcBef>
                <a:spcPts val="0"/>
              </a:spcBef>
              <a:spcAft>
                <a:spcPts val="0"/>
              </a:spcAft>
            </a:pPr>
            <a:r>
              <a:rPr sz="1050" b="0" i="0">
                <a:solidFill>
                  <a:srgbClr val="1C1C1E"/>
                </a:solidFill>
                <a:latin typeface="Consolas"/>
              </a:rPr>
              <a:t>    raise AssistError("advisory_not_registrable", ...)</a:t>
            </a:r>
          </a:p>
        </p:txBody>
      </p:sp>
      <p:sp>
        <p:nvSpPr>
          <p:cNvPr id="14" name="TextBox 13"/>
          <p:cNvSpPr txBox="1"/>
          <p:nvPr/>
        </p:nvSpPr>
        <p:spPr>
          <a:xfrm>
            <a:off x="777240" y="3920352"/>
            <a:ext cx="5531351" cy="2286000"/>
          </a:xfrm>
          <a:prstGeom prst="rect">
            <a:avLst/>
          </a:prstGeom>
          <a:noFill/>
        </p:spPr>
        <p:txBody>
          <a:bodyPr wrap="square" lIns="0" rIns="0" tIns="0" bIns="0" anchor="t">
            <a:spAutoFit/>
          </a:bodyPr>
          <a:lstStyle/>
          <a:p>
            <a:pPr algn="l">
              <a:lnSpc>
                <a:spcPct val="126000"/>
              </a:lnSpc>
              <a:spcBef>
                <a:spcPts val="0"/>
              </a:spcBef>
              <a:spcAft>
                <a:spcPts val="1000"/>
              </a:spcAft>
            </a:pPr>
            <a:r>
              <a:rPr sz="1100" b="1" i="0">
                <a:solidFill>
                  <a:srgbClr val="A51C30"/>
                </a:solidFill>
                <a:latin typeface="Calibri"/>
              </a:rPr>
              <a:t>The schema does not prohibit it. </a:t>
            </a:r>
            <a:r>
              <a:rPr sz="1100" b="0" i="0">
                <a:solidFill>
                  <a:srgbClr val="1C1C1E"/>
                </a:solidFill>
                <a:latin typeface="Calibri"/>
              </a:rPr>
              <a:t>There are no CHECK constraints in either dialect and ai_capability.tier is unconstrained TEXT, so the prohibition is application code at one call site. That is a weaker claim than “unrepresentable”, and it is the true one: anything writing that table directly is stopped by nothing.</a:t>
            </a:r>
          </a:p>
          <a:p>
            <a:pPr>
              <a:lnSpc>
                <a:spcPct val="126000"/>
              </a:lnSpc>
              <a:spcBef>
                <a:spcPts val="0"/>
              </a:spcBef>
              <a:spcAft>
                <a:spcPts val="600"/>
              </a:spcAft>
            </a:pPr>
            <a:r>
              <a:rPr sz="1100" b="1" i="0">
                <a:solidFill>
                  <a:srgbClr val="A51C30"/>
                </a:solidFill>
                <a:latin typeface="Calibri"/>
              </a:rPr>
              <a:t>A capability holds no credential at all. </a:t>
            </a:r>
            <a:r>
              <a:rPr sz="1100" b="0" i="0">
                <a:solidFill>
                  <a:srgbClr val="1C1C1E"/>
                </a:solidFill>
                <a:latin typeface="Calibri"/>
              </a:rPr>
              <a:t>It is not a principal. Every generation is attributed to the person who asked for it, lands drafted, and carries no weight anywhere until somebody else attests it — self-attestation is refused by name.</a:t>
            </a:r>
          </a:p>
        </p:txBody>
      </p:sp>
      <p:sp>
        <p:nvSpPr>
          <p:cNvPr id="15" name="TextBox 14"/>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213055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 — and which of them exist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graphicFrame>
        <p:nvGraphicFramePr>
          <p:cNvPr id="10" name="Table 9"/>
          <p:cNvGraphicFramePr>
            <a:graphicFrameLocks noGrp="1"/>
          </p:cNvGraphicFramePr>
          <p:nvPr/>
        </p:nvGraphicFramePr>
        <p:xfrm>
          <a:off x="777240" y="1353312"/>
          <a:ext cx="10637214" cy="3928296"/>
        </p:xfrm>
        <a:graphic>
          <a:graphicData uri="http://schemas.openxmlformats.org/drawingml/2006/table">
            <a:tbl>
              <a:tblPr firstRow="1">
                <a:tableStyleId>{5C22544A-7EE6-4342-B048-85BDC9FD1C3A}</a:tableStyleId>
              </a:tblPr>
              <a:tblGrid>
                <a:gridCol w="1375501"/>
                <a:gridCol w="4951807"/>
                <a:gridCol w="4309906"/>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c>
                  <a:txBody>
                    <a:bodyPr wrap="square"/>
                    <a:lstStyle/>
                    <a:p>
                      <a:pPr algn="l"/>
                      <a:r>
                        <a:rPr sz="1000" b="1">
                          <a:solidFill>
                            <a:srgbClr val="FFFFFF"/>
                          </a:solidFill>
                          <a:latin typeface="Calibri"/>
                        </a:rPr>
                        <a:t>Why, or why not yet</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Base path</a:t>
                      </a:r>
                    </a:p>
                  </a:txBody>
                  <a:tcPr marL="82296" marR="64008" marT="32004" marB="32004" anchor="ctr">
                    <a:solidFill>
                      <a:srgbClr val="FFFFFF"/>
                    </a:solidFill>
                  </a:tcPr>
                </a:tc>
                <a:tc>
                  <a:txBody>
                    <a:bodyPr wrap="square"/>
                    <a:lstStyle/>
                    <a:p>
                      <a:pPr algn="l"/>
                      <a:r>
                        <a:rPr sz="950" b="0">
                          <a:solidFill>
                            <a:srgbClr val="1C1C1E"/>
                          </a:solidFill>
                          <a:latin typeface="Calibri"/>
                        </a:rPr>
                        <a:t>/api/v1, defined once in routes/base.py::API</a:t>
                      </a:r>
                    </a:p>
                  </a:txBody>
                  <a:tcPr marL="82296" marR="64008" marT="32004" marB="32004" anchor="ctr">
                    <a:solidFill>
                      <a:srgbClr val="FFFFFF"/>
                    </a:solidFill>
                  </a:tcPr>
                </a:tc>
                <a:tc>
                  <a:txBody>
                    <a:bodyPr wrap="square"/>
                    <a:lstStyle/>
                    <a:p>
                      <a:pPr algn="l"/>
                      <a:r>
                        <a:rPr sz="950" b="0">
                          <a:solidFill>
                            <a:srgbClr val="1C1C1E"/>
                          </a:solidFill>
                          <a:latin typeface="Calibri"/>
                        </a:rPr>
                        <a:t>One versioned contract; the interface has no privileged path</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Spec</a:t>
                      </a:r>
                    </a:p>
                  </a:txBody>
                  <a:tcPr marL="82296" marR="64008" marT="32004" marB="32004" anchor="ctr">
                    <a:solidFill>
                      <a:srgbClr val="F6F3EF"/>
                    </a:solidFill>
                  </a:tcPr>
                </a:tc>
                <a:tc>
                  <a:txBody>
                    <a:bodyPr wrap="square"/>
                    <a:lstStyle/>
                    <a:p>
                      <a:pPr algn="l"/>
                      <a:r>
                        <a:rPr sz="950" b="0">
                          <a:solidFill>
                            <a:srgbClr val="1C1C1E"/>
                          </a:solidFill>
                          <a:latin typeface="Calibri"/>
                        </a:rPr>
                        <a:t>OpenAPI, generated by FastAPI at /api/v1/openapi.json</a:t>
                      </a:r>
                    </a:p>
                  </a:txBody>
                  <a:tcPr marL="82296" marR="64008" marT="32004" marB="32004" anchor="ctr">
                    <a:solidFill>
                      <a:srgbClr val="F6F3EF"/>
                    </a:solidFill>
                  </a:tcPr>
                </a:tc>
                <a:tc>
                  <a:txBody>
                    <a:bodyPr wrap="square"/>
                    <a:lstStyle/>
                    <a:p>
                      <a:pPr algn="l"/>
                      <a:r>
                        <a:rPr sz="950" b="0">
                          <a:solidFill>
                            <a:srgbClr val="1C1C1E"/>
                          </a:solidFill>
                          <a:latin typeface="Calibri"/>
                        </a:rPr>
                        <a:t>Generated from the routes, so it cannot describe a surface that is not there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Authentication</a:t>
                      </a:r>
                    </a:p>
                  </a:txBody>
                  <a:tcPr marL="82296" marR="64008" marT="32004" marB="32004" anchor="ctr">
                    <a:solidFill>
                      <a:srgbClr val="FFFFFF"/>
                    </a:solidFill>
                  </a:tcPr>
                </a:tc>
                <a:tc>
                  <a:txBody>
                    <a:bodyPr wrap="square"/>
                    <a:lstStyle/>
                    <a:p>
                      <a:pPr algn="l"/>
                      <a:r>
                        <a:rPr sz="950" b="0">
                          <a:solidFill>
                            <a:srgbClr val="1C1C1E"/>
                          </a:solidFill>
                          <a:latin typeface="Calibri"/>
                        </a:rPr>
                        <a:t>Session cookie for the interface; HTTP Basic against the same principal register for services</a:t>
                      </a:r>
                    </a:p>
                  </a:txBody>
                  <a:tcPr marL="82296" marR="64008" marT="32004" marB="32004" anchor="ctr">
                    <a:solidFill>
                      <a:srgbClr val="FFFFFF"/>
                    </a:solidFill>
                  </a:tcPr>
                </a:tc>
                <a:tc>
                  <a:txBody>
                    <a:bodyPr wrap="square"/>
                    <a:lstStyle/>
                    <a:p>
                      <a:pPr algn="l"/>
                      <a:r>
                        <a:rPr sz="950" b="0">
                          <a:solidFill>
                            <a:srgbClr val="1C1C1E"/>
                          </a:solidFill>
                          <a:latin typeface="Calibri"/>
                        </a:rPr>
                        <a:t>One identity store, not two</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CSRF</a:t>
                      </a:r>
                    </a:p>
                  </a:txBody>
                  <a:tcPr marL="82296" marR="64008" marT="32004" marB="32004" anchor="ctr">
                    <a:solidFill>
                      <a:srgbClr val="F6F3EF"/>
                    </a:solidFill>
                  </a:tcPr>
                </a:tc>
                <a:tc>
                  <a:txBody>
                    <a:bodyPr wrap="square"/>
                    <a:lstStyle/>
                    <a:p>
                      <a:pPr algn="l"/>
                      <a:r>
                        <a:rPr sz="950" b="0">
                          <a:solidFill>
                            <a:srgbClr val="1C1C1E"/>
                          </a:solidFill>
                          <a:latin typeface="Calibri"/>
                        </a:rPr>
                        <a:t>A token on any state-changing method whose authority came from the cookie, enforced in middleware</a:t>
                      </a:r>
                    </a:p>
                  </a:txBody>
                  <a:tcPr marL="82296" marR="64008" marT="32004" marB="32004" anchor="ctr">
                    <a:solidFill>
                      <a:srgbClr val="F6F3EF"/>
                    </a:solidFill>
                  </a:tcPr>
                </a:tc>
                <a:tc>
                  <a:txBody>
                    <a:bodyPr wrap="square"/>
                    <a:lstStyle/>
                    <a:p>
                      <a:pPr algn="l"/>
                      <a:r>
                        <a:rPr sz="950" b="0">
                          <a:solidFill>
                            <a:srgbClr val="1C1C1E"/>
                          </a:solidFill>
                          <a:latin typeface="Calibri"/>
                        </a:rPr>
                        <a:t>228 mutating endpoints is 126 chances to forget one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Refusals</a:t>
                      </a:r>
                    </a:p>
                  </a:txBody>
                  <a:tcPr marL="82296" marR="64008" marT="32004" marB="32004" anchor="ctr">
                    <a:solidFill>
                      <a:srgbClr val="FFFFFF"/>
                    </a:solidFill>
                  </a:tcPr>
                </a:tc>
                <a:tc>
                  <a:txBody>
                    <a:bodyPr wrap="square"/>
                    <a:lstStyle/>
                    <a:p>
                      <a:pPr algn="l"/>
                      <a:r>
                        <a:rPr sz="950" b="0">
                          <a:solidFill>
                            <a:srgbClr val="1C1C1E"/>
                          </a:solidFill>
                          <a:latin typeface="Calibri"/>
                        </a:rPr>
                        <a:t>error / detail / remediation at the top level, 312 codes mapped onto 14 statuses in ONE table</a:t>
                      </a:r>
                    </a:p>
                  </a:txBody>
                  <a:tcPr marL="82296" marR="64008" marT="32004" marB="32004" anchor="ctr">
                    <a:solidFill>
                      <a:srgbClr val="FFFFFF"/>
                    </a:solidFill>
                  </a:tcPr>
                </a:tc>
                <a:tc>
                  <a:txBody>
                    <a:bodyPr wrap="square"/>
                    <a:lstStyle/>
                    <a:p>
                      <a:pPr algn="l"/>
                      <a:r>
                        <a:rPr sz="950" b="0">
                          <a:solidFill>
                            <a:srgbClr val="1C1C1E"/>
                          </a:solidFill>
                          <a:latin typeface="Calibri"/>
                        </a:rPr>
                        <a:t>DR-6 and DR-7 — blocking must always explain</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Pagination</a:t>
                      </a:r>
                    </a:p>
                  </a:txBody>
                  <a:tcPr marL="82296" marR="64008" marT="32004" marB="32004" anchor="ctr">
                    <a:solidFill>
                      <a:srgbClr val="F6F3EF"/>
                    </a:solidFill>
                  </a:tcPr>
                </a:tc>
                <a:tc>
                  <a:txBody>
                    <a:bodyPr wrap="square"/>
                    <a:lstStyle/>
                    <a:p>
                      <a:pPr algn="l"/>
                      <a:r>
                        <a:rPr sz="950" b="0">
                          <a:solidFill>
                            <a:srgbClr val="1C1C1E"/>
                          </a:solidFill>
                          <a:latin typeface="Calibri"/>
                        </a:rPr>
                        <a:t>?limit= and ?offset= applied AFTER scope filtering, and a KEYSET cursor for a queue being drained while it is filled</a:t>
                      </a:r>
                    </a:p>
                  </a:txBody>
                  <a:tcPr marL="82296" marR="64008" marT="32004" marB="32004" anchor="ctr">
                    <a:solidFill>
                      <a:srgbClr val="F6F3EF"/>
                    </a:solidFill>
                  </a:tcPr>
                </a:tc>
                <a:tc>
                  <a:txBody>
                    <a:bodyPr wrap="square"/>
                    <a:lstStyle/>
                    <a:p>
                      <a:pPr algn="l"/>
                      <a:r>
                        <a:rPr sz="950" b="0">
                          <a:solidFill>
                            <a:srgbClr val="1C1C1E"/>
                          </a:solidFill>
                          <a:latin typeface="Calibri"/>
                        </a:rPr>
                        <a:t>Page two of a filtered list must not be page two of the unfiltered one with holes in it — and an offset over a list growing at the head silently skips a row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Time travel</a:t>
                      </a:r>
                    </a:p>
                  </a:txBody>
                  <a:tcPr marL="82296" marR="64008" marT="32004" marB="32004" anchor="ctr">
                    <a:solidFill>
                      <a:srgbClr val="FFFFFF"/>
                    </a:solidFill>
                  </a:tcPr>
                </a:tc>
                <a:tc>
                  <a:txBody>
                    <a:bodyPr wrap="square"/>
                    <a:lstStyle/>
                    <a:p>
                      <a:pPr algn="l"/>
                      <a:r>
                        <a:rPr sz="950" b="0">
                          <a:solidFill>
                            <a:srgbClr val="1C1C1E"/>
                          </a:solidFill>
                          <a:latin typeface="Calibri"/>
                        </a:rPr>
                        <a:t>?as_of= on the feature and warrant surfaces</a:t>
                      </a:r>
                    </a:p>
                  </a:txBody>
                  <a:tcPr marL="82296" marR="64008" marT="32004" marB="32004" anchor="ctr">
                    <a:solidFill>
                      <a:srgbClr val="FFFFFF"/>
                    </a:solidFill>
                  </a:tcPr>
                </a:tc>
                <a:tc>
                  <a:txBody>
                    <a:bodyPr wrap="square"/>
                    <a:lstStyle/>
                    <a:p>
                      <a:pPr algn="l"/>
                      <a:r>
                        <a:rPr sz="950" b="0">
                          <a:solidFill>
                            <a:srgbClr val="1C1C1E"/>
                          </a:solidFill>
                          <a:latin typeface="Calibri"/>
                        </a:rPr>
                        <a:t>Examiner questions about a past date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NOT BUILT</a:t>
                      </a:r>
                    </a:p>
                  </a:txBody>
                  <a:tcPr marL="82296" marR="64008" marT="32004" marB="32004" anchor="ctr">
                    <a:solidFill>
                      <a:srgbClr val="F6F3EF"/>
                    </a:solidFill>
                  </a:tcPr>
                </a:tc>
                <a:tc>
                  <a:txBody>
                    <a:bodyPr wrap="square"/>
                    <a:lstStyle/>
                    <a:p>
                      <a:pPr algn="l"/>
                      <a:r>
                        <a:rPr sz="950" b="0">
                          <a:solidFill>
                            <a:srgbClr val="1C1C1E"/>
                          </a:solidFill>
                          <a:latin typeface="Calibri"/>
                        </a:rPr>
                        <a:t>ETag / If-Match · Idempotency-Key · ?expand= · ?fields= · keyset cursors · SSE on /events · Sunset headers · /derivations/{id}</a:t>
                      </a:r>
                    </a:p>
                  </a:txBody>
                  <a:tcPr marL="82296" marR="64008" marT="32004" marB="32004" anchor="ctr">
                    <a:solidFill>
                      <a:srgbClr val="F6F3EF"/>
                    </a:solidFill>
                  </a:tcPr>
                </a:tc>
                <a:tc>
                  <a:txBody>
                    <a:bodyPr wrap="square"/>
                    <a:lstStyle/>
                    <a:p>
                      <a:pPr algn="l"/>
                      <a:r>
                        <a:rPr sz="950" b="0">
                          <a:solidFill>
                            <a:srgbClr val="1C1C1E"/>
                          </a:solidFill>
                          <a:latin typeface="Calibri"/>
                        </a:rPr>
                        <a:t>Each is designed in docs/14 §28 and none of it runs. Listings return whole; a retry is not idempotent</a:t>
                      </a:r>
                    </a:p>
                  </a:txBody>
                  <a:tcPr marL="82296" marR="64008" marT="32004" marB="32004" anchor="ctr">
                    <a:solidFill>
                      <a:srgbClr val="F6F3EF"/>
                    </a:solidFill>
                  </a:tcPr>
                </a:tc>
              </a:tr>
            </a:tbl>
          </a:graphicData>
        </a:graphic>
      </p:graphicFrame>
      <p:sp>
        <p:nvSpPr>
          <p:cNvPr id="11" name="TextBox 10"/>
          <p:cNvSpPr txBox="1"/>
          <p:nvPr/>
        </p:nvSpPr>
        <p:spPr>
          <a:xfrm>
            <a:off x="777240" y="5464492"/>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surface, and the interface reaches it the way anybody else does. </a:t>
            </a:r>
            <a:r>
              <a:rPr sz="1050" b="0" i="0">
                <a:solidFill>
                  <a:srgbClr val="1C1C1E"/>
                </a:solidFill>
                <a:latin typeface="Calibri"/>
              </a:rPr>
              <a:t>Models · versions · aliases · risk · features · runs · validation · overlays · monitoring · warrants · documents · policy · assistance · admin — all behind /api/v1, in one FastAPI process that also renders the pages. The two-process, generated-client front end is an accepted design and is not built — ADR-011.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37160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A51C30"/>
                </a:solidFill>
                <a:latin typeface="Calibri"/>
              </a:rPr>
              <a:t>Standard library only, so MAYA deploys air-gapped. </a:t>
            </a:r>
            <a:r>
              <a:rPr sz="1050" b="0" i="0">
                <a:solidFill>
                  <a:srgbClr val="1C1C1E"/>
                </a:solidFill>
                <a:latin typeface="Calibri"/>
              </a:rPr>
              <a:t>The padded block is CONSTRUCTED and compared rather than parsed, and the algorithm is decided rather than read from the token — the two ways signature verification is classically defeated.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interface — one process, not two</a:t>
            </a:r>
          </a:p>
        </p:txBody>
      </p:sp>
      <p:graphicFrame>
        <p:nvGraphicFramePr>
          <p:cNvPr id="11" name="Table 10"/>
          <p:cNvGraphicFramePr>
            <a:graphicFrameLocks noGrp="1"/>
          </p:cNvGraphicFramePr>
          <p:nvPr/>
        </p:nvGraphicFramePr>
        <p:xfrm>
          <a:off x="777240" y="1719072"/>
          <a:ext cx="4999491" cy="3507864"/>
        </p:xfrm>
        <a:graphic>
          <a:graphicData uri="http://schemas.openxmlformats.org/drawingml/2006/table">
            <a:tbl>
              <a:tblPr firstRow="1">
                <a:tableStyleId>{5C22544A-7EE6-4342-B048-85BDC9FD1C3A}</a:tableStyleId>
              </a:tblPr>
              <a:tblGrid>
                <a:gridCol w="964814"/>
                <a:gridCol w="4034677"/>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Process</a:t>
                      </a:r>
                    </a:p>
                  </a:txBody>
                  <a:tcPr marL="82296" marR="64008" marT="32004" marB="32004" anchor="ctr">
                    <a:solidFill>
                      <a:srgbClr val="FFFFFF"/>
                    </a:solidFill>
                  </a:tcPr>
                </a:tc>
                <a:tc>
                  <a:txBody>
                    <a:bodyPr wrap="square"/>
                    <a:lstStyle/>
                    <a:p>
                      <a:pPr algn="l"/>
                      <a:r>
                        <a:rPr sz="900" b="0">
                          <a:solidFill>
                            <a:srgbClr val="1C1C1E"/>
                          </a:solidFill>
                          <a:latin typeface="Calibri"/>
                        </a:rPr>
                        <a:t>One FastAPI application serves /api/v1 and renders the pages. The decoupled two-origin front end is ADR-011, accepted and not built — there is no CORS middleware anywhere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Auth</a:t>
                      </a:r>
                    </a:p>
                  </a:txBody>
                  <a:tcPr marL="82296" marR="64008" marT="32004" marB="32004" anchor="ctr">
                    <a:solidFill>
                      <a:srgbClr val="F6F3EF"/>
                    </a:solidFill>
                  </a:tcPr>
                </a:tc>
                <a:tc>
                  <a:txBody>
                    <a:bodyPr wrap="square"/>
                    <a:lstStyle/>
                    <a:p>
                      <a:pPr algn="l"/>
                      <a:r>
                        <a:rPr sz="900" b="0">
                          <a:solidFill>
                            <a:srgbClr val="1C1C1E"/>
                          </a:solidFill>
                          <a:latin typeface="Calibri"/>
                        </a:rPr>
                        <a:t>Session cookie, SameSite=Strict, plus a CSRF token on cookie-authorised mutations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Logic</a:t>
                      </a:r>
                    </a:p>
                  </a:txBody>
                  <a:tcPr marL="82296" marR="64008" marT="32004" marB="32004" anchor="ctr">
                    <a:solidFill>
                      <a:srgbClr val="FFFFFF"/>
                    </a:solidFill>
                  </a:tcPr>
                </a:tc>
                <a:tc>
                  <a:txBody>
                    <a:bodyPr wrap="square"/>
                    <a:lstStyle/>
                    <a:p>
                      <a:pPr algn="l"/>
                      <a:r>
                        <a:rPr sz="900" b="0">
                          <a:solidFill>
                            <a:srgbClr val="1C1C1E"/>
                          </a:solidFill>
                          <a:latin typeface="Calibri"/>
                        </a:rPr>
                        <a:t>The server renders decisions; the page never derives them</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Client</a:t>
                      </a:r>
                    </a:p>
                  </a:txBody>
                  <a:tcPr marL="82296" marR="64008" marT="32004" marB="32004" anchor="ctr">
                    <a:solidFill>
                      <a:srgbClr val="F6F3EF"/>
                    </a:solidFill>
                  </a:tcPr>
                </a:tc>
                <a:tc>
                  <a:txBody>
                    <a:bodyPr wrap="square"/>
                    <a:lstStyle/>
                    <a:p>
                      <a:pPr algn="l"/>
                      <a:r>
                        <a:rPr sz="900" b="0">
                          <a:solidFill>
                            <a:srgbClr val="1C1C1E"/>
                          </a:solidFill>
                          <a:latin typeface="Calibri"/>
                        </a:rPr>
                        <a:t>The Python SDK is hand-written against the same /api/v1. There is no generated client and no openapi.lock.json, so nothing detects spec drift — CI runs the suite, not a contract check</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Documents</a:t>
                      </a:r>
                    </a:p>
                  </a:txBody>
                  <a:tcPr marL="82296" marR="64008" marT="32004" marB="32004" anchor="ctr">
                    <a:solidFill>
                      <a:srgbClr val="FFFFFF"/>
                    </a:solidFill>
                  </a:tcPr>
                </a:tc>
                <a:tc>
                  <a:txBody>
                    <a:bodyPr wrap="square"/>
                    <a:lstStyle/>
                    <a:p>
                      <a:pPr algn="l"/>
                      <a:r>
                        <a:rPr sz="900" b="0">
                          <a:solidFill>
                            <a:srgbClr val="1C1C1E"/>
                          </a:solidFill>
                          <a:latin typeface="Calibri"/>
                        </a:rPr>
                        <a:t>Compiled server-side to markdown and rendered through the help pipeline; PDF and DOCX are not built</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Legibility</a:t>
                      </a:r>
                    </a:p>
                  </a:txBody>
                  <a:tcPr marL="82296" marR="64008" marT="32004" marB="32004" anchor="ctr">
                    <a:solidFill>
                      <a:srgbClr val="F6F3EF"/>
                    </a:solidFill>
                  </a:tcPr>
                </a:tc>
                <a:tc>
                  <a:txBody>
                    <a:bodyPr wrap="square"/>
                    <a:lstStyle/>
                    <a:p>
                      <a:pPr algn="l"/>
                      <a:r>
                        <a:rPr sz="900" b="0">
                          <a:solidFill>
                            <a:srgbClr val="1C1C1E"/>
                          </a:solidFill>
                          <a:latin typeface="Calibri"/>
                        </a:rPr>
                        <a:t>Theme and a five-step text scale, both applied before the first paint. 31 assertions hold WCAG AA contrast in both themes, a focus ring on every focusable kind, and no template pinning a colour or a pixel size</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600"/>
              </a:spcAft>
            </a:pPr>
            <a:r>
              <a:rPr sz="1000" b="1">
                <a:solidFill>
                  <a:srgbClr val="A51C30"/>
                </a:solidFill>
                <a:latin typeface="Calibri"/>
              </a:rPr>
              <a:t>▪  </a:t>
            </a:r>
            <a:r>
              <a:rPr sz="1000">
                <a:solidFill>
                  <a:srgbClr val="1C1C1E"/>
                </a:solidFill>
                <a:latin typeface="Calibri"/>
              </a:rPr>
              <a:t>resolve() returns the descriptor; execute() sends the inputs and never hands the caller one to keep</a:t>
            </a:r>
          </a:p>
          <a:p>
            <a:pPr>
              <a:spcBef>
                <a:spcPts val="0"/>
              </a:spcBef>
              <a:spcAft>
                <a:spcPts val="600"/>
              </a:spcAft>
            </a:pPr>
            <a:r>
              <a:rPr sz="1000" b="1">
                <a:solidFill>
                  <a:srgbClr val="A51C30"/>
                </a:solidFill>
                <a:latin typeface="Calibri"/>
              </a:rPr>
              <a:t>▪  </a:t>
            </a:r>
            <a:r>
              <a:rPr sz="1000">
                <a:solidFill>
                  <a:srgbClr val="1C1C1E"/>
                </a:solidFill>
                <a:latin typeface="Calibri"/>
              </a:rPr>
              <a:t>It deliberately does NOT re-validate a warrant — a second check could only disagree with the first, on a stale copy of the vocabulary</a:t>
            </a:r>
          </a:p>
          <a:p>
            <a:pPr>
              <a:spcBef>
                <a:spcPts val="0"/>
              </a:spcBef>
              <a:spcAft>
                <a:spcPts val="600"/>
              </a:spcAft>
            </a:pPr>
            <a:r>
              <a:rPr sz="1000" b="1">
                <a:solidFill>
                  <a:srgbClr val="A51C30"/>
                </a:solidFill>
                <a:latin typeface="Calibri"/>
              </a:rPr>
              <a:t>▪  </a:t>
            </a:r>
            <a:r>
              <a:rPr sz="1000">
                <a:solidFill>
                  <a:srgbClr val="1C1C1E"/>
                </a:solidFill>
                <a:latin typeface="Calibri"/>
              </a:rPr>
              <a:t>Expiry is on the document where a caller can read it, because a client that caches one has turned a revocable authorisation into a permanent one</a:t>
            </a:r>
          </a:p>
          <a:p>
            <a:pPr>
              <a:spcBef>
                <a:spcPts val="0"/>
              </a:spcBef>
              <a:spcAft>
                <a:spcPts val="600"/>
              </a:spcAft>
            </a:pPr>
            <a:r>
              <a:rPr sz="1000" b="1">
                <a:solidFill>
                  <a:srgbClr val="A51C30"/>
                </a:solidFill>
                <a:latin typeface="Calibri"/>
              </a:rPr>
              <a:t>▪  </a:t>
            </a:r>
            <a:r>
              <a:rPr sz="1000">
                <a:solidFill>
                  <a:srgbClr val="1C1C1E"/>
                </a:solidFill>
                <a:latin typeface="Calibri"/>
              </a:rPr>
              <a:t>The boundary check, the local revocation list and the signature check are in the captive engine (core/execution/engine.py), not in this client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design point. </a:t>
            </a:r>
            <a:r>
              <a:rPr sz="1100" b="0" i="0">
                <a:solidFill>
                  <a:srgbClr val="1C1C1E"/>
                </a:solidFill>
                <a:latin typeface="Calibri"/>
              </a:rPr>
              <a:t>A developer who uses the SDK gets governance for free and cannot forget a step. If the compliant path is slower than the non-compliant one, the inventory rots. Python ships; the Java SDK is a written contract in sdk/java/README.md and no implementation.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 AND CONCURRENCY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transaction, one record, and the window between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Rectangle 9"/>
          <p:cNvSpPr/>
          <p:nvPr/>
        </p:nvSpPr>
        <p:spPr>
          <a:xfrm>
            <a:off x="777240" y="176479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215798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db.transaction() as tx:      # re-entrant: a nested</a:t>
            </a:r>
          </a:p>
          <a:p>
            <a:pPr>
              <a:lnSpc>
                <a:spcPct val="134000"/>
              </a:lnSpc>
              <a:spcBef>
                <a:spcPts val="0"/>
              </a:spcBef>
              <a:spcAft>
                <a:spcPts val="0"/>
              </a:spcAft>
            </a:pPr>
            <a:r>
              <a:rPr sz="1000" b="0" i="0">
                <a:solidFill>
                  <a:srgbClr val="1C1C1E"/>
                </a:solidFill>
                <a:latin typeface="Consolas"/>
              </a:rPr>
              <a:t>    ...                           # call JOINS this one</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Called in exactly ONE place in core/ --</a:t>
            </a:r>
          </a:p>
          <a:p>
            <a:pPr>
              <a:lnSpc>
                <a:spcPct val="134000"/>
              </a:lnSpc>
              <a:spcBef>
                <a:spcPts val="0"/>
              </a:spcBef>
              <a:spcAft>
                <a:spcPts val="0"/>
              </a:spcAft>
            </a:pPr>
            <a:r>
              <a:rPr sz="1000" b="0" i="0">
                <a:solidFill>
                  <a:srgbClr val="7A7F87"/>
                </a:solidFill>
                <a:latin typeface="Consolas"/>
              </a:rPr>
              <a:t># EvidenceEngine.append -- and in no service</a:t>
            </a:r>
          </a:p>
          <a:p>
            <a:pPr>
              <a:lnSpc>
                <a:spcPct val="134000"/>
              </a:lnSpc>
              <a:spcBef>
                <a:spcPts val="0"/>
              </a:spcBef>
              <a:spcAft>
                <a:spcPts val="0"/>
              </a:spcAft>
            </a:pPr>
            <a:r>
              <a:rPr sz="1000" b="0" i="0">
                <a:solidFill>
                  <a:srgbClr val="7A7F87"/>
                </a:solidFill>
                <a:latin typeface="Consolas"/>
              </a:rPr>
              <a:t># and no route.</a:t>
            </a:r>
          </a:p>
        </p:txBody>
      </p:sp>
      <p:sp>
        <p:nvSpPr>
          <p:cNvPr id="14" name="TextBox 13"/>
          <p:cNvSpPr txBox="1"/>
          <p:nvPr/>
        </p:nvSpPr>
        <p:spPr>
          <a:xfrm>
            <a:off x="777240" y="3856024"/>
            <a:ext cx="5531351" cy="2377440"/>
          </a:xfrm>
          <a:prstGeom prst="rect">
            <a:avLst/>
          </a:prstGeom>
          <a:noFill/>
        </p:spPr>
        <p:txBody>
          <a:bodyPr wrap="square" lIns="0" rIns="0" tIns="0" bIns="0" anchor="t">
            <a:spAutoFit/>
          </a:bodyPr>
          <a:lstStyle/>
          <a:p>
            <a:pPr algn="l">
              <a:lnSpc>
                <a:spcPct val="124000"/>
              </a:lnSpc>
              <a:spcBef>
                <a:spcPts val="0"/>
              </a:spcBef>
              <a:spcAft>
                <a:spcPts val="900"/>
              </a:spcAft>
            </a:pPr>
            <a:r>
              <a:rPr sz="1050" b="1" i="0">
                <a:solidFill>
                  <a:srgbClr val="A51C30"/>
                </a:solidFill>
                <a:latin typeface="Calibri"/>
              </a:rPr>
              <a:t>That is the honest state of DR-4. </a:t>
            </a:r>
            <a:r>
              <a:rPr sz="1050" b="0" i="0">
                <a:solidFill>
                  <a:srgbClr val="1C1C1E"/>
                </a:solidFill>
                <a:latin typeface="Calibri"/>
              </a:rPr>
              <a:t>Every governance act is two commits: the state change, then the evidence node. The window between them is small and it is not zero, and what falls into it is a model that exists with no record of its registration — which matters more than a missing row, because segregation of duties is decided by reading the chain. The mechanism to close it exists and is re-entrant by construction; nothing uses it.</a:t>
            </a:r>
          </a:p>
          <a:p>
            <a:pPr>
              <a:lnSpc>
                <a:spcPct val="124000"/>
              </a:lnSpc>
              <a:spcBef>
                <a:spcPts val="0"/>
              </a:spcBef>
              <a:spcAft>
                <a:spcPts val="600"/>
              </a:spcAft>
            </a:pPr>
            <a:r>
              <a:rPr sz="1050" b="1" i="0">
                <a:solidFill>
                  <a:srgbClr val="A51C30"/>
                </a:solidFill>
                <a:latin typeface="Calibri"/>
              </a:rPr>
              <a:t>No outbox, no broker, no migrations. </a:t>
            </a:r>
            <a:r>
              <a:rPr sz="1050" b="0" i="0">
                <a:solidFill>
                  <a:srgbClr val="1C1C1E"/>
                </a:solidFill>
                <a:latin typeface="Calibri"/>
              </a:rPr>
              <a:t>No domain event leaves the process; consumers integrate by polling the API. Schema evolution is expand-and-contract from one typed schema, 85 tables, one database and one flat evidence chain — there is no separate audit database, for the reason chapter 7 gives.</a:t>
            </a:r>
          </a:p>
        </p:txBody>
      </p:sp>
      <p:sp>
        <p:nvSpPr>
          <p:cNvPr id="15" name="TextBox 14"/>
          <p:cNvSpPr txBox="1"/>
          <p:nvPr/>
        </p:nvSpPr>
        <p:spPr>
          <a:xfrm>
            <a:off x="6734080" y="1764792"/>
            <a:ext cx="4680374"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What actually holds when two things happen at once</a:t>
            </a:r>
          </a:p>
        </p:txBody>
      </p:sp>
      <p:graphicFrame>
        <p:nvGraphicFramePr>
          <p:cNvPr id="16" name="Table 15"/>
          <p:cNvGraphicFramePr>
            <a:graphicFrameLocks noGrp="1"/>
          </p:cNvGraphicFramePr>
          <p:nvPr/>
        </p:nvGraphicFramePr>
        <p:xfrm>
          <a:off x="6734080" y="2093976"/>
          <a:ext cx="4680374" cy="2945430"/>
        </p:xfrm>
        <a:graphic>
          <a:graphicData uri="http://schemas.openxmlformats.org/drawingml/2006/table">
            <a:tbl>
              <a:tblPr firstRow="1">
                <a:tableStyleId>{5C22544A-7EE6-4342-B048-85BDC9FD1C3A}</a:tableStyleId>
              </a:tblPr>
              <a:tblGrid>
                <a:gridCol w="1533226"/>
                <a:gridCol w="3147148"/>
              </a:tblGrid>
              <a:tr h="329184">
                <a:tc>
                  <a:txBody>
                    <a:bodyPr wrap="square"/>
                    <a:lstStyle/>
                    <a:p>
                      <a:pPr algn="l"/>
                      <a:r>
                        <a:rPr sz="900" b="1">
                          <a:solidFill>
                            <a:srgbClr val="FFFFFF"/>
                          </a:solidFill>
                          <a:latin typeface="Calibri"/>
                        </a:rPr>
                        <a:t>Hazard</a:t>
                      </a:r>
                    </a:p>
                  </a:txBody>
                  <a:tcPr marL="82296" marR="64008" marT="32004" marB="32004" anchor="ctr">
                    <a:solidFill>
                      <a:srgbClr val="A51C30"/>
                    </a:solidFill>
                  </a:tcPr>
                </a:tc>
                <a:tc>
                  <a:txBody>
                    <a:bodyPr wrap="square"/>
                    <a:lstStyle/>
                    <a:p>
                      <a:pPr algn="l"/>
                      <a:r>
                        <a:rPr sz="900" b="1">
                          <a:solidFill>
                            <a:srgbClr val="FFFFFF"/>
                          </a:solidFill>
                          <a:latin typeface="Calibri"/>
                        </a:rPr>
                        <a:t>What holds</a:t>
                      </a:r>
                    </a:p>
                  </a:txBody>
                  <a:tcPr marL="82296" marR="64008" marT="32004" marB="32004" anchor="ctr">
                    <a:solidFill>
                      <a:srgbClr val="A51C30"/>
                    </a:solidFill>
                  </a:tcPr>
                </a:tc>
              </a:tr>
              <a:tr h="580910">
                <a:tc>
                  <a:txBody>
                    <a:bodyPr wrap="square"/>
                    <a:lstStyle/>
                    <a:p>
                      <a:pPr algn="l"/>
                      <a:r>
                        <a:rPr sz="850" b="1">
                          <a:solidFill>
                            <a:srgbClr val="A51C30"/>
                          </a:solidFill>
                          <a:latin typeface="Calibri"/>
                        </a:rPr>
                        <a:t>Two governance acts appending evidence</a:t>
                      </a:r>
                    </a:p>
                  </a:txBody>
                  <a:tcPr marL="82296" marR="64008" marT="32004" marB="32004" anchor="ctr">
                    <a:solidFill>
                      <a:srgbClr val="FFFFFF"/>
                    </a:solidFill>
                  </a:tcPr>
                </a:tc>
                <a:tc>
                  <a:txBody>
                    <a:bodyPr wrap="square"/>
                    <a:lstStyle/>
                    <a:p>
                      <a:pPr algn="l"/>
                      <a:r>
                        <a:rPr sz="850" b="0">
                          <a:solidFill>
                            <a:srgbClr val="1C1C1E"/>
                          </a:solidFill>
                          <a:latin typeface="Calibri"/>
                        </a:rPr>
                        <a:t>Read-then-write, now inside a transaction and retried with JITTERED backoff. Measured before the fix at four threads: 7% of appends raised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Two versions with the same semver</a:t>
                      </a:r>
                    </a:p>
                  </a:txBody>
                  <a:tcPr marL="82296" marR="64008" marT="32004" marB="32004" anchor="ctr">
                    <a:solidFill>
                      <a:srgbClr val="F6F3EF"/>
                    </a:solidFill>
                  </a:tcPr>
                </a:tc>
                <a:tc>
                  <a:txBody>
                    <a:bodyPr wrap="square"/>
                    <a:lstStyle/>
                    <a:p>
                      <a:pPr algn="l"/>
                      <a:r>
                        <a:rPr sz="850" b="0">
                          <a:solidFill>
                            <a:srgbClr val="1C1C1E"/>
                          </a:solidFill>
                          <a:latin typeface="Calibri"/>
                        </a:rPr>
                        <a:t>UNIQUE (model_id, semver), refused above it so the message is a sentence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The same artifact twice</a:t>
                      </a:r>
                    </a:p>
                  </a:txBody>
                  <a:tcPr marL="82296" marR="64008" marT="32004" marB="32004" anchor="ctr">
                    <a:solidFill>
                      <a:srgbClr val="FFFFFF"/>
                    </a:solidFill>
                  </a:tcPr>
                </a:tc>
                <a:tc>
                  <a:txBody>
                    <a:bodyPr wrap="square"/>
                    <a:lstStyle/>
                    <a:p>
                      <a:pPr algn="l"/>
                      <a:r>
                        <a:rPr sz="850" b="0">
                          <a:solidFill>
                            <a:srgbClr val="1C1C1E"/>
                          </a:solidFill>
                          <a:latin typeface="Calibri"/>
                        </a:rPr>
                        <a:t>Content addressing — the same bytes are the same name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A telemetry batch twice</a:t>
                      </a:r>
                    </a:p>
                  </a:txBody>
                  <a:tcPr marL="82296" marR="64008" marT="32004" marB="32004" anchor="ctr">
                    <a:solidFill>
                      <a:srgbClr val="F6F3EF"/>
                    </a:solidFill>
                  </a:tcPr>
                </a:tc>
                <a:tc>
                  <a:txBody>
                    <a:bodyPr wrap="square"/>
                    <a:lstStyle/>
                    <a:p>
                      <a:pPr algn="l"/>
                      <a:r>
                        <a:rPr sz="850" b="0">
                          <a:solidFill>
                            <a:srgbClr val="1C1C1E"/>
                          </a:solidFill>
                          <a:latin typeface="Calibri"/>
                        </a:rPr>
                        <a:t>UNIQUE over the digest of the batch's own rows</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A scheduler job twice</a:t>
                      </a:r>
                    </a:p>
                  </a:txBody>
                  <a:tcPr marL="82296" marR="64008" marT="32004" marB="32004" anchor="ctr">
                    <a:solidFill>
                      <a:srgbClr val="FFFFFF"/>
                    </a:solidFill>
                  </a:tcPr>
                </a:tc>
                <a:tc>
                  <a:txBody>
                    <a:bodyPr wrap="square"/>
                    <a:lstStyle/>
                    <a:p>
                      <a:pPr algn="l"/>
                      <a:r>
                        <a:rPr sz="850" b="0">
                          <a:solidFill>
                            <a:srgbClr val="1C1C1E"/>
                          </a:solidFill>
                          <a:latin typeface="Calibri"/>
                        </a:rPr>
                        <a:t>Each job re-derives its condition; two replicas raise one finding</a:t>
                      </a:r>
                    </a:p>
                  </a:txBody>
                  <a:tcPr marL="82296" marR="64008" marT="32004" marB="32004" anchor="ctr">
                    <a:solidFill>
                      <a:srgbClr val="FFFFFF"/>
                    </a:solidFill>
                  </a:tcPr>
                </a:tc>
              </a:tr>
              <a:tr h="580910">
                <a:tc>
                  <a:txBody>
                    <a:bodyPr wrap="square"/>
                    <a:lstStyle/>
                    <a:p>
                      <a:pPr algn="l"/>
                      <a:r>
                        <a:rPr sz="850" b="1">
                          <a:solidFill>
                            <a:srgbClr val="A51C30"/>
                          </a:solidFill>
                          <a:latin typeface="Calibri"/>
                        </a:rPr>
                        <a:t>A notification twice</a:t>
                      </a:r>
                    </a:p>
                  </a:txBody>
                  <a:tcPr marL="82296" marR="64008" marT="32004" marB="32004" anchor="ctr">
                    <a:solidFill>
                      <a:srgbClr val="F6F3EF"/>
                    </a:solidFill>
                  </a:tcPr>
                </a:tc>
                <a:tc>
                  <a:txBody>
                    <a:bodyPr wrap="square"/>
                    <a:lstStyle/>
                    <a:p>
                      <a:pPr algn="l"/>
                      <a:r>
                        <a:rPr sz="850" b="0">
                          <a:solidFill>
                            <a:srgbClr val="1C1C1E"/>
                          </a:solidFill>
                          <a:latin typeface="Calibri"/>
                        </a:rPr>
                        <a:t>Digest of the work described, suppressed if unchanged — and delivery is NOT transactional, which is the one genuine gap</a:t>
                      </a:r>
                    </a:p>
                  </a:txBody>
                  <a:tcPr marL="82296" marR="64008" marT="32004" marB="32004" anchor="ctr">
                    <a:solidFill>
                      <a:srgbClr val="F6F3EF"/>
                    </a:solidFill>
                  </a:tcPr>
                </a:tc>
              </a:tr>
            </a:tbl>
          </a:graphicData>
        </a:graphic>
      </p:graphicFrame>
      <p:sp>
        <p:nvSpPr>
          <p:cNvPr id="17" name="TextBox 16"/>
          <p:cNvSpPr txBox="1"/>
          <p:nvPr/>
        </p:nvSpPr>
        <p:spPr>
          <a:xfrm>
            <a:off x="6734080" y="5185714"/>
            <a:ext cx="4680374" cy="45720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Absent: </a:t>
            </a:r>
            <a:r>
              <a:rPr sz="950" b="0" i="0">
                <a:solidFill>
                  <a:srgbClr val="1C1C1E"/>
                </a:solidFill>
                <a:latin typeface="Calibri"/>
              </a:rPr>
              <a:t>Idempotency-Key, a replay window, an advisory lock, an optimistic-concurrency header, and any cache to invalidate. With one process each is cheap to add and none is there.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312 refusal codes, 14 statuses, one table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98</a:t>
            </a:r>
          </a:p>
        </p:txBody>
      </p:sp>
      <p:graphicFrame>
        <p:nvGraphicFramePr>
          <p:cNvPr id="10" name="Table 9"/>
          <p:cNvGraphicFramePr>
            <a:graphicFrameLocks noGrp="1"/>
          </p:cNvGraphicFramePr>
          <p:nvPr/>
        </p:nvGraphicFramePr>
        <p:xfrm>
          <a:off x="777240" y="1353312"/>
          <a:ext cx="10637214" cy="4027776"/>
        </p:xfrm>
        <a:graphic>
          <a:graphicData uri="http://schemas.openxmlformats.org/drawingml/2006/table">
            <a:tbl>
              <a:tblPr firstRow="1">
                <a:tableStyleId>{5C22544A-7EE6-4342-B048-85BDC9FD1C3A}</a:tableStyleId>
              </a:tblPr>
              <a:tblGrid>
                <a:gridCol w="2200803"/>
                <a:gridCol w="825301"/>
                <a:gridCol w="4493306"/>
                <a:gridCol w="3117804"/>
              </a:tblGrid>
              <a:tr h="329184">
                <a:tc>
                  <a:txBody>
                    <a:bodyPr wrap="square"/>
                    <a:lstStyle/>
                    <a:p>
                      <a:pPr algn="l"/>
                      <a:r>
                        <a:rPr sz="1000" b="1">
                          <a:solidFill>
                            <a:srgbClr val="FFFFFF"/>
                          </a:solidFill>
                          <a:latin typeface="Calibri"/>
                        </a:rPr>
                        <a:t>Code</a:t>
                      </a:r>
                    </a:p>
                  </a:txBody>
                  <a:tcPr marL="82296" marR="64008" marT="32004" marB="32004" anchor="ctr">
                    <a:solidFill>
                      <a:srgbClr val="A51C30"/>
                    </a:solidFill>
                  </a:tcPr>
                </a:tc>
                <a:tc>
                  <a:txBody>
                    <a:bodyPr wrap="square"/>
                    <a:lstStyle/>
                    <a:p>
                      <a:pPr algn="l"/>
                      <a:r>
                        <a:rPr sz="1000" b="1">
                          <a:solidFill>
                            <a:srgbClr val="FFFFFF"/>
                          </a:solidFill>
                          <a:latin typeface="Calibri"/>
                        </a:rPr>
                        <a:t>HTTP</a:t>
                      </a:r>
                    </a:p>
                  </a:txBody>
                  <a:tcPr marL="82296" marR="64008" marT="32004" marB="32004" anchor="ctr">
                    <a:solidFill>
                      <a:srgbClr val="A51C30"/>
                    </a:solidFill>
                  </a:tcPr>
                </a:tc>
                <a:tc>
                  <a:txBody>
                    <a:bodyPr wrap="square"/>
                    <a:lstStyle/>
                    <a:p>
                      <a:pPr algn="l"/>
                      <a:r>
                        <a:rPr sz="1000" b="1">
                          <a:solidFill>
                            <a:srgbClr val="FFFFFF"/>
                          </a:solidFill>
                          <a:latin typeface="Calibri"/>
                        </a:rPr>
                        <a:t>Meaning</a:t>
                      </a:r>
                    </a:p>
                  </a:txBody>
                  <a:tcPr marL="82296" marR="64008" marT="32004" marB="32004" anchor="ctr">
                    <a:solidFill>
                      <a:srgbClr val="A51C30"/>
                    </a:solidFill>
                  </a:tcPr>
                </a:tc>
                <a:tc>
                  <a:txBody>
                    <a:bodyPr wrap="square"/>
                    <a:lstStyle/>
                    <a:p>
                      <a:pPr algn="l"/>
                      <a:r>
                        <a:rPr sz="1000" b="1">
                          <a:solidFill>
                            <a:srgbClr val="FFFFFF"/>
                          </a:solidFill>
                          <a:latin typeface="Calibri"/>
                        </a:rPr>
                        <a:t>Client action</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950" b="0">
                          <a:solidFill>
                            <a:srgbClr val="1C1C1E"/>
                          </a:solidFill>
                          <a:latin typeface="Calibri"/>
                        </a:rPr>
                        <a:t>Fix and retry</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grammar_violation</a:t>
                      </a:r>
                    </a:p>
                  </a:txBody>
                  <a:tcPr marL="82296" marR="64008" marT="32004" marB="32004" anchor="ctr">
                    <a:solidFill>
                      <a:srgbClr val="F6F3EF"/>
                    </a:solidFill>
                  </a:tcPr>
                </a:tc>
                <a:tc>
                  <a:txBody>
                    <a:bodyPr wrap="square"/>
                    <a:lstStyle/>
                    <a:p>
                      <a:pPr algn="l"/>
                      <a:r>
                        <a:rPr sz="950" b="0">
                          <a:solidFill>
                            <a:srgbClr val="1C1C1E"/>
                          </a:solidFill>
                          <a:latin typeface="Calibri"/>
                        </a:rPr>
                        <a:t>422</a:t>
                      </a:r>
                    </a:p>
                  </a:txBody>
                  <a:tcPr marL="82296" marR="64008" marT="32004" marB="32004" anchor="ctr">
                    <a:solidFill>
                      <a:srgbClr val="F6F3EF"/>
                    </a:solidFill>
                  </a:tcPr>
                </a:tc>
                <a:tc>
                  <a:txBody>
                    <a:bodyPr wrap="square"/>
                    <a:lstStyle/>
                    <a:p>
                      <a:pPr algn="l"/>
                      <a:r>
                        <a:rPr sz="950" b="0">
                          <a:solidFill>
                            <a:srgbClr val="1C1C1E"/>
                          </a:solidFill>
                          <a:latin typeface="Calibri"/>
                        </a:rPr>
                        <a:t>The warrant document breaks one of L-W0…L-W13</a:t>
                      </a:r>
                    </a:p>
                  </a:txBody>
                  <a:tcPr marL="82296" marR="64008" marT="32004" marB="32004" anchor="ctr">
                    <a:solidFill>
                      <a:srgbClr val="F6F3EF"/>
                    </a:solidFill>
                  </a:tcPr>
                </a:tc>
                <a:tc>
                  <a:txBody>
                    <a:bodyPr wrap="square"/>
                    <a:lstStyle/>
                    <a:p>
                      <a:pPr algn="l"/>
                      <a:r>
                        <a:rPr sz="950" b="0">
                          <a:solidFill>
                            <a:srgbClr val="1C1C1E"/>
                          </a:solidFill>
                          <a:latin typeface="Calibri"/>
                        </a:rPr>
                        <a:t>Read the named law and the field</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boundary_violation</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Inputs outside the declared operating boundary</a:t>
                      </a:r>
                    </a:p>
                  </a:txBody>
                  <a:tcPr marL="82296" marR="64008" marT="32004" marB="32004" anchor="ctr">
                    <a:solidFill>
                      <a:srgbClr val="FFFFFF"/>
                    </a:solidFill>
                  </a:tcPr>
                </a:tc>
                <a:tc>
                  <a:txBody>
                    <a:bodyPr wrap="square"/>
                    <a:lstStyle/>
                    <a:p>
                      <a:pPr algn="l"/>
                      <a:r>
                        <a:rPr sz="950" b="0">
                          <a:solidFill>
                            <a:srgbClr val="1C1C1E"/>
                          </a:solidFill>
                          <a:latin typeface="Calibri"/>
                        </a:rPr>
                        <a:t>Refer, or widen the assumption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illegal_transition</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lifecycle does not admit this move</a:t>
                      </a:r>
                    </a:p>
                  </a:txBody>
                  <a:tcPr marL="82296" marR="64008" marT="32004" marB="32004" anchor="ctr">
                    <a:solidFill>
                      <a:srgbClr val="F6F3EF"/>
                    </a:solidFill>
                  </a:tcPr>
                </a:tc>
                <a:tc>
                  <a:txBody>
                    <a:bodyPr wrap="square"/>
                    <a:lstStyle/>
                    <a:p>
                      <a:pPr algn="l"/>
                      <a:r>
                        <a:rPr sz="950" b="0">
                          <a:solidFill>
                            <a:srgbClr val="1C1C1E"/>
                          </a:solidFill>
                          <a:latin typeface="Calibri"/>
                        </a:rPr>
                        <a:t>Follow the remediation</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rule_unreachable</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A rule an earlier rule already covers</a:t>
                      </a:r>
                    </a:p>
                  </a:txBody>
                  <a:tcPr marL="82296" marR="64008" marT="32004" marB="32004" anchor="ctr">
                    <a:solidFill>
                      <a:srgbClr val="FFFFFF"/>
                    </a:solidFill>
                  </a:tcPr>
                </a:tc>
                <a:tc>
                  <a:txBody>
                    <a:bodyPr wrap="square"/>
                    <a:lstStyle/>
                    <a:p>
                      <a:pPr algn="l"/>
                      <a:r>
                        <a:rPr sz="950" b="0">
                          <a:solidFill>
                            <a:srgbClr val="1C1C1E"/>
                          </a:solidFill>
                          <a:latin typeface="Calibri"/>
                        </a:rPr>
                        <a:t>Reorder or delete the shadowed rule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anchor_disagreement</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chain and the heads written outside it no longer agree</a:t>
                      </a:r>
                    </a:p>
                  </a:txBody>
                  <a:tcPr marL="82296" marR="64008" marT="32004" marB="32004" anchor="ctr">
                    <a:solidFill>
                      <a:srgbClr val="F6F3EF"/>
                    </a:solidFill>
                  </a:tcPr>
                </a:tc>
                <a:tc>
                  <a:txBody>
                    <a:bodyPr wrap="square"/>
                    <a:lstStyle/>
                    <a:p>
                      <a:pPr algn="l"/>
                      <a:r>
                        <a:rPr sz="950" b="0">
                          <a:solidFill>
                            <a:srgbClr val="1C1C1E"/>
                          </a:solidFill>
                          <a:latin typeface="Calibri"/>
                        </a:rPr>
                        <a:t>Stop — a security event, not a bad request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no_entitlement</a:t>
                      </a:r>
                    </a:p>
                  </a:txBody>
                  <a:tcPr marL="82296" marR="64008" marT="32004" marB="32004" anchor="ctr">
                    <a:solidFill>
                      <a:srgbClr val="FFFFFF"/>
                    </a:solidFill>
                  </a:tcPr>
                </a:tc>
                <a:tc>
                  <a:txBody>
                    <a:bodyPr wrap="square"/>
                    <a:lstStyle/>
                    <a:p>
                      <a:pPr algn="l"/>
                      <a:r>
                        <a:rPr sz="950" b="0">
                          <a:solidFill>
                            <a:srgbClr val="1C1C1E"/>
                          </a:solidFill>
                          <a:latin typeface="Calibri"/>
                        </a:rPr>
                        <a:t>403</a:t>
                      </a:r>
                    </a:p>
                  </a:txBody>
                  <a:tcPr marL="82296" marR="64008" marT="32004" marB="32004" anchor="ctr">
                    <a:solidFill>
                      <a:srgbClr val="FFFFFF"/>
                    </a:solidFill>
                  </a:tcPr>
                </a:tc>
                <a:tc>
                  <a:txBody>
                    <a:bodyPr wrap="square"/>
                    <a:lstStyle/>
                    <a:p>
                      <a:pPr algn="l"/>
                      <a:r>
                        <a:rPr sz="95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950" b="0">
                          <a:solidFill>
                            <a:srgbClr val="1C1C1E"/>
                          </a:solidFill>
                          <a:latin typeface="Calibri"/>
                        </a:rPr>
                        <a:t>Request a grant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segregation_of_duties</a:t>
                      </a:r>
                    </a:p>
                  </a:txBody>
                  <a:tcPr marL="82296" marR="64008" marT="32004" marB="32004" anchor="ctr">
                    <a:solidFill>
                      <a:srgbClr val="F6F3EF"/>
                    </a:solidFill>
                  </a:tcPr>
                </a:tc>
                <a:tc>
                  <a:txBody>
                    <a:bodyPr wrap="square"/>
                    <a:lstStyle/>
                    <a:p>
                      <a:pPr algn="l"/>
                      <a:r>
                        <a:rPr sz="950" b="0">
                          <a:solidFill>
                            <a:srgbClr val="1C1C1E"/>
                          </a:solidFill>
                          <a:latin typeface="Calibri"/>
                        </a:rPr>
                        <a:t>403</a:t>
                      </a:r>
                    </a:p>
                  </a:txBody>
                  <a:tcPr marL="82296" marR="64008" marT="32004" marB="32004" anchor="ctr">
                    <a:solidFill>
                      <a:srgbClr val="F6F3EF"/>
                    </a:solidFill>
                  </a:tcPr>
                </a:tc>
                <a:tc>
                  <a:txBody>
                    <a:bodyPr wrap="square"/>
                    <a:lstStyle/>
                    <a:p>
                      <a:pPr algn="l"/>
                      <a:r>
                        <a:rPr sz="950" b="0">
                          <a:solidFill>
                            <a:srgbClr val="1C1C1E"/>
                          </a:solidFill>
                          <a:latin typeface="Calibri"/>
                        </a:rPr>
                        <a:t>You may not act twice on the same object</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 acts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restricted</a:t>
                      </a:r>
                    </a:p>
                  </a:txBody>
                  <a:tcPr marL="82296" marR="64008" marT="32004" marB="32004" anchor="ctr">
                    <a:solidFill>
                      <a:srgbClr val="FFFFFF"/>
                    </a:solidFill>
                  </a:tcPr>
                </a:tc>
                <a:tc>
                  <a:txBody>
                    <a:bodyPr wrap="square"/>
                    <a:lstStyle/>
                    <a:p>
                      <a:pPr algn="l"/>
                      <a:r>
                        <a:rPr sz="950" b="0">
                          <a:solidFill>
                            <a:srgbClr val="1C1C1E"/>
                          </a:solidFill>
                          <a:latin typeface="Calibri"/>
                        </a:rPr>
                        <a:t>423</a:t>
                      </a:r>
                    </a:p>
                  </a:txBody>
                  <a:tcPr marL="82296" marR="64008" marT="32004" marB="32004" anchor="ctr">
                    <a:solidFill>
                      <a:srgbClr val="FFFFFF"/>
                    </a:solidFill>
                  </a:tcPr>
                </a:tc>
                <a:tc>
                  <a:txBody>
                    <a:bodyPr wrap="square"/>
                    <a:lstStyle/>
                    <a:p>
                      <a:pPr algn="l"/>
                      <a:r>
                        <a:rPr sz="950" b="0">
                          <a:solidFill>
                            <a:srgbClr val="1C1C1E"/>
                          </a:solidFill>
                          <a:latin typeface="Calibri"/>
                        </a:rPr>
                        <a:t>A blocking finding or a suspension</a:t>
                      </a:r>
                    </a:p>
                  </a:txBody>
                  <a:tcPr marL="82296" marR="64008" marT="32004" marB="32004" anchor="ctr">
                    <a:solidFill>
                      <a:srgbClr val="FFFFFF"/>
                    </a:solidFill>
                  </a:tcPr>
                </a:tc>
                <a:tc>
                  <a:txBody>
                    <a:bodyPr wrap="square"/>
                    <a:lstStyle/>
                    <a:p>
                      <a:pPr algn="l"/>
                      <a:r>
                        <a:rPr sz="950" b="0">
                          <a:solidFill>
                            <a:srgbClr val="1C1C1E"/>
                          </a:solidFill>
                          <a:latin typeface="Calibri"/>
                        </a:rPr>
                        <a:t>Remediate, or break-glass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revoked</a:t>
                      </a:r>
                    </a:p>
                  </a:txBody>
                  <a:tcPr marL="82296" marR="64008" marT="32004" marB="32004" anchor="ctr">
                    <a:solidFill>
                      <a:srgbClr val="F6F3EF"/>
                    </a:solidFill>
                  </a:tcPr>
                </a:tc>
                <a:tc>
                  <a:txBody>
                    <a:bodyPr wrap="square"/>
                    <a:lstStyle/>
                    <a:p>
                      <a:pPr algn="l"/>
                      <a:r>
                        <a:rPr sz="950" b="0">
                          <a:solidFill>
                            <a:srgbClr val="1C1C1E"/>
                          </a:solidFill>
                          <a:latin typeface="Calibri"/>
                        </a:rPr>
                        <a:t>410</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is revoked</a:t>
                      </a:r>
                    </a:p>
                  </a:txBody>
                  <a:tcPr marL="82296" marR="64008" marT="32004" marB="32004" anchor="ctr">
                    <a:solidFill>
                      <a:srgbClr val="F6F3EF"/>
                    </a:solidFill>
                  </a:tcPr>
                </a:tc>
                <a:tc>
                  <a:txBody>
                    <a:bodyPr wrap="square"/>
                    <a:lstStyle/>
                    <a:p>
                      <a:pPr algn="l"/>
                      <a:r>
                        <a:rPr sz="950" b="0">
                          <a:solidFill>
                            <a:srgbClr val="1C1C1E"/>
                          </a:solidFill>
                          <a:latin typeface="Calibri"/>
                        </a:rPr>
                        <a:t>Stop — do not retry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provider_unavailable</a:t>
                      </a:r>
                    </a:p>
                  </a:txBody>
                  <a:tcPr marL="82296" marR="64008" marT="32004" marB="32004" anchor="ctr">
                    <a:solidFill>
                      <a:srgbClr val="FFFFFF"/>
                    </a:solidFill>
                  </a:tcPr>
                </a:tc>
                <a:tc>
                  <a:txBody>
                    <a:bodyPr wrap="square"/>
                    <a:lstStyle/>
                    <a:p>
                      <a:pPr algn="l"/>
                      <a:r>
                        <a:rPr sz="950" b="0">
                          <a:solidFill>
                            <a:srgbClr val="1C1C1E"/>
                          </a:solidFill>
                          <a:latin typeface="Calibri"/>
                        </a:rPr>
                        <a:t>501</a:t>
                      </a:r>
                    </a:p>
                  </a:txBody>
                  <a:tcPr marL="82296" marR="64008" marT="32004" marB="32004" anchor="ctr">
                    <a:solidFill>
                      <a:srgbClr val="FFFFFF"/>
                    </a:solidFill>
                  </a:tcPr>
                </a:tc>
                <a:tc>
                  <a:txBody>
                    <a:bodyPr wrap="square"/>
                    <a:lstStyle/>
                    <a:p>
                      <a:pPr algn="l"/>
                      <a:r>
                        <a:rPr sz="950" b="0">
                          <a:solidFill>
                            <a:srgbClr val="1C1C1E"/>
                          </a:solidFill>
                          <a:latin typeface="Calibri"/>
                        </a:rPr>
                        <a:t>This instance was never wired to a provider</a:t>
                      </a:r>
                    </a:p>
                  </a:txBody>
                  <a:tcPr marL="82296" marR="64008" marT="32004" marB="32004" anchor="ctr">
                    <a:solidFill>
                      <a:srgbClr val="FFFFFF"/>
                    </a:solidFill>
                  </a:tcPr>
                </a:tc>
                <a:tc>
                  <a:txBody>
                    <a:bodyPr wrap="square"/>
                    <a:lstStyle/>
                    <a:p>
                      <a:pPr algn="l"/>
                      <a:r>
                        <a:rPr sz="950" b="0">
                          <a:solidFill>
                            <a:srgbClr val="1C1C1E"/>
                          </a:solidFill>
                          <a:latin typeface="Calibri"/>
                        </a:rPr>
                        <a:t>A deployment decision, not a transient fault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fibration_incomplete</a:t>
                      </a:r>
                    </a:p>
                  </a:txBody>
                  <a:tcPr marL="82296" marR="64008" marT="32004" marB="32004" anchor="ctr">
                    <a:solidFill>
                      <a:srgbClr val="F6F3EF"/>
                    </a:solidFill>
                  </a:tcPr>
                </a:tc>
                <a:tc>
                  <a:txBody>
                    <a:bodyPr wrap="square"/>
                    <a:lstStyle/>
                    <a:p>
                      <a:pPr algn="l"/>
                      <a:r>
                        <a:rPr sz="950" b="0">
                          <a:solidFill>
                            <a:srgbClr val="1C1C1E"/>
                          </a:solidFill>
                          <a:latin typeface="Calibri"/>
                        </a:rPr>
                        <a:t>503</a:t>
                      </a:r>
                    </a:p>
                  </a:txBody>
                  <a:tcPr marL="82296" marR="64008" marT="32004" marB="32004" anchor="ctr">
                    <a:solidFill>
                      <a:srgbClr val="F6F3EF"/>
                    </a:solidFill>
                  </a:tcPr>
                </a:tc>
                <a:tc>
                  <a:txBody>
                    <a:bodyPr wrap="square"/>
                    <a:lstStyle/>
                    <a:p>
                      <a:pPr algn="l"/>
                      <a:r>
                        <a:rPr sz="950" b="0">
                          <a:solidFill>
                            <a:srgbClr val="1C1C1E"/>
                          </a:solidFill>
                          <a:latin typeface="Calibri"/>
                        </a:rPr>
                        <a:t>A model class with no fibre reached HTTP</a:t>
                      </a:r>
                    </a:p>
                  </a:txBody>
                  <a:tcPr marL="82296" marR="64008" marT="32004" marB="32004" anchor="ctr">
                    <a:solidFill>
                      <a:srgbClr val="F6F3EF"/>
                    </a:solidFill>
                  </a:tcPr>
                </a:tc>
                <a:tc>
                  <a:txBody>
                    <a:bodyPr wrap="square"/>
                    <a:lstStyle/>
                    <a:p>
                      <a:pPr algn="l"/>
                      <a:r>
                        <a:rPr sz="950" b="0">
                          <a:solidFill>
                            <a:srgbClr val="1C1C1E"/>
                          </a:solidFill>
                          <a:latin typeface="Calibri"/>
                        </a:rPr>
                        <a:t>This instance is not fit to answer</a:t>
                      </a:r>
                    </a:p>
                  </a:txBody>
                  <a:tcPr marL="82296" marR="64008" marT="32004" marB="32004" anchor="ctr">
                    <a:solidFill>
                      <a:srgbClr val="F6F3EF"/>
                    </a:solidFill>
                  </a:tcPr>
                </a:tc>
              </a:tr>
            </a:tbl>
          </a:graphicData>
        </a:graphic>
      </p:graphicFrame>
      <p:sp>
        <p:nvSpPr>
          <p:cNvPr id="11" name="TextBox 10"/>
          <p:cNvSpPr txBox="1"/>
          <p:nvPr/>
        </p:nvSpPr>
        <p:spPr>
          <a:xfrm>
            <a:off x="777240" y="5563971"/>
            <a:ext cx="10637215" cy="73152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fields, always: error, detail, remediation. </a:t>
            </a:r>
            <a:r>
              <a:rPr sz="1050" b="0" i="0">
                <a:solidFill>
                  <a:srgbClr val="1C1C1E"/>
                </a:solidFill>
                <a:latin typeface="Calibri"/>
              </a:rPr>
              <a:t>The code says what was refused, the detail says what was violated, and the remediation says what to do — not what went wrong. The status is a decision about who must act rather than about who is at fault, which is why provider_unavailable is 501 and not 503. 133 of the 312 are 422, 70 are 409, 35 are 403, 28 are 404. test_refusal_discipline.py asserts that every code maps to a status and that none is mapped twice.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THE HONEST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Operations — what is measured, and what is a target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sp>
        <p:nvSpPr>
          <p:cNvPr id="10" name="TextBox 9"/>
          <p:cNvSpPr txBox="1"/>
          <p:nvPr/>
        </p:nvSpPr>
        <p:spPr>
          <a:xfrm>
            <a:off x="777240"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a:t>
            </a:r>
          </a:p>
        </p:txBody>
      </p:sp>
      <p:graphicFrame>
        <p:nvGraphicFramePr>
          <p:cNvPr id="11" name="Table 10"/>
          <p:cNvGraphicFramePr>
            <a:graphicFrameLocks noGrp="1"/>
          </p:cNvGraphicFramePr>
          <p:nvPr/>
        </p:nvGraphicFramePr>
        <p:xfrm>
          <a:off x="777240" y="1682495"/>
          <a:ext cx="5105862" cy="3507864"/>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Surface</a:t>
                      </a:r>
                    </a:p>
                  </a:txBody>
                  <a:tcPr marL="82296" marR="64008" marT="32004" marB="32004" anchor="ctr">
                    <a:solidFill>
                      <a:srgbClr val="A51C30"/>
                    </a:solidFill>
                  </a:tcPr>
                </a:tc>
                <a:tc>
                  <a:txBody>
                    <a:bodyPr wrap="square"/>
                    <a:lstStyle/>
                    <a:p>
                      <a:pPr algn="l"/>
                      <a:r>
                        <a:rPr sz="950" b="1">
                          <a:solidFill>
                            <a:srgbClr val="FFFFFF"/>
                          </a:solidFill>
                          <a:latin typeface="Calibri"/>
                        </a:rPr>
                        <a:t>What it does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/health, /health/live</a:t>
                      </a:r>
                    </a:p>
                  </a:txBody>
                  <a:tcPr marL="82296" marR="64008" marT="32004" marB="32004" anchor="ctr">
                    <a:solidFill>
                      <a:srgbClr val="FFFFFF"/>
                    </a:solidFill>
                  </a:tcPr>
                </a:tc>
                <a:tc>
                  <a:txBody>
                    <a:bodyPr wrap="square"/>
                    <a:lstStyle/>
                    <a:p>
                      <a:pPr algn="l"/>
                      <a:r>
                        <a:rPr sz="900" b="0">
                          <a:solidFill>
                            <a:srgbClr val="1C1C1E"/>
                          </a:solidFill>
                          <a:latin typeface="Calibri"/>
                        </a:rPr>
                        <a:t>Trivial liveness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/health/ready</a:t>
                      </a:r>
                    </a:p>
                  </a:txBody>
                  <a:tcPr marL="82296" marR="64008" marT="32004" marB="32004" anchor="ctr">
                    <a:solidFill>
                      <a:srgbClr val="F6F3EF"/>
                    </a:solidFill>
                  </a:tcPr>
                </a:tc>
                <a:tc>
                  <a:txBody>
                    <a:bodyPr wrap="square"/>
                    <a:lstStyle/>
                    <a:p>
                      <a:pPr algn="l"/>
                      <a:r>
                        <a:rPr sz="900" b="0">
                          <a:solidFill>
                            <a:srgbClr val="1C1C1E"/>
                          </a:solidFill>
                          <a:latin typeface="Calibri"/>
                        </a:rPr>
                        <a:t>Includes the evidence chain and its anchors — a chain that does not verify returns 503, because the assurance claims cannot be trusted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25 scheduler jobs</a:t>
                      </a:r>
                    </a:p>
                  </a:txBody>
                  <a:tcPr marL="82296" marR="64008" marT="32004" marB="32004" anchor="ctr">
                    <a:solidFill>
                      <a:srgbClr val="FFFFFF"/>
                    </a:solidFill>
                  </a:tcPr>
                </a:tc>
                <a:tc>
                  <a:txBody>
                    <a:bodyPr wrap="square"/>
                    <a:lstStyle/>
                    <a:p>
                      <a:pPr algn="l"/>
                      <a:r>
                        <a:rPr sz="900" b="0">
                          <a:solidFill>
                            <a:srgbClr val="1C1C1E"/>
                          </a:solidFill>
                          <a:latin typeface="Calibri"/>
                        </a:rPr>
                        <a:t>Each idempotent, each re-deriving its own condition; anchoring and full chain verification are two of them</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One logger, one format</a:t>
                      </a:r>
                    </a:p>
                  </a:txBody>
                  <a:tcPr marL="82296" marR="64008" marT="32004" marB="32004" anchor="ctr">
                    <a:solidFill>
                      <a:srgbClr val="F6F3EF"/>
                    </a:solidFill>
                  </a:tcPr>
                </a:tc>
                <a:tc>
                  <a:txBody>
                    <a:bodyPr wrap="square"/>
                    <a:lstStyle/>
                    <a:p>
                      <a:pPr algn="l"/>
                      <a:r>
                        <a:rPr sz="900" b="0">
                          <a:solidFill>
                            <a:srgbClr val="1C1C1E"/>
                          </a:solidFill>
                          <a:latin typeface="Calibri"/>
                        </a:rPr>
                        <a:t>Request id and acting principal on every line; a refusal is logged at WARNING because it is a governance decision</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The scale suite</a:t>
                      </a:r>
                    </a:p>
                  </a:txBody>
                  <a:tcPr marL="82296" marR="64008" marT="32004" marB="32004" anchor="ctr">
                    <a:solidFill>
                      <a:srgbClr val="FFFFFF"/>
                    </a:solidFill>
                  </a:tcPr>
                </a:tc>
                <a:tc>
                  <a:txBody>
                    <a:bodyPr wrap="square"/>
                    <a:lstStyle/>
                    <a:p>
                      <a:pPr algn="l"/>
                      <a:r>
                        <a:rPr sz="900" b="0">
                          <a:solidFill>
                            <a:srgbClr val="1C1C1E"/>
                          </a:solidFill>
                          <a:latin typeface="Calibri"/>
                        </a:rPr>
                        <a:t>19 tests, marked scale and excluded by default. It asserts COMPLEXITY, not milliseconds — doubling the estate must not more than double the work</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test_laws.py</a:t>
                      </a:r>
                    </a:p>
                  </a:txBody>
                  <a:tcPr marL="82296" marR="64008" marT="32004" marB="32004" anchor="ctr">
                    <a:solidFill>
                      <a:srgbClr val="F6F3EF"/>
                    </a:solidFill>
                  </a:tcPr>
                </a:tc>
                <a:tc>
                  <a:txBody>
                    <a:bodyPr wrap="square"/>
                    <a:lstStyle/>
                    <a:p>
                      <a:pPr algn="l"/>
                      <a:r>
                        <a:rPr sz="900" b="0">
                          <a:solidFill>
                            <a:srgbClr val="1C1C1E"/>
                          </a:solidFill>
                          <a:latin typeface="Calibri"/>
                        </a:rPr>
                        <a:t>Eighteen of the twenty-one foundational laws are executable and run as tests; the three that do not are named with the reason. All fourteen warrant laws run before a signature</a:t>
                      </a:r>
                    </a:p>
                  </a:txBody>
                  <a:tcPr marL="82296" marR="64008" marT="32004" marB="32004" anchor="ctr">
                    <a:solidFill>
                      <a:srgbClr val="F6F3EF"/>
                    </a:solidFill>
                  </a:tcPr>
                </a:tc>
              </a:tr>
            </a:tbl>
          </a:graphicData>
        </a:graphic>
      </p:graphicFrame>
      <p:sp>
        <p:nvSpPr>
          <p:cNvPr id="12" name="TextBox 11"/>
          <p:cNvSpPr txBox="1"/>
          <p:nvPr/>
        </p:nvSpPr>
        <p:spPr>
          <a:xfrm>
            <a:off x="6308591"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Not built — and named rather than implied</a:t>
            </a:r>
          </a:p>
        </p:txBody>
      </p:sp>
      <p:graphicFrame>
        <p:nvGraphicFramePr>
          <p:cNvPr id="13" name="Table 12"/>
          <p:cNvGraphicFramePr>
            <a:graphicFrameLocks noGrp="1"/>
          </p:cNvGraphicFramePr>
          <p:nvPr/>
        </p:nvGraphicFramePr>
        <p:xfrm>
          <a:off x="6308591" y="1682495"/>
          <a:ext cx="5105862" cy="3522039"/>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Claimed elsewhere</a:t>
                      </a:r>
                    </a:p>
                  </a:txBody>
                  <a:tcPr marL="82296" marR="64008" marT="32004" marB="32004" anchor="ctr">
                    <a:solidFill>
                      <a:srgbClr val="A51C30"/>
                    </a:solidFill>
                  </a:tcPr>
                </a:tc>
                <a:tc>
                  <a:txBody>
                    <a:bodyPr wrap="square"/>
                    <a:lstStyle/>
                    <a:p>
                      <a:pPr algn="l"/>
                      <a:r>
                        <a:rPr sz="950" b="1">
                          <a:solidFill>
                            <a:srgbClr val="FFFFFF"/>
                          </a:solidFill>
                          <a:latin typeface="Calibri"/>
                        </a:rPr>
                        <a:t>Here</a:t>
                      </a:r>
                    </a:p>
                  </a:txBody>
                  <a:tcPr marL="82296" marR="64008" marT="32004" marB="32004" anchor="ctr">
                    <a:solidFill>
                      <a:srgbClr val="A51C30"/>
                    </a:solidFill>
                  </a:tcPr>
                </a:tc>
              </a:tr>
              <a:tr h="913257">
                <a:tc>
                  <a:txBody>
                    <a:bodyPr wrap="square"/>
                    <a:lstStyle/>
                    <a:p>
                      <a:pPr algn="l"/>
                      <a:r>
                        <a:rPr sz="900" b="1">
                          <a:solidFill>
                            <a:srgbClr val="A51C30"/>
                          </a:solidFill>
                          <a:latin typeface="Calibri"/>
                        </a:rPr>
                        <a:t>SLOs and error budgets</a:t>
                      </a:r>
                    </a:p>
                  </a:txBody>
                  <a:tcPr marL="82296" marR="64008" marT="32004" marB="32004" anchor="ctr">
                    <a:solidFill>
                      <a:srgbClr val="FFFFFF"/>
                    </a:solidFill>
                  </a:tcPr>
                </a:tc>
                <a:tc>
                  <a:txBody>
                    <a:bodyPr wrap="square"/>
                    <a:lstStyle/>
                    <a:p>
                      <a:pPr algn="l"/>
                      <a:r>
                        <a:rPr sz="900" b="0">
                          <a:solidFill>
                            <a:srgbClr val="1C1C1E"/>
                          </a:solidFill>
                          <a:latin typeface="Calibri"/>
                        </a:rPr>
                        <a:t>THREE are now measurements — tools/spikes/ — and one is a negative result worth more than a number: a point-in-time assembly at the target size does not fit in one process at ANY speed. Throughput, the scale figures and restore time are still targets</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Golden signals, dashboards</a:t>
                      </a:r>
                    </a:p>
                  </a:txBody>
                  <a:tcPr marL="82296" marR="64008" marT="32004" marB="32004" anchor="ctr">
                    <a:solidFill>
                      <a:srgbClr val="F6F3EF"/>
                    </a:solidFill>
                  </a:tcPr>
                </a:tc>
                <a:tc>
                  <a:txBody>
                    <a:bodyPr wrap="square"/>
                    <a:lstStyle/>
                    <a:p>
                      <a:pPr algn="l"/>
                      <a:r>
                        <a:rPr sz="900" b="0">
                          <a:solidFill>
                            <a:srgbClr val="1C1C1E"/>
                          </a:solidFill>
                          <a:latin typeface="Calibri"/>
                        </a:rPr>
                        <a:t>No Prometheus, no OpenTelemetry, no metrics endpoint. What exists is three health probes and a live log at /admin/logs — the last lines the process wrote, filtered by module, request or principal, with every line of one request joined by its id</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Runbooks</a:t>
                      </a:r>
                    </a:p>
                  </a:txBody>
                  <a:tcPr marL="82296" marR="64008" marT="32004" marB="32004" anchor="ctr">
                    <a:solidFill>
                      <a:srgbClr val="FFFFFF"/>
                    </a:solidFill>
                  </a:tcPr>
                </a:tc>
                <a:tc>
                  <a:txBody>
                    <a:bodyPr wrap="square"/>
                    <a:lstStyle/>
                    <a:p>
                      <a:pPr algn="l"/>
                      <a:r>
                        <a:rPr sz="900" b="0">
                          <a:solidFill>
                            <a:srgbClr val="1C1C1E"/>
                          </a:solidFill>
                          <a:latin typeface="Calibri"/>
                        </a:rPr>
                        <a:t>There are none. Of the ten the design lists, three name a subsystem or a topology that does not exist — outbox lag, cache stampede, regional failover</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A build that fails</a:t>
                      </a:r>
                    </a:p>
                  </a:txBody>
                  <a:tcPr marL="82296" marR="64008" marT="32004" marB="32004" anchor="ctr">
                    <a:solidFill>
                      <a:srgbClr val="F6F3EF"/>
                    </a:solidFill>
                  </a:tcPr>
                </a:tc>
                <a:tc>
                  <a:txBody>
                    <a:bodyPr wrap="square"/>
                    <a:lstStyle/>
                    <a:p>
                      <a:pPr algn="l"/>
                      <a:r>
                        <a:rPr sz="900" b="0">
                          <a:solidFill>
                            <a:srgbClr val="1C1C1E"/>
                          </a:solidFill>
                          <a:latin typeface="Calibri"/>
                        </a:rPr>
                        <a:t>CI runs the suite in four shards, thirteen discipline walkers, the laws, both SQL dialects, ruff (including bandit's S rules), a type checker, a spec-shape lock and a secret scanner, on every push. Coverage gates at 90%. Still absent: DAST and a generated client</a:t>
                      </a:r>
                    </a:p>
                  </a:txBody>
                  <a:tcPr marL="82296" marR="64008" marT="32004" marB="32004" anchor="ctr">
                    <a:solidFill>
                      <a:srgbClr val="F6F3EF"/>
                    </a:solidFill>
                  </a:tcPr>
                </a:tc>
              </a:tr>
            </a:tbl>
          </a:graphicData>
        </a:graphic>
      </p:graphicFrame>
      <p:sp>
        <p:nvSpPr>
          <p:cNvPr id="14" name="Rectangle 13"/>
          <p:cNvSpPr/>
          <p:nvPr/>
        </p:nvSpPr>
        <p:spPr>
          <a:xfrm>
            <a:off x="777240" y="542399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542399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51560" y="5542864"/>
            <a:ext cx="1008857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control asserted and not there is the failure this platform exists to prevent. </a:t>
            </a:r>
            <a:r>
              <a:rPr sz="1050" b="0" i="0">
                <a:solidFill>
                  <a:srgbClr val="1C1C1E"/>
                </a:solidFill>
                <a:latin typeface="Calibri"/>
              </a:rPr>
              <a:t>Which is why this page is a list of absences rather than a page of green targets. The capacity model — 1,500 models rising to 5,000, 25 M evidence nodes, 80 TB of Delta features — is a sizing projection and not a measurement, and full chain verification at forty thousand nodes was 2.9 seconds and 83 MB, which is measured.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Eight kinds of model against one definition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graphicFrame>
        <p:nvGraphicFramePr>
          <p:cNvPr id="10" name="Table 9"/>
          <p:cNvGraphicFramePr>
            <a:graphicFrameLocks noGrp="1"/>
          </p:cNvGraphicFramePr>
          <p:nvPr/>
        </p:nvGraphicFramePr>
        <p:xfrm>
          <a:off x="777240" y="1353312"/>
          <a:ext cx="10637212" cy="3265040"/>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Rule set</a:t>
                      </a:r>
                    </a:p>
                  </a:txBody>
                  <a:tcPr marL="82296" marR="64008" marT="32004" marB="32004" anchor="ctr">
                    <a:solidFill>
                      <a:srgbClr val="F6F3EF"/>
                    </a:solidFill>
                  </a:tcPr>
                </a:tc>
                <a:tc>
                  <a:txBody>
                    <a:bodyPr wrap="square"/>
                    <a:lstStyle/>
                    <a:p>
                      <a:pPr algn="l"/>
                      <a:r>
                        <a:rPr sz="950" b="0">
                          <a:solidFill>
                            <a:srgbClr val="1C1C1E"/>
                          </a:solidFill>
                          <a:latin typeface="Calibri"/>
                        </a:rPr>
                        <a:t>ordered rules, first match wins</a:t>
                      </a:r>
                    </a:p>
                  </a:txBody>
                  <a:tcPr marL="82296" marR="64008" marT="32004" marB="32004" anchor="ctr">
                    <a:solidFill>
                      <a:srgbClr val="F6F3EF"/>
                    </a:solidFill>
                  </a:tcPr>
                </a:tc>
                <a:tc>
                  <a:txBody>
                    <a:bodyPr wrap="square"/>
                    <a:lstStyle/>
                    <a:p>
                      <a:pPr algn="l"/>
                      <a:r>
                        <a:rPr sz="950" b="0">
                          <a:solidFill>
                            <a:srgbClr val="1C1C1E"/>
                          </a:solidFill>
                          <a:latin typeface="Calibri"/>
                        </a:rPr>
                        <a:t>somebody wrote them down</a:t>
                      </a:r>
                    </a:p>
                  </a:txBody>
                  <a:tcPr marL="82296" marR="64008" marT="32004" marB="32004" anchor="ctr">
                    <a:solidFill>
                      <a:srgbClr val="F6F3EF"/>
                    </a:solidFill>
                  </a:tcPr>
                </a:tc>
                <a:tc>
                  <a:txBody>
                    <a:bodyPr wrap="square"/>
                    <a:lstStyle/>
                    <a:p>
                      <a:pPr algn="l"/>
                      <a:r>
                        <a:rPr sz="950" b="0">
                          <a:solidFill>
                            <a:srgbClr val="1C1C1E"/>
                          </a:solidFill>
                          <a:latin typeface="Calibri"/>
                        </a:rPr>
                        <a:t>rule_set</a:t>
                      </a:r>
                    </a:p>
                  </a:txBody>
                  <a:tcPr marL="82296" marR="64008" marT="32004" marB="32004" anchor="ctr">
                    <a:solidFill>
                      <a:srgbClr val="F6F3EF"/>
                    </a:solidFill>
                  </a:tcPr>
                </a:tc>
                <a:tc>
                  <a:txBody>
                    <a:bodyPr wrap="square"/>
                    <a:lstStyle/>
                    <a:p>
                      <a:pPr algn="l"/>
                      <a:r>
                        <a:rPr sz="950" b="0">
                          <a:solidFill>
                            <a:srgbClr val="1C1C1E"/>
                          </a:solidFill>
                          <a:latin typeface="Calibri"/>
                        </a:rPr>
                        <a:t>author</a:t>
                      </a:r>
                    </a:p>
                  </a:txBody>
                  <a:tcPr marL="82296" marR="64008" marT="32004" marB="32004" anchor="ctr">
                    <a:solidFill>
                      <a:srgbClr val="F6F3EF"/>
                    </a:solidFill>
                  </a:tcPr>
                </a:tc>
                <a:tc>
                  <a:txBody>
                    <a:bodyPr wrap="square"/>
                    <a:lstStyle/>
                    <a:p>
                      <a:pPr algn="l"/>
                      <a:r>
                        <a:rPr sz="950" b="0">
                          <a:solidFill>
                            <a:srgbClr val="1C1C1E"/>
                          </a:solidFill>
                          <a:latin typeface="Calibri"/>
                        </a:rPr>
                        <a:t>T8</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FFFF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FFFF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FFFFF"/>
                    </a:solidFill>
                  </a:tcPr>
                </a:tc>
                <a:tc>
                  <a:txBody>
                    <a:bodyPr wrap="square"/>
                    <a:lstStyle/>
                    <a:p>
                      <a:pPr algn="l"/>
                      <a:r>
                        <a:rPr sz="950" b="0">
                          <a:solidFill>
                            <a:srgbClr val="1C1C1E"/>
                          </a:solidFill>
                          <a:latin typeface="Calibri"/>
                        </a:rPr>
                        <a:t>opaque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T6</a:t>
                      </a:r>
                    </a:p>
                  </a:txBody>
                  <a:tcPr marL="82296" marR="64008" marT="32004" marB="32004" anchor="ctr">
                    <a:solidFill>
                      <a:srgbClr val="FFFFFF"/>
                    </a:solidFill>
                  </a:tcPr>
                </a:tc>
              </a:tr>
            </a:tbl>
          </a:graphicData>
        </a:graphic>
      </p:graphicFrame>
      <p:sp>
        <p:nvSpPr>
          <p:cNvPr id="11" name="Rectangle 10"/>
          <p:cNvSpPr/>
          <p:nvPr/>
        </p:nvSpPr>
        <p:spPr>
          <a:xfrm>
            <a:off x="777240" y="4874387"/>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874387"/>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93259"/>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graphicFrame>
        <p:nvGraphicFramePr>
          <p:cNvPr id="10" name="Table 9"/>
          <p:cNvGraphicFramePr>
            <a:graphicFrameLocks noGrp="1"/>
          </p:cNvGraphicFramePr>
          <p:nvPr/>
        </p:nvGraphicFramePr>
        <p:xfrm>
          <a:off x="777240" y="1353312"/>
          <a:ext cx="10637213" cy="2594610"/>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 document</a:t>
                      </a:r>
                    </a:p>
                  </a:txBody>
                  <a:tcPr marL="82296" marR="64008" marT="32004" marB="32004" anchor="ctr">
                    <a:solidFill>
                      <a:srgbClr val="F6F3EF"/>
                    </a:solidFill>
                  </a:tcPr>
                </a:tc>
                <a:tc>
                  <a:txBody>
                    <a:bodyPr wrap="square"/>
                    <a:lstStyle/>
                    <a:p>
                      <a:pPr algn="l"/>
                      <a:r>
                        <a:rPr sz="1000" b="0">
                          <a:solidFill>
                            <a:srgbClr val="1C1C1E"/>
                          </a:solidFill>
                          <a:latin typeface="Calibri"/>
                        </a:rPr>
                        <a:t>tens of rules</a:t>
                      </a:r>
                    </a:p>
                  </a:txBody>
                  <a:tcPr marL="82296" marR="64008" marT="32004" marB="32004" anchor="ctr">
                    <a:solidFill>
                      <a:srgbClr val="F6F3EF"/>
                    </a:solidFill>
                  </a:tcPr>
                </a:tc>
                <a:tc>
                  <a:txBody>
                    <a:bodyPr wrap="square"/>
                    <a:lstStyle/>
                    <a:p>
                      <a:pPr algn="l"/>
                      <a:r>
                        <a:rPr sz="1000" b="0">
                          <a:solidFill>
                            <a:srgbClr val="1C1C1E"/>
                          </a:solidFill>
                          <a:latin typeface="Calibri"/>
                        </a:rPr>
                        <a:t>the register, as a parsed tree</a:t>
                      </a:r>
                    </a:p>
                  </a:txBody>
                  <a:tcPr marL="82296" marR="64008" marT="32004" marB="32004" anchor="ctr">
                    <a:solidFill>
                      <a:srgbClr val="F6F3E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6F3EF"/>
                    </a:solidFill>
                  </a:tcPr>
                </a:tc>
                <a:tc>
                  <a:txBody>
                    <a:bodyPr wrap="square"/>
                    <a:lstStyle/>
                    <a:p>
                      <a:pPr algn="l"/>
                      <a:r>
                        <a:rPr sz="1000" b="0">
                          <a:solidFill>
                            <a:srgbClr val="1C1C1E"/>
                          </a:solidFill>
                          <a:latin typeface="Calibri"/>
                        </a:rPr>
                        <a:t>the canonical form, re-digested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zero</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FFFF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FFFFF"/>
                    </a:solidFill>
                  </a:tcPr>
                </a:tc>
              </a:tr>
            </a:tbl>
          </a:graphicData>
        </a:graphic>
      </p:graphicFrame>
      <p:sp>
        <p:nvSpPr>
          <p:cNvPr id="11" name="Rectangle 10"/>
          <p:cNvSpPr/>
          <p:nvPr/>
        </p:nvSpPr>
        <p:spPr>
          <a:xfrm>
            <a:off x="777240" y="422224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2224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4111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P is a record — an estimate, a calibration, and a seed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graphicFrame>
        <p:nvGraphicFramePr>
          <p:cNvPr id="10" name="Table 9"/>
          <p:cNvGraphicFramePr>
            <a:graphicFrameLocks noGrp="1"/>
          </p:cNvGraphicFramePr>
          <p:nvPr/>
        </p:nvGraphicFramePr>
        <p:xfrm>
          <a:off x="777240" y="1764792"/>
          <a:ext cx="10637212" cy="2073348"/>
        </p:xfrm>
        <a:graphic>
          <a:graphicData uri="http://schemas.openxmlformats.org/drawingml/2006/table">
            <a:tbl>
              <a:tblPr firstRow="1">
                <a:tableStyleId>{5C22544A-7EE6-4342-B048-85BDC9FD1C3A}</a:tableStyleId>
              </a:tblPr>
              <a:tblGrid>
                <a:gridCol w="1506938"/>
                <a:gridCol w="2127443"/>
                <a:gridCol w="2836590"/>
                <a:gridCol w="1861512"/>
                <a:gridCol w="2304729"/>
              </a:tblGrid>
              <a:tr h="329184">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P is</a:t>
                      </a:r>
                    </a:p>
                  </a:txBody>
                  <a:tcPr marL="82296" marR="64008" marT="32004" marB="32004" anchor="ctr">
                    <a:solidFill>
                      <a:srgbClr val="A51C30"/>
                    </a:solidFill>
                  </a:tcPr>
                </a:tc>
                <a:tc>
                  <a:txBody>
                    <a:bodyPr wrap="square"/>
                    <a:lstStyle/>
                    <a:p>
                      <a:pPr algn="l"/>
                      <a:r>
                        <a:rPr sz="900" b="1">
                          <a:solidFill>
                            <a:srgbClr val="FFFFFF"/>
                          </a:solidFill>
                          <a:latin typeface="Calibri"/>
                        </a:rPr>
                        <a:t>Filled by</a:t>
                      </a:r>
                    </a:p>
                  </a:txBody>
                  <a:tcPr marL="82296" marR="64008" marT="32004" marB="32004" anchor="ctr">
                    <a:solidFill>
                      <a:srgbClr val="A51C30"/>
                    </a:solidFill>
                  </a:tcPr>
                </a:tc>
                <a:tc>
                  <a:txBody>
                    <a:bodyPr wrap="square"/>
                    <a:lstStyle/>
                    <a:p>
                      <a:pPr algn="l"/>
                      <a:r>
                        <a:rPr sz="900" b="1">
                          <a:solidFill>
                            <a:srgbClr val="FFFFFF"/>
                          </a:solidFill>
                          <a:latin typeface="Calibri"/>
                        </a:rPr>
                        <a:t>Kind · class</a:t>
                      </a:r>
                    </a:p>
                  </a:txBody>
                  <a:tcPr marL="82296" marR="64008" marT="32004" marB="32004" anchor="ctr">
                    <a:solidFill>
                      <a:srgbClr val="A51C30"/>
                    </a:solidFill>
                  </a:tcPr>
                </a:tc>
                <a:tc>
                  <a:txBody>
                    <a:bodyPr wrap="square"/>
                    <a:lstStyle/>
                    <a:p>
                      <a:pPr algn="l"/>
                      <a:r>
                        <a:rPr sz="900" b="1">
                          <a:solidFill>
                            <a:srgbClr val="FFFFFF"/>
                          </a:solidFill>
                          <a:latin typeface="Calibri"/>
                        </a:rPr>
                        <a:t>What review reads first</a:t>
                      </a:r>
                    </a:p>
                  </a:txBody>
                  <a:tcPr marL="82296" marR="64008" marT="32004" marB="32004" anchor="ctr">
                    <a:solidFill>
                      <a:srgbClr val="A51C30"/>
                    </a:solidFill>
                  </a:tcPr>
                </a:tc>
              </a:tr>
              <a:tr h="436041">
                <a:tc>
                  <a:txBody>
                    <a:bodyPr wrap="square"/>
                    <a:lstStyle/>
                    <a:p>
                      <a:pPr algn="l"/>
                      <a:r>
                        <a:rPr sz="850" b="1">
                          <a:solidFill>
                            <a:srgbClr val="A51C30"/>
                          </a:solidFill>
                          <a:latin typeface="Calibri"/>
                        </a:rPr>
                        <a:t>Linear regression</a:t>
                      </a:r>
                    </a:p>
                  </a:txBody>
                  <a:tcPr marL="82296" marR="64008" marT="32004" marB="32004" anchor="ctr">
                    <a:solidFill>
                      <a:srgbClr val="FFFFFF"/>
                    </a:solidFill>
                  </a:tcPr>
                </a:tc>
                <a:tc>
                  <a:txBody>
                    <a:bodyPr wrap="square"/>
                    <a:lstStyle/>
                    <a:p>
                      <a:pPr algn="l"/>
                      <a:r>
                        <a:rPr sz="85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850" b="0">
                          <a:solidFill>
                            <a:srgbClr val="1C1C1E"/>
                          </a:solidFill>
                          <a:latin typeface="Calibri"/>
                        </a:rPr>
                        <a:t>ordinary least squares, in MAYA's estimator</a:t>
                      </a:r>
                    </a:p>
                  </a:txBody>
                  <a:tcPr marL="82296" marR="64008" marT="32004" marB="32004" anchor="ctr">
                    <a:solidFill>
                      <a:srgbClr val="FFFFF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FFFFF"/>
                    </a:solidFill>
                  </a:tcPr>
                </a:tc>
                <a:tc>
                  <a:txBody>
                    <a:bodyPr wrap="square"/>
                    <a:lstStyle/>
                    <a:p>
                      <a:pPr algn="l"/>
                      <a:r>
                        <a:rPr sz="850" b="0">
                          <a:solidFill>
                            <a:srgbClr val="1C1C1E"/>
                          </a:solidFill>
                          <a:latin typeface="Calibri"/>
                        </a:rPr>
                        <a:t>the condition number, before the R-squared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GARCH / ARIMA</a:t>
                      </a:r>
                    </a:p>
                  </a:txBody>
                  <a:tcPr marL="82296" marR="64008" marT="32004" marB="32004" anchor="ctr">
                    <a:solidFill>
                      <a:srgbClr val="F6F3EF"/>
                    </a:solidFill>
                  </a:tcPr>
                </a:tc>
                <a:tc>
                  <a:txBody>
                    <a:bodyPr wrap="square"/>
                    <a:lstStyle/>
                    <a:p>
                      <a:pPr algn="l"/>
                      <a:r>
                        <a:rPr sz="850" b="0">
                          <a:solidFill>
                            <a:srgbClr val="1C1C1E"/>
                          </a:solidFill>
                          <a:latin typeface="Calibri"/>
                        </a:rPr>
                        <a:t>omega, alpha, beta</a:t>
                      </a:r>
                    </a:p>
                  </a:txBody>
                  <a:tcPr marL="82296" marR="64008" marT="32004" marB="32004" anchor="ctr">
                    <a:solidFill>
                      <a:srgbClr val="F6F3EF"/>
                    </a:solidFill>
                  </a:tcPr>
                </a:tc>
                <a:tc>
                  <a:txBody>
                    <a:bodyPr wrap="square"/>
                    <a:lstStyle/>
                    <a:p>
                      <a:pPr algn="l"/>
                      <a:r>
                        <a:rPr sz="850" b="0">
                          <a:solidFill>
                            <a:srgbClr val="1C1C1E"/>
                          </a:solidFill>
                          <a:latin typeface="Calibri"/>
                        </a:rPr>
                        <a:t>maximum likelihood; an unconverged fit is refused</a:t>
                      </a:r>
                    </a:p>
                  </a:txBody>
                  <a:tcPr marL="82296" marR="64008" marT="32004" marB="32004" anchor="ctr">
                    <a:solidFill>
                      <a:srgbClr val="F6F3E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6F3EF"/>
                    </a:solidFill>
                  </a:tcPr>
                </a:tc>
                <a:tc>
                  <a:txBody>
                    <a:bodyPr wrap="square"/>
                    <a:lstStyle/>
                    <a:p>
                      <a:pPr algn="l"/>
                      <a:r>
                        <a:rPr sz="850" b="0">
                          <a:solidFill>
                            <a:srgbClr val="1C1C1E"/>
                          </a:solidFill>
                          <a:latin typeface="Calibri"/>
                        </a:rPr>
                        <a:t>convergence, and alpha + beta &lt; 1, enforced while solving</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Hull-White</a:t>
                      </a:r>
                    </a:p>
                  </a:txBody>
                  <a:tcPr marL="82296" marR="64008" marT="32004" marB="32004" anchor="ctr">
                    <a:solidFill>
                      <a:srgbClr val="FFFFFF"/>
                    </a:solidFill>
                  </a:tcPr>
                </a:tc>
                <a:tc>
                  <a:txBody>
                    <a:bodyPr wrap="square"/>
                    <a:lstStyle/>
                    <a:p>
                      <a:pPr algn="l"/>
                      <a:r>
                        <a:rPr sz="85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850" b="0">
                          <a:solidFill>
                            <a:srgbClr val="1C1C1E"/>
                          </a:solidFill>
                          <a:latin typeface="Calibri"/>
                        </a:rPr>
                        <a:t>a solver against the swaption grid, one set a morning</a:t>
                      </a:r>
                    </a:p>
                  </a:txBody>
                  <a:tcPr marL="82296" marR="64008" marT="32004" marB="32004" anchor="ctr">
                    <a:solidFill>
                      <a:srgbClr val="FFFFF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FFFFF"/>
                    </a:solidFill>
                  </a:tcPr>
                </a:tc>
                <a:tc>
                  <a:txBody>
                    <a:bodyPr wrap="square"/>
                    <a:lstStyle/>
                    <a:p>
                      <a:pPr algn="l"/>
                      <a:r>
                        <a:rPr sz="850" b="0">
                          <a:solidFill>
                            <a:srgbClr val="1C1C1E"/>
                          </a:solidFill>
                          <a:latin typeface="Calibri"/>
                        </a:rPr>
                        <a:t>the residuals - there is no label to wait for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Monte Carlo XVA</a:t>
                      </a:r>
                    </a:p>
                  </a:txBody>
                  <a:tcPr marL="82296" marR="64008" marT="32004" marB="32004" anchor="ctr">
                    <a:solidFill>
                      <a:srgbClr val="F6F3EF"/>
                    </a:solidFill>
                  </a:tcPr>
                </a:tc>
                <a:tc>
                  <a:txBody>
                    <a:bodyPr wrap="square"/>
                    <a:lstStyle/>
                    <a:p>
                      <a:pPr algn="l"/>
                      <a:r>
                        <a:rPr sz="850" b="0">
                          <a:solidFill>
                            <a:srgbClr val="1C1C1E"/>
                          </a:solidFill>
                          <a:latin typeface="Calibri"/>
                        </a:rPr>
                        <a:t>parameters, seed, paths, scheme, antithetic</a:t>
                      </a:r>
                    </a:p>
                  </a:txBody>
                  <a:tcPr marL="82296" marR="64008" marT="32004" marB="32004" anchor="ctr">
                    <a:solidFill>
                      <a:srgbClr val="F6F3EF"/>
                    </a:solidFill>
                  </a:tcPr>
                </a:tc>
                <a:tc>
                  <a:txBody>
                    <a:bodyPr wrap="square"/>
                    <a:lstStyle/>
                    <a:p>
                      <a:pPr algn="l"/>
                      <a:r>
                        <a:rPr sz="85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6F3EF"/>
                    </a:solidFill>
                  </a:tcPr>
                </a:tc>
                <a:tc>
                  <a:txBody>
                    <a:bodyPr wrap="square"/>
                    <a:lstStyle/>
                    <a:p>
                      <a:pPr algn="l"/>
                      <a:r>
                        <a:rPr sz="850" b="0">
                          <a:solidFill>
                            <a:srgbClr val="1C1C1E"/>
                          </a:solidFill>
                          <a:latin typeface="Calibri"/>
                        </a:rPr>
                        <a:t>the standard error, and any determinism claim</a:t>
                      </a:r>
                    </a:p>
                  </a:txBody>
                  <a:tcPr marL="82296" marR="64008" marT="32004" marB="32004" anchor="ctr">
                    <a:solidFill>
                      <a:srgbClr val="F6F3EF"/>
                    </a:solidFill>
                  </a:tcPr>
                </a:tc>
              </a:tr>
            </a:tbl>
          </a:graphicData>
        </a:graphic>
      </p:graphicFrame>
      <p:sp>
        <p:nvSpPr>
          <p:cNvPr id="11" name="Rectangle 10"/>
          <p:cNvSpPr/>
          <p:nvPr/>
        </p:nvSpPr>
        <p:spPr>
          <a:xfrm>
            <a:off x="777240"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Values, digested</a:t>
            </a:r>
          </a:p>
        </p:txBody>
      </p:sp>
      <p:sp>
        <p:nvSpPr>
          <p:cNvPr id="15" name="TextBox 14"/>
          <p:cNvSpPr txBox="1"/>
          <p:nvPr/>
        </p:nvSpPr>
        <p:spPr>
          <a:xfrm>
            <a:off x="996695"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Rows in the parameter register. The digest is re-derived from the values at resolve time, never compared against a stored copy of itself.</a:t>
            </a:r>
          </a:p>
        </p:txBody>
      </p:sp>
      <p:sp>
        <p:nvSpPr>
          <p:cNvPr id="16" name="Rectangle 15"/>
          <p:cNvSpPr/>
          <p:nvPr/>
        </p:nvSpPr>
        <p:spPr>
          <a:xfrm>
            <a:off x="4408322"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One review, or one envelope</a:t>
            </a:r>
          </a:p>
        </p:txBody>
      </p:sp>
      <p:sp>
        <p:nvSpPr>
          <p:cNvPr id="20" name="TextBox 19"/>
          <p:cNvSpPr txBox="1"/>
          <p:nvPr/>
        </p:nvSpPr>
        <p:spPr>
          <a:xfrm>
            <a:off x="4627778"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Where sets are rare, each is approved by somebody who did not record it. Where there are 250 a year, a versioned, case-tested envelope accepts what fits and holds what does not - and a gate with no refusing case is refused at publication.</a:t>
            </a:r>
          </a:p>
        </p:txBody>
      </p:sp>
      <p:sp>
        <p:nvSpPr>
          <p:cNvPr id="21" name="Rectangle 20"/>
          <p:cNvSpPr/>
          <p:nvPr/>
        </p:nvSpPr>
        <p:spPr>
          <a:xfrm>
            <a:off x="8039404"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The warrant names the set</a:t>
            </a:r>
          </a:p>
        </p:txBody>
      </p:sp>
      <p:sp>
        <p:nvSpPr>
          <p:cNvPr id="25" name="TextBox 24"/>
          <p:cNvSpPr txBox="1"/>
          <p:nvPr/>
        </p:nvSpPr>
        <p:spPr>
          <a:xfrm>
            <a:off x="8258860"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648655"/>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648655"/>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767527"/>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An estimate and a calibration differ in what the numbers are for, not in the mathematics. </a:t>
            </a:r>
            <a:r>
              <a:rPr sz="850" b="0" i="0">
                <a:solidFill>
                  <a:srgbClr val="1C1C1E"/>
                </a:solidFill>
                <a:latin typeface="Calibri"/>
              </a:rPr>
              <a:t>An estimate summarises a history; a calibration reproduces a market, and provenance says which - so calibrated is its own class rather than a kind of training, and nobody approves 250 calibrations a year. The captive engine implements ols and garch11 only: fit the rest in your own engine, deliver the parameters back under the warrant, and none of the governance changes.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authored rule set - where P is a document somebody wrote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ordered rules, first match wins, a stated otherwise</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a parsed document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authorship - nothing was fitted</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wrote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rule_set / author</a:t>
                      </a:r>
                    </a:p>
                  </a:txBody>
                  <a:tcPr marL="82296" marR="64008" marT="32004" marB="32004" anchor="ctr">
                    <a:solidFill>
                      <a:srgbClr val="FFFFFF"/>
                    </a:solidFill>
                  </a:tcPr>
                </a:tc>
                <a:tc>
                  <a:txBody>
                    <a:bodyPr wrap="square"/>
                    <a:lstStyle/>
                    <a:p>
                      <a:pPr algn="l"/>
                      <a:r>
                        <a:rPr sz="1000" b="0">
                          <a:solidFill>
                            <a:srgbClr val="1C1C1E"/>
                          </a:solidFill>
                          <a:latin typeface="Calibri"/>
                        </a:rPr>
                        <a:t>class T8,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rules</a:t>
                      </a:r>
                    </a:p>
                  </a:txBody>
                  <a:tcPr marL="82296" marR="64008" marT="32004" marB="32004" anchor="ctr">
                    <a:solidFill>
                      <a:srgbClr val="F6F3EF"/>
                    </a:solidFill>
                  </a:tcPr>
                </a:tc>
                <a:tc>
                  <a:txBody>
                    <a:bodyPr wrap="square"/>
                    <a:lstStyle/>
                    <a:p>
                      <a:pPr algn="l"/>
                      <a:r>
                        <a:rPr sz="1000" b="0">
                          <a:solidFill>
                            <a:srgbClr val="1C1C1E"/>
                          </a:solidFill>
                          <a:latin typeface="Calibri"/>
                        </a:rPr>
                        <a:t>a condition is a tree, not an expression string</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parsed form is what is digested</a:t>
            </a:r>
          </a:p>
        </p:txBody>
      </p:sp>
      <p:sp>
        <p:nvSpPr>
          <p:cNvPr id="15" name="TextBox 14"/>
          <p:cNvSpPr txBox="1"/>
          <p:nvPr/>
        </p:nvSpPr>
        <p:spPr>
          <a:xfrm>
            <a:off x="996695"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Reformatting the document is not a new parameter set. Reordering the rules is, because first match wins and order is meaning.</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like any other P</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By somebody other than the author. Every rule carries a because - a rule with no stated reason cannot be defended, reviewed, or retired later.</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refusal no spreadsheet gives you</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A rule an earlier rule already covers can never fire. Publishing is refused: rule_unreachable, naming the rule that shadows it.</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 rule that never fires never produces a wrong answer. </a:t>
            </a:r>
            <a:r>
              <a:rPr sz="850" b="0" i="0">
                <a:solidFill>
                  <a:srgbClr val="1C1C1E"/>
                </a:solidFill>
                <a:latin typeface="Calibri"/>
              </a:rPr>
              <a:t>It appears in the model card, gets cited in a committee paper and survives every review - a control reporting success while doing nothing. The analysis is deliberately sound and incomplete: it calls a rule unreachable only when a SINGLE earlier rule covers it, because a check that cries wolf is a check somebody turns off.</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254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keyed to the same entity: the index is what is being modelled and the rate is a feature of it.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 the hole is in the series, not in the example.</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111</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 data every number in this chapter was computed from, with its provenance in the header — which series, from where, retrieved when, what each column means.</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254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as CSV, at docs/examples/. </a:t>
            </a:r>
            <a:r>
              <a:rPr sz="1050" b="0" i="0">
                <a:solidFill>
                  <a:srgbClr val="1C1C1E"/>
                </a:solidFill>
                <a:latin typeface="Calibri"/>
              </a:rPr>
              <a:t>The generator reads those same two files when it draws these slides, so the figures and the data </a:t>
            </a:r>
            <a:r>
              <a:rPr sz="1050" b="1" i="0">
                <a:solidFill>
                  <a:srgbClr val="1C1C1E"/>
                </a:solidFill>
                <a:latin typeface="Calibri"/>
              </a:rPr>
              <a:t>cannot drift apart.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26</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Thirteen Worked Case Studies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Thirteen real models across seven industries, registered end to end — fitted outside MAYA, governed inside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they are</a:t>
            </a:r>
          </a:p>
          <a:p>
            <a:pPr>
              <a:lnSpc>
                <a:spcPct val="115000"/>
              </a:lnSpc>
              <a:spcBef>
                <a:spcPts val="0"/>
              </a:spcBef>
              <a:spcAft>
                <a:spcPts val="700"/>
              </a:spcAft>
            </a:pPr>
            <a:r>
              <a:rPr sz="1150" b="0" i="0">
                <a:solidFill>
                  <a:srgbClr val="F6E6E9"/>
                </a:solidFill>
                <a:latin typeface="Calibri"/>
              </a:rPr>
              <a:t>The boundary they draw</a:t>
            </a:r>
          </a:p>
          <a:p>
            <a:pPr>
              <a:lnSpc>
                <a:spcPct val="115000"/>
              </a:lnSpc>
              <a:spcBef>
                <a:spcPts val="0"/>
              </a:spcBef>
              <a:spcAft>
                <a:spcPts val="700"/>
              </a:spcAft>
            </a:pPr>
            <a:r>
              <a:rPr sz="1150" b="0" i="0">
                <a:solidFill>
                  <a:srgbClr val="F6E6E9"/>
                </a:solidFill>
                <a:latin typeface="Calibri"/>
              </a:rPr>
              <a:t>Each one, and its point</a:t>
            </a:r>
          </a:p>
          <a:p>
            <a:pPr>
              <a:lnSpc>
                <a:spcPct val="115000"/>
              </a:lnSpc>
              <a:spcBef>
                <a:spcPts val="0"/>
              </a:spcBef>
              <a:spcAft>
                <a:spcPts val="700"/>
              </a:spcAft>
            </a:pPr>
            <a:r>
              <a:rPr sz="1150" b="0" i="0">
                <a:solidFill>
                  <a:srgbClr val="F6E6E9"/>
                </a:solidFill>
                <a:latin typeface="Calibri"/>
              </a:rPr>
              <a:t>What the platform refused</a:t>
            </a:r>
          </a:p>
          <a:p>
            <a:pPr>
              <a:lnSpc>
                <a:spcPct val="115000"/>
              </a:lnSpc>
              <a:spcBef>
                <a:spcPts val="0"/>
              </a:spcBef>
              <a:spcAft>
                <a:spcPts val="700"/>
              </a:spcAft>
            </a:pPr>
            <a:r>
              <a:rPr sz="1150" b="0" i="0">
                <a:solidFill>
                  <a:srgbClr val="F6E6E9"/>
                </a:solidFill>
                <a:latin typeface="Calibri"/>
              </a:rPr>
              <a:t>What they do not cover</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(1 OF 2)</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banking models, chosen to cover the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114</a:t>
            </a:r>
          </a:p>
        </p:txBody>
      </p:sp>
      <p:graphicFrame>
        <p:nvGraphicFramePr>
          <p:cNvPr id="10" name="Table 9"/>
          <p:cNvGraphicFramePr>
            <a:graphicFrameLocks noGrp="1"/>
          </p:cNvGraphicFramePr>
          <p:nvPr/>
        </p:nvGraphicFramePr>
        <p:xfrm>
          <a:off x="777240" y="1353312"/>
          <a:ext cx="10637213" cy="3081782"/>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1000" b="1">
                          <a:solidFill>
                            <a:srgbClr val="FFFFFF"/>
                          </a:solidFill>
                          <a:latin typeface="Calibri"/>
                        </a:rPr>
                        <a:t>#</a:t>
                      </a:r>
                    </a:p>
                  </a:txBody>
                  <a:tcPr marL="82296" marR="64008" marT="32004" marB="32004" anchor="ctr">
                    <a:solidFill>
                      <a:srgbClr val="A51C30"/>
                    </a:solidFill>
                  </a:tcPr>
                </a:tc>
                <a:tc>
                  <a:txBody>
                    <a:bodyPr wrap="square"/>
                    <a:lstStyle/>
                    <a:p>
                      <a:pPr algn="l"/>
                      <a:r>
                        <a:rPr sz="1000" b="1">
                          <a:solidFill>
                            <a:srgbClr val="FFFFFF"/>
                          </a:solidFill>
                          <a:latin typeface="Calibri"/>
                        </a:rPr>
                        <a:t>Model</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Domain</a:t>
                      </a:r>
                    </a:p>
                  </a:txBody>
                  <a:tcPr marL="82296" marR="64008" marT="32004" marB="32004" anchor="ctr">
                    <a:solidFill>
                      <a:srgbClr val="A51C30"/>
                    </a:solidFill>
                  </a:tcPr>
                </a:tc>
                <a:tc>
                  <a:txBody>
                    <a:bodyPr wrap="square"/>
                    <a:lstStyle/>
                    <a:p>
                      <a:pPr algn="l"/>
                      <a:r>
                        <a:rPr sz="1000" b="1">
                          <a:solidFill>
                            <a:srgbClr val="FFFFFF"/>
                          </a:solidFill>
                          <a:latin typeface="Calibri"/>
                        </a:rPr>
                        <a:t>Why this one</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00" b="0">
                          <a:solidFill>
                            <a:srgbClr val="1C1C1E"/>
                          </a:solidFill>
                          <a:latin typeface="Calibri"/>
                        </a:rPr>
                        <a:t>T1</a:t>
                      </a:r>
                    </a:p>
                  </a:txBody>
                  <a:tcPr marL="82296" marR="64008" marT="32004" marB="32004" anchor="ctr">
                    <a:solidFill>
                      <a:srgbClr val="FFFFFF"/>
                    </a:solidFill>
                  </a:tcPr>
                </a:tc>
                <a:tc>
                  <a:txBody>
                    <a:bodyPr wrap="square"/>
                    <a:lstStyle/>
                    <a:p>
                      <a:pPr algn="l"/>
                      <a:r>
                        <a:rPr sz="1000" b="0">
                          <a:solidFill>
                            <a:srgbClr val="1C1C1E"/>
                          </a:solidFill>
                          <a:latin typeface="Calibri"/>
                        </a:rPr>
                        <a:t>Markets</a:t>
                      </a:r>
                    </a:p>
                  </a:txBody>
                  <a:tcPr marL="82296" marR="64008" marT="32004" marB="32004" anchor="ctr">
                    <a:solidFill>
                      <a:srgbClr val="FFFFFF"/>
                    </a:solidFill>
                  </a:tcPr>
                </a:tc>
                <a:tc>
                  <a:txBody>
                    <a:bodyPr wrap="square"/>
                    <a:lstStyle/>
                    <a:p>
                      <a:pPr algn="l"/>
                      <a:r>
                        <a:rPr sz="1000" b="0">
                          <a:solidFill>
                            <a:srgbClr val="1C1C1E"/>
                          </a:solidFill>
                          <a:latin typeface="Calibri"/>
                        </a:rPr>
                        <a:t>A model with NO training data. The whole pricer — normal CDF included — is one expression in the register</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Home price regression (Ames)</a:t>
                      </a:r>
                    </a:p>
                  </a:txBody>
                  <a:tcPr marL="82296" marR="64008" marT="32004" marB="32004" anchor="ctr">
                    <a:solidFill>
                      <a:srgbClr val="F6F3EF"/>
                    </a:solidFill>
                  </a:tcPr>
                </a:tc>
                <a:tc>
                  <a:txBody>
                    <a:bodyPr wrap="square"/>
                    <a:lstStyle/>
                    <a:p>
                      <a:pPr algn="l"/>
                      <a:r>
                        <a:rPr sz="1000" b="0">
                          <a:solidFill>
                            <a:srgbClr val="1C1C1E"/>
                          </a:solidFill>
                          <a:latin typeface="Calibri"/>
                        </a:rPr>
                        <a:t>T2</a:t>
                      </a:r>
                    </a:p>
                  </a:txBody>
                  <a:tcPr marL="82296" marR="64008" marT="32004" marB="32004" anchor="ctr">
                    <a:solidFill>
                      <a:srgbClr val="F6F3EF"/>
                    </a:solidFill>
                  </a:tcPr>
                </a:tc>
                <a:tc>
                  <a:txBody>
                    <a:bodyPr wrap="square"/>
                    <a:lstStyle/>
                    <a:p>
                      <a:pPr algn="l"/>
                      <a:r>
                        <a:rPr sz="1000" b="0">
                          <a:solidFill>
                            <a:srgbClr val="1C1C1E"/>
                          </a:solidFill>
                          <a:latin typeface="Calibri"/>
                        </a:rPr>
                        <a:t>Retail collateral</a:t>
                      </a:r>
                    </a:p>
                  </a:txBody>
                  <a:tcPr marL="82296" marR="64008" marT="32004" marB="32004" anchor="ctr">
                    <a:solidFill>
                      <a:srgbClr val="F6F3EF"/>
                    </a:solidFill>
                  </a:tcPr>
                </a:tc>
                <a:tc>
                  <a:txBody>
                    <a:bodyPr wrap="square"/>
                    <a:lstStyle/>
                    <a:p>
                      <a:pPr algn="l"/>
                      <a:r>
                        <a:rPr sz="1000" b="0">
                          <a:solidFill>
                            <a:srgbClr val="1C1C1E"/>
                          </a:solidFill>
                          <a:latin typeface="Calibri"/>
                        </a:rPr>
                        <a:t>REAL public data from its authoritative source, and the second clock the source did not have</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Mortgage prepayment (CPR)</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Treasury / ALM</a:t>
                      </a:r>
                    </a:p>
                  </a:txBody>
                  <a:tcPr marL="82296" marR="64008" marT="32004" marB="32004" anchor="ctr">
                    <a:solidFill>
                      <a:srgbClr val="FFFFFF"/>
                    </a:solidFill>
                  </a:tcPr>
                </a:tc>
                <a:tc>
                  <a:txBody>
                    <a:bodyPr wrap="square"/>
                    <a:lstStyle/>
                    <a:p>
                      <a:pPr algn="l"/>
                      <a:r>
                        <a:rPr sz="1000" b="0">
                          <a:solidFill>
                            <a:srgbClr val="1C1C1E"/>
                          </a:solidFill>
                          <a:latin typeface="Calibri"/>
                        </a:rPr>
                        <a:t>Non-linear in the inputs, linear in the parameters: exponential ramp plus a cubic S-curve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00" b="0">
                          <a:solidFill>
                            <a:srgbClr val="1C1C1E"/>
                          </a:solidFill>
                          <a:latin typeface="Calibri"/>
                        </a:rPr>
                        <a:t>T0</a:t>
                      </a:r>
                    </a:p>
                  </a:txBody>
                  <a:tcPr marL="82296" marR="64008" marT="32004" marB="32004" anchor="ctr">
                    <a:solidFill>
                      <a:srgbClr val="F6F3EF"/>
                    </a:solidFill>
                  </a:tcPr>
                </a:tc>
                <a:tc>
                  <a:txBody>
                    <a:bodyPr wrap="square"/>
                    <a:lstStyle/>
                    <a:p>
                      <a:pPr algn="l"/>
                      <a:r>
                        <a:rPr sz="1000" b="0">
                          <a:solidFill>
                            <a:srgbClr val="1C1C1E"/>
                          </a:solidFill>
                          <a:latin typeface="Calibri"/>
                        </a:rPr>
                        <a:t>Wholesale credit</a:t>
                      </a:r>
                    </a:p>
                  </a:txBody>
                  <a:tcPr marL="82296" marR="64008" marT="32004" marB="32004" anchor="ctr">
                    <a:solidFill>
                      <a:srgbClr val="F6F3EF"/>
                    </a:solidFill>
                  </a:tcPr>
                </a:tc>
                <a:tc>
                  <a:txBody>
                    <a:bodyPr wrap="square"/>
                    <a:lstStyle/>
                    <a:p>
                      <a:pPr algn="l"/>
                      <a:r>
                        <a:rPr sz="1000" b="0">
                          <a:solidFill>
                            <a:srgbClr val="1C1C1E"/>
                          </a:solidFill>
                          <a:latin typeface="Calibri"/>
                        </a:rPr>
                        <a:t>NO parameters at all. Asking to train it is a type error, refused twice by two independent layers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Impairment</a:t>
                      </a:r>
                    </a:p>
                  </a:txBody>
                  <a:tcPr marL="82296" marR="64008" marT="32004" marB="32004" anchor="ctr">
                    <a:solidFill>
                      <a:srgbClr val="FFFFFF"/>
                    </a:solidFill>
                  </a:tcPr>
                </a:tc>
                <a:tc>
                  <a:txBody>
                    <a:bodyPr wrap="square"/>
                    <a:lstStyle/>
                    <a:p>
                      <a:pPr algn="l"/>
                      <a:r>
                        <a:rPr sz="1000" b="0">
                          <a:solidFill>
                            <a:srgbClr val="1C1C1E"/>
                          </a:solidFill>
                          <a:latin typeface="Calibri"/>
                        </a:rPr>
                        <a:t>REUSE: five features it did not define, a composed featureset, and a type-checked dependency edge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00" b="0">
                          <a:solidFill>
                            <a:srgbClr val="1C1C1E"/>
                          </a:solidFill>
                          <a:latin typeface="Calibri"/>
                        </a:rPr>
                        <a:t>T8</a:t>
                      </a:r>
                    </a:p>
                  </a:txBody>
                  <a:tcPr marL="82296" marR="64008" marT="32004" marB="32004" anchor="ctr">
                    <a:solidFill>
                      <a:srgbClr val="F6F3EF"/>
                    </a:solidFill>
                  </a:tcPr>
                </a:tc>
                <a:tc>
                  <a:txBody>
                    <a:bodyPr wrap="square"/>
                    <a:lstStyle/>
                    <a:p>
                      <a:pPr algn="l"/>
                      <a:r>
                        <a:rPr sz="1000" b="0">
                          <a:solidFill>
                            <a:srgbClr val="1C1C1E"/>
                          </a:solidFill>
                          <a:latin typeface="Calibri"/>
                        </a:rPr>
                        <a:t>Retail credit</a:t>
                      </a:r>
                    </a:p>
                  </a:txBody>
                  <a:tcPr marL="82296" marR="64008" marT="32004" marB="32004" anchor="ctr">
                    <a:solidFill>
                      <a:srgbClr val="F6F3EF"/>
                    </a:solidFill>
                  </a:tcPr>
                </a:tc>
                <a:tc>
                  <a:txBody>
                    <a:bodyPr wrap="square"/>
                    <a:lstStyle/>
                    <a:p>
                      <a:pPr algn="l"/>
                      <a:r>
                        <a:rPr sz="1000" b="0">
                          <a:solidFill>
                            <a:srgbClr val="1C1C1E"/>
                          </a:solidFill>
                          <a:latin typeface="Calibri"/>
                        </a:rPr>
                        <a:t>A policy RULEBOOK governed as a model — checked, trialled, published, approved by a second person</a:t>
                      </a:r>
                    </a:p>
                  </a:txBody>
                  <a:tcPr marL="82296" marR="64008" marT="32004" marB="32004" anchor="ctr">
                    <a:solidFill>
                      <a:srgbClr val="F6F3EF"/>
                    </a:solidFill>
                  </a:tcPr>
                </a:tc>
              </a:tr>
            </a:tbl>
          </a:graphicData>
        </a:graphic>
      </p:graphicFrame>
      <p:sp>
        <p:nvSpPr>
          <p:cNvPr id="11" name="TextBox 10"/>
          <p:cNvSpPr txBox="1"/>
          <p:nvPr/>
        </p:nvSpPr>
        <p:spPr>
          <a:xfrm>
            <a:off x="777240" y="4636262"/>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trainability class is derived, never declared. </a:t>
            </a:r>
            <a:r>
              <a:rPr sz="1150" b="0" i="0">
                <a:solidFill>
                  <a:srgbClr val="1C1C1E"/>
                </a:solidFill>
                <a:latin typeface="Calibri"/>
              </a:rPr>
              <a:t>These six span T0 (parameters from theory), T1 (calibrated to market), T2 (estimated from a sample) and T8 (authored as rules) — and the class decides which operations the platform will admit.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(2 OF 2)</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more: the opaque, the generative, the elicited, the trained, and four other industries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115</a:t>
            </a:r>
          </a:p>
        </p:txBody>
      </p:sp>
      <p:graphicFrame>
        <p:nvGraphicFramePr>
          <p:cNvPr id="10" name="Table 9"/>
          <p:cNvGraphicFramePr>
            <a:graphicFrameLocks noGrp="1"/>
          </p:cNvGraphicFramePr>
          <p:nvPr/>
        </p:nvGraphicFramePr>
        <p:xfrm>
          <a:off x="777240" y="1764792"/>
          <a:ext cx="10637213" cy="3040606"/>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900" b="1">
                          <a:solidFill>
                            <a:srgbClr val="FFFFFF"/>
                          </a:solidFill>
                          <a:latin typeface="Calibri"/>
                        </a:rPr>
                        <a:t>#</a:t>
                      </a:r>
                    </a:p>
                  </a:txBody>
                  <a:tcPr marL="82296" marR="64008" marT="32004" marB="32004" anchor="ctr">
                    <a:solidFill>
                      <a:srgbClr val="A51C30"/>
                    </a:solidFill>
                  </a:tcPr>
                </a:tc>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Class</a:t>
                      </a:r>
                    </a:p>
                  </a:txBody>
                  <a:tcPr marL="82296" marR="64008" marT="32004" marB="32004" anchor="ctr">
                    <a:solidFill>
                      <a:srgbClr val="A51C30"/>
                    </a:solidFill>
                  </a:tcPr>
                </a:tc>
                <a:tc>
                  <a:txBody>
                    <a:bodyPr wrap="square"/>
                    <a:lstStyle/>
                    <a:p>
                      <a:pPr algn="l"/>
                      <a:r>
                        <a:rPr sz="900" b="1">
                          <a:solidFill>
                            <a:srgbClr val="FFFFFF"/>
                          </a:solidFill>
                          <a:latin typeface="Calibri"/>
                        </a:rPr>
                        <a:t>Domain</a:t>
                      </a:r>
                    </a:p>
                  </a:txBody>
                  <a:tcPr marL="82296" marR="64008" marT="32004" marB="32004" anchor="ctr">
                    <a:solidFill>
                      <a:srgbClr val="A51C30"/>
                    </a:solidFill>
                  </a:tcPr>
                </a:tc>
                <a:tc>
                  <a:txBody>
                    <a:bodyPr wrap="square"/>
                    <a:lstStyle/>
                    <a:p>
                      <a:pPr algn="l"/>
                      <a:r>
                        <a:rPr sz="900" b="1">
                          <a:solidFill>
                            <a:srgbClr val="FFFFFF"/>
                          </a:solidFill>
                          <a:latin typeface="Calibri"/>
                        </a:rPr>
                        <a:t>Why this one</a:t>
                      </a:r>
                    </a:p>
                  </a:txBody>
                  <a:tcPr marL="82296" marR="64008" marT="32004" marB="32004" anchor="ctr">
                    <a:solidFill>
                      <a:srgbClr val="A51C30"/>
                    </a:solidFill>
                  </a:tcPr>
                </a:tc>
              </a:tr>
              <a:tr h="299694">
                <a:tc>
                  <a:txBody>
                    <a:bodyPr wrap="square"/>
                    <a:lstStyle/>
                    <a:p>
                      <a:pPr algn="l"/>
                      <a:r>
                        <a:rPr sz="900" b="0">
                          <a:solidFill>
                            <a:srgbClr val="1C1C1E"/>
                          </a:solidFill>
                          <a:latin typeface="Calibri"/>
                        </a:rPr>
                        <a:t>7</a:t>
                      </a:r>
                    </a:p>
                  </a:txBody>
                  <a:tcPr marL="82296" marR="64008" marT="32004" marB="32004" anchor="ctr">
                    <a:solidFill>
                      <a:srgbClr val="FFFFFF"/>
                    </a:solidFill>
                  </a:tcPr>
                </a:tc>
                <a:tc>
                  <a:txBody>
                    <a:bodyPr wrap="square"/>
                    <a:lstStyle/>
                    <a:p>
                      <a:pPr algn="l"/>
                      <a:r>
                        <a:rPr sz="900" b="0">
                          <a:solidFill>
                            <a:srgbClr val="1C1C1E"/>
                          </a:solidFill>
                          <a:latin typeface="Calibri"/>
                        </a:rPr>
                        <a:t>LLM model documentation</a:t>
                      </a:r>
                    </a:p>
                  </a:txBody>
                  <a:tcPr marL="82296" marR="64008" marT="32004" marB="32004" anchor="ctr">
                    <a:solidFill>
                      <a:srgbClr val="FFFFFF"/>
                    </a:solidFill>
                  </a:tcPr>
                </a:tc>
                <a:tc>
                  <a:txBody>
                    <a:bodyPr wrap="square"/>
                    <a:lstStyle/>
                    <a:p>
                      <a:pPr algn="l"/>
                      <a:r>
                        <a:rPr sz="900" b="0">
                          <a:solidFill>
                            <a:srgbClr val="1C1C1E"/>
                          </a:solidFill>
                          <a:latin typeface="Calibri"/>
                        </a:rPr>
                        <a:t>Tier B</a:t>
                      </a:r>
                    </a:p>
                  </a:txBody>
                  <a:tcPr marL="82296" marR="64008" marT="32004" marB="32004" anchor="ctr">
                    <a:solidFill>
                      <a:srgbClr val="FFFFFF"/>
                    </a:solidFill>
                  </a:tcPr>
                </a:tc>
                <a:tc>
                  <a:txBody>
                    <a:bodyPr wrap="square"/>
                    <a:lstStyle/>
                    <a:p>
                      <a:pPr algn="l"/>
                      <a:r>
                        <a:rPr sz="900" b="0">
                          <a:solidFill>
                            <a:srgbClr val="1C1C1E"/>
                          </a:solidFill>
                          <a:latin typeface="Calibri"/>
                        </a:rPr>
                        <a:t>Model risk (AI)</a:t>
                      </a:r>
                    </a:p>
                  </a:txBody>
                  <a:tcPr marL="82296" marR="64008" marT="32004" marB="32004" anchor="ctr">
                    <a:solidFill>
                      <a:srgbClr val="FFFFFF"/>
                    </a:solidFill>
                  </a:tcPr>
                </a:tc>
                <a:tc>
                  <a:txBody>
                    <a:bodyPr wrap="square"/>
                    <a:lstStyle/>
                    <a:p>
                      <a:pPr algn="l"/>
                      <a:r>
                        <a:rPr sz="900" b="0">
                          <a:solidFill>
                            <a:srgbClr val="1C1C1E"/>
                          </a:solidFill>
                          <a:latin typeface="Calibri"/>
                        </a:rPr>
                        <a:t>The platform REMOVES the claim citing evidence it does not hold, and refuses a self-attestation</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8</a:t>
                      </a:r>
                    </a:p>
                  </a:txBody>
                  <a:tcPr marL="82296" marR="64008" marT="32004" marB="32004" anchor="ctr">
                    <a:solidFill>
                      <a:srgbClr val="F6F3EF"/>
                    </a:solidFill>
                  </a:tcPr>
                </a:tc>
                <a:tc>
                  <a:txBody>
                    <a:bodyPr wrap="square"/>
                    <a:lstStyle/>
                    <a:p>
                      <a:pPr algn="l"/>
                      <a:r>
                        <a:rPr sz="900" b="0">
                          <a:solidFill>
                            <a:srgbClr val="1C1C1E"/>
                          </a:solidFill>
                          <a:latin typeface="Calibri"/>
                        </a:rPr>
                        <a:t>Vendor bureau score</a:t>
                      </a:r>
                    </a:p>
                  </a:txBody>
                  <a:tcPr marL="82296" marR="64008" marT="32004" marB="32004" anchor="ctr">
                    <a:solidFill>
                      <a:srgbClr val="F6F3EF"/>
                    </a:solidFill>
                  </a:tcPr>
                </a:tc>
                <a:tc>
                  <a:txBody>
                    <a:bodyPr wrap="square"/>
                    <a:lstStyle/>
                    <a:p>
                      <a:pPr algn="l"/>
                      <a:r>
                        <a:rPr sz="900" b="0">
                          <a:solidFill>
                            <a:srgbClr val="1C1C1E"/>
                          </a:solidFill>
                          <a:latin typeface="Calibri"/>
                        </a:rPr>
                        <a:t>T6</a:t>
                      </a:r>
                    </a:p>
                  </a:txBody>
                  <a:tcPr marL="82296" marR="64008" marT="32004" marB="32004" anchor="ctr">
                    <a:solidFill>
                      <a:srgbClr val="F6F3EF"/>
                    </a:solidFill>
                  </a:tcPr>
                </a:tc>
                <a:tc>
                  <a:txBody>
                    <a:bodyPr wrap="square"/>
                    <a:lstStyle/>
                    <a:p>
                      <a:pPr algn="l"/>
                      <a:r>
                        <a:rPr sz="900" b="0">
                          <a:solidFill>
                            <a:srgbClr val="1C1C1E"/>
                          </a:solidFill>
                          <a:latin typeface="Calibri"/>
                        </a:rPr>
                        <a:t>Retail credit</a:t>
                      </a:r>
                    </a:p>
                  </a:txBody>
                  <a:tcPr marL="82296" marR="64008" marT="32004" marB="32004" anchor="ctr">
                    <a:solidFill>
                      <a:srgbClr val="F6F3EF"/>
                    </a:solidFill>
                  </a:tcPr>
                </a:tc>
                <a:tc>
                  <a:txBody>
                    <a:bodyPr wrap="square"/>
                    <a:lstStyle/>
                    <a:p>
                      <a:pPr algn="l"/>
                      <a:r>
                        <a:rPr sz="900" b="0">
                          <a:solidFill>
                            <a:srgbClr val="1C1C1E"/>
                          </a:solidFill>
                          <a:latin typeface="Calibri"/>
                        </a:rPr>
                        <a:t>Governing what nobody here can inspect. A fit refused for three reasons at once; reverse-engineered coefficients refused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9</a:t>
                      </a:r>
                    </a:p>
                  </a:txBody>
                  <a:tcPr marL="82296" marR="64008" marT="32004" marB="32004" anchor="ctr">
                    <a:solidFill>
                      <a:srgbClr val="FFFFFF"/>
                    </a:solidFill>
                  </a:tcPr>
                </a:tc>
                <a:tc>
                  <a:txBody>
                    <a:bodyPr wrap="square"/>
                    <a:lstStyle/>
                    <a:p>
                      <a:pPr algn="l"/>
                      <a:r>
                        <a:rPr sz="900" b="0">
                          <a:solidFill>
                            <a:srgbClr val="1C1C1E"/>
                          </a:solidFill>
                          <a:latin typeface="Calibri"/>
                        </a:rPr>
                        <a:t>Polygenic risk score</a:t>
                      </a:r>
                    </a:p>
                  </a:txBody>
                  <a:tcPr marL="82296" marR="64008" marT="32004" marB="32004" anchor="ctr">
                    <a:solidFill>
                      <a:srgbClr val="FFFFFF"/>
                    </a:solidFill>
                  </a:tcPr>
                </a:tc>
                <a:tc>
                  <a:txBody>
                    <a:bodyPr wrap="square"/>
                    <a:lstStyle/>
                    <a:p>
                      <a:pPr algn="l"/>
                      <a:r>
                        <a:rPr sz="900" b="0">
                          <a:solidFill>
                            <a:srgbClr val="1C1C1E"/>
                          </a:solidFill>
                          <a:latin typeface="Calibri"/>
                        </a:rPr>
                        <a:t>T2</a:t>
                      </a:r>
                    </a:p>
                  </a:txBody>
                  <a:tcPr marL="82296" marR="64008" marT="32004" marB="32004" anchor="ctr">
                    <a:solidFill>
                      <a:srgbClr val="FFFFFF"/>
                    </a:solidFill>
                  </a:tcPr>
                </a:tc>
                <a:tc>
                  <a:txBody>
                    <a:bodyPr wrap="square"/>
                    <a:lstStyle/>
                    <a:p>
                      <a:pPr algn="l"/>
                      <a:r>
                        <a:rPr sz="900" b="0">
                          <a:solidFill>
                            <a:srgbClr val="1C1C1E"/>
                          </a:solidFill>
                          <a:latin typeface="Calibri"/>
                        </a:rPr>
                        <a:t>Genomics</a:t>
                      </a:r>
                    </a:p>
                  </a:txBody>
                  <a:tcPr marL="82296" marR="64008" marT="32004" marB="32004" anchor="ctr">
                    <a:solidFill>
                      <a:srgbClr val="FFFFFF"/>
                    </a:solidFill>
                  </a:tcPr>
                </a:tc>
                <a:tc>
                  <a:txBody>
                    <a:bodyPr wrap="square"/>
                    <a:lstStyle/>
                    <a:p>
                      <a:pPr algn="l"/>
                      <a:r>
                        <a:rPr sz="900" b="0">
                          <a:solidFill>
                            <a:srgbClr val="1C1C1E"/>
                          </a:solidFill>
                          <a:latin typeface="Calibri"/>
                        </a:rPr>
                        <a:t>Works far less well in some ancestries — QUANTIFIED on the parameter set, read at the same moment as the numbers</a:t>
                      </a:r>
                    </a:p>
                  </a:txBody>
                  <a:tcPr marL="82296" marR="64008" marT="32004" marB="32004" anchor="ctr">
                    <a:solidFill>
                      <a:srgbClr val="FFFFFF"/>
                    </a:solidFill>
                  </a:tcPr>
                </a:tc>
              </a:tr>
              <a:tr h="299694">
                <a:tc>
                  <a:txBody>
                    <a:bodyPr wrap="square"/>
                    <a:lstStyle/>
                    <a:p>
                      <a:pPr algn="l"/>
                      <a:r>
                        <a:rPr sz="900" b="0">
                          <a:solidFill>
                            <a:srgbClr val="1C1C1E"/>
                          </a:solidFill>
                          <a:latin typeface="Calibri"/>
                        </a:rPr>
                        <a:t>10</a:t>
                      </a:r>
                    </a:p>
                  </a:txBody>
                  <a:tcPr marL="82296" marR="64008" marT="32004" marB="32004" anchor="ctr">
                    <a:solidFill>
                      <a:srgbClr val="F6F3EF"/>
                    </a:solidFill>
                  </a:tcPr>
                </a:tc>
                <a:tc>
                  <a:txBody>
                    <a:bodyPr wrap="square"/>
                    <a:lstStyle/>
                    <a:p>
                      <a:pPr algn="l"/>
                      <a:r>
                        <a:rPr sz="900" b="0">
                          <a:solidFill>
                            <a:srgbClr val="1C1C1E"/>
                          </a:solidFill>
                          <a:latin typeface="Calibri"/>
                        </a:rPr>
                        <a:t>SEIR epidemic model</a:t>
                      </a:r>
                    </a:p>
                  </a:txBody>
                  <a:tcPr marL="82296" marR="64008" marT="32004" marB="32004" anchor="ctr">
                    <a:solidFill>
                      <a:srgbClr val="F6F3EF"/>
                    </a:solidFill>
                  </a:tcPr>
                </a:tc>
                <a:tc>
                  <a:txBody>
                    <a:bodyPr wrap="square"/>
                    <a:lstStyle/>
                    <a:p>
                      <a:pPr algn="l"/>
                      <a:r>
                        <a:rPr sz="900" b="0">
                          <a:solidFill>
                            <a:srgbClr val="1C1C1E"/>
                          </a:solidFill>
                          <a:latin typeface="Calibri"/>
                        </a:rPr>
                        <a:t>T1</a:t>
                      </a:r>
                    </a:p>
                  </a:txBody>
                  <a:tcPr marL="82296" marR="64008" marT="32004" marB="32004" anchor="ctr">
                    <a:solidFill>
                      <a:srgbClr val="F6F3EF"/>
                    </a:solidFill>
                  </a:tcPr>
                </a:tc>
                <a:tc>
                  <a:txBody>
                    <a:bodyPr wrap="square"/>
                    <a:lstStyle/>
                    <a:p>
                      <a:pPr algn="l"/>
                      <a:r>
                        <a:rPr sz="900" b="0">
                          <a:solidFill>
                            <a:srgbClr val="1C1C1E"/>
                          </a:solidFill>
                          <a:latin typeface="Calibri"/>
                        </a:rPr>
                        <a:t>Public health</a:t>
                      </a:r>
                    </a:p>
                  </a:txBody>
                  <a:tcPr marL="82296" marR="64008" marT="32004" marB="32004" anchor="ctr">
                    <a:solidFill>
                      <a:srgbClr val="F6F3EF"/>
                    </a:solidFill>
                  </a:tcPr>
                </a:tc>
                <a:tc>
                  <a:txBody>
                    <a:bodyPr wrap="square"/>
                    <a:lstStyle/>
                    <a:p>
                      <a:pPr algn="l"/>
                      <a:r>
                        <a:rPr sz="900" b="0">
                          <a:solidFill>
                            <a:srgbClr val="1C1C1E"/>
                          </a:solidFill>
                          <a:latin typeface="Calibri"/>
                        </a:rPr>
                        <a:t>One reporting delay moves R0 from 2.04 to 2.34 on the same data. Both numbers are on the record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11</a:t>
                      </a:r>
                    </a:p>
                  </a:txBody>
                  <a:tcPr marL="82296" marR="64008" marT="32004" marB="32004" anchor="ctr">
                    <a:solidFill>
                      <a:srgbClr val="FFFFFF"/>
                    </a:solidFill>
                  </a:tcPr>
                </a:tc>
                <a:tc>
                  <a:txBody>
                    <a:bodyPr wrap="square"/>
                    <a:lstStyle/>
                    <a:p>
                      <a:pPr algn="l"/>
                      <a:r>
                        <a:rPr sz="900" b="0">
                          <a:solidFill>
                            <a:srgbClr val="1C1C1E"/>
                          </a:solidFill>
                          <a:latin typeface="Calibri"/>
                        </a:rPr>
                        <a:t>RAG customer assistant</a:t>
                      </a:r>
                    </a:p>
                  </a:txBody>
                  <a:tcPr marL="82296" marR="64008" marT="32004" marB="32004" anchor="ctr">
                    <a:solidFill>
                      <a:srgbClr val="FFFFFF"/>
                    </a:solidFill>
                  </a:tcPr>
                </a:tc>
                <a:tc>
                  <a:txBody>
                    <a:bodyPr wrap="square"/>
                    <a:lstStyle/>
                    <a:p>
                      <a:pPr algn="l"/>
                      <a:r>
                        <a:rPr sz="900" b="0">
                          <a:solidFill>
                            <a:srgbClr val="1C1C1E"/>
                          </a:solidFill>
                          <a:latin typeface="Calibri"/>
                        </a:rPr>
                        <a:t>T5</a:t>
                      </a:r>
                    </a:p>
                  </a:txBody>
                  <a:tcPr marL="82296" marR="64008" marT="32004" marB="32004" anchor="ctr">
                    <a:solidFill>
                      <a:srgbClr val="FFFFFF"/>
                    </a:solidFill>
                  </a:tcPr>
                </a:tc>
                <a:tc>
                  <a:txBody>
                    <a:bodyPr wrap="square"/>
                    <a:lstStyle/>
                    <a:p>
                      <a:pPr algn="l"/>
                      <a:r>
                        <a:rPr sz="900" b="0">
                          <a:solidFill>
                            <a:srgbClr val="1C1C1E"/>
                          </a:solidFill>
                          <a:latin typeface="Calibri"/>
                        </a:rPr>
                        <a:t>Customer service</a:t>
                      </a:r>
                    </a:p>
                  </a:txBody>
                  <a:tcPr marL="82296" marR="64008" marT="32004" marB="32004" anchor="ctr">
                    <a:solidFill>
                      <a:srgbClr val="FFFFFF"/>
                    </a:solidFill>
                  </a:tcPr>
                </a:tc>
                <a:tc>
                  <a:txBody>
                    <a:bodyPr wrap="square"/>
                    <a:lstStyle/>
                    <a:p>
                      <a:pPr algn="l"/>
                      <a:r>
                        <a:rPr sz="900" b="0">
                          <a:solidFill>
                            <a:srgbClr val="1C1C1E"/>
                          </a:solidFill>
                          <a:latin typeface="Calibri"/>
                        </a:rPr>
                        <a:t>The prompt is a parameter. The vendor reversions, the bank changes nothing, and guardrails fall 100% to 57%</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12</a:t>
                      </a:r>
                    </a:p>
                  </a:txBody>
                  <a:tcPr marL="82296" marR="64008" marT="32004" marB="32004" anchor="ctr">
                    <a:solidFill>
                      <a:srgbClr val="F6F3EF"/>
                    </a:solidFill>
                  </a:tcPr>
                </a:tc>
                <a:tc>
                  <a:txBody>
                    <a:bodyPr wrap="square"/>
                    <a:lstStyle/>
                    <a:p>
                      <a:pPr algn="l"/>
                      <a:r>
                        <a:rPr sz="900" b="0">
                          <a:solidFill>
                            <a:srgbClr val="1C1C1E"/>
                          </a:solidFill>
                          <a:latin typeface="Calibri"/>
                        </a:rPr>
                        <a:t>Climate transition scorecard</a:t>
                      </a:r>
                    </a:p>
                  </a:txBody>
                  <a:tcPr marL="82296" marR="64008" marT="32004" marB="32004" anchor="ctr">
                    <a:solidFill>
                      <a:srgbClr val="F6F3EF"/>
                    </a:solidFill>
                  </a:tcPr>
                </a:tc>
                <a:tc>
                  <a:txBody>
                    <a:bodyPr wrap="square"/>
                    <a:lstStyle/>
                    <a:p>
                      <a:pPr algn="l"/>
                      <a:r>
                        <a:rPr sz="900" b="0">
                          <a:solidFill>
                            <a:srgbClr val="1C1C1E"/>
                          </a:solidFill>
                          <a:latin typeface="Calibri"/>
                        </a:rPr>
                        <a:t>T7</a:t>
                      </a:r>
                    </a:p>
                  </a:txBody>
                  <a:tcPr marL="82296" marR="64008" marT="32004" marB="32004" anchor="ctr">
                    <a:solidFill>
                      <a:srgbClr val="F6F3EF"/>
                    </a:solidFill>
                  </a:tcPr>
                </a:tc>
                <a:tc>
                  <a:txBody>
                    <a:bodyPr wrap="square"/>
                    <a:lstStyle/>
                    <a:p>
                      <a:pPr algn="l"/>
                      <a:r>
                        <a:rPr sz="900" b="0">
                          <a:solidFill>
                            <a:srgbClr val="1C1C1E"/>
                          </a:solidFill>
                          <a:latin typeface="Calibri"/>
                        </a:rPr>
                        <a:t>Climate risk</a:t>
                      </a:r>
                    </a:p>
                  </a:txBody>
                  <a:tcPr marL="82296" marR="64008" marT="32004" marB="32004" anchor="ctr">
                    <a:solidFill>
                      <a:srgbClr val="F6F3EF"/>
                    </a:solidFill>
                  </a:tcPr>
                </a:tc>
                <a:tc>
                  <a:txBody>
                    <a:bodyPr wrap="square"/>
                    <a:lstStyle/>
                    <a:p>
                      <a:pPr algn="l"/>
                      <a:r>
                        <a:rPr sz="900" b="0">
                          <a:solidFill>
                            <a:srgbClr val="1C1C1E"/>
                          </a:solidFill>
                          <a:latin typeface="Calibri"/>
                        </a:rPr>
                        <a:t>Weights from a PANEL, because the transition has not happened. The dissent is on the parameter set, priced</a:t>
                      </a:r>
                    </a:p>
                  </a:txBody>
                  <a:tcPr marL="82296" marR="64008" marT="32004" marB="32004" anchor="ctr">
                    <a:solidFill>
                      <a:srgbClr val="F6F3EF"/>
                    </a:solidFill>
                  </a:tcPr>
                </a:tc>
              </a:tr>
              <a:tr h="299694">
                <a:tc>
                  <a:txBody>
                    <a:bodyPr wrap="square"/>
                    <a:lstStyle/>
                    <a:p>
                      <a:pPr algn="l"/>
                      <a:r>
                        <a:rPr sz="900" b="0">
                          <a:solidFill>
                            <a:srgbClr val="1C1C1E"/>
                          </a:solidFill>
                          <a:latin typeface="Calibri"/>
                        </a:rPr>
                        <a:t>13</a:t>
                      </a:r>
                    </a:p>
                  </a:txBody>
                  <a:tcPr marL="82296" marR="64008" marT="32004" marB="32004" anchor="ctr">
                    <a:solidFill>
                      <a:srgbClr val="FFFFFF"/>
                    </a:solidFill>
                  </a:tcPr>
                </a:tc>
                <a:tc>
                  <a:txBody>
                    <a:bodyPr wrap="square"/>
                    <a:lstStyle/>
                    <a:p>
                      <a:pPr algn="l"/>
                      <a:r>
                        <a:rPr sz="900" b="0">
                          <a:solidFill>
                            <a:srgbClr val="1C1C1E"/>
                          </a:solidFill>
                          <a:latin typeface="Calibri"/>
                        </a:rPr>
                        <a:t>Hourly load forecast network</a:t>
                      </a:r>
                    </a:p>
                  </a:txBody>
                  <a:tcPr marL="82296" marR="64008" marT="32004" marB="32004" anchor="ctr">
                    <a:solidFill>
                      <a:srgbClr val="FFFFFF"/>
                    </a:solidFill>
                  </a:tcPr>
                </a:tc>
                <a:tc>
                  <a:txBody>
                    <a:bodyPr wrap="square"/>
                    <a:lstStyle/>
                    <a:p>
                      <a:pPr algn="l"/>
                      <a:r>
                        <a:rPr sz="900" b="0">
                          <a:solidFill>
                            <a:srgbClr val="1C1C1E"/>
                          </a:solidFill>
                          <a:latin typeface="Calibri"/>
                        </a:rPr>
                        <a:t>T3</a:t>
                      </a:r>
                    </a:p>
                  </a:txBody>
                  <a:tcPr marL="82296" marR="64008" marT="32004" marB="32004" anchor="ctr">
                    <a:solidFill>
                      <a:srgbClr val="FFFFFF"/>
                    </a:solidFill>
                  </a:tcPr>
                </a:tc>
                <a:tc>
                  <a:txBody>
                    <a:bodyPr wrap="square"/>
                    <a:lstStyle/>
                    <a:p>
                      <a:pPr algn="l"/>
                      <a:r>
                        <a:rPr sz="900" b="0">
                          <a:solidFill>
                            <a:srgbClr val="1C1C1E"/>
                          </a:solidFill>
                          <a:latin typeface="Calibri"/>
                        </a:rPr>
                        <a:t>Energy</a:t>
                      </a:r>
                    </a:p>
                  </a:txBody>
                  <a:tcPr marL="82296" marR="64008" marT="32004" marB="32004" anchor="ctr">
                    <a:solidFill>
                      <a:srgbClr val="FFFFFF"/>
                    </a:solidFill>
                  </a:tcPr>
                </a:tc>
                <a:tc>
                  <a:txBody>
                    <a:bodyPr wrap="square"/>
                    <a:lstStyle/>
                    <a:p>
                      <a:pPr algn="l"/>
                      <a:r>
                        <a:rPr sz="900" b="0">
                          <a:solidFill>
                            <a:srgbClr val="1C1C1E"/>
                          </a:solidFill>
                          <a:latin typeface="Calibri"/>
                        </a:rPr>
                        <a:t>The opacity must be EARNED against a registered incumbent. The digest is the identity</a:t>
                      </a:r>
                    </a:p>
                  </a:txBody>
                  <a:tcPr marL="82296" marR="64008" marT="32004" marB="32004" anchor="ctr">
                    <a:solidFill>
                      <a:srgbClr val="FFFFFF"/>
                    </a:solidFill>
                  </a:tcPr>
                </a:tc>
              </a:tr>
            </a:tbl>
          </a:graphicData>
        </a:graphic>
      </p:graphicFrame>
      <p:sp>
        <p:nvSpPr>
          <p:cNvPr id="11" name="TextBox 10"/>
          <p:cNvSpPr txBox="1"/>
          <p:nvPr/>
        </p:nvSpPr>
        <p:spPr>
          <a:xfrm>
            <a:off x="777240" y="5006568"/>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Thirteen case studies now span eight of the nine classes and seven industries. </a:t>
            </a:r>
            <a:r>
              <a:rPr sz="1150" b="0" i="0">
                <a:solidFill>
                  <a:srgbClr val="1C1C1E"/>
                </a:solidFill>
                <a:latin typeface="Calibri"/>
              </a:rPr>
              <a:t>The three outside financial services are the argument that the controls are not banking controls: change the vocabulary and it is the same two clocks, the same pinned training set, the same parameters somebody delivered and somebody else approved. Case 10 is the sharpest — a reporting lag is a reporting lag whether the decision is a prepayment forecast or a school closure.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scripts do, and what MAYA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116</a:t>
            </a:r>
          </a:p>
        </p:txBody>
      </p:sp>
      <p:sp>
        <p:nvSpPr>
          <p:cNvPr id="10" name="TextBox 9"/>
          <p:cNvSpPr txBox="1"/>
          <p:nvPr/>
        </p:nvSpPr>
        <p:spPr>
          <a:xfrm>
            <a:off x="777240" y="135331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MAYA is a register. It does not train models and it does not run them. </a:t>
            </a:r>
            <a:r>
              <a:rPr sz="1250" b="0" i="0">
                <a:solidFill>
                  <a:srgbClr val="1C1C1E"/>
                </a:solidFill>
                <a:latin typeface="Calibri"/>
              </a:rPr>
              <a:t>Each script plays the bank's own modelling engine: it fits in its own process, with its own arithmetic, and talks to MAYA only to ask permission and to record what it did. The console marks every line as one or the other.</a:t>
            </a:r>
          </a:p>
        </p:txBody>
      </p:sp>
      <p:sp>
        <p:nvSpPr>
          <p:cNvPr id="11" name="Rectangle 10"/>
          <p:cNvSpPr/>
          <p:nvPr/>
        </p:nvSpPr>
        <p:spPr>
          <a:xfrm>
            <a:off x="777240"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a TRAINING warrant from MAYA — authority before any data is read</a:t>
            </a:r>
          </a:p>
        </p:txBody>
      </p:sp>
      <p:sp>
        <p:nvSpPr>
          <p:cNvPr id="14" name="Rectangle 13"/>
          <p:cNvSpPr/>
          <p:nvPr/>
        </p:nvSpPr>
        <p:spPr>
          <a:xfrm>
            <a:off x="2941259"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LOCALLY, outside MAYA, in the bank's own environment</a:t>
            </a:r>
          </a:p>
        </p:txBody>
      </p:sp>
      <p:sp>
        <p:nvSpPr>
          <p:cNvPr id="17" name="Rectangle 16"/>
          <p:cNvSpPr/>
          <p:nvPr/>
        </p:nvSpPr>
        <p:spPr>
          <a:xfrm>
            <a:off x="5105278"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under that warrant. They land PROPOSED</a:t>
            </a:r>
          </a:p>
        </p:txBody>
      </p:sp>
      <p:sp>
        <p:nvSpPr>
          <p:cNvPr id="20" name="Rectangle 19"/>
          <p:cNvSpPr/>
          <p:nvPr/>
        </p:nvSpPr>
        <p:spPr>
          <a:xfrm>
            <a:off x="7269297"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Self-approval is refused</a:t>
            </a:r>
          </a:p>
        </p:txBody>
      </p:sp>
      <p:sp>
        <p:nvSpPr>
          <p:cNvPr id="23" name="Rectangle 22"/>
          <p:cNvSpPr/>
          <p:nvPr/>
        </p:nvSpPr>
        <p:spPr>
          <a:xfrm>
            <a:off x="9433316"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 locally again. MAYA is not in the loop</a:t>
            </a:r>
          </a:p>
        </p:txBody>
      </p:sp>
      <p:sp>
        <p:nvSpPr>
          <p:cNvPr id="26" name="TextBox 25"/>
          <p:cNvSpPr txBox="1"/>
          <p:nvPr/>
        </p:nvSpPr>
        <p:spPr>
          <a:xfrm>
            <a:off x="777240" y="3877055"/>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Nothing calls the captive engine or the captive estimator. </a:t>
            </a:r>
            <a:r>
              <a:rPr sz="1150" b="0" i="0">
                <a:solidFill>
                  <a:srgbClr val="1C1C1E"/>
                </a:solidFill>
                <a:latin typeface="Calibri"/>
              </a:rPr>
              <a:t>MAYA ships both for demonstrations, and using either in a case study would teach the opposite of the boundary these exist to draw.</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1 AND 4</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two extremes: a calibrated pricer and a model with no parameters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117</a:t>
            </a:r>
          </a:p>
        </p:txBody>
      </p:sp>
      <p:sp>
        <p:nvSpPr>
          <p:cNvPr id="10" name="Rectangle 9"/>
          <p:cNvSpPr/>
          <p:nvPr/>
        </p:nvSpPr>
        <p:spPr>
          <a:xfrm>
            <a:off x="777240"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1 · T1 · CALIBRATED</a:t>
            </a:r>
          </a:p>
        </p:txBody>
      </p:sp>
      <p:sp>
        <p:nvSpPr>
          <p:cNvPr id="13" name="TextBox 12"/>
          <p:cNvSpPr txBox="1"/>
          <p:nvPr/>
        </p:nvSpPr>
        <p:spPr>
          <a:xfrm>
            <a:off x="996695"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Black–Scholes European call</a:t>
            </a:r>
          </a:p>
        </p:txBody>
      </p:sp>
      <p:sp>
        <p:nvSpPr>
          <p:cNvPr id="14" name="TextBox 13"/>
          <p:cNvSpPr txBox="1"/>
          <p:nvPr/>
        </p:nvSpPr>
        <p:spPr>
          <a:xfrm>
            <a:off x="996695"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training data exists for an option pricer, and none is needed. One number is calibrated to market: implied volatility.
The whole model — including an Abramowitz–Stegun approximation of the normal CDF — is ONE EXPRESSION in the register, checked against math.erf to 4.8e-06 before anything is registered. No artifact to lose, no library version to disagree with.
Calibrating one flat vol to the at-the-money quote reprices the wings badly. That RMSE is recorded as a STATED LIMITATION on the parameter set, so the reviewer reads it before approving.</a:t>
            </a:r>
          </a:p>
        </p:txBody>
      </p:sp>
      <p:sp>
        <p:nvSpPr>
          <p:cNvPr id="15" name="Rectangle 14"/>
          <p:cNvSpPr/>
          <p:nvPr/>
        </p:nvSpPr>
        <p:spPr>
          <a:xfrm>
            <a:off x="6251295"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4 · T0 · NOTHING TO FIT</a:t>
            </a:r>
          </a:p>
        </p:txBody>
      </p:sp>
      <p:sp>
        <p:nvSpPr>
          <p:cNvPr id="18" name="TextBox 17"/>
          <p:cNvSpPr txBox="1"/>
          <p:nvPr/>
        </p:nvSpPr>
        <p:spPr>
          <a:xfrm>
            <a:off x="6470751"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Merton distance to default</a:t>
            </a:r>
          </a:p>
        </p:txBody>
      </p:sp>
      <p:sp>
        <p:nvSpPr>
          <p:cNvPr id="19" name="TextBox 18"/>
          <p:cNvSpPr txBox="1"/>
          <p:nvPr/>
        </p:nvSpPr>
        <p:spPr>
          <a:xfrm>
            <a:off x="6470751"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Five observables, a closed form, no parameter object at all. P is the terminal object.
Asking for a training warrant is not a permissions problem — it is a TYPE ERROR, and two independent layers say so differently:
grammar: "a T0 model cannot be fitted: its parameters come from theory, not from data"
register: "nothing a fit could have produced — record them with provenance 'declared'", which points at the honest alternative rather than only saying no.</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2 AND 3</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Real public data, and a curve a bank actually uses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118</a:t>
            </a:r>
          </a:p>
        </p:txBody>
      </p:sp>
      <p:sp>
        <p:nvSpPr>
          <p:cNvPr id="10" name="Rectangle 9"/>
          <p:cNvSpPr/>
          <p:nvPr/>
        </p:nvSpPr>
        <p:spPr>
          <a:xfrm>
            <a:off x="777240"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2 · T2 · ESTIMATED</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Home price regression, on public data</a:t>
            </a:r>
          </a:p>
        </p:txBody>
      </p:sp>
      <p:sp>
        <p:nvSpPr>
          <p:cNvPr id="14" name="TextBox 13"/>
          <p:cNvSpPr txBox="1"/>
          <p:nvPr/>
        </p:nvSpPr>
        <p:spPr>
          <a:xfrm>
            <a:off x="996695"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2,928 real sales from Dean De Cock's own file at jse.amstat.org — the authoritative source, not a mirror. No synthetic fallback: if the download fails the script stops.
The regression is unremarkable and is not the point. The SOURCE CARRIES ONE CLOCK and MAYA requires two, so a 45-day recording lag is an assumption somebody has to own — written on the feature view, on the parameter set and in the specification.
Condition number 229,832, reported beside R². It is the number that says whether the coefficients mean anything individually.</a:t>
            </a:r>
          </a:p>
        </p:txBody>
      </p:sp>
      <p:sp>
        <p:nvSpPr>
          <p:cNvPr id="15" name="Rectangle 14"/>
          <p:cNvSpPr/>
          <p:nvPr/>
        </p:nvSpPr>
        <p:spPr>
          <a:xfrm>
            <a:off x="6251295"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3 · T2 · ESTIMATED</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Mortgage prepayment curve</a:t>
            </a:r>
          </a:p>
        </p:txBody>
      </p:sp>
      <p:sp>
        <p:nvSpPr>
          <p:cNvPr id="19" name="TextBox 18"/>
          <p:cNvSpPr txBox="1"/>
          <p:nvPr/>
        </p:nvSpPr>
        <p:spPr>
          <a:xfrm>
            <a:off x="6470751"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CPR rises along an exponential seasoning ramp and responds to refinancing incentive along a cubic S-curve.
NON-LINEAR IN THE INPUTS, LINEAR IN THE PARAMETERS — so least squares fits it, the fit is deterministic and reproducible, and every coefficient keeps a standard error and an interpretation.
The curve is INSIDE the registered expression rather than in a feature pipeline beside it. Otherwise the model is linear on paper and non-linear in reality, and the part a supervisor asks about lives somewhere nobody governs.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5</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Reuse: what happens when two models share ground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119</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5 — IFRS 9 expected credit loss. </a:t>
            </a:r>
            <a:r>
              <a:rPr sz="1200" b="0" i="0">
                <a:solidFill>
                  <a:srgbClr val="1C1C1E"/>
                </a:solidFill>
                <a:latin typeface="Calibri"/>
              </a:rPr>
              <a:t>Three kinds of reuse, and they are different things. This is where model risk actually lives: not in any single model, but in what depends on what.</a:t>
            </a:r>
          </a:p>
        </p:txBody>
      </p:sp>
      <p:graphicFrame>
        <p:nvGraphicFramePr>
          <p:cNvPr id="11" name="Table 10"/>
          <p:cNvGraphicFramePr>
            <a:graphicFrameLocks noGrp="1"/>
          </p:cNvGraphicFramePr>
          <p:nvPr/>
        </p:nvGraphicFramePr>
        <p:xfrm>
          <a:off x="777240" y="2011680"/>
          <a:ext cx="10637214" cy="2378697"/>
        </p:xfrm>
        <a:graphic>
          <a:graphicData uri="http://schemas.openxmlformats.org/drawingml/2006/table">
            <a:tbl>
              <a:tblPr firstRow="1">
                <a:tableStyleId>{5C22544A-7EE6-4342-B048-85BDC9FD1C3A}</a:tableStyleId>
              </a:tblPr>
              <a:tblGrid>
                <a:gridCol w="2384203"/>
                <a:gridCol w="3851405"/>
                <a:gridCol w="4401606"/>
              </a:tblGrid>
              <a:tr h="329184">
                <a:tc>
                  <a:txBody>
                    <a:bodyPr wrap="square"/>
                    <a:lstStyle/>
                    <a:p>
                      <a:pPr algn="l"/>
                      <a:r>
                        <a:rPr sz="1050" b="1">
                          <a:solidFill>
                            <a:srgbClr val="FFFFFF"/>
                          </a:solidFill>
                          <a:latin typeface="Calibri"/>
                        </a:rPr>
                        <a:t>Kind of reuse</a:t>
                      </a:r>
                    </a:p>
                  </a:txBody>
                  <a:tcPr marL="82296" marR="64008" marT="32004" marB="32004" anchor="ctr">
                    <a:solidFill>
                      <a:srgbClr val="A51C30"/>
                    </a:solidFill>
                  </a:tcPr>
                </a:tc>
                <a:tc>
                  <a:txBody>
                    <a:bodyPr wrap="square"/>
                    <a:lstStyle/>
                    <a:p>
                      <a:pPr algn="l"/>
                      <a:r>
                        <a:rPr sz="105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50" b="1">
                          <a:solidFill>
                            <a:srgbClr val="FFFFFF"/>
                          </a:solidFill>
                          <a:latin typeface="Calibri"/>
                        </a:rPr>
                        <a:t>What the platform does about it</a:t>
                      </a:r>
                    </a:p>
                  </a:txBody>
                  <a:tcPr marL="82296" marR="64008" marT="32004" marB="32004" anchor="ctr">
                    <a:solidFill>
                      <a:srgbClr val="A51C30"/>
                    </a:solidFill>
                  </a:tcPr>
                </a:tc>
              </a:tr>
              <a:tr h="683171">
                <a:tc>
                  <a:txBody>
                    <a:bodyPr wrap="square"/>
                    <a:lstStyle/>
                    <a:p>
                      <a:pPr algn="l"/>
                      <a:r>
                        <a:rPr sz="1050" b="0">
                          <a:solidFill>
                            <a:srgbClr val="1C1C1E"/>
                          </a:solidFill>
                          <a:latin typeface="Calibri"/>
                        </a:rPr>
                        <a:t>Features, shared not copied</a:t>
                      </a:r>
                    </a:p>
                  </a:txBody>
                  <a:tcPr marL="82296" marR="64008" marT="32004" marB="32004" anchor="ctr">
                    <a:solidFill>
                      <a:srgbClr val="FFFFFF"/>
                    </a:solidFill>
                  </a:tcPr>
                </a:tc>
                <a:tc>
                  <a:txBody>
                    <a:bodyPr wrap="square"/>
                    <a:lstStyle/>
                    <a:p>
                      <a:pPr algn="l"/>
                      <a:r>
                        <a:rPr sz="1050" b="0">
                          <a:solidFill>
                            <a:srgbClr val="1C1C1E"/>
                          </a:solidFill>
                          <a:latin typeface="Calibri"/>
                        </a:rPr>
                        <a:t>Five features already existed against the obligor entity; this model finds them rather than redefining them</a:t>
                      </a:r>
                    </a:p>
                  </a:txBody>
                  <a:tcPr marL="82296" marR="64008" marT="32004" marB="32004" anchor="ctr">
                    <a:solidFill>
                      <a:srgbClr val="FFFFFF"/>
                    </a:solidFill>
                  </a:tcPr>
                </a:tc>
                <a:tc>
                  <a:txBody>
                    <a:bodyPr wrap="square"/>
                    <a:lstStyle/>
                    <a:p>
                      <a:pPr algn="l"/>
                      <a:r>
                        <a:rPr sz="1050" b="0">
                          <a:solidFill>
                            <a:srgbClr val="1C1C1E"/>
                          </a:solidFill>
                          <a:latin typeface="Calibri"/>
                        </a:rPr>
                        <a:t>A second definition of asset_vol would be a second answer to one question, and the two would drift invisibly</a:t>
                      </a:r>
                    </a:p>
                  </a:txBody>
                  <a:tcPr marL="82296" marR="64008" marT="32004" marB="32004" anchor="ctr">
                    <a:solidFill>
                      <a:srgbClr val="FFFFFF"/>
                    </a:solidFill>
                  </a:tcPr>
                </a:tc>
              </a:tr>
              <a:tr h="683171">
                <a:tc>
                  <a:txBody>
                    <a:bodyPr wrap="square"/>
                    <a:lstStyle/>
                    <a:p>
                      <a:pPr algn="l"/>
                      <a:r>
                        <a:rPr sz="1050" b="0">
                          <a:solidFill>
                            <a:srgbClr val="1C1C1E"/>
                          </a:solidFill>
                          <a:latin typeface="Calibri"/>
                        </a:rPr>
                        <a:t>The featureset is COMPOSED</a:t>
                      </a:r>
                    </a:p>
                  </a:txBody>
                  <a:tcPr marL="82296" marR="64008" marT="32004" marB="32004" anchor="ctr">
                    <a:solidFill>
                      <a:srgbClr val="F6F3EF"/>
                    </a:solidFill>
                  </a:tcPr>
                </a:tc>
                <a:tc>
                  <a:txBody>
                    <a:bodyPr wrap="square"/>
                    <a:lstStyle/>
                    <a:p>
                      <a:pPr algn="l"/>
                      <a:r>
                        <a:rPr sz="1050" b="0">
                          <a:solidFill>
                            <a:srgbClr val="1C1C1E"/>
                          </a:solidFill>
                          <a:latin typeface="Calibri"/>
                        </a:rPr>
                        <a:t>ecl_inputs folds merton_inputs and adds four slots, resolving to nine — five never typed out</a:t>
                      </a:r>
                    </a:p>
                  </a:txBody>
                  <a:tcPr marL="82296" marR="64008" marT="32004" marB="32004" anchor="ctr">
                    <a:solidFill>
                      <a:srgbClr val="F6F3EF"/>
                    </a:solidFill>
                  </a:tcPr>
                </a:tc>
                <a:tc>
                  <a:txBody>
                    <a:bodyPr wrap="square"/>
                    <a:lstStyle/>
                    <a:p>
                      <a:pPr algn="l"/>
                      <a:r>
                        <a:rPr sz="1050" b="0">
                          <a:solidFill>
                            <a:srgbClr val="1C1C1E"/>
                          </a:solidFill>
                          <a:latin typeface="Calibri"/>
                        </a:rPr>
                        <a:t>Operations are total: an `add` of a slot a parent already has is refused, because an operation that silently did nothing is one somebody believes happened</a:t>
                      </a:r>
                    </a:p>
                  </a:txBody>
                  <a:tcPr marL="82296" marR="64008" marT="32004" marB="32004" anchor="ctr">
                    <a:solidFill>
                      <a:srgbClr val="F6F3EF"/>
                    </a:solidFill>
                  </a:tcPr>
                </a:tc>
              </a:tr>
              <a:tr h="683171">
                <a:tc>
                  <a:txBody>
                    <a:bodyPr wrap="square"/>
                    <a:lstStyle/>
                    <a:p>
                      <a:pPr algn="l"/>
                      <a:r>
                        <a:rPr sz="1050" b="0">
                          <a:solidFill>
                            <a:srgbClr val="1C1C1E"/>
                          </a:solidFill>
                          <a:latin typeface="Calibri"/>
                        </a:rPr>
                        <a:t>The models are RELATED</a:t>
                      </a:r>
                    </a:p>
                  </a:txBody>
                  <a:tcPr marL="82296" marR="64008" marT="32004" marB="32004" anchor="ctr">
                    <a:solidFill>
                      <a:srgbClr val="FFFFFF"/>
                    </a:solidFill>
                  </a:tcPr>
                </a:tc>
                <a:tc>
                  <a:txBody>
                    <a:bodyPr wrap="square"/>
                    <a:lstStyle/>
                    <a:p>
                      <a:pPr algn="l"/>
                      <a:r>
                        <a:rPr sz="1050" b="0">
                          <a:solidFill>
                            <a:srgbClr val="1C1C1E"/>
                          </a:solidFill>
                          <a:latin typeface="Calibri"/>
                        </a:rPr>
                        <a:t>The Merton PD is written back as a feature and read here, so the input_to edge carries something</a:t>
                      </a:r>
                    </a:p>
                  </a:txBody>
                  <a:tcPr marL="82296" marR="64008" marT="32004" marB="32004" anchor="ctr">
                    <a:solidFill>
                      <a:srgbClr val="FFFFFF"/>
                    </a:solidFill>
                  </a:tcPr>
                </a:tc>
                <a:tc>
                  <a:txBody>
                    <a:bodyPr wrap="square"/>
                    <a:lstStyle/>
                    <a:p>
                      <a:pPr algn="l"/>
                      <a:r>
                        <a:rPr sz="1050" b="0">
                          <a:solidFill>
                            <a:srgbClr val="1C1C1E"/>
                          </a:solidFill>
                          <a:latin typeface="Calibri"/>
                        </a:rPr>
                        <a:t>MAYA TYPE-CHECKS THE EDGE. The first attempt was refused: an edge supplying no field the target reads is “a wire to nowhere, and the blast radius would follow it”</a:t>
                      </a:r>
                    </a:p>
                  </a:txBody>
                  <a:tcPr marL="82296" marR="64008" marT="32004" marB="32004" anchor="ctr">
                    <a:solidFill>
                      <a:srgbClr val="FFFFFF"/>
                    </a:solidFill>
                  </a:tcPr>
                </a:tc>
              </a:tr>
            </a:tbl>
          </a:graphicData>
        </a:graphic>
      </p:graphicFrame>
      <p:sp>
        <p:nvSpPr>
          <p:cNvPr id="12" name="TextBox 11"/>
          <p:cNvSpPr txBox="1"/>
          <p:nvPr/>
        </p:nvSpPr>
        <p:spPr>
          <a:xfrm>
            <a:off x="777240" y="46098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And then the blast radius is an answer rather than a recollection. </a:t>
            </a:r>
            <a:r>
              <a:rPr sz="1150" b="0" i="0">
                <a:solidFill>
                  <a:srgbClr val="1C1C1E"/>
                </a:solidFill>
                <a:latin typeface="Calibri"/>
              </a:rPr>
              <a:t>A change to the Merton model reaches one model, at tier 2, distance 1 — computed from the graph. `input_to` propagates; `challenger_of` deliberately does not, because a challenger counted as a dependency would inflate every blast radius it appeared in.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6</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credit policy is a model, and this is what governing one looks like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120</a:t>
            </a:r>
          </a:p>
        </p:txBody>
      </p:sp>
      <p:sp>
        <p:nvSpPr>
          <p:cNvPr id="10" name="TextBox 9"/>
          <p:cNvSpPr txBox="1"/>
          <p:nvPr/>
        </p:nvSpPr>
        <p:spPr>
          <a:xfrm>
            <a:off x="777240" y="176479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6 — HELOC origination eligibility, class T8. </a:t>
            </a:r>
            <a:r>
              <a:rPr sz="1200" b="0" i="0">
                <a:solidFill>
                  <a:srgbClr val="1C1C1E"/>
                </a:solidFill>
                <a:latin typeface="Calibri"/>
              </a:rPr>
              <a:t>Parameters that are AUTHORED rather than fitted. A rulebook that declines an application and has to be explained to the person it refused is doing exactly what a scorecard does — and a register that governs the scorecard but not the rulebook is governing the easier half.</a:t>
            </a:r>
          </a:p>
        </p:txBody>
      </p:sp>
      <p:sp>
        <p:nvSpPr>
          <p:cNvPr id="11" name="Rectangle 10"/>
          <p:cNvSpPr/>
          <p:nvPr/>
        </p:nvSpPr>
        <p:spPr>
          <a:xfrm>
            <a:off x="777240"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CHECK</a:t>
            </a:r>
          </a:p>
          <a:p>
            <a:pPr>
              <a:spcBef>
                <a:spcPts val="0"/>
              </a:spcBef>
              <a:spcAft>
                <a:spcPts val="400"/>
              </a:spcAft>
            </a:pPr>
            <a:r>
              <a:rPr sz="1100" b="1" i="0">
                <a:solidFill>
                  <a:srgbClr val="1C1C1E"/>
                </a:solidFill>
                <a:latin typeface="Calibri"/>
              </a:rPr>
              <a:t>against the schema</a:t>
            </a:r>
          </a:p>
          <a:p>
            <a:pPr>
              <a:lnSpc>
                <a:spcPct val="115000"/>
              </a:lnSpc>
              <a:spcBef>
                <a:spcPts val="0"/>
              </a:spcBef>
              <a:spcAft>
                <a:spcPts val="600"/>
              </a:spcAft>
            </a:pPr>
            <a:r>
              <a:rPr sz="850" b="0" i="0">
                <a:solidFill>
                  <a:srgbClr val="4A4F57"/>
                </a:solidFill>
                <a:latin typeface="Calibri"/>
              </a:rPr>
              <a:t>a rule reading a field the version does not declare is REFUSED, before anybody can approve it</a:t>
            </a:r>
          </a:p>
        </p:txBody>
      </p:sp>
      <p:sp>
        <p:nvSpPr>
          <p:cNvPr id="14" name="Rectangle 13"/>
          <p:cNvSpPr/>
          <p:nvPr/>
        </p:nvSpPr>
        <p:spPr>
          <a:xfrm>
            <a:off x="3482263"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TRIAL</a:t>
            </a:r>
          </a:p>
          <a:p>
            <a:pPr>
              <a:spcBef>
                <a:spcPts val="0"/>
              </a:spcBef>
              <a:spcAft>
                <a:spcPts val="400"/>
              </a:spcAft>
            </a:pPr>
            <a:r>
              <a:rPr sz="1100" b="1" i="0">
                <a:solidFill>
                  <a:srgbClr val="1C1C1E"/>
                </a:solidFill>
                <a:latin typeface="Calibri"/>
              </a:rPr>
              <a:t>over sample rows</a:t>
            </a:r>
          </a:p>
          <a:p>
            <a:pPr>
              <a:lnSpc>
                <a:spcPct val="115000"/>
              </a:lnSpc>
              <a:spcBef>
                <a:spcPts val="0"/>
              </a:spcBef>
              <a:spcAft>
                <a:spcPts val="600"/>
              </a:spcAft>
            </a:pPr>
            <a:r>
              <a:rPr sz="850" b="0" i="0">
                <a:solidFill>
                  <a:srgbClr val="4A4F57"/>
                </a:solidFill>
                <a:latin typeface="Calibri"/>
              </a:rPr>
              <a:t>no warrant, no record — an author reading their own draft back. Reports which rules never fired</a:t>
            </a:r>
          </a:p>
        </p:txBody>
      </p:sp>
      <p:sp>
        <p:nvSpPr>
          <p:cNvPr id="17" name="Rectangle 16"/>
          <p:cNvSpPr/>
          <p:nvPr/>
        </p:nvSpPr>
        <p:spPr>
          <a:xfrm>
            <a:off x="6187287"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PUBLISH</a:t>
            </a:r>
          </a:p>
          <a:p>
            <a:pPr>
              <a:spcBef>
                <a:spcPts val="0"/>
              </a:spcBef>
              <a:spcAft>
                <a:spcPts val="400"/>
              </a:spcAft>
            </a:pPr>
            <a:r>
              <a:rPr sz="1100" b="1" i="0">
                <a:solidFill>
                  <a:srgbClr val="1C1C1E"/>
                </a:solidFill>
                <a:latin typeface="Calibri"/>
              </a:rPr>
              <a:t>as a parameter set</a:t>
            </a:r>
          </a:p>
          <a:p>
            <a:pPr>
              <a:lnSpc>
                <a:spcPct val="115000"/>
              </a:lnSpc>
              <a:spcBef>
                <a:spcPts val="0"/>
              </a:spcBef>
              <a:spcAft>
                <a:spcPts val="600"/>
              </a:spcAft>
            </a:pPr>
            <a:r>
              <a:rPr sz="850" b="0" i="0">
                <a:solidFill>
                  <a:srgbClr val="4A4F57"/>
                </a:solidFill>
                <a:latin typeface="Calibri"/>
              </a:rPr>
              <a:t>lands PROPOSED. A change to a threshold is a new parameter set, not a new model version</a:t>
            </a:r>
          </a:p>
        </p:txBody>
      </p:sp>
      <p:sp>
        <p:nvSpPr>
          <p:cNvPr id="20" name="Rectangle 19"/>
          <p:cNvSpPr/>
          <p:nvPr/>
        </p:nvSpPr>
        <p:spPr>
          <a:xfrm>
            <a:off x="8892311"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EXPLAIN</a:t>
            </a:r>
          </a:p>
          <a:p>
            <a:pPr>
              <a:spcBef>
                <a:spcPts val="0"/>
              </a:spcBef>
              <a:spcAft>
                <a:spcPts val="400"/>
              </a:spcAft>
            </a:pPr>
            <a:r>
              <a:rPr sz="1100" b="1" i="0">
                <a:solidFill>
                  <a:srgbClr val="1C1C1E"/>
                </a:solidFill>
                <a:latin typeface="Calibri"/>
              </a:rPr>
              <a:t>in English</a:t>
            </a:r>
          </a:p>
          <a:p>
            <a:pPr>
              <a:lnSpc>
                <a:spcPct val="115000"/>
              </a:lnSpc>
              <a:spcBef>
                <a:spcPts val="0"/>
              </a:spcBef>
              <a:spcAft>
                <a:spcPts val="600"/>
              </a:spcAft>
            </a:pPr>
            <a:r>
              <a:rPr sz="850" b="0" i="0">
                <a:solidFill>
                  <a:srgbClr val="4A4F57"/>
                </a:solidFill>
                <a:latin typeface="Calibri"/>
              </a:rPr>
              <a:t>ONE rendering, so the model card, the committee paper and the export pack cannot differ</a:t>
            </a:r>
          </a:p>
        </p:txBody>
      </p:sp>
      <p:sp>
        <p:nvSpPr>
          <p:cNvPr id="23" name="TextBox 22"/>
          <p:cNvSpPr txBox="1"/>
          <p:nvPr/>
        </p:nvSpPr>
        <p:spPr>
          <a:xfrm>
            <a:off x="777240" y="4178808"/>
            <a:ext cx="10637215" cy="8229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things MAYA requires, and both are load-bearing. </a:t>
            </a:r>
            <a:r>
              <a:rPr sz="1150" b="0" i="0">
                <a:solidFill>
                  <a:srgbClr val="1C1C1E"/>
                </a:solidFill>
                <a:latin typeface="Calibri"/>
              </a:rPr>
              <a:t>An `otherwise` clause, so no application falls through to a behaviour nobody wrote down. And a `because` on every rule — without one a rule cannot be defended to a supervisor, reviewed by whoever owns the policy, or retired later, because nobody knows what it was for. Every decision carries the rule that fired and that rule's reason, which under most consumer-credit regimes is the obligation rather than the decision itself.</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121</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control nobody has watched refuse is a control nobody has tested. </a:t>
            </a:r>
            <a:r>
              <a:rPr sz="1200" b="0" i="0">
                <a:solidFill>
                  <a:srgbClr val="1C1C1E"/>
                </a:solidFill>
                <a:latin typeface="Calibri"/>
              </a:rPr>
              <a:t>Every case study deliberately asks for something it should not get, and prints the refusal with its remediation.</a:t>
            </a:r>
          </a:p>
        </p:txBody>
      </p:sp>
      <p:graphicFrame>
        <p:nvGraphicFramePr>
          <p:cNvPr id="11" name="Table 10"/>
          <p:cNvGraphicFramePr>
            <a:graphicFrameLocks noGrp="1"/>
          </p:cNvGraphicFramePr>
          <p:nvPr/>
        </p:nvGraphicFramePr>
        <p:xfrm>
          <a:off x="777240" y="1975104"/>
          <a:ext cx="10637213" cy="2911348"/>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warrant naming a featureset that does not exist; then the author of a parameter set approving their own numbers</a:t>
                      </a:r>
                    </a:p>
                  </a:txBody>
                  <a:tcPr marL="82296" marR="64008" marT="32004" marB="32004" anchor="ctr">
                    <a:solidFill>
                      <a:srgbClr val="FFFFFF"/>
                    </a:solidFill>
                  </a:tcPr>
                </a:tc>
                <a:tc>
                  <a:txBody>
                    <a:bodyPr wrap="square"/>
                    <a:lstStyle/>
                    <a:p>
                      <a:pPr algn="l"/>
                      <a:r>
                        <a:rPr sz="1000" b="0">
                          <a:solidFill>
                            <a:srgbClr val="1C1C1E"/>
                          </a:solidFill>
                          <a:latin typeface="Calibri"/>
                        </a:rPr>
                        <a:t>no featureset '…'; and a number one person can both produce and bless is a preference, not an estimate</a:t>
                      </a:r>
                    </a:p>
                  </a:txBody>
                  <a:tcPr marL="82296" marR="64008" marT="32004" marB="32004" anchor="ctr">
                    <a:solidFill>
                      <a:srgbClr val="FFFFFF"/>
                    </a:solidFill>
                  </a:tcPr>
                </a:tc>
              </a:tr>
              <a:tr h="316738">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read bounded in only one clock</a:t>
                      </a:r>
                    </a:p>
                  </a:txBody>
                  <a:tcPr marL="82296" marR="64008" marT="32004" marB="32004" anchor="ctr">
                    <a:solidFill>
                      <a:srgbClr val="F6F3EF"/>
                    </a:solidFill>
                  </a:tcPr>
                </a:tc>
                <a:tc>
                  <a:txBody>
                    <a:bodyPr wrap="square"/>
                    <a:lstStyle/>
                    <a:p>
                      <a:pPr algn="l"/>
                      <a:r>
                        <a:rPr sz="1000" b="0">
                          <a:solidFill>
                            <a:srgbClr val="1C1C1E"/>
                          </a:solidFill>
                          <a:latin typeface="Calibri"/>
                        </a:rPr>
                        <a:t>L-W9 — a featureset read for fitting must bound the period it covers</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A training warrant against a featureset lacking a regressor</a:t>
                      </a:r>
                    </a:p>
                  </a:txBody>
                  <a:tcPr marL="82296" marR="64008" marT="32004" marB="32004" anchor="ctr">
                    <a:solidFill>
                      <a:srgbClr val="FFFFFF"/>
                    </a:solidFill>
                  </a:tcPr>
                </a:tc>
                <a:tc>
                  <a:txBody>
                    <a:bodyPr wrap="square"/>
                    <a:lstStyle/>
                    <a:p>
                      <a:pPr algn="l"/>
                      <a:r>
                        <a:rPr sz="1000" b="0">
                          <a:solidFill>
                            <a:srgbClr val="1C1C1E"/>
                          </a:solidFill>
                          <a:latin typeface="Calibri"/>
                        </a:rPr>
                        <a:t>L-W10 — adding a regressor is a model change, not a data change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A fit on a model with no parameters; then writing the numbers in anyway</a:t>
                      </a:r>
                    </a:p>
                  </a:txBody>
                  <a:tcPr marL="82296" marR="64008" marT="32004" marB="32004" anchor="ctr">
                    <a:solidFill>
                      <a:srgbClr val="F6F3EF"/>
                    </a:solidFill>
                  </a:tcPr>
                </a:tc>
                <a:tc>
                  <a:txBody>
                    <a:bodyPr wrap="square"/>
                    <a:lstStyle/>
                    <a:p>
                      <a:pPr algn="l"/>
                      <a:r>
                        <a:rPr sz="1000" b="0">
                          <a:solidFill>
                            <a:srgbClr val="1C1C1E"/>
                          </a:solidFill>
                          <a:latin typeface="Calibri"/>
                        </a:rPr>
                        <a:t>a T0 model cannot be fitted; and there is nothing a fit could have produced — use provenance 'declared'</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Adding a featureset slot a parent already has; and an input_to edge carrying nothing</a:t>
                      </a:r>
                    </a:p>
                  </a:txBody>
                  <a:tcPr marL="82296" marR="64008" marT="32004" marB="32004" anchor="ctr">
                    <a:solidFill>
                      <a:srgbClr val="FFFFFF"/>
                    </a:solidFill>
                  </a:tcPr>
                </a:tc>
                <a:tc>
                  <a:txBody>
                    <a:bodyPr wrap="square"/>
                    <a:lstStyle/>
                    <a:p>
                      <a:pPr algn="l"/>
                      <a:r>
                        <a:rPr sz="1000" b="0">
                          <a:solidFill>
                            <a:srgbClr val="1C1C1E"/>
                          </a:solidFill>
                          <a:latin typeface="Calibri"/>
                        </a:rPr>
                        <a:t>say 'override' if replacing it is what is meant; and an edge that supplies no field the target reads is a wire to nowhere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A rule reading a field the version does not declare</a:t>
                      </a:r>
                    </a:p>
                  </a:txBody>
                  <a:tcPr marL="82296" marR="64008" marT="32004" marB="32004" anchor="ctr">
                    <a:solidFill>
                      <a:srgbClr val="F6F3EF"/>
                    </a:solidFill>
                  </a:tcPr>
                </a:tc>
                <a:tc>
                  <a:txBody>
                    <a:bodyPr wrap="square"/>
                    <a:lstStyle/>
                    <a:p>
                      <a:pPr algn="l"/>
                      <a:r>
                        <a:rPr sz="1000" b="0">
                          <a:solidFill>
                            <a:srgbClr val="1C1C1E"/>
                          </a:solidFill>
                          <a:latin typeface="Calibri"/>
                        </a:rPr>
                        <a:t>refused at check — a rule that never fires still appears in the model card and nobody reading it can tell</a:t>
                      </a:r>
                    </a:p>
                  </a:txBody>
                  <a:tcPr marL="82296" marR="64008" marT="32004" marB="32004" anchor="ctr">
                    <a:solidFill>
                      <a:srgbClr val="F6F3EF"/>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 (continued)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122</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The later case studies refuse different things, </a:t>
            </a:r>
            <a:r>
              <a:rPr sz="1200" b="0" i="0">
                <a:solidFill>
                  <a:srgbClr val="1C1C1E"/>
                </a:solidFill>
                <a:latin typeface="Calibri"/>
              </a:rPr>
              <a:t>because a different class owes different evidence. A T6 cannot reach its parameters; a T5 cannot answer a calibration question; a T7's parameters were never produced by data at all.</a:t>
            </a:r>
          </a:p>
        </p:txBody>
      </p:sp>
      <p:graphicFrame>
        <p:nvGraphicFramePr>
          <p:cNvPr id="11" name="Table 10"/>
          <p:cNvGraphicFramePr>
            <a:graphicFrameLocks noGrp="1"/>
          </p:cNvGraphicFramePr>
          <p:nvPr/>
        </p:nvGraphicFramePr>
        <p:xfrm>
          <a:off x="777240" y="1975104"/>
          <a:ext cx="10637213" cy="2765044"/>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7</a:t>
                      </a:r>
                    </a:p>
                  </a:txBody>
                  <a:tcPr marL="82296" marR="64008" marT="32004" marB="32004" anchor="ctr">
                    <a:solidFill>
                      <a:srgbClr val="FFFFFF"/>
                    </a:solidFill>
                  </a:tcPr>
                </a:tc>
                <a:tc>
                  <a:txBody>
                    <a:bodyPr wrap="square"/>
                    <a:lstStyle/>
                    <a:p>
                      <a:pPr algn="l"/>
                      <a:r>
                        <a:rPr sz="1000" b="0">
                          <a:solidFill>
                            <a:srgbClr val="1C1C1E"/>
                          </a:solidFill>
                          <a:latin typeface="Calibri"/>
                        </a:rPr>
                        <a:t>Registering a Tier C capability; then the requester attesting their own draft</a:t>
                      </a:r>
                    </a:p>
                  </a:txBody>
                  <a:tcPr marL="82296" marR="64008" marT="32004" marB="32004" anchor="ctr">
                    <a:solidFill>
                      <a:srgbClr val="FFFFFF"/>
                    </a:solidFill>
                  </a:tcPr>
                </a:tc>
                <a:tc>
                  <a:txBody>
                    <a:bodyPr wrap="square"/>
                    <a:lstStyle/>
                    <a:p>
                      <a:pPr algn="l"/>
                      <a:r>
                        <a:rPr sz="1000" b="0">
                          <a:solidFill>
                            <a:srgbClr val="1C1C1E"/>
                          </a:solidFill>
                          <a:latin typeface="Calibri"/>
                        </a:rPr>
                        <a:t>Tier C is deliberately not registrable; and a self-attestation is not an attestation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8</a:t>
                      </a:r>
                    </a:p>
                  </a:txBody>
                  <a:tcPr marL="82296" marR="64008" marT="32004" marB="32004" anchor="ctr">
                    <a:solidFill>
                      <a:srgbClr val="F6F3EF"/>
                    </a:solidFill>
                  </a:tcPr>
                </a:tc>
                <a:tc>
                  <a:txBody>
                    <a:bodyPr wrap="square"/>
                    <a:lstStyle/>
                    <a:p>
                      <a:pPr algn="l"/>
                      <a:r>
                        <a:rPr sz="1000" b="0">
                          <a:solidFill>
                            <a:srgbClr val="1C1C1E"/>
                          </a:solidFill>
                          <a:latin typeface="Calibri"/>
                        </a:rPr>
                        <a:t>A fit on a vendor black box; then filing reverse-engineered coefficients as its parameters</a:t>
                      </a:r>
                    </a:p>
                  </a:txBody>
                  <a:tcPr marL="82296" marR="64008" marT="32004" marB="32004" anchor="ctr">
                    <a:solidFill>
                      <a:srgbClr val="F6F3EF"/>
                    </a:solidFill>
                  </a:tcPr>
                </a:tc>
                <a:tc>
                  <a:txBody>
                    <a:bodyPr wrap="square"/>
                    <a:lstStyle/>
                    <a:p>
                      <a:pPr algn="l"/>
                      <a:r>
                        <a:rPr sz="1000" b="0">
                          <a:solidFill>
                            <a:srgbClr val="1C1C1E"/>
                          </a:solidFill>
                          <a:latin typeface="Calibri"/>
                        </a:rPr>
                        <a:t>refused for THREE reasons at once; and those coefficients are a different model that happens to correlate</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monitor on a generative assembly; then an execution warrant against a rejected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Brier score over text answers nothing about a T5; and no approved parameter set inhabits this version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12</a:t>
                      </a:r>
                    </a:p>
                  </a:txBody>
                  <a:tcPr marL="82296" marR="64008" marT="32004" marB="32004" anchor="ctr">
                    <a:solidFill>
                      <a:srgbClr val="F6F3EF"/>
                    </a:solidFill>
                  </a:tcPr>
                </a:tc>
                <a:tc>
                  <a:txBody>
                    <a:bodyPr wrap="square"/>
                    <a:lstStyle/>
                    <a:p>
                      <a:pPr algn="l"/>
                      <a:r>
                        <a:rPr sz="1000" b="0">
                          <a:solidFill>
                            <a:srgbClr val="1C1C1E"/>
                          </a:solidFill>
                          <a:latin typeface="Calibri"/>
                        </a:rPr>
                        <a:t>A panel's elicited weights, recorded as though they had been fitted from data</a:t>
                      </a:r>
                    </a:p>
                  </a:txBody>
                  <a:tcPr marL="82296" marR="64008" marT="32004" marB="32004" anchor="ctr">
                    <a:solidFill>
                      <a:srgbClr val="F6F3EF"/>
                    </a:solidFill>
                  </a:tcPr>
                </a:tc>
                <a:tc>
                  <a:txBody>
                    <a:bodyPr wrap="square"/>
                    <a:lstStyle/>
                    <a:p>
                      <a:pPr algn="l"/>
                      <a:r>
                        <a:rPr sz="1000" b="0">
                          <a:solidFill>
                            <a:srgbClr val="1C1C1E"/>
                          </a:solidFill>
                          <a:latin typeface="Calibri"/>
                        </a:rPr>
                        <a:t>'elicited_weights' is not a quantity data produces, so it cannot have been fitted — record it as 'declared' and put the panel in the diagnostics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13</a:t>
                      </a:r>
                    </a:p>
                  </a:txBody>
                  <a:tcPr marL="82296" marR="64008" marT="32004" marB="32004" anchor="ctr">
                    <a:solidFill>
                      <a:srgbClr val="FFFFFF"/>
                    </a:solidFill>
                  </a:tcPr>
                </a:tc>
                <a:tc>
                  <a:txBody>
                    <a:bodyPr wrap="square"/>
                    <a:lstStyle/>
                    <a:p>
                      <a:pPr algn="l"/>
                      <a:r>
                        <a:rPr sz="1000" b="0">
                          <a:solidFill>
                            <a:srgbClr val="1C1C1E"/>
                          </a:solidFill>
                          <a:latin typeface="Calibri"/>
                        </a:rPr>
                        <a:t>New weights uploaded without a new version, then the approved version resolved again</a:t>
                      </a:r>
                    </a:p>
                  </a:txBody>
                  <a:tcPr marL="82296" marR="64008" marT="32004" marB="32004" anchor="ctr">
                    <a:solidFill>
                      <a:srgbClr val="FFFFFF"/>
                    </a:solidFill>
                  </a:tcPr>
                </a:tc>
                <a:tc>
                  <a:txBody>
                    <a:bodyPr wrap="square"/>
                    <a:lstStyle/>
                    <a:p>
                      <a:pPr algn="l"/>
                      <a:r>
                        <a:rPr sz="1000" b="0">
                          <a:solidFill>
                            <a:srgbClr val="1C1C1E"/>
                          </a:solidFill>
                          <a:latin typeface="Calibri"/>
                        </a:rPr>
                        <a:t>not a refusal but a control: the warrant still fetches the digest that was approved. A T3's weights cannot be swapped under its approval</a:t>
                      </a:r>
                    </a:p>
                  </a:txBody>
                  <a:tcPr marL="82296" marR="64008" marT="32004" marB="32004" anchor="ctr">
                    <a:solidFill>
                      <a:srgbClr val="FFFFFF"/>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case studies do not show</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123</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50" b="0" i="0">
                <a:solidFill>
                  <a:srgbClr val="1C1C1E"/>
                </a:solidFill>
                <a:latin typeface="Calibri"/>
              </a:rPr>
              <a:t>Stated, because a demonstration that only shows what works is a sales pitch.</a:t>
            </a:r>
          </a:p>
        </p:txBody>
      </p:sp>
      <p:sp>
        <p:nvSpPr>
          <p:cNvPr id="11" name="TextBox 10"/>
          <p:cNvSpPr txBox="1"/>
          <p:nvPr/>
        </p:nvSpPr>
        <p:spPr>
          <a:xfrm>
            <a:off x="777240" y="1956816"/>
            <a:ext cx="10637215" cy="3200400"/>
          </a:xfrm>
          <a:prstGeom prst="rect">
            <a:avLst/>
          </a:prstGeom>
          <a:noFill/>
        </p:spPr>
        <p:txBody>
          <a:bodyPr wrap="square" lIns="0" rIns="0" tIns="0" bIns="0" anchor="t">
            <a:spAutoFit/>
          </a:bodyPr>
          <a:lstStyle/>
          <a:p>
            <a:pPr algn="l"/>
          </a:p>
          <a:p>
            <a:pPr>
              <a:spcBef>
                <a:spcPts val="0"/>
              </a:spcBef>
              <a:spcAft>
                <a:spcPts val="1100"/>
              </a:spcAft>
            </a:pPr>
            <a:r>
              <a:rPr sz="1200" b="1">
                <a:solidFill>
                  <a:srgbClr val="A51C30"/>
                </a:solidFill>
                <a:latin typeface="Calibri"/>
              </a:rPr>
              <a:t>▪  </a:t>
            </a:r>
            <a:r>
              <a:rPr sz="1200">
                <a:solidFill>
                  <a:srgbClr val="1C1C1E"/>
                </a:solidFill>
                <a:latin typeface="Calibri"/>
              </a:rPr>
              <a:t>No monitoring, validation or findings. These build a model up to its first approved parameter set; what happens over its life — drift, breaches, revalidation, the worklist — is a separate demonstration.</a:t>
            </a:r>
          </a:p>
          <a:p>
            <a:pPr>
              <a:spcBef>
                <a:spcPts val="0"/>
              </a:spcBef>
              <a:spcAft>
                <a:spcPts val="1100"/>
              </a:spcAft>
            </a:pPr>
            <a:r>
              <a:rPr sz="1200" b="1">
                <a:solidFill>
                  <a:srgbClr val="A51C30"/>
                </a:solidFill>
                <a:latin typeface="Calibri"/>
              </a:rPr>
              <a:t>▪  </a:t>
            </a:r>
            <a:r>
              <a:rPr sz="1200">
                <a:solidFill>
                  <a:srgbClr val="1C1C1E"/>
                </a:solidFill>
                <a:latin typeface="Calibri"/>
              </a:rPr>
              <a:t>Only case study 2 uses real public data. The rest are synthetic from data-generating processes stated in the scripts — and each says so in the first paragraph of its data section. Case 9 uses REAL published variant identifiers with illustrative effect sizes, and says which is which.</a:t>
            </a:r>
          </a:p>
          <a:p>
            <a:pPr>
              <a:spcBef>
                <a:spcPts val="0"/>
              </a:spcBef>
              <a:spcAft>
                <a:spcPts val="1100"/>
              </a:spcAft>
            </a:pPr>
            <a:r>
              <a:rPr sz="1200" b="1">
                <a:solidFill>
                  <a:srgbClr val="A51C30"/>
                </a:solidFill>
                <a:latin typeface="Calibri"/>
              </a:rPr>
              <a:t>▪  </a:t>
            </a:r>
            <a:r>
              <a:rPr sz="1200">
                <a:solidFill>
                  <a:srgbClr val="1C1C1E"/>
                </a:solidFill>
                <a:latin typeface="Calibri"/>
              </a:rPr>
              <a:t>Nothing is deployed. A version is approved and a warrant is issued; no engine is wired to anything.</a:t>
            </a:r>
          </a:p>
          <a:p>
            <a:pPr>
              <a:spcBef>
                <a:spcPts val="0"/>
              </a:spcBef>
              <a:spcAft>
                <a:spcPts val="1100"/>
              </a:spcAft>
            </a:pPr>
            <a:r>
              <a:rPr sz="1200" b="1">
                <a:solidFill>
                  <a:srgbClr val="A51C30"/>
                </a:solidFill>
                <a:latin typeface="Calibri"/>
              </a:rPr>
              <a:t>▪  </a:t>
            </a:r>
            <a:r>
              <a:rPr sz="1200">
                <a:solidFill>
                  <a:srgbClr val="1C1C1E"/>
                </a:solidFill>
                <a:latin typeface="Calibri"/>
              </a:rPr>
              <a:t>Case 6 records an honest finding rather than hiding it: MAYA ISSUES a fit warrant for a T8 rule set. The grammar refuses a fit only for T0 and T6, so the refusal lives one layer down in the runtime. The control holds because the fit cannot execute — but the grammar is the layer that should have said no.</a:t>
            </a:r>
          </a:p>
          <a:p>
            <a:pPr>
              <a:spcBef>
                <a:spcPts val="0"/>
              </a:spcBef>
              <a:spcAft>
                <a:spcPts val="1100"/>
              </a:spcAft>
            </a:pPr>
            <a:r>
              <a:rPr sz="1200" b="1">
                <a:solidFill>
                  <a:srgbClr val="A51C30"/>
                </a:solidFill>
                <a:latin typeface="Calibri"/>
              </a:rPr>
              <a:t>▪  </a:t>
            </a:r>
            <a:r>
              <a:rPr sz="1200">
                <a:solidFill>
                  <a:srgbClr val="1C1C1E"/>
                </a:solidFill>
                <a:latin typeface="Calibri"/>
              </a:rPr>
              <a:t>Eight of the nine classes are covered. T4 — a model that adapts in production — is left uncovered deliberately, because nothing in this repository adapts and a case study for it would demonstrate the documentation rather than the platform.</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124</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Eighteen of twenty-one foundational laws run, and all fourteen warrant laws run before a signature. The three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is not built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125</a:t>
            </a:r>
          </a:p>
        </p:txBody>
      </p:sp>
      <p:graphicFrame>
        <p:nvGraphicFramePr>
          <p:cNvPr id="10" name="Table 9"/>
          <p:cNvGraphicFramePr>
            <a:graphicFrameLocks noGrp="1"/>
          </p:cNvGraphicFramePr>
          <p:nvPr/>
        </p:nvGraphicFramePr>
        <p:xfrm>
          <a:off x="777240" y="1353312"/>
          <a:ext cx="10637215" cy="1901480"/>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950" b="1">
                          <a:solidFill>
                            <a:srgbClr val="FFFFFF"/>
                          </a:solidFill>
                          <a:latin typeface="Calibri"/>
                        </a:rPr>
                        <a:t>Not built</a:t>
                      </a:r>
                    </a:p>
                  </a:txBody>
                  <a:tcPr marL="82296" marR="64008" marT="32004" marB="32004" anchor="ctr">
                    <a:solidFill>
                      <a:srgbClr val="A51C30"/>
                    </a:solidFill>
                  </a:tcPr>
                </a:tc>
                <a:tc>
                  <a:txBody>
                    <a:bodyPr wrap="square"/>
                    <a:lstStyle/>
                    <a:p>
                      <a:pPr algn="l"/>
                      <a:r>
                        <a:rPr sz="950" b="1">
                          <a:solidFill>
                            <a:srgbClr val="FFFFFF"/>
                          </a:solidFill>
                          <a:latin typeface="Calibri"/>
                        </a:rPr>
                        <a:t>What that means today</a:t>
                      </a:r>
                    </a:p>
                  </a:txBody>
                  <a:tcPr marL="82296" marR="64008" marT="32004" marB="32004" anchor="ctr">
                    <a:solidFill>
                      <a:srgbClr val="A51C30"/>
                    </a:solidFill>
                  </a:tcPr>
                </a:tc>
              </a:tr>
              <a:tr h="632040">
                <a:tc>
                  <a:txBody>
                    <a:bodyPr wrap="square"/>
                    <a:lstStyle/>
                    <a:p>
                      <a:pPr algn="l"/>
                      <a:r>
                        <a:rPr sz="950" b="1">
                          <a:solidFill>
                            <a:srgbClr val="A51C30"/>
                          </a:solidFill>
                          <a:latin typeface="Calibri"/>
                        </a:rPr>
                        <a:t>An EUC scanner</a:t>
                      </a:r>
                    </a:p>
                  </a:txBody>
                  <a:tcPr marL="82296" marR="64008" marT="32004" marB="32004" anchor="ctr">
                    <a:solidFill>
                      <a:srgbClr val="FFFFFF"/>
                    </a:solidFill>
                  </a:tcPr>
                </a:tc>
                <a:tc>
                  <a:txBody>
                    <a:bodyPr wrap="square"/>
                    <a:lstStyle/>
                    <a:p>
                      <a:pPr algn="l"/>
                      <a:r>
                        <a:rPr sz="950" b="0">
                          <a:solidFill>
                            <a:srgbClr val="1C1C1E"/>
                          </a:solidFill>
                          <a:latin typeface="Calibri"/>
                        </a:rPr>
                        <a:t>MAYA does not crawl the bank’s drives and should not — a sweep needs credentials to every repository, notebook server and shared drive in the institution. The receiving half is built and the CONTRACT a scanner must meet is published; running one is somebody else’s job, and nobody has</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Three foundational laws</a:t>
                      </a:r>
                    </a:p>
                  </a:txBody>
                  <a:tcPr marL="82296" marR="64008" marT="32004" marB="32004" anchor="ctr">
                    <a:solidFill>
                      <a:srgbClr val="F6F3EF"/>
                    </a:solidFill>
                  </a:tcPr>
                </a:tc>
                <a:tc>
                  <a:txBody>
                    <a:bodyPr wrap="square"/>
                    <a:lstStyle/>
                    <a:p>
                      <a:pPr algn="l"/>
                      <a:r>
                        <a:rPr sz="950" b="0">
                          <a:solidFill>
                            <a:srgbClr val="1C1C1E"/>
                          </a:solidFill>
                          <a:latin typeface="Calibri"/>
                        </a:rPr>
                        <a:t>L-6, L-11, L-13 — each named in chapter 8 with the reason. L-14 and L-17 were on this list and now run. The three that remain are honest refusals: building a document `put` to satisfy the lens laws would be building the wrong thing</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infrastructure Part IV assumes</a:t>
                      </a:r>
                    </a:p>
                  </a:txBody>
                  <a:tcPr marL="82296" marR="64008" marT="32004" marB="32004" anchor="ctr">
                    <a:solidFill>
                      <a:srgbClr val="FFFFFF"/>
                    </a:solidFill>
                  </a:tcPr>
                </a:tc>
                <a:tc>
                  <a:txBody>
                    <a:bodyPr wrap="square"/>
                    <a:lstStyle/>
                    <a:p>
                      <a:pPr algn="l"/>
                      <a:r>
                        <a:rPr sz="950" b="0">
                          <a:solidFill>
                            <a:srgbClr val="1C1C1E"/>
                          </a:solidFill>
                          <a:latin typeface="Calibri"/>
                        </a:rPr>
                        <a:t>no cache, no broker, no outbox, no read replica, no row-level security, no metrics endpoint — docs/14 §27 and §28 hold the list, and every performance figure here is a target, not a measurement</a:t>
                      </a:r>
                    </a:p>
                  </a:txBody>
                  <a:tcPr marL="82296" marR="64008" marT="32004" marB="32004" anchor="ctr">
                    <a:solidFill>
                      <a:srgbClr val="FFFFFF"/>
                    </a:solidFill>
                  </a:tcPr>
                </a:tc>
              </a:tr>
            </a:tbl>
          </a:graphicData>
        </a:graphic>
      </p:graphicFrame>
      <p:sp>
        <p:nvSpPr>
          <p:cNvPr id="11" name="Rectangle 10"/>
          <p:cNvSpPr/>
          <p:nvPr/>
        </p:nvSpPr>
        <p:spPr>
          <a:xfrm>
            <a:off x="777240" y="345596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45596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57483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rows, and one of them is not code. </a:t>
            </a:r>
            <a:r>
              <a:rPr sz="1050" b="0" i="0">
                <a:solidFill>
                  <a:srgbClr val="1C1C1E"/>
                </a:solidFill>
                <a:latin typeface="Calibri"/>
              </a:rPr>
              <a:t>The sweep is a job somebody with the credentials has to run, and it is deliberately last: a sweep against a register that is not yet good produces a queue nobody triages, </a:t>
            </a:r>
            <a:r>
              <a:rPr sz="1050" b="1" i="0">
                <a:solidFill>
                  <a:srgbClr val="1C1C1E"/>
                </a:solidFill>
                <a:latin typeface="Calibri"/>
              </a:rPr>
              <a:t>which is how every discovery programme that fails, fails.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will not be built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126</a:t>
            </a:r>
          </a:p>
        </p:txBody>
      </p:sp>
      <p:graphicFrame>
        <p:nvGraphicFramePr>
          <p:cNvPr id="10" name="Table 9"/>
          <p:cNvGraphicFramePr>
            <a:graphicFrameLocks noGrp="1"/>
          </p:cNvGraphicFramePr>
          <p:nvPr/>
        </p:nvGraphicFramePr>
        <p:xfrm>
          <a:off x="777240" y="1353312"/>
          <a:ext cx="10637215" cy="2901389"/>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900" b="1">
                          <a:solidFill>
                            <a:srgbClr val="FFFFFF"/>
                          </a:solidFill>
                          <a:latin typeface="Calibri"/>
                        </a:rPr>
                        <a:t>Refused</a:t>
                      </a:r>
                    </a:p>
                  </a:txBody>
                  <a:tcPr marL="82296" marR="64008" marT="32004" marB="32004" anchor="ctr">
                    <a:solidFill>
                      <a:srgbClr val="A51C30"/>
                    </a:solidFill>
                  </a:tcPr>
                </a:tc>
                <a:tc>
                  <a:txBody>
                    <a:bodyPr wrap="square"/>
                    <a:lstStyle/>
                    <a:p>
                      <a:pPr algn="l"/>
                      <a:r>
                        <a:rPr sz="900" b="1">
                          <a:solidFill>
                            <a:srgbClr val="FFFFFF"/>
                          </a:solidFill>
                          <a:latin typeface="Calibri"/>
                        </a:rPr>
                        <a:t>What closing it would cost</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The interaction premium</a:t>
                      </a:r>
                    </a:p>
                  </a:txBody>
                  <a:tcPr marL="82296" marR="64008" marT="32004" marB="32004" anchor="ctr">
                    <a:solidFill>
                      <a:srgbClr val="FFFFFF"/>
                    </a:solidFill>
                  </a:tcPr>
                </a:tc>
                <a:tc>
                  <a:txBody>
                    <a:bodyPr wrap="square"/>
                    <a:lstStyle/>
                    <a:p>
                      <a:pPr algn="l"/>
                      <a:r>
                        <a:rPr sz="900" b="0">
                          <a:solidFill>
                            <a:srgbClr val="1C1C1E"/>
                          </a:solidFill>
                          <a:latin typeface="Calibri"/>
                        </a:rPr>
                        <a:t>L-14 says the copy map is the obstruction, so any single figure over the component ratings is blind to exactly what it would exist to find. What composes is the ORDER — the worst tier at stake — and not a magnitude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An examiner portal</a:t>
                      </a:r>
                    </a:p>
                  </a:txBody>
                  <a:tcPr marL="82296" marR="64008" marT="32004" marB="32004" anchor="ctr">
                    <a:solidFill>
                      <a:srgbClr val="F6F3EF"/>
                    </a:solidFill>
                  </a:tcPr>
                </a:tc>
                <a:tc>
                  <a:txBody>
                    <a:bodyPr wrap="square"/>
                    <a:lstStyle/>
                    <a:p>
                      <a:pPr algn="l"/>
                      <a:r>
                        <a:rPr sz="900" b="0">
                          <a:solidFill>
                            <a:srgbClr val="1C1C1E"/>
                          </a:solidFill>
                          <a:latin typeface="Calibri"/>
                        </a:rPr>
                        <a:t>handing a pack over IS built: a time-boxed link to a content digest, revocable, recording every read including the refused ones. A portal authenticates a third party INTO the register, and whatever that session reaches, they reach</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An online feature store</a:t>
                      </a:r>
                    </a:p>
                  </a:txBody>
                  <a:tcPr marL="82296" marR="64008" marT="32004" marB="32004" anchor="ctr">
                    <a:solidFill>
                      <a:srgbClr val="FFFFFF"/>
                    </a:solidFill>
                  </a:tcPr>
                </a:tc>
                <a:tc>
                  <a:txBody>
                    <a:bodyPr wrap="square"/>
                    <a:lstStyle/>
                    <a:p>
                      <a:pPr algn="l"/>
                      <a:r>
                        <a:rPr sz="900" b="0">
                          <a:solidFill>
                            <a:srgbClr val="1C1C1E"/>
                          </a:solidFill>
                          <a:latin typeface="Calibri"/>
                        </a:rPr>
                        <a:t>§7 says MAYA will not sit on the serving path. L-17 is no longer blocked on it — the engine attests which namespaces it read and MAYA compares. A store would buy OBSERVATION rather than attestation, a smaller claim than this row used to make</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Non-repudiation to a third party</a:t>
                      </a:r>
                    </a:p>
                  </a:txBody>
                  <a:tcPr marL="82296" marR="64008" marT="32004" marB="32004" anchor="ctr">
                    <a:solidFill>
                      <a:srgbClr val="F6F3EF"/>
                    </a:solidFill>
                  </a:tcPr>
                </a:tc>
                <a:tc>
                  <a:txBody>
                    <a:bodyPr wrap="square"/>
                    <a:lstStyle/>
                    <a:p>
                      <a:pPr algn="l"/>
                      <a:r>
                        <a:rPr sz="900" b="0">
                          <a:solidFill>
                            <a:srgbClr val="1C1C1E"/>
                          </a:solidFill>
                          <a:latin typeface="Calibri"/>
                        </a:rPr>
                        <a:t>a warrant is signed with a key DERIVED from the audience, so a compromised engine forges warrants for itself and nobody else. What asymmetry would add is proof of authorship to somebody outside the bank, which nobody has asked for. Published at GET /warrant-signing</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Spark inside MAYA</a:t>
                      </a:r>
                    </a:p>
                  </a:txBody>
                  <a:tcPr marL="82296" marR="64008" marT="32004" marB="32004" anchor="ctr">
                    <a:solidFill>
                      <a:srgbClr val="FFFFFF"/>
                    </a:solidFill>
                  </a:tcPr>
                </a:tc>
                <a:tc>
                  <a:txBody>
                    <a:bodyPr wrap="square"/>
                    <a:lstStyle/>
                    <a:p>
                      <a:pPr algn="l"/>
                      <a:r>
                        <a:rPr sz="900" b="0">
                          <a:solidFill>
                            <a:srgbClr val="1C1C1E"/>
                          </a:solidFill>
                          <a:latin typeface="Calibri"/>
                        </a:rPr>
                        <a:t>monitoring at estate scale moves the SCAN to whatever the firm already runs — PSI, AUC and KS are functions of sufficient statistics, which add across partitions — while MAYA computes the metric and compares it. Unlike an external observation, that one can be replayed</a:t>
                      </a:r>
                    </a:p>
                  </a:txBody>
                  <a:tcPr marL="82296" marR="64008" marT="32004" marB="32004" anchor="ctr">
                    <a:solidFill>
                      <a:srgbClr val="FFFFFF"/>
                    </a:solidFill>
                  </a:tcPr>
                </a:tc>
              </a:tr>
            </a:tbl>
          </a:graphicData>
        </a:graphic>
      </p:graphicFrame>
      <p:sp>
        <p:nvSpPr>
          <p:cNvPr id="11" name="Rectangle 10"/>
          <p:cNvSpPr/>
          <p:nvPr/>
        </p:nvSpPr>
        <p:spPr>
          <a:xfrm>
            <a:off x="777240" y="4455871"/>
            <a:ext cx="10637215" cy="7315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55871"/>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74743"/>
            <a:ext cx="10180015" cy="5120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These five are not a backlog. Each would close only by making something else untrue — a theorem, an architecture principle, or a sentence this platform has been telling people. </a:t>
            </a:r>
            <a:r>
              <a:rPr sz="1050" b="1" i="0">
                <a:solidFill>
                  <a:srgbClr val="1C1C1E"/>
                </a:solidFill>
                <a:latin typeface="Calibri"/>
              </a:rPr>
              <a:t>That distinction is what a reader most needs without asking.</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7871539" cy="137160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1000"/>
              </a:spcAft>
            </a:pPr>
            <a:r>
              <a:rPr sz="1100" b="0" i="0">
                <a:solidFill>
                  <a:srgbClr val="E8B8C0"/>
                </a:solidFill>
                <a:latin typeface="Calibri"/>
              </a:rPr>
              <a:t>Ashutosh Sinha  ·  Independent Researcher  ·  ajsinha@gmail.com</a:t>
            </a:r>
          </a:p>
          <a:p>
            <a:pPr>
              <a:lnSpc>
                <a:spcPct val="128000"/>
              </a:lnSpc>
              <a:spcBef>
                <a:spcPts val="0"/>
              </a:spcBef>
              <a:spcAft>
                <a:spcPts val="800"/>
              </a:spcAft>
            </a:pPr>
            <a:r>
              <a:rPr sz="9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0"/>
              </a:spcBef>
              <a:spcAft>
                <a:spcPts val="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